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D5C8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2743200" cy="2743200"/>
          </a:xfrm>
          <a:prstGeom prst="ellipse">
            <a:avLst/>
          </a:prstGeom>
          <a:solidFill>
            <a:srgbClr val="00B8D9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2D5C8C"/>
          </a:solidFill>
          <a:ln/>
        </p:spPr>
      </p:sp>
      <p:pic>
        <p:nvPicPr>
          <p:cNvPr id="5" name="Image 0" descr="icon_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1164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O-RAN PHY Layer Split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PHY (O-RU) vs High PHY (O-DU) — Functional Overview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7.2x Functional Split  •  Time-critical hardware vs flexible compute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Split Logic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dividing line: latency tolerance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2D5C8C"/>
          </a:solidFill>
          <a:ln/>
        </p:spPr>
      </p:sp>
      <p:pic>
        <p:nvPicPr>
          <p:cNvPr id="6" name="Image 0" descr="icon_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38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PHY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54480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O-RU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Microseconds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/ DSP / ASIC only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Signal-level work closest to the antenna can't tolerate CPU scheduling jitter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443484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functions: RE Mapping · FFT/IFFT · Cyclic Prefix · Beamforming · PRACH · DFE · Timing Sync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3" name="Image 1" descr="icon_hig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10860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938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PHY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223760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O-DU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83680" y="27889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D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D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GPU / FPGA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D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computation (coding, MIMO math) that can tolerate more flexible processing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583680" y="443484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functions: Channel Coding · Rate Matching · Scrambling · Modulation · Layer Mapping · MIMO Processing · HARQ · Channel Estimation · MIMO Detection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PHY Functions — O-RU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Microsecond-level signal processing, closest to the antenna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5" name="Image 0" descr="icon_r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5937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73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Element Mapping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2821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data, pilots &amp; control signals into the time-frequency grid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9" name="Image 1" descr="icon_f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2800807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243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/ IFFT Processing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93522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signals between frequency domain and time domain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877056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3" name="Image 2" descr="icon_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007815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83133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Prefix Processing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414223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multipath interference between OFDM symbols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5084064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7" name="Image 3" descr="icon_b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5214823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503834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Beamforming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53492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Steers radio energy toward a specific user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1" name="Image 4" descr="icon_pra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119" y="1593799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95160" y="14173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PRACH Processing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995160" y="172821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device's first connection request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09360" y="2670048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5" name="Image 5" descr="icon_df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0119" y="2800807"/>
            <a:ext cx="241402" cy="24140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95160" y="26243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Front-End (DFE)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995160" y="293522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interpolation, DPD &amp; CFR before/after RF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309360" y="3877056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9" name="Image 6" descr="icon_syn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0119" y="4007815"/>
            <a:ext cx="241402" cy="24140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95160" y="383133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Synchronization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6995160" y="414223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transmitter &amp; receiver aligned in time and frequency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PHY Functions — O-DU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Millisecond-tolerant, computationally heavier processing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54480"/>
            <a:ext cx="420624" cy="420624"/>
          </a:xfrm>
          <a:prstGeom prst="ellipse">
            <a:avLst/>
          </a:prstGeom>
          <a:solidFill>
            <a:srgbClr val="2D5C8C"/>
          </a:solidFill>
          <a:ln/>
        </p:spPr>
      </p:sp>
      <p:pic>
        <p:nvPicPr>
          <p:cNvPr id="6" name="Image 0" descr="icon_co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70" y="1663842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048256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35915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redundant bits (LDPC, Polar) to detect &amp; fix errors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554480"/>
            <a:ext cx="420624" cy="420624"/>
          </a:xfrm>
          <a:prstGeom prst="ellipse">
            <a:avLst/>
          </a:prstGeom>
          <a:solidFill>
            <a:srgbClr val="2D5C8C"/>
          </a:solidFill>
          <a:ln/>
        </p:spPr>
      </p:sp>
      <p:pic>
        <p:nvPicPr>
          <p:cNvPr id="11" name="Image 1" descr="icon_scram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10" y="1663842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8848" y="2048256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Matching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98848" y="235915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coded bits exactly to the allocated resources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554480"/>
            <a:ext cx="420624" cy="420624"/>
          </a:xfrm>
          <a:prstGeom prst="ellipse">
            <a:avLst/>
          </a:prstGeom>
          <a:solidFill>
            <a:srgbClr val="2D5C8C"/>
          </a:solidFill>
          <a:ln/>
        </p:spPr>
      </p:sp>
      <p:pic>
        <p:nvPicPr>
          <p:cNvPr id="16" name="Image 2" descr="icon_gener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250" y="166384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2048256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47888" y="235915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Randomizes the bitstream to avoid long bit runs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10896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291840"/>
            <a:ext cx="420624" cy="420624"/>
          </a:xfrm>
          <a:prstGeom prst="ellipse">
            <a:avLst/>
          </a:prstGeom>
          <a:solidFill>
            <a:srgbClr val="2D5C8C"/>
          </a:solidFill>
          <a:ln/>
        </p:spPr>
      </p:sp>
      <p:pic>
        <p:nvPicPr>
          <p:cNvPr id="21" name="Image 3" descr="icon_mim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" y="3401202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785616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09651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bits into analog symbols (QPSK to 256-QAM)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10896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8848" y="3291840"/>
            <a:ext cx="420624" cy="420624"/>
          </a:xfrm>
          <a:prstGeom prst="ellipse">
            <a:avLst/>
          </a:prstGeom>
          <a:solidFill>
            <a:srgbClr val="2D5C8C"/>
          </a:solidFill>
          <a:ln/>
        </p:spPr>
      </p:sp>
      <p:pic>
        <p:nvPicPr>
          <p:cNvPr id="26" name="Image 4" descr="icon_lay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210" y="3401202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98848" y="3785616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Mapping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98848" y="409651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symbols across spatial layers for MIMO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310896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3291840"/>
            <a:ext cx="420624" cy="420624"/>
          </a:xfrm>
          <a:prstGeom prst="ellipse">
            <a:avLst/>
          </a:prstGeom>
          <a:solidFill>
            <a:srgbClr val="2D5C8C"/>
          </a:solidFill>
          <a:ln/>
        </p:spPr>
      </p:sp>
      <p:pic>
        <p:nvPicPr>
          <p:cNvPr id="31" name="Image 5" descr="icon_che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250" y="3401202"/>
            <a:ext cx="201900" cy="201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47888" y="3785616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 Processing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47888" y="409651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multiplexing, diversity &amp; precoding across antennas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48640" y="484632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5029200"/>
            <a:ext cx="420624" cy="420624"/>
          </a:xfrm>
          <a:prstGeom prst="ellipse">
            <a:avLst/>
          </a:prstGeom>
          <a:solidFill>
            <a:srgbClr val="2D5C8C"/>
          </a:solidFill>
          <a:ln/>
        </p:spPr>
      </p:sp>
      <p:pic>
        <p:nvPicPr>
          <p:cNvPr id="36" name="Image 6" descr="icon_harq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170" y="5138562"/>
            <a:ext cx="201900" cy="2019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49808" y="5522976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HARQ Processing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49808" y="583387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retransmission of only what's needed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297680" y="484632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498848" y="5029200"/>
            <a:ext cx="420624" cy="420624"/>
          </a:xfrm>
          <a:prstGeom prst="ellipse">
            <a:avLst/>
          </a:prstGeom>
          <a:solidFill>
            <a:srgbClr val="2D5C8C"/>
          </a:solidFill>
          <a:ln/>
        </p:spPr>
      </p:sp>
      <p:pic>
        <p:nvPicPr>
          <p:cNvPr id="41" name="Image 7" descr="icon_syn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8210" y="5138562"/>
            <a:ext cx="201900" cy="2019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498848" y="5522976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Estimation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4498848" y="583387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channel distortion (LS / MMSE) for decoding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046720" y="484632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247888" y="5029200"/>
            <a:ext cx="420624" cy="420624"/>
          </a:xfrm>
          <a:prstGeom prst="ellipse">
            <a:avLst/>
          </a:prstGeom>
          <a:solidFill>
            <a:srgbClr val="2D5C8C"/>
          </a:solidFill>
          <a:ln/>
        </p:spPr>
      </p:sp>
      <p:pic>
        <p:nvPicPr>
          <p:cNvPr id="46" name="Image 8" descr="icon_ff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7250" y="5138562"/>
            <a:ext cx="201900" cy="20190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247888" y="5522976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 Detection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8247888" y="583387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Untangles overlapping signals (ZF / MMSE / Sphere)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Low PHY vs High PHY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5C8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0700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2377440" y="1463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PHY functions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O-RU · FPGA/DSP/ASIC · microseconds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09728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0B8D9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20700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092440" y="1463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PHY functions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O-DU · CPU/GPU/FPGA · milliseconds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PHY — O-RU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52120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737360"/>
              </a:tblGrid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C8C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Mapping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µs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/ IFFT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symbol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 Prefix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symbol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Beamforming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symbol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PRACH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Front-End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26364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PHY — O-DU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907792"/>
          <a:ext cx="52120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737360"/>
              </a:tblGrid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C8C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Coding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block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Matching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block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Scrambling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block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block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Mapping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block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MIMO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block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block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Estimation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slot (1ms)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MIMO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block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O-RAN PHY Split: Low PHY vs High PHY</dc:title>
  <dc:subject>PptxGenJS Presentation</dc:subject>
  <dc:creator>O-RAN PHY Overview</dc:creator>
  <cp:lastModifiedBy>O-RAN PHY Overview</cp:lastModifiedBy>
  <cp:revision>1</cp:revision>
  <dcterms:created xsi:type="dcterms:W3CDTF">2026-06-22T08:45:17Z</dcterms:created>
  <dcterms:modified xsi:type="dcterms:W3CDTF">2026-06-22T08:45:17Z</dcterms:modified>
</cp:coreProperties>
</file>
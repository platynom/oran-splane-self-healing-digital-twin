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604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5.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team_slide_images\team_slide_0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0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F766E"/>
          </a:solidFill>
          <a:ln w="12700">
            <a:solidFill>
              <a:srgbClr val="0F766E"/>
            </a:solidFill>
            <a:prstDash val="solid"/>
          </a:ln>
        </p:spPr>
        <p:txBody>
          <a:bodyPr/>
          <a:lstStyle/>
          <a:p>
            <a:endParaRPr lang="en-IN"/>
          </a:p>
        </p:txBody>
      </p:sp>
      <p:sp>
        <p:nvSpPr>
          <p:cNvPr id="3" name="Text 1"/>
          <p:cNvSpPr/>
          <p:nvPr/>
        </p:nvSpPr>
        <p:spPr>
          <a:xfrm>
            <a:off x="640080" y="676656"/>
            <a:ext cx="10789920" cy="292608"/>
          </a:xfrm>
          <a:prstGeom prst="rect">
            <a:avLst/>
          </a:prstGeom>
          <a:noFill/>
          <a:ln/>
        </p:spPr>
        <p:txBody>
          <a:bodyPr wrap="square" lIns="0" tIns="0" rIns="0" bIns="0" rtlCol="0" anchor="t">
            <a:normAutofit/>
          </a:bodyPr>
          <a:lstStyle/>
          <a:p>
            <a:pPr marL="0" indent="0" algn="l">
              <a:buNone/>
            </a:pPr>
            <a:r>
              <a:rPr lang="en-US" sz="1300" b="1" dirty="0">
                <a:solidFill>
                  <a:srgbClr val="A7F3D0"/>
                </a:solidFill>
                <a:latin typeface="Aptos" pitchFamily="34" charset="0"/>
                <a:ea typeface="Aptos" pitchFamily="34" charset="-122"/>
                <a:cs typeface="Aptos" pitchFamily="34" charset="-120"/>
              </a:rPr>
              <a:t>AI-NATIVE SELF-HEALING O-RAN NETWORK USING A DIGITAL TWIN</a:t>
            </a:r>
            <a:endParaRPr lang="en-US" sz="1300" dirty="0"/>
          </a:p>
        </p:txBody>
      </p:sp>
      <p:sp>
        <p:nvSpPr>
          <p:cNvPr id="4" name="Text 2"/>
          <p:cNvSpPr/>
          <p:nvPr/>
        </p:nvSpPr>
        <p:spPr>
          <a:xfrm>
            <a:off x="640080" y="1188720"/>
            <a:ext cx="10789920" cy="585216"/>
          </a:xfrm>
          <a:prstGeom prst="rect">
            <a:avLst/>
          </a:prstGeom>
          <a:noFill/>
          <a:ln/>
        </p:spPr>
        <p:txBody>
          <a:bodyPr wrap="square" lIns="0" tIns="0" rIns="0" bIns="0" rtlCol="0" anchor="t">
            <a:normAutofit/>
          </a:bodyPr>
          <a:lstStyle/>
          <a:p>
            <a:pPr marL="0" indent="0" algn="l">
              <a:buNone/>
            </a:pPr>
            <a:r>
              <a:rPr lang="en-US" sz="3400" b="1" dirty="0">
                <a:solidFill>
                  <a:srgbClr val="FFFFFF"/>
                </a:solidFill>
                <a:latin typeface="Aptos Display" pitchFamily="34" charset="0"/>
                <a:ea typeface="Aptos Display" pitchFamily="34" charset="-122"/>
                <a:cs typeface="Aptos Display" pitchFamily="34" charset="-120"/>
              </a:rPr>
              <a:t>Complete Technical Methodology</a:t>
            </a:r>
            <a:endParaRPr lang="en-US" sz="3400" dirty="0"/>
          </a:p>
        </p:txBody>
      </p:sp>
      <p:sp>
        <p:nvSpPr>
          <p:cNvPr id="5" name="Text 3"/>
          <p:cNvSpPr/>
          <p:nvPr/>
        </p:nvSpPr>
        <p:spPr>
          <a:xfrm>
            <a:off x="658368" y="1993392"/>
            <a:ext cx="10698480" cy="731520"/>
          </a:xfrm>
          <a:prstGeom prst="rect">
            <a:avLst/>
          </a:prstGeom>
          <a:noFill/>
          <a:ln/>
        </p:spPr>
        <p:txBody>
          <a:bodyPr wrap="square" lIns="0" tIns="0" rIns="0" bIns="0" rtlCol="0" anchor="t">
            <a:normAutofit/>
          </a:bodyPr>
          <a:lstStyle/>
          <a:p>
            <a:pPr marL="0" indent="0" algn="l">
              <a:buNone/>
            </a:pPr>
            <a:r>
              <a:rPr lang="en-US" sz="1800" dirty="0">
                <a:solidFill>
                  <a:srgbClr val="E5E7EB"/>
                </a:solidFill>
                <a:latin typeface="Aptos" pitchFamily="34" charset="0"/>
                <a:ea typeface="Aptos" pitchFamily="34" charset="-122"/>
                <a:cs typeface="Aptos" pitchFamily="34" charset="-120"/>
              </a:rPr>
              <a:t>Smallest input element -&gt; calculations -&gt; digital twin -&gt; anomaly/RCA -&gt; healing -&gt; safety gates -&gt; final decision -&gt; reports and metrics</a:t>
            </a:r>
            <a:endParaRPr lang="en-US" sz="1800" dirty="0"/>
          </a:p>
        </p:txBody>
      </p:sp>
      <p:sp>
        <p:nvSpPr>
          <p:cNvPr id="6" name="Text 4"/>
          <p:cNvSpPr/>
          <p:nvPr/>
        </p:nvSpPr>
        <p:spPr>
          <a:xfrm>
            <a:off x="658368" y="3063240"/>
            <a:ext cx="10698480" cy="960120"/>
          </a:xfrm>
          <a:prstGeom prst="rect">
            <a:avLst/>
          </a:prstGeom>
          <a:noFill/>
          <a:ln/>
        </p:spPr>
        <p:txBody>
          <a:bodyPr wrap="square" lIns="0" tIns="0" rIns="0" bIns="0" rtlCol="0" anchor="t">
            <a:normAutofit/>
          </a:bodyPr>
          <a:lstStyle/>
          <a:p>
            <a:pPr marL="0" indent="0" algn="l">
              <a:buNone/>
            </a:pPr>
            <a:r>
              <a:rPr lang="en-US" sz="1800" dirty="0">
                <a:solidFill>
                  <a:srgbClr val="F9FAFB"/>
                </a:solidFill>
                <a:latin typeface="Aptos" pitchFamily="34" charset="0"/>
                <a:ea typeface="Aptos" pitchFamily="34" charset="-122"/>
                <a:cs typeface="Aptos" pitchFamily="34" charset="-120"/>
              </a:rPr>
              <a:t>Use this deck to explain exactly what was developed, how every field moves through the system, what each module computes, what outputs are produced, what results were verified, and what remains future work.</a:t>
            </a:r>
            <a:endParaRPr lang="en-US" sz="1800" dirty="0"/>
          </a:p>
        </p:txBody>
      </p:sp>
      <p:sp>
        <p:nvSpPr>
          <p:cNvPr id="7" name="Shape 5"/>
          <p:cNvSpPr/>
          <p:nvPr/>
        </p:nvSpPr>
        <p:spPr>
          <a:xfrm>
            <a:off x="713232" y="4608576"/>
            <a:ext cx="10607040" cy="96012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713232" y="4608576"/>
            <a:ext cx="1060704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822960" y="4681728"/>
            <a:ext cx="10387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One-line thesis</a:t>
            </a:r>
            <a:endParaRPr lang="en-US" sz="1050" dirty="0"/>
          </a:p>
        </p:txBody>
      </p:sp>
      <p:sp>
        <p:nvSpPr>
          <p:cNvPr id="10" name="Text 8"/>
          <p:cNvSpPr/>
          <p:nvPr/>
        </p:nvSpPr>
        <p:spPr>
          <a:xfrm>
            <a:off x="850392" y="5047488"/>
            <a:ext cx="10332720" cy="429768"/>
          </a:xfrm>
          <a:prstGeom prst="rect">
            <a:avLst/>
          </a:prstGeom>
          <a:noFill/>
          <a:ln/>
        </p:spPr>
        <p:txBody>
          <a:bodyPr wrap="square" lIns="254" tIns="254" rIns="254" bIns="254" rtlCol="0" anchor="t">
            <a:normAutofit/>
          </a:bodyPr>
          <a:lstStyle/>
          <a:p>
            <a:pPr marL="0" indent="0" algn="l">
              <a:buNone/>
            </a:pPr>
            <a:r>
              <a:rPr lang="en-US" sz="1650" dirty="0">
                <a:solidFill>
                  <a:srgbClr val="111827"/>
                </a:solidFill>
                <a:latin typeface="Aptos" pitchFamily="34" charset="0"/>
                <a:ea typeface="Aptos" pitchFamily="34" charset="-122"/>
                <a:cs typeface="Aptos" pitchFamily="34" charset="-120"/>
              </a:rPr>
              <a:t>The prototype monitors O-RAN service and radio-performance degradation affecting O-RU/O-DU/O-CU, while the AI self-healing intelligence sits in the SMO/Non-RT RIC and Near-RT RIC/xApp-style layer.</a:t>
            </a:r>
            <a:endParaRPr lang="en-US" sz="1650" dirty="0"/>
          </a:p>
        </p:txBody>
      </p:sp>
      <p:sp>
        <p:nvSpPr>
          <p:cNvPr id="11" name="Text 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O-RAN REFERENCE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Reference O-RAN architecture used for project positioning</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topology shows where Near-RT RIC, SMO/Non-RT RIC, O-CU, O-DU, High-PHY, and the O-RU/Low-PHY split fit.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pic>
        <p:nvPicPr>
          <p:cNvPr id="7" name="Image 0" descr="C:\Users\Admin\Documents\AI-Native Self-Healing O-RAN Network using a Digital Twin\assets\oran_reference_architecture_topology.png"/>
          <p:cNvPicPr>
            <a:picLocks noChangeAspect="1"/>
          </p:cNvPicPr>
          <p:nvPr/>
        </p:nvPicPr>
        <p:blipFill>
          <a:blip r:embed="rId3"/>
          <a:stretch>
            <a:fillRect/>
          </a:stretch>
        </p:blipFill>
        <p:spPr>
          <a:xfrm>
            <a:off x="1874520" y="1444752"/>
            <a:ext cx="8412480" cy="4498848"/>
          </a:xfrm>
          <a:prstGeom prst="rect">
            <a:avLst/>
          </a:prstGeom>
        </p:spPr>
      </p:pic>
      <p:sp>
        <p:nvSpPr>
          <p:cNvPr id="8" name="Shape 5"/>
          <p:cNvSpPr/>
          <p:nvPr/>
        </p:nvSpPr>
        <p:spPr>
          <a:xfrm>
            <a:off x="868680" y="6053328"/>
            <a:ext cx="10469880" cy="347472"/>
          </a:xfrm>
          <a:prstGeom prst="rect">
            <a:avLst/>
          </a:prstGeom>
          <a:solidFill>
            <a:srgbClr val="F8FAFC"/>
          </a:solidFill>
          <a:ln w="10160">
            <a:solidFill>
              <a:srgbClr val="CBD5E1"/>
            </a:solidFill>
            <a:prstDash val="solid"/>
          </a:ln>
        </p:spPr>
        <p:txBody>
          <a:bodyPr/>
          <a:lstStyle/>
          <a:p>
            <a:endParaRPr lang="en-IN"/>
          </a:p>
        </p:txBody>
      </p:sp>
      <p:sp>
        <p:nvSpPr>
          <p:cNvPr id="9" name="Shape 6"/>
          <p:cNvSpPr/>
          <p:nvPr/>
        </p:nvSpPr>
        <p:spPr>
          <a:xfrm>
            <a:off x="868680" y="6053328"/>
            <a:ext cx="10469880" cy="310896"/>
          </a:xfrm>
          <a:prstGeom prst="rect">
            <a:avLst/>
          </a:prstGeom>
          <a:solidFill>
            <a:srgbClr val="6D28D9"/>
          </a:solidFill>
          <a:ln w="12700">
            <a:solidFill>
              <a:srgbClr val="6D28D9"/>
            </a:solidFill>
            <a:prstDash val="solid"/>
          </a:ln>
        </p:spPr>
        <p:txBody>
          <a:bodyPr/>
          <a:lstStyle/>
          <a:p>
            <a:endParaRPr lang="en-IN"/>
          </a:p>
        </p:txBody>
      </p:sp>
      <p:sp>
        <p:nvSpPr>
          <p:cNvPr id="10" name="Text 7"/>
          <p:cNvSpPr/>
          <p:nvPr/>
        </p:nvSpPr>
        <p:spPr>
          <a:xfrm>
            <a:off x="978408" y="6126480"/>
            <a:ext cx="10250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How this relates to our prototype</a:t>
            </a:r>
            <a:endParaRPr lang="en-US" sz="1050" dirty="0"/>
          </a:p>
        </p:txBody>
      </p:sp>
      <p:sp>
        <p:nvSpPr>
          <p:cNvPr id="11" name="Text 8"/>
          <p:cNvSpPr/>
          <p:nvPr/>
        </p:nvSpPr>
        <p:spPr>
          <a:xfrm>
            <a:off x="1005840" y="6492240"/>
            <a:ext cx="10195560" cy="0"/>
          </a:xfrm>
          <a:prstGeom prst="rect">
            <a:avLst/>
          </a:prstGeom>
          <a:noFill/>
          <a:ln/>
        </p:spPr>
        <p:txBody>
          <a:bodyPr wrap="square" lIns="254" tIns="254" rIns="254" bIns="254" rtlCol="0" anchor="t">
            <a:normAutofit/>
          </a:bodyPr>
          <a:lstStyle/>
          <a:p>
            <a:pPr marL="0" indent="0" algn="l">
              <a:buNone/>
            </a:pPr>
            <a:r>
              <a:rPr lang="en-US" sz="980" dirty="0">
                <a:solidFill>
                  <a:srgbClr val="111827"/>
                </a:solidFill>
                <a:latin typeface="Aptos" pitchFamily="34" charset="0"/>
                <a:ea typeface="Aptos" pitchFamily="34" charset="-122"/>
                <a:cs typeface="Aptos" pitchFamily="34" charset="-120"/>
              </a:rPr>
              <a:t>Our system consumes O-CU/O-DU/O-RU telemetry and places AI self-healing intelligence in the RIC/SMO + digital twin layer.</a:t>
            </a:r>
            <a:endParaRPr lang="en-US" sz="980" dirty="0"/>
          </a:p>
        </p:txBody>
      </p:sp>
      <p:sp>
        <p:nvSpPr>
          <p:cNvPr id="12" name="Text 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PROJECT POSITIONING</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What the project is and is not</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prevents confusion between the real RAN stack and our AI self-healing layer.</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48640" y="1664208"/>
            <a:ext cx="5486400" cy="19659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48640" y="1664208"/>
            <a:ext cx="548640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658368" y="1737360"/>
            <a:ext cx="52669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we developed</a:t>
            </a:r>
            <a:endParaRPr lang="en-US" sz="1050" dirty="0"/>
          </a:p>
        </p:txBody>
      </p:sp>
      <p:sp>
        <p:nvSpPr>
          <p:cNvPr id="10" name="Text 8"/>
          <p:cNvSpPr/>
          <p:nvPr/>
        </p:nvSpPr>
        <p:spPr>
          <a:xfrm>
            <a:off x="685800" y="2103120"/>
            <a:ext cx="5212080" cy="14356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AI-native self-healing workflow for O-RAN telemetry.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Digital twin state assessment for cell/service/slice conditions.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Anomaly detection, root-cause analysis, and healing recommendation.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RIC/xApp-style proposal and safety decision chain.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Reports, dashboard, persistence, validation, and metrics.</a:t>
            </a:r>
            <a:endParaRPr lang="en-US" sz="1500" dirty="0"/>
          </a:p>
        </p:txBody>
      </p:sp>
      <p:sp>
        <p:nvSpPr>
          <p:cNvPr id="11" name="Shape 9"/>
          <p:cNvSpPr/>
          <p:nvPr/>
        </p:nvSpPr>
        <p:spPr>
          <a:xfrm>
            <a:off x="6309360" y="1664208"/>
            <a:ext cx="5303520" cy="196596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309360" y="1664208"/>
            <a:ext cx="530352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6419088" y="1737360"/>
            <a:ext cx="50840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we did not implement yet</a:t>
            </a:r>
            <a:endParaRPr lang="en-US" sz="1050" dirty="0"/>
          </a:p>
        </p:txBody>
      </p:sp>
      <p:sp>
        <p:nvSpPr>
          <p:cNvPr id="14" name="Text 12"/>
          <p:cNvSpPr/>
          <p:nvPr/>
        </p:nvSpPr>
        <p:spPr>
          <a:xfrm>
            <a:off x="6446520" y="2103120"/>
            <a:ext cx="5029200" cy="14356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Live OAI/FlexRIC telemetry connection.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Real E2SM-KPM ingestion.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Real Near-RT RIC xApp deployment.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Live per-UE monitoring from a real RAN.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Real PHY-layer AI using IQ or PHY traces.</a:t>
            </a:r>
            <a:endParaRPr lang="en-US" sz="1500" dirty="0"/>
          </a:p>
        </p:txBody>
      </p:sp>
      <p:sp>
        <p:nvSpPr>
          <p:cNvPr id="15" name="Shape 13"/>
          <p:cNvSpPr/>
          <p:nvPr/>
        </p:nvSpPr>
        <p:spPr>
          <a:xfrm>
            <a:off x="731520" y="4160520"/>
            <a:ext cx="10561320" cy="1051560"/>
          </a:xfrm>
          <a:prstGeom prst="rect">
            <a:avLst/>
          </a:prstGeom>
          <a:solidFill>
            <a:srgbClr val="111827"/>
          </a:solidFill>
          <a:ln w="12700">
            <a:solidFill>
              <a:srgbClr val="374151"/>
            </a:solidFill>
            <a:prstDash val="solid"/>
          </a:ln>
        </p:spPr>
        <p:txBody>
          <a:bodyPr/>
          <a:lstStyle/>
          <a:p>
            <a:endParaRPr lang="en-IN"/>
          </a:p>
        </p:txBody>
      </p:sp>
      <p:sp>
        <p:nvSpPr>
          <p:cNvPr id="16" name="Text 14"/>
          <p:cNvSpPr/>
          <p:nvPr/>
        </p:nvSpPr>
        <p:spPr>
          <a:xfrm>
            <a:off x="859536" y="4270248"/>
            <a:ext cx="10305288" cy="83210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O-RU / O-DU / O-CU = monitored network components</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SMO / Non-RT RIC + Near-RT RIC/xApp layer = where the monitoring, intelligence, and healing decisions sit</a:t>
            </a:r>
            <a:endParaRPr lang="en-US" sz="1500" dirty="0"/>
          </a:p>
        </p:txBody>
      </p:sp>
      <p:sp>
        <p:nvSpPr>
          <p:cNvPr id="17" name="Text 1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O-RAN CONTEXT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Generic O-RAN path behind the workflow</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workflow diagram starts after telemetry enters from the O-RAN network.</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731520" y="1755648"/>
            <a:ext cx="1417320" cy="749808"/>
          </a:xfrm>
          <a:prstGeom prst="roundRect">
            <a:avLst>
              <a:gd name="adj" fmla="val 4878"/>
            </a:avLst>
          </a:prstGeom>
          <a:solidFill>
            <a:srgbClr val="FFFFFF"/>
          </a:solidFill>
          <a:ln w="20320">
            <a:solidFill>
              <a:srgbClr val="B91C1C"/>
            </a:solidFill>
            <a:prstDash val="solid"/>
          </a:ln>
        </p:spPr>
        <p:txBody>
          <a:bodyPr/>
          <a:lstStyle/>
          <a:p>
            <a:endParaRPr lang="en-IN"/>
          </a:p>
        </p:txBody>
      </p:sp>
      <p:sp>
        <p:nvSpPr>
          <p:cNvPr id="8" name="Text 6"/>
          <p:cNvSpPr/>
          <p:nvPr/>
        </p:nvSpPr>
        <p:spPr>
          <a:xfrm>
            <a:off x="786384" y="1828800"/>
            <a:ext cx="1307592" cy="603504"/>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UE</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User device</a:t>
            </a:r>
            <a:endParaRPr lang="en-US" sz="1380" dirty="0"/>
          </a:p>
        </p:txBody>
      </p:sp>
      <p:sp>
        <p:nvSpPr>
          <p:cNvPr id="9" name="Shape 7"/>
          <p:cNvSpPr/>
          <p:nvPr/>
        </p:nvSpPr>
        <p:spPr>
          <a:xfrm>
            <a:off x="2560320" y="1755648"/>
            <a:ext cx="1645920" cy="749808"/>
          </a:xfrm>
          <a:prstGeom prst="roundRect">
            <a:avLst>
              <a:gd name="adj" fmla="val 4878"/>
            </a:avLst>
          </a:prstGeom>
          <a:solidFill>
            <a:srgbClr val="FFFFFF"/>
          </a:solidFill>
          <a:ln w="20320">
            <a:solidFill>
              <a:srgbClr val="1D4ED8"/>
            </a:solidFill>
            <a:prstDash val="solid"/>
          </a:ln>
        </p:spPr>
        <p:txBody>
          <a:bodyPr/>
          <a:lstStyle/>
          <a:p>
            <a:endParaRPr lang="en-IN"/>
          </a:p>
        </p:txBody>
      </p:sp>
      <p:sp>
        <p:nvSpPr>
          <p:cNvPr id="10" name="Text 8"/>
          <p:cNvSpPr/>
          <p:nvPr/>
        </p:nvSpPr>
        <p:spPr>
          <a:xfrm>
            <a:off x="2615184" y="1828800"/>
            <a:ext cx="1536192" cy="603504"/>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O-RU</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Low-PHY + RF</a:t>
            </a:r>
            <a:endParaRPr lang="en-US" sz="1380" dirty="0"/>
          </a:p>
        </p:txBody>
      </p:sp>
      <p:sp>
        <p:nvSpPr>
          <p:cNvPr id="11" name="Shape 9"/>
          <p:cNvSpPr/>
          <p:nvPr/>
        </p:nvSpPr>
        <p:spPr>
          <a:xfrm>
            <a:off x="4617720" y="1755648"/>
            <a:ext cx="1874520" cy="749808"/>
          </a:xfrm>
          <a:prstGeom prst="roundRect">
            <a:avLst>
              <a:gd name="adj" fmla="val 4878"/>
            </a:avLst>
          </a:prstGeom>
          <a:solidFill>
            <a:srgbClr val="FFFFFF"/>
          </a:solidFill>
          <a:ln w="20320">
            <a:solidFill>
              <a:srgbClr val="1D4ED8"/>
            </a:solidFill>
            <a:prstDash val="solid"/>
          </a:ln>
        </p:spPr>
        <p:txBody>
          <a:bodyPr/>
          <a:lstStyle/>
          <a:p>
            <a:endParaRPr lang="en-IN"/>
          </a:p>
        </p:txBody>
      </p:sp>
      <p:sp>
        <p:nvSpPr>
          <p:cNvPr id="12" name="Text 10"/>
          <p:cNvSpPr/>
          <p:nvPr/>
        </p:nvSpPr>
        <p:spPr>
          <a:xfrm>
            <a:off x="4672584" y="1828800"/>
            <a:ext cx="1764792" cy="603504"/>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O-DU</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High-PHY + MAC/RLC</a:t>
            </a:r>
            <a:endParaRPr lang="en-US" sz="1380" dirty="0"/>
          </a:p>
        </p:txBody>
      </p:sp>
      <p:sp>
        <p:nvSpPr>
          <p:cNvPr id="13" name="Shape 11"/>
          <p:cNvSpPr/>
          <p:nvPr/>
        </p:nvSpPr>
        <p:spPr>
          <a:xfrm>
            <a:off x="6903720" y="1755648"/>
            <a:ext cx="1874520" cy="749808"/>
          </a:xfrm>
          <a:prstGeom prst="roundRect">
            <a:avLst>
              <a:gd name="adj" fmla="val 4878"/>
            </a:avLst>
          </a:prstGeom>
          <a:solidFill>
            <a:srgbClr val="FFFFFF"/>
          </a:solidFill>
          <a:ln w="20320">
            <a:solidFill>
              <a:srgbClr val="1D4ED8"/>
            </a:solidFill>
            <a:prstDash val="solid"/>
          </a:ln>
        </p:spPr>
        <p:txBody>
          <a:bodyPr/>
          <a:lstStyle/>
          <a:p>
            <a:endParaRPr lang="en-IN"/>
          </a:p>
        </p:txBody>
      </p:sp>
      <p:sp>
        <p:nvSpPr>
          <p:cNvPr id="14" name="Text 12"/>
          <p:cNvSpPr/>
          <p:nvPr/>
        </p:nvSpPr>
        <p:spPr>
          <a:xfrm>
            <a:off x="6958584" y="1828800"/>
            <a:ext cx="1764792" cy="603504"/>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O-CU</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RRC/PDCP/SDAP</a:t>
            </a:r>
            <a:endParaRPr lang="en-US" sz="1380" dirty="0"/>
          </a:p>
        </p:txBody>
      </p:sp>
      <p:sp>
        <p:nvSpPr>
          <p:cNvPr id="15" name="Shape 13"/>
          <p:cNvSpPr/>
          <p:nvPr/>
        </p:nvSpPr>
        <p:spPr>
          <a:xfrm>
            <a:off x="9189720" y="1755648"/>
            <a:ext cx="1737360" cy="749808"/>
          </a:xfrm>
          <a:prstGeom prst="roundRect">
            <a:avLst>
              <a:gd name="adj" fmla="val 4878"/>
            </a:avLst>
          </a:prstGeom>
          <a:solidFill>
            <a:srgbClr val="FFFFFF"/>
          </a:solidFill>
          <a:ln w="20320">
            <a:solidFill>
              <a:srgbClr val="4B5563"/>
            </a:solidFill>
            <a:prstDash val="solid"/>
          </a:ln>
        </p:spPr>
        <p:txBody>
          <a:bodyPr/>
          <a:lstStyle/>
          <a:p>
            <a:endParaRPr lang="en-IN"/>
          </a:p>
        </p:txBody>
      </p:sp>
      <p:sp>
        <p:nvSpPr>
          <p:cNvPr id="16" name="Text 14"/>
          <p:cNvSpPr/>
          <p:nvPr/>
        </p:nvSpPr>
        <p:spPr>
          <a:xfrm>
            <a:off x="9244584" y="1828800"/>
            <a:ext cx="1627632" cy="603504"/>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5G Core</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AMF/UPF</a:t>
            </a:r>
            <a:endParaRPr lang="en-US" sz="1380" dirty="0"/>
          </a:p>
        </p:txBody>
      </p:sp>
      <p:sp>
        <p:nvSpPr>
          <p:cNvPr id="17" name="Shape 15"/>
          <p:cNvSpPr/>
          <p:nvPr/>
        </p:nvSpPr>
        <p:spPr>
          <a:xfrm>
            <a:off x="2148840" y="2130552"/>
            <a:ext cx="411480" cy="0"/>
          </a:xfrm>
          <a:prstGeom prst="line">
            <a:avLst/>
          </a:prstGeom>
          <a:noFill/>
          <a:ln w="17780">
            <a:solidFill>
              <a:srgbClr val="4B5563"/>
            </a:solidFill>
            <a:prstDash val="solid"/>
            <a:tailEnd type="triangle"/>
          </a:ln>
        </p:spPr>
        <p:txBody>
          <a:bodyPr/>
          <a:lstStyle/>
          <a:p>
            <a:endParaRPr lang="en-IN"/>
          </a:p>
        </p:txBody>
      </p:sp>
      <p:sp>
        <p:nvSpPr>
          <p:cNvPr id="18" name="Shape 16"/>
          <p:cNvSpPr/>
          <p:nvPr/>
        </p:nvSpPr>
        <p:spPr>
          <a:xfrm>
            <a:off x="4206240" y="2130552"/>
            <a:ext cx="411480" cy="0"/>
          </a:xfrm>
          <a:prstGeom prst="line">
            <a:avLst/>
          </a:prstGeom>
          <a:noFill/>
          <a:ln w="17780">
            <a:solidFill>
              <a:srgbClr val="4B5563"/>
            </a:solidFill>
            <a:prstDash val="solid"/>
            <a:tailEnd type="triangle"/>
          </a:ln>
        </p:spPr>
        <p:txBody>
          <a:bodyPr/>
          <a:lstStyle/>
          <a:p>
            <a:endParaRPr lang="en-IN"/>
          </a:p>
        </p:txBody>
      </p:sp>
      <p:sp>
        <p:nvSpPr>
          <p:cNvPr id="19" name="Shape 17"/>
          <p:cNvSpPr/>
          <p:nvPr/>
        </p:nvSpPr>
        <p:spPr>
          <a:xfrm>
            <a:off x="6492240" y="2130552"/>
            <a:ext cx="411480" cy="0"/>
          </a:xfrm>
          <a:prstGeom prst="line">
            <a:avLst/>
          </a:prstGeom>
          <a:noFill/>
          <a:ln w="17780">
            <a:solidFill>
              <a:srgbClr val="4B5563"/>
            </a:solidFill>
            <a:prstDash val="solid"/>
            <a:tailEnd type="triangle"/>
          </a:ln>
        </p:spPr>
        <p:txBody>
          <a:bodyPr/>
          <a:lstStyle/>
          <a:p>
            <a:endParaRPr lang="en-IN"/>
          </a:p>
        </p:txBody>
      </p:sp>
      <p:sp>
        <p:nvSpPr>
          <p:cNvPr id="20" name="Shape 18"/>
          <p:cNvSpPr/>
          <p:nvPr/>
        </p:nvSpPr>
        <p:spPr>
          <a:xfrm>
            <a:off x="8778240" y="2130552"/>
            <a:ext cx="411480" cy="0"/>
          </a:xfrm>
          <a:prstGeom prst="line">
            <a:avLst/>
          </a:prstGeom>
          <a:noFill/>
          <a:ln w="17780">
            <a:solidFill>
              <a:srgbClr val="4B5563"/>
            </a:solidFill>
            <a:prstDash val="solid"/>
            <a:tailEnd type="triangle"/>
          </a:ln>
        </p:spPr>
        <p:txBody>
          <a:bodyPr/>
          <a:lstStyle/>
          <a:p>
            <a:endParaRPr lang="en-IN"/>
          </a:p>
        </p:txBody>
      </p:sp>
      <p:sp>
        <p:nvSpPr>
          <p:cNvPr id="21" name="Shape 19"/>
          <p:cNvSpPr/>
          <p:nvPr/>
        </p:nvSpPr>
        <p:spPr>
          <a:xfrm>
            <a:off x="3703320" y="2907792"/>
            <a:ext cx="4389120" cy="713232"/>
          </a:xfrm>
          <a:prstGeom prst="roundRect">
            <a:avLst>
              <a:gd name="adj" fmla="val 5128"/>
            </a:avLst>
          </a:prstGeom>
          <a:solidFill>
            <a:srgbClr val="FFFFFF"/>
          </a:solidFill>
          <a:ln w="20320">
            <a:solidFill>
              <a:srgbClr val="6D28D9"/>
            </a:solidFill>
            <a:prstDash val="solid"/>
          </a:ln>
        </p:spPr>
        <p:txBody>
          <a:bodyPr/>
          <a:lstStyle/>
          <a:p>
            <a:endParaRPr lang="en-IN"/>
          </a:p>
        </p:txBody>
      </p:sp>
      <p:sp>
        <p:nvSpPr>
          <p:cNvPr id="22" name="Text 20"/>
          <p:cNvSpPr/>
          <p:nvPr/>
        </p:nvSpPr>
        <p:spPr>
          <a:xfrm>
            <a:off x="3758184" y="2980944"/>
            <a:ext cx="4279392" cy="566928"/>
          </a:xfrm>
          <a:prstGeom prst="rect">
            <a:avLst/>
          </a:prstGeom>
          <a:noFill/>
          <a:ln/>
        </p:spPr>
        <p:txBody>
          <a:bodyPr wrap="square" lIns="0" tIns="0" rIns="0" bIns="0" rtlCol="0" anchor="ctr">
            <a:normAutofit/>
          </a:bodyPr>
          <a:lstStyle/>
          <a:p>
            <a:pPr marL="0" indent="0" algn="ctr">
              <a:buNone/>
            </a:pPr>
            <a:r>
              <a:rPr lang="en-US" sz="1380" b="1" dirty="0">
                <a:solidFill>
                  <a:srgbClr val="111827"/>
                </a:solidFill>
                <a:latin typeface="Aptos" pitchFamily="34" charset="0"/>
                <a:ea typeface="Aptos" pitchFamily="34" charset="-122"/>
                <a:cs typeface="Aptos" pitchFamily="34" charset="-120"/>
              </a:rPr>
              <a:t>RIC / SMO intelligence</a:t>
            </a:r>
            <a:endParaRPr lang="en-US" sz="1380" dirty="0"/>
          </a:p>
          <a:p>
            <a:pPr marL="0" indent="0" algn="ctr">
              <a:buNone/>
            </a:pPr>
            <a:r>
              <a:rPr lang="en-US" sz="1380" b="1" dirty="0">
                <a:solidFill>
                  <a:srgbClr val="111827"/>
                </a:solidFill>
                <a:latin typeface="Aptos" pitchFamily="34" charset="0"/>
                <a:ea typeface="Aptos" pitchFamily="34" charset="-122"/>
                <a:cs typeface="Aptos" pitchFamily="34" charset="-120"/>
              </a:rPr>
              <a:t>Digital twin, AI/ML, xApps, policy</a:t>
            </a:r>
            <a:endParaRPr lang="en-US" sz="1380" dirty="0"/>
          </a:p>
        </p:txBody>
      </p:sp>
      <p:sp>
        <p:nvSpPr>
          <p:cNvPr id="23" name="Shape 21"/>
          <p:cNvSpPr/>
          <p:nvPr/>
        </p:nvSpPr>
        <p:spPr>
          <a:xfrm>
            <a:off x="5897880" y="2907792"/>
            <a:ext cx="0" cy="0"/>
          </a:xfrm>
          <a:prstGeom prst="line">
            <a:avLst/>
          </a:prstGeom>
          <a:noFill/>
          <a:ln w="17780">
            <a:solidFill>
              <a:srgbClr val="6D28D9"/>
            </a:solidFill>
            <a:prstDash val="solid"/>
            <a:tailEnd type="triangle"/>
          </a:ln>
        </p:spPr>
        <p:txBody>
          <a:bodyPr/>
          <a:lstStyle/>
          <a:p>
            <a:endParaRPr lang="en-IN"/>
          </a:p>
        </p:txBody>
      </p:sp>
      <p:sp>
        <p:nvSpPr>
          <p:cNvPr id="24" name="Text 22"/>
          <p:cNvSpPr/>
          <p:nvPr/>
        </p:nvSpPr>
        <p:spPr>
          <a:xfrm>
            <a:off x="868680" y="3858768"/>
            <a:ext cx="10378440" cy="310896"/>
          </a:xfrm>
          <a:prstGeom prst="rect">
            <a:avLst/>
          </a:prstGeom>
          <a:noFill/>
          <a:ln/>
        </p:spPr>
        <p:txBody>
          <a:bodyPr wrap="square" lIns="635" tIns="635" rIns="635" bIns="635" rtlCol="0" anchor="t">
            <a:normAutofit/>
          </a:bodyPr>
          <a:lstStyle/>
          <a:p>
            <a:pPr marL="0" indent="0" algn="ctr">
              <a:buNone/>
            </a:pPr>
            <a:r>
              <a:rPr lang="en-US" sz="1520" b="1" dirty="0">
                <a:solidFill>
                  <a:srgbClr val="111827"/>
                </a:solidFill>
                <a:latin typeface="Aptos" pitchFamily="34" charset="0"/>
                <a:ea typeface="Aptos" pitchFamily="34" charset="-122"/>
                <a:cs typeface="Aptos" pitchFamily="34" charset="-120"/>
              </a:rPr>
              <a:t>The workflow operates above the RAN: O-RU/O-DU/O-CU provide telemetry, while RIC/SMO-side intelligence analyzes and returns control-ready decisions.</a:t>
            </a:r>
            <a:endParaRPr lang="en-US" sz="1520" dirty="0"/>
          </a:p>
        </p:txBody>
      </p:sp>
      <p:sp>
        <p:nvSpPr>
          <p:cNvPr id="25" name="Shape 23"/>
          <p:cNvSpPr/>
          <p:nvPr/>
        </p:nvSpPr>
        <p:spPr>
          <a:xfrm>
            <a:off x="685800" y="4434840"/>
            <a:ext cx="3429000" cy="1417320"/>
          </a:xfrm>
          <a:prstGeom prst="rect">
            <a:avLst/>
          </a:prstGeom>
          <a:solidFill>
            <a:srgbClr val="F8FAFC"/>
          </a:solidFill>
          <a:ln w="10160">
            <a:solidFill>
              <a:srgbClr val="CBD5E1"/>
            </a:solidFill>
            <a:prstDash val="solid"/>
          </a:ln>
        </p:spPr>
        <p:txBody>
          <a:bodyPr/>
          <a:lstStyle/>
          <a:p>
            <a:endParaRPr lang="en-IN"/>
          </a:p>
        </p:txBody>
      </p:sp>
      <p:sp>
        <p:nvSpPr>
          <p:cNvPr id="26" name="Shape 24"/>
          <p:cNvSpPr/>
          <p:nvPr/>
        </p:nvSpPr>
        <p:spPr>
          <a:xfrm>
            <a:off x="685800" y="4434840"/>
            <a:ext cx="3429000" cy="310896"/>
          </a:xfrm>
          <a:prstGeom prst="rect">
            <a:avLst/>
          </a:prstGeom>
          <a:solidFill>
            <a:srgbClr val="1D4ED8"/>
          </a:solidFill>
          <a:ln w="12700">
            <a:solidFill>
              <a:srgbClr val="1D4ED8"/>
            </a:solidFill>
            <a:prstDash val="solid"/>
          </a:ln>
        </p:spPr>
        <p:txBody>
          <a:bodyPr/>
          <a:lstStyle/>
          <a:p>
            <a:endParaRPr lang="en-IN"/>
          </a:p>
        </p:txBody>
      </p:sp>
      <p:sp>
        <p:nvSpPr>
          <p:cNvPr id="27" name="Text 25"/>
          <p:cNvSpPr/>
          <p:nvPr/>
        </p:nvSpPr>
        <p:spPr>
          <a:xfrm>
            <a:off x="795528" y="4507992"/>
            <a:ext cx="32095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O-RAN infrastructure</a:t>
            </a:r>
            <a:endParaRPr lang="en-US" sz="1050" dirty="0"/>
          </a:p>
        </p:txBody>
      </p:sp>
      <p:sp>
        <p:nvSpPr>
          <p:cNvPr id="28" name="Text 26"/>
          <p:cNvSpPr/>
          <p:nvPr/>
        </p:nvSpPr>
        <p:spPr>
          <a:xfrm>
            <a:off x="822960" y="4873752"/>
            <a:ext cx="3154680" cy="886968"/>
          </a:xfrm>
          <a:prstGeom prst="rect">
            <a:avLst/>
          </a:prstGeom>
          <a:noFill/>
          <a:ln/>
        </p:spPr>
        <p:txBody>
          <a:bodyPr wrap="square" lIns="254" tIns="254" rIns="254" bIns="254" rtlCol="0" anchor="t">
            <a:normAutofit/>
          </a:bodyPr>
          <a:lstStyle/>
          <a:p>
            <a:pPr marL="0" indent="0" algn="l">
              <a:buNone/>
            </a:pPr>
            <a:r>
              <a:rPr lang="en-US" sz="1170" dirty="0">
                <a:solidFill>
                  <a:srgbClr val="111827"/>
                </a:solidFill>
                <a:latin typeface="Aptos" pitchFamily="34" charset="0"/>
                <a:ea typeface="Aptos" pitchFamily="34" charset="-122"/>
                <a:cs typeface="Aptos" pitchFamily="34" charset="-120"/>
              </a:rPr>
              <a:t>- O-RU: Low-PHY, RF, antenna, beamforming.</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O-DU: High-PHY, MAC, RLC, scheduler.</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O-CU: RRC, PDCP, SDAP, mobility/session control.</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- 5G Core: AMF/UPF/network services.</a:t>
            </a:r>
            <a:endParaRPr lang="en-US" sz="1170" dirty="0"/>
          </a:p>
        </p:txBody>
      </p:sp>
      <p:sp>
        <p:nvSpPr>
          <p:cNvPr id="29" name="Shape 27"/>
          <p:cNvSpPr/>
          <p:nvPr/>
        </p:nvSpPr>
        <p:spPr>
          <a:xfrm>
            <a:off x="4389120" y="4434840"/>
            <a:ext cx="3337560" cy="1417320"/>
          </a:xfrm>
          <a:prstGeom prst="rect">
            <a:avLst/>
          </a:prstGeom>
          <a:solidFill>
            <a:srgbClr val="F8FAFC"/>
          </a:solidFill>
          <a:ln w="10160">
            <a:solidFill>
              <a:srgbClr val="CBD5E1"/>
            </a:solidFill>
            <a:prstDash val="solid"/>
          </a:ln>
        </p:spPr>
        <p:txBody>
          <a:bodyPr/>
          <a:lstStyle/>
          <a:p>
            <a:endParaRPr lang="en-IN"/>
          </a:p>
        </p:txBody>
      </p:sp>
      <p:sp>
        <p:nvSpPr>
          <p:cNvPr id="30" name="Shape 28"/>
          <p:cNvSpPr/>
          <p:nvPr/>
        </p:nvSpPr>
        <p:spPr>
          <a:xfrm>
            <a:off x="4389120" y="4434840"/>
            <a:ext cx="3337560" cy="310896"/>
          </a:xfrm>
          <a:prstGeom prst="rect">
            <a:avLst/>
          </a:prstGeom>
          <a:solidFill>
            <a:srgbClr val="15803D"/>
          </a:solidFill>
          <a:ln w="12700">
            <a:solidFill>
              <a:srgbClr val="15803D"/>
            </a:solidFill>
            <a:prstDash val="solid"/>
          </a:ln>
        </p:spPr>
        <p:txBody>
          <a:bodyPr/>
          <a:lstStyle/>
          <a:p>
            <a:endParaRPr lang="en-IN"/>
          </a:p>
        </p:txBody>
      </p:sp>
      <p:sp>
        <p:nvSpPr>
          <p:cNvPr id="31" name="Text 29"/>
          <p:cNvSpPr/>
          <p:nvPr/>
        </p:nvSpPr>
        <p:spPr>
          <a:xfrm>
            <a:off x="4498848" y="4507992"/>
            <a:ext cx="31181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Our intelligence layer</a:t>
            </a:r>
            <a:endParaRPr lang="en-US" sz="1050" dirty="0"/>
          </a:p>
        </p:txBody>
      </p:sp>
      <p:sp>
        <p:nvSpPr>
          <p:cNvPr id="32" name="Text 30"/>
          <p:cNvSpPr/>
          <p:nvPr/>
        </p:nvSpPr>
        <p:spPr>
          <a:xfrm>
            <a:off x="4526280" y="4873752"/>
            <a:ext cx="3063240" cy="886968"/>
          </a:xfrm>
          <a:prstGeom prst="rect">
            <a:avLst/>
          </a:prstGeom>
          <a:noFill/>
          <a:ln/>
        </p:spPr>
        <p:txBody>
          <a:bodyPr wrap="square" lIns="254" tIns="254" rIns="254" bIns="254" rtlCol="0" anchor="t">
            <a:normAutofit/>
          </a:bodyPr>
          <a:lstStyle/>
          <a:p>
            <a:pPr marL="0" indent="0" algn="l">
              <a:buNone/>
            </a:pPr>
            <a:r>
              <a:rPr lang="en-US" sz="1170" dirty="0">
                <a:solidFill>
                  <a:srgbClr val="111827"/>
                </a:solidFill>
                <a:latin typeface="Aptos" pitchFamily="34" charset="0"/>
                <a:ea typeface="Aptos" pitchFamily="34" charset="-122"/>
                <a:cs typeface="Aptos" pitchFamily="34" charset="-120"/>
              </a:rPr>
              <a:t>- Telemetry collector.</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Digital twin.</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AI/ML anomaly + RCA.</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Self-healing decision engine.</a:t>
            </a:r>
            <a:endParaRPr lang="en-US" sz="1170" dirty="0"/>
          </a:p>
          <a:p>
            <a:pPr marL="0" indent="0" algn="l">
              <a:buNone/>
            </a:pPr>
            <a:r>
              <a:rPr lang="en-US" sz="1170" dirty="0">
                <a:solidFill>
                  <a:srgbClr val="111827"/>
                </a:solidFill>
                <a:latin typeface="Aptos" pitchFamily="34" charset="0"/>
                <a:ea typeface="Aptos" pitchFamily="34" charset="-122"/>
                <a:cs typeface="Aptos" pitchFamily="34" charset="-120"/>
              </a:rPr>
              <a:t>- xApp/RIC-ready control payload.</a:t>
            </a:r>
            <a:endParaRPr lang="en-US" sz="1170" dirty="0"/>
          </a:p>
        </p:txBody>
      </p:sp>
      <p:sp>
        <p:nvSpPr>
          <p:cNvPr id="33" name="Shape 31"/>
          <p:cNvSpPr/>
          <p:nvPr/>
        </p:nvSpPr>
        <p:spPr>
          <a:xfrm>
            <a:off x="8001000" y="4434840"/>
            <a:ext cx="3337560" cy="1417320"/>
          </a:xfrm>
          <a:prstGeom prst="rect">
            <a:avLst/>
          </a:prstGeom>
          <a:solidFill>
            <a:srgbClr val="F8FAFC"/>
          </a:solidFill>
          <a:ln w="10160">
            <a:solidFill>
              <a:srgbClr val="CBD5E1"/>
            </a:solidFill>
            <a:prstDash val="solid"/>
          </a:ln>
        </p:spPr>
        <p:txBody>
          <a:bodyPr/>
          <a:lstStyle/>
          <a:p>
            <a:endParaRPr lang="en-IN"/>
          </a:p>
        </p:txBody>
      </p:sp>
      <p:sp>
        <p:nvSpPr>
          <p:cNvPr id="34" name="Shape 32"/>
          <p:cNvSpPr/>
          <p:nvPr/>
        </p:nvSpPr>
        <p:spPr>
          <a:xfrm>
            <a:off x="8001000" y="4434840"/>
            <a:ext cx="3337560" cy="310896"/>
          </a:xfrm>
          <a:prstGeom prst="rect">
            <a:avLst/>
          </a:prstGeom>
          <a:solidFill>
            <a:srgbClr val="6D28D9"/>
          </a:solidFill>
          <a:ln w="12700">
            <a:solidFill>
              <a:srgbClr val="6D28D9"/>
            </a:solidFill>
            <a:prstDash val="solid"/>
          </a:ln>
        </p:spPr>
        <p:txBody>
          <a:bodyPr/>
          <a:lstStyle/>
          <a:p>
            <a:endParaRPr lang="en-IN"/>
          </a:p>
        </p:txBody>
      </p:sp>
      <p:sp>
        <p:nvSpPr>
          <p:cNvPr id="35" name="Text 33"/>
          <p:cNvSpPr/>
          <p:nvPr/>
        </p:nvSpPr>
        <p:spPr>
          <a:xfrm>
            <a:off x="8110728" y="4507992"/>
            <a:ext cx="31181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Correct interpretation</a:t>
            </a:r>
            <a:endParaRPr lang="en-US" sz="1050" dirty="0"/>
          </a:p>
        </p:txBody>
      </p:sp>
      <p:sp>
        <p:nvSpPr>
          <p:cNvPr id="36" name="Text 34"/>
          <p:cNvSpPr/>
          <p:nvPr/>
        </p:nvSpPr>
        <p:spPr>
          <a:xfrm>
            <a:off x="8138160" y="4873752"/>
            <a:ext cx="3063240" cy="886968"/>
          </a:xfrm>
          <a:prstGeom prst="rect">
            <a:avLst/>
          </a:prstGeom>
          <a:noFill/>
          <a:ln/>
        </p:spPr>
        <p:txBody>
          <a:bodyPr wrap="square" lIns="254" tIns="254" rIns="254" bIns="254" rtlCol="0" anchor="t">
            <a:normAutofit/>
          </a:bodyPr>
          <a:lstStyle/>
          <a:p>
            <a:pPr marL="0" indent="0" algn="l">
              <a:buNone/>
            </a:pPr>
            <a:r>
              <a:rPr lang="en-US" sz="1210" dirty="0">
                <a:solidFill>
                  <a:srgbClr val="111827"/>
                </a:solidFill>
                <a:latin typeface="Aptos" pitchFamily="34" charset="0"/>
                <a:ea typeface="Aptos" pitchFamily="34" charset="-122"/>
                <a:cs typeface="Aptos" pitchFamily="34" charset="-120"/>
              </a:rPr>
              <a:t>This is O-RAN work because it targets telemetry, RIC/SMO intelligence, and RAN control decisions. It does not replace O-RU, O-DU, O-CU, or 5G Core.</a:t>
            </a:r>
            <a:endParaRPr lang="en-US" sz="1210" dirty="0"/>
          </a:p>
        </p:txBody>
      </p:sp>
      <p:sp>
        <p:nvSpPr>
          <p:cNvPr id="37" name="Text 3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LITERATURE BASE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Priority-folder papers and how they shaped the prototype (1/2)</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Full citations are shown with the implementation contribution for papers 1-6.</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411480" y="1572768"/>
            <a:ext cx="411480" cy="603504"/>
          </a:xfrm>
          <a:prstGeom prst="rect">
            <a:avLst/>
          </a:prstGeom>
          <a:solidFill>
            <a:srgbClr val="102033"/>
          </a:solidFill>
          <a:ln w="7620">
            <a:solidFill>
              <a:srgbClr val="CBD5E1"/>
            </a:solidFill>
            <a:prstDash val="solid"/>
          </a:ln>
        </p:spPr>
        <p:txBody>
          <a:bodyPr/>
          <a:lstStyle/>
          <a:p>
            <a:endParaRPr lang="en-IN"/>
          </a:p>
        </p:txBody>
      </p:sp>
      <p:sp>
        <p:nvSpPr>
          <p:cNvPr id="8" name="Text 6"/>
          <p:cNvSpPr/>
          <p:nvPr/>
        </p:nvSpPr>
        <p:spPr>
          <a:xfrm>
            <a:off x="457200" y="1737360"/>
            <a:ext cx="3200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a:t>
            </a:r>
            <a:endParaRPr lang="en-US" sz="1080" dirty="0"/>
          </a:p>
        </p:txBody>
      </p:sp>
      <p:sp>
        <p:nvSpPr>
          <p:cNvPr id="9" name="Shape 7"/>
          <p:cNvSpPr/>
          <p:nvPr/>
        </p:nvSpPr>
        <p:spPr>
          <a:xfrm>
            <a:off x="822960" y="1572768"/>
            <a:ext cx="4754880" cy="603504"/>
          </a:xfrm>
          <a:prstGeom prst="rect">
            <a:avLst/>
          </a:prstGeom>
          <a:solidFill>
            <a:srgbClr val="102033"/>
          </a:solidFill>
          <a:ln w="7620">
            <a:solidFill>
              <a:srgbClr val="CBD5E1"/>
            </a:solidFill>
            <a:prstDash val="solid"/>
          </a:ln>
        </p:spPr>
        <p:txBody>
          <a:bodyPr/>
          <a:lstStyle/>
          <a:p>
            <a:endParaRPr lang="en-IN"/>
          </a:p>
        </p:txBody>
      </p:sp>
      <p:sp>
        <p:nvSpPr>
          <p:cNvPr id="10" name="Text 8"/>
          <p:cNvSpPr/>
          <p:nvPr/>
        </p:nvSpPr>
        <p:spPr>
          <a:xfrm>
            <a:off x="868680" y="1737360"/>
            <a:ext cx="46634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Full paper citation</a:t>
            </a:r>
            <a:endParaRPr lang="en-US" sz="1080" dirty="0"/>
          </a:p>
        </p:txBody>
      </p:sp>
      <p:sp>
        <p:nvSpPr>
          <p:cNvPr id="11" name="Shape 9"/>
          <p:cNvSpPr/>
          <p:nvPr/>
        </p:nvSpPr>
        <p:spPr>
          <a:xfrm>
            <a:off x="5577840" y="1572768"/>
            <a:ext cx="2926080" cy="603504"/>
          </a:xfrm>
          <a:prstGeom prst="rect">
            <a:avLst/>
          </a:prstGeom>
          <a:solidFill>
            <a:srgbClr val="102033"/>
          </a:solidFill>
          <a:ln w="7620">
            <a:solidFill>
              <a:srgbClr val="CBD5E1"/>
            </a:solidFill>
            <a:prstDash val="solid"/>
          </a:ln>
        </p:spPr>
        <p:txBody>
          <a:bodyPr/>
          <a:lstStyle/>
          <a:p>
            <a:endParaRPr lang="en-IN"/>
          </a:p>
        </p:txBody>
      </p:sp>
      <p:sp>
        <p:nvSpPr>
          <p:cNvPr id="12" name="Text 10"/>
          <p:cNvSpPr/>
          <p:nvPr/>
        </p:nvSpPr>
        <p:spPr>
          <a:xfrm>
            <a:off x="5623560" y="1737360"/>
            <a:ext cx="28346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Main idea extracted</a:t>
            </a:r>
            <a:endParaRPr lang="en-US" sz="1080" dirty="0"/>
          </a:p>
        </p:txBody>
      </p:sp>
      <p:sp>
        <p:nvSpPr>
          <p:cNvPr id="13" name="Shape 11"/>
          <p:cNvSpPr/>
          <p:nvPr/>
        </p:nvSpPr>
        <p:spPr>
          <a:xfrm>
            <a:off x="8503920" y="1572768"/>
            <a:ext cx="3200400" cy="603504"/>
          </a:xfrm>
          <a:prstGeom prst="rect">
            <a:avLst/>
          </a:prstGeom>
          <a:solidFill>
            <a:srgbClr val="102033"/>
          </a:solidFill>
          <a:ln w="7620">
            <a:solidFill>
              <a:srgbClr val="CBD5E1"/>
            </a:solidFill>
            <a:prstDash val="solid"/>
          </a:ln>
        </p:spPr>
        <p:txBody>
          <a:bodyPr/>
          <a:lstStyle/>
          <a:p>
            <a:endParaRPr lang="en-IN"/>
          </a:p>
        </p:txBody>
      </p:sp>
      <p:sp>
        <p:nvSpPr>
          <p:cNvPr id="14" name="Text 12"/>
          <p:cNvSpPr/>
          <p:nvPr/>
        </p:nvSpPr>
        <p:spPr>
          <a:xfrm>
            <a:off x="8549640" y="1737360"/>
            <a:ext cx="310896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Implemented contribution</a:t>
            </a:r>
            <a:endParaRPr lang="en-US" sz="1080" dirty="0"/>
          </a:p>
        </p:txBody>
      </p:sp>
      <p:sp>
        <p:nvSpPr>
          <p:cNvPr id="15" name="Shape 13"/>
          <p:cNvSpPr/>
          <p:nvPr/>
        </p:nvSpPr>
        <p:spPr>
          <a:xfrm>
            <a:off x="411480" y="2176272"/>
            <a:ext cx="411480" cy="603504"/>
          </a:xfrm>
          <a:prstGeom prst="rect">
            <a:avLst/>
          </a:prstGeom>
          <a:solidFill>
            <a:srgbClr val="FFFFFF"/>
          </a:solidFill>
          <a:ln w="5715">
            <a:solidFill>
              <a:srgbClr val="CBD5E1"/>
            </a:solidFill>
            <a:prstDash val="solid"/>
          </a:ln>
        </p:spPr>
        <p:txBody>
          <a:bodyPr/>
          <a:lstStyle/>
          <a:p>
            <a:endParaRPr lang="en-IN"/>
          </a:p>
        </p:txBody>
      </p:sp>
      <p:sp>
        <p:nvSpPr>
          <p:cNvPr id="16" name="Text 14"/>
          <p:cNvSpPr/>
          <p:nvPr/>
        </p:nvSpPr>
        <p:spPr>
          <a:xfrm>
            <a:off x="457200" y="2267712"/>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1</a:t>
            </a:r>
            <a:endParaRPr lang="en-US" sz="1000" dirty="0"/>
          </a:p>
        </p:txBody>
      </p:sp>
      <p:sp>
        <p:nvSpPr>
          <p:cNvPr id="17" name="Shape 15"/>
          <p:cNvSpPr/>
          <p:nvPr/>
        </p:nvSpPr>
        <p:spPr>
          <a:xfrm>
            <a:off x="822960" y="2176272"/>
            <a:ext cx="4754880" cy="603504"/>
          </a:xfrm>
          <a:prstGeom prst="rect">
            <a:avLst/>
          </a:prstGeom>
          <a:solidFill>
            <a:srgbClr val="FFFFFF"/>
          </a:solidFill>
          <a:ln w="5715">
            <a:solidFill>
              <a:srgbClr val="CBD5E1"/>
            </a:solidFill>
            <a:prstDash val="solid"/>
          </a:ln>
        </p:spPr>
        <p:txBody>
          <a:bodyPr/>
          <a:lstStyle/>
          <a:p>
            <a:endParaRPr lang="en-IN"/>
          </a:p>
        </p:txBody>
      </p:sp>
      <p:sp>
        <p:nvSpPr>
          <p:cNvPr id="18" name="Text 16"/>
          <p:cNvSpPr/>
          <p:nvPr/>
        </p:nvSpPr>
        <p:spPr>
          <a:xfrm>
            <a:off x="868680" y="2267712"/>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O-RAN xApps: Survey and Research Challenges, Elsevier Computer Networks, 2025.</a:t>
            </a:r>
            <a:endParaRPr lang="en-US" sz="920" dirty="0"/>
          </a:p>
        </p:txBody>
      </p:sp>
      <p:sp>
        <p:nvSpPr>
          <p:cNvPr id="19" name="Shape 17"/>
          <p:cNvSpPr/>
          <p:nvPr/>
        </p:nvSpPr>
        <p:spPr>
          <a:xfrm>
            <a:off x="5577840" y="2176272"/>
            <a:ext cx="2926080" cy="603504"/>
          </a:xfrm>
          <a:prstGeom prst="rect">
            <a:avLst/>
          </a:prstGeom>
          <a:solidFill>
            <a:srgbClr val="FFFFFF"/>
          </a:solidFill>
          <a:ln w="5715">
            <a:solidFill>
              <a:srgbClr val="CBD5E1"/>
            </a:solidFill>
            <a:prstDash val="solid"/>
          </a:ln>
        </p:spPr>
        <p:txBody>
          <a:bodyPr/>
          <a:lstStyle/>
          <a:p>
            <a:endParaRPr lang="en-IN"/>
          </a:p>
        </p:txBody>
      </p:sp>
      <p:sp>
        <p:nvSpPr>
          <p:cNvPr id="20" name="Text 18"/>
          <p:cNvSpPr/>
          <p:nvPr/>
        </p:nvSpPr>
        <p:spPr>
          <a:xfrm>
            <a:off x="5623560" y="2267712"/>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RIC, xApps, rApps, E2/A1/O1 architecture</a:t>
            </a:r>
            <a:endParaRPr lang="en-US" sz="1000" dirty="0"/>
          </a:p>
        </p:txBody>
      </p:sp>
      <p:sp>
        <p:nvSpPr>
          <p:cNvPr id="21" name="Shape 19"/>
          <p:cNvSpPr/>
          <p:nvPr/>
        </p:nvSpPr>
        <p:spPr>
          <a:xfrm>
            <a:off x="8503920" y="2176272"/>
            <a:ext cx="3200400" cy="603504"/>
          </a:xfrm>
          <a:prstGeom prst="rect">
            <a:avLst/>
          </a:prstGeom>
          <a:solidFill>
            <a:srgbClr val="FFFFFF"/>
          </a:solidFill>
          <a:ln w="5715">
            <a:solidFill>
              <a:srgbClr val="CBD5E1"/>
            </a:solidFill>
            <a:prstDash val="solid"/>
          </a:ln>
        </p:spPr>
        <p:txBody>
          <a:bodyPr/>
          <a:lstStyle/>
          <a:p>
            <a:endParaRPr lang="en-IN"/>
          </a:p>
        </p:txBody>
      </p:sp>
      <p:sp>
        <p:nvSpPr>
          <p:cNvPr id="22" name="Text 20"/>
          <p:cNvSpPr/>
          <p:nvPr/>
        </p:nvSpPr>
        <p:spPr>
          <a:xfrm>
            <a:off x="8549640" y="2267712"/>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Shared engine + xApp-ready runtime</a:t>
            </a:r>
            <a:endParaRPr lang="en-US" sz="1000" dirty="0"/>
          </a:p>
        </p:txBody>
      </p:sp>
      <p:sp>
        <p:nvSpPr>
          <p:cNvPr id="23" name="Shape 21"/>
          <p:cNvSpPr/>
          <p:nvPr/>
        </p:nvSpPr>
        <p:spPr>
          <a:xfrm>
            <a:off x="411480" y="2779776"/>
            <a:ext cx="411480" cy="603504"/>
          </a:xfrm>
          <a:prstGeom prst="rect">
            <a:avLst/>
          </a:prstGeom>
          <a:solidFill>
            <a:srgbClr val="F8FAFC"/>
          </a:solidFill>
          <a:ln w="5715">
            <a:solidFill>
              <a:srgbClr val="CBD5E1"/>
            </a:solidFill>
            <a:prstDash val="solid"/>
          </a:ln>
        </p:spPr>
        <p:txBody>
          <a:bodyPr/>
          <a:lstStyle/>
          <a:p>
            <a:endParaRPr lang="en-IN"/>
          </a:p>
        </p:txBody>
      </p:sp>
      <p:sp>
        <p:nvSpPr>
          <p:cNvPr id="24" name="Text 22"/>
          <p:cNvSpPr/>
          <p:nvPr/>
        </p:nvSpPr>
        <p:spPr>
          <a:xfrm>
            <a:off x="457200" y="2871216"/>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2</a:t>
            </a:r>
            <a:endParaRPr lang="en-US" sz="1000" dirty="0"/>
          </a:p>
        </p:txBody>
      </p:sp>
      <p:sp>
        <p:nvSpPr>
          <p:cNvPr id="25" name="Shape 23"/>
          <p:cNvSpPr/>
          <p:nvPr/>
        </p:nvSpPr>
        <p:spPr>
          <a:xfrm>
            <a:off x="822960" y="2779776"/>
            <a:ext cx="4754880" cy="603504"/>
          </a:xfrm>
          <a:prstGeom prst="rect">
            <a:avLst/>
          </a:prstGeom>
          <a:solidFill>
            <a:srgbClr val="F8FAFC"/>
          </a:solidFill>
          <a:ln w="5715">
            <a:solidFill>
              <a:srgbClr val="CBD5E1"/>
            </a:solidFill>
            <a:prstDash val="solid"/>
          </a:ln>
        </p:spPr>
        <p:txBody>
          <a:bodyPr/>
          <a:lstStyle/>
          <a:p>
            <a:endParaRPr lang="en-IN"/>
          </a:p>
        </p:txBody>
      </p:sp>
      <p:sp>
        <p:nvSpPr>
          <p:cNvPr id="26" name="Text 24"/>
          <p:cNvSpPr/>
          <p:nvPr/>
        </p:nvSpPr>
        <p:spPr>
          <a:xfrm>
            <a:off x="868680" y="2871216"/>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Anomaly Detection for Mitigating xApp and E2 Interface Threats in O-RAN Near-RT RIC, IEEE, 2025.</a:t>
            </a:r>
            <a:endParaRPr lang="en-US" sz="920" dirty="0"/>
          </a:p>
        </p:txBody>
      </p:sp>
      <p:sp>
        <p:nvSpPr>
          <p:cNvPr id="27" name="Shape 25"/>
          <p:cNvSpPr/>
          <p:nvPr/>
        </p:nvSpPr>
        <p:spPr>
          <a:xfrm>
            <a:off x="5577840" y="2779776"/>
            <a:ext cx="2926080" cy="603504"/>
          </a:xfrm>
          <a:prstGeom prst="rect">
            <a:avLst/>
          </a:prstGeom>
          <a:solidFill>
            <a:srgbClr val="F8FAFC"/>
          </a:solidFill>
          <a:ln w="5715">
            <a:solidFill>
              <a:srgbClr val="CBD5E1"/>
            </a:solidFill>
            <a:prstDash val="solid"/>
          </a:ln>
        </p:spPr>
        <p:txBody>
          <a:bodyPr/>
          <a:lstStyle/>
          <a:p>
            <a:endParaRPr lang="en-IN"/>
          </a:p>
        </p:txBody>
      </p:sp>
      <p:sp>
        <p:nvSpPr>
          <p:cNvPr id="28" name="Text 26"/>
          <p:cNvSpPr/>
          <p:nvPr/>
        </p:nvSpPr>
        <p:spPr>
          <a:xfrm>
            <a:off x="5623560" y="2871216"/>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E2 telemetry and xApp threat monitoring</a:t>
            </a:r>
            <a:endParaRPr lang="en-US" sz="1000" dirty="0"/>
          </a:p>
        </p:txBody>
      </p:sp>
      <p:sp>
        <p:nvSpPr>
          <p:cNvPr id="29" name="Shape 27"/>
          <p:cNvSpPr/>
          <p:nvPr/>
        </p:nvSpPr>
        <p:spPr>
          <a:xfrm>
            <a:off x="8503920" y="2779776"/>
            <a:ext cx="3200400" cy="603504"/>
          </a:xfrm>
          <a:prstGeom prst="rect">
            <a:avLst/>
          </a:prstGeom>
          <a:solidFill>
            <a:srgbClr val="F8FAFC"/>
          </a:solidFill>
          <a:ln w="5715">
            <a:solidFill>
              <a:srgbClr val="CBD5E1"/>
            </a:solidFill>
            <a:prstDash val="solid"/>
          </a:ln>
        </p:spPr>
        <p:txBody>
          <a:bodyPr/>
          <a:lstStyle/>
          <a:p>
            <a:endParaRPr lang="en-IN"/>
          </a:p>
        </p:txBody>
      </p:sp>
      <p:sp>
        <p:nvSpPr>
          <p:cNvPr id="30" name="Text 28"/>
          <p:cNvSpPr/>
          <p:nvPr/>
        </p:nvSpPr>
        <p:spPr>
          <a:xfrm>
            <a:off x="8549640" y="2871216"/>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Anomaly/security validation layer</a:t>
            </a:r>
            <a:endParaRPr lang="en-US" sz="1000" dirty="0"/>
          </a:p>
        </p:txBody>
      </p:sp>
      <p:sp>
        <p:nvSpPr>
          <p:cNvPr id="31" name="Shape 29"/>
          <p:cNvSpPr/>
          <p:nvPr/>
        </p:nvSpPr>
        <p:spPr>
          <a:xfrm>
            <a:off x="411480" y="3383280"/>
            <a:ext cx="411480" cy="603504"/>
          </a:xfrm>
          <a:prstGeom prst="rect">
            <a:avLst/>
          </a:prstGeom>
          <a:solidFill>
            <a:srgbClr val="FFFFFF"/>
          </a:solidFill>
          <a:ln w="5715">
            <a:solidFill>
              <a:srgbClr val="CBD5E1"/>
            </a:solidFill>
            <a:prstDash val="solid"/>
          </a:ln>
        </p:spPr>
        <p:txBody>
          <a:bodyPr/>
          <a:lstStyle/>
          <a:p>
            <a:endParaRPr lang="en-IN"/>
          </a:p>
        </p:txBody>
      </p:sp>
      <p:sp>
        <p:nvSpPr>
          <p:cNvPr id="32" name="Text 30"/>
          <p:cNvSpPr/>
          <p:nvPr/>
        </p:nvSpPr>
        <p:spPr>
          <a:xfrm>
            <a:off x="457200" y="3474720"/>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3</a:t>
            </a:r>
            <a:endParaRPr lang="en-US" sz="1000" dirty="0"/>
          </a:p>
        </p:txBody>
      </p:sp>
      <p:sp>
        <p:nvSpPr>
          <p:cNvPr id="33" name="Shape 31"/>
          <p:cNvSpPr/>
          <p:nvPr/>
        </p:nvSpPr>
        <p:spPr>
          <a:xfrm>
            <a:off x="822960" y="3383280"/>
            <a:ext cx="4754880" cy="603504"/>
          </a:xfrm>
          <a:prstGeom prst="rect">
            <a:avLst/>
          </a:prstGeom>
          <a:solidFill>
            <a:srgbClr val="FFFFFF"/>
          </a:solidFill>
          <a:ln w="5715">
            <a:solidFill>
              <a:srgbClr val="CBD5E1"/>
            </a:solidFill>
            <a:prstDash val="solid"/>
          </a:ln>
        </p:spPr>
        <p:txBody>
          <a:bodyPr/>
          <a:lstStyle/>
          <a:p>
            <a:endParaRPr lang="en-IN"/>
          </a:p>
        </p:txBody>
      </p:sp>
      <p:sp>
        <p:nvSpPr>
          <p:cNvPr id="34" name="Text 32"/>
          <p:cNvSpPr/>
          <p:nvPr/>
        </p:nvSpPr>
        <p:spPr>
          <a:xfrm>
            <a:off x="868680" y="3474720"/>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COMIX: Generalized Conflict Management in O-RAN xApps, IEEE Access, 2025.</a:t>
            </a:r>
            <a:endParaRPr lang="en-US" sz="920" dirty="0"/>
          </a:p>
        </p:txBody>
      </p:sp>
      <p:sp>
        <p:nvSpPr>
          <p:cNvPr id="35" name="Shape 33"/>
          <p:cNvSpPr/>
          <p:nvPr/>
        </p:nvSpPr>
        <p:spPr>
          <a:xfrm>
            <a:off x="5577840" y="3383280"/>
            <a:ext cx="2926080" cy="603504"/>
          </a:xfrm>
          <a:prstGeom prst="rect">
            <a:avLst/>
          </a:prstGeom>
          <a:solidFill>
            <a:srgbClr val="FFFFFF"/>
          </a:solidFill>
          <a:ln w="5715">
            <a:solidFill>
              <a:srgbClr val="CBD5E1"/>
            </a:solidFill>
            <a:prstDash val="solid"/>
          </a:ln>
        </p:spPr>
        <p:txBody>
          <a:bodyPr/>
          <a:lstStyle/>
          <a:p>
            <a:endParaRPr lang="en-IN"/>
          </a:p>
        </p:txBody>
      </p:sp>
      <p:sp>
        <p:nvSpPr>
          <p:cNvPr id="36" name="Text 34"/>
          <p:cNvSpPr/>
          <p:nvPr/>
        </p:nvSpPr>
        <p:spPr>
          <a:xfrm>
            <a:off x="5623560" y="3474720"/>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Generalized xApp conflict management</a:t>
            </a:r>
            <a:endParaRPr lang="en-US" sz="1000" dirty="0"/>
          </a:p>
        </p:txBody>
      </p:sp>
      <p:sp>
        <p:nvSpPr>
          <p:cNvPr id="37" name="Shape 35"/>
          <p:cNvSpPr/>
          <p:nvPr/>
        </p:nvSpPr>
        <p:spPr>
          <a:xfrm>
            <a:off x="8503920" y="3383280"/>
            <a:ext cx="3200400" cy="603504"/>
          </a:xfrm>
          <a:prstGeom prst="rect">
            <a:avLst/>
          </a:prstGeom>
          <a:solidFill>
            <a:srgbClr val="FFFFFF"/>
          </a:solidFill>
          <a:ln w="5715">
            <a:solidFill>
              <a:srgbClr val="CBD5E1"/>
            </a:solidFill>
            <a:prstDash val="solid"/>
          </a:ln>
        </p:spPr>
        <p:txBody>
          <a:bodyPr/>
          <a:lstStyle/>
          <a:p>
            <a:endParaRPr lang="en-IN"/>
          </a:p>
        </p:txBody>
      </p:sp>
      <p:sp>
        <p:nvSpPr>
          <p:cNvPr id="38" name="Text 36"/>
          <p:cNvSpPr/>
          <p:nvPr/>
        </p:nvSpPr>
        <p:spPr>
          <a:xfrm>
            <a:off x="8549640" y="3474720"/>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Conflict check before automation</a:t>
            </a:r>
            <a:endParaRPr lang="en-US" sz="1000" dirty="0"/>
          </a:p>
        </p:txBody>
      </p:sp>
      <p:sp>
        <p:nvSpPr>
          <p:cNvPr id="39" name="Shape 37"/>
          <p:cNvSpPr/>
          <p:nvPr/>
        </p:nvSpPr>
        <p:spPr>
          <a:xfrm>
            <a:off x="411480" y="3986784"/>
            <a:ext cx="411480" cy="603504"/>
          </a:xfrm>
          <a:prstGeom prst="rect">
            <a:avLst/>
          </a:prstGeom>
          <a:solidFill>
            <a:srgbClr val="F8FAFC"/>
          </a:solidFill>
          <a:ln w="5715">
            <a:solidFill>
              <a:srgbClr val="CBD5E1"/>
            </a:solidFill>
            <a:prstDash val="solid"/>
          </a:ln>
        </p:spPr>
        <p:txBody>
          <a:bodyPr/>
          <a:lstStyle/>
          <a:p>
            <a:endParaRPr lang="en-IN"/>
          </a:p>
        </p:txBody>
      </p:sp>
      <p:sp>
        <p:nvSpPr>
          <p:cNvPr id="40" name="Text 38"/>
          <p:cNvSpPr/>
          <p:nvPr/>
        </p:nvSpPr>
        <p:spPr>
          <a:xfrm>
            <a:off x="457200" y="4078224"/>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4</a:t>
            </a:r>
            <a:endParaRPr lang="en-US" sz="1000" dirty="0"/>
          </a:p>
        </p:txBody>
      </p:sp>
      <p:sp>
        <p:nvSpPr>
          <p:cNvPr id="41" name="Shape 39"/>
          <p:cNvSpPr/>
          <p:nvPr/>
        </p:nvSpPr>
        <p:spPr>
          <a:xfrm>
            <a:off x="822960" y="3986784"/>
            <a:ext cx="4754880" cy="603504"/>
          </a:xfrm>
          <a:prstGeom prst="rect">
            <a:avLst/>
          </a:prstGeom>
          <a:solidFill>
            <a:srgbClr val="F8FAFC"/>
          </a:solidFill>
          <a:ln w="5715">
            <a:solidFill>
              <a:srgbClr val="CBD5E1"/>
            </a:solidFill>
            <a:prstDash val="solid"/>
          </a:ln>
        </p:spPr>
        <p:txBody>
          <a:bodyPr/>
          <a:lstStyle/>
          <a:p>
            <a:endParaRPr lang="en-IN"/>
          </a:p>
        </p:txBody>
      </p:sp>
      <p:sp>
        <p:nvSpPr>
          <p:cNvPr id="42" name="Text 40"/>
          <p:cNvSpPr/>
          <p:nvPr/>
        </p:nvSpPr>
        <p:spPr>
          <a:xfrm>
            <a:off x="868680" y="4078224"/>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xApp Distillation: AI-Based Conflict Mitigation in B5G O-RAN, Elsevier Computer Networks, 2026.</a:t>
            </a:r>
            <a:endParaRPr lang="en-US" sz="920" dirty="0"/>
          </a:p>
        </p:txBody>
      </p:sp>
      <p:sp>
        <p:nvSpPr>
          <p:cNvPr id="43" name="Shape 41"/>
          <p:cNvSpPr/>
          <p:nvPr/>
        </p:nvSpPr>
        <p:spPr>
          <a:xfrm>
            <a:off x="5577840" y="3986784"/>
            <a:ext cx="2926080" cy="603504"/>
          </a:xfrm>
          <a:prstGeom prst="rect">
            <a:avLst/>
          </a:prstGeom>
          <a:solidFill>
            <a:srgbClr val="F8FAFC"/>
          </a:solidFill>
          <a:ln w="5715">
            <a:solidFill>
              <a:srgbClr val="CBD5E1"/>
            </a:solidFill>
            <a:prstDash val="solid"/>
          </a:ln>
        </p:spPr>
        <p:txBody>
          <a:bodyPr/>
          <a:lstStyle/>
          <a:p>
            <a:endParaRPr lang="en-IN"/>
          </a:p>
        </p:txBody>
      </p:sp>
      <p:sp>
        <p:nvSpPr>
          <p:cNvPr id="44" name="Text 42"/>
          <p:cNvSpPr/>
          <p:nvPr/>
        </p:nvSpPr>
        <p:spPr>
          <a:xfrm>
            <a:off x="5623560" y="4078224"/>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AI-based conflict mitigation policy</a:t>
            </a:r>
            <a:endParaRPr lang="en-US" sz="1000" dirty="0"/>
          </a:p>
        </p:txBody>
      </p:sp>
      <p:sp>
        <p:nvSpPr>
          <p:cNvPr id="45" name="Shape 43"/>
          <p:cNvSpPr/>
          <p:nvPr/>
        </p:nvSpPr>
        <p:spPr>
          <a:xfrm>
            <a:off x="8503920" y="3986784"/>
            <a:ext cx="3200400" cy="603504"/>
          </a:xfrm>
          <a:prstGeom prst="rect">
            <a:avLst/>
          </a:prstGeom>
          <a:solidFill>
            <a:srgbClr val="F8FAFC"/>
          </a:solidFill>
          <a:ln w="5715">
            <a:solidFill>
              <a:srgbClr val="CBD5E1"/>
            </a:solidFill>
            <a:prstDash val="solid"/>
          </a:ln>
        </p:spPr>
        <p:txBody>
          <a:bodyPr/>
          <a:lstStyle/>
          <a:p>
            <a:endParaRPr lang="en-IN"/>
          </a:p>
        </p:txBody>
      </p:sp>
      <p:sp>
        <p:nvSpPr>
          <p:cNvPr id="46" name="Text 44"/>
          <p:cNvSpPr/>
          <p:nvPr/>
        </p:nvSpPr>
        <p:spPr>
          <a:xfrm>
            <a:off x="8549640" y="4078224"/>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Distillation-style mitigation state</a:t>
            </a:r>
            <a:endParaRPr lang="en-US" sz="1000" dirty="0"/>
          </a:p>
        </p:txBody>
      </p:sp>
      <p:sp>
        <p:nvSpPr>
          <p:cNvPr id="47" name="Shape 45"/>
          <p:cNvSpPr/>
          <p:nvPr/>
        </p:nvSpPr>
        <p:spPr>
          <a:xfrm>
            <a:off x="411480" y="4590288"/>
            <a:ext cx="411480" cy="603504"/>
          </a:xfrm>
          <a:prstGeom prst="rect">
            <a:avLst/>
          </a:prstGeom>
          <a:solidFill>
            <a:srgbClr val="FFFFFF"/>
          </a:solidFill>
          <a:ln w="5715">
            <a:solidFill>
              <a:srgbClr val="CBD5E1"/>
            </a:solidFill>
            <a:prstDash val="solid"/>
          </a:ln>
        </p:spPr>
        <p:txBody>
          <a:bodyPr/>
          <a:lstStyle/>
          <a:p>
            <a:endParaRPr lang="en-IN"/>
          </a:p>
        </p:txBody>
      </p:sp>
      <p:sp>
        <p:nvSpPr>
          <p:cNvPr id="48" name="Text 46"/>
          <p:cNvSpPr/>
          <p:nvPr/>
        </p:nvSpPr>
        <p:spPr>
          <a:xfrm>
            <a:off x="457200" y="4681728"/>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5</a:t>
            </a:r>
            <a:endParaRPr lang="en-US" sz="1000" dirty="0"/>
          </a:p>
        </p:txBody>
      </p:sp>
      <p:sp>
        <p:nvSpPr>
          <p:cNvPr id="49" name="Shape 47"/>
          <p:cNvSpPr/>
          <p:nvPr/>
        </p:nvSpPr>
        <p:spPr>
          <a:xfrm>
            <a:off x="822960" y="4590288"/>
            <a:ext cx="4754880" cy="603504"/>
          </a:xfrm>
          <a:prstGeom prst="rect">
            <a:avLst/>
          </a:prstGeom>
          <a:solidFill>
            <a:srgbClr val="FFFFFF"/>
          </a:solidFill>
          <a:ln w="5715">
            <a:solidFill>
              <a:srgbClr val="CBD5E1"/>
            </a:solidFill>
            <a:prstDash val="solid"/>
          </a:ln>
        </p:spPr>
        <p:txBody>
          <a:bodyPr/>
          <a:lstStyle/>
          <a:p>
            <a:endParaRPr lang="en-IN"/>
          </a:p>
        </p:txBody>
      </p:sp>
      <p:sp>
        <p:nvSpPr>
          <p:cNvPr id="50" name="Text 48"/>
          <p:cNvSpPr/>
          <p:nvPr/>
        </p:nvSpPr>
        <p:spPr>
          <a:xfrm>
            <a:off x="868680" y="4681728"/>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Drift Handling Framework for Open Radio Access Networks, Elsevier Computer Networks, 2024.</a:t>
            </a:r>
            <a:endParaRPr lang="en-US" sz="920" dirty="0"/>
          </a:p>
        </p:txBody>
      </p:sp>
      <p:sp>
        <p:nvSpPr>
          <p:cNvPr id="51" name="Shape 49"/>
          <p:cNvSpPr/>
          <p:nvPr/>
        </p:nvSpPr>
        <p:spPr>
          <a:xfrm>
            <a:off x="5577840" y="4590288"/>
            <a:ext cx="2926080" cy="603504"/>
          </a:xfrm>
          <a:prstGeom prst="rect">
            <a:avLst/>
          </a:prstGeom>
          <a:solidFill>
            <a:srgbClr val="FFFFFF"/>
          </a:solidFill>
          <a:ln w="5715">
            <a:solidFill>
              <a:srgbClr val="CBD5E1"/>
            </a:solidFill>
            <a:prstDash val="solid"/>
          </a:ln>
        </p:spPr>
        <p:txBody>
          <a:bodyPr/>
          <a:lstStyle/>
          <a:p>
            <a:endParaRPr lang="en-IN"/>
          </a:p>
        </p:txBody>
      </p:sp>
      <p:sp>
        <p:nvSpPr>
          <p:cNvPr id="52" name="Text 50"/>
          <p:cNvSpPr/>
          <p:nvPr/>
        </p:nvSpPr>
        <p:spPr>
          <a:xfrm>
            <a:off x="5623560" y="4681728"/>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Model drift and lifecycle safety</a:t>
            </a:r>
            <a:endParaRPr lang="en-US" sz="1000" dirty="0"/>
          </a:p>
        </p:txBody>
      </p:sp>
      <p:sp>
        <p:nvSpPr>
          <p:cNvPr id="53" name="Shape 51"/>
          <p:cNvSpPr/>
          <p:nvPr/>
        </p:nvSpPr>
        <p:spPr>
          <a:xfrm>
            <a:off x="8503920" y="4590288"/>
            <a:ext cx="3200400" cy="603504"/>
          </a:xfrm>
          <a:prstGeom prst="rect">
            <a:avLst/>
          </a:prstGeom>
          <a:solidFill>
            <a:srgbClr val="FFFFFF"/>
          </a:solidFill>
          <a:ln w="5715">
            <a:solidFill>
              <a:srgbClr val="CBD5E1"/>
            </a:solidFill>
            <a:prstDash val="solid"/>
          </a:ln>
        </p:spPr>
        <p:txBody>
          <a:bodyPr/>
          <a:lstStyle/>
          <a:p>
            <a:endParaRPr lang="en-IN"/>
          </a:p>
        </p:txBody>
      </p:sp>
      <p:sp>
        <p:nvSpPr>
          <p:cNvPr id="54" name="Text 52"/>
          <p:cNvSpPr/>
          <p:nvPr/>
        </p:nvSpPr>
        <p:spPr>
          <a:xfrm>
            <a:off x="8549640" y="4681728"/>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Drift check + registry/rollback concept</a:t>
            </a:r>
            <a:endParaRPr lang="en-US" sz="1000" dirty="0"/>
          </a:p>
        </p:txBody>
      </p:sp>
      <p:sp>
        <p:nvSpPr>
          <p:cNvPr id="55" name="Shape 53"/>
          <p:cNvSpPr/>
          <p:nvPr/>
        </p:nvSpPr>
        <p:spPr>
          <a:xfrm>
            <a:off x="411480" y="5193792"/>
            <a:ext cx="411480" cy="603504"/>
          </a:xfrm>
          <a:prstGeom prst="rect">
            <a:avLst/>
          </a:prstGeom>
          <a:solidFill>
            <a:srgbClr val="F8FAFC"/>
          </a:solidFill>
          <a:ln w="5715">
            <a:solidFill>
              <a:srgbClr val="CBD5E1"/>
            </a:solidFill>
            <a:prstDash val="solid"/>
          </a:ln>
        </p:spPr>
        <p:txBody>
          <a:bodyPr/>
          <a:lstStyle/>
          <a:p>
            <a:endParaRPr lang="en-IN"/>
          </a:p>
        </p:txBody>
      </p:sp>
      <p:sp>
        <p:nvSpPr>
          <p:cNvPr id="56" name="Text 54"/>
          <p:cNvSpPr/>
          <p:nvPr/>
        </p:nvSpPr>
        <p:spPr>
          <a:xfrm>
            <a:off x="457200" y="5285232"/>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6</a:t>
            </a:r>
            <a:endParaRPr lang="en-US" sz="1000" dirty="0"/>
          </a:p>
        </p:txBody>
      </p:sp>
      <p:sp>
        <p:nvSpPr>
          <p:cNvPr id="57" name="Shape 55"/>
          <p:cNvSpPr/>
          <p:nvPr/>
        </p:nvSpPr>
        <p:spPr>
          <a:xfrm>
            <a:off x="822960" y="5193792"/>
            <a:ext cx="4754880" cy="603504"/>
          </a:xfrm>
          <a:prstGeom prst="rect">
            <a:avLst/>
          </a:prstGeom>
          <a:solidFill>
            <a:srgbClr val="F8FAFC"/>
          </a:solidFill>
          <a:ln w="5715">
            <a:solidFill>
              <a:srgbClr val="CBD5E1"/>
            </a:solidFill>
            <a:prstDash val="solid"/>
          </a:ln>
        </p:spPr>
        <p:txBody>
          <a:bodyPr/>
          <a:lstStyle/>
          <a:p>
            <a:endParaRPr lang="en-IN"/>
          </a:p>
        </p:txBody>
      </p:sp>
      <p:sp>
        <p:nvSpPr>
          <p:cNvPr id="58" name="Text 56"/>
          <p:cNvSpPr/>
          <p:nvPr/>
        </p:nvSpPr>
        <p:spPr>
          <a:xfrm>
            <a:off x="868680" y="5285232"/>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Adversarial Machine Learning Threat Analysis and Remediation in O-RAN, Elsevier JNCA, 2024.</a:t>
            </a:r>
            <a:endParaRPr lang="en-US" sz="920" dirty="0"/>
          </a:p>
        </p:txBody>
      </p:sp>
      <p:sp>
        <p:nvSpPr>
          <p:cNvPr id="59" name="Shape 57"/>
          <p:cNvSpPr/>
          <p:nvPr/>
        </p:nvSpPr>
        <p:spPr>
          <a:xfrm>
            <a:off x="5577840" y="5193792"/>
            <a:ext cx="2926080" cy="603504"/>
          </a:xfrm>
          <a:prstGeom prst="rect">
            <a:avLst/>
          </a:prstGeom>
          <a:solidFill>
            <a:srgbClr val="F8FAFC"/>
          </a:solidFill>
          <a:ln w="5715">
            <a:solidFill>
              <a:srgbClr val="CBD5E1"/>
            </a:solidFill>
            <a:prstDash val="solid"/>
          </a:ln>
        </p:spPr>
        <p:txBody>
          <a:bodyPr/>
          <a:lstStyle/>
          <a:p>
            <a:endParaRPr lang="en-IN"/>
          </a:p>
        </p:txBody>
      </p:sp>
      <p:sp>
        <p:nvSpPr>
          <p:cNvPr id="60" name="Text 58"/>
          <p:cNvSpPr/>
          <p:nvPr/>
        </p:nvSpPr>
        <p:spPr>
          <a:xfrm>
            <a:off x="5623560" y="5285232"/>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Poisoning/evasion/unsafe action defense</a:t>
            </a:r>
            <a:endParaRPr lang="en-US" sz="1000" dirty="0"/>
          </a:p>
        </p:txBody>
      </p:sp>
      <p:sp>
        <p:nvSpPr>
          <p:cNvPr id="61" name="Shape 59"/>
          <p:cNvSpPr/>
          <p:nvPr/>
        </p:nvSpPr>
        <p:spPr>
          <a:xfrm>
            <a:off x="8503920" y="5193792"/>
            <a:ext cx="3200400" cy="603504"/>
          </a:xfrm>
          <a:prstGeom prst="rect">
            <a:avLst/>
          </a:prstGeom>
          <a:solidFill>
            <a:srgbClr val="F8FAFC"/>
          </a:solidFill>
          <a:ln w="5715">
            <a:solidFill>
              <a:srgbClr val="CBD5E1"/>
            </a:solidFill>
            <a:prstDash val="solid"/>
          </a:ln>
        </p:spPr>
        <p:txBody>
          <a:bodyPr/>
          <a:lstStyle/>
          <a:p>
            <a:endParaRPr lang="en-IN"/>
          </a:p>
        </p:txBody>
      </p:sp>
      <p:sp>
        <p:nvSpPr>
          <p:cNvPr id="62" name="Text 60"/>
          <p:cNvSpPr/>
          <p:nvPr/>
        </p:nvSpPr>
        <p:spPr>
          <a:xfrm>
            <a:off x="8549640" y="5285232"/>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AML guard and attack evaluation</a:t>
            </a:r>
            <a:endParaRPr lang="en-US" sz="1000" dirty="0"/>
          </a:p>
        </p:txBody>
      </p:sp>
      <p:sp>
        <p:nvSpPr>
          <p:cNvPr id="63" name="Text 61"/>
          <p:cNvSpPr/>
          <p:nvPr/>
        </p:nvSpPr>
        <p:spPr>
          <a:xfrm>
            <a:off x="594360" y="5989320"/>
            <a:ext cx="10881360" cy="292608"/>
          </a:xfrm>
          <a:prstGeom prst="rect">
            <a:avLst/>
          </a:prstGeom>
          <a:noFill/>
          <a:ln/>
        </p:spPr>
        <p:txBody>
          <a:bodyPr wrap="square" lIns="635" tIns="635" rIns="635" bIns="635" rtlCol="0" anchor="t">
            <a:normAutofit/>
          </a:bodyPr>
          <a:lstStyle/>
          <a:p>
            <a:pPr marL="0" indent="0" algn="l">
              <a:buNone/>
            </a:pPr>
            <a:r>
              <a:rPr lang="en-US" sz="1320" b="1" dirty="0">
                <a:solidFill>
                  <a:srgbClr val="4B5563"/>
                </a:solidFill>
                <a:latin typeface="Aptos" pitchFamily="34" charset="0"/>
                <a:ea typeface="Aptos" pitchFamily="34" charset="-122"/>
                <a:cs typeface="Aptos" pitchFamily="34" charset="-120"/>
              </a:rPr>
              <a:t>Purpose: cite the priority literature directly and show how each paper became an implemented engineering feature.</a:t>
            </a:r>
            <a:endParaRPr lang="en-US" sz="1320" dirty="0"/>
          </a:p>
        </p:txBody>
      </p:sp>
      <p:sp>
        <p:nvSpPr>
          <p:cNvPr id="64" name="Text 62"/>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LITERATURE BASE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Priority-folder papers and how they shaped the prototype (2/2)</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Full citations are shown with the implementation contribution for papers 7-12.</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411480" y="1572768"/>
            <a:ext cx="411480" cy="603504"/>
          </a:xfrm>
          <a:prstGeom prst="rect">
            <a:avLst/>
          </a:prstGeom>
          <a:solidFill>
            <a:srgbClr val="102033"/>
          </a:solidFill>
          <a:ln w="7620">
            <a:solidFill>
              <a:srgbClr val="CBD5E1"/>
            </a:solidFill>
            <a:prstDash val="solid"/>
          </a:ln>
        </p:spPr>
        <p:txBody>
          <a:bodyPr/>
          <a:lstStyle/>
          <a:p>
            <a:endParaRPr lang="en-IN"/>
          </a:p>
        </p:txBody>
      </p:sp>
      <p:sp>
        <p:nvSpPr>
          <p:cNvPr id="8" name="Text 6"/>
          <p:cNvSpPr/>
          <p:nvPr/>
        </p:nvSpPr>
        <p:spPr>
          <a:xfrm>
            <a:off x="457200" y="1737360"/>
            <a:ext cx="3200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a:t>
            </a:r>
            <a:endParaRPr lang="en-US" sz="1080" dirty="0"/>
          </a:p>
        </p:txBody>
      </p:sp>
      <p:sp>
        <p:nvSpPr>
          <p:cNvPr id="9" name="Shape 7"/>
          <p:cNvSpPr/>
          <p:nvPr/>
        </p:nvSpPr>
        <p:spPr>
          <a:xfrm>
            <a:off x="822960" y="1572768"/>
            <a:ext cx="4754880" cy="603504"/>
          </a:xfrm>
          <a:prstGeom prst="rect">
            <a:avLst/>
          </a:prstGeom>
          <a:solidFill>
            <a:srgbClr val="102033"/>
          </a:solidFill>
          <a:ln w="7620">
            <a:solidFill>
              <a:srgbClr val="CBD5E1"/>
            </a:solidFill>
            <a:prstDash val="solid"/>
          </a:ln>
        </p:spPr>
        <p:txBody>
          <a:bodyPr/>
          <a:lstStyle/>
          <a:p>
            <a:endParaRPr lang="en-IN"/>
          </a:p>
        </p:txBody>
      </p:sp>
      <p:sp>
        <p:nvSpPr>
          <p:cNvPr id="10" name="Text 8"/>
          <p:cNvSpPr/>
          <p:nvPr/>
        </p:nvSpPr>
        <p:spPr>
          <a:xfrm>
            <a:off x="868680" y="1737360"/>
            <a:ext cx="46634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Full paper citation</a:t>
            </a:r>
            <a:endParaRPr lang="en-US" sz="1080" dirty="0"/>
          </a:p>
        </p:txBody>
      </p:sp>
      <p:sp>
        <p:nvSpPr>
          <p:cNvPr id="11" name="Shape 9"/>
          <p:cNvSpPr/>
          <p:nvPr/>
        </p:nvSpPr>
        <p:spPr>
          <a:xfrm>
            <a:off x="5577840" y="1572768"/>
            <a:ext cx="2926080" cy="603504"/>
          </a:xfrm>
          <a:prstGeom prst="rect">
            <a:avLst/>
          </a:prstGeom>
          <a:solidFill>
            <a:srgbClr val="102033"/>
          </a:solidFill>
          <a:ln w="7620">
            <a:solidFill>
              <a:srgbClr val="CBD5E1"/>
            </a:solidFill>
            <a:prstDash val="solid"/>
          </a:ln>
        </p:spPr>
        <p:txBody>
          <a:bodyPr/>
          <a:lstStyle/>
          <a:p>
            <a:endParaRPr lang="en-IN"/>
          </a:p>
        </p:txBody>
      </p:sp>
      <p:sp>
        <p:nvSpPr>
          <p:cNvPr id="12" name="Text 10"/>
          <p:cNvSpPr/>
          <p:nvPr/>
        </p:nvSpPr>
        <p:spPr>
          <a:xfrm>
            <a:off x="5623560" y="1737360"/>
            <a:ext cx="283464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Main idea extracted</a:t>
            </a:r>
            <a:endParaRPr lang="en-US" sz="1080" dirty="0"/>
          </a:p>
        </p:txBody>
      </p:sp>
      <p:sp>
        <p:nvSpPr>
          <p:cNvPr id="13" name="Shape 11"/>
          <p:cNvSpPr/>
          <p:nvPr/>
        </p:nvSpPr>
        <p:spPr>
          <a:xfrm>
            <a:off x="8503920" y="1572768"/>
            <a:ext cx="3200400" cy="603504"/>
          </a:xfrm>
          <a:prstGeom prst="rect">
            <a:avLst/>
          </a:prstGeom>
          <a:solidFill>
            <a:srgbClr val="102033"/>
          </a:solidFill>
          <a:ln w="7620">
            <a:solidFill>
              <a:srgbClr val="CBD5E1"/>
            </a:solidFill>
            <a:prstDash val="solid"/>
          </a:ln>
        </p:spPr>
        <p:txBody>
          <a:bodyPr/>
          <a:lstStyle/>
          <a:p>
            <a:endParaRPr lang="en-IN"/>
          </a:p>
        </p:txBody>
      </p:sp>
      <p:sp>
        <p:nvSpPr>
          <p:cNvPr id="14" name="Text 12"/>
          <p:cNvSpPr/>
          <p:nvPr/>
        </p:nvSpPr>
        <p:spPr>
          <a:xfrm>
            <a:off x="8549640" y="1737360"/>
            <a:ext cx="3108960" cy="201168"/>
          </a:xfrm>
          <a:prstGeom prst="rect">
            <a:avLst/>
          </a:prstGeom>
          <a:noFill/>
          <a:ln/>
        </p:spPr>
        <p:txBody>
          <a:bodyPr wrap="square" lIns="0" tIns="0" rIns="0" bIns="0" rtlCol="0" anchor="t">
            <a:normAutofit/>
          </a:bodyPr>
          <a:lstStyle/>
          <a:p>
            <a:pPr marL="0" indent="0" algn="l">
              <a:buNone/>
            </a:pPr>
            <a:r>
              <a:rPr lang="en-US" sz="1080" b="1" dirty="0">
                <a:solidFill>
                  <a:srgbClr val="FFFFFF"/>
                </a:solidFill>
                <a:latin typeface="Aptos" pitchFamily="34" charset="0"/>
                <a:ea typeface="Aptos" pitchFamily="34" charset="-122"/>
                <a:cs typeface="Aptos" pitchFamily="34" charset="-120"/>
              </a:rPr>
              <a:t>Implemented contribution</a:t>
            </a:r>
            <a:endParaRPr lang="en-US" sz="1080" dirty="0"/>
          </a:p>
        </p:txBody>
      </p:sp>
      <p:sp>
        <p:nvSpPr>
          <p:cNvPr id="15" name="Shape 13"/>
          <p:cNvSpPr/>
          <p:nvPr/>
        </p:nvSpPr>
        <p:spPr>
          <a:xfrm>
            <a:off x="411480" y="2176272"/>
            <a:ext cx="411480" cy="603504"/>
          </a:xfrm>
          <a:prstGeom prst="rect">
            <a:avLst/>
          </a:prstGeom>
          <a:solidFill>
            <a:srgbClr val="FFFFFF"/>
          </a:solidFill>
          <a:ln w="5715">
            <a:solidFill>
              <a:srgbClr val="CBD5E1"/>
            </a:solidFill>
            <a:prstDash val="solid"/>
          </a:ln>
        </p:spPr>
        <p:txBody>
          <a:bodyPr/>
          <a:lstStyle/>
          <a:p>
            <a:endParaRPr lang="en-IN"/>
          </a:p>
        </p:txBody>
      </p:sp>
      <p:sp>
        <p:nvSpPr>
          <p:cNvPr id="16" name="Text 14"/>
          <p:cNvSpPr/>
          <p:nvPr/>
        </p:nvSpPr>
        <p:spPr>
          <a:xfrm>
            <a:off x="457200" y="2267712"/>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7</a:t>
            </a:r>
            <a:endParaRPr lang="en-US" sz="1000" dirty="0"/>
          </a:p>
        </p:txBody>
      </p:sp>
      <p:sp>
        <p:nvSpPr>
          <p:cNvPr id="17" name="Shape 15"/>
          <p:cNvSpPr/>
          <p:nvPr/>
        </p:nvSpPr>
        <p:spPr>
          <a:xfrm>
            <a:off x="822960" y="2176272"/>
            <a:ext cx="4754880" cy="603504"/>
          </a:xfrm>
          <a:prstGeom prst="rect">
            <a:avLst/>
          </a:prstGeom>
          <a:solidFill>
            <a:srgbClr val="FFFFFF"/>
          </a:solidFill>
          <a:ln w="5715">
            <a:solidFill>
              <a:srgbClr val="CBD5E1"/>
            </a:solidFill>
            <a:prstDash val="solid"/>
          </a:ln>
        </p:spPr>
        <p:txBody>
          <a:bodyPr/>
          <a:lstStyle/>
          <a:p>
            <a:endParaRPr lang="en-IN"/>
          </a:p>
        </p:txBody>
      </p:sp>
      <p:sp>
        <p:nvSpPr>
          <p:cNvPr id="18" name="Text 16"/>
          <p:cNvSpPr/>
          <p:nvPr/>
        </p:nvSpPr>
        <p:spPr>
          <a:xfrm>
            <a:off x="868680" y="2267712"/>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Digital-Twin-Driven End-to-End Network Slicing Toward 6G, IEEE, 2024.</a:t>
            </a:r>
            <a:endParaRPr lang="en-US" sz="920" dirty="0"/>
          </a:p>
        </p:txBody>
      </p:sp>
      <p:sp>
        <p:nvSpPr>
          <p:cNvPr id="19" name="Shape 17"/>
          <p:cNvSpPr/>
          <p:nvPr/>
        </p:nvSpPr>
        <p:spPr>
          <a:xfrm>
            <a:off x="5577840" y="2176272"/>
            <a:ext cx="2926080" cy="603504"/>
          </a:xfrm>
          <a:prstGeom prst="rect">
            <a:avLst/>
          </a:prstGeom>
          <a:solidFill>
            <a:srgbClr val="FFFFFF"/>
          </a:solidFill>
          <a:ln w="5715">
            <a:solidFill>
              <a:srgbClr val="CBD5E1"/>
            </a:solidFill>
            <a:prstDash val="solid"/>
          </a:ln>
        </p:spPr>
        <p:txBody>
          <a:bodyPr/>
          <a:lstStyle/>
          <a:p>
            <a:endParaRPr lang="en-IN"/>
          </a:p>
        </p:txBody>
      </p:sp>
      <p:sp>
        <p:nvSpPr>
          <p:cNvPr id="20" name="Text 18"/>
          <p:cNvSpPr/>
          <p:nvPr/>
        </p:nvSpPr>
        <p:spPr>
          <a:xfrm>
            <a:off x="5623560" y="2267712"/>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SLA and slice-aware digital twin</a:t>
            </a:r>
            <a:endParaRPr lang="en-US" sz="1000" dirty="0"/>
          </a:p>
        </p:txBody>
      </p:sp>
      <p:sp>
        <p:nvSpPr>
          <p:cNvPr id="21" name="Shape 19"/>
          <p:cNvSpPr/>
          <p:nvPr/>
        </p:nvSpPr>
        <p:spPr>
          <a:xfrm>
            <a:off x="8503920" y="2176272"/>
            <a:ext cx="3200400" cy="603504"/>
          </a:xfrm>
          <a:prstGeom prst="rect">
            <a:avLst/>
          </a:prstGeom>
          <a:solidFill>
            <a:srgbClr val="FFFFFF"/>
          </a:solidFill>
          <a:ln w="5715">
            <a:solidFill>
              <a:srgbClr val="CBD5E1"/>
            </a:solidFill>
            <a:prstDash val="solid"/>
          </a:ln>
        </p:spPr>
        <p:txBody>
          <a:bodyPr/>
          <a:lstStyle/>
          <a:p>
            <a:endParaRPr lang="en-IN"/>
          </a:p>
        </p:txBody>
      </p:sp>
      <p:sp>
        <p:nvSpPr>
          <p:cNvPr id="22" name="Text 20"/>
          <p:cNvSpPr/>
          <p:nvPr/>
        </p:nvSpPr>
        <p:spPr>
          <a:xfrm>
            <a:off x="8549640" y="2267712"/>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Slice/SLA impact scoring</a:t>
            </a:r>
            <a:endParaRPr lang="en-US" sz="1000" dirty="0"/>
          </a:p>
        </p:txBody>
      </p:sp>
      <p:sp>
        <p:nvSpPr>
          <p:cNvPr id="23" name="Shape 21"/>
          <p:cNvSpPr/>
          <p:nvPr/>
        </p:nvSpPr>
        <p:spPr>
          <a:xfrm>
            <a:off x="411480" y="2779776"/>
            <a:ext cx="411480" cy="603504"/>
          </a:xfrm>
          <a:prstGeom prst="rect">
            <a:avLst/>
          </a:prstGeom>
          <a:solidFill>
            <a:srgbClr val="F8FAFC"/>
          </a:solidFill>
          <a:ln w="5715">
            <a:solidFill>
              <a:srgbClr val="CBD5E1"/>
            </a:solidFill>
            <a:prstDash val="solid"/>
          </a:ln>
        </p:spPr>
        <p:txBody>
          <a:bodyPr/>
          <a:lstStyle/>
          <a:p>
            <a:endParaRPr lang="en-IN"/>
          </a:p>
        </p:txBody>
      </p:sp>
      <p:sp>
        <p:nvSpPr>
          <p:cNvPr id="24" name="Text 22"/>
          <p:cNvSpPr/>
          <p:nvPr/>
        </p:nvSpPr>
        <p:spPr>
          <a:xfrm>
            <a:off x="457200" y="2871216"/>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8</a:t>
            </a:r>
            <a:endParaRPr lang="en-US" sz="1000" dirty="0"/>
          </a:p>
        </p:txBody>
      </p:sp>
      <p:sp>
        <p:nvSpPr>
          <p:cNvPr id="25" name="Shape 23"/>
          <p:cNvSpPr/>
          <p:nvPr/>
        </p:nvSpPr>
        <p:spPr>
          <a:xfrm>
            <a:off x="822960" y="2779776"/>
            <a:ext cx="4754880" cy="603504"/>
          </a:xfrm>
          <a:prstGeom prst="rect">
            <a:avLst/>
          </a:prstGeom>
          <a:solidFill>
            <a:srgbClr val="F8FAFC"/>
          </a:solidFill>
          <a:ln w="5715">
            <a:solidFill>
              <a:srgbClr val="CBD5E1"/>
            </a:solidFill>
            <a:prstDash val="solid"/>
          </a:ln>
        </p:spPr>
        <p:txBody>
          <a:bodyPr/>
          <a:lstStyle/>
          <a:p>
            <a:endParaRPr lang="en-IN"/>
          </a:p>
        </p:txBody>
      </p:sp>
      <p:sp>
        <p:nvSpPr>
          <p:cNvPr id="26" name="Text 24"/>
          <p:cNvSpPr/>
          <p:nvPr/>
        </p:nvSpPr>
        <p:spPr>
          <a:xfrm>
            <a:off x="868680" y="2871216"/>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Time-Sensitive Networking Digital Twin for STRIDE-Based Security Testing, Springer, 2025.</a:t>
            </a:r>
            <a:endParaRPr lang="en-US" sz="920" dirty="0"/>
          </a:p>
        </p:txBody>
      </p:sp>
      <p:sp>
        <p:nvSpPr>
          <p:cNvPr id="27" name="Shape 25"/>
          <p:cNvSpPr/>
          <p:nvPr/>
        </p:nvSpPr>
        <p:spPr>
          <a:xfrm>
            <a:off x="5577840" y="2779776"/>
            <a:ext cx="2926080" cy="603504"/>
          </a:xfrm>
          <a:prstGeom prst="rect">
            <a:avLst/>
          </a:prstGeom>
          <a:solidFill>
            <a:srgbClr val="F8FAFC"/>
          </a:solidFill>
          <a:ln w="5715">
            <a:solidFill>
              <a:srgbClr val="CBD5E1"/>
            </a:solidFill>
            <a:prstDash val="solid"/>
          </a:ln>
        </p:spPr>
        <p:txBody>
          <a:bodyPr/>
          <a:lstStyle/>
          <a:p>
            <a:endParaRPr lang="en-IN"/>
          </a:p>
        </p:txBody>
      </p:sp>
      <p:sp>
        <p:nvSpPr>
          <p:cNvPr id="28" name="Text 26"/>
          <p:cNvSpPr/>
          <p:nvPr/>
        </p:nvSpPr>
        <p:spPr>
          <a:xfrm>
            <a:off x="5623560" y="2871216"/>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PTP sync and timing security</a:t>
            </a:r>
            <a:endParaRPr lang="en-US" sz="1000" dirty="0"/>
          </a:p>
        </p:txBody>
      </p:sp>
      <p:sp>
        <p:nvSpPr>
          <p:cNvPr id="29" name="Shape 27"/>
          <p:cNvSpPr/>
          <p:nvPr/>
        </p:nvSpPr>
        <p:spPr>
          <a:xfrm>
            <a:off x="8503920" y="2779776"/>
            <a:ext cx="3200400" cy="603504"/>
          </a:xfrm>
          <a:prstGeom prst="rect">
            <a:avLst/>
          </a:prstGeom>
          <a:solidFill>
            <a:srgbClr val="F8FAFC"/>
          </a:solidFill>
          <a:ln w="5715">
            <a:solidFill>
              <a:srgbClr val="CBD5E1"/>
            </a:solidFill>
            <a:prstDash val="solid"/>
          </a:ln>
        </p:spPr>
        <p:txBody>
          <a:bodyPr/>
          <a:lstStyle/>
          <a:p>
            <a:endParaRPr lang="en-IN"/>
          </a:p>
        </p:txBody>
      </p:sp>
      <p:sp>
        <p:nvSpPr>
          <p:cNvPr id="30" name="Text 28"/>
          <p:cNvSpPr/>
          <p:nvPr/>
        </p:nvSpPr>
        <p:spPr>
          <a:xfrm>
            <a:off x="8549640" y="2871216"/>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Timing/PTP safety check</a:t>
            </a:r>
            <a:endParaRPr lang="en-US" sz="1000" dirty="0"/>
          </a:p>
        </p:txBody>
      </p:sp>
      <p:sp>
        <p:nvSpPr>
          <p:cNvPr id="31" name="Shape 29"/>
          <p:cNvSpPr/>
          <p:nvPr/>
        </p:nvSpPr>
        <p:spPr>
          <a:xfrm>
            <a:off x="411480" y="3383280"/>
            <a:ext cx="411480" cy="603504"/>
          </a:xfrm>
          <a:prstGeom prst="rect">
            <a:avLst/>
          </a:prstGeom>
          <a:solidFill>
            <a:srgbClr val="FFFFFF"/>
          </a:solidFill>
          <a:ln w="5715">
            <a:solidFill>
              <a:srgbClr val="CBD5E1"/>
            </a:solidFill>
            <a:prstDash val="solid"/>
          </a:ln>
        </p:spPr>
        <p:txBody>
          <a:bodyPr/>
          <a:lstStyle/>
          <a:p>
            <a:endParaRPr lang="en-IN"/>
          </a:p>
        </p:txBody>
      </p:sp>
      <p:sp>
        <p:nvSpPr>
          <p:cNvPr id="32" name="Text 30"/>
          <p:cNvSpPr/>
          <p:nvPr/>
        </p:nvSpPr>
        <p:spPr>
          <a:xfrm>
            <a:off x="457200" y="3474720"/>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9</a:t>
            </a:r>
            <a:endParaRPr lang="en-US" sz="1000" dirty="0"/>
          </a:p>
        </p:txBody>
      </p:sp>
      <p:sp>
        <p:nvSpPr>
          <p:cNvPr id="33" name="Shape 31"/>
          <p:cNvSpPr/>
          <p:nvPr/>
        </p:nvSpPr>
        <p:spPr>
          <a:xfrm>
            <a:off x="822960" y="3383280"/>
            <a:ext cx="4754880" cy="603504"/>
          </a:xfrm>
          <a:prstGeom prst="rect">
            <a:avLst/>
          </a:prstGeom>
          <a:solidFill>
            <a:srgbClr val="FFFFFF"/>
          </a:solidFill>
          <a:ln w="5715">
            <a:solidFill>
              <a:srgbClr val="CBD5E1"/>
            </a:solidFill>
            <a:prstDash val="solid"/>
          </a:ln>
        </p:spPr>
        <p:txBody>
          <a:bodyPr/>
          <a:lstStyle/>
          <a:p>
            <a:endParaRPr lang="en-IN"/>
          </a:p>
        </p:txBody>
      </p:sp>
      <p:sp>
        <p:nvSpPr>
          <p:cNvPr id="34" name="Text 32"/>
          <p:cNvSpPr/>
          <p:nvPr/>
        </p:nvSpPr>
        <p:spPr>
          <a:xfrm>
            <a:off x="868680" y="3474720"/>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CERBERUS: Secure Automated Multi-Operator Management in B5G Through Dynamic Policy-Based ZSM, Springer, 2025.</a:t>
            </a:r>
            <a:endParaRPr lang="en-US" sz="920" dirty="0"/>
          </a:p>
        </p:txBody>
      </p:sp>
      <p:sp>
        <p:nvSpPr>
          <p:cNvPr id="35" name="Shape 33"/>
          <p:cNvSpPr/>
          <p:nvPr/>
        </p:nvSpPr>
        <p:spPr>
          <a:xfrm>
            <a:off x="5577840" y="3383280"/>
            <a:ext cx="2926080" cy="603504"/>
          </a:xfrm>
          <a:prstGeom prst="rect">
            <a:avLst/>
          </a:prstGeom>
          <a:solidFill>
            <a:srgbClr val="FFFFFF"/>
          </a:solidFill>
          <a:ln w="5715">
            <a:solidFill>
              <a:srgbClr val="CBD5E1"/>
            </a:solidFill>
            <a:prstDash val="solid"/>
          </a:ln>
        </p:spPr>
        <p:txBody>
          <a:bodyPr/>
          <a:lstStyle/>
          <a:p>
            <a:endParaRPr lang="en-IN"/>
          </a:p>
        </p:txBody>
      </p:sp>
      <p:sp>
        <p:nvSpPr>
          <p:cNvPr id="36" name="Text 34"/>
          <p:cNvSpPr/>
          <p:nvPr/>
        </p:nvSpPr>
        <p:spPr>
          <a:xfrm>
            <a:off x="5623560" y="3474720"/>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Policy governance and automation audit</a:t>
            </a:r>
            <a:endParaRPr lang="en-US" sz="1000" dirty="0"/>
          </a:p>
        </p:txBody>
      </p:sp>
      <p:sp>
        <p:nvSpPr>
          <p:cNvPr id="37" name="Shape 35"/>
          <p:cNvSpPr/>
          <p:nvPr/>
        </p:nvSpPr>
        <p:spPr>
          <a:xfrm>
            <a:off x="8503920" y="3383280"/>
            <a:ext cx="3200400" cy="603504"/>
          </a:xfrm>
          <a:prstGeom prst="rect">
            <a:avLst/>
          </a:prstGeom>
          <a:solidFill>
            <a:srgbClr val="FFFFFF"/>
          </a:solidFill>
          <a:ln w="5715">
            <a:solidFill>
              <a:srgbClr val="CBD5E1"/>
            </a:solidFill>
            <a:prstDash val="solid"/>
          </a:ln>
        </p:spPr>
        <p:txBody>
          <a:bodyPr/>
          <a:lstStyle/>
          <a:p>
            <a:endParaRPr lang="en-IN"/>
          </a:p>
        </p:txBody>
      </p:sp>
      <p:sp>
        <p:nvSpPr>
          <p:cNvPr id="38" name="Text 36"/>
          <p:cNvSpPr/>
          <p:nvPr/>
        </p:nvSpPr>
        <p:spPr>
          <a:xfrm>
            <a:off x="8549640" y="3474720"/>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ZSM/SMO policy gate</a:t>
            </a:r>
            <a:endParaRPr lang="en-US" sz="1000" dirty="0"/>
          </a:p>
        </p:txBody>
      </p:sp>
      <p:sp>
        <p:nvSpPr>
          <p:cNvPr id="39" name="Shape 37"/>
          <p:cNvSpPr/>
          <p:nvPr/>
        </p:nvSpPr>
        <p:spPr>
          <a:xfrm>
            <a:off x="411480" y="3986784"/>
            <a:ext cx="411480" cy="603504"/>
          </a:xfrm>
          <a:prstGeom prst="rect">
            <a:avLst/>
          </a:prstGeom>
          <a:solidFill>
            <a:srgbClr val="F8FAFC"/>
          </a:solidFill>
          <a:ln w="5715">
            <a:solidFill>
              <a:srgbClr val="CBD5E1"/>
            </a:solidFill>
            <a:prstDash val="solid"/>
          </a:ln>
        </p:spPr>
        <p:txBody>
          <a:bodyPr/>
          <a:lstStyle/>
          <a:p>
            <a:endParaRPr lang="en-IN"/>
          </a:p>
        </p:txBody>
      </p:sp>
      <p:sp>
        <p:nvSpPr>
          <p:cNvPr id="40" name="Text 38"/>
          <p:cNvSpPr/>
          <p:nvPr/>
        </p:nvSpPr>
        <p:spPr>
          <a:xfrm>
            <a:off x="457200" y="4078224"/>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10</a:t>
            </a:r>
            <a:endParaRPr lang="en-US" sz="1000" dirty="0"/>
          </a:p>
        </p:txBody>
      </p:sp>
      <p:sp>
        <p:nvSpPr>
          <p:cNvPr id="41" name="Shape 39"/>
          <p:cNvSpPr/>
          <p:nvPr/>
        </p:nvSpPr>
        <p:spPr>
          <a:xfrm>
            <a:off x="822960" y="3986784"/>
            <a:ext cx="4754880" cy="603504"/>
          </a:xfrm>
          <a:prstGeom prst="rect">
            <a:avLst/>
          </a:prstGeom>
          <a:solidFill>
            <a:srgbClr val="F8FAFC"/>
          </a:solidFill>
          <a:ln w="5715">
            <a:solidFill>
              <a:srgbClr val="CBD5E1"/>
            </a:solidFill>
            <a:prstDash val="solid"/>
          </a:ln>
        </p:spPr>
        <p:txBody>
          <a:bodyPr/>
          <a:lstStyle/>
          <a:p>
            <a:endParaRPr lang="en-IN"/>
          </a:p>
        </p:txBody>
      </p:sp>
      <p:sp>
        <p:nvSpPr>
          <p:cNvPr id="42" name="Text 40"/>
          <p:cNvSpPr/>
          <p:nvPr/>
        </p:nvSpPr>
        <p:spPr>
          <a:xfrm>
            <a:off x="868680" y="4078224"/>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A Comprehensive Survey on AI-Enabled Digital Twin Network in 6G, IEEE Access, 2024.</a:t>
            </a:r>
            <a:endParaRPr lang="en-US" sz="920" dirty="0"/>
          </a:p>
        </p:txBody>
      </p:sp>
      <p:sp>
        <p:nvSpPr>
          <p:cNvPr id="43" name="Shape 41"/>
          <p:cNvSpPr/>
          <p:nvPr/>
        </p:nvSpPr>
        <p:spPr>
          <a:xfrm>
            <a:off x="5577840" y="3986784"/>
            <a:ext cx="2926080" cy="603504"/>
          </a:xfrm>
          <a:prstGeom prst="rect">
            <a:avLst/>
          </a:prstGeom>
          <a:solidFill>
            <a:srgbClr val="F8FAFC"/>
          </a:solidFill>
          <a:ln w="5715">
            <a:solidFill>
              <a:srgbClr val="CBD5E1"/>
            </a:solidFill>
            <a:prstDash val="solid"/>
          </a:ln>
        </p:spPr>
        <p:txBody>
          <a:bodyPr/>
          <a:lstStyle/>
          <a:p>
            <a:endParaRPr lang="en-IN"/>
          </a:p>
        </p:txBody>
      </p:sp>
      <p:sp>
        <p:nvSpPr>
          <p:cNvPr id="44" name="Text 42"/>
          <p:cNvSpPr/>
          <p:nvPr/>
        </p:nvSpPr>
        <p:spPr>
          <a:xfrm>
            <a:off x="5623560" y="4078224"/>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Twin readiness and orchestration</a:t>
            </a:r>
            <a:endParaRPr lang="en-US" sz="1000" dirty="0"/>
          </a:p>
        </p:txBody>
      </p:sp>
      <p:sp>
        <p:nvSpPr>
          <p:cNvPr id="45" name="Shape 43"/>
          <p:cNvSpPr/>
          <p:nvPr/>
        </p:nvSpPr>
        <p:spPr>
          <a:xfrm>
            <a:off x="8503920" y="3986784"/>
            <a:ext cx="3200400" cy="603504"/>
          </a:xfrm>
          <a:prstGeom prst="rect">
            <a:avLst/>
          </a:prstGeom>
          <a:solidFill>
            <a:srgbClr val="F8FAFC"/>
          </a:solidFill>
          <a:ln w="5715">
            <a:solidFill>
              <a:srgbClr val="CBD5E1"/>
            </a:solidFill>
            <a:prstDash val="solid"/>
          </a:ln>
        </p:spPr>
        <p:txBody>
          <a:bodyPr/>
          <a:lstStyle/>
          <a:p>
            <a:endParaRPr lang="en-IN"/>
          </a:p>
        </p:txBody>
      </p:sp>
      <p:sp>
        <p:nvSpPr>
          <p:cNvPr id="46" name="Text 44"/>
          <p:cNvSpPr/>
          <p:nvPr/>
        </p:nvSpPr>
        <p:spPr>
          <a:xfrm>
            <a:off x="8549640" y="4078224"/>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DTN readiness check</a:t>
            </a:r>
            <a:endParaRPr lang="en-US" sz="1000" dirty="0"/>
          </a:p>
        </p:txBody>
      </p:sp>
      <p:sp>
        <p:nvSpPr>
          <p:cNvPr id="47" name="Shape 45"/>
          <p:cNvSpPr/>
          <p:nvPr/>
        </p:nvSpPr>
        <p:spPr>
          <a:xfrm>
            <a:off x="411480" y="4590288"/>
            <a:ext cx="411480" cy="603504"/>
          </a:xfrm>
          <a:prstGeom prst="rect">
            <a:avLst/>
          </a:prstGeom>
          <a:solidFill>
            <a:srgbClr val="FFFFFF"/>
          </a:solidFill>
          <a:ln w="5715">
            <a:solidFill>
              <a:srgbClr val="CBD5E1"/>
            </a:solidFill>
            <a:prstDash val="solid"/>
          </a:ln>
        </p:spPr>
        <p:txBody>
          <a:bodyPr/>
          <a:lstStyle/>
          <a:p>
            <a:endParaRPr lang="en-IN"/>
          </a:p>
        </p:txBody>
      </p:sp>
      <p:sp>
        <p:nvSpPr>
          <p:cNvPr id="48" name="Text 46"/>
          <p:cNvSpPr/>
          <p:nvPr/>
        </p:nvSpPr>
        <p:spPr>
          <a:xfrm>
            <a:off x="457200" y="4681728"/>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11</a:t>
            </a:r>
            <a:endParaRPr lang="en-US" sz="1000" dirty="0"/>
          </a:p>
        </p:txBody>
      </p:sp>
      <p:sp>
        <p:nvSpPr>
          <p:cNvPr id="49" name="Shape 47"/>
          <p:cNvSpPr/>
          <p:nvPr/>
        </p:nvSpPr>
        <p:spPr>
          <a:xfrm>
            <a:off x="822960" y="4590288"/>
            <a:ext cx="4754880" cy="603504"/>
          </a:xfrm>
          <a:prstGeom prst="rect">
            <a:avLst/>
          </a:prstGeom>
          <a:solidFill>
            <a:srgbClr val="FFFFFF"/>
          </a:solidFill>
          <a:ln w="5715">
            <a:solidFill>
              <a:srgbClr val="CBD5E1"/>
            </a:solidFill>
            <a:prstDash val="solid"/>
          </a:ln>
        </p:spPr>
        <p:txBody>
          <a:bodyPr/>
          <a:lstStyle/>
          <a:p>
            <a:endParaRPr lang="en-IN"/>
          </a:p>
        </p:txBody>
      </p:sp>
      <p:sp>
        <p:nvSpPr>
          <p:cNvPr id="50" name="Text 48"/>
          <p:cNvSpPr/>
          <p:nvPr/>
        </p:nvSpPr>
        <p:spPr>
          <a:xfrm>
            <a:off x="868680" y="4681728"/>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SpotLight: An Open RAN System for Dynamic Spectrum Access and Anomaly Detection, ACM MobiCom, 2024.</a:t>
            </a:r>
            <a:endParaRPr lang="en-US" sz="920" dirty="0"/>
          </a:p>
        </p:txBody>
      </p:sp>
      <p:sp>
        <p:nvSpPr>
          <p:cNvPr id="51" name="Shape 49"/>
          <p:cNvSpPr/>
          <p:nvPr/>
        </p:nvSpPr>
        <p:spPr>
          <a:xfrm>
            <a:off x="5577840" y="4590288"/>
            <a:ext cx="2926080" cy="603504"/>
          </a:xfrm>
          <a:prstGeom prst="rect">
            <a:avLst/>
          </a:prstGeom>
          <a:solidFill>
            <a:srgbClr val="FFFFFF"/>
          </a:solidFill>
          <a:ln w="5715">
            <a:solidFill>
              <a:srgbClr val="CBD5E1"/>
            </a:solidFill>
            <a:prstDash val="solid"/>
          </a:ln>
        </p:spPr>
        <p:txBody>
          <a:bodyPr/>
          <a:lstStyle/>
          <a:p>
            <a:endParaRPr lang="en-IN"/>
          </a:p>
        </p:txBody>
      </p:sp>
      <p:sp>
        <p:nvSpPr>
          <p:cNvPr id="52" name="Text 50"/>
          <p:cNvSpPr/>
          <p:nvPr/>
        </p:nvSpPr>
        <p:spPr>
          <a:xfrm>
            <a:off x="5623560" y="4681728"/>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Spectrum anomaly and dynamic access</a:t>
            </a:r>
            <a:endParaRPr lang="en-US" sz="1000" dirty="0"/>
          </a:p>
        </p:txBody>
      </p:sp>
      <p:sp>
        <p:nvSpPr>
          <p:cNvPr id="53" name="Shape 51"/>
          <p:cNvSpPr/>
          <p:nvPr/>
        </p:nvSpPr>
        <p:spPr>
          <a:xfrm>
            <a:off x="8503920" y="4590288"/>
            <a:ext cx="3200400" cy="603504"/>
          </a:xfrm>
          <a:prstGeom prst="rect">
            <a:avLst/>
          </a:prstGeom>
          <a:solidFill>
            <a:srgbClr val="FFFFFF"/>
          </a:solidFill>
          <a:ln w="5715">
            <a:solidFill>
              <a:srgbClr val="CBD5E1"/>
            </a:solidFill>
            <a:prstDash val="solid"/>
          </a:ln>
        </p:spPr>
        <p:txBody>
          <a:bodyPr/>
          <a:lstStyle/>
          <a:p>
            <a:endParaRPr lang="en-IN"/>
          </a:p>
        </p:txBody>
      </p:sp>
      <p:sp>
        <p:nvSpPr>
          <p:cNvPr id="54" name="Text 52"/>
          <p:cNvSpPr/>
          <p:nvPr/>
        </p:nvSpPr>
        <p:spPr>
          <a:xfrm>
            <a:off x="8549640" y="4681728"/>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Spectrum/DSA guard</a:t>
            </a:r>
            <a:endParaRPr lang="en-US" sz="1000" dirty="0"/>
          </a:p>
        </p:txBody>
      </p:sp>
      <p:sp>
        <p:nvSpPr>
          <p:cNvPr id="55" name="Shape 53"/>
          <p:cNvSpPr/>
          <p:nvPr/>
        </p:nvSpPr>
        <p:spPr>
          <a:xfrm>
            <a:off x="411480" y="5193792"/>
            <a:ext cx="411480" cy="603504"/>
          </a:xfrm>
          <a:prstGeom prst="rect">
            <a:avLst/>
          </a:prstGeom>
          <a:solidFill>
            <a:srgbClr val="F8FAFC"/>
          </a:solidFill>
          <a:ln w="5715">
            <a:solidFill>
              <a:srgbClr val="CBD5E1"/>
            </a:solidFill>
            <a:prstDash val="solid"/>
          </a:ln>
        </p:spPr>
        <p:txBody>
          <a:bodyPr/>
          <a:lstStyle/>
          <a:p>
            <a:endParaRPr lang="en-IN"/>
          </a:p>
        </p:txBody>
      </p:sp>
      <p:sp>
        <p:nvSpPr>
          <p:cNvPr id="56" name="Text 54"/>
          <p:cNvSpPr/>
          <p:nvPr/>
        </p:nvSpPr>
        <p:spPr>
          <a:xfrm>
            <a:off x="457200" y="5285232"/>
            <a:ext cx="3200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12</a:t>
            </a:r>
            <a:endParaRPr lang="en-US" sz="1000" dirty="0"/>
          </a:p>
        </p:txBody>
      </p:sp>
      <p:sp>
        <p:nvSpPr>
          <p:cNvPr id="57" name="Shape 55"/>
          <p:cNvSpPr/>
          <p:nvPr/>
        </p:nvSpPr>
        <p:spPr>
          <a:xfrm>
            <a:off x="822960" y="5193792"/>
            <a:ext cx="4754880" cy="603504"/>
          </a:xfrm>
          <a:prstGeom prst="rect">
            <a:avLst/>
          </a:prstGeom>
          <a:solidFill>
            <a:srgbClr val="F8FAFC"/>
          </a:solidFill>
          <a:ln w="5715">
            <a:solidFill>
              <a:srgbClr val="CBD5E1"/>
            </a:solidFill>
            <a:prstDash val="solid"/>
          </a:ln>
        </p:spPr>
        <p:txBody>
          <a:bodyPr/>
          <a:lstStyle/>
          <a:p>
            <a:endParaRPr lang="en-IN"/>
          </a:p>
        </p:txBody>
      </p:sp>
      <p:sp>
        <p:nvSpPr>
          <p:cNvPr id="58" name="Text 56"/>
          <p:cNvSpPr/>
          <p:nvPr/>
        </p:nvSpPr>
        <p:spPr>
          <a:xfrm>
            <a:off x="868680" y="5285232"/>
            <a:ext cx="4663440" cy="384048"/>
          </a:xfrm>
          <a:prstGeom prst="rect">
            <a:avLst/>
          </a:prstGeom>
          <a:noFill/>
          <a:ln/>
        </p:spPr>
        <p:txBody>
          <a:bodyPr wrap="square" lIns="0" tIns="0" rIns="0" bIns="0" rtlCol="0" anchor="t">
            <a:normAutofit/>
          </a:bodyPr>
          <a:lstStyle/>
          <a:p>
            <a:pPr marL="0" indent="0" algn="l">
              <a:buNone/>
            </a:pPr>
            <a:r>
              <a:rPr lang="en-US" sz="920" dirty="0">
                <a:solidFill>
                  <a:srgbClr val="111827"/>
                </a:solidFill>
                <a:latin typeface="Aptos" pitchFamily="34" charset="0"/>
                <a:ea typeface="Aptos" pitchFamily="34" charset="-122"/>
                <a:cs typeface="Aptos" pitchFamily="34" charset="-120"/>
              </a:rPr>
              <a:t>Project local production-hardening requirements and implementation report, 2026.</a:t>
            </a:r>
            <a:endParaRPr lang="en-US" sz="920" dirty="0"/>
          </a:p>
        </p:txBody>
      </p:sp>
      <p:sp>
        <p:nvSpPr>
          <p:cNvPr id="59" name="Shape 57"/>
          <p:cNvSpPr/>
          <p:nvPr/>
        </p:nvSpPr>
        <p:spPr>
          <a:xfrm>
            <a:off x="5577840" y="5193792"/>
            <a:ext cx="2926080" cy="603504"/>
          </a:xfrm>
          <a:prstGeom prst="rect">
            <a:avLst/>
          </a:prstGeom>
          <a:solidFill>
            <a:srgbClr val="F8FAFC"/>
          </a:solidFill>
          <a:ln w="5715">
            <a:solidFill>
              <a:srgbClr val="CBD5E1"/>
            </a:solidFill>
            <a:prstDash val="solid"/>
          </a:ln>
        </p:spPr>
        <p:txBody>
          <a:bodyPr/>
          <a:lstStyle/>
          <a:p>
            <a:endParaRPr lang="en-IN"/>
          </a:p>
        </p:txBody>
      </p:sp>
      <p:sp>
        <p:nvSpPr>
          <p:cNvPr id="60" name="Text 58"/>
          <p:cNvSpPr/>
          <p:nvPr/>
        </p:nvSpPr>
        <p:spPr>
          <a:xfrm>
            <a:off x="5623560" y="5285232"/>
            <a:ext cx="283464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Scale, audit, validation, demo readiness</a:t>
            </a:r>
            <a:endParaRPr lang="en-US" sz="1000" dirty="0"/>
          </a:p>
        </p:txBody>
      </p:sp>
      <p:sp>
        <p:nvSpPr>
          <p:cNvPr id="61" name="Shape 59"/>
          <p:cNvSpPr/>
          <p:nvPr/>
        </p:nvSpPr>
        <p:spPr>
          <a:xfrm>
            <a:off x="8503920" y="5193792"/>
            <a:ext cx="3200400" cy="603504"/>
          </a:xfrm>
          <a:prstGeom prst="rect">
            <a:avLst/>
          </a:prstGeom>
          <a:solidFill>
            <a:srgbClr val="F8FAFC"/>
          </a:solidFill>
          <a:ln w="5715">
            <a:solidFill>
              <a:srgbClr val="CBD5E1"/>
            </a:solidFill>
            <a:prstDash val="solid"/>
          </a:ln>
        </p:spPr>
        <p:txBody>
          <a:bodyPr/>
          <a:lstStyle/>
          <a:p>
            <a:endParaRPr lang="en-IN"/>
          </a:p>
        </p:txBody>
      </p:sp>
      <p:sp>
        <p:nvSpPr>
          <p:cNvPr id="62" name="Text 60"/>
          <p:cNvSpPr/>
          <p:nvPr/>
        </p:nvSpPr>
        <p:spPr>
          <a:xfrm>
            <a:off x="8549640" y="5285232"/>
            <a:ext cx="3108960" cy="384048"/>
          </a:xfrm>
          <a:prstGeom prst="rect">
            <a:avLst/>
          </a:prstGeom>
          <a:noFill/>
          <a:ln/>
        </p:spPr>
        <p:txBody>
          <a:bodyPr wrap="square" lIns="0" tIns="0" rIns="0" bIns="0" rtlCol="0" anchor="t">
            <a:normAutofit/>
          </a:bodyPr>
          <a:lstStyle/>
          <a:p>
            <a:pPr marL="0" indent="0" algn="l">
              <a:buNone/>
            </a:pPr>
            <a:r>
              <a:rPr lang="en-US" sz="1000" dirty="0">
                <a:solidFill>
                  <a:srgbClr val="111827"/>
                </a:solidFill>
                <a:latin typeface="Aptos" pitchFamily="34" charset="0"/>
                <a:ea typeface="Aptos" pitchFamily="34" charset="-122"/>
                <a:cs typeface="Aptos" pitchFamily="34" charset="-120"/>
              </a:rPr>
              <a:t>SQLite, reports, Docker, validation</a:t>
            </a:r>
            <a:endParaRPr lang="en-US" sz="1000" dirty="0"/>
          </a:p>
        </p:txBody>
      </p:sp>
      <p:sp>
        <p:nvSpPr>
          <p:cNvPr id="63" name="Text 61"/>
          <p:cNvSpPr/>
          <p:nvPr/>
        </p:nvSpPr>
        <p:spPr>
          <a:xfrm>
            <a:off x="594360" y="5989320"/>
            <a:ext cx="10881360" cy="292608"/>
          </a:xfrm>
          <a:prstGeom prst="rect">
            <a:avLst/>
          </a:prstGeom>
          <a:noFill/>
          <a:ln/>
        </p:spPr>
        <p:txBody>
          <a:bodyPr wrap="square" lIns="635" tIns="635" rIns="635" bIns="635" rtlCol="0" anchor="t">
            <a:normAutofit/>
          </a:bodyPr>
          <a:lstStyle/>
          <a:p>
            <a:pPr marL="0" indent="0" algn="l">
              <a:buNone/>
            </a:pPr>
            <a:r>
              <a:rPr lang="en-US" sz="1320" b="1" dirty="0">
                <a:solidFill>
                  <a:srgbClr val="4B5563"/>
                </a:solidFill>
                <a:latin typeface="Aptos" pitchFamily="34" charset="0"/>
                <a:ea typeface="Aptos" pitchFamily="34" charset="-122"/>
                <a:cs typeface="Aptos" pitchFamily="34" charset="-120"/>
              </a:rPr>
              <a:t>Purpose: continue the citation-to-implementation mapping with readable text for presentation.</a:t>
            </a:r>
            <a:endParaRPr lang="en-US" sz="1320" dirty="0"/>
          </a:p>
        </p:txBody>
      </p:sp>
      <p:sp>
        <p:nvSpPr>
          <p:cNvPr id="64" name="Text 62"/>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ARCHITECTURE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Where the complete project sits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is the architecture image now used to justify project scope.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pic>
        <p:nvPicPr>
          <p:cNvPr id="7" name="Image 0" descr="C:\Users\Admin\Documents\AI-Native Self-Healing O-RAN Network using a Digital Twin\assets\oran_project_scope_architecture.jpeg"/>
          <p:cNvPicPr>
            <a:picLocks noChangeAspect="1"/>
          </p:cNvPicPr>
          <p:nvPr/>
        </p:nvPicPr>
        <p:blipFill>
          <a:blip r:embed="rId3"/>
          <a:stretch>
            <a:fillRect/>
          </a:stretch>
        </p:blipFill>
        <p:spPr>
          <a:xfrm>
            <a:off x="731520" y="1609344"/>
            <a:ext cx="10744200" cy="4709160"/>
          </a:xfrm>
          <a:prstGeom prst="rect">
            <a:avLst/>
          </a:prstGeom>
        </p:spPr>
      </p:pic>
      <p:sp>
        <p:nvSpPr>
          <p:cNvPr id="8" name="Text 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SMALLEST UNIT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Smallest input element: one telemetry record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One row represents one cell/service/slice condition at one time step.</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700784"/>
            <a:ext cx="3840480" cy="4096512"/>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40080" y="1700784"/>
            <a:ext cx="384048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749808" y="1773936"/>
            <a:ext cx="36210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Meaning</a:t>
            </a:r>
            <a:endParaRPr lang="en-US" sz="1050" dirty="0"/>
          </a:p>
        </p:txBody>
      </p:sp>
      <p:sp>
        <p:nvSpPr>
          <p:cNvPr id="10" name="Text 8"/>
          <p:cNvSpPr/>
          <p:nvPr/>
        </p:nvSpPr>
        <p:spPr>
          <a:xfrm>
            <a:off x="777240" y="2139696"/>
            <a:ext cx="3566160" cy="3566160"/>
          </a:xfrm>
          <a:prstGeom prst="rect">
            <a:avLst/>
          </a:prstGeom>
          <a:noFill/>
          <a:ln/>
        </p:spPr>
        <p:txBody>
          <a:bodyPr wrap="square" lIns="254" tIns="254" rIns="254" bIns="254" rtlCol="0" anchor="t">
            <a:normAutofit/>
          </a:bodyPr>
          <a:lstStyle/>
          <a:p>
            <a:pPr marL="0" indent="0" algn="l">
              <a:buNone/>
            </a:pPr>
            <a:r>
              <a:rPr lang="en-US" sz="1520" dirty="0">
                <a:solidFill>
                  <a:srgbClr val="111827"/>
                </a:solidFill>
                <a:latin typeface="Aptos" pitchFamily="34" charset="0"/>
                <a:ea typeface="Aptos" pitchFamily="34" charset="-122"/>
                <a:cs typeface="Aptos" pitchFamily="34" charset="-120"/>
              </a:rPr>
              <a:t>- A telemetry record is the atomic unit of our pipeline.</a:t>
            </a:r>
            <a:endParaRPr lang="en-US" sz="1520" dirty="0"/>
          </a:p>
          <a:p>
            <a:pPr marL="0" indent="0" algn="l">
              <a:buNone/>
            </a:pPr>
            <a:r>
              <a:rPr lang="en-US" sz="1520" dirty="0">
                <a:solidFill>
                  <a:srgbClr val="111827"/>
                </a:solidFill>
                <a:latin typeface="Aptos" pitchFamily="34" charset="0"/>
                <a:ea typeface="Aptos" pitchFamily="34" charset="-122"/>
                <a:cs typeface="Aptos" pitchFamily="34" charset="-120"/>
              </a:rPr>
              <a:t>- It carries identity fields, device population, radio KPIs, service KPIs, mobility/control fields, timing fields, and security/model fields.</a:t>
            </a:r>
            <a:endParaRPr lang="en-US" sz="1520" dirty="0"/>
          </a:p>
          <a:p>
            <a:pPr marL="0" indent="0" algn="l">
              <a:buNone/>
            </a:pPr>
            <a:r>
              <a:rPr lang="en-US" sz="1520" dirty="0">
                <a:solidFill>
                  <a:srgbClr val="111827"/>
                </a:solidFill>
                <a:latin typeface="Aptos" pitchFamily="34" charset="0"/>
                <a:ea typeface="Aptos" pitchFamily="34" charset="-122"/>
                <a:cs typeface="Aptos" pitchFamily="34" charset="-120"/>
              </a:rPr>
              <a:t>- Every later decision is calculated from one or more telemetry records.</a:t>
            </a:r>
            <a:endParaRPr lang="en-US" sz="1520" dirty="0"/>
          </a:p>
        </p:txBody>
      </p:sp>
      <p:sp>
        <p:nvSpPr>
          <p:cNvPr id="11" name="Shape 9"/>
          <p:cNvSpPr/>
          <p:nvPr/>
        </p:nvSpPr>
        <p:spPr>
          <a:xfrm>
            <a:off x="4736592" y="1682496"/>
            <a:ext cx="6638544" cy="4315968"/>
          </a:xfrm>
          <a:prstGeom prst="rect">
            <a:avLst/>
          </a:prstGeom>
          <a:solidFill>
            <a:srgbClr val="111827"/>
          </a:solidFill>
          <a:ln w="12700">
            <a:solidFill>
              <a:srgbClr val="374151"/>
            </a:solidFill>
            <a:prstDash val="solid"/>
          </a:ln>
        </p:spPr>
        <p:txBody>
          <a:bodyPr/>
          <a:lstStyle/>
          <a:p>
            <a:endParaRPr lang="en-IN"/>
          </a:p>
        </p:txBody>
      </p:sp>
      <p:sp>
        <p:nvSpPr>
          <p:cNvPr id="12" name="Text 10"/>
          <p:cNvSpPr/>
          <p:nvPr/>
        </p:nvSpPr>
        <p:spPr>
          <a:xfrm>
            <a:off x="4864608" y="1792224"/>
            <a:ext cx="6382512" cy="4096512"/>
          </a:xfrm>
          <a:prstGeom prst="rect">
            <a:avLst/>
          </a:prstGeom>
          <a:noFill/>
          <a:ln/>
        </p:spPr>
        <p:txBody>
          <a:bodyPr wrap="square" lIns="0" tIns="0" rIns="0" bIns="0" rtlCol="0" anchor="t">
            <a:normAutofit/>
          </a:bodyPr>
          <a:lstStyle/>
          <a:p>
            <a:pPr marL="0" indent="0" algn="l">
              <a:buNone/>
            </a:pPr>
            <a:r>
              <a:rPr lang="en-US" sz="1220" dirty="0">
                <a:solidFill>
                  <a:srgbClr val="F9FAFB"/>
                </a:solidFill>
                <a:latin typeface="Consolas" pitchFamily="34" charset="0"/>
                <a:ea typeface="Consolas" pitchFamily="34" charset="-122"/>
                <a:cs typeface="Consolas" pitchFamily="34" charset="-120"/>
              </a:rPr>
              <a:t>timestamp: 2026-06-11 10:00:00</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cell_id: cell_001</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service_class: URLLC</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device_count: 8,000</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active_devices: 1,200</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latency_ms: 18</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throughput_mbps: 42</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packet_loss_pct: 2.8</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prb_utilization_pct: 91</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sinr_db: 7</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bler_pct: 12</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cqi: 6</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handover_failures: 4</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timing_offset_us: 3.2</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spectrum_interference: high</a:t>
            </a:r>
            <a:endParaRPr lang="en-US" sz="1220" dirty="0"/>
          </a:p>
          <a:p>
            <a:pPr marL="0" indent="0" algn="l">
              <a:buNone/>
            </a:pPr>
            <a:r>
              <a:rPr lang="en-US" sz="1220" dirty="0">
                <a:solidFill>
                  <a:srgbClr val="F9FAFB"/>
                </a:solidFill>
                <a:latin typeface="Consolas" pitchFamily="34" charset="0"/>
                <a:ea typeface="Consolas" pitchFamily="34" charset="-122"/>
                <a:cs typeface="Consolas" pitchFamily="34" charset="-120"/>
              </a:rPr>
              <a:t>slice_priority: critical</a:t>
            </a:r>
            <a:endParaRPr lang="en-US" sz="1220" dirty="0"/>
          </a:p>
        </p:txBody>
      </p:sp>
      <p:sp>
        <p:nvSpPr>
          <p:cNvPr id="13" name="Text 1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INPUT ORIGIN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Where the telemetry input comes from</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Real deployment source versus current prototype source.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731520" y="1719072"/>
            <a:ext cx="5120640" cy="19659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731520" y="1719072"/>
            <a:ext cx="512064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841248" y="1792224"/>
            <a:ext cx="49011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Real O-RAN deployment</a:t>
            </a:r>
            <a:endParaRPr lang="en-US" sz="1050" dirty="0"/>
          </a:p>
        </p:txBody>
      </p:sp>
      <p:sp>
        <p:nvSpPr>
          <p:cNvPr id="10" name="Text 8"/>
          <p:cNvSpPr/>
          <p:nvPr/>
        </p:nvSpPr>
        <p:spPr>
          <a:xfrm>
            <a:off x="868680" y="2157984"/>
            <a:ext cx="4846320" cy="143560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O-RU / O-DU / O-CU generate telemetry. That telemetry can be carried through E2, O1, E2SM-KPM, OAI, srsRAN, or FlexRIC pathways into RIC/SMO intelligence.</a:t>
            </a:r>
            <a:endParaRPr lang="en-US" sz="1580" dirty="0"/>
          </a:p>
        </p:txBody>
      </p:sp>
      <p:sp>
        <p:nvSpPr>
          <p:cNvPr id="11" name="Shape 9"/>
          <p:cNvSpPr/>
          <p:nvPr/>
        </p:nvSpPr>
        <p:spPr>
          <a:xfrm>
            <a:off x="6199632" y="1719072"/>
            <a:ext cx="5074920" cy="196596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99632" y="1719072"/>
            <a:ext cx="507492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309360" y="1792224"/>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Current prototype</a:t>
            </a:r>
            <a:endParaRPr lang="en-US" sz="1050" dirty="0"/>
          </a:p>
        </p:txBody>
      </p:sp>
      <p:sp>
        <p:nvSpPr>
          <p:cNvPr id="14" name="Text 12"/>
          <p:cNvSpPr/>
          <p:nvPr/>
        </p:nvSpPr>
        <p:spPr>
          <a:xfrm>
            <a:off x="6336792" y="2157984"/>
            <a:ext cx="4800600" cy="143560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A local simulator generates structured KPI records. The records are designed to be OAI/FlexRIC-ready, but they are not live-connected yet.</a:t>
            </a:r>
            <a:endParaRPr lang="en-US" sz="1580" dirty="0"/>
          </a:p>
        </p:txBody>
      </p:sp>
      <p:sp>
        <p:nvSpPr>
          <p:cNvPr id="15" name="Shape 13"/>
          <p:cNvSpPr/>
          <p:nvPr/>
        </p:nvSpPr>
        <p:spPr>
          <a:xfrm>
            <a:off x="960120" y="4297680"/>
            <a:ext cx="4709160" cy="960120"/>
          </a:xfrm>
          <a:prstGeom prst="rect">
            <a:avLst/>
          </a:prstGeom>
          <a:solidFill>
            <a:srgbClr val="111827"/>
          </a:solidFill>
          <a:ln w="12700">
            <a:solidFill>
              <a:srgbClr val="374151"/>
            </a:solidFill>
            <a:prstDash val="solid"/>
          </a:ln>
        </p:spPr>
        <p:txBody>
          <a:bodyPr/>
          <a:lstStyle/>
          <a:p>
            <a:endParaRPr lang="en-IN"/>
          </a:p>
        </p:txBody>
      </p:sp>
      <p:sp>
        <p:nvSpPr>
          <p:cNvPr id="16" name="Text 14"/>
          <p:cNvSpPr/>
          <p:nvPr/>
        </p:nvSpPr>
        <p:spPr>
          <a:xfrm>
            <a:off x="1088136" y="4407408"/>
            <a:ext cx="4453128" cy="740664"/>
          </a:xfrm>
          <a:prstGeom prst="rect">
            <a:avLst/>
          </a:prstGeom>
          <a:noFill/>
          <a:ln/>
        </p:spPr>
        <p:txBody>
          <a:bodyPr wrap="square" lIns="0" tIns="0" rIns="0" bIns="0" rtlCol="0" anchor="t">
            <a:normAutofit/>
          </a:bodyPr>
          <a:lstStyle/>
          <a:p>
            <a:pPr marL="0" indent="0" algn="l">
              <a:buNone/>
            </a:pPr>
            <a:r>
              <a:rPr lang="en-US" sz="1600" dirty="0">
                <a:solidFill>
                  <a:srgbClr val="F9FAFB"/>
                </a:solidFill>
                <a:latin typeface="Consolas" pitchFamily="34" charset="0"/>
                <a:ea typeface="Consolas" pitchFamily="34" charset="-122"/>
                <a:cs typeface="Consolas" pitchFamily="34" charset="-120"/>
              </a:rPr>
              <a:t>Real path:</a:t>
            </a:r>
            <a:endParaRPr lang="en-US" sz="1600" dirty="0"/>
          </a:p>
          <a:p>
            <a:pPr marL="0" indent="0" algn="l">
              <a:buNone/>
            </a:pPr>
            <a:r>
              <a:rPr lang="en-US" sz="1600" dirty="0">
                <a:solidFill>
                  <a:srgbClr val="F9FAFB"/>
                </a:solidFill>
                <a:latin typeface="Consolas" pitchFamily="34" charset="0"/>
                <a:ea typeface="Consolas" pitchFamily="34" charset="-122"/>
                <a:cs typeface="Consolas" pitchFamily="34" charset="-120"/>
              </a:rPr>
              <a:t>O-RU/O-DU/O-CU -&gt; E2/O1 telemetry -&gt; RIC/SMO</a:t>
            </a:r>
            <a:endParaRPr lang="en-US" sz="1600" dirty="0"/>
          </a:p>
        </p:txBody>
      </p:sp>
      <p:sp>
        <p:nvSpPr>
          <p:cNvPr id="17" name="Shape 15"/>
          <p:cNvSpPr/>
          <p:nvPr/>
        </p:nvSpPr>
        <p:spPr>
          <a:xfrm>
            <a:off x="6428232" y="4297680"/>
            <a:ext cx="4617720" cy="960120"/>
          </a:xfrm>
          <a:prstGeom prst="rect">
            <a:avLst/>
          </a:prstGeom>
          <a:solidFill>
            <a:srgbClr val="111827"/>
          </a:solidFill>
          <a:ln w="12700">
            <a:solidFill>
              <a:srgbClr val="374151"/>
            </a:solidFill>
            <a:prstDash val="solid"/>
          </a:ln>
        </p:spPr>
        <p:txBody>
          <a:bodyPr/>
          <a:lstStyle/>
          <a:p>
            <a:endParaRPr lang="en-IN"/>
          </a:p>
        </p:txBody>
      </p:sp>
      <p:sp>
        <p:nvSpPr>
          <p:cNvPr id="18" name="Text 16"/>
          <p:cNvSpPr/>
          <p:nvPr/>
        </p:nvSpPr>
        <p:spPr>
          <a:xfrm>
            <a:off x="6556248" y="4407408"/>
            <a:ext cx="4361688" cy="740664"/>
          </a:xfrm>
          <a:prstGeom prst="rect">
            <a:avLst/>
          </a:prstGeom>
          <a:noFill/>
          <a:ln/>
        </p:spPr>
        <p:txBody>
          <a:bodyPr wrap="square" lIns="0" tIns="0" rIns="0" bIns="0" rtlCol="0" anchor="t">
            <a:normAutofit/>
          </a:bodyPr>
          <a:lstStyle/>
          <a:p>
            <a:pPr marL="0" indent="0" algn="l">
              <a:buNone/>
            </a:pPr>
            <a:r>
              <a:rPr lang="en-US" sz="1600" dirty="0">
                <a:solidFill>
                  <a:srgbClr val="F9FAFB"/>
                </a:solidFill>
                <a:latin typeface="Consolas" pitchFamily="34" charset="0"/>
                <a:ea typeface="Consolas" pitchFamily="34" charset="-122"/>
                <a:cs typeface="Consolas" pitchFamily="34" charset="-120"/>
              </a:rPr>
              <a:t>Current path:</a:t>
            </a:r>
            <a:endParaRPr lang="en-US" sz="1600" dirty="0"/>
          </a:p>
          <a:p>
            <a:pPr marL="0" indent="0" algn="l">
              <a:buNone/>
            </a:pPr>
            <a:r>
              <a:rPr lang="en-US" sz="1600" dirty="0">
                <a:solidFill>
                  <a:srgbClr val="F9FAFB"/>
                </a:solidFill>
                <a:latin typeface="Consolas" pitchFamily="34" charset="0"/>
                <a:ea typeface="Consolas" pitchFamily="34" charset="-122"/>
                <a:cs typeface="Consolas" pitchFamily="34" charset="-120"/>
              </a:rPr>
              <a:t>Local simulator -&gt; generated KPI records -&gt; digital twin pipeline</a:t>
            </a:r>
            <a:endParaRPr lang="en-US" sz="1600" dirty="0"/>
          </a:p>
        </p:txBody>
      </p:sp>
      <p:sp>
        <p:nvSpPr>
          <p:cNvPr id="19" name="Text 1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INPUT CATEGORIES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Raw input categories read by the system</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input is not just one value; it is a structured telemetry object.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600200"/>
            <a:ext cx="2788920" cy="141732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600200"/>
            <a:ext cx="278892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612648" y="1673352"/>
            <a:ext cx="2569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Identity fields</a:t>
            </a:r>
            <a:endParaRPr lang="en-US" sz="1050" dirty="0"/>
          </a:p>
        </p:txBody>
      </p:sp>
      <p:sp>
        <p:nvSpPr>
          <p:cNvPr id="10" name="Text 8"/>
          <p:cNvSpPr/>
          <p:nvPr/>
        </p:nvSpPr>
        <p:spPr>
          <a:xfrm>
            <a:off x="640080" y="2039112"/>
            <a:ext cx="2514600" cy="886968"/>
          </a:xfrm>
          <a:prstGeom prst="rect">
            <a:avLst/>
          </a:prstGeom>
          <a:noFill/>
          <a:ln/>
        </p:spPr>
        <p:txBody>
          <a:bodyPr wrap="square" lIns="254" tIns="254" rIns="254" bIns="254" rtlCol="0" anchor="t">
            <a:normAutofit/>
          </a:bodyPr>
          <a:lstStyle/>
          <a:p>
            <a:pPr marL="0" indent="0" algn="l">
              <a:buNone/>
            </a:pPr>
            <a:r>
              <a:rPr lang="en-US" sz="1380" dirty="0">
                <a:solidFill>
                  <a:srgbClr val="111827"/>
                </a:solidFill>
                <a:latin typeface="Aptos" pitchFamily="34" charset="0"/>
                <a:ea typeface="Aptos" pitchFamily="34" charset="-122"/>
                <a:cs typeface="Aptos" pitchFamily="34" charset="-120"/>
              </a:rPr>
              <a:t>- timestamp</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cell_id</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sector_id</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slice_id</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service_class</a:t>
            </a:r>
            <a:endParaRPr lang="en-US" sz="1380" dirty="0"/>
          </a:p>
        </p:txBody>
      </p:sp>
      <p:sp>
        <p:nvSpPr>
          <p:cNvPr id="11" name="Shape 9"/>
          <p:cNvSpPr/>
          <p:nvPr/>
        </p:nvSpPr>
        <p:spPr>
          <a:xfrm>
            <a:off x="3520440" y="1600200"/>
            <a:ext cx="2788920" cy="141732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520440" y="1600200"/>
            <a:ext cx="278892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3630168" y="1673352"/>
            <a:ext cx="2569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Device fields</a:t>
            </a:r>
            <a:endParaRPr lang="en-US" sz="1050" dirty="0"/>
          </a:p>
        </p:txBody>
      </p:sp>
      <p:sp>
        <p:nvSpPr>
          <p:cNvPr id="14" name="Text 12"/>
          <p:cNvSpPr/>
          <p:nvPr/>
        </p:nvSpPr>
        <p:spPr>
          <a:xfrm>
            <a:off x="3657600" y="2039112"/>
            <a:ext cx="2514600" cy="886968"/>
          </a:xfrm>
          <a:prstGeom prst="rect">
            <a:avLst/>
          </a:prstGeom>
          <a:noFill/>
          <a:ln/>
        </p:spPr>
        <p:txBody>
          <a:bodyPr wrap="square" lIns="254" tIns="254" rIns="254" bIns="254" rtlCol="0" anchor="t">
            <a:normAutofit/>
          </a:bodyPr>
          <a:lstStyle/>
          <a:p>
            <a:pPr marL="0" indent="0" algn="l">
              <a:buNone/>
            </a:pPr>
            <a:r>
              <a:rPr lang="en-US" sz="1380" dirty="0">
                <a:solidFill>
                  <a:srgbClr val="111827"/>
                </a:solidFill>
                <a:latin typeface="Aptos" pitchFamily="34" charset="0"/>
                <a:ea typeface="Aptos" pitchFamily="34" charset="-122"/>
                <a:cs typeface="Aptos" pitchFamily="34" charset="-120"/>
              </a:rPr>
              <a:t>- represented_devices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active_devices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affected_devices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device_type</a:t>
            </a:r>
            <a:endParaRPr lang="en-US" sz="1380" dirty="0"/>
          </a:p>
        </p:txBody>
      </p:sp>
      <p:sp>
        <p:nvSpPr>
          <p:cNvPr id="15" name="Shape 13"/>
          <p:cNvSpPr/>
          <p:nvPr/>
        </p:nvSpPr>
        <p:spPr>
          <a:xfrm>
            <a:off x="6537960" y="1600200"/>
            <a:ext cx="4846320" cy="141732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537960" y="1600200"/>
            <a:ext cx="4846320" cy="310896"/>
          </a:xfrm>
          <a:prstGeom prst="rect">
            <a:avLst/>
          </a:prstGeom>
          <a:solidFill>
            <a:srgbClr val="C2410C"/>
          </a:solidFill>
          <a:ln w="12700">
            <a:solidFill>
              <a:srgbClr val="C2410C"/>
            </a:solidFill>
            <a:prstDash val="solid"/>
          </a:ln>
        </p:spPr>
        <p:txBody>
          <a:bodyPr/>
          <a:lstStyle/>
          <a:p>
            <a:endParaRPr lang="en-IN"/>
          </a:p>
        </p:txBody>
      </p:sp>
      <p:sp>
        <p:nvSpPr>
          <p:cNvPr id="17" name="Text 15"/>
          <p:cNvSpPr/>
          <p:nvPr/>
        </p:nvSpPr>
        <p:spPr>
          <a:xfrm>
            <a:off x="6647688" y="1673352"/>
            <a:ext cx="46268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Radio KPI fields</a:t>
            </a:r>
            <a:endParaRPr lang="en-US" sz="1050" dirty="0"/>
          </a:p>
        </p:txBody>
      </p:sp>
      <p:sp>
        <p:nvSpPr>
          <p:cNvPr id="18" name="Text 16"/>
          <p:cNvSpPr/>
          <p:nvPr/>
        </p:nvSpPr>
        <p:spPr>
          <a:xfrm>
            <a:off x="6675120" y="2039112"/>
            <a:ext cx="4572000" cy="886968"/>
          </a:xfrm>
          <a:prstGeom prst="rect">
            <a:avLst/>
          </a:prstGeom>
          <a:noFill/>
          <a:ln/>
        </p:spPr>
        <p:txBody>
          <a:bodyPr wrap="square" lIns="254" tIns="254" rIns="254" bIns="254" rtlCol="0" anchor="t">
            <a:normAutofit/>
          </a:bodyPr>
          <a:lstStyle/>
          <a:p>
            <a:pPr marL="0" indent="0" algn="l">
              <a:buNone/>
            </a:pPr>
            <a:r>
              <a:rPr lang="en-US" sz="1380" dirty="0">
                <a:solidFill>
                  <a:srgbClr val="111827"/>
                </a:solidFill>
                <a:latin typeface="Aptos" pitchFamily="34" charset="0"/>
                <a:ea typeface="Aptos" pitchFamily="34" charset="-122"/>
                <a:cs typeface="Aptos" pitchFamily="34" charset="-120"/>
              </a:rPr>
              <a:t>- sinr_db, rsrp, rsrq</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bler_pct, cqi, mcs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prb_utilization_pct, interference_level</a:t>
            </a:r>
            <a:endParaRPr lang="en-US" sz="1380" dirty="0"/>
          </a:p>
        </p:txBody>
      </p:sp>
      <p:sp>
        <p:nvSpPr>
          <p:cNvPr id="19" name="Shape 17"/>
          <p:cNvSpPr/>
          <p:nvPr/>
        </p:nvSpPr>
        <p:spPr>
          <a:xfrm>
            <a:off x="502920" y="3456432"/>
            <a:ext cx="3520440" cy="169164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502920" y="3456432"/>
            <a:ext cx="3520440" cy="310896"/>
          </a:xfrm>
          <a:prstGeom prst="rect">
            <a:avLst/>
          </a:prstGeom>
          <a:solidFill>
            <a:srgbClr val="6D28D9"/>
          </a:solidFill>
          <a:ln w="12700">
            <a:solidFill>
              <a:srgbClr val="6D28D9"/>
            </a:solidFill>
            <a:prstDash val="solid"/>
          </a:ln>
        </p:spPr>
        <p:txBody>
          <a:bodyPr/>
          <a:lstStyle/>
          <a:p>
            <a:endParaRPr lang="en-IN"/>
          </a:p>
        </p:txBody>
      </p:sp>
      <p:sp>
        <p:nvSpPr>
          <p:cNvPr id="21" name="Text 19"/>
          <p:cNvSpPr/>
          <p:nvPr/>
        </p:nvSpPr>
        <p:spPr>
          <a:xfrm>
            <a:off x="612648" y="3529584"/>
            <a:ext cx="33009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Service KPI fields</a:t>
            </a:r>
            <a:endParaRPr lang="en-US" sz="1050" dirty="0"/>
          </a:p>
        </p:txBody>
      </p:sp>
      <p:sp>
        <p:nvSpPr>
          <p:cNvPr id="22" name="Text 20"/>
          <p:cNvSpPr/>
          <p:nvPr/>
        </p:nvSpPr>
        <p:spPr>
          <a:xfrm>
            <a:off x="640080" y="3895344"/>
            <a:ext cx="3246120" cy="1161288"/>
          </a:xfrm>
          <a:prstGeom prst="rect">
            <a:avLst/>
          </a:prstGeom>
          <a:noFill/>
          <a:ln/>
        </p:spPr>
        <p:txBody>
          <a:bodyPr wrap="square" lIns="254" tIns="254" rIns="254" bIns="254" rtlCol="0" anchor="t">
            <a:normAutofit/>
          </a:bodyPr>
          <a:lstStyle/>
          <a:p>
            <a:pPr marL="0" indent="0" algn="l">
              <a:buNone/>
            </a:pPr>
            <a:r>
              <a:rPr lang="en-US" sz="1380" dirty="0">
                <a:solidFill>
                  <a:srgbClr val="111827"/>
                </a:solidFill>
                <a:latin typeface="Aptos" pitchFamily="34" charset="0"/>
                <a:ea typeface="Aptos" pitchFamily="34" charset="-122"/>
                <a:cs typeface="Aptos" pitchFamily="34" charset="-120"/>
              </a:rPr>
              <a:t>- latency_ms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throughput_mbps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packet_loss_pct</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jitter_ms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availability_pct</a:t>
            </a:r>
            <a:endParaRPr lang="en-US" sz="1380" dirty="0"/>
          </a:p>
        </p:txBody>
      </p:sp>
      <p:sp>
        <p:nvSpPr>
          <p:cNvPr id="23" name="Shape 21"/>
          <p:cNvSpPr/>
          <p:nvPr/>
        </p:nvSpPr>
        <p:spPr>
          <a:xfrm>
            <a:off x="4315968" y="3456432"/>
            <a:ext cx="3520440" cy="1691640"/>
          </a:xfrm>
          <a:prstGeom prst="rect">
            <a:avLst/>
          </a:prstGeom>
          <a:solidFill>
            <a:srgbClr val="F8FAFC"/>
          </a:solidFill>
          <a:ln w="10160">
            <a:solidFill>
              <a:srgbClr val="CBD5E1"/>
            </a:solidFill>
            <a:prstDash val="solid"/>
          </a:ln>
        </p:spPr>
        <p:txBody>
          <a:bodyPr/>
          <a:lstStyle/>
          <a:p>
            <a:endParaRPr lang="en-IN"/>
          </a:p>
        </p:txBody>
      </p:sp>
      <p:sp>
        <p:nvSpPr>
          <p:cNvPr id="24" name="Shape 22"/>
          <p:cNvSpPr/>
          <p:nvPr/>
        </p:nvSpPr>
        <p:spPr>
          <a:xfrm>
            <a:off x="4315968" y="3456432"/>
            <a:ext cx="3520440" cy="310896"/>
          </a:xfrm>
          <a:prstGeom prst="rect">
            <a:avLst/>
          </a:prstGeom>
          <a:solidFill>
            <a:srgbClr val="0F766E"/>
          </a:solidFill>
          <a:ln w="12700">
            <a:solidFill>
              <a:srgbClr val="0F766E"/>
            </a:solidFill>
            <a:prstDash val="solid"/>
          </a:ln>
        </p:spPr>
        <p:txBody>
          <a:bodyPr/>
          <a:lstStyle/>
          <a:p>
            <a:endParaRPr lang="en-IN"/>
          </a:p>
        </p:txBody>
      </p:sp>
      <p:sp>
        <p:nvSpPr>
          <p:cNvPr id="25" name="Text 23"/>
          <p:cNvSpPr/>
          <p:nvPr/>
        </p:nvSpPr>
        <p:spPr>
          <a:xfrm>
            <a:off x="4425696" y="3529584"/>
            <a:ext cx="33009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Mobility/control fields</a:t>
            </a:r>
            <a:endParaRPr lang="en-US" sz="1050" dirty="0"/>
          </a:p>
        </p:txBody>
      </p:sp>
      <p:sp>
        <p:nvSpPr>
          <p:cNvPr id="26" name="Text 24"/>
          <p:cNvSpPr/>
          <p:nvPr/>
        </p:nvSpPr>
        <p:spPr>
          <a:xfrm>
            <a:off x="4453128" y="3895344"/>
            <a:ext cx="3246120" cy="1161288"/>
          </a:xfrm>
          <a:prstGeom prst="rect">
            <a:avLst/>
          </a:prstGeom>
          <a:noFill/>
          <a:ln/>
        </p:spPr>
        <p:txBody>
          <a:bodyPr wrap="square" lIns="254" tIns="254" rIns="254" bIns="254" rtlCol="0" anchor="t">
            <a:normAutofit/>
          </a:bodyPr>
          <a:lstStyle/>
          <a:p>
            <a:pPr marL="0" indent="0" algn="l">
              <a:buNone/>
            </a:pPr>
            <a:r>
              <a:rPr lang="en-US" sz="1380" dirty="0">
                <a:solidFill>
                  <a:srgbClr val="111827"/>
                </a:solidFill>
                <a:latin typeface="Aptos" pitchFamily="34" charset="0"/>
                <a:ea typeface="Aptos" pitchFamily="34" charset="-122"/>
                <a:cs typeface="Aptos" pitchFamily="34" charset="-120"/>
              </a:rPr>
              <a:t>- handover_failures</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rrc_reestablishment_rate</a:t>
            </a:r>
            <a:endParaRPr lang="en-US" sz="1380" dirty="0"/>
          </a:p>
          <a:p>
            <a:pPr marL="0" indent="0" algn="l">
              <a:buNone/>
            </a:pPr>
            <a:r>
              <a:rPr lang="en-US" sz="1380" dirty="0">
                <a:solidFill>
                  <a:srgbClr val="111827"/>
                </a:solidFill>
                <a:latin typeface="Aptos" pitchFamily="34" charset="0"/>
                <a:ea typeface="Aptos" pitchFamily="34" charset="-122"/>
                <a:cs typeface="Aptos" pitchFamily="34" charset="-120"/>
              </a:rPr>
              <a:t>- session_drop_rate</a:t>
            </a:r>
            <a:endParaRPr lang="en-US" sz="1380" dirty="0"/>
          </a:p>
        </p:txBody>
      </p:sp>
      <p:sp>
        <p:nvSpPr>
          <p:cNvPr id="27" name="Shape 25"/>
          <p:cNvSpPr/>
          <p:nvPr/>
        </p:nvSpPr>
        <p:spPr>
          <a:xfrm>
            <a:off x="8138160" y="3456432"/>
            <a:ext cx="3246120" cy="1691640"/>
          </a:xfrm>
          <a:prstGeom prst="rect">
            <a:avLst/>
          </a:prstGeom>
          <a:solidFill>
            <a:srgbClr val="F8FAFC"/>
          </a:solidFill>
          <a:ln w="10160">
            <a:solidFill>
              <a:srgbClr val="CBD5E1"/>
            </a:solidFill>
            <a:prstDash val="solid"/>
          </a:ln>
        </p:spPr>
        <p:txBody>
          <a:bodyPr/>
          <a:lstStyle/>
          <a:p>
            <a:endParaRPr lang="en-IN"/>
          </a:p>
        </p:txBody>
      </p:sp>
      <p:sp>
        <p:nvSpPr>
          <p:cNvPr id="28" name="Shape 26"/>
          <p:cNvSpPr/>
          <p:nvPr/>
        </p:nvSpPr>
        <p:spPr>
          <a:xfrm>
            <a:off x="8138160" y="3456432"/>
            <a:ext cx="3246120" cy="310896"/>
          </a:xfrm>
          <a:prstGeom prst="rect">
            <a:avLst/>
          </a:prstGeom>
          <a:solidFill>
            <a:srgbClr val="B91C1C"/>
          </a:solidFill>
          <a:ln w="12700">
            <a:solidFill>
              <a:srgbClr val="B91C1C"/>
            </a:solidFill>
            <a:prstDash val="solid"/>
          </a:ln>
        </p:spPr>
        <p:txBody>
          <a:bodyPr/>
          <a:lstStyle/>
          <a:p>
            <a:endParaRPr lang="en-IN"/>
          </a:p>
        </p:txBody>
      </p:sp>
      <p:sp>
        <p:nvSpPr>
          <p:cNvPr id="29" name="Text 27"/>
          <p:cNvSpPr/>
          <p:nvPr/>
        </p:nvSpPr>
        <p:spPr>
          <a:xfrm>
            <a:off x="8247888" y="3529584"/>
            <a:ext cx="30266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Safety/model fields</a:t>
            </a:r>
            <a:endParaRPr lang="en-US" sz="1050" dirty="0"/>
          </a:p>
        </p:txBody>
      </p:sp>
      <p:sp>
        <p:nvSpPr>
          <p:cNvPr id="30" name="Text 28"/>
          <p:cNvSpPr/>
          <p:nvPr/>
        </p:nvSpPr>
        <p:spPr>
          <a:xfrm>
            <a:off x="8275320" y="3895344"/>
            <a:ext cx="2971800" cy="1161288"/>
          </a:xfrm>
          <a:prstGeom prst="rect">
            <a:avLst/>
          </a:prstGeom>
          <a:noFill/>
          <a:ln/>
        </p:spPr>
        <p:txBody>
          <a:bodyPr wrap="square" lIns="254" tIns="254" rIns="254" bIns="254" rtlCol="0" anchor="t">
            <a:normAutofit/>
          </a:bodyPr>
          <a:lstStyle/>
          <a:p>
            <a:pPr marL="0" indent="0" algn="l">
              <a:buNone/>
            </a:pPr>
            <a:r>
              <a:rPr lang="en-US" sz="1320" dirty="0">
                <a:solidFill>
                  <a:srgbClr val="111827"/>
                </a:solidFill>
                <a:latin typeface="Aptos" pitchFamily="34" charset="0"/>
                <a:ea typeface="Aptos" pitchFamily="34" charset="-122"/>
                <a:cs typeface="Aptos" pitchFamily="34" charset="-120"/>
              </a:rPr>
              <a:t>- ptp_offset</a:t>
            </a:r>
            <a:endParaRPr lang="en-US" sz="1320" dirty="0"/>
          </a:p>
          <a:p>
            <a:pPr marL="0" indent="0" algn="l">
              <a:buNone/>
            </a:pPr>
            <a:r>
              <a:rPr lang="en-US" sz="1320" dirty="0">
                <a:solidFill>
                  <a:srgbClr val="111827"/>
                </a:solidFill>
                <a:latin typeface="Aptos" pitchFamily="34" charset="0"/>
                <a:ea typeface="Aptos" pitchFamily="34" charset="-122"/>
                <a:cs typeface="Aptos" pitchFamily="34" charset="-120"/>
              </a:rPr>
              <a:t>- sync_status</a:t>
            </a:r>
            <a:endParaRPr lang="en-US" sz="1320" dirty="0"/>
          </a:p>
          <a:p>
            <a:pPr marL="0" indent="0" algn="l">
              <a:buNone/>
            </a:pPr>
            <a:r>
              <a:rPr lang="en-US" sz="1320" dirty="0">
                <a:solidFill>
                  <a:srgbClr val="111827"/>
                </a:solidFill>
                <a:latin typeface="Aptos" pitchFamily="34" charset="0"/>
                <a:ea typeface="Aptos" pitchFamily="34" charset="-122"/>
                <a:cs typeface="Aptos" pitchFamily="34" charset="-120"/>
              </a:rPr>
              <a:t>- timing_drift</a:t>
            </a:r>
            <a:endParaRPr lang="en-US" sz="1320" dirty="0"/>
          </a:p>
          <a:p>
            <a:pPr marL="0" indent="0" algn="l">
              <a:buNone/>
            </a:pPr>
            <a:r>
              <a:rPr lang="en-US" sz="1320" dirty="0">
                <a:solidFill>
                  <a:srgbClr val="111827"/>
                </a:solidFill>
                <a:latin typeface="Aptos" pitchFamily="34" charset="0"/>
                <a:ea typeface="Aptos" pitchFamily="34" charset="-122"/>
                <a:cs typeface="Aptos" pitchFamily="34" charset="-120"/>
              </a:rPr>
              <a:t>- attack_flag</a:t>
            </a:r>
            <a:endParaRPr lang="en-US" sz="1320" dirty="0"/>
          </a:p>
          <a:p>
            <a:pPr marL="0" indent="0" algn="l">
              <a:buNone/>
            </a:pPr>
            <a:r>
              <a:rPr lang="en-US" sz="1320" dirty="0">
                <a:solidFill>
                  <a:srgbClr val="111827"/>
                </a:solidFill>
                <a:latin typeface="Aptos" pitchFamily="34" charset="0"/>
                <a:ea typeface="Aptos" pitchFamily="34" charset="-122"/>
                <a:cs typeface="Aptos" pitchFamily="34" charset="-120"/>
              </a:rPr>
              <a:t>- model_version</a:t>
            </a:r>
            <a:endParaRPr lang="en-US" sz="1320" dirty="0"/>
          </a:p>
          <a:p>
            <a:pPr marL="0" indent="0" algn="l">
              <a:buNone/>
            </a:pPr>
            <a:r>
              <a:rPr lang="en-US" sz="1320" dirty="0">
                <a:solidFill>
                  <a:srgbClr val="111827"/>
                </a:solidFill>
                <a:latin typeface="Aptos" pitchFamily="34" charset="0"/>
                <a:ea typeface="Aptos" pitchFamily="34" charset="-122"/>
                <a:cs typeface="Aptos" pitchFamily="34" charset="-120"/>
              </a:rPr>
              <a:t>- drift_score</a:t>
            </a:r>
            <a:endParaRPr lang="en-US" sz="1320" dirty="0"/>
          </a:p>
        </p:txBody>
      </p:sp>
      <p:sp>
        <p:nvSpPr>
          <p:cNvPr id="31" name="Text 2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FIELD MEANING</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What each input category tells the system</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system uses the category to decide what type of fault may be happening.</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27632"/>
            <a:ext cx="5303520" cy="20116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40080" y="1627632"/>
            <a:ext cx="5303520" cy="310896"/>
          </a:xfrm>
          <a:prstGeom prst="rect">
            <a:avLst/>
          </a:prstGeom>
          <a:solidFill>
            <a:srgbClr val="C2410C"/>
          </a:solidFill>
          <a:ln w="12700">
            <a:solidFill>
              <a:srgbClr val="C2410C"/>
            </a:solidFill>
            <a:prstDash val="solid"/>
          </a:ln>
        </p:spPr>
        <p:txBody>
          <a:bodyPr/>
          <a:lstStyle/>
          <a:p>
            <a:endParaRPr lang="en-IN"/>
          </a:p>
        </p:txBody>
      </p:sp>
      <p:sp>
        <p:nvSpPr>
          <p:cNvPr id="9" name="Text 7"/>
          <p:cNvSpPr/>
          <p:nvPr/>
        </p:nvSpPr>
        <p:spPr>
          <a:xfrm>
            <a:off x="749808" y="1700784"/>
            <a:ext cx="50840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Radio behavior</a:t>
            </a:r>
            <a:endParaRPr lang="en-US" sz="1050" dirty="0"/>
          </a:p>
        </p:txBody>
      </p:sp>
      <p:sp>
        <p:nvSpPr>
          <p:cNvPr id="10" name="Text 8"/>
          <p:cNvSpPr/>
          <p:nvPr/>
        </p:nvSpPr>
        <p:spPr>
          <a:xfrm>
            <a:off x="777240" y="2066544"/>
            <a:ext cx="5029200" cy="1481328"/>
          </a:xfrm>
          <a:prstGeom prst="rect">
            <a:avLst/>
          </a:prstGeom>
          <a:noFill/>
          <a:ln/>
        </p:spPr>
        <p:txBody>
          <a:bodyPr wrap="square" lIns="254" tIns="254" rIns="254" bIns="254" rtlCol="0" anchor="t">
            <a:normAutofit/>
          </a:bodyPr>
          <a:lstStyle/>
          <a:p>
            <a:pPr marL="0" indent="0" algn="l">
              <a:buNone/>
            </a:pPr>
            <a:r>
              <a:rPr lang="en-US" sz="1450" dirty="0">
                <a:solidFill>
                  <a:srgbClr val="111827"/>
                </a:solidFill>
                <a:latin typeface="Aptos" pitchFamily="34" charset="0"/>
                <a:ea typeface="Aptos" pitchFamily="34" charset="-122"/>
                <a:cs typeface="Aptos" pitchFamily="34" charset="-120"/>
              </a:rPr>
              <a:t>- SINR, RSRP, RSRQ, BLER, CQI, MCS, PRB utilization, and interference describe O-RU/O-DU radio quality.</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These fields help detect interference, weak signal, spectrum stress, scheduler pressure, and link adaptation issues.</a:t>
            </a:r>
            <a:endParaRPr lang="en-US" sz="1450" dirty="0"/>
          </a:p>
        </p:txBody>
      </p:sp>
      <p:sp>
        <p:nvSpPr>
          <p:cNvPr id="11" name="Shape 9"/>
          <p:cNvSpPr/>
          <p:nvPr/>
        </p:nvSpPr>
        <p:spPr>
          <a:xfrm>
            <a:off x="6217920" y="1627632"/>
            <a:ext cx="5303520" cy="20116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217920" y="1627632"/>
            <a:ext cx="5303520" cy="310896"/>
          </a:xfrm>
          <a:prstGeom prst="rect">
            <a:avLst/>
          </a:prstGeom>
          <a:solidFill>
            <a:srgbClr val="6D28D9"/>
          </a:solidFill>
          <a:ln w="12700">
            <a:solidFill>
              <a:srgbClr val="6D28D9"/>
            </a:solidFill>
            <a:prstDash val="solid"/>
          </a:ln>
        </p:spPr>
        <p:txBody>
          <a:bodyPr/>
          <a:lstStyle/>
          <a:p>
            <a:endParaRPr lang="en-IN"/>
          </a:p>
        </p:txBody>
      </p:sp>
      <p:sp>
        <p:nvSpPr>
          <p:cNvPr id="13" name="Text 11"/>
          <p:cNvSpPr/>
          <p:nvPr/>
        </p:nvSpPr>
        <p:spPr>
          <a:xfrm>
            <a:off x="6327648" y="1700784"/>
            <a:ext cx="50840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Service behavior</a:t>
            </a:r>
            <a:endParaRPr lang="en-US" sz="1050" dirty="0"/>
          </a:p>
        </p:txBody>
      </p:sp>
      <p:sp>
        <p:nvSpPr>
          <p:cNvPr id="14" name="Text 12"/>
          <p:cNvSpPr/>
          <p:nvPr/>
        </p:nvSpPr>
        <p:spPr>
          <a:xfrm>
            <a:off x="6355080" y="2066544"/>
            <a:ext cx="5029200" cy="1481328"/>
          </a:xfrm>
          <a:prstGeom prst="rect">
            <a:avLst/>
          </a:prstGeom>
          <a:noFill/>
          <a:ln/>
        </p:spPr>
        <p:txBody>
          <a:bodyPr wrap="square" lIns="254" tIns="254" rIns="254" bIns="254" rtlCol="0" anchor="t">
            <a:normAutofit/>
          </a:bodyPr>
          <a:lstStyle/>
          <a:p>
            <a:pPr marL="0" indent="0" algn="l">
              <a:buNone/>
            </a:pPr>
            <a:r>
              <a:rPr lang="en-US" sz="1450" dirty="0">
                <a:solidFill>
                  <a:srgbClr val="111827"/>
                </a:solidFill>
                <a:latin typeface="Aptos" pitchFamily="34" charset="0"/>
                <a:ea typeface="Aptos" pitchFamily="34" charset="-122"/>
                <a:cs typeface="Aptos" pitchFamily="34" charset="-120"/>
              </a:rPr>
              <a:t>- Latency, throughput, packet loss, jitter, and availability describe user/service experience.</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These fields help detect SLA degradation, congestion, service instability, and slice impact.</a:t>
            </a:r>
            <a:endParaRPr lang="en-US" sz="1450" dirty="0"/>
          </a:p>
        </p:txBody>
      </p:sp>
      <p:sp>
        <p:nvSpPr>
          <p:cNvPr id="15" name="Shape 13"/>
          <p:cNvSpPr/>
          <p:nvPr/>
        </p:nvSpPr>
        <p:spPr>
          <a:xfrm>
            <a:off x="640080" y="3977640"/>
            <a:ext cx="5303520" cy="155448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0080" y="3977640"/>
            <a:ext cx="5303520" cy="310896"/>
          </a:xfrm>
          <a:prstGeom prst="rect">
            <a:avLst/>
          </a:prstGeom>
          <a:solidFill>
            <a:srgbClr val="0F766E"/>
          </a:solidFill>
          <a:ln w="12700">
            <a:solidFill>
              <a:srgbClr val="0F766E"/>
            </a:solidFill>
            <a:prstDash val="solid"/>
          </a:ln>
        </p:spPr>
        <p:txBody>
          <a:bodyPr/>
          <a:lstStyle/>
          <a:p>
            <a:endParaRPr lang="en-IN"/>
          </a:p>
        </p:txBody>
      </p:sp>
      <p:sp>
        <p:nvSpPr>
          <p:cNvPr id="17" name="Text 15"/>
          <p:cNvSpPr/>
          <p:nvPr/>
        </p:nvSpPr>
        <p:spPr>
          <a:xfrm>
            <a:off x="749808" y="4050792"/>
            <a:ext cx="50840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Control/mobility behavior</a:t>
            </a:r>
            <a:endParaRPr lang="en-US" sz="1050" dirty="0"/>
          </a:p>
        </p:txBody>
      </p:sp>
      <p:sp>
        <p:nvSpPr>
          <p:cNvPr id="18" name="Text 16"/>
          <p:cNvSpPr/>
          <p:nvPr/>
        </p:nvSpPr>
        <p:spPr>
          <a:xfrm>
            <a:off x="777240" y="4416552"/>
            <a:ext cx="5029200" cy="1024128"/>
          </a:xfrm>
          <a:prstGeom prst="rect">
            <a:avLst/>
          </a:prstGeom>
          <a:noFill/>
          <a:ln/>
        </p:spPr>
        <p:txBody>
          <a:bodyPr wrap="square" lIns="254" tIns="254" rIns="254" bIns="254" rtlCol="0" anchor="t">
            <a:normAutofit/>
          </a:bodyPr>
          <a:lstStyle/>
          <a:p>
            <a:pPr marL="0" indent="0" algn="l">
              <a:buNone/>
            </a:pPr>
            <a:r>
              <a:rPr lang="en-US" sz="1480" dirty="0">
                <a:solidFill>
                  <a:srgbClr val="111827"/>
                </a:solidFill>
                <a:latin typeface="Aptos" pitchFamily="34" charset="0"/>
                <a:ea typeface="Aptos" pitchFamily="34" charset="-122"/>
                <a:cs typeface="Aptos" pitchFamily="34" charset="-120"/>
              </a:rPr>
              <a:t>Handover failures, RRC re-establishment, and session drops point toward O-CU/RRC/PDCP/session behavior.</a:t>
            </a:r>
            <a:endParaRPr lang="en-US" sz="1480" dirty="0"/>
          </a:p>
        </p:txBody>
      </p:sp>
      <p:sp>
        <p:nvSpPr>
          <p:cNvPr id="19" name="Shape 17"/>
          <p:cNvSpPr/>
          <p:nvPr/>
        </p:nvSpPr>
        <p:spPr>
          <a:xfrm>
            <a:off x="6217920" y="3977640"/>
            <a:ext cx="5303520" cy="155448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6217920" y="3977640"/>
            <a:ext cx="5303520" cy="310896"/>
          </a:xfrm>
          <a:prstGeom prst="rect">
            <a:avLst/>
          </a:prstGeom>
          <a:solidFill>
            <a:srgbClr val="B91C1C"/>
          </a:solidFill>
          <a:ln w="12700">
            <a:solidFill>
              <a:srgbClr val="B91C1C"/>
            </a:solidFill>
            <a:prstDash val="solid"/>
          </a:ln>
        </p:spPr>
        <p:txBody>
          <a:bodyPr/>
          <a:lstStyle/>
          <a:p>
            <a:endParaRPr lang="en-IN"/>
          </a:p>
        </p:txBody>
      </p:sp>
      <p:sp>
        <p:nvSpPr>
          <p:cNvPr id="21" name="Text 19"/>
          <p:cNvSpPr/>
          <p:nvPr/>
        </p:nvSpPr>
        <p:spPr>
          <a:xfrm>
            <a:off x="6327648" y="4050792"/>
            <a:ext cx="50840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Timing/security/model behavior</a:t>
            </a:r>
            <a:endParaRPr lang="en-US" sz="1050" dirty="0"/>
          </a:p>
        </p:txBody>
      </p:sp>
      <p:sp>
        <p:nvSpPr>
          <p:cNvPr id="22" name="Text 20"/>
          <p:cNvSpPr/>
          <p:nvPr/>
        </p:nvSpPr>
        <p:spPr>
          <a:xfrm>
            <a:off x="6355080" y="4416552"/>
            <a:ext cx="5029200" cy="1024128"/>
          </a:xfrm>
          <a:prstGeom prst="rect">
            <a:avLst/>
          </a:prstGeom>
          <a:noFill/>
          <a:ln/>
        </p:spPr>
        <p:txBody>
          <a:bodyPr wrap="square" lIns="254" tIns="254" rIns="254" bIns="254" rtlCol="0" anchor="t">
            <a:normAutofit/>
          </a:bodyPr>
          <a:lstStyle/>
          <a:p>
            <a:pPr marL="0" indent="0" algn="l">
              <a:buNone/>
            </a:pPr>
            <a:r>
              <a:rPr lang="en-US" sz="1480" dirty="0">
                <a:solidFill>
                  <a:srgbClr val="111827"/>
                </a:solidFill>
                <a:latin typeface="Aptos" pitchFamily="34" charset="0"/>
                <a:ea typeface="Aptos" pitchFamily="34" charset="-122"/>
                <a:cs typeface="Aptos" pitchFamily="34" charset="-120"/>
              </a:rPr>
              <a:t>PTP offset, sync status, attack flags, model version, and drift score decide whether automation is safe.</a:t>
            </a:r>
            <a:endParaRPr lang="en-US" sz="1480" dirty="0"/>
          </a:p>
        </p:txBody>
      </p:sp>
      <p:sp>
        <p:nvSpPr>
          <p:cNvPr id="23" name="Text 2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DEVICE CLASSES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Service/device classes represented in the digital twin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same KPI can be severe for one service and acceptable for another.</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664208"/>
            <a:ext cx="2148840" cy="36118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664208"/>
            <a:ext cx="214884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612648" y="1737360"/>
            <a:ext cx="19293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eMBB</a:t>
            </a:r>
            <a:endParaRPr lang="en-US" sz="1050" dirty="0"/>
          </a:p>
        </p:txBody>
      </p:sp>
      <p:sp>
        <p:nvSpPr>
          <p:cNvPr id="10" name="Text 8"/>
          <p:cNvSpPr/>
          <p:nvPr/>
        </p:nvSpPr>
        <p:spPr>
          <a:xfrm>
            <a:off x="640080" y="2103120"/>
            <a:ext cx="1874520" cy="3081528"/>
          </a:xfrm>
          <a:prstGeom prst="rect">
            <a:avLst/>
          </a:prstGeom>
          <a:noFill/>
          <a:ln/>
        </p:spPr>
        <p:txBody>
          <a:bodyPr wrap="square" lIns="254" tIns="254" rIns="254" bIns="254" rtlCol="0" anchor="t">
            <a:normAutofit/>
          </a:bodyPr>
          <a:lstStyle/>
          <a:p>
            <a:pPr marL="0" indent="0" algn="l">
              <a:buNone/>
            </a:pPr>
            <a:r>
              <a:rPr lang="en-US" sz="1400" dirty="0">
                <a:solidFill>
                  <a:srgbClr val="111827"/>
                </a:solidFill>
                <a:latin typeface="Aptos" pitchFamily="34" charset="0"/>
                <a:ea typeface="Aptos" pitchFamily="34" charset="-122"/>
                <a:cs typeface="Aptos" pitchFamily="34" charset="-120"/>
              </a:rPr>
              <a:t>Enhanced Mobile Broadband. High-data-rate users such as phones, video, gaming, and broadband-heavy applications. Key need: throughput.</a:t>
            </a:r>
            <a:endParaRPr lang="en-US" sz="1400" dirty="0"/>
          </a:p>
        </p:txBody>
      </p:sp>
      <p:sp>
        <p:nvSpPr>
          <p:cNvPr id="11" name="Shape 9"/>
          <p:cNvSpPr/>
          <p:nvPr/>
        </p:nvSpPr>
        <p:spPr>
          <a:xfrm>
            <a:off x="2788920" y="1664208"/>
            <a:ext cx="2148840" cy="36118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2788920" y="1664208"/>
            <a:ext cx="214884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2898648" y="1737360"/>
            <a:ext cx="19293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mMTC</a:t>
            </a:r>
            <a:endParaRPr lang="en-US" sz="1050" dirty="0"/>
          </a:p>
        </p:txBody>
      </p:sp>
      <p:sp>
        <p:nvSpPr>
          <p:cNvPr id="14" name="Text 12"/>
          <p:cNvSpPr/>
          <p:nvPr/>
        </p:nvSpPr>
        <p:spPr>
          <a:xfrm>
            <a:off x="2926080" y="2103120"/>
            <a:ext cx="1874520" cy="3081528"/>
          </a:xfrm>
          <a:prstGeom prst="rect">
            <a:avLst/>
          </a:prstGeom>
          <a:noFill/>
          <a:ln/>
        </p:spPr>
        <p:txBody>
          <a:bodyPr wrap="square" lIns="254" tIns="254" rIns="254" bIns="254" rtlCol="0" anchor="t">
            <a:normAutofit/>
          </a:bodyPr>
          <a:lstStyle/>
          <a:p>
            <a:pPr marL="0" indent="0" algn="l">
              <a:buNone/>
            </a:pPr>
            <a:r>
              <a:rPr lang="en-US" sz="1400" dirty="0">
                <a:solidFill>
                  <a:srgbClr val="111827"/>
                </a:solidFill>
                <a:latin typeface="Aptos" pitchFamily="34" charset="0"/>
                <a:ea typeface="Aptos" pitchFamily="34" charset="-122"/>
                <a:cs typeface="Aptos" pitchFamily="34" charset="-120"/>
              </a:rPr>
              <a:t>Massive Machine-Type Communication. Large IoT sensor populations. Key need: scale, energy efficiency, and reliable small-data access.</a:t>
            </a:r>
            <a:endParaRPr lang="en-US" sz="1400" dirty="0"/>
          </a:p>
        </p:txBody>
      </p:sp>
      <p:sp>
        <p:nvSpPr>
          <p:cNvPr id="15" name="Shape 13"/>
          <p:cNvSpPr/>
          <p:nvPr/>
        </p:nvSpPr>
        <p:spPr>
          <a:xfrm>
            <a:off x="5074920" y="1664208"/>
            <a:ext cx="2148840" cy="361188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5074920" y="1664208"/>
            <a:ext cx="2148840" cy="310896"/>
          </a:xfrm>
          <a:prstGeom prst="rect">
            <a:avLst/>
          </a:prstGeom>
          <a:solidFill>
            <a:srgbClr val="B91C1C"/>
          </a:solidFill>
          <a:ln w="12700">
            <a:solidFill>
              <a:srgbClr val="B91C1C"/>
            </a:solidFill>
            <a:prstDash val="solid"/>
          </a:ln>
        </p:spPr>
        <p:txBody>
          <a:bodyPr/>
          <a:lstStyle/>
          <a:p>
            <a:endParaRPr lang="en-IN"/>
          </a:p>
        </p:txBody>
      </p:sp>
      <p:sp>
        <p:nvSpPr>
          <p:cNvPr id="17" name="Text 15"/>
          <p:cNvSpPr/>
          <p:nvPr/>
        </p:nvSpPr>
        <p:spPr>
          <a:xfrm>
            <a:off x="5184648" y="1737360"/>
            <a:ext cx="19293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URLLC</a:t>
            </a:r>
            <a:endParaRPr lang="en-US" sz="1050" dirty="0"/>
          </a:p>
        </p:txBody>
      </p:sp>
      <p:sp>
        <p:nvSpPr>
          <p:cNvPr id="18" name="Text 16"/>
          <p:cNvSpPr/>
          <p:nvPr/>
        </p:nvSpPr>
        <p:spPr>
          <a:xfrm>
            <a:off x="5212080" y="2103120"/>
            <a:ext cx="1874520" cy="3081528"/>
          </a:xfrm>
          <a:prstGeom prst="rect">
            <a:avLst/>
          </a:prstGeom>
          <a:noFill/>
          <a:ln/>
        </p:spPr>
        <p:txBody>
          <a:bodyPr wrap="square" lIns="254" tIns="254" rIns="254" bIns="254" rtlCol="0" anchor="t">
            <a:normAutofit/>
          </a:bodyPr>
          <a:lstStyle/>
          <a:p>
            <a:pPr marL="0" indent="0" algn="l">
              <a:buNone/>
            </a:pPr>
            <a:r>
              <a:rPr lang="en-US" sz="1400" dirty="0">
                <a:solidFill>
                  <a:srgbClr val="111827"/>
                </a:solidFill>
                <a:latin typeface="Aptos" pitchFamily="34" charset="0"/>
                <a:ea typeface="Aptos" pitchFamily="34" charset="-122"/>
                <a:cs typeface="Aptos" pitchFamily="34" charset="-120"/>
              </a:rPr>
              <a:t>Ultra-Reliable Low-Latency Communication. Critical control, robotic, safety, or industrial traffic. Key need: very low latency and reliability.</a:t>
            </a:r>
            <a:endParaRPr lang="en-US" sz="1400" dirty="0"/>
          </a:p>
        </p:txBody>
      </p:sp>
      <p:sp>
        <p:nvSpPr>
          <p:cNvPr id="19" name="Shape 17"/>
          <p:cNvSpPr/>
          <p:nvPr/>
        </p:nvSpPr>
        <p:spPr>
          <a:xfrm>
            <a:off x="7360920" y="1664208"/>
            <a:ext cx="1920240" cy="361188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7360920" y="1664208"/>
            <a:ext cx="1920240" cy="310896"/>
          </a:xfrm>
          <a:prstGeom prst="rect">
            <a:avLst/>
          </a:prstGeom>
          <a:solidFill>
            <a:srgbClr val="C2410C"/>
          </a:solidFill>
          <a:ln w="12700">
            <a:solidFill>
              <a:srgbClr val="C2410C"/>
            </a:solidFill>
            <a:prstDash val="solid"/>
          </a:ln>
        </p:spPr>
        <p:txBody>
          <a:bodyPr/>
          <a:lstStyle/>
          <a:p>
            <a:endParaRPr lang="en-IN"/>
          </a:p>
        </p:txBody>
      </p:sp>
      <p:sp>
        <p:nvSpPr>
          <p:cNvPr id="21" name="Text 19"/>
          <p:cNvSpPr/>
          <p:nvPr/>
        </p:nvSpPr>
        <p:spPr>
          <a:xfrm>
            <a:off x="7470648" y="1737360"/>
            <a:ext cx="17007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FWA</a:t>
            </a:r>
            <a:endParaRPr lang="en-US" sz="1050" dirty="0"/>
          </a:p>
        </p:txBody>
      </p:sp>
      <p:sp>
        <p:nvSpPr>
          <p:cNvPr id="22" name="Text 20"/>
          <p:cNvSpPr/>
          <p:nvPr/>
        </p:nvSpPr>
        <p:spPr>
          <a:xfrm>
            <a:off x="7498080" y="2103120"/>
            <a:ext cx="1645920" cy="3081528"/>
          </a:xfrm>
          <a:prstGeom prst="rect">
            <a:avLst/>
          </a:prstGeom>
          <a:noFill/>
          <a:ln/>
        </p:spPr>
        <p:txBody>
          <a:bodyPr wrap="square" lIns="254" tIns="254" rIns="254" bIns="254" rtlCol="0" anchor="t">
            <a:normAutofit/>
          </a:bodyPr>
          <a:lstStyle/>
          <a:p>
            <a:pPr marL="0" indent="0" algn="l">
              <a:buNone/>
            </a:pPr>
            <a:r>
              <a:rPr lang="en-US" sz="1400" dirty="0">
                <a:solidFill>
                  <a:srgbClr val="111827"/>
                </a:solidFill>
                <a:latin typeface="Aptos" pitchFamily="34" charset="0"/>
                <a:ea typeface="Aptos" pitchFamily="34" charset="-122"/>
                <a:cs typeface="Aptos" pitchFamily="34" charset="-120"/>
              </a:rPr>
              <a:t>Fixed Wireless Access. Home or office broadband delivered through radio. Key need: stable capacity and coverage.</a:t>
            </a:r>
            <a:endParaRPr lang="en-US" sz="1400" dirty="0"/>
          </a:p>
        </p:txBody>
      </p:sp>
      <p:sp>
        <p:nvSpPr>
          <p:cNvPr id="23" name="Shape 21"/>
          <p:cNvSpPr/>
          <p:nvPr/>
        </p:nvSpPr>
        <p:spPr>
          <a:xfrm>
            <a:off x="9418320" y="1664208"/>
            <a:ext cx="1920240" cy="3611880"/>
          </a:xfrm>
          <a:prstGeom prst="rect">
            <a:avLst/>
          </a:prstGeom>
          <a:solidFill>
            <a:srgbClr val="F8FAFC"/>
          </a:solidFill>
          <a:ln w="10160">
            <a:solidFill>
              <a:srgbClr val="CBD5E1"/>
            </a:solidFill>
            <a:prstDash val="solid"/>
          </a:ln>
        </p:spPr>
        <p:txBody>
          <a:bodyPr/>
          <a:lstStyle/>
          <a:p>
            <a:endParaRPr lang="en-IN"/>
          </a:p>
        </p:txBody>
      </p:sp>
      <p:sp>
        <p:nvSpPr>
          <p:cNvPr id="24" name="Shape 22"/>
          <p:cNvSpPr/>
          <p:nvPr/>
        </p:nvSpPr>
        <p:spPr>
          <a:xfrm>
            <a:off x="9418320" y="1664208"/>
            <a:ext cx="1920240" cy="310896"/>
          </a:xfrm>
          <a:prstGeom prst="rect">
            <a:avLst/>
          </a:prstGeom>
          <a:solidFill>
            <a:srgbClr val="6D28D9"/>
          </a:solidFill>
          <a:ln w="12700">
            <a:solidFill>
              <a:srgbClr val="6D28D9"/>
            </a:solidFill>
            <a:prstDash val="solid"/>
          </a:ln>
        </p:spPr>
        <p:txBody>
          <a:bodyPr/>
          <a:lstStyle/>
          <a:p>
            <a:endParaRPr lang="en-IN"/>
          </a:p>
        </p:txBody>
      </p:sp>
      <p:sp>
        <p:nvSpPr>
          <p:cNvPr id="25" name="Text 23"/>
          <p:cNvSpPr/>
          <p:nvPr/>
        </p:nvSpPr>
        <p:spPr>
          <a:xfrm>
            <a:off x="9528048" y="1737360"/>
            <a:ext cx="17007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V2X</a:t>
            </a:r>
            <a:endParaRPr lang="en-US" sz="1050" dirty="0"/>
          </a:p>
        </p:txBody>
      </p:sp>
      <p:sp>
        <p:nvSpPr>
          <p:cNvPr id="26" name="Text 24"/>
          <p:cNvSpPr/>
          <p:nvPr/>
        </p:nvSpPr>
        <p:spPr>
          <a:xfrm>
            <a:off x="9555480" y="2103120"/>
            <a:ext cx="1645920" cy="3081528"/>
          </a:xfrm>
          <a:prstGeom prst="rect">
            <a:avLst/>
          </a:prstGeom>
          <a:noFill/>
          <a:ln/>
        </p:spPr>
        <p:txBody>
          <a:bodyPr wrap="square" lIns="254" tIns="254" rIns="254" bIns="254" rtlCol="0" anchor="t">
            <a:normAutofit/>
          </a:bodyPr>
          <a:lstStyle/>
          <a:p>
            <a:pPr marL="0" indent="0" algn="l">
              <a:buNone/>
            </a:pPr>
            <a:r>
              <a:rPr lang="en-US" sz="1400" dirty="0">
                <a:solidFill>
                  <a:srgbClr val="111827"/>
                </a:solidFill>
                <a:latin typeface="Aptos" pitchFamily="34" charset="0"/>
                <a:ea typeface="Aptos" pitchFamily="34" charset="-122"/>
                <a:cs typeface="Aptos" pitchFamily="34" charset="-120"/>
              </a:rPr>
              <a:t>Vehicle-to-Everything. Connected vehicles and mobility safety use cases. Key need: low latency, mobility, reliability.</a:t>
            </a:r>
            <a:endParaRPr lang="en-US" sz="1400" dirty="0"/>
          </a:p>
        </p:txBody>
      </p:sp>
      <p:sp>
        <p:nvSpPr>
          <p:cNvPr id="27" name="Text 2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NORMALIZATION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Why KPI normalization is needed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Raw values have different units, so the system converts them into comparable risk values.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166360" cy="17830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16636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795528"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Problem</a:t>
            </a:r>
            <a:endParaRPr lang="en-US" sz="1050" dirty="0"/>
          </a:p>
        </p:txBody>
      </p:sp>
      <p:sp>
        <p:nvSpPr>
          <p:cNvPr id="10" name="Text 8"/>
          <p:cNvSpPr/>
          <p:nvPr/>
        </p:nvSpPr>
        <p:spPr>
          <a:xfrm>
            <a:off x="822960" y="2103120"/>
            <a:ext cx="4892040" cy="1252728"/>
          </a:xfrm>
          <a:prstGeom prst="rect">
            <a:avLst/>
          </a:prstGeom>
          <a:noFill/>
          <a:ln/>
        </p:spPr>
        <p:txBody>
          <a:bodyPr wrap="square" lIns="254" tIns="254" rIns="254" bIns="254" rtlCol="0" anchor="t">
            <a:normAutofit/>
          </a:bodyPr>
          <a:lstStyle/>
          <a:p>
            <a:pPr marL="0" indent="0" algn="l">
              <a:buNone/>
            </a:pPr>
            <a:r>
              <a:rPr lang="en-US" sz="1480" dirty="0">
                <a:solidFill>
                  <a:srgbClr val="111827"/>
                </a:solidFill>
                <a:latin typeface="Aptos" pitchFamily="34" charset="0"/>
                <a:ea typeface="Aptos" pitchFamily="34" charset="-122"/>
                <a:cs typeface="Aptos" pitchFamily="34" charset="-120"/>
              </a:rPr>
              <a:t>- Latency is measured in milliseconds.</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Packet loss is measured in percent.</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SINR is measured in dB.</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PRB utilization is measured in percent.</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A direct comparison between these raw values is not meaningful.</a:t>
            </a:r>
            <a:endParaRPr lang="en-US" sz="1480" dirty="0"/>
          </a:p>
        </p:txBody>
      </p:sp>
      <p:sp>
        <p:nvSpPr>
          <p:cNvPr id="11" name="Shape 9"/>
          <p:cNvSpPr/>
          <p:nvPr/>
        </p:nvSpPr>
        <p:spPr>
          <a:xfrm>
            <a:off x="6144768" y="1664208"/>
            <a:ext cx="5166360" cy="17830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44768" y="1664208"/>
            <a:ext cx="516636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Solution</a:t>
            </a:r>
            <a:endParaRPr lang="en-US" sz="1050" dirty="0"/>
          </a:p>
        </p:txBody>
      </p:sp>
      <p:sp>
        <p:nvSpPr>
          <p:cNvPr id="14" name="Text 12"/>
          <p:cNvSpPr/>
          <p:nvPr/>
        </p:nvSpPr>
        <p:spPr>
          <a:xfrm>
            <a:off x="6281928" y="2103120"/>
            <a:ext cx="4892040" cy="1252728"/>
          </a:xfrm>
          <a:prstGeom prst="rect">
            <a:avLst/>
          </a:prstGeom>
          <a:noFill/>
          <a:ln/>
        </p:spPr>
        <p:txBody>
          <a:bodyPr wrap="square" lIns="254" tIns="254" rIns="254" bIns="254" rtlCol="0" anchor="t">
            <a:normAutofit/>
          </a:bodyPr>
          <a:lstStyle/>
          <a:p>
            <a:pPr marL="0" indent="0" algn="l">
              <a:buNone/>
            </a:pPr>
            <a:r>
              <a:rPr lang="en-US" sz="1480" dirty="0">
                <a:solidFill>
                  <a:srgbClr val="111827"/>
                </a:solidFill>
                <a:latin typeface="Aptos" pitchFamily="34" charset="0"/>
                <a:ea typeface="Aptos" pitchFamily="34" charset="-122"/>
                <a:cs typeface="Aptos" pitchFamily="34" charset="-120"/>
              </a:rPr>
              <a:t>- Convert every KPI into a risk-like score.</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Use service-specific limits.</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Higher normalized risk means worse condition.</a:t>
            </a:r>
            <a:endParaRPr lang="en-US" sz="1480" dirty="0"/>
          </a:p>
          <a:p>
            <a:pPr marL="0" indent="0" algn="l">
              <a:buNone/>
            </a:pPr>
            <a:r>
              <a:rPr lang="en-US" sz="1480" dirty="0">
                <a:solidFill>
                  <a:srgbClr val="111827"/>
                </a:solidFill>
                <a:latin typeface="Aptos" pitchFamily="34" charset="0"/>
                <a:ea typeface="Aptos" pitchFamily="34" charset="-122"/>
                <a:cs typeface="Aptos" pitchFamily="34" charset="-120"/>
              </a:rPr>
              <a:t>- Feed comparable scores into anomaly detection, RCA, and safety scoring.</a:t>
            </a:r>
            <a:endParaRPr lang="en-US" sz="1480" dirty="0"/>
          </a:p>
        </p:txBody>
      </p:sp>
      <p:sp>
        <p:nvSpPr>
          <p:cNvPr id="15" name="Shape 13"/>
          <p:cNvSpPr/>
          <p:nvPr/>
        </p:nvSpPr>
        <p:spPr>
          <a:xfrm>
            <a:off x="960120" y="4160520"/>
            <a:ext cx="10149840" cy="914400"/>
          </a:xfrm>
          <a:prstGeom prst="rect">
            <a:avLst/>
          </a:prstGeom>
          <a:solidFill>
            <a:srgbClr val="111827"/>
          </a:solidFill>
          <a:ln w="12700">
            <a:solidFill>
              <a:srgbClr val="374151"/>
            </a:solidFill>
            <a:prstDash val="solid"/>
          </a:ln>
        </p:spPr>
        <p:txBody>
          <a:bodyPr/>
          <a:lstStyle/>
          <a:p>
            <a:endParaRPr lang="en-IN"/>
          </a:p>
        </p:txBody>
      </p:sp>
      <p:sp>
        <p:nvSpPr>
          <p:cNvPr id="16" name="Text 14"/>
          <p:cNvSpPr/>
          <p:nvPr/>
        </p:nvSpPr>
        <p:spPr>
          <a:xfrm>
            <a:off x="1088136" y="4270248"/>
            <a:ext cx="9893808" cy="694944"/>
          </a:xfrm>
          <a:prstGeom prst="rect">
            <a:avLst/>
          </a:prstGeom>
          <a:noFill/>
          <a:ln/>
        </p:spPr>
        <p:txBody>
          <a:bodyPr wrap="square" lIns="0" tIns="0" rIns="0" bIns="0" rtlCol="0" anchor="t">
            <a:normAutofit/>
          </a:bodyPr>
          <a:lstStyle/>
          <a:p>
            <a:pPr marL="0" indent="0" algn="l">
              <a:buNone/>
            </a:pPr>
            <a:r>
              <a:rPr lang="en-US" sz="1600" dirty="0">
                <a:solidFill>
                  <a:srgbClr val="F9FAFB"/>
                </a:solidFill>
                <a:latin typeface="Consolas" pitchFamily="34" charset="0"/>
                <a:ea typeface="Consolas" pitchFamily="34" charset="-122"/>
                <a:cs typeface="Consolas" pitchFamily="34" charset="-120"/>
              </a:rPr>
              <a:t>normalized_risk = observed_value / allowed_or_target_value</a:t>
            </a:r>
            <a:endParaRPr lang="en-US" sz="1600" dirty="0"/>
          </a:p>
          <a:p>
            <a:pPr marL="0" indent="0" algn="l">
              <a:buNone/>
            </a:pPr>
            <a:r>
              <a:rPr lang="en-US" sz="1600" dirty="0">
                <a:solidFill>
                  <a:srgbClr val="F9FAFB"/>
                </a:solidFill>
                <a:latin typeface="Consolas" pitchFamily="34" charset="0"/>
                <a:ea typeface="Consolas" pitchFamily="34" charset="-122"/>
                <a:cs typeface="Consolas" pitchFamily="34" charset="-120"/>
              </a:rPr>
              <a:t>For inverse KPIs like SINR: risk = max(0, target_sinr - actual_sinr) / target_sinr</a:t>
            </a:r>
            <a:endParaRPr lang="en-US" sz="1600" dirty="0"/>
          </a:p>
        </p:txBody>
      </p:sp>
      <p:sp>
        <p:nvSpPr>
          <p:cNvPr id="17" name="Text 1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NORMALIZATION FORMULAS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Example calculations for one URLLC telemetry record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calculations turn raw KPIs into risk values.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27632"/>
            <a:ext cx="5303520" cy="452628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813816" y="1737360"/>
            <a:ext cx="5047488" cy="430682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Input:</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URLLC latency_ms = 18</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URLLC latency_limit = 10</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packet_loss_pct = 2.8</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allowed_packet_loss = 1</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prb_utilization_pct = 91</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sinr_db = 7</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target_sinr = 15</a:t>
            </a:r>
            <a:endParaRPr lang="en-US" sz="1500" dirty="0"/>
          </a:p>
        </p:txBody>
      </p:sp>
      <p:sp>
        <p:nvSpPr>
          <p:cNvPr id="9" name="Shape 7"/>
          <p:cNvSpPr/>
          <p:nvPr/>
        </p:nvSpPr>
        <p:spPr>
          <a:xfrm>
            <a:off x="6263640" y="1627632"/>
            <a:ext cx="5257800" cy="4526280"/>
          </a:xfrm>
          <a:prstGeom prst="rect">
            <a:avLst/>
          </a:prstGeom>
          <a:solidFill>
            <a:srgbClr val="111827"/>
          </a:solidFill>
          <a:ln w="12700">
            <a:solidFill>
              <a:srgbClr val="374151"/>
            </a:solidFill>
            <a:prstDash val="solid"/>
          </a:ln>
        </p:spPr>
        <p:txBody>
          <a:bodyPr/>
          <a:lstStyle/>
          <a:p>
            <a:endParaRPr lang="en-IN"/>
          </a:p>
        </p:txBody>
      </p:sp>
      <p:sp>
        <p:nvSpPr>
          <p:cNvPr id="10" name="Text 8"/>
          <p:cNvSpPr/>
          <p:nvPr/>
        </p:nvSpPr>
        <p:spPr>
          <a:xfrm>
            <a:off x="6391656" y="1737360"/>
            <a:ext cx="5001768" cy="430682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Calculations:</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latency_risk = 18 / 10 = 1.8</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packet_loss_risk = 2.8 / 1 = 2.8</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prb_risk = 91 / 100 = 0.91</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sinr_risk = (15 - 7) / 15 = 0.533</a:t>
            </a:r>
            <a:endParaRPr lang="en-US" sz="1500" dirty="0"/>
          </a:p>
          <a:p>
            <a:pPr marL="0" indent="0" algn="l">
              <a:buNone/>
            </a:pP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Interpretation:</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latency and packet loss are severely above target; PRB is high; SINR is degraded.</a:t>
            </a:r>
            <a:endParaRPr lang="en-US" sz="1500" dirty="0"/>
          </a:p>
        </p:txBody>
      </p:sp>
      <p:sp>
        <p:nvSpPr>
          <p:cNvPr id="11" name="Text 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SERVICE THRESHOLDS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Service-class-aware thresholds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same KPI value is judged differently based on service class.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94360" y="1627632"/>
            <a:ext cx="3429000" cy="274320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94360" y="1627632"/>
            <a:ext cx="342900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704088" y="1700784"/>
            <a:ext cx="32095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URLLC</a:t>
            </a:r>
            <a:endParaRPr lang="en-US" sz="1050" dirty="0"/>
          </a:p>
        </p:txBody>
      </p:sp>
      <p:sp>
        <p:nvSpPr>
          <p:cNvPr id="10" name="Text 8"/>
          <p:cNvSpPr/>
          <p:nvPr/>
        </p:nvSpPr>
        <p:spPr>
          <a:xfrm>
            <a:off x="731520" y="2066544"/>
            <a:ext cx="3154680" cy="2212848"/>
          </a:xfrm>
          <a:prstGeom prst="rect">
            <a:avLst/>
          </a:prstGeom>
          <a:noFill/>
          <a:ln/>
        </p:spPr>
        <p:txBody>
          <a:bodyPr wrap="square" lIns="254" tIns="254" rIns="254" bIns="254" rtlCol="0" anchor="t">
            <a:normAutofit/>
          </a:bodyPr>
          <a:lstStyle/>
          <a:p>
            <a:pPr marL="0" indent="0" algn="l">
              <a:buNone/>
            </a:pPr>
            <a:r>
              <a:rPr lang="en-US" sz="1470" dirty="0">
                <a:solidFill>
                  <a:srgbClr val="111827"/>
                </a:solidFill>
                <a:latin typeface="Aptos" pitchFamily="34" charset="0"/>
                <a:ea typeface="Aptos" pitchFamily="34" charset="-122"/>
                <a:cs typeface="Aptos" pitchFamily="34" charset="-120"/>
              </a:rPr>
              <a:t>- Latency limit: strict.</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Reliability: critical.</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Packet loss tolerance: very low.</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Priority: critical.</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- 18 ms latency can be severe.</a:t>
            </a:r>
            <a:endParaRPr lang="en-US" sz="1470" dirty="0"/>
          </a:p>
        </p:txBody>
      </p:sp>
      <p:sp>
        <p:nvSpPr>
          <p:cNvPr id="11" name="Shape 9"/>
          <p:cNvSpPr/>
          <p:nvPr/>
        </p:nvSpPr>
        <p:spPr>
          <a:xfrm>
            <a:off x="4389120" y="1627632"/>
            <a:ext cx="3429000" cy="274320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4389120" y="1627632"/>
            <a:ext cx="3429000" cy="310896"/>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4498848" y="1700784"/>
            <a:ext cx="32095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eMBB</a:t>
            </a:r>
            <a:endParaRPr lang="en-US" sz="1050" dirty="0"/>
          </a:p>
        </p:txBody>
      </p:sp>
      <p:sp>
        <p:nvSpPr>
          <p:cNvPr id="14" name="Text 12"/>
          <p:cNvSpPr/>
          <p:nvPr/>
        </p:nvSpPr>
        <p:spPr>
          <a:xfrm>
            <a:off x="4526280" y="2066544"/>
            <a:ext cx="3154680" cy="2212848"/>
          </a:xfrm>
          <a:prstGeom prst="rect">
            <a:avLst/>
          </a:prstGeom>
          <a:noFill/>
          <a:ln/>
        </p:spPr>
        <p:txBody>
          <a:bodyPr wrap="square" lIns="254" tIns="254" rIns="254" bIns="254" rtlCol="0" anchor="t">
            <a:normAutofit/>
          </a:bodyPr>
          <a:lstStyle/>
          <a:p>
            <a:pPr marL="0" indent="0" algn="l">
              <a:buNone/>
            </a:pPr>
            <a:r>
              <a:rPr lang="en-US" sz="1470" dirty="0">
                <a:solidFill>
                  <a:srgbClr val="111827"/>
                </a:solidFill>
                <a:latin typeface="Aptos" pitchFamily="34" charset="0"/>
                <a:ea typeface="Aptos" pitchFamily="34" charset="-122"/>
                <a:cs typeface="Aptos" pitchFamily="34" charset="-120"/>
              </a:rPr>
              <a:t>- Throughput is the main concern.</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Latency tolerance is higher than URLLC.</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Priority often medium.</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- 18 ms latency may be acceptable.</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Throughput drop is more important.</a:t>
            </a:r>
            <a:endParaRPr lang="en-US" sz="1470" dirty="0"/>
          </a:p>
        </p:txBody>
      </p:sp>
      <p:sp>
        <p:nvSpPr>
          <p:cNvPr id="15" name="Shape 13"/>
          <p:cNvSpPr/>
          <p:nvPr/>
        </p:nvSpPr>
        <p:spPr>
          <a:xfrm>
            <a:off x="8183880" y="1627632"/>
            <a:ext cx="3429000" cy="274320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8183880" y="1627632"/>
            <a:ext cx="3429000" cy="310896"/>
          </a:xfrm>
          <a:prstGeom prst="rect">
            <a:avLst/>
          </a:prstGeom>
          <a:solidFill>
            <a:srgbClr val="15803D"/>
          </a:solidFill>
          <a:ln w="12700">
            <a:solidFill>
              <a:srgbClr val="15803D"/>
            </a:solidFill>
            <a:prstDash val="solid"/>
          </a:ln>
        </p:spPr>
        <p:txBody>
          <a:bodyPr/>
          <a:lstStyle/>
          <a:p>
            <a:endParaRPr lang="en-IN"/>
          </a:p>
        </p:txBody>
      </p:sp>
      <p:sp>
        <p:nvSpPr>
          <p:cNvPr id="17" name="Text 15"/>
          <p:cNvSpPr/>
          <p:nvPr/>
        </p:nvSpPr>
        <p:spPr>
          <a:xfrm>
            <a:off x="8293608" y="1700784"/>
            <a:ext cx="32095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mMTC</a:t>
            </a:r>
            <a:endParaRPr lang="en-US" sz="1050" dirty="0"/>
          </a:p>
        </p:txBody>
      </p:sp>
      <p:sp>
        <p:nvSpPr>
          <p:cNvPr id="18" name="Text 16"/>
          <p:cNvSpPr/>
          <p:nvPr/>
        </p:nvSpPr>
        <p:spPr>
          <a:xfrm>
            <a:off x="8321040" y="2066544"/>
            <a:ext cx="3154680" cy="2212848"/>
          </a:xfrm>
          <a:prstGeom prst="rect">
            <a:avLst/>
          </a:prstGeom>
          <a:noFill/>
          <a:ln/>
        </p:spPr>
        <p:txBody>
          <a:bodyPr wrap="square" lIns="254" tIns="254" rIns="254" bIns="254" rtlCol="0" anchor="t">
            <a:normAutofit/>
          </a:bodyPr>
          <a:lstStyle/>
          <a:p>
            <a:pPr marL="0" indent="0" algn="l">
              <a:buNone/>
            </a:pPr>
            <a:r>
              <a:rPr lang="en-US" sz="1470" dirty="0">
                <a:solidFill>
                  <a:srgbClr val="111827"/>
                </a:solidFill>
                <a:latin typeface="Aptos" pitchFamily="34" charset="0"/>
                <a:ea typeface="Aptos" pitchFamily="34" charset="-122"/>
                <a:cs typeface="Aptos" pitchFamily="34" charset="-120"/>
              </a:rPr>
              <a:t>- Massive device scale.</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Small data bursts.</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Latency tolerance usually higher.</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Device access success matters.</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Battery/coverage concerns matter.</a:t>
            </a:r>
            <a:endParaRPr lang="en-US" sz="1470" dirty="0"/>
          </a:p>
        </p:txBody>
      </p:sp>
      <p:sp>
        <p:nvSpPr>
          <p:cNvPr id="19" name="Text 17"/>
          <p:cNvSpPr/>
          <p:nvPr/>
        </p:nvSpPr>
        <p:spPr>
          <a:xfrm>
            <a:off x="777240" y="5074920"/>
            <a:ext cx="10607040" cy="411480"/>
          </a:xfrm>
          <a:prstGeom prst="rect">
            <a:avLst/>
          </a:prstGeom>
          <a:noFill/>
          <a:ln/>
        </p:spPr>
        <p:txBody>
          <a:bodyPr wrap="square" lIns="635" tIns="635" rIns="635" bIns="635" rtlCol="0" anchor="t">
            <a:normAutofit/>
          </a:bodyPr>
          <a:lstStyle/>
          <a:p>
            <a:pPr marL="0" indent="0" algn="ctr">
              <a:buNone/>
            </a:pPr>
            <a:r>
              <a:rPr lang="en-US" sz="1800" b="1" dirty="0">
                <a:solidFill>
                  <a:srgbClr val="111827"/>
                </a:solidFill>
                <a:latin typeface="Aptos" pitchFamily="34" charset="0"/>
                <a:ea typeface="Aptos" pitchFamily="34" charset="-122"/>
                <a:cs typeface="Aptos" pitchFamily="34" charset="-120"/>
              </a:rPr>
              <a:t>Therefore the system always evaluates KPI + service_class together, not KPI alone.</a:t>
            </a:r>
            <a:endParaRPr lang="en-US" sz="1800" dirty="0"/>
          </a:p>
        </p:txBody>
      </p:sp>
      <p:sp>
        <p:nvSpPr>
          <p:cNvPr id="20" name="Text 18"/>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DIGITAL TWIN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Digital twin state update</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digital twin is the system's internal memory and decision-oriented replica.</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27632"/>
            <a:ext cx="5074920" cy="40233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27632"/>
            <a:ext cx="507492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795528" y="1700784"/>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Stored per cell/service/slice</a:t>
            </a:r>
            <a:endParaRPr lang="en-US" sz="1050" dirty="0"/>
          </a:p>
        </p:txBody>
      </p:sp>
      <p:sp>
        <p:nvSpPr>
          <p:cNvPr id="10" name="Text 8"/>
          <p:cNvSpPr/>
          <p:nvPr/>
        </p:nvSpPr>
        <p:spPr>
          <a:xfrm>
            <a:off x="822960" y="2066544"/>
            <a:ext cx="4800600" cy="34930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Current KPIs.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Previous KPIs.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Trend direction.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Risk score.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Fault state.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Affected devices.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Active devices.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Recommended action.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Decision status.</a:t>
            </a:r>
            <a:endParaRPr lang="en-US" sz="1500" dirty="0"/>
          </a:p>
        </p:txBody>
      </p:sp>
      <p:sp>
        <p:nvSpPr>
          <p:cNvPr id="11" name="Shape 9"/>
          <p:cNvSpPr/>
          <p:nvPr/>
        </p:nvSpPr>
        <p:spPr>
          <a:xfrm>
            <a:off x="6126480" y="1627632"/>
            <a:ext cx="5212080" cy="4023360"/>
          </a:xfrm>
          <a:prstGeom prst="rect">
            <a:avLst/>
          </a:prstGeom>
          <a:solidFill>
            <a:srgbClr val="111827"/>
          </a:solidFill>
          <a:ln w="12700">
            <a:solidFill>
              <a:srgbClr val="374151"/>
            </a:solidFill>
            <a:prstDash val="solid"/>
          </a:ln>
        </p:spPr>
        <p:txBody>
          <a:bodyPr/>
          <a:lstStyle/>
          <a:p>
            <a:endParaRPr lang="en-IN"/>
          </a:p>
        </p:txBody>
      </p:sp>
      <p:sp>
        <p:nvSpPr>
          <p:cNvPr id="12" name="Text 10"/>
          <p:cNvSpPr/>
          <p:nvPr/>
        </p:nvSpPr>
        <p:spPr>
          <a:xfrm>
            <a:off x="6254496" y="1737360"/>
            <a:ext cx="4956048" cy="380390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Example twin state:</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cell_001 / URLLC</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latency trend: increasing</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packet loss trend: increasing</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SINR trend: decreasing</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PRB utilization: high</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risk: critical</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probable fault: interference + congestion</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affected devices: 2,100</a:t>
            </a:r>
            <a:endParaRPr lang="en-US" sz="1500" dirty="0"/>
          </a:p>
        </p:txBody>
      </p:sp>
      <p:sp>
        <p:nvSpPr>
          <p:cNvPr id="13" name="Text 1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DIGITAL TWIN ROLE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What the digital twin does and does not do</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prevents overclaiming.</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731520" y="1719072"/>
            <a:ext cx="5120640" cy="29260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731520" y="1719072"/>
            <a:ext cx="512064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841248" y="1792224"/>
            <a:ext cx="49011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it does</a:t>
            </a:r>
            <a:endParaRPr lang="en-US" sz="1050" dirty="0"/>
          </a:p>
        </p:txBody>
      </p:sp>
      <p:sp>
        <p:nvSpPr>
          <p:cNvPr id="10" name="Text 8"/>
          <p:cNvSpPr/>
          <p:nvPr/>
        </p:nvSpPr>
        <p:spPr>
          <a:xfrm>
            <a:off x="868680" y="2157984"/>
            <a:ext cx="4846320" cy="23957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Maintains a structured virtual state of the network.</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Tracks cells, services, KPIs, risks, device populations, and incidents.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Supports what-if reasoning before automation.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Feeds anomaly, RCA, healing, safety, and reporting.</a:t>
            </a:r>
            <a:endParaRPr lang="en-US" sz="1500" dirty="0"/>
          </a:p>
        </p:txBody>
      </p:sp>
      <p:sp>
        <p:nvSpPr>
          <p:cNvPr id="11" name="Shape 9"/>
          <p:cNvSpPr/>
          <p:nvPr/>
        </p:nvSpPr>
        <p:spPr>
          <a:xfrm>
            <a:off x="6236208" y="1719072"/>
            <a:ext cx="5074920" cy="29260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236208" y="1719072"/>
            <a:ext cx="507492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6345936" y="1792224"/>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it does not do yet</a:t>
            </a:r>
            <a:endParaRPr lang="en-US" sz="1050" dirty="0"/>
          </a:p>
        </p:txBody>
      </p:sp>
      <p:sp>
        <p:nvSpPr>
          <p:cNvPr id="14" name="Text 12"/>
          <p:cNvSpPr/>
          <p:nvPr/>
        </p:nvSpPr>
        <p:spPr>
          <a:xfrm>
            <a:off x="6373368" y="2157984"/>
            <a:ext cx="4800600" cy="23957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It is not a full RF/PHY simulator.</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It does not run a live RAN.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It does not currently ingest real OAI/FlexRIC E2 data.</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It does not model every real UE individually from a live network.</a:t>
            </a:r>
            <a:endParaRPr lang="en-US" sz="1500" dirty="0"/>
          </a:p>
        </p:txBody>
      </p:sp>
      <p:sp>
        <p:nvSpPr>
          <p:cNvPr id="15" name="Text 13"/>
          <p:cNvSpPr/>
          <p:nvPr/>
        </p:nvSpPr>
        <p:spPr>
          <a:xfrm>
            <a:off x="868680" y="5257800"/>
            <a:ext cx="10424160" cy="384048"/>
          </a:xfrm>
          <a:prstGeom prst="rect">
            <a:avLst/>
          </a:prstGeom>
          <a:noFill/>
          <a:ln/>
        </p:spPr>
        <p:txBody>
          <a:bodyPr wrap="square" lIns="635" tIns="635" rIns="635" bIns="635" rtlCol="0" anchor="t">
            <a:normAutofit/>
          </a:bodyPr>
          <a:lstStyle/>
          <a:p>
            <a:pPr marL="0" indent="0" algn="ctr">
              <a:buNone/>
            </a:pPr>
            <a:r>
              <a:rPr lang="en-US" sz="1700" b="1" dirty="0">
                <a:solidFill>
                  <a:srgbClr val="111827"/>
                </a:solidFill>
                <a:latin typeface="Aptos" pitchFamily="34" charset="0"/>
                <a:ea typeface="Aptos" pitchFamily="34" charset="-122"/>
                <a:cs typeface="Aptos" pitchFamily="34" charset="-120"/>
              </a:rPr>
              <a:t>Correct claim: decision-oriented O-RAN digital twin for self-healing workflow, not a carrier-grade full-stack radio twin.</a:t>
            </a:r>
            <a:endParaRPr lang="en-US" sz="1700" dirty="0"/>
          </a:p>
        </p:txBody>
      </p:sp>
      <p:sp>
        <p:nvSpPr>
          <p:cNvPr id="16" name="Text 14"/>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ANOMALY DETECTION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Anomaly detection logic</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An anomaly means the telemetry pattern is outside expected or service-safe behavior.</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27632"/>
            <a:ext cx="5349240" cy="429768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768096" y="1737360"/>
            <a:ext cx="5093208" cy="4078224"/>
          </a:xfrm>
          <a:prstGeom prst="rect">
            <a:avLst/>
          </a:prstGeom>
          <a:noFill/>
          <a:ln/>
        </p:spPr>
        <p:txBody>
          <a:bodyPr wrap="square" lIns="0" tIns="0" rIns="0" bIns="0" rtlCol="0" anchor="t">
            <a:normAutofit/>
          </a:bodyPr>
          <a:lstStyle/>
          <a:p>
            <a:pPr marL="0" indent="0" algn="l">
              <a:buNone/>
            </a:pPr>
            <a:r>
              <a:rPr lang="en-US" sz="1330" dirty="0">
                <a:solidFill>
                  <a:srgbClr val="F9FAFB"/>
                </a:solidFill>
                <a:latin typeface="Consolas" pitchFamily="34" charset="0"/>
                <a:ea typeface="Consolas" pitchFamily="34" charset="-122"/>
                <a:cs typeface="Consolas" pitchFamily="34" charset="-120"/>
              </a:rPr>
              <a:t>Rules:</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if latency_ms &gt; SLA_latency_limit:</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    latency_anomaly = true</a:t>
            </a:r>
            <a:endParaRPr lang="en-US" sz="1330" dirty="0"/>
          </a:p>
          <a:p>
            <a:pPr marL="0" indent="0" algn="l">
              <a:buNone/>
            </a:pP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if packet_loss_pct &gt; packet_loss_limit:</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    packet_loss_anomaly = true</a:t>
            </a:r>
            <a:endParaRPr lang="en-US" sz="1330" dirty="0"/>
          </a:p>
          <a:p>
            <a:pPr marL="0" indent="0" algn="l">
              <a:buNone/>
            </a:pP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if prb_utilization_pct &gt; 85:</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    congestion_anomaly = true</a:t>
            </a:r>
            <a:endParaRPr lang="en-US" sz="1330" dirty="0"/>
          </a:p>
          <a:p>
            <a:pPr marL="0" indent="0" algn="l">
              <a:buNone/>
            </a:pP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if sinr_db &lt; 10:</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    radio_quality_anomaly = true</a:t>
            </a:r>
            <a:endParaRPr lang="en-US" sz="1330" dirty="0"/>
          </a:p>
          <a:p>
            <a:pPr marL="0" indent="0" algn="l">
              <a:buNone/>
            </a:pP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if timing_offset_us &gt; allowed_limit:</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    timing_anomaly = true</a:t>
            </a:r>
            <a:endParaRPr lang="en-US" sz="1330" dirty="0"/>
          </a:p>
        </p:txBody>
      </p:sp>
      <p:sp>
        <p:nvSpPr>
          <p:cNvPr id="9" name="Shape 7"/>
          <p:cNvSpPr/>
          <p:nvPr/>
        </p:nvSpPr>
        <p:spPr>
          <a:xfrm>
            <a:off x="6263640" y="1627632"/>
            <a:ext cx="5257800" cy="4297680"/>
          </a:xfrm>
          <a:prstGeom prst="rect">
            <a:avLst/>
          </a:prstGeom>
          <a:solidFill>
            <a:srgbClr val="111827"/>
          </a:solidFill>
          <a:ln w="12700">
            <a:solidFill>
              <a:srgbClr val="374151"/>
            </a:solidFill>
            <a:prstDash val="solid"/>
          </a:ln>
        </p:spPr>
        <p:txBody>
          <a:bodyPr/>
          <a:lstStyle/>
          <a:p>
            <a:endParaRPr lang="en-IN"/>
          </a:p>
        </p:txBody>
      </p:sp>
      <p:sp>
        <p:nvSpPr>
          <p:cNvPr id="10" name="Text 8"/>
          <p:cNvSpPr/>
          <p:nvPr/>
        </p:nvSpPr>
        <p:spPr>
          <a:xfrm>
            <a:off x="6391656" y="1737360"/>
            <a:ext cx="5001768" cy="4078224"/>
          </a:xfrm>
          <a:prstGeom prst="rect">
            <a:avLst/>
          </a:prstGeom>
          <a:noFill/>
          <a:ln/>
        </p:spPr>
        <p:txBody>
          <a:bodyPr wrap="square" lIns="0" tIns="0" rIns="0" bIns="0" rtlCol="0" anchor="t">
            <a:normAutofit/>
          </a:bodyPr>
          <a:lstStyle/>
          <a:p>
            <a:pPr marL="0" indent="0" algn="l">
              <a:buNone/>
            </a:pPr>
            <a:r>
              <a:rPr lang="en-US" sz="1330" dirty="0">
                <a:solidFill>
                  <a:srgbClr val="F9FAFB"/>
                </a:solidFill>
                <a:latin typeface="Consolas" pitchFamily="34" charset="0"/>
                <a:ea typeface="Consolas" pitchFamily="34" charset="-122"/>
                <a:cs typeface="Consolas" pitchFamily="34" charset="-120"/>
              </a:rPr>
              <a:t>Example result:</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latency_ms = 18, URLLC limit = 10 -&gt; anomaly</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packet_loss_pct = 2.8 -&gt; anomaly</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prb_utilization_pct = 91 -&gt; anomaly</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sinr_db = 7 -&gt; anomaly</a:t>
            </a:r>
            <a:endParaRPr lang="en-US" sz="1330" dirty="0"/>
          </a:p>
          <a:p>
            <a:pPr marL="0" indent="0" algn="l">
              <a:buNone/>
            </a:pP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Anomaly vector:</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latency_anomaly = 1</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packet_loss_anomaly = 1</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congestion_anomaly = 1</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radio_quality_anomaly = 1</a:t>
            </a:r>
            <a:endParaRPr lang="en-US" sz="1330" dirty="0"/>
          </a:p>
          <a:p>
            <a:pPr marL="0" indent="0" algn="l">
              <a:buNone/>
            </a:pPr>
            <a:r>
              <a:rPr lang="en-US" sz="1330" dirty="0">
                <a:solidFill>
                  <a:srgbClr val="F9FAFB"/>
                </a:solidFill>
                <a:latin typeface="Consolas" pitchFamily="34" charset="0"/>
                <a:ea typeface="Consolas" pitchFamily="34" charset="-122"/>
                <a:cs typeface="Consolas" pitchFamily="34" charset="-120"/>
              </a:rPr>
              <a:t>timing_anomaly = 0</a:t>
            </a:r>
            <a:endParaRPr lang="en-US" sz="1330" dirty="0"/>
          </a:p>
        </p:txBody>
      </p:sp>
      <p:sp>
        <p:nvSpPr>
          <p:cNvPr id="11" name="Text 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FAULT SIGNATURES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Fault signature matching</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anomaly vector is compared against known fault patterns.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600200"/>
            <a:ext cx="2743200" cy="35661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600200"/>
            <a:ext cx="2743200" cy="310896"/>
          </a:xfrm>
          <a:prstGeom prst="rect">
            <a:avLst/>
          </a:prstGeom>
          <a:solidFill>
            <a:srgbClr val="C2410C"/>
          </a:solidFill>
          <a:ln w="12700">
            <a:solidFill>
              <a:srgbClr val="C2410C"/>
            </a:solidFill>
            <a:prstDash val="solid"/>
          </a:ln>
        </p:spPr>
        <p:txBody>
          <a:bodyPr/>
          <a:lstStyle/>
          <a:p>
            <a:endParaRPr lang="en-IN"/>
          </a:p>
        </p:txBody>
      </p:sp>
      <p:sp>
        <p:nvSpPr>
          <p:cNvPr id="9" name="Text 7"/>
          <p:cNvSpPr/>
          <p:nvPr/>
        </p:nvSpPr>
        <p:spPr>
          <a:xfrm>
            <a:off x="6126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Congestion signature</a:t>
            </a:r>
            <a:endParaRPr lang="en-US" sz="1050" dirty="0"/>
          </a:p>
        </p:txBody>
      </p:sp>
      <p:sp>
        <p:nvSpPr>
          <p:cNvPr id="10" name="Text 8"/>
          <p:cNvSpPr/>
          <p:nvPr/>
        </p:nvSpPr>
        <p:spPr>
          <a:xfrm>
            <a:off x="640080" y="2039112"/>
            <a:ext cx="2468880" cy="303580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High PRB utilization.</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High latency.</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Throughput drop.</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Packet loss possible.</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Scheduler pressure.</a:t>
            </a:r>
            <a:endParaRPr lang="en-US" sz="1440" dirty="0"/>
          </a:p>
        </p:txBody>
      </p:sp>
      <p:sp>
        <p:nvSpPr>
          <p:cNvPr id="11" name="Shape 9"/>
          <p:cNvSpPr/>
          <p:nvPr/>
        </p:nvSpPr>
        <p:spPr>
          <a:xfrm>
            <a:off x="3474720" y="1600200"/>
            <a:ext cx="2743200" cy="356616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474720" y="1600200"/>
            <a:ext cx="274320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35844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Interference signature</a:t>
            </a:r>
            <a:endParaRPr lang="en-US" sz="1050" dirty="0"/>
          </a:p>
        </p:txBody>
      </p:sp>
      <p:sp>
        <p:nvSpPr>
          <p:cNvPr id="14" name="Text 12"/>
          <p:cNvSpPr/>
          <p:nvPr/>
        </p:nvSpPr>
        <p:spPr>
          <a:xfrm>
            <a:off x="3611880" y="2039112"/>
            <a:ext cx="2468880" cy="303580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Low SINR.</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High BLER.</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Packet loss.</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Throughput drop.</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Spectrum risk.</a:t>
            </a:r>
            <a:endParaRPr lang="en-US" sz="1440" dirty="0"/>
          </a:p>
        </p:txBody>
      </p:sp>
      <p:sp>
        <p:nvSpPr>
          <p:cNvPr id="15" name="Shape 13"/>
          <p:cNvSpPr/>
          <p:nvPr/>
        </p:nvSpPr>
        <p:spPr>
          <a:xfrm>
            <a:off x="6446520" y="1600200"/>
            <a:ext cx="2514600" cy="356616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46520" y="1600200"/>
            <a:ext cx="2514600" cy="310896"/>
          </a:xfrm>
          <a:prstGeom prst="rect">
            <a:avLst/>
          </a:prstGeom>
          <a:solidFill>
            <a:srgbClr val="6D28D9"/>
          </a:solidFill>
          <a:ln w="12700">
            <a:solidFill>
              <a:srgbClr val="6D28D9"/>
            </a:solidFill>
            <a:prstDash val="solid"/>
          </a:ln>
        </p:spPr>
        <p:txBody>
          <a:bodyPr/>
          <a:lstStyle/>
          <a:p>
            <a:endParaRPr lang="en-IN"/>
          </a:p>
        </p:txBody>
      </p:sp>
      <p:sp>
        <p:nvSpPr>
          <p:cNvPr id="17" name="Text 15"/>
          <p:cNvSpPr/>
          <p:nvPr/>
        </p:nvSpPr>
        <p:spPr>
          <a:xfrm>
            <a:off x="6556248" y="1673352"/>
            <a:ext cx="22951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Timing/PTP fault</a:t>
            </a:r>
            <a:endParaRPr lang="en-US" sz="1050" dirty="0"/>
          </a:p>
        </p:txBody>
      </p:sp>
      <p:sp>
        <p:nvSpPr>
          <p:cNvPr id="18" name="Text 16"/>
          <p:cNvSpPr/>
          <p:nvPr/>
        </p:nvSpPr>
        <p:spPr>
          <a:xfrm>
            <a:off x="6583680" y="2039112"/>
            <a:ext cx="2240280" cy="303580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Timing offset high.</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Sync status bad.</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Packet errors.</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O-DU/O-RU timing risk.</a:t>
            </a:r>
            <a:endParaRPr lang="en-US" sz="1440" dirty="0"/>
          </a:p>
        </p:txBody>
      </p:sp>
      <p:sp>
        <p:nvSpPr>
          <p:cNvPr id="19" name="Shape 17"/>
          <p:cNvSpPr/>
          <p:nvPr/>
        </p:nvSpPr>
        <p:spPr>
          <a:xfrm>
            <a:off x="9189720" y="1600200"/>
            <a:ext cx="2468880" cy="356616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9189720" y="1600200"/>
            <a:ext cx="2468880" cy="310896"/>
          </a:xfrm>
          <a:prstGeom prst="rect">
            <a:avLst/>
          </a:prstGeom>
          <a:solidFill>
            <a:srgbClr val="0F766E"/>
          </a:solidFill>
          <a:ln w="12700">
            <a:solidFill>
              <a:srgbClr val="0F766E"/>
            </a:solidFill>
            <a:prstDash val="solid"/>
          </a:ln>
        </p:spPr>
        <p:txBody>
          <a:bodyPr/>
          <a:lstStyle/>
          <a:p>
            <a:endParaRPr lang="en-IN"/>
          </a:p>
        </p:txBody>
      </p:sp>
      <p:sp>
        <p:nvSpPr>
          <p:cNvPr id="21" name="Text 19"/>
          <p:cNvSpPr/>
          <p:nvPr/>
        </p:nvSpPr>
        <p:spPr>
          <a:xfrm>
            <a:off x="9299448" y="1673352"/>
            <a:ext cx="2249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xApp conflict</a:t>
            </a:r>
            <a:endParaRPr lang="en-US" sz="1050" dirty="0"/>
          </a:p>
        </p:txBody>
      </p:sp>
      <p:sp>
        <p:nvSpPr>
          <p:cNvPr id="22" name="Text 20"/>
          <p:cNvSpPr/>
          <p:nvPr/>
        </p:nvSpPr>
        <p:spPr>
          <a:xfrm>
            <a:off x="9326880" y="2039112"/>
            <a:ext cx="2194560" cy="303580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Opposing actions.</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Control instability.</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Oscillating decisions.</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Unsafe automation.</a:t>
            </a:r>
            <a:endParaRPr lang="en-US" sz="1440" dirty="0"/>
          </a:p>
        </p:txBody>
      </p:sp>
      <p:sp>
        <p:nvSpPr>
          <p:cNvPr id="23" name="Text 21"/>
          <p:cNvSpPr/>
          <p:nvPr/>
        </p:nvSpPr>
        <p:spPr>
          <a:xfrm>
            <a:off x="685800" y="5669280"/>
            <a:ext cx="10881360" cy="320040"/>
          </a:xfrm>
          <a:prstGeom prst="rect">
            <a:avLst/>
          </a:prstGeom>
          <a:noFill/>
          <a:ln/>
        </p:spPr>
        <p:txBody>
          <a:bodyPr wrap="square" lIns="635" tIns="635" rIns="635" bIns="635" rtlCol="0" anchor="t">
            <a:normAutofit/>
          </a:bodyPr>
          <a:lstStyle/>
          <a:p>
            <a:pPr marL="0" indent="0" algn="l">
              <a:buNone/>
            </a:pPr>
            <a:r>
              <a:rPr lang="en-US" sz="1650" b="1" dirty="0">
                <a:solidFill>
                  <a:srgbClr val="111827"/>
                </a:solidFill>
                <a:latin typeface="Aptos" pitchFamily="34" charset="0"/>
                <a:ea typeface="Aptos" pitchFamily="34" charset="-122"/>
                <a:cs typeface="Aptos" pitchFamily="34" charset="-120"/>
              </a:rPr>
              <a:t>Example: high PRB + high latency + low SINR + high packet loss can match congestion and interference together.</a:t>
            </a:r>
            <a:endParaRPr lang="en-US" sz="1650" dirty="0"/>
          </a:p>
        </p:txBody>
      </p:sp>
      <p:sp>
        <p:nvSpPr>
          <p:cNvPr id="24" name="Text 22"/>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RCA</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Root Cause Analysis calculation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RCA selects the most likely root cause from weighted evidence.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27632"/>
            <a:ext cx="5349240" cy="420624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768096" y="1737360"/>
            <a:ext cx="5093208" cy="3986784"/>
          </a:xfrm>
          <a:prstGeom prst="rect">
            <a:avLst/>
          </a:prstGeom>
          <a:noFill/>
          <a:ln/>
        </p:spPr>
        <p:txBody>
          <a:bodyPr wrap="square" lIns="0" tIns="0" rIns="0" bIns="0" rtlCol="0" anchor="t">
            <a:normAutofit/>
          </a:bodyPr>
          <a:lstStyle/>
          <a:p>
            <a:pPr marL="0" indent="0" algn="l">
              <a:buNone/>
            </a:pPr>
            <a:r>
              <a:rPr lang="en-US" sz="1450" dirty="0">
                <a:solidFill>
                  <a:srgbClr val="F9FAFB"/>
                </a:solidFill>
                <a:latin typeface="Consolas" pitchFamily="34" charset="0"/>
                <a:ea typeface="Consolas" pitchFamily="34" charset="-122"/>
                <a:cs typeface="Consolas" pitchFamily="34" charset="-120"/>
              </a:rPr>
              <a:t>Congestion score:</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0.4 * prb_risk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+ 0.3 * latency_risk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+ 0.2 * throughput_drop_risk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+ 0.1 * packet_loss_risk</a:t>
            </a:r>
            <a:endParaRPr lang="en-US" sz="1450" dirty="0"/>
          </a:p>
          <a:p>
            <a:pPr marL="0" indent="0" algn="l">
              <a:buNone/>
            </a:pP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Timing score:</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0.6 * timing_offset_risk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+ 0.4 * sync_error_risk</a:t>
            </a:r>
            <a:endParaRPr lang="en-US" sz="1450" dirty="0"/>
          </a:p>
        </p:txBody>
      </p:sp>
      <p:sp>
        <p:nvSpPr>
          <p:cNvPr id="9" name="Shape 7"/>
          <p:cNvSpPr/>
          <p:nvPr/>
        </p:nvSpPr>
        <p:spPr>
          <a:xfrm>
            <a:off x="6263640" y="1627632"/>
            <a:ext cx="5257800" cy="4206240"/>
          </a:xfrm>
          <a:prstGeom prst="rect">
            <a:avLst/>
          </a:prstGeom>
          <a:solidFill>
            <a:srgbClr val="111827"/>
          </a:solidFill>
          <a:ln w="12700">
            <a:solidFill>
              <a:srgbClr val="374151"/>
            </a:solidFill>
            <a:prstDash val="solid"/>
          </a:ln>
        </p:spPr>
        <p:txBody>
          <a:bodyPr/>
          <a:lstStyle/>
          <a:p>
            <a:endParaRPr lang="en-IN"/>
          </a:p>
        </p:txBody>
      </p:sp>
      <p:sp>
        <p:nvSpPr>
          <p:cNvPr id="10" name="Text 8"/>
          <p:cNvSpPr/>
          <p:nvPr/>
        </p:nvSpPr>
        <p:spPr>
          <a:xfrm>
            <a:off x="6391656" y="1737360"/>
            <a:ext cx="5001768" cy="3986784"/>
          </a:xfrm>
          <a:prstGeom prst="rect">
            <a:avLst/>
          </a:prstGeom>
          <a:noFill/>
          <a:ln/>
        </p:spPr>
        <p:txBody>
          <a:bodyPr wrap="square" lIns="0" tIns="0" rIns="0" bIns="0" rtlCol="0" anchor="t">
            <a:normAutofit/>
          </a:bodyPr>
          <a:lstStyle/>
          <a:p>
            <a:pPr marL="0" indent="0" algn="l">
              <a:buNone/>
            </a:pPr>
            <a:r>
              <a:rPr lang="en-US" sz="1450" dirty="0">
                <a:solidFill>
                  <a:srgbClr val="F9FAFB"/>
                </a:solidFill>
                <a:latin typeface="Consolas" pitchFamily="34" charset="0"/>
                <a:ea typeface="Consolas" pitchFamily="34" charset="-122"/>
                <a:cs typeface="Consolas" pitchFamily="34" charset="-120"/>
              </a:rPr>
              <a:t>Interference score:</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0.4 * sinr_risk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+ 0.3 * bler_risk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+ 0.2 * packet_loss_risk</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+ 0.1 * spectrum_risk</a:t>
            </a:r>
            <a:endParaRPr lang="en-US" sz="1450" dirty="0"/>
          </a:p>
          <a:p>
            <a:pPr marL="0" indent="0" algn="l">
              <a:buNone/>
            </a:pP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Decision:</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root_cause = max(score)</a:t>
            </a:r>
            <a:endParaRPr lang="en-US" sz="1450" dirty="0"/>
          </a:p>
          <a:p>
            <a:pPr marL="0" indent="0" algn="l">
              <a:buNone/>
            </a:pP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Example:</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congestion_score = 0.82</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interference_score = 0.89</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timing_score = 0.10</a:t>
            </a:r>
            <a:endParaRPr lang="en-US" sz="1450" dirty="0"/>
          </a:p>
          <a:p>
            <a:pPr marL="0" indent="0" algn="l">
              <a:buNone/>
            </a:pPr>
            <a:r>
              <a:rPr lang="en-US" sz="1450" dirty="0">
                <a:solidFill>
                  <a:srgbClr val="F9FAFB"/>
                </a:solidFill>
                <a:latin typeface="Consolas" pitchFamily="34" charset="0"/>
                <a:ea typeface="Consolas" pitchFamily="34" charset="-122"/>
                <a:cs typeface="Consolas" pitchFamily="34" charset="-120"/>
              </a:rPr>
              <a:t>root_cause = interference</a:t>
            </a:r>
            <a:endParaRPr lang="en-US" sz="1450" dirty="0"/>
          </a:p>
        </p:txBody>
      </p:sp>
      <p:sp>
        <p:nvSpPr>
          <p:cNvPr id="11" name="Text 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SEVERITY</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Severity calculation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Severity tells how urgent and dangerous the incident is.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01752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813816" y="1773936"/>
            <a:ext cx="4818888" cy="2798064"/>
          </a:xfrm>
          <a:prstGeom prst="rect">
            <a:avLst/>
          </a:prstGeom>
          <a:noFill/>
          <a:ln/>
        </p:spPr>
        <p:txBody>
          <a:bodyPr wrap="square" lIns="0" tIns="0" rIns="0" bIns="0" rtlCol="0" anchor="t">
            <a:normAutofit/>
          </a:bodyPr>
          <a:lstStyle/>
          <a:p>
            <a:pPr marL="0" indent="0" algn="l">
              <a:buNone/>
            </a:pPr>
            <a:r>
              <a:rPr lang="en-US" sz="1550" dirty="0">
                <a:solidFill>
                  <a:srgbClr val="F9FAFB"/>
                </a:solidFill>
                <a:latin typeface="Consolas" pitchFamily="34" charset="0"/>
                <a:ea typeface="Consolas" pitchFamily="34" charset="-122"/>
                <a:cs typeface="Consolas" pitchFamily="34" charset="-120"/>
              </a:rPr>
              <a:t>severity_score =</a:t>
            </a:r>
            <a:endParaRPr lang="en-US" sz="1550" dirty="0"/>
          </a:p>
          <a:p>
            <a:pPr marL="0" indent="0" algn="l">
              <a:buNone/>
            </a:pPr>
            <a:r>
              <a:rPr lang="en-US" sz="1550" dirty="0">
                <a:solidFill>
                  <a:srgbClr val="F9FAFB"/>
                </a:solidFill>
                <a:latin typeface="Consolas" pitchFamily="34" charset="0"/>
                <a:ea typeface="Consolas" pitchFamily="34" charset="-122"/>
                <a:cs typeface="Consolas" pitchFamily="34" charset="-120"/>
              </a:rPr>
              <a:t>0.35 * SLA_risk</a:t>
            </a:r>
            <a:endParaRPr lang="en-US" sz="1550" dirty="0"/>
          </a:p>
          <a:p>
            <a:pPr marL="0" indent="0" algn="l">
              <a:buNone/>
            </a:pPr>
            <a:r>
              <a:rPr lang="en-US" sz="1550" dirty="0">
                <a:solidFill>
                  <a:srgbClr val="F9FAFB"/>
                </a:solidFill>
                <a:latin typeface="Consolas" pitchFamily="34" charset="0"/>
                <a:ea typeface="Consolas" pitchFamily="34" charset="-122"/>
                <a:cs typeface="Consolas" pitchFamily="34" charset="-120"/>
              </a:rPr>
              <a:t>+ 0.25 * service_priority</a:t>
            </a:r>
            <a:endParaRPr lang="en-US" sz="1550" dirty="0"/>
          </a:p>
          <a:p>
            <a:pPr marL="0" indent="0" algn="l">
              <a:buNone/>
            </a:pPr>
            <a:r>
              <a:rPr lang="en-US" sz="1550" dirty="0">
                <a:solidFill>
                  <a:srgbClr val="F9FAFB"/>
                </a:solidFill>
                <a:latin typeface="Consolas" pitchFamily="34" charset="0"/>
                <a:ea typeface="Consolas" pitchFamily="34" charset="-122"/>
                <a:cs typeface="Consolas" pitchFamily="34" charset="-120"/>
              </a:rPr>
              <a:t>+ 0.20 * affected_device_ratio</a:t>
            </a:r>
            <a:endParaRPr lang="en-US" sz="1550" dirty="0"/>
          </a:p>
          <a:p>
            <a:pPr marL="0" indent="0" algn="l">
              <a:buNone/>
            </a:pPr>
            <a:r>
              <a:rPr lang="en-US" sz="1550" dirty="0">
                <a:solidFill>
                  <a:srgbClr val="F9FAFB"/>
                </a:solidFill>
                <a:latin typeface="Consolas" pitchFamily="34" charset="0"/>
                <a:ea typeface="Consolas" pitchFamily="34" charset="-122"/>
                <a:cs typeface="Consolas" pitchFamily="34" charset="-120"/>
              </a:rPr>
              <a:t>+ 0.20 * RCA_confidence</a:t>
            </a:r>
            <a:endParaRPr lang="en-US" sz="1550" dirty="0"/>
          </a:p>
          <a:p>
            <a:pPr marL="0" indent="0" algn="l">
              <a:buNone/>
            </a:pPr>
            <a:endParaRPr lang="en-US" sz="1550" dirty="0"/>
          </a:p>
          <a:p>
            <a:pPr marL="0" indent="0" algn="l">
              <a:buNone/>
            </a:pPr>
            <a:r>
              <a:rPr lang="en-US" sz="1550" dirty="0">
                <a:solidFill>
                  <a:srgbClr val="F9FAFB"/>
                </a:solidFill>
                <a:latin typeface="Consolas" pitchFamily="34" charset="0"/>
                <a:ea typeface="Consolas" pitchFamily="34" charset="-122"/>
                <a:cs typeface="Consolas" pitchFamily="34" charset="-120"/>
              </a:rPr>
              <a:t>affected_device_ratio = affected_devices / active_devices</a:t>
            </a:r>
            <a:endParaRPr lang="en-US" sz="1550" dirty="0"/>
          </a:p>
        </p:txBody>
      </p:sp>
      <p:sp>
        <p:nvSpPr>
          <p:cNvPr id="9" name="Shape 7"/>
          <p:cNvSpPr/>
          <p:nvPr/>
        </p:nvSpPr>
        <p:spPr>
          <a:xfrm>
            <a:off x="6126480" y="1664208"/>
            <a:ext cx="5120640" cy="3017520"/>
          </a:xfrm>
          <a:prstGeom prst="rect">
            <a:avLst/>
          </a:prstGeom>
          <a:solidFill>
            <a:srgbClr val="F8FAFC"/>
          </a:solidFill>
          <a:ln w="10160">
            <a:solidFill>
              <a:srgbClr val="CBD5E1"/>
            </a:solidFill>
            <a:prstDash val="solid"/>
          </a:ln>
        </p:spPr>
        <p:txBody>
          <a:bodyPr/>
          <a:lstStyle/>
          <a:p>
            <a:endParaRPr lang="en-IN"/>
          </a:p>
        </p:txBody>
      </p:sp>
      <p:sp>
        <p:nvSpPr>
          <p:cNvPr id="10" name="Shape 8"/>
          <p:cNvSpPr/>
          <p:nvPr/>
        </p:nvSpPr>
        <p:spPr>
          <a:xfrm>
            <a:off x="6126480" y="1664208"/>
            <a:ext cx="5120640" cy="310896"/>
          </a:xfrm>
          <a:prstGeom prst="rect">
            <a:avLst/>
          </a:prstGeom>
          <a:solidFill>
            <a:srgbClr val="B91C1C"/>
          </a:solidFill>
          <a:ln w="12700">
            <a:solidFill>
              <a:srgbClr val="B91C1C"/>
            </a:solidFill>
            <a:prstDash val="solid"/>
          </a:ln>
        </p:spPr>
        <p:txBody>
          <a:bodyPr/>
          <a:lstStyle/>
          <a:p>
            <a:endParaRPr lang="en-IN"/>
          </a:p>
        </p:txBody>
      </p:sp>
      <p:sp>
        <p:nvSpPr>
          <p:cNvPr id="11" name="Text 9"/>
          <p:cNvSpPr/>
          <p:nvPr/>
        </p:nvSpPr>
        <p:spPr>
          <a:xfrm>
            <a:off x="6236208" y="1737360"/>
            <a:ext cx="49011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Classification</a:t>
            </a:r>
            <a:endParaRPr lang="en-US" sz="1050" dirty="0"/>
          </a:p>
        </p:txBody>
      </p:sp>
      <p:sp>
        <p:nvSpPr>
          <p:cNvPr id="12" name="Text 10"/>
          <p:cNvSpPr/>
          <p:nvPr/>
        </p:nvSpPr>
        <p:spPr>
          <a:xfrm>
            <a:off x="6263640" y="2103120"/>
            <a:ext cx="4846320" cy="248716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score &gt; 0.80 = critical.</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- 0.60 to 0.80 = high.</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- 0.40 to 0.60 = medium.</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below 0.40 = low.</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URLLC and safety-critical slices increase priority.</a:t>
            </a:r>
            <a:endParaRPr lang="en-US" sz="1500" dirty="0"/>
          </a:p>
        </p:txBody>
      </p:sp>
      <p:sp>
        <p:nvSpPr>
          <p:cNvPr id="13" name="Text 11"/>
          <p:cNvSpPr/>
          <p:nvPr/>
        </p:nvSpPr>
        <p:spPr>
          <a:xfrm>
            <a:off x="868680" y="5285232"/>
            <a:ext cx="10241280" cy="347472"/>
          </a:xfrm>
          <a:prstGeom prst="rect">
            <a:avLst/>
          </a:prstGeom>
          <a:noFill/>
          <a:ln/>
        </p:spPr>
        <p:txBody>
          <a:bodyPr wrap="square" lIns="635" tIns="635" rIns="635" bIns="635" rtlCol="0" anchor="t">
            <a:normAutofit/>
          </a:bodyPr>
          <a:lstStyle/>
          <a:p>
            <a:pPr marL="0" indent="0" algn="ctr">
              <a:buNone/>
            </a:pPr>
            <a:r>
              <a:rPr lang="en-US" sz="1700" b="1" dirty="0">
                <a:solidFill>
                  <a:srgbClr val="111827"/>
                </a:solidFill>
                <a:latin typeface="Aptos" pitchFamily="34" charset="0"/>
                <a:ea typeface="Aptos" pitchFamily="34" charset="-122"/>
                <a:cs typeface="Aptos" pitchFamily="34" charset="-120"/>
              </a:rPr>
              <a:t>Example: 2,100 affected out of 8,000 active devices gives affected_device_ratio = 0.2625.</a:t>
            </a:r>
            <a:endParaRPr lang="en-US" sz="1700" dirty="0"/>
          </a:p>
        </p:txBody>
      </p:sp>
      <p:sp>
        <p:nvSpPr>
          <p:cNvPr id="14" name="Text 12"/>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HEALING</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Healing recommendation generation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recommendation depends on the root cause and service impact.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600200"/>
            <a:ext cx="2743200" cy="393192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600200"/>
            <a:ext cx="2743200" cy="310896"/>
          </a:xfrm>
          <a:prstGeom prst="rect">
            <a:avLst/>
          </a:prstGeom>
          <a:solidFill>
            <a:srgbClr val="C2410C"/>
          </a:solidFill>
          <a:ln w="12700">
            <a:solidFill>
              <a:srgbClr val="C2410C"/>
            </a:solidFill>
            <a:prstDash val="solid"/>
          </a:ln>
        </p:spPr>
        <p:txBody>
          <a:bodyPr/>
          <a:lstStyle/>
          <a:p>
            <a:endParaRPr lang="en-IN"/>
          </a:p>
        </p:txBody>
      </p:sp>
      <p:sp>
        <p:nvSpPr>
          <p:cNvPr id="9" name="Text 7"/>
          <p:cNvSpPr/>
          <p:nvPr/>
        </p:nvSpPr>
        <p:spPr>
          <a:xfrm>
            <a:off x="6126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If congestion</a:t>
            </a:r>
            <a:endParaRPr lang="en-US" sz="1050" dirty="0"/>
          </a:p>
        </p:txBody>
      </p:sp>
      <p:sp>
        <p:nvSpPr>
          <p:cNvPr id="10" name="Text 8"/>
          <p:cNvSpPr/>
          <p:nvPr/>
        </p:nvSpPr>
        <p:spPr>
          <a:xfrm>
            <a:off x="640080" y="2039112"/>
            <a:ext cx="2468880" cy="340156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Load balancing.</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Traffic steering.</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PRB/resource adjustment.</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Move non-critical users.</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Monitor scheduler pressure.</a:t>
            </a:r>
            <a:endParaRPr lang="en-US" sz="1440" dirty="0"/>
          </a:p>
        </p:txBody>
      </p:sp>
      <p:sp>
        <p:nvSpPr>
          <p:cNvPr id="11" name="Shape 9"/>
          <p:cNvSpPr/>
          <p:nvPr/>
        </p:nvSpPr>
        <p:spPr>
          <a:xfrm>
            <a:off x="3474720" y="1600200"/>
            <a:ext cx="2743200" cy="393192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474720" y="1600200"/>
            <a:ext cx="274320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35844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If interference</a:t>
            </a:r>
            <a:endParaRPr lang="en-US" sz="1050" dirty="0"/>
          </a:p>
        </p:txBody>
      </p:sp>
      <p:sp>
        <p:nvSpPr>
          <p:cNvPr id="14" name="Text 12"/>
          <p:cNvSpPr/>
          <p:nvPr/>
        </p:nvSpPr>
        <p:spPr>
          <a:xfrm>
            <a:off x="3611880" y="2039112"/>
            <a:ext cx="2468880" cy="340156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Change channel.</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Adjust beam.</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Reduce interference source.</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Spectrum/DSA action.</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Escalate if critical.</a:t>
            </a:r>
            <a:endParaRPr lang="en-US" sz="1440" dirty="0"/>
          </a:p>
        </p:txBody>
      </p:sp>
      <p:sp>
        <p:nvSpPr>
          <p:cNvPr id="15" name="Shape 13"/>
          <p:cNvSpPr/>
          <p:nvPr/>
        </p:nvSpPr>
        <p:spPr>
          <a:xfrm>
            <a:off x="6446520" y="1600200"/>
            <a:ext cx="2514600" cy="393192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46520" y="1600200"/>
            <a:ext cx="2514600" cy="310896"/>
          </a:xfrm>
          <a:prstGeom prst="rect">
            <a:avLst/>
          </a:prstGeom>
          <a:solidFill>
            <a:srgbClr val="6D28D9"/>
          </a:solidFill>
          <a:ln w="12700">
            <a:solidFill>
              <a:srgbClr val="6D28D9"/>
            </a:solidFill>
            <a:prstDash val="solid"/>
          </a:ln>
        </p:spPr>
        <p:txBody>
          <a:bodyPr/>
          <a:lstStyle/>
          <a:p>
            <a:endParaRPr lang="en-IN"/>
          </a:p>
        </p:txBody>
      </p:sp>
      <p:sp>
        <p:nvSpPr>
          <p:cNvPr id="17" name="Text 15"/>
          <p:cNvSpPr/>
          <p:nvPr/>
        </p:nvSpPr>
        <p:spPr>
          <a:xfrm>
            <a:off x="6556248" y="1673352"/>
            <a:ext cx="22951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If timing/PTP</a:t>
            </a:r>
            <a:endParaRPr lang="en-US" sz="1050" dirty="0"/>
          </a:p>
        </p:txBody>
      </p:sp>
      <p:sp>
        <p:nvSpPr>
          <p:cNvPr id="18" name="Text 16"/>
          <p:cNvSpPr/>
          <p:nvPr/>
        </p:nvSpPr>
        <p:spPr>
          <a:xfrm>
            <a:off x="6583680" y="2039112"/>
            <a:ext cx="2240280" cy="340156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Block automation.</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Escalate sync issue.</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Mark O-DU/O-RU risk.</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Prevent unsafe control.</a:t>
            </a:r>
            <a:endParaRPr lang="en-US" sz="1440" dirty="0"/>
          </a:p>
        </p:txBody>
      </p:sp>
      <p:sp>
        <p:nvSpPr>
          <p:cNvPr id="19" name="Shape 17"/>
          <p:cNvSpPr/>
          <p:nvPr/>
        </p:nvSpPr>
        <p:spPr>
          <a:xfrm>
            <a:off x="9189720" y="1600200"/>
            <a:ext cx="2468880" cy="393192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9189720" y="1600200"/>
            <a:ext cx="2468880" cy="310896"/>
          </a:xfrm>
          <a:prstGeom prst="rect">
            <a:avLst/>
          </a:prstGeom>
          <a:solidFill>
            <a:srgbClr val="0F766E"/>
          </a:solidFill>
          <a:ln w="12700">
            <a:solidFill>
              <a:srgbClr val="0F766E"/>
            </a:solidFill>
            <a:prstDash val="solid"/>
          </a:ln>
        </p:spPr>
        <p:txBody>
          <a:bodyPr/>
          <a:lstStyle/>
          <a:p>
            <a:endParaRPr lang="en-IN"/>
          </a:p>
        </p:txBody>
      </p:sp>
      <p:sp>
        <p:nvSpPr>
          <p:cNvPr id="21" name="Text 19"/>
          <p:cNvSpPr/>
          <p:nvPr/>
        </p:nvSpPr>
        <p:spPr>
          <a:xfrm>
            <a:off x="9299448" y="1673352"/>
            <a:ext cx="2249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If xApp conflict</a:t>
            </a:r>
            <a:endParaRPr lang="en-US" sz="1050" dirty="0"/>
          </a:p>
        </p:txBody>
      </p:sp>
      <p:sp>
        <p:nvSpPr>
          <p:cNvPr id="22" name="Text 20"/>
          <p:cNvSpPr/>
          <p:nvPr/>
        </p:nvSpPr>
        <p:spPr>
          <a:xfrm>
            <a:off x="9326880" y="2039112"/>
            <a:ext cx="2194560" cy="3401568"/>
          </a:xfrm>
          <a:prstGeom prst="rect">
            <a:avLst/>
          </a:prstGeom>
          <a:noFill/>
          <a:ln/>
        </p:spPr>
        <p:txBody>
          <a:bodyPr wrap="square" lIns="254" tIns="254" rIns="254" bIns="254" rtlCol="0" anchor="t">
            <a:normAutofit/>
          </a:bodyPr>
          <a:lstStyle/>
          <a:p>
            <a:pPr marL="0" indent="0" algn="l">
              <a:buNone/>
            </a:pPr>
            <a:r>
              <a:rPr lang="en-US" sz="1440" dirty="0">
                <a:solidFill>
                  <a:srgbClr val="111827"/>
                </a:solidFill>
                <a:latin typeface="Aptos" pitchFamily="34" charset="0"/>
                <a:ea typeface="Aptos" pitchFamily="34" charset="-122"/>
                <a:cs typeface="Aptos" pitchFamily="34" charset="-120"/>
              </a:rPr>
              <a:t>- Suppress lower-priority action.</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Choose safer action.</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Require human approval.</a:t>
            </a:r>
            <a:endParaRPr lang="en-US" sz="1440" dirty="0"/>
          </a:p>
          <a:p>
            <a:pPr marL="0" indent="0" algn="l">
              <a:buNone/>
            </a:pPr>
            <a:r>
              <a:rPr lang="en-US" sz="1440" dirty="0">
                <a:solidFill>
                  <a:srgbClr val="111827"/>
                </a:solidFill>
                <a:latin typeface="Aptos" pitchFamily="34" charset="0"/>
                <a:ea typeface="Aptos" pitchFamily="34" charset="-122"/>
                <a:cs typeface="Aptos" pitchFamily="34" charset="-120"/>
              </a:rPr>
              <a:t>- Prevent control oscillation.</a:t>
            </a:r>
            <a:endParaRPr lang="en-US" sz="1440" dirty="0"/>
          </a:p>
        </p:txBody>
      </p:sp>
      <p:sp>
        <p:nvSpPr>
          <p:cNvPr id="23" name="Text 2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XAPP PROPOSAL</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Turning healing into xApp-style control</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recommendation becomes a structured proposal for future Near-RT RIC execution.</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420624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6D28D9"/>
          </a:solidFill>
          <a:ln w="12700">
            <a:solidFill>
              <a:srgbClr val="6D28D9"/>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Meaning</a:t>
            </a:r>
            <a:endParaRPr lang="en-US" sz="1050" dirty="0"/>
          </a:p>
        </p:txBody>
      </p:sp>
      <p:sp>
        <p:nvSpPr>
          <p:cNvPr id="10" name="Text 8"/>
          <p:cNvSpPr/>
          <p:nvPr/>
        </p:nvSpPr>
        <p:spPr>
          <a:xfrm>
            <a:off x="822960" y="2103120"/>
            <a:ext cx="4800600" cy="367588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An xApp is a near-real-time control application associated with the Near-RT RIC.</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Our prototype does not deploy a real xApp yet.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It creates xApp-style payloads so the decision format is RIC-ready.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This links the research prototype to practical O-RAN control architecture.</a:t>
            </a:r>
            <a:endParaRPr lang="en-US" sz="1500" dirty="0"/>
          </a:p>
        </p:txBody>
      </p:sp>
      <p:sp>
        <p:nvSpPr>
          <p:cNvPr id="11" name="Shape 9"/>
          <p:cNvSpPr/>
          <p:nvPr/>
        </p:nvSpPr>
        <p:spPr>
          <a:xfrm>
            <a:off x="6144768" y="1664208"/>
            <a:ext cx="5257800" cy="4206240"/>
          </a:xfrm>
          <a:prstGeom prst="rect">
            <a:avLst/>
          </a:prstGeom>
          <a:solidFill>
            <a:srgbClr val="111827"/>
          </a:solidFill>
          <a:ln w="12700">
            <a:solidFill>
              <a:srgbClr val="374151"/>
            </a:solidFill>
            <a:prstDash val="solid"/>
          </a:ln>
        </p:spPr>
        <p:txBody>
          <a:bodyPr/>
          <a:lstStyle/>
          <a:p>
            <a:endParaRPr lang="en-IN"/>
          </a:p>
        </p:txBody>
      </p:sp>
      <p:sp>
        <p:nvSpPr>
          <p:cNvPr id="12" name="Text 10"/>
          <p:cNvSpPr/>
          <p:nvPr/>
        </p:nvSpPr>
        <p:spPr>
          <a:xfrm>
            <a:off x="6272784" y="1773936"/>
            <a:ext cx="5001768" cy="398678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xapp_proposal:</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action_type: traffic_steering</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target_cell: cell_001</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target_slice: URLLC</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reason: interference + congestion</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priority: high</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expected_effect: reduce latency and packet loss</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risk: medium</a:t>
            </a:r>
            <a:endParaRPr lang="en-US" sz="1500" dirty="0"/>
          </a:p>
        </p:txBody>
      </p:sp>
      <p:sp>
        <p:nvSpPr>
          <p:cNvPr id="13" name="Text 1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XAPP CONFLICT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xApp conflict check</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A healing action can be technically valid but unsafe if it conflicts with another action.</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292608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813816" y="1773936"/>
            <a:ext cx="4818888" cy="270662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Conflict example:</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Action A:</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move URLLC users from cell_001 to cell_002</a:t>
            </a:r>
            <a:endParaRPr lang="en-US" sz="1500" dirty="0"/>
          </a:p>
          <a:p>
            <a:pPr marL="0" indent="0" algn="l">
              <a:buNone/>
            </a:pP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Action B:</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reduce load on cell_002</a:t>
            </a:r>
            <a:endParaRPr lang="en-US" sz="1500" dirty="0"/>
          </a:p>
          <a:p>
            <a:pPr marL="0" indent="0" algn="l">
              <a:buNone/>
            </a:pP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Conflict:</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Both actions fight each other.</a:t>
            </a:r>
            <a:endParaRPr lang="en-US" sz="1500" dirty="0"/>
          </a:p>
        </p:txBody>
      </p:sp>
      <p:sp>
        <p:nvSpPr>
          <p:cNvPr id="9" name="Shape 7"/>
          <p:cNvSpPr/>
          <p:nvPr/>
        </p:nvSpPr>
        <p:spPr>
          <a:xfrm>
            <a:off x="6144768" y="1664208"/>
            <a:ext cx="5166360" cy="2926080"/>
          </a:xfrm>
          <a:prstGeom prst="rect">
            <a:avLst/>
          </a:prstGeom>
          <a:solidFill>
            <a:srgbClr val="F8FAFC"/>
          </a:solidFill>
          <a:ln w="10160">
            <a:solidFill>
              <a:srgbClr val="CBD5E1"/>
            </a:solidFill>
            <a:prstDash val="solid"/>
          </a:ln>
        </p:spPr>
        <p:txBody>
          <a:bodyPr/>
          <a:lstStyle/>
          <a:p>
            <a:endParaRPr lang="en-IN"/>
          </a:p>
        </p:txBody>
      </p:sp>
      <p:sp>
        <p:nvSpPr>
          <p:cNvPr id="10" name="Shape 8"/>
          <p:cNvSpPr/>
          <p:nvPr/>
        </p:nvSpPr>
        <p:spPr>
          <a:xfrm>
            <a:off x="6144768" y="1664208"/>
            <a:ext cx="5166360" cy="310896"/>
          </a:xfrm>
          <a:prstGeom prst="rect">
            <a:avLst/>
          </a:prstGeom>
          <a:solidFill>
            <a:srgbClr val="B91C1C"/>
          </a:solidFill>
          <a:ln w="12700">
            <a:solidFill>
              <a:srgbClr val="B91C1C"/>
            </a:solidFill>
            <a:prstDash val="solid"/>
          </a:ln>
        </p:spPr>
        <p:txBody>
          <a:bodyPr/>
          <a:lstStyle/>
          <a:p>
            <a:endParaRPr lang="en-IN"/>
          </a:p>
        </p:txBody>
      </p:sp>
      <p:sp>
        <p:nvSpPr>
          <p:cNvPr id="11" name="Text 9"/>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The system checks</a:t>
            </a:r>
            <a:endParaRPr lang="en-US" sz="1050" dirty="0"/>
          </a:p>
        </p:txBody>
      </p:sp>
      <p:sp>
        <p:nvSpPr>
          <p:cNvPr id="12" name="Text 10"/>
          <p:cNvSpPr/>
          <p:nvPr/>
        </p:nvSpPr>
        <p:spPr>
          <a:xfrm>
            <a:off x="6281928" y="2103120"/>
            <a:ext cx="4892040" cy="23957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Does this action conflict with another action?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Does it harm a higher-priority service?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Does it cause oscillation?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Does it overload another cell?</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Should it be blocked, modified, or escalated?</a:t>
            </a:r>
            <a:endParaRPr lang="en-US" sz="1500" dirty="0"/>
          </a:p>
        </p:txBody>
      </p:sp>
      <p:sp>
        <p:nvSpPr>
          <p:cNvPr id="13" name="Text 11"/>
          <p:cNvSpPr/>
          <p:nvPr/>
        </p:nvSpPr>
        <p:spPr>
          <a:xfrm>
            <a:off x="868680" y="5285232"/>
            <a:ext cx="10424160" cy="365760"/>
          </a:xfrm>
          <a:prstGeom prst="rect">
            <a:avLst/>
          </a:prstGeom>
          <a:noFill/>
          <a:ln/>
        </p:spPr>
        <p:txBody>
          <a:bodyPr wrap="square" lIns="635" tIns="635" rIns="635" bIns="635" rtlCol="0" anchor="t">
            <a:normAutofit/>
          </a:bodyPr>
          <a:lstStyle/>
          <a:p>
            <a:pPr marL="0" indent="0" algn="ctr">
              <a:buNone/>
            </a:pPr>
            <a:r>
              <a:rPr lang="en-US" sz="1750" b="1" dirty="0">
                <a:solidFill>
                  <a:srgbClr val="111827"/>
                </a:solidFill>
                <a:latin typeface="Aptos" pitchFamily="34" charset="0"/>
                <a:ea typeface="Aptos" pitchFamily="34" charset="-122"/>
                <a:cs typeface="Aptos" pitchFamily="34" charset="-120"/>
              </a:rPr>
              <a:t>This is why guarded automation is safer than simply executing every baseline recommendation.</a:t>
            </a:r>
            <a:endParaRPr lang="en-US" sz="1750" dirty="0"/>
          </a:p>
        </p:txBody>
      </p:sp>
      <p:sp>
        <p:nvSpPr>
          <p:cNvPr id="14" name="Text 12"/>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AML GUARD</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Adversarial Machine Learning guard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AML guard prevents the system from trusting suspicious telemetry or model input.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52044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Suspicious cases</a:t>
            </a:r>
            <a:endParaRPr lang="en-US" sz="1050" dirty="0"/>
          </a:p>
        </p:txBody>
      </p:sp>
      <p:sp>
        <p:nvSpPr>
          <p:cNvPr id="10" name="Text 8"/>
          <p:cNvSpPr/>
          <p:nvPr/>
        </p:nvSpPr>
        <p:spPr>
          <a:xfrm>
            <a:off x="822960" y="2103120"/>
            <a:ext cx="4800600" cy="299008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Sudden impossible KPI jump.</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Telemetry inconsistency.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Attack flag present.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Model confidence too low.</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Input pattern does not match physical reality.</a:t>
            </a:r>
            <a:endParaRPr lang="en-US" sz="1500" dirty="0"/>
          </a:p>
        </p:txBody>
      </p:sp>
      <p:sp>
        <p:nvSpPr>
          <p:cNvPr id="11" name="Shape 9"/>
          <p:cNvSpPr/>
          <p:nvPr/>
        </p:nvSpPr>
        <p:spPr>
          <a:xfrm>
            <a:off x="6144768" y="1664208"/>
            <a:ext cx="5166360" cy="3520440"/>
          </a:xfrm>
          <a:prstGeom prst="rect">
            <a:avLst/>
          </a:prstGeom>
          <a:solidFill>
            <a:srgbClr val="111827"/>
          </a:solidFill>
          <a:ln w="12700">
            <a:solidFill>
              <a:srgbClr val="374151"/>
            </a:solidFill>
            <a:prstDash val="solid"/>
          </a:ln>
        </p:spPr>
        <p:txBody>
          <a:bodyPr/>
          <a:lstStyle/>
          <a:p>
            <a:endParaRPr lang="en-IN"/>
          </a:p>
        </p:txBody>
      </p:sp>
      <p:sp>
        <p:nvSpPr>
          <p:cNvPr id="12" name="Text 10"/>
          <p:cNvSpPr/>
          <p:nvPr/>
        </p:nvSpPr>
        <p:spPr>
          <a:xfrm>
            <a:off x="6272784" y="1773936"/>
            <a:ext cx="4910328" cy="3300984"/>
          </a:xfrm>
          <a:prstGeom prst="rect">
            <a:avLst/>
          </a:prstGeom>
          <a:noFill/>
          <a:ln/>
        </p:spPr>
        <p:txBody>
          <a:bodyPr wrap="square" lIns="0" tIns="0" rIns="0" bIns="0" rtlCol="0" anchor="t">
            <a:normAutofit/>
          </a:bodyPr>
          <a:lstStyle/>
          <a:p>
            <a:pPr marL="0" indent="0" algn="l">
              <a:buNone/>
            </a:pPr>
            <a:r>
              <a:rPr lang="en-US" sz="1500" dirty="0">
                <a:solidFill>
                  <a:srgbClr val="F9FAFB"/>
                </a:solidFill>
                <a:latin typeface="Consolas" pitchFamily="34" charset="0"/>
                <a:ea typeface="Consolas" pitchFamily="34" charset="-122"/>
                <a:cs typeface="Consolas" pitchFamily="34" charset="-120"/>
              </a:rPr>
              <a:t>Example:</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SINR jumps from 5 dB to 40 dB in one second,</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but throughput remains zero.</a:t>
            </a:r>
            <a:endParaRPr lang="en-US" sz="1500" dirty="0"/>
          </a:p>
          <a:p>
            <a:pPr marL="0" indent="0" algn="l">
              <a:buNone/>
            </a:pP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Possible result:</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automation_allowed = false</a:t>
            </a:r>
            <a:endParaRPr lang="en-US" sz="1500" dirty="0"/>
          </a:p>
          <a:p>
            <a:pPr marL="0" indent="0" algn="l">
              <a:buNone/>
            </a:pPr>
            <a:r>
              <a:rPr lang="en-US" sz="1500" dirty="0">
                <a:solidFill>
                  <a:srgbClr val="F9FAFB"/>
                </a:solidFill>
                <a:latin typeface="Consolas" pitchFamily="34" charset="0"/>
                <a:ea typeface="Consolas" pitchFamily="34" charset="-122"/>
                <a:cs typeface="Consolas" pitchFamily="34" charset="-120"/>
              </a:rPr>
              <a:t>reason = suspicious telemetry</a:t>
            </a:r>
            <a:endParaRPr lang="en-US" sz="1500" dirty="0"/>
          </a:p>
        </p:txBody>
      </p:sp>
      <p:sp>
        <p:nvSpPr>
          <p:cNvPr id="13" name="Text 11"/>
          <p:cNvSpPr/>
          <p:nvPr/>
        </p:nvSpPr>
        <p:spPr>
          <a:xfrm>
            <a:off x="1143000" y="557784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B91C1C"/>
                </a:solidFill>
                <a:latin typeface="Aptos Display" pitchFamily="34" charset="0"/>
                <a:ea typeface="Aptos Display" pitchFamily="34" charset="-122"/>
                <a:cs typeface="Aptos Display" pitchFamily="34" charset="-120"/>
              </a:rPr>
              <a:t>1.0</a:t>
            </a:r>
            <a:endParaRPr lang="en-US" sz="2200" dirty="0"/>
          </a:p>
        </p:txBody>
      </p:sp>
      <p:sp>
        <p:nvSpPr>
          <p:cNvPr id="14" name="Text 12"/>
          <p:cNvSpPr/>
          <p:nvPr/>
        </p:nvSpPr>
        <p:spPr>
          <a:xfrm>
            <a:off x="1143000" y="597103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verified AML attack guard rate</a:t>
            </a:r>
            <a:endParaRPr lang="en-US" sz="105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DRIFT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Drift and model lifecycle check</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Drift means the current data/model behavior no longer matches expected conditions.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5661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C2410C"/>
          </a:solidFill>
          <a:ln w="12700">
            <a:solidFill>
              <a:srgbClr val="C2410C"/>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drift means</a:t>
            </a:r>
            <a:endParaRPr lang="en-US" sz="1050" dirty="0"/>
          </a:p>
        </p:txBody>
      </p:sp>
      <p:sp>
        <p:nvSpPr>
          <p:cNvPr id="10" name="Text 8"/>
          <p:cNvSpPr/>
          <p:nvPr/>
        </p:nvSpPr>
        <p:spPr>
          <a:xfrm>
            <a:off x="822960" y="2103120"/>
            <a:ext cx="4800600" cy="30358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KPI distribution changes over time.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Model assumptions become less reliable.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Normal network behavior changes after load, mobility, spectrum, or policy changes.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 model that worked before may become unsafe later.</a:t>
            </a:r>
            <a:endParaRPr lang="en-US" sz="1500" dirty="0"/>
          </a:p>
        </p:txBody>
      </p:sp>
      <p:sp>
        <p:nvSpPr>
          <p:cNvPr id="11" name="Shape 9"/>
          <p:cNvSpPr/>
          <p:nvPr/>
        </p:nvSpPr>
        <p:spPr>
          <a:xfrm>
            <a:off x="6144768" y="1664208"/>
            <a:ext cx="5166360" cy="356616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44768" y="1664208"/>
            <a:ext cx="516636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Our lifecycle structure</a:t>
            </a:r>
            <a:endParaRPr lang="en-US" sz="1050" dirty="0"/>
          </a:p>
        </p:txBody>
      </p:sp>
      <p:sp>
        <p:nvSpPr>
          <p:cNvPr id="14" name="Text 12"/>
          <p:cNvSpPr/>
          <p:nvPr/>
        </p:nvSpPr>
        <p:spPr>
          <a:xfrm>
            <a:off x="6281928" y="2103120"/>
            <a:ext cx="4892040" cy="30358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Model registry concept.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Versioning.</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Rollback structure.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Confidence-aware automation.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Future support for trained model benchmarking.</a:t>
            </a:r>
            <a:endParaRPr lang="en-US" sz="1500" dirty="0"/>
          </a:p>
        </p:txBody>
      </p:sp>
      <p:sp>
        <p:nvSpPr>
          <p:cNvPr id="15" name="Text 13"/>
          <p:cNvSpPr/>
          <p:nvPr/>
        </p:nvSpPr>
        <p:spPr>
          <a:xfrm>
            <a:off x="868680" y="5577840"/>
            <a:ext cx="10424160" cy="320040"/>
          </a:xfrm>
          <a:prstGeom prst="rect">
            <a:avLst/>
          </a:prstGeom>
          <a:noFill/>
          <a:ln/>
        </p:spPr>
        <p:txBody>
          <a:bodyPr wrap="square" lIns="635" tIns="635" rIns="635" bIns="635" rtlCol="0" anchor="t">
            <a:normAutofit/>
          </a:bodyPr>
          <a:lstStyle/>
          <a:p>
            <a:pPr marL="0" indent="0" algn="ctr">
              <a:buNone/>
            </a:pPr>
            <a:r>
              <a:rPr lang="en-US" sz="1700" b="1" dirty="0">
                <a:solidFill>
                  <a:srgbClr val="111827"/>
                </a:solidFill>
                <a:latin typeface="Aptos" pitchFamily="34" charset="0"/>
                <a:ea typeface="Aptos" pitchFamily="34" charset="-122"/>
                <a:cs typeface="Aptos" pitchFamily="34" charset="-120"/>
              </a:rPr>
              <a:t>If drift is high, the decision becomes more conservative: Monitor or Human Approval instead of Allow.</a:t>
            </a:r>
            <a:endParaRPr lang="en-US" sz="1700" dirty="0"/>
          </a:p>
        </p:txBody>
      </p:sp>
      <p:sp>
        <p:nvSpPr>
          <p:cNvPr id="16" name="Text 14"/>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SLA IMPACT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Slice and SLA impact check</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system checks whether a healing action helps one service but damages another.</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01752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Safe tradeoff example</a:t>
            </a:r>
            <a:endParaRPr lang="en-US" sz="1050" dirty="0"/>
          </a:p>
        </p:txBody>
      </p:sp>
      <p:sp>
        <p:nvSpPr>
          <p:cNvPr id="10" name="Text 8"/>
          <p:cNvSpPr/>
          <p:nvPr/>
        </p:nvSpPr>
        <p:spPr>
          <a:xfrm>
            <a:off x="822960" y="2103120"/>
            <a:ext cx="4800600" cy="2487168"/>
          </a:xfrm>
          <a:prstGeom prst="rect">
            <a:avLst/>
          </a:prstGeom>
          <a:noFill/>
          <a:ln/>
        </p:spPr>
        <p:txBody>
          <a:bodyPr wrap="square" lIns="254" tIns="254" rIns="254" bIns="254" rtlCol="0" anchor="t">
            <a:normAutofit/>
          </a:bodyPr>
          <a:lstStyle/>
          <a:p>
            <a:pPr marL="0" indent="0" algn="l">
              <a:buNone/>
            </a:pPr>
            <a:r>
              <a:rPr lang="en-US" sz="1600" dirty="0">
                <a:solidFill>
                  <a:srgbClr val="111827"/>
                </a:solidFill>
                <a:latin typeface="Aptos" pitchFamily="34" charset="0"/>
                <a:ea typeface="Aptos" pitchFamily="34" charset="-122"/>
                <a:cs typeface="Aptos" pitchFamily="34" charset="-120"/>
              </a:rPr>
              <a:t>Move non-critical eMBB traffic away to protect a critical URLLC slice. This may be acceptable if eMBB still remains inside SLA limits.</a:t>
            </a:r>
            <a:endParaRPr lang="en-US" sz="1600" dirty="0"/>
          </a:p>
        </p:txBody>
      </p:sp>
      <p:sp>
        <p:nvSpPr>
          <p:cNvPr id="11" name="Shape 9"/>
          <p:cNvSpPr/>
          <p:nvPr/>
        </p:nvSpPr>
        <p:spPr>
          <a:xfrm>
            <a:off x="6144768" y="1664208"/>
            <a:ext cx="5166360" cy="301752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44768" y="1664208"/>
            <a:ext cx="516636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Unsafe tradeoff example</a:t>
            </a:r>
            <a:endParaRPr lang="en-US" sz="1050" dirty="0"/>
          </a:p>
        </p:txBody>
      </p:sp>
      <p:sp>
        <p:nvSpPr>
          <p:cNvPr id="14" name="Text 12"/>
          <p:cNvSpPr/>
          <p:nvPr/>
        </p:nvSpPr>
        <p:spPr>
          <a:xfrm>
            <a:off x="6281928" y="2103120"/>
            <a:ext cx="4892040" cy="2487168"/>
          </a:xfrm>
          <a:prstGeom prst="rect">
            <a:avLst/>
          </a:prstGeom>
          <a:noFill/>
          <a:ln/>
        </p:spPr>
        <p:txBody>
          <a:bodyPr wrap="square" lIns="254" tIns="254" rIns="254" bIns="254" rtlCol="0" anchor="t">
            <a:normAutofit/>
          </a:bodyPr>
          <a:lstStyle/>
          <a:p>
            <a:pPr marL="0" indent="0" algn="l">
              <a:buNone/>
            </a:pPr>
            <a:r>
              <a:rPr lang="en-US" sz="1600" dirty="0">
                <a:solidFill>
                  <a:srgbClr val="111827"/>
                </a:solidFill>
                <a:latin typeface="Aptos" pitchFamily="34" charset="0"/>
                <a:ea typeface="Aptos" pitchFamily="34" charset="-122"/>
                <a:cs typeface="Aptos" pitchFamily="34" charset="-120"/>
              </a:rPr>
              <a:t>Move URLLC traffic into an already congested cell. This may reduce one local issue but create a worse critical-slice violation.</a:t>
            </a:r>
            <a:endParaRPr lang="en-US" sz="1600" dirty="0"/>
          </a:p>
        </p:txBody>
      </p:sp>
      <p:sp>
        <p:nvSpPr>
          <p:cNvPr id="15" name="Shape 13"/>
          <p:cNvSpPr/>
          <p:nvPr/>
        </p:nvSpPr>
        <p:spPr>
          <a:xfrm>
            <a:off x="960120" y="5120640"/>
            <a:ext cx="10149840" cy="640080"/>
          </a:xfrm>
          <a:prstGeom prst="rect">
            <a:avLst/>
          </a:prstGeom>
          <a:solidFill>
            <a:srgbClr val="111827"/>
          </a:solidFill>
          <a:ln w="12700">
            <a:solidFill>
              <a:srgbClr val="374151"/>
            </a:solidFill>
            <a:prstDash val="solid"/>
          </a:ln>
        </p:spPr>
        <p:txBody>
          <a:bodyPr/>
          <a:lstStyle/>
          <a:p>
            <a:endParaRPr lang="en-IN"/>
          </a:p>
        </p:txBody>
      </p:sp>
      <p:sp>
        <p:nvSpPr>
          <p:cNvPr id="16" name="Text 14"/>
          <p:cNvSpPr/>
          <p:nvPr/>
        </p:nvSpPr>
        <p:spPr>
          <a:xfrm>
            <a:off x="1088136" y="5230368"/>
            <a:ext cx="9893808" cy="420624"/>
          </a:xfrm>
          <a:prstGeom prst="rect">
            <a:avLst/>
          </a:prstGeom>
          <a:noFill/>
          <a:ln/>
        </p:spPr>
        <p:txBody>
          <a:bodyPr wrap="square" lIns="0" tIns="0" rIns="0" bIns="0" rtlCol="0" anchor="t">
            <a:normAutofit/>
          </a:bodyPr>
          <a:lstStyle/>
          <a:p>
            <a:pPr marL="0" indent="0" algn="l">
              <a:buNone/>
            </a:pPr>
            <a:r>
              <a:rPr lang="en-US" sz="1600" dirty="0">
                <a:solidFill>
                  <a:srgbClr val="F9FAFB"/>
                </a:solidFill>
                <a:latin typeface="Consolas" pitchFamily="34" charset="0"/>
                <a:ea typeface="Consolas" pitchFamily="34" charset="-122"/>
                <a:cs typeface="Consolas" pitchFamily="34" charset="-120"/>
              </a:rPr>
              <a:t>Decision principle: healing is not allowed if it fixes one symptom while creating a higher-priority SLA violation.</a:t>
            </a:r>
            <a:endParaRPr lang="en-US" sz="1600" dirty="0"/>
          </a:p>
        </p:txBody>
      </p:sp>
      <p:sp>
        <p:nvSpPr>
          <p:cNvPr id="17" name="Text 15"/>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TIMING AND SPECTRUM</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Timing/PTP and Spectrum/DSA checks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These checks connect the workflow to O-RAN radio behavior and PHY-related risk.</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93192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6D28D9"/>
          </a:solidFill>
          <a:ln w="12700">
            <a:solidFill>
              <a:srgbClr val="6D28D9"/>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Timing / PTP security</a:t>
            </a:r>
            <a:endParaRPr lang="en-US" sz="1050" dirty="0"/>
          </a:p>
        </p:txBody>
      </p:sp>
      <p:sp>
        <p:nvSpPr>
          <p:cNvPr id="10" name="Text 8"/>
          <p:cNvSpPr/>
          <p:nvPr/>
        </p:nvSpPr>
        <p:spPr>
          <a:xfrm>
            <a:off x="822960" y="2103120"/>
            <a:ext cx="4800600" cy="340156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PTP means Precision Time Protocol.</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Timing synchronization is critical for RAN coordination.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High timing offset or unstable sync makes automation risky.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system may Block or require Human Approval.</a:t>
            </a:r>
            <a:endParaRPr lang="en-US" sz="1500" dirty="0"/>
          </a:p>
        </p:txBody>
      </p:sp>
      <p:sp>
        <p:nvSpPr>
          <p:cNvPr id="11" name="Shape 9"/>
          <p:cNvSpPr/>
          <p:nvPr/>
        </p:nvSpPr>
        <p:spPr>
          <a:xfrm>
            <a:off x="6144768" y="1664208"/>
            <a:ext cx="5166360" cy="393192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44768" y="1664208"/>
            <a:ext cx="5166360" cy="310896"/>
          </a:xfrm>
          <a:prstGeom prst="rect">
            <a:avLst/>
          </a:prstGeom>
          <a:solidFill>
            <a:srgbClr val="C2410C"/>
          </a:solidFill>
          <a:ln w="12700">
            <a:solidFill>
              <a:srgbClr val="C2410C"/>
            </a:solidFill>
            <a:prstDash val="solid"/>
          </a:ln>
        </p:spPr>
        <p:txBody>
          <a:bodyPr/>
          <a:lstStyle/>
          <a:p>
            <a:endParaRPr lang="en-IN"/>
          </a:p>
        </p:txBody>
      </p:sp>
      <p:sp>
        <p:nvSpPr>
          <p:cNvPr id="13" name="Text 11"/>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Spectrum / DSA check</a:t>
            </a:r>
            <a:endParaRPr lang="en-US" sz="1050" dirty="0"/>
          </a:p>
        </p:txBody>
      </p:sp>
      <p:sp>
        <p:nvSpPr>
          <p:cNvPr id="14" name="Text 12"/>
          <p:cNvSpPr/>
          <p:nvPr/>
        </p:nvSpPr>
        <p:spPr>
          <a:xfrm>
            <a:off x="6281928" y="2103120"/>
            <a:ext cx="4892040" cy="340156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DSA means Dynamic Spectrum Access.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system checks interference, channel stress, and spectrum risk.</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Low SINR or high interference can trigger spectrum-aware healing.</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system can recommend reassignment, monitoring, or escalation.</a:t>
            </a:r>
            <a:endParaRPr lang="en-US" sz="150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ZSM AND DTN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ZSM/SMO policy and DTN readiness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Policy and twin confidence decide whether automation is allowed.</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64208"/>
            <a:ext cx="5074920" cy="388620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64208"/>
            <a:ext cx="507492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795528" y="1737360"/>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ZSM / SMO policy</a:t>
            </a:r>
            <a:endParaRPr lang="en-US" sz="1050" dirty="0"/>
          </a:p>
        </p:txBody>
      </p:sp>
      <p:sp>
        <p:nvSpPr>
          <p:cNvPr id="10" name="Text 8"/>
          <p:cNvSpPr/>
          <p:nvPr/>
        </p:nvSpPr>
        <p:spPr>
          <a:xfrm>
            <a:off x="822960" y="2103120"/>
            <a:ext cx="4800600" cy="33558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ZSM means Zero-touch Service Management.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SMO means Service Management and Orchestration.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Policy controls what the system is allowed to automate.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Critical slices may require approval.</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Low-risk optimizations may be allowed.</a:t>
            </a:r>
            <a:endParaRPr lang="en-US" sz="1500" dirty="0"/>
          </a:p>
        </p:txBody>
      </p:sp>
      <p:sp>
        <p:nvSpPr>
          <p:cNvPr id="11" name="Shape 9"/>
          <p:cNvSpPr/>
          <p:nvPr/>
        </p:nvSpPr>
        <p:spPr>
          <a:xfrm>
            <a:off x="6144768" y="1664208"/>
            <a:ext cx="5166360" cy="388620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144768" y="1664208"/>
            <a:ext cx="516636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254496" y="1737360"/>
            <a:ext cx="49469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DTN readiness</a:t>
            </a:r>
            <a:endParaRPr lang="en-US" sz="1050" dirty="0"/>
          </a:p>
        </p:txBody>
      </p:sp>
      <p:sp>
        <p:nvSpPr>
          <p:cNvPr id="14" name="Text 12"/>
          <p:cNvSpPr/>
          <p:nvPr/>
        </p:nvSpPr>
        <p:spPr>
          <a:xfrm>
            <a:off x="6281928" y="2103120"/>
            <a:ext cx="4892040" cy="33558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DTN means Digital Twin Network.</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twin must be fresh, complete, and confident.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Required KPIs must be present.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If the twin is stale or incomplete, automation should not run.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Readiness is part of the safety score.</a:t>
            </a:r>
            <a:endParaRPr lang="en-US" sz="150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SAFETY SCORE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Automation safety score</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final score combines confidence, policy, and risk gates.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27632"/>
            <a:ext cx="5486400" cy="448056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768096" y="1737360"/>
            <a:ext cx="5230368" cy="4261104"/>
          </a:xfrm>
          <a:prstGeom prst="rect">
            <a:avLst/>
          </a:prstGeom>
          <a:noFill/>
          <a:ln/>
        </p:spPr>
        <p:txBody>
          <a:bodyPr wrap="square" lIns="0" tIns="0" rIns="0" bIns="0" rtlCol="0" anchor="t">
            <a:normAutofit/>
          </a:bodyPr>
          <a:lstStyle/>
          <a:p>
            <a:pPr marL="0" indent="0" algn="l">
              <a:buNone/>
            </a:pPr>
            <a:r>
              <a:rPr lang="en-US" sz="1360" dirty="0">
                <a:solidFill>
                  <a:srgbClr val="F9FAFB"/>
                </a:solidFill>
                <a:latin typeface="Consolas" pitchFamily="34" charset="0"/>
                <a:ea typeface="Consolas" pitchFamily="34" charset="-122"/>
                <a:cs typeface="Consolas" pitchFamily="34" charset="-120"/>
              </a:rPr>
              <a:t>Inputs:</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rca_confidence = 0.91</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sla_risk = high</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xapp_conflict = false</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aml_risk = low</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drift_risk = medium</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timing_risk = low</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policy_allowed = true</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dtn_ready = true</a:t>
            </a:r>
            <a:endParaRPr lang="en-US" sz="1360" dirty="0"/>
          </a:p>
          <a:p>
            <a:pPr marL="0" indent="0" algn="l">
              <a:buNone/>
            </a:pP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Conceptual score:</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safety_score =</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RCA confidence</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policy allowance</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DTN readiness</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AML risk</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drift risk</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xApp conflict risk</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timing risk</a:t>
            </a:r>
            <a:endParaRPr lang="en-US" sz="1360" dirty="0"/>
          </a:p>
          <a:p>
            <a:pPr marL="0" indent="0" algn="l">
              <a:buNone/>
            </a:pPr>
            <a:r>
              <a:rPr lang="en-US" sz="1360" dirty="0">
                <a:solidFill>
                  <a:srgbClr val="F9FAFB"/>
                </a:solidFill>
                <a:latin typeface="Consolas" pitchFamily="34" charset="0"/>
                <a:ea typeface="Consolas" pitchFamily="34" charset="-122"/>
                <a:cs typeface="Consolas" pitchFamily="34" charset="-120"/>
              </a:rPr>
              <a:t>- SLA harm risk</a:t>
            </a:r>
            <a:endParaRPr lang="en-US" sz="1360" dirty="0"/>
          </a:p>
        </p:txBody>
      </p:sp>
      <p:sp>
        <p:nvSpPr>
          <p:cNvPr id="9" name="Shape 7"/>
          <p:cNvSpPr/>
          <p:nvPr/>
        </p:nvSpPr>
        <p:spPr>
          <a:xfrm>
            <a:off x="6400800" y="1627632"/>
            <a:ext cx="4800600" cy="4480560"/>
          </a:xfrm>
          <a:prstGeom prst="rect">
            <a:avLst/>
          </a:prstGeom>
          <a:solidFill>
            <a:srgbClr val="F8FAFC"/>
          </a:solidFill>
          <a:ln w="10160">
            <a:solidFill>
              <a:srgbClr val="CBD5E1"/>
            </a:solidFill>
            <a:prstDash val="solid"/>
          </a:ln>
        </p:spPr>
        <p:txBody>
          <a:bodyPr/>
          <a:lstStyle/>
          <a:p>
            <a:endParaRPr lang="en-IN"/>
          </a:p>
        </p:txBody>
      </p:sp>
      <p:sp>
        <p:nvSpPr>
          <p:cNvPr id="10" name="Shape 8"/>
          <p:cNvSpPr/>
          <p:nvPr/>
        </p:nvSpPr>
        <p:spPr>
          <a:xfrm>
            <a:off x="6400800" y="1627632"/>
            <a:ext cx="4800600" cy="310896"/>
          </a:xfrm>
          <a:prstGeom prst="rect">
            <a:avLst/>
          </a:prstGeom>
          <a:solidFill>
            <a:srgbClr val="B91C1C"/>
          </a:solidFill>
          <a:ln w="12700">
            <a:solidFill>
              <a:srgbClr val="B91C1C"/>
            </a:solidFill>
            <a:prstDash val="solid"/>
          </a:ln>
        </p:spPr>
        <p:txBody>
          <a:bodyPr/>
          <a:lstStyle/>
          <a:p>
            <a:endParaRPr lang="en-IN"/>
          </a:p>
        </p:txBody>
      </p:sp>
      <p:sp>
        <p:nvSpPr>
          <p:cNvPr id="11" name="Text 9"/>
          <p:cNvSpPr/>
          <p:nvPr/>
        </p:nvSpPr>
        <p:spPr>
          <a:xfrm>
            <a:off x="6510528" y="1700784"/>
            <a:ext cx="45811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Decision bands</a:t>
            </a:r>
            <a:endParaRPr lang="en-US" sz="1050" dirty="0"/>
          </a:p>
        </p:txBody>
      </p:sp>
      <p:sp>
        <p:nvSpPr>
          <p:cNvPr id="12" name="Text 10"/>
          <p:cNvSpPr/>
          <p:nvPr/>
        </p:nvSpPr>
        <p:spPr>
          <a:xfrm>
            <a:off x="6537960" y="2066544"/>
            <a:ext cx="4526280" cy="3950208"/>
          </a:xfrm>
          <a:prstGeom prst="rect">
            <a:avLst/>
          </a:prstGeom>
          <a:noFill/>
          <a:ln/>
        </p:spPr>
        <p:txBody>
          <a:bodyPr wrap="square" lIns="254" tIns="254" rIns="254" bIns="254" rtlCol="0" anchor="t">
            <a:normAutofit/>
          </a:bodyPr>
          <a:lstStyle/>
          <a:p>
            <a:pPr marL="0" indent="0" algn="l">
              <a:buNone/>
            </a:pPr>
            <a:r>
              <a:rPr lang="en-US" sz="1600" dirty="0">
                <a:solidFill>
                  <a:srgbClr val="111827"/>
                </a:solidFill>
                <a:latin typeface="Aptos" pitchFamily="34" charset="0"/>
                <a:ea typeface="Aptos" pitchFamily="34" charset="-122"/>
                <a:cs typeface="Aptos" pitchFamily="34" charset="-120"/>
              </a:rPr>
              <a:t>- score &gt;= 0.75 -&gt; Allow.</a:t>
            </a:r>
            <a:endParaRPr lang="en-US" sz="1600" dirty="0"/>
          </a:p>
          <a:p>
            <a:pPr marL="0" indent="0" algn="l">
              <a:buNone/>
            </a:pPr>
            <a:r>
              <a:rPr lang="en-US" sz="1600" dirty="0">
                <a:solidFill>
                  <a:srgbClr val="111827"/>
                </a:solidFill>
                <a:latin typeface="Aptos" pitchFamily="34" charset="0"/>
                <a:ea typeface="Aptos" pitchFamily="34" charset="-122"/>
                <a:cs typeface="Aptos" pitchFamily="34" charset="-120"/>
              </a:rPr>
              <a:t>- 0.50 to 0.75 -&gt; Monitor.</a:t>
            </a:r>
            <a:endParaRPr lang="en-US" sz="1600" dirty="0"/>
          </a:p>
          <a:p>
            <a:pPr marL="0" indent="0" algn="l">
              <a:buNone/>
            </a:pPr>
            <a:r>
              <a:rPr lang="en-US" sz="1600" dirty="0">
                <a:solidFill>
                  <a:srgbClr val="111827"/>
                </a:solidFill>
                <a:latin typeface="Aptos" pitchFamily="34" charset="0"/>
                <a:ea typeface="Aptos" pitchFamily="34" charset="-122"/>
                <a:cs typeface="Aptos" pitchFamily="34" charset="-120"/>
              </a:rPr>
              <a:t>- 0.30 to 0.50 -&gt; Human Approval.</a:t>
            </a:r>
            <a:endParaRPr lang="en-US" sz="1600" dirty="0"/>
          </a:p>
          <a:p>
            <a:pPr marL="0" indent="0" algn="l">
              <a:buNone/>
            </a:pPr>
            <a:r>
              <a:rPr lang="en-US" sz="1600" dirty="0">
                <a:solidFill>
                  <a:srgbClr val="111827"/>
                </a:solidFill>
                <a:latin typeface="Aptos" pitchFamily="34" charset="0"/>
                <a:ea typeface="Aptos" pitchFamily="34" charset="-122"/>
                <a:cs typeface="Aptos" pitchFamily="34" charset="-120"/>
              </a:rPr>
              <a:t>- score &lt; 0.30 -&gt; Block.</a:t>
            </a:r>
            <a:endParaRPr lang="en-US" sz="1600" dirty="0"/>
          </a:p>
          <a:p>
            <a:pPr marL="0" indent="0" algn="l">
              <a:buNone/>
            </a:pPr>
            <a:r>
              <a:rPr lang="en-US" sz="1600" dirty="0">
                <a:solidFill>
                  <a:srgbClr val="111827"/>
                </a:solidFill>
                <a:latin typeface="Aptos" pitchFamily="34" charset="0"/>
                <a:ea typeface="Aptos" pitchFamily="34" charset="-122"/>
                <a:cs typeface="Aptos" pitchFamily="34" charset="-120"/>
              </a:rPr>
              <a:t>- Critical slices and suspicious inputs make the system more conservative.</a:t>
            </a:r>
            <a:endParaRPr lang="en-US" sz="1600" dirty="0"/>
          </a:p>
        </p:txBody>
      </p:sp>
      <p:sp>
        <p:nvSpPr>
          <p:cNvPr id="13" name="Text 1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FINAL DECISION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Final decision classes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system does not blindly execute recommendations.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64208"/>
            <a:ext cx="2606040" cy="283464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40080" y="1664208"/>
            <a:ext cx="260604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749808" y="1737360"/>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ALLOW</a:t>
            </a:r>
            <a:endParaRPr lang="en-US" sz="1050" dirty="0"/>
          </a:p>
        </p:txBody>
      </p:sp>
      <p:sp>
        <p:nvSpPr>
          <p:cNvPr id="10" name="Text 8"/>
          <p:cNvSpPr/>
          <p:nvPr/>
        </p:nvSpPr>
        <p:spPr>
          <a:xfrm>
            <a:off x="777240" y="2103120"/>
            <a:ext cx="2331720" cy="23042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The action is safe enough to execute or prepare as a RIC/xApp-ready control output.</a:t>
            </a:r>
            <a:endParaRPr lang="en-US" sz="1580" dirty="0"/>
          </a:p>
        </p:txBody>
      </p:sp>
      <p:sp>
        <p:nvSpPr>
          <p:cNvPr id="11" name="Shape 9"/>
          <p:cNvSpPr/>
          <p:nvPr/>
        </p:nvSpPr>
        <p:spPr>
          <a:xfrm>
            <a:off x="3520440" y="1664208"/>
            <a:ext cx="2606040" cy="283464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520440" y="1664208"/>
            <a:ext cx="2606040" cy="310896"/>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3630168" y="1737360"/>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MONITOR</a:t>
            </a:r>
            <a:endParaRPr lang="en-US" sz="1050" dirty="0"/>
          </a:p>
        </p:txBody>
      </p:sp>
      <p:sp>
        <p:nvSpPr>
          <p:cNvPr id="14" name="Text 12"/>
          <p:cNvSpPr/>
          <p:nvPr/>
        </p:nvSpPr>
        <p:spPr>
          <a:xfrm>
            <a:off x="3657600" y="2103120"/>
            <a:ext cx="2331720" cy="23042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The system keeps observing because risk exists but immediate action is not necessary.</a:t>
            </a:r>
            <a:endParaRPr lang="en-US" sz="1580" dirty="0"/>
          </a:p>
        </p:txBody>
      </p:sp>
      <p:sp>
        <p:nvSpPr>
          <p:cNvPr id="15" name="Shape 13"/>
          <p:cNvSpPr/>
          <p:nvPr/>
        </p:nvSpPr>
        <p:spPr>
          <a:xfrm>
            <a:off x="6400800" y="1664208"/>
            <a:ext cx="2606040" cy="283464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00800" y="1664208"/>
            <a:ext cx="2606040" cy="310896"/>
          </a:xfrm>
          <a:prstGeom prst="rect">
            <a:avLst/>
          </a:prstGeom>
          <a:solidFill>
            <a:srgbClr val="B91C1C"/>
          </a:solidFill>
          <a:ln w="12700">
            <a:solidFill>
              <a:srgbClr val="B91C1C"/>
            </a:solidFill>
            <a:prstDash val="solid"/>
          </a:ln>
        </p:spPr>
        <p:txBody>
          <a:bodyPr/>
          <a:lstStyle/>
          <a:p>
            <a:endParaRPr lang="en-IN"/>
          </a:p>
        </p:txBody>
      </p:sp>
      <p:sp>
        <p:nvSpPr>
          <p:cNvPr id="17" name="Text 15"/>
          <p:cNvSpPr/>
          <p:nvPr/>
        </p:nvSpPr>
        <p:spPr>
          <a:xfrm>
            <a:off x="6510528" y="1737360"/>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BLOCK</a:t>
            </a:r>
            <a:endParaRPr lang="en-US" sz="1050" dirty="0"/>
          </a:p>
        </p:txBody>
      </p:sp>
      <p:sp>
        <p:nvSpPr>
          <p:cNvPr id="18" name="Text 16"/>
          <p:cNvSpPr/>
          <p:nvPr/>
        </p:nvSpPr>
        <p:spPr>
          <a:xfrm>
            <a:off x="6537960" y="2103120"/>
            <a:ext cx="2331720" cy="23042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The action is unsafe due to conflict, attack risk, policy violation, timing issue, or low confidence.</a:t>
            </a:r>
            <a:endParaRPr lang="en-US" sz="1580" dirty="0"/>
          </a:p>
        </p:txBody>
      </p:sp>
      <p:sp>
        <p:nvSpPr>
          <p:cNvPr id="19" name="Shape 17"/>
          <p:cNvSpPr/>
          <p:nvPr/>
        </p:nvSpPr>
        <p:spPr>
          <a:xfrm>
            <a:off x="9281160" y="1664208"/>
            <a:ext cx="2606040" cy="283464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9281160" y="1664208"/>
            <a:ext cx="2606040" cy="310896"/>
          </a:xfrm>
          <a:prstGeom prst="rect">
            <a:avLst/>
          </a:prstGeom>
          <a:solidFill>
            <a:srgbClr val="C2410C"/>
          </a:solidFill>
          <a:ln w="12700">
            <a:solidFill>
              <a:srgbClr val="C2410C"/>
            </a:solidFill>
            <a:prstDash val="solid"/>
          </a:ln>
        </p:spPr>
        <p:txBody>
          <a:bodyPr/>
          <a:lstStyle/>
          <a:p>
            <a:endParaRPr lang="en-IN"/>
          </a:p>
        </p:txBody>
      </p:sp>
      <p:sp>
        <p:nvSpPr>
          <p:cNvPr id="21" name="Text 19"/>
          <p:cNvSpPr/>
          <p:nvPr/>
        </p:nvSpPr>
        <p:spPr>
          <a:xfrm>
            <a:off x="9390888" y="1737360"/>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HUMAN APPROVAL</a:t>
            </a:r>
            <a:endParaRPr lang="en-US" sz="1050" dirty="0"/>
          </a:p>
        </p:txBody>
      </p:sp>
      <p:sp>
        <p:nvSpPr>
          <p:cNvPr id="22" name="Text 20"/>
          <p:cNvSpPr/>
          <p:nvPr/>
        </p:nvSpPr>
        <p:spPr>
          <a:xfrm>
            <a:off x="9418320" y="2103120"/>
            <a:ext cx="2331720" cy="23042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The action may be useful, but criticality or uncertainty requires operator review.</a:t>
            </a:r>
            <a:endParaRPr lang="en-US" sz="1580" dirty="0"/>
          </a:p>
        </p:txBody>
      </p:sp>
      <p:sp>
        <p:nvSpPr>
          <p:cNvPr id="23" name="Shape 21"/>
          <p:cNvSpPr/>
          <p:nvPr/>
        </p:nvSpPr>
        <p:spPr>
          <a:xfrm>
            <a:off x="1051560" y="5120640"/>
            <a:ext cx="10104120" cy="640080"/>
          </a:xfrm>
          <a:prstGeom prst="rect">
            <a:avLst/>
          </a:prstGeom>
          <a:solidFill>
            <a:srgbClr val="111827"/>
          </a:solidFill>
          <a:ln w="12700">
            <a:solidFill>
              <a:srgbClr val="374151"/>
            </a:solidFill>
            <a:prstDash val="solid"/>
          </a:ln>
        </p:spPr>
        <p:txBody>
          <a:bodyPr/>
          <a:lstStyle/>
          <a:p>
            <a:endParaRPr lang="en-IN"/>
          </a:p>
        </p:txBody>
      </p:sp>
      <p:sp>
        <p:nvSpPr>
          <p:cNvPr id="24" name="Text 22"/>
          <p:cNvSpPr/>
          <p:nvPr/>
        </p:nvSpPr>
        <p:spPr>
          <a:xfrm>
            <a:off x="1179576" y="5230368"/>
            <a:ext cx="9848088" cy="420624"/>
          </a:xfrm>
          <a:prstGeom prst="rect">
            <a:avLst/>
          </a:prstGeom>
          <a:noFill/>
          <a:ln/>
        </p:spPr>
        <p:txBody>
          <a:bodyPr wrap="square" lIns="0" tIns="0" rIns="0" bIns="0" rtlCol="0" anchor="t">
            <a:normAutofit/>
          </a:bodyPr>
          <a:lstStyle/>
          <a:p>
            <a:pPr marL="0" indent="0" algn="l">
              <a:buNone/>
            </a:pPr>
            <a:r>
              <a:rPr lang="en-US" sz="1600" dirty="0">
                <a:solidFill>
                  <a:srgbClr val="F9FAFB"/>
                </a:solidFill>
                <a:latin typeface="Consolas" pitchFamily="34" charset="0"/>
                <a:ea typeface="Consolas" pitchFamily="34" charset="-122"/>
                <a:cs typeface="Consolas" pitchFamily="34" charset="-120"/>
              </a:rPr>
              <a:t>Example: decision = HUMAN_APPROVAL | reason = critical URLLC slice + interference + medium drift risk</a:t>
            </a:r>
            <a:endParaRPr lang="en-US" sz="1600" dirty="0"/>
          </a:p>
        </p:txBody>
      </p:sp>
      <p:sp>
        <p:nvSpPr>
          <p:cNvPr id="25" name="Text 2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INCIDENT OUTPUT</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Output record produced by the workflow</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Every incident becomes traceable and reportable.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09344"/>
            <a:ext cx="5257800" cy="448056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813816" y="1719072"/>
            <a:ext cx="5001768" cy="4261104"/>
          </a:xfrm>
          <a:prstGeom prst="rect">
            <a:avLst/>
          </a:prstGeom>
          <a:noFill/>
          <a:ln/>
        </p:spPr>
        <p:txBody>
          <a:bodyPr wrap="square" lIns="0" tIns="0" rIns="0" bIns="0" rtlCol="0" anchor="t">
            <a:normAutofit/>
          </a:bodyPr>
          <a:lstStyle/>
          <a:p>
            <a:pPr marL="0" indent="0" algn="l">
              <a:buNone/>
            </a:pPr>
            <a:r>
              <a:rPr lang="en-US" sz="1420" dirty="0">
                <a:solidFill>
                  <a:srgbClr val="F9FAFB"/>
                </a:solidFill>
                <a:latin typeface="Consolas" pitchFamily="34" charset="0"/>
                <a:ea typeface="Consolas" pitchFamily="34" charset="-122"/>
                <a:cs typeface="Consolas" pitchFamily="34" charset="-120"/>
              </a:rPr>
              <a:t>incident_id: inc_001</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cell_id: cell_001</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service_class: URLLC</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root_cause: interference</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secondary_cause: congestion</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severity: critical</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affected_devices: 2100</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recommended_action: traffic steering + spectrum check</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safety_score: 0.46</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decision: HUMAN_APPROVAL</a:t>
            </a:r>
            <a:endParaRPr lang="en-US" sz="1420" dirty="0"/>
          </a:p>
          <a:p>
            <a:pPr marL="0" indent="0" algn="l">
              <a:buNone/>
            </a:pPr>
            <a:r>
              <a:rPr lang="en-US" sz="1420" dirty="0">
                <a:solidFill>
                  <a:srgbClr val="F9FAFB"/>
                </a:solidFill>
                <a:latin typeface="Consolas" pitchFamily="34" charset="0"/>
                <a:ea typeface="Consolas" pitchFamily="34" charset="-122"/>
                <a:cs typeface="Consolas" pitchFamily="34" charset="-120"/>
              </a:rPr>
              <a:t>reason: critical slice and safety risk</a:t>
            </a:r>
            <a:endParaRPr lang="en-US" sz="1420" dirty="0"/>
          </a:p>
        </p:txBody>
      </p:sp>
      <p:sp>
        <p:nvSpPr>
          <p:cNvPr id="9" name="Shape 7"/>
          <p:cNvSpPr/>
          <p:nvPr/>
        </p:nvSpPr>
        <p:spPr>
          <a:xfrm>
            <a:off x="6236208" y="1609344"/>
            <a:ext cx="5074920" cy="4480560"/>
          </a:xfrm>
          <a:prstGeom prst="rect">
            <a:avLst/>
          </a:prstGeom>
          <a:solidFill>
            <a:srgbClr val="F8FAFC"/>
          </a:solidFill>
          <a:ln w="10160">
            <a:solidFill>
              <a:srgbClr val="CBD5E1"/>
            </a:solidFill>
            <a:prstDash val="solid"/>
          </a:ln>
        </p:spPr>
        <p:txBody>
          <a:bodyPr/>
          <a:lstStyle/>
          <a:p>
            <a:endParaRPr lang="en-IN"/>
          </a:p>
        </p:txBody>
      </p:sp>
      <p:sp>
        <p:nvSpPr>
          <p:cNvPr id="10" name="Shape 8"/>
          <p:cNvSpPr/>
          <p:nvPr/>
        </p:nvSpPr>
        <p:spPr>
          <a:xfrm>
            <a:off x="6236208" y="1609344"/>
            <a:ext cx="5074920" cy="310896"/>
          </a:xfrm>
          <a:prstGeom prst="rect">
            <a:avLst/>
          </a:prstGeom>
          <a:solidFill>
            <a:srgbClr val="15803D"/>
          </a:solidFill>
          <a:ln w="12700">
            <a:solidFill>
              <a:srgbClr val="15803D"/>
            </a:solidFill>
            <a:prstDash val="solid"/>
          </a:ln>
        </p:spPr>
        <p:txBody>
          <a:bodyPr/>
          <a:lstStyle/>
          <a:p>
            <a:endParaRPr lang="en-IN"/>
          </a:p>
        </p:txBody>
      </p:sp>
      <p:sp>
        <p:nvSpPr>
          <p:cNvPr id="11" name="Text 9"/>
          <p:cNvSpPr/>
          <p:nvPr/>
        </p:nvSpPr>
        <p:spPr>
          <a:xfrm>
            <a:off x="6345936" y="1682496"/>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Why this matters</a:t>
            </a:r>
            <a:endParaRPr lang="en-US" sz="1050" dirty="0"/>
          </a:p>
        </p:txBody>
      </p:sp>
      <p:sp>
        <p:nvSpPr>
          <p:cNvPr id="12" name="Text 10"/>
          <p:cNvSpPr/>
          <p:nvPr/>
        </p:nvSpPr>
        <p:spPr>
          <a:xfrm>
            <a:off x="6373368" y="2048256"/>
            <a:ext cx="4800600" cy="39502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The incident is auditable and traceable.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affected O-RAN area is identifiable.</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root cause is explicit.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healing recommendation is explicit.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safety result is explicit.</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The action is auditable instead of hidden.</a:t>
            </a:r>
            <a:endParaRPr lang="en-US" sz="1500" dirty="0"/>
          </a:p>
        </p:txBody>
      </p:sp>
      <p:sp>
        <p:nvSpPr>
          <p:cNvPr id="13" name="Text 1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PERSISTENCE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Where outputs are stored and shown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system was hardened beyond one-time console output.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600200"/>
            <a:ext cx="2743200" cy="36118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600200"/>
            <a:ext cx="274320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6126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SQLite audit</a:t>
            </a:r>
            <a:endParaRPr lang="en-US" sz="1050" dirty="0"/>
          </a:p>
        </p:txBody>
      </p:sp>
      <p:sp>
        <p:nvSpPr>
          <p:cNvPr id="10" name="Text 8"/>
          <p:cNvSpPr/>
          <p:nvPr/>
        </p:nvSpPr>
        <p:spPr>
          <a:xfrm>
            <a:off x="640080" y="2039112"/>
            <a:ext cx="2468880" cy="30815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Local database persistence for incident/audit records so decisions can be reviewed after the run.</a:t>
            </a:r>
            <a:endParaRPr lang="en-US" sz="1500" dirty="0"/>
          </a:p>
        </p:txBody>
      </p:sp>
      <p:sp>
        <p:nvSpPr>
          <p:cNvPr id="11" name="Shape 9"/>
          <p:cNvSpPr/>
          <p:nvPr/>
        </p:nvSpPr>
        <p:spPr>
          <a:xfrm>
            <a:off x="3474720" y="1600200"/>
            <a:ext cx="2743200" cy="36118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474720" y="1600200"/>
            <a:ext cx="2743200" cy="310896"/>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3584448" y="1673352"/>
            <a:ext cx="2523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JSON/JSONL outputs</a:t>
            </a:r>
            <a:endParaRPr lang="en-US" sz="1050" dirty="0"/>
          </a:p>
        </p:txBody>
      </p:sp>
      <p:sp>
        <p:nvSpPr>
          <p:cNvPr id="14" name="Text 12"/>
          <p:cNvSpPr/>
          <p:nvPr/>
        </p:nvSpPr>
        <p:spPr>
          <a:xfrm>
            <a:off x="3611880" y="2039112"/>
            <a:ext cx="2468880" cy="30815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Machine-readable run artifacts, event logs, xApp records, and evaluation files.</a:t>
            </a:r>
            <a:endParaRPr lang="en-US" sz="1500" dirty="0"/>
          </a:p>
        </p:txBody>
      </p:sp>
      <p:sp>
        <p:nvSpPr>
          <p:cNvPr id="15" name="Shape 13"/>
          <p:cNvSpPr/>
          <p:nvPr/>
        </p:nvSpPr>
        <p:spPr>
          <a:xfrm>
            <a:off x="6446520" y="1600200"/>
            <a:ext cx="2514600" cy="361188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46520" y="1600200"/>
            <a:ext cx="2514600" cy="310896"/>
          </a:xfrm>
          <a:prstGeom prst="rect">
            <a:avLst/>
          </a:prstGeom>
          <a:solidFill>
            <a:srgbClr val="6D28D9"/>
          </a:solidFill>
          <a:ln w="12700">
            <a:solidFill>
              <a:srgbClr val="6D28D9"/>
            </a:solidFill>
            <a:prstDash val="solid"/>
          </a:ln>
        </p:spPr>
        <p:txBody>
          <a:bodyPr/>
          <a:lstStyle/>
          <a:p>
            <a:endParaRPr lang="en-IN"/>
          </a:p>
        </p:txBody>
      </p:sp>
      <p:sp>
        <p:nvSpPr>
          <p:cNvPr id="17" name="Text 15"/>
          <p:cNvSpPr/>
          <p:nvPr/>
        </p:nvSpPr>
        <p:spPr>
          <a:xfrm>
            <a:off x="6556248" y="1673352"/>
            <a:ext cx="22951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Frontend dashboard</a:t>
            </a:r>
            <a:endParaRPr lang="en-US" sz="1050" dirty="0"/>
          </a:p>
        </p:txBody>
      </p:sp>
      <p:sp>
        <p:nvSpPr>
          <p:cNvPr id="18" name="Text 16"/>
          <p:cNvSpPr/>
          <p:nvPr/>
        </p:nvSpPr>
        <p:spPr>
          <a:xfrm>
            <a:off x="6583680" y="2039112"/>
            <a:ext cx="2240280" cy="30815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Visual display of state, results, device population, incidents, and decisions.</a:t>
            </a:r>
            <a:endParaRPr lang="en-US" sz="1500" dirty="0"/>
          </a:p>
        </p:txBody>
      </p:sp>
      <p:sp>
        <p:nvSpPr>
          <p:cNvPr id="19" name="Shape 17"/>
          <p:cNvSpPr/>
          <p:nvPr/>
        </p:nvSpPr>
        <p:spPr>
          <a:xfrm>
            <a:off x="9189720" y="1600200"/>
            <a:ext cx="2468880" cy="361188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9189720" y="1600200"/>
            <a:ext cx="2468880" cy="310896"/>
          </a:xfrm>
          <a:prstGeom prst="rect">
            <a:avLst/>
          </a:prstGeom>
          <a:solidFill>
            <a:srgbClr val="C2410C"/>
          </a:solidFill>
          <a:ln w="12700">
            <a:solidFill>
              <a:srgbClr val="C2410C"/>
            </a:solidFill>
            <a:prstDash val="solid"/>
          </a:ln>
        </p:spPr>
        <p:txBody>
          <a:bodyPr/>
          <a:lstStyle/>
          <a:p>
            <a:endParaRPr lang="en-IN"/>
          </a:p>
        </p:txBody>
      </p:sp>
      <p:sp>
        <p:nvSpPr>
          <p:cNvPr id="21" name="Text 19"/>
          <p:cNvSpPr/>
          <p:nvPr/>
        </p:nvSpPr>
        <p:spPr>
          <a:xfrm>
            <a:off x="9299448" y="1673352"/>
            <a:ext cx="2249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Reports</a:t>
            </a:r>
            <a:endParaRPr lang="en-US" sz="1050" dirty="0"/>
          </a:p>
        </p:txBody>
      </p:sp>
      <p:sp>
        <p:nvSpPr>
          <p:cNvPr id="22" name="Text 20"/>
          <p:cNvSpPr/>
          <p:nvPr/>
        </p:nvSpPr>
        <p:spPr>
          <a:xfrm>
            <a:off x="9326880" y="2039112"/>
            <a:ext cx="2194560" cy="30815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Incident/evaluation reports for presentation, proof-of-concept, and documentation.</a:t>
            </a:r>
            <a:endParaRPr lang="en-US" sz="1500" dirty="0"/>
          </a:p>
        </p:txBody>
      </p:sp>
      <p:sp>
        <p:nvSpPr>
          <p:cNvPr id="23" name="Text 2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39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EVALUATION METRICS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How the system is evaluated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prototype compares predicted problems and root causes with known/simulated labels.</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40080" y="1600200"/>
            <a:ext cx="2606040" cy="342900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40080" y="1600200"/>
            <a:ext cx="260604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749808" y="1673352"/>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Precision</a:t>
            </a:r>
            <a:endParaRPr lang="en-US" sz="1050" dirty="0"/>
          </a:p>
        </p:txBody>
      </p:sp>
      <p:sp>
        <p:nvSpPr>
          <p:cNvPr id="10" name="Text 8"/>
          <p:cNvSpPr/>
          <p:nvPr/>
        </p:nvSpPr>
        <p:spPr>
          <a:xfrm>
            <a:off x="777240" y="2039112"/>
            <a:ext cx="2331720" cy="28986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true positives / predicted positives. Measures how many detected incidents were actually correct.</a:t>
            </a:r>
            <a:endParaRPr lang="en-US" sz="1500" dirty="0"/>
          </a:p>
        </p:txBody>
      </p:sp>
      <p:sp>
        <p:nvSpPr>
          <p:cNvPr id="11" name="Shape 9"/>
          <p:cNvSpPr/>
          <p:nvPr/>
        </p:nvSpPr>
        <p:spPr>
          <a:xfrm>
            <a:off x="3520440" y="1600200"/>
            <a:ext cx="2606040" cy="342900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3520440" y="1600200"/>
            <a:ext cx="260604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3630168" y="1673352"/>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Recall</a:t>
            </a:r>
            <a:endParaRPr lang="en-US" sz="1050" dirty="0"/>
          </a:p>
        </p:txBody>
      </p:sp>
      <p:sp>
        <p:nvSpPr>
          <p:cNvPr id="14" name="Text 12"/>
          <p:cNvSpPr/>
          <p:nvPr/>
        </p:nvSpPr>
        <p:spPr>
          <a:xfrm>
            <a:off x="3657600" y="2039112"/>
            <a:ext cx="2331720" cy="28986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true positives / actual positives. Measures how many real problems the system successfully caught.</a:t>
            </a:r>
            <a:endParaRPr lang="en-US" sz="1500" dirty="0"/>
          </a:p>
        </p:txBody>
      </p:sp>
      <p:sp>
        <p:nvSpPr>
          <p:cNvPr id="15" name="Shape 13"/>
          <p:cNvSpPr/>
          <p:nvPr/>
        </p:nvSpPr>
        <p:spPr>
          <a:xfrm>
            <a:off x="6400800" y="1600200"/>
            <a:ext cx="2606040" cy="342900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6400800" y="1600200"/>
            <a:ext cx="2606040" cy="310896"/>
          </a:xfrm>
          <a:prstGeom prst="rect">
            <a:avLst/>
          </a:prstGeom>
          <a:solidFill>
            <a:srgbClr val="C2410C"/>
          </a:solidFill>
          <a:ln w="12700">
            <a:solidFill>
              <a:srgbClr val="C2410C"/>
            </a:solidFill>
            <a:prstDash val="solid"/>
          </a:ln>
        </p:spPr>
        <p:txBody>
          <a:bodyPr/>
          <a:lstStyle/>
          <a:p>
            <a:endParaRPr lang="en-IN"/>
          </a:p>
        </p:txBody>
      </p:sp>
      <p:sp>
        <p:nvSpPr>
          <p:cNvPr id="17" name="Text 15"/>
          <p:cNvSpPr/>
          <p:nvPr/>
        </p:nvSpPr>
        <p:spPr>
          <a:xfrm>
            <a:off x="6510528" y="1673352"/>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F1 score</a:t>
            </a:r>
            <a:endParaRPr lang="en-US" sz="1050" dirty="0"/>
          </a:p>
        </p:txBody>
      </p:sp>
      <p:sp>
        <p:nvSpPr>
          <p:cNvPr id="18" name="Text 16"/>
          <p:cNvSpPr/>
          <p:nvPr/>
        </p:nvSpPr>
        <p:spPr>
          <a:xfrm>
            <a:off x="6537960" y="2039112"/>
            <a:ext cx="2331720" cy="28986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Balance between precision and recall. Useful when both false alarms and missed incidents matter.</a:t>
            </a:r>
            <a:endParaRPr lang="en-US" sz="1500" dirty="0"/>
          </a:p>
        </p:txBody>
      </p:sp>
      <p:sp>
        <p:nvSpPr>
          <p:cNvPr id="19" name="Shape 17"/>
          <p:cNvSpPr/>
          <p:nvPr/>
        </p:nvSpPr>
        <p:spPr>
          <a:xfrm>
            <a:off x="9281160" y="1600200"/>
            <a:ext cx="2606040" cy="3429000"/>
          </a:xfrm>
          <a:prstGeom prst="rect">
            <a:avLst/>
          </a:prstGeom>
          <a:solidFill>
            <a:srgbClr val="F8FAFC"/>
          </a:solidFill>
          <a:ln w="10160">
            <a:solidFill>
              <a:srgbClr val="CBD5E1"/>
            </a:solidFill>
            <a:prstDash val="solid"/>
          </a:ln>
        </p:spPr>
        <p:txBody>
          <a:bodyPr/>
          <a:lstStyle/>
          <a:p>
            <a:endParaRPr lang="en-IN"/>
          </a:p>
        </p:txBody>
      </p:sp>
      <p:sp>
        <p:nvSpPr>
          <p:cNvPr id="20" name="Shape 18"/>
          <p:cNvSpPr/>
          <p:nvPr/>
        </p:nvSpPr>
        <p:spPr>
          <a:xfrm>
            <a:off x="9281160" y="1600200"/>
            <a:ext cx="2606040" cy="310896"/>
          </a:xfrm>
          <a:prstGeom prst="rect">
            <a:avLst/>
          </a:prstGeom>
          <a:solidFill>
            <a:srgbClr val="6D28D9"/>
          </a:solidFill>
          <a:ln w="12700">
            <a:solidFill>
              <a:srgbClr val="6D28D9"/>
            </a:solidFill>
            <a:prstDash val="solid"/>
          </a:ln>
        </p:spPr>
        <p:txBody>
          <a:bodyPr/>
          <a:lstStyle/>
          <a:p>
            <a:endParaRPr lang="en-IN"/>
          </a:p>
        </p:txBody>
      </p:sp>
      <p:sp>
        <p:nvSpPr>
          <p:cNvPr id="21" name="Text 19"/>
          <p:cNvSpPr/>
          <p:nvPr/>
        </p:nvSpPr>
        <p:spPr>
          <a:xfrm>
            <a:off x="9390888" y="1673352"/>
            <a:ext cx="23865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RCA accuracy</a:t>
            </a:r>
            <a:endParaRPr lang="en-US" sz="1050" dirty="0"/>
          </a:p>
        </p:txBody>
      </p:sp>
      <p:sp>
        <p:nvSpPr>
          <p:cNvPr id="22" name="Text 20"/>
          <p:cNvSpPr/>
          <p:nvPr/>
        </p:nvSpPr>
        <p:spPr>
          <a:xfrm>
            <a:off x="9418320" y="2039112"/>
            <a:ext cx="2331720" cy="289864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Correct RCA predictions / total RCA cases. Measures how often the right root cause was identified.</a:t>
            </a:r>
            <a:endParaRPr lang="en-US" sz="1500" dirty="0"/>
          </a:p>
        </p:txBody>
      </p:sp>
      <p:sp>
        <p:nvSpPr>
          <p:cNvPr id="23" name="Text 21"/>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AI/ML EVALUATION STORAGE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Where the AI/ML evaluation results are stored</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These artifacts are the proof trail for anomaly detection, RCA, healing, and guard performance.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02920" y="1572768"/>
            <a:ext cx="3611880" cy="45262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02920" y="1572768"/>
            <a:ext cx="361188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612648" y="1645920"/>
            <a:ext cx="3392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AI/ML logic evaluated</a:t>
            </a:r>
            <a:endParaRPr lang="en-US" sz="1050" dirty="0"/>
          </a:p>
        </p:txBody>
      </p:sp>
      <p:sp>
        <p:nvSpPr>
          <p:cNvPr id="10" name="Text 8"/>
          <p:cNvSpPr/>
          <p:nvPr/>
        </p:nvSpPr>
        <p:spPr>
          <a:xfrm>
            <a:off x="640080" y="2011680"/>
            <a:ext cx="3337560" cy="3995928"/>
          </a:xfrm>
          <a:prstGeom prst="rect">
            <a:avLst/>
          </a:prstGeom>
          <a:noFill/>
          <a:ln/>
        </p:spPr>
        <p:txBody>
          <a:bodyPr wrap="square" lIns="254" tIns="254" rIns="254" bIns="254" rtlCol="0" anchor="t">
            <a:normAutofit/>
          </a:bodyPr>
          <a:lstStyle/>
          <a:p>
            <a:pPr marL="0" indent="0" algn="l">
              <a:buNone/>
            </a:pPr>
            <a:r>
              <a:rPr lang="en-US" sz="1340" dirty="0">
                <a:solidFill>
                  <a:srgbClr val="111827"/>
                </a:solidFill>
                <a:latin typeface="Aptos" pitchFamily="34" charset="0"/>
                <a:ea typeface="Aptos" pitchFamily="34" charset="-122"/>
                <a:cs typeface="Aptos" pitchFamily="34" charset="-120"/>
              </a:rPr>
              <a:t>- Anomaly detection over KPI records.</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Root Cause Analysis on actionable faults.</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Healing recommendation approval/blocking.</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xApp conflict mitigation states.</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AML attack guard behavior.</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Drift lifecycle and automation mode.</a:t>
            </a:r>
            <a:endParaRPr lang="en-US" sz="1340" dirty="0"/>
          </a:p>
        </p:txBody>
      </p:sp>
      <p:sp>
        <p:nvSpPr>
          <p:cNvPr id="11" name="Shape 9"/>
          <p:cNvSpPr/>
          <p:nvPr/>
        </p:nvSpPr>
        <p:spPr>
          <a:xfrm>
            <a:off x="4343400" y="1572768"/>
            <a:ext cx="3703320" cy="45262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4343400" y="1572768"/>
            <a:ext cx="3703320" cy="310896"/>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4453128" y="1645920"/>
            <a:ext cx="34838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Primary stored artifacts</a:t>
            </a:r>
            <a:endParaRPr lang="en-US" sz="1050" dirty="0"/>
          </a:p>
        </p:txBody>
      </p:sp>
      <p:sp>
        <p:nvSpPr>
          <p:cNvPr id="14" name="Text 12"/>
          <p:cNvSpPr/>
          <p:nvPr/>
        </p:nvSpPr>
        <p:spPr>
          <a:xfrm>
            <a:off x="4480560" y="2011680"/>
            <a:ext cx="3429000" cy="3995928"/>
          </a:xfrm>
          <a:prstGeom prst="rect">
            <a:avLst/>
          </a:prstGeom>
          <a:noFill/>
          <a:ln/>
        </p:spPr>
        <p:txBody>
          <a:bodyPr wrap="square" lIns="254" tIns="254" rIns="254" bIns="254" rtlCol="0" anchor="t">
            <a:normAutofit/>
          </a:bodyPr>
          <a:lstStyle/>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outputs/runs/local_hardening_full/evaluation.json</a:t>
            </a:r>
            <a:endParaRPr lang="en-US" sz="1180" dirty="0"/>
          </a:p>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outputs/runs/local_hardening_full/summary.json</a:t>
            </a:r>
            <a:endParaRPr lang="en-US" sz="1180" dirty="0"/>
          </a:p>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outputs/runs/local_hardening_full/evaluation_report.md</a:t>
            </a:r>
            <a:endParaRPr lang="en-US" sz="1180" dirty="0"/>
          </a:p>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outputs/runs/local_hardening_full/incident_report.md</a:t>
            </a:r>
            <a:endParaRPr lang="en-US" sz="1180" dirty="0"/>
          </a:p>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outputs/runs/local_hardening_full/twin_assessments.csv</a:t>
            </a:r>
            <a:endParaRPr lang="en-US" sz="1180" dirty="0"/>
          </a:p>
          <a:p>
            <a:pPr marL="0" indent="0" algn="l">
              <a:buNone/>
            </a:pPr>
            <a:r>
              <a:rPr lang="en-US" sz="1180" dirty="0">
                <a:solidFill>
                  <a:srgbClr val="111827"/>
                </a:solidFill>
                <a:latin typeface="Aptos" pitchFamily="34" charset="0"/>
                <a:ea typeface="Aptos" pitchFamily="34" charset="-122"/>
                <a:cs typeface="Aptos" pitchFamily="34" charset="-120"/>
              </a:rPr>
              <a:t>- outputs/runs/local_hardening_full/simulated_kpis.csv</a:t>
            </a:r>
            <a:endParaRPr lang="en-US" sz="1180" dirty="0"/>
          </a:p>
        </p:txBody>
      </p:sp>
      <p:sp>
        <p:nvSpPr>
          <p:cNvPr id="15" name="Shape 13"/>
          <p:cNvSpPr/>
          <p:nvPr/>
        </p:nvSpPr>
        <p:spPr>
          <a:xfrm>
            <a:off x="8275320" y="1572768"/>
            <a:ext cx="3063240" cy="452628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8275320" y="1572768"/>
            <a:ext cx="3063240" cy="310896"/>
          </a:xfrm>
          <a:prstGeom prst="rect">
            <a:avLst/>
          </a:prstGeom>
          <a:solidFill>
            <a:srgbClr val="C2410C"/>
          </a:solidFill>
          <a:ln w="12700">
            <a:solidFill>
              <a:srgbClr val="C2410C"/>
            </a:solidFill>
            <a:prstDash val="solid"/>
          </a:ln>
        </p:spPr>
        <p:txBody>
          <a:bodyPr/>
          <a:lstStyle/>
          <a:p>
            <a:endParaRPr lang="en-IN"/>
          </a:p>
        </p:txBody>
      </p:sp>
      <p:sp>
        <p:nvSpPr>
          <p:cNvPr id="17" name="Text 15"/>
          <p:cNvSpPr/>
          <p:nvPr/>
        </p:nvSpPr>
        <p:spPr>
          <a:xfrm>
            <a:off x="8385048" y="1645920"/>
            <a:ext cx="28437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Important metric groups</a:t>
            </a:r>
            <a:endParaRPr lang="en-US" sz="1050" dirty="0"/>
          </a:p>
        </p:txBody>
      </p:sp>
      <p:sp>
        <p:nvSpPr>
          <p:cNvPr id="18" name="Text 16"/>
          <p:cNvSpPr/>
          <p:nvPr/>
        </p:nvSpPr>
        <p:spPr>
          <a:xfrm>
            <a:off x="8412480" y="2011680"/>
            <a:ext cx="2788920" cy="3995928"/>
          </a:xfrm>
          <a:prstGeom prst="rect">
            <a:avLst/>
          </a:prstGeom>
          <a:noFill/>
          <a:ln/>
        </p:spPr>
        <p:txBody>
          <a:bodyPr wrap="square" lIns="254" tIns="254" rIns="254" bIns="254" rtlCol="0" anchor="t">
            <a:normAutofit/>
          </a:bodyPr>
          <a:lstStyle/>
          <a:p>
            <a:pPr marL="0" indent="0" algn="l">
              <a:buNone/>
            </a:pPr>
            <a:r>
              <a:rPr lang="en-US" sz="1340" dirty="0">
                <a:solidFill>
                  <a:srgbClr val="111827"/>
                </a:solidFill>
                <a:latin typeface="Aptos" pitchFamily="34" charset="0"/>
                <a:ea typeface="Aptos" pitchFamily="34" charset="-122"/>
                <a:cs typeface="Aptos" pitchFamily="34" charset="-120"/>
              </a:rPr>
              <a:t>- Fault detection: precision, recall, F1.</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RCA: correct root cause accuracy.</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Healing: approved/blocked actions.</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Safety: baseline vs guarded actions.</a:t>
            </a:r>
            <a:endParaRPr lang="en-US" sz="1340" dirty="0"/>
          </a:p>
          <a:p>
            <a:pPr marL="0" indent="0" algn="l">
              <a:buNone/>
            </a:pPr>
            <a:r>
              <a:rPr lang="en-US" sz="1340" dirty="0">
                <a:solidFill>
                  <a:srgbClr val="111827"/>
                </a:solidFill>
                <a:latin typeface="Aptos" pitchFamily="34" charset="0"/>
                <a:ea typeface="Aptos" pitchFamily="34" charset="-122"/>
                <a:cs typeface="Aptos" pitchFamily="34" charset="-120"/>
              </a:rPr>
              <a:t>- Guards: AML, drift, xApp, timing, spectrum, DTN.</a:t>
            </a:r>
            <a:endParaRPr lang="en-US" sz="1340" dirty="0"/>
          </a:p>
        </p:txBody>
      </p:sp>
      <p:sp>
        <p:nvSpPr>
          <p:cNvPr id="19" name="Text 1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VERIFIED RESULTS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Verified local prototype results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These are the current reported results from the local hardening full run.</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Text 5"/>
          <p:cNvSpPr/>
          <p:nvPr/>
        </p:nvSpPr>
        <p:spPr>
          <a:xfrm>
            <a:off x="685800" y="173736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D4ED8"/>
                </a:solidFill>
                <a:latin typeface="Aptos Display" pitchFamily="34" charset="0"/>
                <a:ea typeface="Aptos Display" pitchFamily="34" charset="-122"/>
                <a:cs typeface="Aptos Display" pitchFamily="34" charset="-120"/>
              </a:rPr>
              <a:t>4,800</a:t>
            </a:r>
            <a:endParaRPr lang="en-US" sz="2200" dirty="0"/>
          </a:p>
        </p:txBody>
      </p:sp>
      <p:sp>
        <p:nvSpPr>
          <p:cNvPr id="8" name="Text 6"/>
          <p:cNvSpPr/>
          <p:nvPr/>
        </p:nvSpPr>
        <p:spPr>
          <a:xfrm>
            <a:off x="685800" y="213055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records evaluated</a:t>
            </a:r>
            <a:endParaRPr lang="en-US" sz="1050" dirty="0"/>
          </a:p>
        </p:txBody>
      </p:sp>
      <p:sp>
        <p:nvSpPr>
          <p:cNvPr id="9" name="Text 7"/>
          <p:cNvSpPr/>
          <p:nvPr/>
        </p:nvSpPr>
        <p:spPr>
          <a:xfrm>
            <a:off x="3063240" y="173736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5803D"/>
                </a:solidFill>
                <a:latin typeface="Aptos Display" pitchFamily="34" charset="0"/>
                <a:ea typeface="Aptos Display" pitchFamily="34" charset="-122"/>
                <a:cs typeface="Aptos Display" pitchFamily="34" charset="-120"/>
              </a:rPr>
              <a:t>0.8026</a:t>
            </a:r>
            <a:endParaRPr lang="en-US" sz="2200" dirty="0"/>
          </a:p>
        </p:txBody>
      </p:sp>
      <p:sp>
        <p:nvSpPr>
          <p:cNvPr id="10" name="Text 8"/>
          <p:cNvSpPr/>
          <p:nvPr/>
        </p:nvSpPr>
        <p:spPr>
          <a:xfrm>
            <a:off x="3063240" y="213055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precision</a:t>
            </a:r>
            <a:endParaRPr lang="en-US" sz="1050" dirty="0"/>
          </a:p>
        </p:txBody>
      </p:sp>
      <p:sp>
        <p:nvSpPr>
          <p:cNvPr id="11" name="Text 9"/>
          <p:cNvSpPr/>
          <p:nvPr/>
        </p:nvSpPr>
        <p:spPr>
          <a:xfrm>
            <a:off x="5440680" y="173736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C2410C"/>
                </a:solidFill>
                <a:latin typeface="Aptos Display" pitchFamily="34" charset="0"/>
                <a:ea typeface="Aptos Display" pitchFamily="34" charset="-122"/>
                <a:cs typeface="Aptos Display" pitchFamily="34" charset="-120"/>
              </a:rPr>
              <a:t>0.9048</a:t>
            </a:r>
            <a:endParaRPr lang="en-US" sz="2200" dirty="0"/>
          </a:p>
        </p:txBody>
      </p:sp>
      <p:sp>
        <p:nvSpPr>
          <p:cNvPr id="12" name="Text 10"/>
          <p:cNvSpPr/>
          <p:nvPr/>
        </p:nvSpPr>
        <p:spPr>
          <a:xfrm>
            <a:off x="5440680" y="213055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recall</a:t>
            </a:r>
            <a:endParaRPr lang="en-US" sz="1050" dirty="0"/>
          </a:p>
        </p:txBody>
      </p:sp>
      <p:sp>
        <p:nvSpPr>
          <p:cNvPr id="13" name="Text 11"/>
          <p:cNvSpPr/>
          <p:nvPr/>
        </p:nvSpPr>
        <p:spPr>
          <a:xfrm>
            <a:off x="7818120" y="173736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6D28D9"/>
                </a:solidFill>
                <a:latin typeface="Aptos Display" pitchFamily="34" charset="0"/>
                <a:ea typeface="Aptos Display" pitchFamily="34" charset="-122"/>
                <a:cs typeface="Aptos Display" pitchFamily="34" charset="-120"/>
              </a:rPr>
              <a:t>0.8506</a:t>
            </a:r>
            <a:endParaRPr lang="en-US" sz="2200" dirty="0"/>
          </a:p>
        </p:txBody>
      </p:sp>
      <p:sp>
        <p:nvSpPr>
          <p:cNvPr id="14" name="Text 12"/>
          <p:cNvSpPr/>
          <p:nvPr/>
        </p:nvSpPr>
        <p:spPr>
          <a:xfrm>
            <a:off x="7818120" y="213055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F1 score</a:t>
            </a:r>
            <a:endParaRPr lang="en-US" sz="1050" dirty="0"/>
          </a:p>
        </p:txBody>
      </p:sp>
      <p:sp>
        <p:nvSpPr>
          <p:cNvPr id="15" name="Text 13"/>
          <p:cNvSpPr/>
          <p:nvPr/>
        </p:nvSpPr>
        <p:spPr>
          <a:xfrm>
            <a:off x="10058400" y="173736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B91C1C"/>
                </a:solidFill>
                <a:latin typeface="Aptos Display" pitchFamily="34" charset="0"/>
                <a:ea typeface="Aptos Display" pitchFamily="34" charset="-122"/>
                <a:cs typeface="Aptos Display" pitchFamily="34" charset="-120"/>
              </a:rPr>
              <a:t>0.9568</a:t>
            </a:r>
            <a:endParaRPr lang="en-US" sz="2200" dirty="0"/>
          </a:p>
        </p:txBody>
      </p:sp>
      <p:sp>
        <p:nvSpPr>
          <p:cNvPr id="16" name="Text 14"/>
          <p:cNvSpPr/>
          <p:nvPr/>
        </p:nvSpPr>
        <p:spPr>
          <a:xfrm>
            <a:off x="10058400" y="213055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RCA accuracy</a:t>
            </a:r>
            <a:endParaRPr lang="en-US" sz="1050" dirty="0"/>
          </a:p>
        </p:txBody>
      </p:sp>
      <p:sp>
        <p:nvSpPr>
          <p:cNvPr id="17" name="Text 15"/>
          <p:cNvSpPr/>
          <p:nvPr/>
        </p:nvSpPr>
        <p:spPr>
          <a:xfrm>
            <a:off x="685800" y="34290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D4ED8"/>
                </a:solidFill>
                <a:latin typeface="Aptos Display" pitchFamily="34" charset="0"/>
                <a:ea typeface="Aptos Display" pitchFamily="34" charset="-122"/>
                <a:cs typeface="Aptos Display" pitchFamily="34" charset="-120"/>
              </a:rPr>
              <a:t>875</a:t>
            </a:r>
            <a:endParaRPr lang="en-US" sz="2200" dirty="0"/>
          </a:p>
        </p:txBody>
      </p:sp>
      <p:sp>
        <p:nvSpPr>
          <p:cNvPr id="18" name="Text 16"/>
          <p:cNvSpPr/>
          <p:nvPr/>
        </p:nvSpPr>
        <p:spPr>
          <a:xfrm>
            <a:off x="685800" y="38221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baseline executable actions</a:t>
            </a:r>
            <a:endParaRPr lang="en-US" sz="1050" dirty="0"/>
          </a:p>
        </p:txBody>
      </p:sp>
      <p:sp>
        <p:nvSpPr>
          <p:cNvPr id="19" name="Text 17"/>
          <p:cNvSpPr/>
          <p:nvPr/>
        </p:nvSpPr>
        <p:spPr>
          <a:xfrm>
            <a:off x="3063240" y="34290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5803D"/>
                </a:solidFill>
                <a:latin typeface="Aptos Display" pitchFamily="34" charset="0"/>
                <a:ea typeface="Aptos Display" pitchFamily="34" charset="-122"/>
                <a:cs typeface="Aptos Display" pitchFamily="34" charset="-120"/>
              </a:rPr>
              <a:t>513</a:t>
            </a:r>
            <a:endParaRPr lang="en-US" sz="2200" dirty="0"/>
          </a:p>
        </p:txBody>
      </p:sp>
      <p:sp>
        <p:nvSpPr>
          <p:cNvPr id="20" name="Text 18"/>
          <p:cNvSpPr/>
          <p:nvPr/>
        </p:nvSpPr>
        <p:spPr>
          <a:xfrm>
            <a:off x="3063240" y="38221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guarded executable actions</a:t>
            </a:r>
            <a:endParaRPr lang="en-US" sz="1050" dirty="0"/>
          </a:p>
        </p:txBody>
      </p:sp>
      <p:sp>
        <p:nvSpPr>
          <p:cNvPr id="21" name="Text 19"/>
          <p:cNvSpPr/>
          <p:nvPr/>
        </p:nvSpPr>
        <p:spPr>
          <a:xfrm>
            <a:off x="5440680" y="34290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B91C1C"/>
                </a:solidFill>
                <a:latin typeface="Aptos Display" pitchFamily="34" charset="0"/>
                <a:ea typeface="Aptos Display" pitchFamily="34" charset="-122"/>
                <a:cs typeface="Aptos Display" pitchFamily="34" charset="-120"/>
              </a:rPr>
              <a:t>362</a:t>
            </a:r>
            <a:endParaRPr lang="en-US" sz="2200" dirty="0"/>
          </a:p>
        </p:txBody>
      </p:sp>
      <p:sp>
        <p:nvSpPr>
          <p:cNvPr id="22" name="Text 20"/>
          <p:cNvSpPr/>
          <p:nvPr/>
        </p:nvSpPr>
        <p:spPr>
          <a:xfrm>
            <a:off x="5440680" y="38221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unsafe baseline actions prevented</a:t>
            </a:r>
            <a:endParaRPr lang="en-US" sz="1050" dirty="0"/>
          </a:p>
        </p:txBody>
      </p:sp>
      <p:sp>
        <p:nvSpPr>
          <p:cNvPr id="23" name="Text 21"/>
          <p:cNvSpPr/>
          <p:nvPr/>
        </p:nvSpPr>
        <p:spPr>
          <a:xfrm>
            <a:off x="7818120" y="34290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C2410C"/>
                </a:solidFill>
                <a:latin typeface="Aptos Display" pitchFamily="34" charset="0"/>
                <a:ea typeface="Aptos Display" pitchFamily="34" charset="-122"/>
                <a:cs typeface="Aptos Display" pitchFamily="34" charset="-120"/>
              </a:rPr>
              <a:t>1.0</a:t>
            </a:r>
            <a:endParaRPr lang="en-US" sz="2200" dirty="0"/>
          </a:p>
        </p:txBody>
      </p:sp>
      <p:sp>
        <p:nvSpPr>
          <p:cNvPr id="24" name="Text 22"/>
          <p:cNvSpPr/>
          <p:nvPr/>
        </p:nvSpPr>
        <p:spPr>
          <a:xfrm>
            <a:off x="7818120" y="38221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AML attack guard rate</a:t>
            </a:r>
            <a:endParaRPr lang="en-US" sz="1050" dirty="0"/>
          </a:p>
        </p:txBody>
      </p:sp>
      <p:sp>
        <p:nvSpPr>
          <p:cNvPr id="25" name="Shape 23"/>
          <p:cNvSpPr/>
          <p:nvPr/>
        </p:nvSpPr>
        <p:spPr>
          <a:xfrm>
            <a:off x="685800" y="5074920"/>
            <a:ext cx="10698480" cy="658368"/>
          </a:xfrm>
          <a:prstGeom prst="rect">
            <a:avLst/>
          </a:prstGeom>
          <a:solidFill>
            <a:srgbClr val="F8FAFC"/>
          </a:solidFill>
          <a:ln w="10160">
            <a:solidFill>
              <a:srgbClr val="CBD5E1"/>
            </a:solidFill>
            <a:prstDash val="solid"/>
          </a:ln>
        </p:spPr>
        <p:txBody>
          <a:bodyPr/>
          <a:lstStyle/>
          <a:p>
            <a:endParaRPr lang="en-IN"/>
          </a:p>
        </p:txBody>
      </p:sp>
      <p:sp>
        <p:nvSpPr>
          <p:cNvPr id="26" name="Shape 24"/>
          <p:cNvSpPr/>
          <p:nvPr/>
        </p:nvSpPr>
        <p:spPr>
          <a:xfrm>
            <a:off x="685800" y="5074920"/>
            <a:ext cx="10698480" cy="310896"/>
          </a:xfrm>
          <a:prstGeom prst="rect">
            <a:avLst/>
          </a:prstGeom>
          <a:solidFill>
            <a:srgbClr val="0F766E"/>
          </a:solidFill>
          <a:ln w="12700">
            <a:solidFill>
              <a:srgbClr val="0F766E"/>
            </a:solidFill>
            <a:prstDash val="solid"/>
          </a:ln>
        </p:spPr>
        <p:txBody>
          <a:bodyPr/>
          <a:lstStyle/>
          <a:p>
            <a:endParaRPr lang="en-IN"/>
          </a:p>
        </p:txBody>
      </p:sp>
      <p:sp>
        <p:nvSpPr>
          <p:cNvPr id="27" name="Text 25"/>
          <p:cNvSpPr/>
          <p:nvPr/>
        </p:nvSpPr>
        <p:spPr>
          <a:xfrm>
            <a:off x="795528" y="5148072"/>
            <a:ext cx="104790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Run identity</a:t>
            </a:r>
            <a:endParaRPr lang="en-US" sz="1050" dirty="0"/>
          </a:p>
        </p:txBody>
      </p:sp>
      <p:sp>
        <p:nvSpPr>
          <p:cNvPr id="28" name="Text 26"/>
          <p:cNvSpPr/>
          <p:nvPr/>
        </p:nvSpPr>
        <p:spPr>
          <a:xfrm>
            <a:off x="822960" y="5513832"/>
            <a:ext cx="10424160" cy="128016"/>
          </a:xfrm>
          <a:prstGeom prst="rect">
            <a:avLst/>
          </a:prstGeom>
          <a:noFill/>
          <a:ln/>
        </p:spPr>
        <p:txBody>
          <a:bodyPr wrap="square" lIns="254" tIns="254" rIns="254" bIns="254" rtlCol="0" anchor="t">
            <a:normAutofit/>
          </a:bodyPr>
          <a:lstStyle/>
          <a:p>
            <a:pPr marL="0" indent="0" algn="l">
              <a:buNone/>
            </a:pPr>
            <a:r>
              <a:rPr lang="en-US" sz="1550" dirty="0">
                <a:solidFill>
                  <a:srgbClr val="111827"/>
                </a:solidFill>
                <a:latin typeface="Aptos" pitchFamily="34" charset="0"/>
                <a:ea typeface="Aptos" pitchFamily="34" charset="-122"/>
                <a:cs typeface="Aptos" pitchFamily="34" charset="-120"/>
              </a:rPr>
              <a:t>Full run: outputs/runs/local_hardening_full | Sync validation: passed using scripts/validate_local.ps1</a:t>
            </a:r>
            <a:endParaRPr lang="en-US" sz="1550" dirty="0"/>
          </a:p>
        </p:txBody>
      </p:sp>
      <p:sp>
        <p:nvSpPr>
          <p:cNvPr id="29" name="Text 2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DEVICE POPULATION</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Large-scale virtual device population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makes the lakhs/millions device claim visible on a laptop.</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Text 5"/>
          <p:cNvSpPr/>
          <p:nvPr/>
        </p:nvSpPr>
        <p:spPr>
          <a:xfrm>
            <a:off x="777240" y="18288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D4ED8"/>
                </a:solidFill>
                <a:latin typeface="Aptos Display" pitchFamily="34" charset="0"/>
                <a:ea typeface="Aptos Display" pitchFamily="34" charset="-122"/>
                <a:cs typeface="Aptos Display" pitchFamily="34" charset="-120"/>
              </a:rPr>
              <a:t>1,867,043</a:t>
            </a:r>
            <a:endParaRPr lang="en-US" sz="2200" dirty="0"/>
          </a:p>
        </p:txBody>
      </p:sp>
      <p:sp>
        <p:nvSpPr>
          <p:cNvPr id="8" name="Text 6"/>
          <p:cNvSpPr/>
          <p:nvPr/>
        </p:nvSpPr>
        <p:spPr>
          <a:xfrm>
            <a:off x="777240" y="22219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virtual devices represented</a:t>
            </a:r>
            <a:endParaRPr lang="en-US" sz="1050" dirty="0"/>
          </a:p>
        </p:txBody>
      </p:sp>
      <p:sp>
        <p:nvSpPr>
          <p:cNvPr id="9" name="Text 7"/>
          <p:cNvSpPr/>
          <p:nvPr/>
        </p:nvSpPr>
        <p:spPr>
          <a:xfrm>
            <a:off x="4526280" y="18288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15803D"/>
                </a:solidFill>
                <a:latin typeface="Aptos Display" pitchFamily="34" charset="0"/>
                <a:ea typeface="Aptos Display" pitchFamily="34" charset="-122"/>
                <a:cs typeface="Aptos Display" pitchFamily="34" charset="-120"/>
              </a:rPr>
              <a:t>200,453</a:t>
            </a:r>
            <a:endParaRPr lang="en-US" sz="2200" dirty="0"/>
          </a:p>
        </p:txBody>
      </p:sp>
      <p:sp>
        <p:nvSpPr>
          <p:cNvPr id="10" name="Text 8"/>
          <p:cNvSpPr/>
          <p:nvPr/>
        </p:nvSpPr>
        <p:spPr>
          <a:xfrm>
            <a:off x="4526280" y="22219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active virtual devices</a:t>
            </a:r>
            <a:endParaRPr lang="en-US" sz="1050" dirty="0"/>
          </a:p>
        </p:txBody>
      </p:sp>
      <p:sp>
        <p:nvSpPr>
          <p:cNvPr id="11" name="Text 9"/>
          <p:cNvSpPr/>
          <p:nvPr/>
        </p:nvSpPr>
        <p:spPr>
          <a:xfrm>
            <a:off x="8183880" y="1828800"/>
            <a:ext cx="2286000" cy="347472"/>
          </a:xfrm>
          <a:prstGeom prst="rect">
            <a:avLst/>
          </a:prstGeom>
          <a:noFill/>
          <a:ln/>
        </p:spPr>
        <p:txBody>
          <a:bodyPr wrap="square" lIns="0" tIns="0" rIns="0" bIns="0" rtlCol="0" anchor="t">
            <a:normAutofit/>
          </a:bodyPr>
          <a:lstStyle/>
          <a:p>
            <a:pPr marL="0" indent="0" algn="l">
              <a:buNone/>
            </a:pPr>
            <a:r>
              <a:rPr lang="en-US" sz="2200" b="1" dirty="0">
                <a:solidFill>
                  <a:srgbClr val="B91C1C"/>
                </a:solidFill>
                <a:latin typeface="Aptos Display" pitchFamily="34" charset="0"/>
                <a:ea typeface="Aptos Display" pitchFamily="34" charset="-122"/>
                <a:cs typeface="Aptos Display" pitchFamily="34" charset="-120"/>
              </a:rPr>
              <a:t>47,990</a:t>
            </a:r>
            <a:endParaRPr lang="en-US" sz="2200" dirty="0"/>
          </a:p>
        </p:txBody>
      </p:sp>
      <p:sp>
        <p:nvSpPr>
          <p:cNvPr id="12" name="Text 10"/>
          <p:cNvSpPr/>
          <p:nvPr/>
        </p:nvSpPr>
        <p:spPr>
          <a:xfrm>
            <a:off x="8183880" y="2221992"/>
            <a:ext cx="2423160" cy="256032"/>
          </a:xfrm>
          <a:prstGeom prst="rect">
            <a:avLst/>
          </a:prstGeom>
          <a:noFill/>
          <a:ln/>
        </p:spPr>
        <p:txBody>
          <a:bodyPr wrap="square" lIns="0" tIns="0" rIns="0" bIns="0" rtlCol="0" anchor="t">
            <a:normAutofit/>
          </a:bodyPr>
          <a:lstStyle/>
          <a:p>
            <a:pPr marL="0" indent="0" algn="l">
              <a:buNone/>
            </a:pPr>
            <a:r>
              <a:rPr lang="en-US" sz="1050" b="1" dirty="0">
                <a:solidFill>
                  <a:srgbClr val="4B5563"/>
                </a:solidFill>
                <a:latin typeface="Aptos" pitchFamily="34" charset="0"/>
                <a:ea typeface="Aptos" pitchFamily="34" charset="-122"/>
                <a:cs typeface="Aptos" pitchFamily="34" charset="-120"/>
              </a:rPr>
              <a:t>estimated affected devices</a:t>
            </a:r>
            <a:endParaRPr lang="en-US" sz="1050" dirty="0"/>
          </a:p>
        </p:txBody>
      </p:sp>
      <p:sp>
        <p:nvSpPr>
          <p:cNvPr id="13" name="Shape 11"/>
          <p:cNvSpPr/>
          <p:nvPr/>
        </p:nvSpPr>
        <p:spPr>
          <a:xfrm>
            <a:off x="777240" y="3337560"/>
            <a:ext cx="5074920" cy="1920240"/>
          </a:xfrm>
          <a:prstGeom prst="rect">
            <a:avLst/>
          </a:prstGeom>
          <a:solidFill>
            <a:srgbClr val="F8FAFC"/>
          </a:solidFill>
          <a:ln w="10160">
            <a:solidFill>
              <a:srgbClr val="CBD5E1"/>
            </a:solidFill>
            <a:prstDash val="solid"/>
          </a:ln>
        </p:spPr>
        <p:txBody>
          <a:bodyPr/>
          <a:lstStyle/>
          <a:p>
            <a:endParaRPr lang="en-IN"/>
          </a:p>
        </p:txBody>
      </p:sp>
      <p:sp>
        <p:nvSpPr>
          <p:cNvPr id="14" name="Shape 12"/>
          <p:cNvSpPr/>
          <p:nvPr/>
        </p:nvSpPr>
        <p:spPr>
          <a:xfrm>
            <a:off x="777240" y="3337560"/>
            <a:ext cx="5074920" cy="310896"/>
          </a:xfrm>
          <a:prstGeom prst="rect">
            <a:avLst/>
          </a:prstGeom>
          <a:solidFill>
            <a:srgbClr val="C2410C"/>
          </a:solidFill>
          <a:ln w="12700">
            <a:solidFill>
              <a:srgbClr val="C2410C"/>
            </a:solidFill>
            <a:prstDash val="solid"/>
          </a:ln>
        </p:spPr>
        <p:txBody>
          <a:bodyPr/>
          <a:lstStyle/>
          <a:p>
            <a:endParaRPr lang="en-IN"/>
          </a:p>
        </p:txBody>
      </p:sp>
      <p:sp>
        <p:nvSpPr>
          <p:cNvPr id="15" name="Text 13"/>
          <p:cNvSpPr/>
          <p:nvPr/>
        </p:nvSpPr>
        <p:spPr>
          <a:xfrm>
            <a:off x="886968" y="3410712"/>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What this means</a:t>
            </a:r>
            <a:endParaRPr lang="en-US" sz="1050" dirty="0"/>
          </a:p>
        </p:txBody>
      </p:sp>
      <p:sp>
        <p:nvSpPr>
          <p:cNvPr id="16" name="Text 14"/>
          <p:cNvSpPr/>
          <p:nvPr/>
        </p:nvSpPr>
        <p:spPr>
          <a:xfrm>
            <a:off x="914400" y="3776472"/>
            <a:ext cx="4800600" cy="13898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The system represents large-scale device populations per cell/service class. It does not yet monitor every live real UE from a physical RAN.</a:t>
            </a:r>
            <a:endParaRPr lang="en-US" sz="1580" dirty="0"/>
          </a:p>
        </p:txBody>
      </p:sp>
      <p:sp>
        <p:nvSpPr>
          <p:cNvPr id="17" name="Shape 15"/>
          <p:cNvSpPr/>
          <p:nvPr/>
        </p:nvSpPr>
        <p:spPr>
          <a:xfrm>
            <a:off x="6263640" y="3337560"/>
            <a:ext cx="5074920" cy="1920240"/>
          </a:xfrm>
          <a:prstGeom prst="rect">
            <a:avLst/>
          </a:prstGeom>
          <a:solidFill>
            <a:srgbClr val="F8FAFC"/>
          </a:solidFill>
          <a:ln w="10160">
            <a:solidFill>
              <a:srgbClr val="CBD5E1"/>
            </a:solidFill>
            <a:prstDash val="solid"/>
          </a:ln>
        </p:spPr>
        <p:txBody>
          <a:bodyPr/>
          <a:lstStyle/>
          <a:p>
            <a:endParaRPr lang="en-IN"/>
          </a:p>
        </p:txBody>
      </p:sp>
      <p:sp>
        <p:nvSpPr>
          <p:cNvPr id="18" name="Shape 16"/>
          <p:cNvSpPr/>
          <p:nvPr/>
        </p:nvSpPr>
        <p:spPr>
          <a:xfrm>
            <a:off x="6263640" y="3337560"/>
            <a:ext cx="5074920" cy="310896"/>
          </a:xfrm>
          <a:prstGeom prst="rect">
            <a:avLst/>
          </a:prstGeom>
          <a:solidFill>
            <a:srgbClr val="6D28D9"/>
          </a:solidFill>
          <a:ln w="12700">
            <a:solidFill>
              <a:srgbClr val="6D28D9"/>
            </a:solidFill>
            <a:prstDash val="solid"/>
          </a:ln>
        </p:spPr>
        <p:txBody>
          <a:bodyPr/>
          <a:lstStyle/>
          <a:p>
            <a:endParaRPr lang="en-IN"/>
          </a:p>
        </p:txBody>
      </p:sp>
      <p:sp>
        <p:nvSpPr>
          <p:cNvPr id="19" name="Text 17"/>
          <p:cNvSpPr/>
          <p:nvPr/>
        </p:nvSpPr>
        <p:spPr>
          <a:xfrm>
            <a:off x="6373368" y="3410712"/>
            <a:ext cx="485546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Why it matters</a:t>
            </a:r>
            <a:endParaRPr lang="en-US" sz="1050" dirty="0"/>
          </a:p>
        </p:txBody>
      </p:sp>
      <p:sp>
        <p:nvSpPr>
          <p:cNvPr id="20" name="Text 18"/>
          <p:cNvSpPr/>
          <p:nvPr/>
        </p:nvSpPr>
        <p:spPr>
          <a:xfrm>
            <a:off x="6400800" y="3776472"/>
            <a:ext cx="4800600" cy="1389888"/>
          </a:xfrm>
          <a:prstGeom prst="rect">
            <a:avLst/>
          </a:prstGeom>
          <a:noFill/>
          <a:ln/>
        </p:spPr>
        <p:txBody>
          <a:bodyPr wrap="square" lIns="254" tIns="254" rIns="254" bIns="254" rtlCol="0" anchor="t">
            <a:normAutofit/>
          </a:bodyPr>
          <a:lstStyle/>
          <a:p>
            <a:pPr marL="0" indent="0" algn="l">
              <a:buNone/>
            </a:pPr>
            <a:r>
              <a:rPr lang="en-US" sz="1580" dirty="0">
                <a:solidFill>
                  <a:srgbClr val="111827"/>
                </a:solidFill>
                <a:latin typeface="Aptos" pitchFamily="34" charset="0"/>
                <a:ea typeface="Aptos" pitchFamily="34" charset="-122"/>
                <a:cs typeface="Aptos" pitchFamily="34" charset="-120"/>
              </a:rPr>
              <a:t>It supports presentation-level scale, affected-device estimation, representative UE samples, and digital twin population impact reasoning.</a:t>
            </a:r>
            <a:endParaRPr lang="en-US" sz="1580" dirty="0"/>
          </a:p>
        </p:txBody>
      </p:sp>
      <p:sp>
        <p:nvSpPr>
          <p:cNvPr id="21" name="Text 19"/>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43</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BASELINE VS GUARDED</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Why guarded automation matters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 project proves that safety layers reduce unsafe automation.</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777240" y="1737360"/>
            <a:ext cx="5029200" cy="333756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777240" y="1737360"/>
            <a:ext cx="502920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886968" y="1810512"/>
            <a:ext cx="4809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Baseline automation</a:t>
            </a:r>
            <a:endParaRPr lang="en-US" sz="1050" dirty="0"/>
          </a:p>
        </p:txBody>
      </p:sp>
      <p:sp>
        <p:nvSpPr>
          <p:cNvPr id="10" name="Text 8"/>
          <p:cNvSpPr/>
          <p:nvPr/>
        </p:nvSpPr>
        <p:spPr>
          <a:xfrm>
            <a:off x="914400" y="2176272"/>
            <a:ext cx="4754880" cy="28072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Executes more recommendations.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Does not apply the full guard stack.</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May act during xApp conflict, drift, attack risk, policy risk, or timing uncertainty.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Baseline executable actions: 875.</a:t>
            </a:r>
            <a:endParaRPr lang="en-US" sz="1500" dirty="0"/>
          </a:p>
        </p:txBody>
      </p:sp>
      <p:sp>
        <p:nvSpPr>
          <p:cNvPr id="11" name="Shape 9"/>
          <p:cNvSpPr/>
          <p:nvPr/>
        </p:nvSpPr>
        <p:spPr>
          <a:xfrm>
            <a:off x="6263640" y="1737360"/>
            <a:ext cx="5029200" cy="333756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263640" y="1737360"/>
            <a:ext cx="502920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373368" y="1810512"/>
            <a:ext cx="48097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Guarded automation</a:t>
            </a:r>
            <a:endParaRPr lang="en-US" sz="1050" dirty="0"/>
          </a:p>
        </p:txBody>
      </p:sp>
      <p:sp>
        <p:nvSpPr>
          <p:cNvPr id="14" name="Text 12"/>
          <p:cNvSpPr/>
          <p:nvPr/>
        </p:nvSpPr>
        <p:spPr>
          <a:xfrm>
            <a:off x="6400800" y="2176272"/>
            <a:ext cx="4754880" cy="280720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Checks conflict, AML, drift, SLA, timing, spectrum, ZSM, and DTN readiness.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Allows fewer but safer actions.</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Guarded executable actions: 513.</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Unsafe baseline actions prevented: 362.</a:t>
            </a:r>
            <a:endParaRPr lang="en-US" sz="150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44</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DEVELOPED FILES</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Main implementation and hardening artifacts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These are the major local additions and structures developed in the project.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48640" y="1600200"/>
            <a:ext cx="3520440" cy="443484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48640" y="1600200"/>
            <a:ext cx="3520440" cy="310896"/>
          </a:xfrm>
          <a:prstGeom prst="rect">
            <a:avLst/>
          </a:prstGeom>
          <a:solidFill>
            <a:srgbClr val="1D4ED8"/>
          </a:solidFill>
          <a:ln w="12700">
            <a:solidFill>
              <a:srgbClr val="1D4ED8"/>
            </a:solidFill>
            <a:prstDash val="solid"/>
          </a:ln>
        </p:spPr>
        <p:txBody>
          <a:bodyPr/>
          <a:lstStyle/>
          <a:p>
            <a:endParaRPr lang="en-IN"/>
          </a:p>
        </p:txBody>
      </p:sp>
      <p:sp>
        <p:nvSpPr>
          <p:cNvPr id="9" name="Text 7"/>
          <p:cNvSpPr/>
          <p:nvPr/>
        </p:nvSpPr>
        <p:spPr>
          <a:xfrm>
            <a:off x="658368" y="1673352"/>
            <a:ext cx="33009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Core modules</a:t>
            </a:r>
            <a:endParaRPr lang="en-US" sz="1050" dirty="0"/>
          </a:p>
        </p:txBody>
      </p:sp>
      <p:sp>
        <p:nvSpPr>
          <p:cNvPr id="10" name="Text 8"/>
          <p:cNvSpPr/>
          <p:nvPr/>
        </p:nvSpPr>
        <p:spPr>
          <a:xfrm>
            <a:off x="685800" y="2039112"/>
            <a:ext cx="3246120" cy="3904488"/>
          </a:xfrm>
          <a:prstGeom prst="rect">
            <a:avLst/>
          </a:prstGeom>
          <a:noFill/>
          <a:ln/>
        </p:spPr>
        <p:txBody>
          <a:bodyPr wrap="square" lIns="254" tIns="254" rIns="254" bIns="254" rtlCol="0" anchor="t">
            <a:normAutofit/>
          </a:bodyPr>
          <a:lstStyle/>
          <a:p>
            <a:pPr marL="0" indent="0" algn="l">
              <a:buNone/>
            </a:pPr>
            <a:r>
              <a:rPr lang="en-US" sz="1360" dirty="0">
                <a:solidFill>
                  <a:srgbClr val="111827"/>
                </a:solidFill>
                <a:latin typeface="Aptos" pitchFamily="34" charset="0"/>
                <a:ea typeface="Aptos" pitchFamily="34" charset="-122"/>
                <a:cs typeface="Aptos" pitchFamily="34" charset="-120"/>
              </a:rPr>
              <a:t>- oran_twin/device_population.py</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oran_twin/model_registry.py</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oran_twin/persistence.py</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Digital twin/anomaly/RCA/healing engine modules.</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xApp-style runner/backend/frontend paths.</a:t>
            </a:r>
            <a:endParaRPr lang="en-US" sz="1360" dirty="0"/>
          </a:p>
        </p:txBody>
      </p:sp>
      <p:sp>
        <p:nvSpPr>
          <p:cNvPr id="11" name="Shape 9"/>
          <p:cNvSpPr/>
          <p:nvPr/>
        </p:nvSpPr>
        <p:spPr>
          <a:xfrm>
            <a:off x="4315968" y="1600200"/>
            <a:ext cx="3520440" cy="443484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4315968" y="1600200"/>
            <a:ext cx="352044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4425696" y="1673352"/>
            <a:ext cx="33009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Config and validation</a:t>
            </a:r>
            <a:endParaRPr lang="en-US" sz="1050" dirty="0"/>
          </a:p>
        </p:txBody>
      </p:sp>
      <p:sp>
        <p:nvSpPr>
          <p:cNvPr id="14" name="Text 12"/>
          <p:cNvSpPr/>
          <p:nvPr/>
        </p:nvSpPr>
        <p:spPr>
          <a:xfrm>
            <a:off x="4453128" y="2039112"/>
            <a:ext cx="3246120" cy="3904488"/>
          </a:xfrm>
          <a:prstGeom prst="rect">
            <a:avLst/>
          </a:prstGeom>
          <a:noFill/>
          <a:ln/>
        </p:spPr>
        <p:txBody>
          <a:bodyPr wrap="square" lIns="254" tIns="254" rIns="254" bIns="254" rtlCol="0" anchor="t">
            <a:normAutofit/>
          </a:bodyPr>
          <a:lstStyle/>
          <a:p>
            <a:pPr marL="0" indent="0" algn="l">
              <a:buNone/>
            </a:pPr>
            <a:r>
              <a:rPr lang="en-US" sz="1360" dirty="0">
                <a:solidFill>
                  <a:srgbClr val="111827"/>
                </a:solidFill>
                <a:latin typeface="Aptos" pitchFamily="34" charset="0"/>
                <a:ea typeface="Aptos" pitchFamily="34" charset="-122"/>
                <a:cs typeface="Aptos" pitchFamily="34" charset="-120"/>
              </a:rPr>
              <a:t>- configs/device_population_profiles.json</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configs/model_registry.json</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scripts/validate_local.ps1</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Dockerfile</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docker-compose.yml</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.dockerignore</a:t>
            </a:r>
            <a:endParaRPr lang="en-US" sz="1360" dirty="0"/>
          </a:p>
        </p:txBody>
      </p:sp>
      <p:sp>
        <p:nvSpPr>
          <p:cNvPr id="15" name="Shape 13"/>
          <p:cNvSpPr/>
          <p:nvPr/>
        </p:nvSpPr>
        <p:spPr>
          <a:xfrm>
            <a:off x="8092440" y="1600200"/>
            <a:ext cx="3520440" cy="443484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8092440" y="1600200"/>
            <a:ext cx="3520440" cy="310896"/>
          </a:xfrm>
          <a:prstGeom prst="rect">
            <a:avLst/>
          </a:prstGeom>
          <a:solidFill>
            <a:srgbClr val="C2410C"/>
          </a:solidFill>
          <a:ln w="12700">
            <a:solidFill>
              <a:srgbClr val="C2410C"/>
            </a:solidFill>
            <a:prstDash val="solid"/>
          </a:ln>
        </p:spPr>
        <p:txBody>
          <a:bodyPr/>
          <a:lstStyle/>
          <a:p>
            <a:endParaRPr lang="en-IN"/>
          </a:p>
        </p:txBody>
      </p:sp>
      <p:sp>
        <p:nvSpPr>
          <p:cNvPr id="17" name="Text 15"/>
          <p:cNvSpPr/>
          <p:nvPr/>
        </p:nvSpPr>
        <p:spPr>
          <a:xfrm>
            <a:off x="8202168" y="1673352"/>
            <a:ext cx="33009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Docs and outputs</a:t>
            </a:r>
            <a:endParaRPr lang="en-US" sz="1050" dirty="0"/>
          </a:p>
        </p:txBody>
      </p:sp>
      <p:sp>
        <p:nvSpPr>
          <p:cNvPr id="18" name="Text 16"/>
          <p:cNvSpPr/>
          <p:nvPr/>
        </p:nvSpPr>
        <p:spPr>
          <a:xfrm>
            <a:off x="8229600" y="2039112"/>
            <a:ext cx="3246120" cy="3904488"/>
          </a:xfrm>
          <a:prstGeom prst="rect">
            <a:avLst/>
          </a:prstGeom>
          <a:noFill/>
          <a:ln/>
        </p:spPr>
        <p:txBody>
          <a:bodyPr wrap="square" lIns="254" tIns="254" rIns="254" bIns="254" rtlCol="0" anchor="t">
            <a:normAutofit/>
          </a:bodyPr>
          <a:lstStyle/>
          <a:p>
            <a:pPr marL="0" indent="0" algn="l">
              <a:buNone/>
            </a:pPr>
            <a:r>
              <a:rPr lang="en-US" sz="1360" dirty="0">
                <a:solidFill>
                  <a:srgbClr val="111827"/>
                </a:solidFill>
                <a:latin typeface="Aptos" pitchFamily="34" charset="0"/>
                <a:ea typeface="Aptos" pitchFamily="34" charset="-122"/>
                <a:cs typeface="Aptos" pitchFamily="34" charset="-120"/>
              </a:rPr>
              <a:t>- docs/LOCAL_PRODUCTION_HARDENING_REPORT.md</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docs/DEMO_SCRIPT.md</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outputs/runs/local_hardening_full</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PPT/literature mapping decks.</a:t>
            </a:r>
            <a:endParaRPr lang="en-US" sz="1360" dirty="0"/>
          </a:p>
          <a:p>
            <a:pPr marL="0" indent="0" algn="l">
              <a:buNone/>
            </a:pPr>
            <a:r>
              <a:rPr lang="en-US" sz="1360" dirty="0">
                <a:solidFill>
                  <a:srgbClr val="111827"/>
                </a:solidFill>
                <a:latin typeface="Aptos" pitchFamily="34" charset="0"/>
                <a:ea typeface="Aptos" pitchFamily="34" charset="-122"/>
                <a:cs typeface="Aptos" pitchFamily="34" charset="-120"/>
              </a:rPr>
              <a:t>- Incident and evaluation reports.</a:t>
            </a:r>
            <a:endParaRPr lang="en-US" sz="1360" dirty="0"/>
          </a:p>
        </p:txBody>
      </p:sp>
      <p:sp>
        <p:nvSpPr>
          <p:cNvPr id="19" name="Text 1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45</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BEFORE VS AFTER</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Before and after system improvement</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shows the engineering maturity gained during development.</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00200"/>
            <a:ext cx="5212080" cy="42976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685800" y="1600200"/>
            <a:ext cx="521208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795528" y="1673352"/>
            <a:ext cx="49926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Before</a:t>
            </a:r>
            <a:endParaRPr lang="en-US" sz="1050" dirty="0"/>
          </a:p>
        </p:txBody>
      </p:sp>
      <p:sp>
        <p:nvSpPr>
          <p:cNvPr id="10" name="Text 8"/>
          <p:cNvSpPr/>
          <p:nvPr/>
        </p:nvSpPr>
        <p:spPr>
          <a:xfrm>
            <a:off x="822960" y="2039112"/>
            <a:ext cx="4937760" cy="3767328"/>
          </a:xfrm>
          <a:prstGeom prst="rect">
            <a:avLst/>
          </a:prstGeom>
          <a:noFill/>
          <a:ln/>
        </p:spPr>
        <p:txBody>
          <a:bodyPr wrap="square" lIns="254" tIns="254" rIns="254" bIns="254" rtlCol="0" anchor="t">
            <a:normAutofit/>
          </a:bodyPr>
          <a:lstStyle/>
          <a:p>
            <a:pPr marL="0" indent="0" algn="l">
              <a:buNone/>
            </a:pPr>
            <a:r>
              <a:rPr lang="en-US" sz="1500" dirty="0">
                <a:solidFill>
                  <a:srgbClr val="111827"/>
                </a:solidFill>
                <a:latin typeface="Aptos" pitchFamily="34" charset="0"/>
                <a:ea typeface="Aptos" pitchFamily="34" charset="-122"/>
                <a:cs typeface="Aptos" pitchFamily="34" charset="-120"/>
              </a:rPr>
              <a:t>- Cell/service KPI simulation only.</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Basic anomaly and RCA logic.</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Limited device-scale representation.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No strong xApp conflict/safety chain.</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No local persistence/reporting hardening.</a:t>
            </a:r>
            <a:endParaRPr lang="en-US" sz="1500" dirty="0"/>
          </a:p>
          <a:p>
            <a:pPr marL="0" indent="0" algn="l">
              <a:buNone/>
            </a:pPr>
            <a:r>
              <a:rPr lang="en-US" sz="1500" dirty="0">
                <a:solidFill>
                  <a:srgbClr val="111827"/>
                </a:solidFill>
                <a:latin typeface="Aptos" pitchFamily="34" charset="0"/>
                <a:ea typeface="Aptos" pitchFamily="34" charset="-122"/>
                <a:cs typeface="Aptos" pitchFamily="34" charset="-120"/>
              </a:rPr>
              <a:t>- OAI/FlexRIC-ready but not live-connected.</a:t>
            </a:r>
            <a:endParaRPr lang="en-US" sz="1500" dirty="0"/>
          </a:p>
        </p:txBody>
      </p:sp>
      <p:sp>
        <p:nvSpPr>
          <p:cNvPr id="11" name="Shape 9"/>
          <p:cNvSpPr/>
          <p:nvPr/>
        </p:nvSpPr>
        <p:spPr>
          <a:xfrm>
            <a:off x="6263640" y="1600200"/>
            <a:ext cx="5120640" cy="42976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6263640" y="1600200"/>
            <a:ext cx="5120640" cy="310896"/>
          </a:xfrm>
          <a:prstGeom prst="rect">
            <a:avLst/>
          </a:prstGeom>
          <a:solidFill>
            <a:srgbClr val="15803D"/>
          </a:solidFill>
          <a:ln w="12700">
            <a:solidFill>
              <a:srgbClr val="15803D"/>
            </a:solidFill>
            <a:prstDash val="solid"/>
          </a:ln>
        </p:spPr>
        <p:txBody>
          <a:bodyPr/>
          <a:lstStyle/>
          <a:p>
            <a:endParaRPr lang="en-IN"/>
          </a:p>
        </p:txBody>
      </p:sp>
      <p:sp>
        <p:nvSpPr>
          <p:cNvPr id="13" name="Text 11"/>
          <p:cNvSpPr/>
          <p:nvPr/>
        </p:nvSpPr>
        <p:spPr>
          <a:xfrm>
            <a:off x="6373368" y="1673352"/>
            <a:ext cx="490118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After</a:t>
            </a:r>
            <a:endParaRPr lang="en-US" sz="1050" dirty="0"/>
          </a:p>
        </p:txBody>
      </p:sp>
      <p:sp>
        <p:nvSpPr>
          <p:cNvPr id="14" name="Text 12"/>
          <p:cNvSpPr/>
          <p:nvPr/>
        </p:nvSpPr>
        <p:spPr>
          <a:xfrm>
            <a:off x="6400800" y="2039112"/>
            <a:ext cx="4846320" cy="3767328"/>
          </a:xfrm>
          <a:prstGeom prst="rect">
            <a:avLst/>
          </a:prstGeom>
          <a:noFill/>
          <a:ln/>
        </p:spPr>
        <p:txBody>
          <a:bodyPr wrap="square" lIns="254" tIns="254" rIns="254" bIns="254" rtlCol="0" anchor="t">
            <a:normAutofit/>
          </a:bodyPr>
          <a:lstStyle/>
          <a:p>
            <a:pPr marL="0" indent="0" algn="l">
              <a:buNone/>
            </a:pPr>
            <a:r>
              <a:rPr lang="en-US" sz="1470" dirty="0">
                <a:solidFill>
                  <a:srgbClr val="111827"/>
                </a:solidFill>
                <a:latin typeface="Aptos" pitchFamily="34" charset="0"/>
                <a:ea typeface="Aptos" pitchFamily="34" charset="-122"/>
                <a:cs typeface="Aptos" pitchFamily="34" charset="-120"/>
              </a:rPr>
              <a:t>- Large-scale virtual device population.</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Digital twin + anomaly + RCA + healing workflow.</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xApp-style conflict mitigation.</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AML, drift, SLA, timing, spectrum, ZSM, DTN guard checks.</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Automation safety score and final decision.</a:t>
            </a:r>
            <a:endParaRPr lang="en-US" sz="1470" dirty="0"/>
          </a:p>
          <a:p>
            <a:pPr marL="0" indent="0" algn="l">
              <a:buNone/>
            </a:pPr>
            <a:r>
              <a:rPr lang="en-US" sz="1470" dirty="0">
                <a:solidFill>
                  <a:srgbClr val="111827"/>
                </a:solidFill>
                <a:latin typeface="Aptos" pitchFamily="34" charset="0"/>
                <a:ea typeface="Aptos" pitchFamily="34" charset="-122"/>
                <a:cs typeface="Aptos" pitchFamily="34" charset="-120"/>
              </a:rPr>
              <a:t>- SQLite audit, health checks, reports, Docker, validation, model registry.</a:t>
            </a:r>
            <a:endParaRPr lang="en-US" sz="147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46</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END-TO-END FLOW</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Complete smallest-to-largest process</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is the whole pipeline in one view.</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685800" y="1645920"/>
            <a:ext cx="10835640" cy="4434840"/>
          </a:xfrm>
          <a:prstGeom prst="rect">
            <a:avLst/>
          </a:prstGeom>
          <a:solidFill>
            <a:srgbClr val="111827"/>
          </a:solidFill>
          <a:ln w="12700">
            <a:solidFill>
              <a:srgbClr val="374151"/>
            </a:solidFill>
            <a:prstDash val="solid"/>
          </a:ln>
        </p:spPr>
        <p:txBody>
          <a:bodyPr/>
          <a:lstStyle/>
          <a:p>
            <a:endParaRPr lang="en-IN"/>
          </a:p>
        </p:txBody>
      </p:sp>
      <p:sp>
        <p:nvSpPr>
          <p:cNvPr id="8" name="Text 6"/>
          <p:cNvSpPr/>
          <p:nvPr/>
        </p:nvSpPr>
        <p:spPr>
          <a:xfrm>
            <a:off x="813816" y="1755648"/>
            <a:ext cx="10579608" cy="4215384"/>
          </a:xfrm>
          <a:prstGeom prst="rect">
            <a:avLst/>
          </a:prstGeom>
          <a:noFill/>
          <a:ln/>
        </p:spPr>
        <p:txBody>
          <a:bodyPr wrap="square" lIns="0" tIns="0" rIns="0" bIns="0" rtlCol="0" anchor="t">
            <a:normAutofit/>
          </a:bodyPr>
          <a:lstStyle/>
          <a:p>
            <a:pPr marL="0" indent="0" algn="l">
              <a:buNone/>
            </a:pPr>
            <a:r>
              <a:rPr lang="en-US" sz="1700" dirty="0">
                <a:solidFill>
                  <a:srgbClr val="F9FAFB"/>
                </a:solidFill>
                <a:latin typeface="Consolas" pitchFamily="34" charset="0"/>
                <a:ea typeface="Consolas" pitchFamily="34" charset="-122"/>
                <a:cs typeface="Consolas" pitchFamily="34" charset="-120"/>
              </a:rPr>
              <a:t>Single KPI value</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Telemetry record</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Cell/service/slice state</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Digital twin update</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KPI normalization</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Anomaly detection</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Fault signature match</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RCA</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Severity scoring</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Healing recommendation</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xApp proposal</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Safety guard checks</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Automation safety score</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Allow / Monitor / Block / Human Approval</a:t>
            </a:r>
            <a:endParaRPr lang="en-US" sz="1700" dirty="0"/>
          </a:p>
          <a:p>
            <a:pPr marL="0" indent="0" algn="l">
              <a:buNone/>
            </a:pPr>
            <a:r>
              <a:rPr lang="en-US" sz="1700" dirty="0">
                <a:solidFill>
                  <a:srgbClr val="F9FAFB"/>
                </a:solidFill>
                <a:latin typeface="Consolas" pitchFamily="34" charset="0"/>
                <a:ea typeface="Consolas" pitchFamily="34" charset="-122"/>
                <a:cs typeface="Consolas" pitchFamily="34" charset="-120"/>
              </a:rPr>
              <a:t>-&gt; RIC/xApp control payload + dashboard/report/database</a:t>
            </a:r>
            <a:endParaRPr lang="en-US" sz="1700" dirty="0"/>
          </a:p>
        </p:txBody>
      </p:sp>
      <p:sp>
        <p:nvSpPr>
          <p:cNvPr id="9" name="Text 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47</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5.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pic>
        <p:nvPicPr>
          <p:cNvPr id="2" name="Image 0" descr="C:\Users\Admin\Documents\AI-Native Self-Healing O-RAN Network using a Digital Twin\outputs\presentations\replacement_architecture_slides\replacement_architecture_0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WHAT IS NOT DONE</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Remaining work for production-grade O-RAN</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This is the honest boundary of the current prototype.</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594360" y="1600200"/>
            <a:ext cx="3657600" cy="443484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594360" y="1600200"/>
            <a:ext cx="3657600" cy="310896"/>
          </a:xfrm>
          <a:prstGeom prst="rect">
            <a:avLst/>
          </a:prstGeom>
          <a:solidFill>
            <a:srgbClr val="B91C1C"/>
          </a:solidFill>
          <a:ln w="12700">
            <a:solidFill>
              <a:srgbClr val="B91C1C"/>
            </a:solidFill>
            <a:prstDash val="solid"/>
          </a:ln>
        </p:spPr>
        <p:txBody>
          <a:bodyPr/>
          <a:lstStyle/>
          <a:p>
            <a:endParaRPr lang="en-IN"/>
          </a:p>
        </p:txBody>
      </p:sp>
      <p:sp>
        <p:nvSpPr>
          <p:cNvPr id="9" name="Text 7"/>
          <p:cNvSpPr/>
          <p:nvPr/>
        </p:nvSpPr>
        <p:spPr>
          <a:xfrm>
            <a:off x="704088" y="1673352"/>
            <a:ext cx="34381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Real RAN integration</a:t>
            </a:r>
            <a:endParaRPr lang="en-US" sz="1050" dirty="0"/>
          </a:p>
        </p:txBody>
      </p:sp>
      <p:sp>
        <p:nvSpPr>
          <p:cNvPr id="10" name="Text 8"/>
          <p:cNvSpPr/>
          <p:nvPr/>
        </p:nvSpPr>
        <p:spPr>
          <a:xfrm>
            <a:off x="731520" y="2039112"/>
            <a:ext cx="3383280" cy="3904488"/>
          </a:xfrm>
          <a:prstGeom prst="rect">
            <a:avLst/>
          </a:prstGeom>
          <a:noFill/>
          <a:ln/>
        </p:spPr>
        <p:txBody>
          <a:bodyPr wrap="square" lIns="254" tIns="254" rIns="254" bIns="254" rtlCol="0" anchor="t">
            <a:normAutofit/>
          </a:bodyPr>
          <a:lstStyle/>
          <a:p>
            <a:pPr marL="0" indent="0" algn="l">
              <a:buNone/>
            </a:pPr>
            <a:r>
              <a:rPr lang="en-US" sz="1450" dirty="0">
                <a:solidFill>
                  <a:srgbClr val="111827"/>
                </a:solidFill>
                <a:latin typeface="Aptos" pitchFamily="34" charset="0"/>
                <a:ea typeface="Aptos" pitchFamily="34" charset="-122"/>
                <a:cs typeface="Aptos" pitchFamily="34" charset="-120"/>
              </a:rPr>
              <a:t>- Live OAI / srsRAN / FlexRIC telemetry.</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Real E2SM-KPM KPI ingestion.</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Real Near-RT RIC xApp deployment.</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Real O1/SMO policy integration.</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Live per-UE monitoring.</a:t>
            </a:r>
            <a:endParaRPr lang="en-US" sz="1450" dirty="0"/>
          </a:p>
        </p:txBody>
      </p:sp>
      <p:sp>
        <p:nvSpPr>
          <p:cNvPr id="11" name="Shape 9"/>
          <p:cNvSpPr/>
          <p:nvPr/>
        </p:nvSpPr>
        <p:spPr>
          <a:xfrm>
            <a:off x="4526280" y="1600200"/>
            <a:ext cx="3429000" cy="443484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4526280" y="1600200"/>
            <a:ext cx="3429000" cy="310896"/>
          </a:xfrm>
          <a:prstGeom prst="rect">
            <a:avLst/>
          </a:prstGeom>
          <a:solidFill>
            <a:srgbClr val="C2410C"/>
          </a:solidFill>
          <a:ln w="12700">
            <a:solidFill>
              <a:srgbClr val="C2410C"/>
            </a:solidFill>
            <a:prstDash val="solid"/>
          </a:ln>
        </p:spPr>
        <p:txBody>
          <a:bodyPr/>
          <a:lstStyle/>
          <a:p>
            <a:endParaRPr lang="en-IN"/>
          </a:p>
        </p:txBody>
      </p:sp>
      <p:sp>
        <p:nvSpPr>
          <p:cNvPr id="13" name="Text 11"/>
          <p:cNvSpPr/>
          <p:nvPr/>
        </p:nvSpPr>
        <p:spPr>
          <a:xfrm>
            <a:off x="4636008" y="1673352"/>
            <a:ext cx="320954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ML benchmarking</a:t>
            </a:r>
            <a:endParaRPr lang="en-US" sz="1050" dirty="0"/>
          </a:p>
        </p:txBody>
      </p:sp>
      <p:sp>
        <p:nvSpPr>
          <p:cNvPr id="14" name="Text 12"/>
          <p:cNvSpPr/>
          <p:nvPr/>
        </p:nvSpPr>
        <p:spPr>
          <a:xfrm>
            <a:off x="4663440" y="2039112"/>
            <a:ext cx="3154680" cy="3904488"/>
          </a:xfrm>
          <a:prstGeom prst="rect">
            <a:avLst/>
          </a:prstGeom>
          <a:noFill/>
          <a:ln/>
        </p:spPr>
        <p:txBody>
          <a:bodyPr wrap="square" lIns="254" tIns="254" rIns="254" bIns="254" rtlCol="0" anchor="t">
            <a:normAutofit/>
          </a:bodyPr>
          <a:lstStyle/>
          <a:p>
            <a:pPr marL="0" indent="0" algn="l">
              <a:buNone/>
            </a:pPr>
            <a:r>
              <a:rPr lang="en-US" sz="1450" dirty="0">
                <a:solidFill>
                  <a:srgbClr val="111827"/>
                </a:solidFill>
                <a:latin typeface="Aptos" pitchFamily="34" charset="0"/>
                <a:ea typeface="Aptos" pitchFamily="34" charset="-122"/>
                <a:cs typeface="Aptos" pitchFamily="34" charset="-120"/>
              </a:rPr>
              <a:t>- Train ML anomaly models.</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Train or benchmark RCA models.</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Compare trained ML to rule/window baseline.</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Add model confidence testing.</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Add rollback gates based on metrics.</a:t>
            </a:r>
            <a:endParaRPr lang="en-US" sz="1450" dirty="0"/>
          </a:p>
        </p:txBody>
      </p:sp>
      <p:sp>
        <p:nvSpPr>
          <p:cNvPr id="15" name="Shape 13"/>
          <p:cNvSpPr/>
          <p:nvPr/>
        </p:nvSpPr>
        <p:spPr>
          <a:xfrm>
            <a:off x="8229600" y="1600200"/>
            <a:ext cx="3337560" cy="4434840"/>
          </a:xfrm>
          <a:prstGeom prst="rect">
            <a:avLst/>
          </a:prstGeom>
          <a:solidFill>
            <a:srgbClr val="F8FAFC"/>
          </a:solidFill>
          <a:ln w="10160">
            <a:solidFill>
              <a:srgbClr val="CBD5E1"/>
            </a:solidFill>
            <a:prstDash val="solid"/>
          </a:ln>
        </p:spPr>
        <p:txBody>
          <a:bodyPr/>
          <a:lstStyle/>
          <a:p>
            <a:endParaRPr lang="en-IN"/>
          </a:p>
        </p:txBody>
      </p:sp>
      <p:sp>
        <p:nvSpPr>
          <p:cNvPr id="16" name="Shape 14"/>
          <p:cNvSpPr/>
          <p:nvPr/>
        </p:nvSpPr>
        <p:spPr>
          <a:xfrm>
            <a:off x="8229600" y="1600200"/>
            <a:ext cx="3337560" cy="310896"/>
          </a:xfrm>
          <a:prstGeom prst="rect">
            <a:avLst/>
          </a:prstGeom>
          <a:solidFill>
            <a:srgbClr val="6D28D9"/>
          </a:solidFill>
          <a:ln w="12700">
            <a:solidFill>
              <a:srgbClr val="6D28D9"/>
            </a:solidFill>
            <a:prstDash val="solid"/>
          </a:ln>
        </p:spPr>
        <p:txBody>
          <a:bodyPr/>
          <a:lstStyle/>
          <a:p>
            <a:endParaRPr lang="en-IN"/>
          </a:p>
        </p:txBody>
      </p:sp>
      <p:sp>
        <p:nvSpPr>
          <p:cNvPr id="17" name="Text 15"/>
          <p:cNvSpPr/>
          <p:nvPr/>
        </p:nvSpPr>
        <p:spPr>
          <a:xfrm>
            <a:off x="8339328" y="1673352"/>
            <a:ext cx="311810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PHY-layer AI</a:t>
            </a:r>
            <a:endParaRPr lang="en-US" sz="1050" dirty="0"/>
          </a:p>
        </p:txBody>
      </p:sp>
      <p:sp>
        <p:nvSpPr>
          <p:cNvPr id="18" name="Text 16"/>
          <p:cNvSpPr/>
          <p:nvPr/>
        </p:nvSpPr>
        <p:spPr>
          <a:xfrm>
            <a:off x="8366760" y="2039112"/>
            <a:ext cx="3063240" cy="3904488"/>
          </a:xfrm>
          <a:prstGeom prst="rect">
            <a:avLst/>
          </a:prstGeom>
          <a:noFill/>
          <a:ln/>
        </p:spPr>
        <p:txBody>
          <a:bodyPr wrap="square" lIns="254" tIns="254" rIns="254" bIns="254" rtlCol="0" anchor="t">
            <a:normAutofit/>
          </a:bodyPr>
          <a:lstStyle/>
          <a:p>
            <a:pPr marL="0" indent="0" algn="l">
              <a:buNone/>
            </a:pPr>
            <a:r>
              <a:rPr lang="en-US" sz="1450" dirty="0">
                <a:solidFill>
                  <a:srgbClr val="111827"/>
                </a:solidFill>
                <a:latin typeface="Aptos" pitchFamily="34" charset="0"/>
                <a:ea typeface="Aptos" pitchFamily="34" charset="-122"/>
                <a:cs typeface="Aptos" pitchFamily="34" charset="-120"/>
              </a:rPr>
              <a:t>- Use IQ/PHY traces.</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Low-PHY/O-RU AI.</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High-PHY/O-DU AI.</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SDR/GPU/real-time Linux validation.</a:t>
            </a:r>
            <a:endParaRPr lang="en-US" sz="1450" dirty="0"/>
          </a:p>
          <a:p>
            <a:pPr marL="0" indent="0" algn="l">
              <a:buNone/>
            </a:pPr>
            <a:r>
              <a:rPr lang="en-US" sz="1450" dirty="0">
                <a:solidFill>
                  <a:srgbClr val="111827"/>
                </a:solidFill>
                <a:latin typeface="Aptos" pitchFamily="34" charset="0"/>
                <a:ea typeface="Aptos" pitchFamily="34" charset="-122"/>
                <a:cs typeface="Aptos" pitchFamily="34" charset="-120"/>
              </a:rPr>
              <a:t>- Deeper telecom/DSP validation.</a:t>
            </a:r>
            <a:endParaRPr lang="en-US" sz="1450" dirty="0"/>
          </a:p>
        </p:txBody>
      </p:sp>
      <p:sp>
        <p:nvSpPr>
          <p:cNvPr id="19" name="Text 17"/>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54</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4ED8"/>
          </a:solidFill>
          <a:ln w="12700">
            <a:solidFill>
              <a:srgbClr val="1D4ED8"/>
            </a:solidFill>
            <a:prstDash val="solid"/>
          </a:ln>
        </p:spPr>
        <p:txBody>
          <a:bodyPr/>
          <a:lstStyle/>
          <a:p>
            <a:endParaRPr lang="en-IN"/>
          </a:p>
        </p:txBody>
      </p:sp>
      <p:sp>
        <p:nvSpPr>
          <p:cNvPr id="3" name="Text 1"/>
          <p:cNvSpPr/>
          <p:nvPr/>
        </p:nvSpPr>
        <p:spPr>
          <a:xfrm>
            <a:off x="438912" y="256032"/>
            <a:ext cx="3931920" cy="201168"/>
          </a:xfrm>
          <a:prstGeom prst="rect">
            <a:avLst/>
          </a:prstGeom>
          <a:noFill/>
          <a:ln/>
        </p:spPr>
        <p:txBody>
          <a:bodyPr wrap="square" lIns="0" tIns="0" rIns="0" bIns="0" rtlCol="0" anchor="t">
            <a:normAutofit/>
          </a:bodyPr>
          <a:lstStyle/>
          <a:p>
            <a:pPr marL="0" indent="0" algn="l">
              <a:buNone/>
            </a:pPr>
            <a:r>
              <a:rPr lang="en-US" sz="1050" b="1" dirty="0">
                <a:solidFill>
                  <a:srgbClr val="1D4ED8"/>
                </a:solidFill>
                <a:latin typeface="Aptos" pitchFamily="34" charset="0"/>
                <a:ea typeface="Aptos" pitchFamily="34" charset="-122"/>
                <a:cs typeface="Aptos" pitchFamily="34" charset="-120"/>
              </a:rPr>
              <a:t>FINAL CLAIM</a:t>
            </a:r>
            <a:endParaRPr lang="en-US" sz="1050" dirty="0"/>
          </a:p>
        </p:txBody>
      </p:sp>
      <p:sp>
        <p:nvSpPr>
          <p:cNvPr id="4" name="Text 2"/>
          <p:cNvSpPr/>
          <p:nvPr/>
        </p:nvSpPr>
        <p:spPr>
          <a:xfrm>
            <a:off x="438912" y="530352"/>
            <a:ext cx="11292840" cy="438912"/>
          </a:xfrm>
          <a:prstGeom prst="rect">
            <a:avLst/>
          </a:prstGeom>
          <a:noFill/>
          <a:ln/>
        </p:spPr>
        <p:txBody>
          <a:bodyPr wrap="square" lIns="0" tIns="0" rIns="0" bIns="0" rtlCol="0" anchor="t">
            <a:normAutofit/>
          </a:bodyPr>
          <a:lstStyle/>
          <a:p>
            <a:pPr marL="0" indent="0" algn="l">
              <a:buNone/>
            </a:pPr>
            <a:r>
              <a:rPr lang="en-US" sz="2400" b="1" dirty="0">
                <a:solidFill>
                  <a:srgbClr val="111827"/>
                </a:solidFill>
                <a:latin typeface="Aptos Display" pitchFamily="34" charset="0"/>
                <a:ea typeface="Aptos Display" pitchFamily="34" charset="-122"/>
                <a:cs typeface="Aptos Display" pitchFamily="34" charset="-120"/>
              </a:rPr>
              <a:t>Correct final project claim</a:t>
            </a:r>
            <a:endParaRPr lang="en-US" sz="2400" dirty="0"/>
          </a:p>
        </p:txBody>
      </p:sp>
      <p:sp>
        <p:nvSpPr>
          <p:cNvPr id="5" name="Text 3"/>
          <p:cNvSpPr/>
          <p:nvPr/>
        </p:nvSpPr>
        <p:spPr>
          <a:xfrm>
            <a:off x="457200" y="1005840"/>
            <a:ext cx="11064240" cy="274320"/>
          </a:xfrm>
          <a:prstGeom prst="rect">
            <a:avLst/>
          </a:prstGeom>
          <a:noFill/>
          <a:ln/>
        </p:spPr>
        <p:txBody>
          <a:bodyPr wrap="square" lIns="0" tIns="0" rIns="0" bIns="0" rtlCol="0" anchor="t">
            <a:normAutofit/>
          </a:bodyPr>
          <a:lstStyle/>
          <a:p>
            <a:pPr marL="0" indent="0" algn="l">
              <a:buNone/>
            </a:pPr>
            <a:r>
              <a:rPr lang="en-US" sz="1350" dirty="0">
                <a:solidFill>
                  <a:srgbClr val="4B5563"/>
                </a:solidFill>
                <a:latin typeface="Aptos" pitchFamily="34" charset="0"/>
                <a:ea typeface="Aptos" pitchFamily="34" charset="-122"/>
                <a:cs typeface="Aptos" pitchFamily="34" charset="-120"/>
              </a:rPr>
              <a:t>Use this wording in presentation.</a:t>
            </a:r>
            <a:endParaRPr lang="en-US" sz="1350" dirty="0"/>
          </a:p>
        </p:txBody>
      </p:sp>
      <p:sp>
        <p:nvSpPr>
          <p:cNvPr id="6" name="Shape 4"/>
          <p:cNvSpPr/>
          <p:nvPr/>
        </p:nvSpPr>
        <p:spPr>
          <a:xfrm>
            <a:off x="438912" y="1353312"/>
            <a:ext cx="11292840" cy="0"/>
          </a:xfrm>
          <a:prstGeom prst="line">
            <a:avLst/>
          </a:prstGeom>
          <a:noFill/>
          <a:ln w="12700">
            <a:solidFill>
              <a:srgbClr val="CBD5E1"/>
            </a:solidFill>
            <a:prstDash val="solid"/>
          </a:ln>
        </p:spPr>
        <p:txBody>
          <a:bodyPr/>
          <a:lstStyle/>
          <a:p>
            <a:endParaRPr lang="en-IN"/>
          </a:p>
        </p:txBody>
      </p:sp>
      <p:sp>
        <p:nvSpPr>
          <p:cNvPr id="7" name="Shape 5"/>
          <p:cNvSpPr/>
          <p:nvPr/>
        </p:nvSpPr>
        <p:spPr>
          <a:xfrm>
            <a:off x="822960" y="1737360"/>
            <a:ext cx="10469880" cy="2011680"/>
          </a:xfrm>
          <a:prstGeom prst="rect">
            <a:avLst/>
          </a:prstGeom>
          <a:solidFill>
            <a:srgbClr val="F8FAFC"/>
          </a:solidFill>
          <a:ln w="10160">
            <a:solidFill>
              <a:srgbClr val="CBD5E1"/>
            </a:solidFill>
            <a:prstDash val="solid"/>
          </a:ln>
        </p:spPr>
        <p:txBody>
          <a:bodyPr/>
          <a:lstStyle/>
          <a:p>
            <a:endParaRPr lang="en-IN"/>
          </a:p>
        </p:txBody>
      </p:sp>
      <p:sp>
        <p:nvSpPr>
          <p:cNvPr id="8" name="Shape 6"/>
          <p:cNvSpPr/>
          <p:nvPr/>
        </p:nvSpPr>
        <p:spPr>
          <a:xfrm>
            <a:off x="822960" y="1737360"/>
            <a:ext cx="10469880" cy="310896"/>
          </a:xfrm>
          <a:prstGeom prst="rect">
            <a:avLst/>
          </a:prstGeom>
          <a:solidFill>
            <a:srgbClr val="15803D"/>
          </a:solidFill>
          <a:ln w="12700">
            <a:solidFill>
              <a:srgbClr val="15803D"/>
            </a:solidFill>
            <a:prstDash val="solid"/>
          </a:ln>
        </p:spPr>
        <p:txBody>
          <a:bodyPr/>
          <a:lstStyle/>
          <a:p>
            <a:endParaRPr lang="en-IN"/>
          </a:p>
        </p:txBody>
      </p:sp>
      <p:sp>
        <p:nvSpPr>
          <p:cNvPr id="9" name="Text 7"/>
          <p:cNvSpPr/>
          <p:nvPr/>
        </p:nvSpPr>
        <p:spPr>
          <a:xfrm>
            <a:off x="932688" y="1810512"/>
            <a:ext cx="10250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Recommended wording</a:t>
            </a:r>
            <a:endParaRPr lang="en-US" sz="1050" dirty="0"/>
          </a:p>
        </p:txBody>
      </p:sp>
      <p:sp>
        <p:nvSpPr>
          <p:cNvPr id="10" name="Text 8"/>
          <p:cNvSpPr/>
          <p:nvPr/>
        </p:nvSpPr>
        <p:spPr>
          <a:xfrm>
            <a:off x="960120" y="2176272"/>
            <a:ext cx="10195560" cy="1481328"/>
          </a:xfrm>
          <a:prstGeom prst="rect">
            <a:avLst/>
          </a:prstGeom>
          <a:noFill/>
          <a:ln/>
        </p:spPr>
        <p:txBody>
          <a:bodyPr wrap="square" lIns="254" tIns="254" rIns="254" bIns="254" rtlCol="0" anchor="t">
            <a:normAutofit/>
          </a:bodyPr>
          <a:lstStyle/>
          <a:p>
            <a:pPr marL="0" indent="0" algn="l">
              <a:buNone/>
            </a:pPr>
            <a:r>
              <a:rPr lang="en-US" sz="1700" dirty="0">
                <a:solidFill>
                  <a:srgbClr val="111827"/>
                </a:solidFill>
                <a:latin typeface="Aptos" pitchFamily="34" charset="0"/>
                <a:ea typeface="Aptos" pitchFamily="34" charset="-122"/>
                <a:cs typeface="Aptos" pitchFamily="34" charset="-120"/>
              </a:rPr>
              <a:t>This project implements an AI-native self-healing intelligence layer for O-RAN using a digital twin. It monitors service and radio-performance degradation affecting O-RU, O-DU, and O-CU, performs anomaly detection, RCA, healing recommendation, xApp conflict checks, and safety gating, and produces RIC/xApp-ready control outputs with reports and evaluation metrics.</a:t>
            </a:r>
            <a:endParaRPr lang="en-US" sz="1700" dirty="0"/>
          </a:p>
        </p:txBody>
      </p:sp>
      <p:sp>
        <p:nvSpPr>
          <p:cNvPr id="11" name="Shape 9"/>
          <p:cNvSpPr/>
          <p:nvPr/>
        </p:nvSpPr>
        <p:spPr>
          <a:xfrm>
            <a:off x="822960" y="4297680"/>
            <a:ext cx="10469880" cy="1325880"/>
          </a:xfrm>
          <a:prstGeom prst="rect">
            <a:avLst/>
          </a:prstGeom>
          <a:solidFill>
            <a:srgbClr val="F8FAFC"/>
          </a:solidFill>
          <a:ln w="10160">
            <a:solidFill>
              <a:srgbClr val="CBD5E1"/>
            </a:solidFill>
            <a:prstDash val="solid"/>
          </a:ln>
        </p:spPr>
        <p:txBody>
          <a:bodyPr/>
          <a:lstStyle/>
          <a:p>
            <a:endParaRPr lang="en-IN"/>
          </a:p>
        </p:txBody>
      </p:sp>
      <p:sp>
        <p:nvSpPr>
          <p:cNvPr id="12" name="Shape 10"/>
          <p:cNvSpPr/>
          <p:nvPr/>
        </p:nvSpPr>
        <p:spPr>
          <a:xfrm>
            <a:off x="822960" y="4297680"/>
            <a:ext cx="10469880" cy="310896"/>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932688" y="4370832"/>
            <a:ext cx="10250424" cy="146304"/>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pitchFamily="34" charset="0"/>
                <a:ea typeface="Aptos" pitchFamily="34" charset="-122"/>
                <a:cs typeface="Aptos" pitchFamily="34" charset="-120"/>
              </a:rPr>
              <a:t>Important boundary</a:t>
            </a:r>
            <a:endParaRPr lang="en-US" sz="1050" dirty="0"/>
          </a:p>
        </p:txBody>
      </p:sp>
      <p:sp>
        <p:nvSpPr>
          <p:cNvPr id="14" name="Text 12"/>
          <p:cNvSpPr/>
          <p:nvPr/>
        </p:nvSpPr>
        <p:spPr>
          <a:xfrm>
            <a:off x="960120" y="4736592"/>
            <a:ext cx="10195560" cy="795528"/>
          </a:xfrm>
          <a:prstGeom prst="rect">
            <a:avLst/>
          </a:prstGeom>
          <a:noFill/>
          <a:ln/>
        </p:spPr>
        <p:txBody>
          <a:bodyPr wrap="square" lIns="254" tIns="254" rIns="254" bIns="254" rtlCol="0" anchor="t">
            <a:normAutofit/>
          </a:bodyPr>
          <a:lstStyle/>
          <a:p>
            <a:pPr marL="0" indent="0" algn="l">
              <a:buNone/>
            </a:pPr>
            <a:r>
              <a:rPr lang="en-US" sz="1650" dirty="0">
                <a:solidFill>
                  <a:srgbClr val="111827"/>
                </a:solidFill>
                <a:latin typeface="Aptos" pitchFamily="34" charset="0"/>
                <a:ea typeface="Aptos" pitchFamily="34" charset="-122"/>
                <a:cs typeface="Aptos" pitchFamily="34" charset="-120"/>
              </a:rPr>
              <a:t>The current implementation is a local research prototype with simulated O-RAN-ready telemetry. Real OAI/FlexRIC integration, live xApp deployment, real per-UE telemetry, trained ML benchmarking, and real PHY-layer AI remain future work.</a:t>
            </a:r>
            <a:endParaRPr lang="en-US" sz="1650" dirty="0"/>
          </a:p>
        </p:txBody>
      </p:sp>
      <p:sp>
        <p:nvSpPr>
          <p:cNvPr id="15" name="Text 13"/>
          <p:cNvSpPr/>
          <p:nvPr/>
        </p:nvSpPr>
        <p:spPr>
          <a:xfrm>
            <a:off x="438912" y="6492240"/>
            <a:ext cx="6217920" cy="164592"/>
          </a:xfrm>
          <a:prstGeom prst="rect">
            <a:avLst/>
          </a:prstGeom>
          <a:noFill/>
          <a:ln/>
        </p:spPr>
        <p:txBody>
          <a:bodyPr wrap="square" lIns="0" tIns="0" rIns="0" bIns="0" rtlCol="0" anchor="t">
            <a:normAutofit/>
          </a:bodyPr>
          <a:lstStyle/>
          <a:p>
            <a:pPr marL="0" indent="0" algn="l">
              <a:buNone/>
            </a:pPr>
            <a:r>
              <a:rPr lang="en-US" sz="850" dirty="0">
                <a:solidFill>
                  <a:srgbClr val="4B5563"/>
                </a:solidFill>
                <a:latin typeface="Aptos" pitchFamily="34" charset="0"/>
                <a:ea typeface="Aptos" pitchFamily="34" charset="-122"/>
                <a:cs typeface="Aptos" pitchFamily="34" charset="-120"/>
              </a:rPr>
              <a:t>AI-Native Self-Healing O-RAN Technical Methodology | 55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5718</Words>
  <Application>Microsoft Office PowerPoint</Application>
  <PresentationFormat>Widescreen</PresentationFormat>
  <Paragraphs>879</Paragraphs>
  <Slides>55</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Local Research Prototype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AI-Native Self-Healing O-RAN Technical Methodology</dc:title>
  <dc:subject>Complete internal methodology, inputs, calculations, outputs, and results</dc:subject>
  <dc:creator>AI-Native Self-Healing O-RAN Digital Twin</dc:creator>
  <cp:lastModifiedBy>TANMAYA KUMAR-[BL.EN.U4EAC23058]</cp:lastModifiedBy>
  <cp:revision>2</cp:revision>
  <dcterms:created xsi:type="dcterms:W3CDTF">2026-06-11T04:44:46Z</dcterms:created>
  <dcterms:modified xsi:type="dcterms:W3CDTF">2026-06-11T04:51:00Z</dcterms:modified>
</cp:coreProperties>
</file>
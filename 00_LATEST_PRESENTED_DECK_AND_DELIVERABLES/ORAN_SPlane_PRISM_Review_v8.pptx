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86" r:id="rId37"/>
    <p:sldId id="258" r:id="rId4"/>
    <p:sldId id="287" r:id="rId38"/>
    <p:sldId id="288" r:id="rId39"/>
    <p:sldId id="259" r:id="rId5"/>
    <p:sldId id="260" r:id="rId6"/>
    <p:sldId id="289" r:id="rId40"/>
    <p:sldId id="290" r:id="rId41"/>
    <p:sldId id="291" r:id="rId42"/>
    <p:sldId id="292" r:id="rId43"/>
    <p:sldId id="261" r:id="rId7"/>
    <p:sldId id="262" r:id="rId8"/>
    <p:sldId id="263" r:id="rId9"/>
    <p:sldId id="264" r:id="rId10"/>
    <p:sldId id="265" r:id="rId11"/>
    <p:sldId id="266" r:id="rId12"/>
    <p:sldId id="267" r:id="rId13"/>
    <p:sldId id="293" r:id="rId44"/>
    <p:sldId id="294" r:id="rId45"/>
    <p:sldId id="268" r:id="rId14"/>
    <p:sldId id="295" r:id="rId46"/>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96" r:id="rId47"/>
    <p:sldId id="285" r:id="rId31"/>
    <p:sldId id="297" r:id="rId4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446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Samsung PRISM worklet definition, reproduced unchanged.
Worklet objective 5 and expected outcome 4 both require comparison against rule-based methods. That requirement is answered on the rule-versus-ML slide.
Objectives 2 (prediction) and 4 (automated corrective action) are addressed in the scope-disclosure slide as not yet executed.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reports the Open Fronthaul S-plane timing-security sub-scope: what was implemented, what data was generated, what was inferred, and what remains.
Milestone mapping is retained in the speaker notes of each slide rather than in the visible titles.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M1 system architecture design.
Sources: O-RAN Alliance, O-RAN Architecture Description (published by ETSI as TS 103 982); O-RAN.WG4.CUS.0 Control, User and Synchronization Plane Specification; 3GPP TS 38.401.
Reading order for the audience: the upper row is the O-RAN reference architecture; the lower-left chain is the S-plane timing path (PRTC/grandmaster to boundary clock to O-RU); the highlighted block is the exact region this project worked on; the bottom row is our processing chain from feature extraction to the safe response decision.
Note for questions: E2 terminates at O-CU-CP, O-CU-UP, O-DU and O-eNB — it does not reach the O-RU. The project boundary sits on the Open Fronthaul, where E2 does not apply.
SyncE is a physical-layer function and was outside this software testbed; only PTP evidence was observed, on the brUP and brDN bridges.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M1 problem study.
130 ns is the pairwise relative limit between radio units in a cluster; under equal allocation that implies roughly ±65 ns per O-RU against the common reference, and the fronthaul network receives only a portion of that budget.
ITU-T G.8271.1 and G.8272 are paywalled. Values were confirmed against ATIS/WSTS tutorial material and vendor application notes; this is disclosed in the project workbooks.
TIMESAFE detail: the failure mode is an O-RU software crash requiring a manual reboot, observed when switch PTP ports were in dynamic role. The same paper's alternative configuration degraded over roughly 580 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M1 decision requirements and sub-scope definition.
Decision parameters used later: allow-listed clock identity, maintenance-window state, clockClass, priority fields, stepsRemoved, sequence continuity, observed message rate, offset, path delay and packet delay variation.
If asked why not the whole RAN: scoping to the S-plane is what made rigorous, repeatable measurement possible in the available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M1 literature survey.
J. Groen et al., TIMESAFE: Timing Interruption Monitoring and Security Assessment for Fronthaul Environments, ACM Transactions on Privacy and Security 28(5), 2025, DOI 10.1145/3775060.
L. Bonati et al., Colosseum: The Open RAN Digital Twin, IEEE Open Journal of the Communications Society, 2024, DOI 10.1109/OJCOMS.2024.3447472.
Digital Twin for O-RAN Towards 6G, IEEE Communications Magazine, 2024, DOI 10.1109/MCOM.003.2400016.
L. Bonati et al., OpenRAN Gym, Computer Networks, 2023.
TSN Digital Twin for STRIDE-Based Security Testing, EURASIP Journal on Information Security, 2025, DOI 10.1186/s13635-025-00213-7.
The gap statement is bounded to the locally reviewed source set. It is not a claim that no publication worldwide addresses any part of the problem.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M1 research gap analysis.
Federated Continual Learning for Sustainable O-RAN Anomaly Detection, IEEE WCNC 2024.
Adversarial Machine Learning Threat Analysis and Remediation in Open Radio Access Network, JNCA 2024, DOI 10.1016/j.jnca.2024.104090.
O-RAN xApps: Survey and Research Challenges, Computer Networks 2025.
Anomaly Detection for xApp and E2 Interface Threats in O-RAN Near-RT RIC, IEEE 2025.
The gap claim is bounded to the reviewed local literature and to the experimental design actually executed.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M1 project justification.
This slide separates what was demonstrated from what remains future scope, so that the novelty claim is bounded by executed evidence.
Not demonstrated in this campaign: digital-twin orchestration, automatic recovery execution, MTTR reduction, availability improvement.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M2 standards grounding.
IEEE Std 1588-2019, Precision Clock Synchronization Protocol for Networked Measurement and Control Systems.
O-RAN Alliance WG4, Control, User and Synchronization Plane Specification, O-RAN.WG4.CUS.0.
O-RAN Alliance WG11, Security Threat Modeling and Risk Assessment, published by ETSI as TR 104 106 V3.0.0 (2025-06). It defines four S-plane threats: T-SPLANE-01 DoS against a master clock; T-SPLANE-02 master impersonation via fake ANNOUNCE; T-SPLANE-03 rogue PTP instance seeking Grand Master; T-SPLANE-04 selective interception and removal of PTP packets.
ITU-T G.8275.1, PTP telecom profile for phase/time synchronization with full timing support from the network.
ITU-T G.8273.2, Timing characteristics of telecom boundary clocks and telecom time slave clocks.
ITU-T G.8262, Timing characteristics of synchronous Ethernet equipment slave clock — cited for context only; SyncE was outside this testbed.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M3 fault-injection testbed (partial — digital twin not exercised).
linuxptp 4.0 was released 2023-06-09 and ships configs/G.8275.1.cfg with dataset_comparison G.8275.x.
Capture note: PCAPs totalling roughly 222 MB were recorded across the 168 runs. The corrected archive that was packaged for review retains extracted deep CSVs, verdicts, context and scripts, but not the source PCAPs.
The absence of an independent clock-error instrument is the reason no conformance claim is made against ITU-T G.8273.2 or G.8271.1.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M2 KPI configuration and platform constraints.
Configuration was verified by reading the live ptp4l configuration of all nine daemon configs, not by restating intended values.
Transport note: G.8275.1 permits both 01-1B-19-00-00-00 (forwardable) and 01-80-C2-00-00-0E (link-local). The forwardable address is linuxptp's default and is what this testbed used.
This slide is deliberately placed before the results so the evidence ceiling is established first.</a:t>
            </a:r>
          </a:p>
          <a:p>
            <a:r>
              <a:t>v8 correction: every daemon config sets free_running 1 (cfg/g87251.base in g87251_testbed_v2.tgz), so ptp4l reports offset but never adjusts the clock; servo state stays s0 in every RU log.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M1 system data flow.
The 56 columns comprise IEEE 1588 header, flag, correction, identity, sequence and Announce data-set fields, plus derived G.8275.1 conformance flags such as domain legality, multicast legality and message-interval legality.
The empty-not-zero rule originated from a real defect found and fixed during development; it is retained as a design constraint.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M3 dataset generation and M6 evidence packaging.
Totals recomputed directly from the 168 run directories: 1,451,909 packet records across the downstream extracts; 48,904 daemon log lines; approximately 222.6 MB of PCAP; 499.4 MB total on disk before packaging.
Per-scenario mean records per run: A1 7,781; A2 7,655; A3 10,619; A5 38,319; A8 7,858; B2 6,113; B3 5,204; B7 5,834; B_bc_replacement 6,029; B_unplanned_failover 6,102; C1 2,360; C2 5,584; C3 5,506; baseline 6,021.
Replicate metadata caveat: 36 C-series context.json files record rep=901; the authoritative replicate number is the one encoded in the run directory name, and the evaluation uses that.</a:t>
            </a:r>
          </a:p>
          <a:p>
            <a:r>
              <a:t>v8 correction: all 40,320 pmc.jsonl lines across the 120 runs that have the file are outgoing 'sending: GET ...' requests with no response. Probable cause (not re-run): pmc was invoked without -d 24 while ptp4l ran on domain 24.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M3 fault injection on the live packet path.
Standards references for the injected conditions: C2 malformed frames map to O-RAN WG11 test 24.2.1.2; C1 interception maps to test 11.1.5.3.1; C3 whole-second abuse concerns IEEE 1588-2019 timePropertiesDS in clause 8.2.4 with leap-second handling in clause 9.4.
controlField is deprecated in IEEE 1588-2019 and ignored under G.8275.1, so it is not used as sole legality evidence for C2.
sch_netem is unavailable in this kernel, so B3 congestion uses a tbf bottleneck with competing non-PTP background traffic; packets are delayed rather than dropped.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M2 fault taxonomy and M6 per-scenario evaluation.
Results shown are for the primary decision rule and are identical to the pre-frozen base rule on these four scenarios.
ETSI TR 104 106 V3.0.0 defines four S-plane threats. A1 maps to T-SPLANE-02 and -03; A5 maps to T-SPLANE-01. A3 replay has no counterpart in that ETSI set; replay is listed as a time-protocol threat in IETF RFC 7384 section 3.2.3.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M2 fault taxonomy and M6 per-scenario evaluation.
C-series scenarios are campaign identifiers derived from O-RAN WG11 test cases, not A/B taxonomy classes.
C1 result is 11/12: one replicate at a 60 percent blackhole evaded the detector. This is quantified on the detection-boundary slide.
controlField was historically used as a legality signal for malformed frames but is deprecated in IEEE 1588-2019 and ignored under G.8275.1, so it is not relied 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M2 fault taxonomy and M6 per-scenario evaluation.
B3 records 11 of 12 correct. The single incorrect run returns UNKNOWN, not ATTACK — it is an over-cautious abstention under severe congestion, not a false alarm.
B_bc_replacement produces 12 false ATTACK calls and is the dominant cause of the 0.783 macro specificity. Excluding it, benign classification is 47 of 48, or 0.979.
B3 was rebuilt after an audit found the original netem-based injection never executed; the corrected scenario uses a tbf bottleneck with competing traffic.</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M2 fault taxonomy and coverage statement.
Catalogue tally from the project parameter matrix: eight fully-software classes (A1, A2, A3, A5, B2, B3, B7, B8); three software-detection-only classes (A4, A8, B5); five hardware-required classes (A6, A7, B1, B4, B6).
ETSI mapping is partial and stated as such: A5 to T-SPLANE-01, A1 to T-SPLANE-02 and -03, A8 to T-SPLANE-03, C1 to T-SPLANE-04. Replay, delay attack and the GNSS classes have no direct counterpart among the four defined S-plane threats.
The three C-series scenarios are campaign identifiers derived from O-RAN WG11 test cases; they sit alongside this catalogue rather than inside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M5 decision engine, partial — classification evaluated, closed-loop healing not validated.
Classification tests self-consistency against the standard and against provisioned intent. It does not react to the magnitude of the timing error.
The rule is expressed as ordered clauses, and the triggering clause is recorded with every verdict so that each decision is auditable.
ISOLATE, TOLERATE/HOLDOVER and ESCALATE are verdict outputs. No isolation, holdover entry or escalation was executed or measured.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M6 campaign design and reproducibility controls.
Base rule hash c362e11…; v3 hash aa9417b7…. v2 and v3 produce identical verdicts on all 168 runs, verified per run.
Additive-only verification was performed per run rather than by comparing summary scalars: zero runs exist where the base rule said ATTACK and v3 did not; 35 escalations occur, all on C1, C2 and C3.</a:t>
            </a:r>
          </a:p>
          <a:p>
            <a:r>
              <a:t>v8: FROZEN_V2.json frozen_at 2026-09-20T11:41:31Z; campaign_v3.log starts 11:43:15Z; EVALUATION_V4.json shows v2 macro sensitivity 0.9896, identical to v3. v2 was developed after earlier same-day live gap captures of the same C-scenario designs.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M6 experimental integrity.
The audit also found that run/randparams.py and run/scenarios.sh no longer match the original frozen manifest. That change is disclosed in FROZEN_HARNESS_EPOCH2.json. The decision rules themselves are unchanged and still match their original hashes — only the experiment apparatus changed.
An earlier 132-run campaign is superseded by this corrected 168-run campaign. The B3 defect also invalidates B3 in that earlier campaign, so its figures are withdrawn and are not presented.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M6 per-scenario evaluation.
Intervals are Wilson score 95% intervals computed on n=12 per scenario; they are wide by construction at that sample size.
The B3 incorrect run returns UNKNOWN rather than ATTACK, so it is an abstention on a benign scenario, not a false alarm. B_bc_replacement produces 12 false ATTACK calls.
All counts were recomputed directly from the 168 run directories rather than read from a summary file.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M6 primary results.
Macro sensitivity 0.9896 rounds to 0.990. Macro specificity is 0.7833. Attribution is 84 of 96 attack runs with a Wilson interval of 0.794 to 0.927.
Because every scenario has n=12, the macro averages coincide numerically with pooled rates here; they are still reported as macro figures because pooled rates move with run counts in general.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M4 model development and M6 objective-5 comparison.
The split is session-disjoint by replicate, never by window, so no window from a test run appears in training.
Per-window figures reported separately: ARM B window accuracy 0.544 and ROC-AUC 0.604 over 1,923 windows on known scenarios. These are window-level, not run-level, and are not comparable with the run counts in the table.
McNemar exact two-sided p = 0.21875 from 5 discordant pairs favouring ARM B against 1 favouring the control.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M6 objective-5 interpretation.
The sparsity asymmetry is the most transferable architectural finding: attacks that starve telemetry blind a telemetry-based detector but not a packet-based one.
Because ARM B's attack sensitivity is 0.156 across all eight attack scenarios, including A1, A2, A3, A5 and A8 where servo telemetry is intact at roughly 88 lines per run, starvation on C1 and C3 compounds the problem rather than causing 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M6 measured detection boundary.
Presenting the boundary is more informative than presenting 11/12 alone: it tells an operator the evasion condition rather than a bare miss rate.
Because 55 % was never drawn and would also have evaded, recall against the full designed parameter space is weaker than 11/12 implies. This is stated rather than left to be discovered.
Short or bursty interception that averages out across the window is not detected by a rate-based clause; a continuity-based clause is proposed in the remaining-work slide.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M6 documented limitations.
Volunteering these is deliberate. A reviewer who discovers an undisclosed limitation will discount the remainder of the evidence.
The B3 congestion miss is not listed as a separate limitation because it is an abstention rather than a misclassification, but it is the second contributor to the 0.783 specificity and is stated on the results slide.</a:t>
            </a:r>
          </a:p>
          <a:p>
            <a:r>
              <a:t>v8 correction: B_bc_replacement context.json carries expected_bc_identity_secondary = 020000fffe0000b1 and decision_rule_v3 adds it to the known set for D1. All 12 false ATTACK verdicts come from the base rule's 'Unauthorised clock inserted in the timing path' clause (A8), whose known_sources set reads only expected_bc_identity.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delivery status against the original milestone plan.
Worklet objectives 1, 3 and 5 are addressed: anomaly detection is delivered by the rule engine, the testbed provides controlled fault injection, and the AI-versus-rule comparison is complete with a statistical control.
Objectives 2 and 4 are not addressed in this sub-scope, and the expected outcomes concerning faster recovery and improved availability were not measured here. This is stated rather than inferred.</a:t>
            </a:r>
          </a:p>
          <a:p>
            <a:r>
              <a:t>v8 correction: outputs/empirical_software_network_pilot_v1/S11_S12_CURRENT_REPORT.md records a detector-triggered port failover with matched no-action control (5/5 vs 0/5), on a separate software testbed with a jitter impairment. Its independent validation S15 was NOT established (no-trigger rate 8/15 below the frozen 0.8 criterion).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M3, M5 and M6 remaining work.
Hardware priority order if procurement is limited: a GNSS receiver unlocks three classes and is the single highest-value item; a hardware-timestamping NIC improves the credibility of every timing-magnitude claim; a second machine and a SyncE PHY unlock one class each.
The software items are ordered by expected effect on the reported metrics: the provisioned-replacement fix addresses the only systematic benign failure.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Worklet mapping: closing technical summary.
No new claim is introduced on this slide; every figure appears earlier with its evidence.
If asked for the single most important caveat: the 0.990 sensitivity belongs to a rule revised after observing the campaign, and the pre-frozen rule scored 0.625 on the same captures. Both figures are reported throughout.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Answers reviewer question: explain the DU layers and the architecture.</a:t>
            </a:r>
          </a:p>
          <a:p>
            <a:r>
              <a:t>ETSI TS 103 982 V8.0.0 clause 3.1 definitions (verbatim): O-CU-CP hosts the RRC and the control plane part of the PDCP protocol; O-CU-UP hosts the user plane part of PDCP and SDAP; O-DU hosts RLC/MAC/High-PHY layers based on a lower layer functional split; O-RU hosts Low-PHY layer and RF processing (FFT/iFFT, PRACH extraction).</a:t>
            </a:r>
          </a:p>
          <a:p>
            <a:r>
              <a:t>Clause 6.3.6: the O-RU terminates the Open Fronthaul interface (LLS) and is a physical node. Clause 6.4.7: the Open FH interface includes the CUS planes and the M-plane. NOTE in 6.1: the LLS is split option 7-2x.</a:t>
            </a:r>
          </a:p>
          <a:p>
            <a:r>
              <a:t>Clauses 6.3.3, 6.3.4, 6.3.5: O-CU-CP, O-CU-UP and O-DU each terminate the E2 interface to the Near-RT RIC. Clause 6.3.6 (O-RU) lists only the Open Fronthaul interface, Low-PHY functions and the Open Fronthaul M-Plane; no E2.</a:t>
            </a:r>
          </a:p>
          <a:p>
            <a:r>
              <a:t>3GPP TS 38.133 (via Ruffini, ATIS 2018, slide 6): cell phase synchronization accuracy measured at BS antenna connectors shall be better than 3 us. 3GPP TS 38.104 Rel-19 clause 9.6.3.2: TAE limits 65 ns (MIMO), 260 ns (intra-band contiguous CA), 3 us (non-contiguous / inter-band CA).</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Answers reviewer questions: explain the architecture; which module will these attacks affect.</a:t>
            </a:r>
          </a:p>
          <a:p>
            <a:r>
              <a:t>Definitions are quoted from G. Armstrong, O-RAN Fundamentals, ATIS WSTS 2023, page 15; the specification O-RAN.WG4.CUS.0-v06.00 is cited on page 17. The O-RAN specification itself was not read directly; this is a secondary source and is labelled as such.</a:t>
            </a:r>
          </a:p>
          <a:p>
            <a:r>
              <a:t>The exposure column is our reasoning from the cited threat sources, not text from the O-RAN specification.</a:t>
            </a:r>
          </a:p>
          <a:p>
            <a:r>
              <a:t>Testbed topology: GM-A/GM-B on brUP, boundary clock BC between brUP and brDN, RU1-RU3 on brDN (topology.sh, slide on testbed architecture).</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Answers reviewer questions: what kind of attack and by whom; who does these attacks; source of attack.</a:t>
            </a:r>
          </a:p>
          <a:p>
            <a:r>
              <a:t>ETSI TR 104 106 V3.0.0 clause 7.2 'Threat agent' lists: cyber-criminals, insiders, hacktivists, cyber-terrorists, script kiddies, nation-state (definitions quoted in short form).</a:t>
            </a:r>
          </a:p>
          <a:p>
            <a:r>
              <a:t>RFC 7384 clause 3.1.1: internal attackers have access to a trusted segment of the network or possess the encryption or authentication keys; external attackers do not have the keys and see only encrypted or authenticated traffic. Clause 3.1.2: MITM vs traffic injector.</a:t>
            </a:r>
          </a:p>
          <a:p>
            <a:r>
              <a:t>RFC 7384 Table 1: spoofing, replay, rogue master and time-protocol DoS are marked for internal MITM/injector only; interception/removal is marked for internal and external MITM. Mapping of our scenarios: A1, A8 rogue master; A2, C3 spoofing; A3 replay; A5 time-protocol DoS (all internal); C1 interception/removal (internal or external MITM); C2 malformed input falls under clause 3.2.11 'exploiting vulnerabilities', which Table 1 does not classify.</a:t>
            </a:r>
          </a:p>
          <a:p>
            <a:r>
              <a:t>TIMESAFE section 4: 'Once an attacker gains access to a device on the switched network, they can observe, replay, or inject PTP broadcast packets sent through the switch.' Pathways: multi-vendor remote access, physical proximity to edge gNBs, supply-chain backdoors in DU/RU.</a:t>
            </a:r>
          </a:p>
          <a:p>
            <a:r>
              <a:t>ETSI TR 104 106 T-FRHAUL-02: unauthorized access to Open Front Haul Ethernet L1 physical layer interface(s), threatening U-, S-, C- and M-plane traffic.</a:t>
            </a:r>
          </a:p>
          <a:p>
            <a:r>
              <a:t>We do not attribute any attack to a named real-world actor; no public source used here does.</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Answers reviewer questions: who does these attacks and how; source of attack.</a:t>
            </a:r>
          </a:p>
          <a:p>
            <a:r>
              <a:t>Read from scenarios.sh (A1 rogue ptp4l in netns 'rogue' attached to brDN; A2 inject.py from ru3; A3 tcpdump on brDN then tcpreplay from ru3; A5 flood.py from ru3; A8 two-port ptp4l in netns 'rbc' attached to both bridges) and run_gap.sh (C1 'ip link set v-bc-dn down' for c1_down_pct of the window; C2 inject_malformed.py and C3 inject_wholesecond.py from ru3). inject.py, flood.py, inject_malformed.py and inject_wholesecond.py import scapy.all (Ether, Raw, sendp).</a:t>
            </a:r>
          </a:p>
          <a:p>
            <a:r>
              <a:t>C1 limitation stated on the slide: the blackhole removes all frames on the port, so it is a coarse realisation of ETSI T-SPLANE-04 'selective interception and removal'. randparams.py offers 55-75 %; the 168 drawn replicates used 60-75 %.</a:t>
            </a:r>
          </a:p>
          <a:p>
            <a:r>
              <a:t>Clock safety: run_gap.sh header states netns only, software timestamping, host clock never touched.</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Answers reviewer questions: were the 8 attacks already existing or made up; where were they referred from; citation of the attack references.</a:t>
            </a:r>
          </a:p>
          <a:p>
            <a:r>
              <a:t>RFC 7384 section numbers verified against rfc-editor.org text: 3.2.1 packet manipulation, 3.2.2 spoofing, 3.2.3 replay, 3.2.4 rogue master, 3.2.5 packet interception and removal, 3.2.6 packet delay manipulation, 3.2.7 L2/L3 DoS, 3.2.8 cryptographic performance, 3.2.9 DoS against the time protocol, 3.2.10 grandmaster time source attack, 3.2.11 exploiting vulnerabilities, 3.2.12 network reconnaissance.</a:t>
            </a:r>
          </a:p>
          <a:p>
            <a:r>
              <a:t>ETSI TR 104 106 V3.0.0 clause 7.4.1.2: T-SPLANE-01 DoS against a Master clock; T-SPLANE-02 impersonation of a Master clock; T-SPLANE-03 rogue PTP instance wanting to be Grand Master; T-SPLANE-04 selective interception and removal of PTP timing packets.</a:t>
            </a:r>
          </a:p>
          <a:p>
            <a:r>
              <a:t>ETSI TS 104 105 V7.0.0: 11.1.5.1.1 DOS Master Clock LLS C1 C2 C3; 11.1.5.2.1 Impersonation Master Clock; 11.1.5.2.2 Rogue PTP Instance; 11.1.5.3.1 Selective Interception and Removal of PTP Timing Packets; 11.1.5.3.2 Delay Attack on PTP Timing Packets; 24.2.1.1 S-Plane PTP DoS Attack; 24.2.1.2 S-Plane PTP Unexpected Input.</a:t>
            </a:r>
          </a:p>
          <a:p>
            <a:r>
              <a:t>TIMESAFE section 4.1 implements spoofing (fake Announce with manipulated BMCA attributes) and replay (sniffed Sync/Follow_Up retransmitted later).</a:t>
            </a:r>
          </a:p>
          <a:p>
            <a:r>
              <a:t>Catalogue classes not run: A4 delay attack = RFC 7384 3.2.6 and TS 104 105 11.1.5.3.2; A6/A7 GNSS spoofing/jamming = RFC 7384 3.2.10.</a:t>
            </a:r>
          </a:p>
          <a:p>
            <a:r>
              <a:t>C3 statement is bounded: we did not find a published test of this exact field combination in the sources listed; that is not proof none exists.</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Answers reviewer questions: what are the impacts; which module will these attacks affect.</a:t>
            </a:r>
          </a:p>
          <a:p>
            <a:r>
              <a:t>Measured counts computed on 2026-10-03 from ml_comparison_input/extracted_168run_ptp4l_logs (RU1-RU3 logs, 12 replicates per scenario): A1 36/36 logs contain 'selected best master clock 020000.fffe.0000xx' with a non-provisioned identity; A8 36/36 contain 'new foreign master' with the rogue BC identity; C1 36/36 contain ANNOUNCE_RECEIPT_TIMEOUT_EXPIRES. Mean servo report lines per RU log: baseline 22.0, C1 7.8, C3 3.0.</a:t>
            </a:r>
          </a:p>
          <a:p>
            <a:r>
              <a:t>Benign comparison from the same logs: B3 congestion 12/36 RU logs hit the Announce timeout; B_bc_replacement 36/36 during the planned swap. A timeout alone therefore does not prove an attack.</a:t>
            </a:r>
          </a:p>
          <a:p>
            <a:r>
              <a:t>Correction 5 Oct 2026: earlier v8 text said A8 '36/36 RU logs took the rogue BC as a new master' and C3 'No master change'. The logs show 36/36 'new foreign master' lines for the rogue BC, which is a BMCA candidate, not a selection. pmc PARENT_DATA_SET measured with -d 24 in the 5 Oct recovery-loop evaluation (03_RECOVERY_LOOP_S-PLANE, control arm, replicates 13-17, same injection mechanisms) shows: A8 - RU1/RU2 parent stayed the real BC in 5/5 runs (same GM on both paths, BMCA prefers fewer stepsRemoved); C3 - RU1/RU2 re-parented to the forger, which uses GM-A's clockIdentity, in 5/5 runs, invisible in the ptp4l selected-best-master line because the identity is spoofed; A2/A3/A5/C2 - no parent change in 5/5 runs each.</a:t>
            </a:r>
          </a:p>
          <a:p>
            <a:r>
              <a:t>All daemon configs set free_running 1 (cfg/g87251.base); servo state is s0 in every RU log. No RU clock was steered, so false-time impact was not realised physically here.</a:t>
            </a:r>
          </a:p>
          <a:p>
            <a:r>
              <a:t>Literature (TIMESAFE, arXiv 2412.13049v3, verified verbatim 4 Oct): production network is O-RAN LLS-C3; with all ports PTP dynamic: 'Approximately 2 seconds after the attack begins, the RU crashes, stopping its operations, causing the 5G cell to drop and the UE to lose connection'; in a separate run 'around second 440 there is a 50% drop in throughput, progressing to a 75% drop by second 510, and ultimately causing the base station to crash at around second 580'; another run reports a 50% drop about 380 s after attack start. ETSI TR 104 106 impact texts quoted for T-SPLANE-01, -03, -04. RFC 7384 Table 1 impact columns: false time, accuracy degradation, DoS.</a:t>
            </a:r>
          </a:p>
          <a:p>
            <a:r>
              <a:t>Service limits: 3GPP TS 38.133 as quoted by Ruffini (ATIS 2018, slide 6); TS 38.104 Rel-19 clause 9.6.3.2.</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Answers reviewer question: from which model did we get the KPI.</a:t>
            </a:r>
          </a:p>
          <a:p>
            <a:r>
              <a:t>Deep extract columns (56) verified from the CSV header: capture_ts_ns, eth_src, eth_dst, vlan_id, vlan_pcp, message_type, message_type_raw, version_ptp, minor_version_ptp, message_length, domain_number, major/minor_sdo_id, flag_field_hex and 12 individual flags, correction_ns, source_clock_identity, source_port_number, sequence_id, control_field, log_message_interval, origin_ts_ns, current_utc_offset, gm_priority1, gm_clock_class, gm_clock_accuracy, gm_offset_scaled_log_variance, gm_priority2, gm_clock_identity, steps_removed, time_source, tlv_types, has_path_trace, path_trace_hops, requesting_clock_identity, requesting_port_number, clock_class_legal, bmca_fields_all_zero, gm_identity_equals_source, g87251_domain_ok, g87251_mcast_ok, g87251_priority1_ok, g87251_log_sync_ok, g87251_log_announce_ok, g87251_log_delayreq_ok.</a:t>
            </a:r>
          </a:p>
          <a:p>
            <a:r>
              <a:t>pmc: pmc_log.sh queries TIME_STATUS_NP, CURRENT_DATA_SET, PARENT_DATA_SET, TIME_PROPERTIES_DATA_SET, PORT_DATA_SET, PORT_STATS_NP and PORT_SERVICE_STATS_NP per node. All 40,320 logged lines are unanswered requests. Probable cause, not re-run: pmc invoked without -d 24 while ptp4l used domainNumber 24.</a:t>
            </a:r>
          </a:p>
          <a:p>
            <a:r>
              <a:t>ML features used (ML_VS_RULE_COMPARISON.md): offset_mean, offset_std, offset_abs_max, path_delay_mean, pdv_std, holdover_rate.</a:t>
            </a:r>
          </a:p>
          <a:p>
            <a:r>
              <a:t>RAN KPIs collected over E2 are not available at the S-plane: E2 does not terminate at the O-RU (ETSI TS 103 982 clause 6.1).</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Answers reviewer request: classify the KPIs so that we can proceed with recovery.</a:t>
            </a:r>
          </a:p>
          <a:p>
            <a:r>
              <a:t>Mapping to code: base rule ordered clauses (decision_rule.py): rate flood -&gt; A5; sequenceId regressions -&gt; A3; unauthorised relaying clock -&gt; A8; unauthorised self-announcing GM -&gt; A1; illegal clockClass, priority1 != 128, stepsRemoved &gt;= 255, alternateMasterFlag -&gt; ATTACK; off-allow-list GM -&gt; A1; unknown sender -&gt; A2; out-of-profile domain/multicast/cadence -&gt; A5; GM change with maintenance -&gt; BENIGN B2; GM change without maintenance -&gt; UNKNOWN. v3 adds D1 rate starvation (C1), D2 malformed frames (C2), D3 whole-second abuse (C3).</a:t>
            </a:r>
          </a:p>
          <a:p>
            <a:r>
              <a:t>Timing-quality KPIs are not used by the rule's verdict; they are the ML arm's inputs. Recovery labels: ATTACK -&gt; ISOLATE, BENIGN -&gt; TOLERATE/HOLDOVER, UNKNOWN -&gt; ESCALATE (classification-method slide). Only the 13 Sep pilot executed an action (port failover).</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Answers reviewer question: where did we get the dataset.</a:t>
            </a:r>
          </a:p>
          <a:p>
            <a:r>
              <a:t>Archive splane_campaign_CORRECTED_2026-09-20.tgz, sha256 6149b4fb15940cdac694ba8666d97041b4eb62d5523d2631c1edf96d531e4ed9 (verified on disk 2026-10-03). Packet-record total from the dataset slide.</a:t>
            </a:r>
          </a:p>
          <a:p>
            <a:r>
              <a:t>TIMESAFE repository clone at dataset/legitimate/timesafe_real_hardware_captures/s-plane_security_repo, git remote https://github.com/genesys-neu/s-plane_security.git; equipment per TIMESAFE section 5.1.</a:t>
            </a:r>
          </a:p>
          <a:p>
            <a:r>
              <a:t>Walkthrough of 17 Sep withdrew the August figures: some 'unseen' sessions duplicated training files and 12 of 28 features carried information only in simulated data.</a:t>
            </a:r>
          </a:p>
          <a:p>
            <a:r>
              <a:t>13 Sep pilot: S14 workbook 232,403 packets, 25 prospective runs; S15 independent validation not established (receiver-below-boundary no-trigger 8/15 vs required 0.8).</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Answers reviewer question: does it only work on O-RAN or any other architecture.</a:t>
            </a:r>
          </a:p>
          <a:p>
            <a:r>
              <a:t>IEEE SA PTP profiles page lists: Default Delay Request-Response, Default Peer-to-Peer, High Accuracy Default (IEEE); ITU-T telecom profiles for frequency, phase/time with full timing support, time/phase with partial timing support; IETF Enterprise Profile; SMPTE broadcast profile; AES67 Media Profile; IEEE Std 802.1AS; IEEE C37.238 Power Profile; IEC Power Utility Automation and PRP/HSR automation profiles; IEC 'U' and 'D' industrial profiles; Avnu automotive; AUTOSAR; LXI; GigE Vision.</a:t>
            </a:r>
          </a:p>
          <a:p>
            <a:r>
              <a:t>RFC 7384 abstract: security requirements for time protocols, focusing on PTP and NTP.</a:t>
            </a:r>
          </a:p>
          <a:p>
            <a:r>
              <a:t>Portability is a design argument. The rule hard-codes G.8275.1 constants (domain, priority1, message intervals) and was run only on that profile.</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URLs: RFC 7384 rfc-editor.org/rfc/rfc7384; ETSI TR 104 106 etsi.org/deliver/etsi_tr/104100_104199/104106/03.00.00_60/; ETSI TS 104 105 etsi.org/deliver/etsi_TS/104100_104199/104105/07.00.00_60/; ETSI TS 103 982 etsi.org/deliver/etsi_ts/103900_103999/103982/08.00.00_60/; Armstrong wsts.atis.org/wp-content/uploads/2023/02/Greg-Armstrong_ORAN-Fundamentals.pdf; Ruffini tam.atis.org/wp-content/uploads/2018/10/1_02_Ericsson_Ruffini_Sync-5G-What-Is-Needed.pdf; TIMESAFE arxiv.org/abs/2412.13049 and doi.org/10.1145/3775060; BSI 5G RAN risk analysis (local copy in literature-survey/papers/Government-Reports).</a:t>
            </a:r>
          </a:p>
          <a:p>
            <a:r>
              <a:t>IEEE 1588-2019 and ITU-T G.8275.1 are paywalled; clause-level claims about them come from the project's earlier verified material; the full texts were not re-read for v8.</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Reviewer notes transcribed (handwritten sheet): What kind of attack and by whom? References? Does it only work on O-RAN or any other architecture? From which model did we get the KPI? Where did we get the dataset? Who does these attacks and what are the impacts? Again, who does these attacks and how? Were the 8 attacks we considered already existing or did we make them up; if existing, where did we refer them from? Citation of the attack references is really important. Explain the DU layers and the architecture; what kind of attacks and who does it? Should have presented in a better way. Which module will these attacks affect? We need to classify the KPIs so that we can proceed with recovery. Source of attack?</a:t>
            </a:r>
          </a:p>
          <a:p>
            <a:r>
              <a:t>Corrections to v7 carried into v8 (each verified against project files on 3 Oct 2026):</a:t>
            </a:r>
          </a:p>
          <a:p>
            <a:r>
              <a:t>1. Captures: raw PCAPs are not in the packaged archive; 'every frame recorded unmodified' wording replaced on the testbed, pipeline and dataset slides.</a:t>
            </a:r>
          </a:p>
          <a:p>
            <a:r>
              <a:t>2. pmc management telemetry returned no data in any run (not only missing in 48 runs).</a:t>
            </a:r>
          </a:p>
          <a:p>
            <a:r>
              <a:t>3. free_running 1 is set on every daemon: offset measured, clock never steered.</a:t>
            </a:r>
          </a:p>
          <a:p>
            <a:r>
              <a:t>4. A1 wording: a superior data set under the alternate BMCA, not priority2 alone.</a:t>
            </a:r>
          </a:p>
          <a:p>
            <a:r>
              <a:t>5. Timing slide: ±1.5 us is at reference point E against a common time standard.</a:t>
            </a:r>
          </a:p>
          <a:p>
            <a:r>
              <a:t>6. B_bc_replacement cause: the replacement identity is provisioned; the base rule's rogue-BC clause ignores it. Fix updated on the remaining-work slide.</a:t>
            </a:r>
          </a:p>
          <a:p>
            <a:r>
              <a:t>7. Corrective action: none in the 168-run campaign; the 13 Sep pilot executed a port failover (5/5 vs 0/5).</a:t>
            </a:r>
          </a:p>
          <a:p>
            <a:r>
              <a:t>8. Rule v2, frozen before the campaign began, gives verdicts identical to v3 on all 168 runs.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txBody>
          <a:bodyPr/>
          <a:lstStyle/>
          <a:p>
            <a:endParaRPr lang="en-IN"/>
          </a:p>
        </p:txBody>
      </p:sp>
      <p:pic>
        <p:nvPicPr>
          <p:cNvPr id="3" name="Image 0" descr="assets/worklet_card.png"/>
          <p:cNvPicPr>
            <a:picLocks noChangeAspect="1"/>
          </p:cNvPicPr>
          <p:nvPr/>
        </p:nvPicPr>
        <p:blipFill>
          <a:blip r:embed="rId3"/>
          <a:stretch>
            <a:fillRect/>
          </a:stretch>
        </p:blipFill>
        <p:spPr>
          <a:xfrm>
            <a:off x="0" y="171450"/>
            <a:ext cx="12191695" cy="6515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E2440"/>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857250" y="1676400"/>
            <a:ext cx="10477500" cy="628650"/>
          </a:xfrm>
          <a:prstGeom prst="rect">
            <a:avLst/>
          </a:prstGeom>
          <a:noFill/>
          <a:ln/>
        </p:spPr>
        <p:txBody>
          <a:bodyPr wrap="square" lIns="0" tIns="0" rIns="0" bIns="0" rtlCol="0" anchor="t">
            <a:normAutofit/>
          </a:bodyPr>
          <a:lstStyle/>
          <a:p>
            <a:pPr marL="0" indent="0" algn="l">
              <a:lnSpc>
                <a:spcPct val="100000"/>
              </a:lnSpc>
              <a:buNone/>
            </a:pPr>
            <a:r>
              <a:rPr lang="en-US" sz="5400" b="1" dirty="0">
                <a:solidFill>
                  <a:srgbClr val="FFFFFF"/>
                </a:solidFill>
                <a:latin typeface="Cambria" pitchFamily="34" charset="0"/>
                <a:ea typeface="Cambria" pitchFamily="34" charset="-122"/>
                <a:cs typeface="Cambria" pitchFamily="34" charset="-120"/>
              </a:rPr>
              <a:t>Open Fronthaul S-Plane</a:t>
            </a:r>
            <a:endParaRPr lang="en-US" sz="5400" dirty="0"/>
          </a:p>
        </p:txBody>
      </p:sp>
      <p:sp>
        <p:nvSpPr>
          <p:cNvPr id="5" name="Text 3"/>
          <p:cNvSpPr/>
          <p:nvPr/>
        </p:nvSpPr>
        <p:spPr>
          <a:xfrm>
            <a:off x="857250" y="2305050"/>
            <a:ext cx="10477500" cy="628650"/>
          </a:xfrm>
          <a:prstGeom prst="rect">
            <a:avLst/>
          </a:prstGeom>
          <a:noFill/>
          <a:ln/>
        </p:spPr>
        <p:txBody>
          <a:bodyPr wrap="square" lIns="0" tIns="0" rIns="0" bIns="0" rtlCol="0" anchor="t">
            <a:normAutofit/>
          </a:bodyPr>
          <a:lstStyle/>
          <a:p>
            <a:pPr marL="0" indent="0" algn="l">
              <a:lnSpc>
                <a:spcPct val="100000"/>
              </a:lnSpc>
              <a:buNone/>
            </a:pPr>
            <a:r>
              <a:rPr lang="en-US" sz="5400" b="1" dirty="0">
                <a:solidFill>
                  <a:srgbClr val="18B89A"/>
                </a:solidFill>
                <a:latin typeface="Cambria" pitchFamily="34" charset="0"/>
                <a:ea typeface="Cambria" pitchFamily="34" charset="-122"/>
                <a:cs typeface="Cambria" pitchFamily="34" charset="-120"/>
              </a:rPr>
              <a:t>Timing Security</a:t>
            </a:r>
            <a:endParaRPr lang="en-US" sz="5400" dirty="0"/>
          </a:p>
        </p:txBody>
      </p:sp>
      <p:sp>
        <p:nvSpPr>
          <p:cNvPr id="6" name="Shape 4"/>
          <p:cNvSpPr/>
          <p:nvPr/>
        </p:nvSpPr>
        <p:spPr>
          <a:xfrm>
            <a:off x="857250" y="3143250"/>
            <a:ext cx="1143000" cy="38100"/>
          </a:xfrm>
          <a:prstGeom prst="rect">
            <a:avLst/>
          </a:prstGeom>
          <a:solidFill>
            <a:srgbClr val="18B89A"/>
          </a:solidFill>
          <a:ln/>
        </p:spPr>
        <p:txBody>
          <a:bodyPr/>
          <a:lstStyle/>
          <a:p>
            <a:endParaRPr lang="en-IN"/>
          </a:p>
        </p:txBody>
      </p:sp>
      <p:sp>
        <p:nvSpPr>
          <p:cNvPr id="7" name="Text 5"/>
          <p:cNvSpPr/>
          <p:nvPr/>
        </p:nvSpPr>
        <p:spPr>
          <a:xfrm>
            <a:off x="857250" y="3390900"/>
            <a:ext cx="9525000" cy="285750"/>
          </a:xfrm>
          <a:prstGeom prst="rect">
            <a:avLst/>
          </a:prstGeom>
          <a:noFill/>
          <a:ln/>
        </p:spPr>
        <p:txBody>
          <a:bodyPr wrap="square" lIns="0" tIns="0" rIns="0" bIns="0" rtlCol="0" anchor="t">
            <a:normAutofit/>
          </a:bodyPr>
          <a:lstStyle/>
          <a:p>
            <a:pPr marL="0" indent="0" algn="l">
              <a:lnSpc>
                <a:spcPct val="100000"/>
              </a:lnSpc>
              <a:buNone/>
            </a:pPr>
            <a:r>
              <a:rPr lang="en-US" sz="1900" dirty="0">
                <a:solidFill>
                  <a:srgbClr val="CFD9E5"/>
                </a:solidFill>
                <a:latin typeface="Calibri" pitchFamily="34" charset="0"/>
                <a:ea typeface="Calibri" pitchFamily="34" charset="-122"/>
                <a:cs typeface="Calibri" pitchFamily="34" charset="-120"/>
              </a:rPr>
              <a:t>Sub-scope of the AI-Native Self-Healing O-RAN Network using a Digital Twin worklet</a:t>
            </a:r>
            <a:endParaRPr lang="en-US" sz="1900" dirty="0"/>
          </a:p>
        </p:txBody>
      </p:sp>
      <p:sp>
        <p:nvSpPr>
          <p:cNvPr id="8" name="Text 6"/>
          <p:cNvSpPr/>
          <p:nvPr/>
        </p:nvSpPr>
        <p:spPr>
          <a:xfrm>
            <a:off x="857250" y="4095750"/>
            <a:ext cx="28575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8B89A"/>
                </a:solidFill>
                <a:latin typeface="Calibri" pitchFamily="34" charset="0"/>
                <a:ea typeface="Calibri" pitchFamily="34" charset="-122"/>
                <a:cs typeface="Calibri" pitchFamily="34" charset="-120"/>
              </a:rPr>
              <a:t>TEAM</a:t>
            </a:r>
            <a:endParaRPr lang="en-US" sz="1150" dirty="0"/>
          </a:p>
        </p:txBody>
      </p:sp>
      <p:sp>
        <p:nvSpPr>
          <p:cNvPr id="9" name="Text 7"/>
          <p:cNvSpPr/>
          <p:nvPr/>
        </p:nvSpPr>
        <p:spPr>
          <a:xfrm>
            <a:off x="857250" y="4343400"/>
            <a:ext cx="5905500" cy="476250"/>
          </a:xfrm>
          <a:prstGeom prst="rect">
            <a:avLst/>
          </a:prstGeom>
          <a:noFill/>
          <a:ln/>
        </p:spPr>
        <p:txBody>
          <a:bodyPr wrap="square" lIns="0" tIns="0" rIns="0" bIns="0" rtlCol="0" anchor="t">
            <a:normAutofit/>
          </a:bodyPr>
          <a:lstStyle/>
          <a:p>
            <a:pPr marL="0" indent="0" algn="l">
              <a:lnSpc>
                <a:spcPct val="100000"/>
              </a:lnSpc>
              <a:buNone/>
            </a:pPr>
            <a:r>
              <a:rPr lang="en-US" sz="1600" dirty="0">
                <a:solidFill>
                  <a:srgbClr val="FFFFFF"/>
                </a:solidFill>
                <a:latin typeface="Calibri" pitchFamily="34" charset="0"/>
                <a:ea typeface="Calibri" pitchFamily="34" charset="-122"/>
                <a:cs typeface="Calibri" pitchFamily="34" charset="-120"/>
              </a:rPr>
              <a:t>Tanmaya Kumar  ·  Raghu Ram K  ·  Munipalle Jaswanth Kumar</a:t>
            </a:r>
            <a:endParaRPr lang="en-US" sz="1600" dirty="0"/>
          </a:p>
        </p:txBody>
      </p:sp>
      <p:sp>
        <p:nvSpPr>
          <p:cNvPr id="10" name="Text 8"/>
          <p:cNvSpPr/>
          <p:nvPr/>
        </p:nvSpPr>
        <p:spPr>
          <a:xfrm>
            <a:off x="7048500" y="4095750"/>
            <a:ext cx="38100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8B89A"/>
                </a:solidFill>
                <a:latin typeface="Calibri" pitchFamily="34" charset="0"/>
                <a:ea typeface="Calibri" pitchFamily="34" charset="-122"/>
                <a:cs typeface="Calibri" pitchFamily="34" charset="-120"/>
              </a:rPr>
              <a:t>MENTORS</a:t>
            </a:r>
            <a:endParaRPr lang="en-US" sz="1150" dirty="0"/>
          </a:p>
        </p:txBody>
      </p:sp>
      <p:sp>
        <p:nvSpPr>
          <p:cNvPr id="11" name="Text 9"/>
          <p:cNvSpPr/>
          <p:nvPr/>
        </p:nvSpPr>
        <p:spPr>
          <a:xfrm>
            <a:off x="7048500" y="4343400"/>
            <a:ext cx="4286250" cy="476250"/>
          </a:xfrm>
          <a:prstGeom prst="rect">
            <a:avLst/>
          </a:prstGeom>
          <a:noFill/>
          <a:ln/>
        </p:spPr>
        <p:txBody>
          <a:bodyPr wrap="square" lIns="0" tIns="0" rIns="0" bIns="0" rtlCol="0" anchor="t">
            <a:normAutofit/>
          </a:bodyPr>
          <a:lstStyle/>
          <a:p>
            <a:pPr marL="0" indent="0" algn="l">
              <a:lnSpc>
                <a:spcPct val="100000"/>
              </a:lnSpc>
              <a:buNone/>
            </a:pPr>
            <a:r>
              <a:rPr lang="en-US" sz="1600" dirty="0">
                <a:solidFill>
                  <a:srgbClr val="FFFFFF"/>
                </a:solidFill>
                <a:latin typeface="Calibri" pitchFamily="34" charset="0"/>
                <a:ea typeface="Calibri" pitchFamily="34" charset="-122"/>
                <a:cs typeface="Calibri" pitchFamily="34" charset="-120"/>
              </a:rPr>
              <a:t>Mr. Bikas Singh (NovaThink Tech)</a:t>
            </a:r>
            <a:endParaRPr lang="en-US" sz="1600" dirty="0"/>
          </a:p>
          <a:p>
            <a:pPr marL="0" indent="0" algn="l">
              <a:lnSpc>
                <a:spcPct val="100000"/>
              </a:lnSpc>
              <a:buNone/>
            </a:pPr>
            <a:r>
              <a:rPr lang="en-US" sz="1600" dirty="0">
                <a:solidFill>
                  <a:srgbClr val="FFFFFF"/>
                </a:solidFill>
                <a:latin typeface="Calibri" pitchFamily="34" charset="0"/>
                <a:ea typeface="Calibri" pitchFamily="34" charset="-122"/>
                <a:cs typeface="Calibri" pitchFamily="34" charset="-120"/>
              </a:rPr>
              <a:t>Dr. Navin Kumar (Amrita Vishwa Vidyapeetham)</a:t>
            </a:r>
            <a:endParaRPr lang="en-US" sz="1600" dirty="0"/>
          </a:p>
        </p:txBody>
      </p:sp>
      <p:sp>
        <p:nvSpPr>
          <p:cNvPr id="12" name="Shape 10"/>
          <p:cNvSpPr/>
          <p:nvPr/>
        </p:nvSpPr>
        <p:spPr>
          <a:xfrm>
            <a:off x="857250" y="5334000"/>
            <a:ext cx="10477500" cy="14288"/>
          </a:xfrm>
          <a:prstGeom prst="rect">
            <a:avLst/>
          </a:prstGeom>
          <a:solidFill>
            <a:srgbClr val="27455E"/>
          </a:solidFill>
          <a:ln/>
        </p:spPr>
        <p:txBody>
          <a:bodyPr/>
          <a:lstStyle/>
          <a:p>
            <a:endParaRPr lang="en-IN"/>
          </a:p>
        </p:txBody>
      </p:sp>
      <p:sp>
        <p:nvSpPr>
          <p:cNvPr id="13" name="Text 11"/>
          <p:cNvSpPr/>
          <p:nvPr/>
        </p:nvSpPr>
        <p:spPr>
          <a:xfrm>
            <a:off x="857250" y="5543550"/>
            <a:ext cx="6667500" cy="2286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CFD9E5"/>
                </a:solidFill>
                <a:latin typeface="Calibri" pitchFamily="34" charset="0"/>
                <a:ea typeface="Calibri" pitchFamily="34" charset="-122"/>
                <a:cs typeface="Calibri" pitchFamily="34" charset="-120"/>
              </a:rPr>
              <a:t>Amrita School of Engineering, Bengaluru  ·  Samsung PRISM</a:t>
            </a:r>
            <a:endParaRPr lang="en-US" sz="1300" dirty="0"/>
          </a:p>
        </p:txBody>
      </p:sp>
      <p:sp>
        <p:nvSpPr>
          <p:cNvPr id="14" name="Text 12"/>
          <p:cNvSpPr/>
          <p:nvPr/>
        </p:nvSpPr>
        <p:spPr>
          <a:xfrm>
            <a:off x="857250" y="5810250"/>
            <a:ext cx="8572500" cy="2286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8B89A"/>
                </a:solidFill>
                <a:latin typeface="Calibri" pitchFamily="34" charset="0"/>
                <a:ea typeface="Calibri" pitchFamily="34" charset="-122"/>
                <a:cs typeface="Calibri" pitchFamily="34" charset="-120"/>
              </a:rPr>
              <a:t>168 live on-wire runs  ·  14 fault scenarios  ·  12 randomised replicates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SYSTEM ARCHITECTURE AND PROJECT BOUNDARY</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2900" b="1" dirty="0">
                <a:solidFill>
                  <a:srgbClr val="12263A"/>
                </a:solidFill>
                <a:latin typeface="Cambria" pitchFamily="34" charset="0"/>
                <a:ea typeface="Cambria" pitchFamily="34" charset="-122"/>
                <a:cs typeface="Cambria" pitchFamily="34" charset="-120"/>
              </a:rPr>
              <a:t>End-to-End O-RAN Architecture and S-Plane Project Boundary</a:t>
            </a:r>
            <a:endParaRPr lang="en-US" sz="29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O-RAN Alliance architecture description (ETSI TS 103 982 PAS)  |  O-RAN.WG4.CUS.0 Control, User and Synchronization Plane Specification  |  3GPP TS 38.401 NG-RAN architecture</a:t>
            </a:r>
            <a:endParaRPr lang="en-US" sz="1120" dirty="0"/>
          </a:p>
        </p:txBody>
      </p:sp>
      <p:pic>
        <p:nvPicPr>
          <p:cNvPr id="8" name="Image 0" descr="assets/arch_diagram.png"/>
          <p:cNvPicPr>
            <a:picLocks noChangeAspect="1"/>
          </p:cNvPicPr>
          <p:nvPr/>
        </p:nvPicPr>
        <p:blipFill>
          <a:blip r:embed="rId3"/>
          <a:stretch>
            <a:fillRect/>
          </a:stretch>
        </p:blipFill>
        <p:spPr>
          <a:xfrm>
            <a:off x="438150" y="1581150"/>
            <a:ext cx="11315700" cy="5181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PROBLEM STUDY</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2900" b="1" dirty="0">
                <a:solidFill>
                  <a:srgbClr val="12263A"/>
                </a:solidFill>
                <a:latin typeface="Cambria" pitchFamily="34" charset="0"/>
                <a:ea typeface="Cambria" pitchFamily="34" charset="-122"/>
                <a:cs typeface="Cambria" pitchFamily="34" charset="-120"/>
              </a:rPr>
              <a:t>Open Fronthaul Timing Requirements and Security Exposure</a:t>
            </a:r>
            <a:endParaRPr lang="en-US" sz="29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O-RAN.WG4.CUS.0 timing categories (via ATIS/WSTS O-RAN Fundamentals tutorial, Armstrong 2022)  |  ITU-T G.8271.1 network time-error budget  |  Groen et al., TIMESAFE, ACM ToPS 28(5), 2025, doi:10.1145/3775060</a:t>
            </a:r>
            <a:endParaRPr lang="en-US" sz="1120" dirty="0"/>
          </a:p>
        </p:txBody>
      </p:sp>
      <p:sp>
        <p:nvSpPr>
          <p:cNvPr id="8" name="Shape 6"/>
          <p:cNvSpPr/>
          <p:nvPr/>
        </p:nvSpPr>
        <p:spPr>
          <a:xfrm>
            <a:off x="571500" y="1714500"/>
            <a:ext cx="3676650" cy="2343150"/>
          </a:xfrm>
          <a:prstGeom prst="roundRect">
            <a:avLst>
              <a:gd name="adj" fmla="val 1561"/>
            </a:avLst>
          </a:prstGeom>
          <a:solidFill>
            <a:srgbClr val="FFFFFF"/>
          </a:solidFill>
          <a:ln w="12700">
            <a:solidFill>
              <a:srgbClr val="D7E1EA"/>
            </a:solidFill>
            <a:prstDash val="solid"/>
          </a:ln>
        </p:spPr>
        <p:txBody>
          <a:bodyPr/>
          <a:lstStyle/>
          <a:p>
            <a:endParaRPr lang="en-IN"/>
          </a:p>
        </p:txBody>
      </p:sp>
      <p:sp>
        <p:nvSpPr>
          <p:cNvPr id="9" name="Shape 7"/>
          <p:cNvSpPr/>
          <p:nvPr/>
        </p:nvSpPr>
        <p:spPr>
          <a:xfrm>
            <a:off x="571500" y="1714500"/>
            <a:ext cx="3676650" cy="47625"/>
          </a:xfrm>
          <a:prstGeom prst="rect">
            <a:avLst/>
          </a:prstGeom>
          <a:solidFill>
            <a:srgbClr val="18B89A"/>
          </a:solidFill>
          <a:ln/>
        </p:spPr>
        <p:txBody>
          <a:bodyPr/>
          <a:lstStyle/>
          <a:p>
            <a:endParaRPr lang="en-IN"/>
          </a:p>
        </p:txBody>
      </p:sp>
      <p:sp>
        <p:nvSpPr>
          <p:cNvPr id="10" name="Text 8"/>
          <p:cNvSpPr/>
          <p:nvPr/>
        </p:nvSpPr>
        <p:spPr>
          <a:xfrm>
            <a:off x="781050" y="1885950"/>
            <a:ext cx="3238500" cy="476250"/>
          </a:xfrm>
          <a:prstGeom prst="rect">
            <a:avLst/>
          </a:prstGeom>
          <a:noFill/>
          <a:ln/>
        </p:spPr>
        <p:txBody>
          <a:bodyPr wrap="square" lIns="0" tIns="0" rIns="0" bIns="0" rtlCol="0" anchor="t">
            <a:normAutofit/>
          </a:bodyPr>
          <a:lstStyle/>
          <a:p>
            <a:pPr marL="0" indent="0" algn="l">
              <a:lnSpc>
                <a:spcPct val="100000"/>
              </a:lnSpc>
              <a:buNone/>
            </a:pPr>
            <a:r>
              <a:rPr lang="en-US" sz="4000" b="1" dirty="0">
                <a:solidFill>
                  <a:srgbClr val="1C7293"/>
                </a:solidFill>
                <a:latin typeface="Cambria" pitchFamily="34" charset="0"/>
                <a:ea typeface="Cambria" pitchFamily="34" charset="-122"/>
                <a:cs typeface="Cambria" pitchFamily="34" charset="-120"/>
              </a:rPr>
              <a:t>130 ns</a:t>
            </a:r>
            <a:endParaRPr lang="en-US" sz="4000" dirty="0"/>
          </a:p>
        </p:txBody>
      </p:sp>
      <p:sp>
        <p:nvSpPr>
          <p:cNvPr id="11" name="Text 9"/>
          <p:cNvSpPr/>
          <p:nvPr/>
        </p:nvSpPr>
        <p:spPr>
          <a:xfrm>
            <a:off x="781050" y="2400300"/>
            <a:ext cx="3276600" cy="43815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ambria" pitchFamily="34" charset="0"/>
                <a:ea typeface="Cambria" pitchFamily="34" charset="-122"/>
                <a:cs typeface="Cambria" pitchFamily="34" charset="-120"/>
              </a:rPr>
              <a:t>Relative time alignment error between radio units in a cluster</a:t>
            </a:r>
            <a:endParaRPr lang="en-US" sz="1500" dirty="0"/>
          </a:p>
        </p:txBody>
      </p:sp>
      <p:sp>
        <p:nvSpPr>
          <p:cNvPr id="12" name="Text 10"/>
          <p:cNvSpPr/>
          <p:nvPr/>
        </p:nvSpPr>
        <p:spPr>
          <a:xfrm>
            <a:off x="781050" y="2895600"/>
            <a:ext cx="3276600" cy="74295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Timing Category A; implies ≈±65 ns per O-RU against a common reference under equal allocation</a:t>
            </a:r>
            <a:endParaRPr lang="en-US" sz="1300" dirty="0"/>
          </a:p>
        </p:txBody>
      </p:sp>
      <p:sp>
        <p:nvSpPr>
          <p:cNvPr id="13" name="Text 11"/>
          <p:cNvSpPr/>
          <p:nvPr/>
        </p:nvSpPr>
        <p:spPr>
          <a:xfrm>
            <a:off x="781050" y="3733800"/>
            <a:ext cx="3276600" cy="190500"/>
          </a:xfrm>
          <a:prstGeom prst="rect">
            <a:avLst/>
          </a:prstGeom>
          <a:noFill/>
          <a:ln/>
        </p:spPr>
        <p:txBody>
          <a:bodyPr wrap="square" lIns="0" tIns="0" rIns="0" bIns="0" rtlCol="0" anchor="t">
            <a:normAutofit/>
          </a:bodyPr>
          <a:lstStyle/>
          <a:p>
            <a:pPr marL="0" indent="0" algn="l">
              <a:lnSpc>
                <a:spcPct val="100000"/>
              </a:lnSpc>
              <a:buNone/>
            </a:pPr>
            <a:r>
              <a:rPr lang="en-US" sz="1050" b="1" dirty="0">
                <a:solidFill>
                  <a:srgbClr val="1C7293"/>
                </a:solidFill>
                <a:latin typeface="Calibri" pitchFamily="34" charset="0"/>
                <a:ea typeface="Calibri" pitchFamily="34" charset="-122"/>
                <a:cs typeface="Calibri" pitchFamily="34" charset="-120"/>
              </a:rPr>
              <a:t>O-RAN.WG4.CUS.0</a:t>
            </a:r>
            <a:endParaRPr lang="en-US" sz="1050" dirty="0"/>
          </a:p>
        </p:txBody>
      </p:sp>
      <p:sp>
        <p:nvSpPr>
          <p:cNvPr id="14" name="Shape 12"/>
          <p:cNvSpPr/>
          <p:nvPr/>
        </p:nvSpPr>
        <p:spPr>
          <a:xfrm>
            <a:off x="4257675" y="1714500"/>
            <a:ext cx="3676650" cy="2343150"/>
          </a:xfrm>
          <a:prstGeom prst="roundRect">
            <a:avLst>
              <a:gd name="adj" fmla="val 1561"/>
            </a:avLst>
          </a:prstGeom>
          <a:solidFill>
            <a:srgbClr val="FFFFFF"/>
          </a:solidFill>
          <a:ln w="12700">
            <a:solidFill>
              <a:srgbClr val="D7E1EA"/>
            </a:solidFill>
            <a:prstDash val="solid"/>
          </a:ln>
        </p:spPr>
        <p:txBody>
          <a:bodyPr/>
          <a:lstStyle/>
          <a:p>
            <a:endParaRPr lang="en-IN"/>
          </a:p>
        </p:txBody>
      </p:sp>
      <p:sp>
        <p:nvSpPr>
          <p:cNvPr id="15" name="Shape 13"/>
          <p:cNvSpPr/>
          <p:nvPr/>
        </p:nvSpPr>
        <p:spPr>
          <a:xfrm>
            <a:off x="4257675" y="1714500"/>
            <a:ext cx="3676650" cy="47625"/>
          </a:xfrm>
          <a:prstGeom prst="rect">
            <a:avLst/>
          </a:prstGeom>
          <a:solidFill>
            <a:srgbClr val="18B89A"/>
          </a:solidFill>
          <a:ln/>
        </p:spPr>
        <p:txBody>
          <a:bodyPr/>
          <a:lstStyle/>
          <a:p>
            <a:endParaRPr lang="en-IN"/>
          </a:p>
        </p:txBody>
      </p:sp>
      <p:sp>
        <p:nvSpPr>
          <p:cNvPr id="16" name="Text 14"/>
          <p:cNvSpPr/>
          <p:nvPr/>
        </p:nvSpPr>
        <p:spPr>
          <a:xfrm>
            <a:off x="4467225" y="1885950"/>
            <a:ext cx="3238500" cy="476250"/>
          </a:xfrm>
          <a:prstGeom prst="rect">
            <a:avLst/>
          </a:prstGeom>
          <a:noFill/>
          <a:ln/>
        </p:spPr>
        <p:txBody>
          <a:bodyPr wrap="square" lIns="0" tIns="0" rIns="0" bIns="0" rtlCol="0" anchor="t">
            <a:normAutofit/>
          </a:bodyPr>
          <a:lstStyle/>
          <a:p>
            <a:pPr marL="0" indent="0" algn="l">
              <a:lnSpc>
                <a:spcPct val="100000"/>
              </a:lnSpc>
              <a:buNone/>
            </a:pPr>
            <a:r>
              <a:rPr lang="en-US" sz="4000" b="1" dirty="0">
                <a:solidFill>
                  <a:srgbClr val="1C7293"/>
                </a:solidFill>
                <a:latin typeface="Cambria" pitchFamily="34" charset="0"/>
                <a:ea typeface="Cambria" pitchFamily="34" charset="-122"/>
                <a:cs typeface="Cambria" pitchFamily="34" charset="-120"/>
              </a:rPr>
              <a:t>±1.5 µs</a:t>
            </a:r>
            <a:endParaRPr lang="en-US" sz="4000" dirty="0"/>
          </a:p>
        </p:txBody>
      </p:sp>
      <p:sp>
        <p:nvSpPr>
          <p:cNvPr id="17" name="Text 15"/>
          <p:cNvSpPr/>
          <p:nvPr/>
        </p:nvSpPr>
        <p:spPr>
          <a:xfrm>
            <a:off x="4467225" y="2400300"/>
            <a:ext cx="3276600" cy="43815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ambria" pitchFamily="34" charset="0"/>
                <a:ea typeface="Cambria" pitchFamily="34" charset="-122"/>
                <a:cs typeface="Cambria" pitchFamily="34" charset="-120"/>
              </a:rPr>
              <a:t>Absolute time error at reference point E, common time standard</a:t>
            </a:r>
            <a:endParaRPr lang="en-US" sz="1500" dirty="0"/>
          </a:p>
        </p:txBody>
      </p:sp>
      <p:sp>
        <p:nvSpPr>
          <p:cNvPr id="18" name="Text 16"/>
          <p:cNvSpPr/>
          <p:nvPr/>
        </p:nvSpPr>
        <p:spPr>
          <a:xfrm>
            <a:off x="4467225" y="2895600"/>
            <a:ext cx="3276600" cy="74295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Total budget at reference point E; the network limit at reference point C is 1100 ns</a:t>
            </a:r>
            <a:endParaRPr lang="en-US" sz="1300" dirty="0"/>
          </a:p>
        </p:txBody>
      </p:sp>
      <p:sp>
        <p:nvSpPr>
          <p:cNvPr id="19" name="Text 17"/>
          <p:cNvSpPr/>
          <p:nvPr/>
        </p:nvSpPr>
        <p:spPr>
          <a:xfrm>
            <a:off x="4467225" y="3733800"/>
            <a:ext cx="3276600" cy="190500"/>
          </a:xfrm>
          <a:prstGeom prst="rect">
            <a:avLst/>
          </a:prstGeom>
          <a:noFill/>
          <a:ln/>
        </p:spPr>
        <p:txBody>
          <a:bodyPr wrap="square" lIns="0" tIns="0" rIns="0" bIns="0" rtlCol="0" anchor="t">
            <a:normAutofit/>
          </a:bodyPr>
          <a:lstStyle/>
          <a:p>
            <a:pPr marL="0" indent="0" algn="l">
              <a:lnSpc>
                <a:spcPct val="100000"/>
              </a:lnSpc>
              <a:buNone/>
            </a:pPr>
            <a:r>
              <a:rPr lang="en-US" sz="1050" b="1" dirty="0">
                <a:solidFill>
                  <a:srgbClr val="1C7293"/>
                </a:solidFill>
                <a:latin typeface="Calibri" pitchFamily="34" charset="0"/>
                <a:ea typeface="Calibri" pitchFamily="34" charset="-122"/>
                <a:cs typeface="Calibri" pitchFamily="34" charset="-120"/>
              </a:rPr>
              <a:t>ITU-T G.8271.1</a:t>
            </a:r>
            <a:endParaRPr lang="en-US" sz="1050" dirty="0"/>
          </a:p>
        </p:txBody>
      </p:sp>
      <p:sp>
        <p:nvSpPr>
          <p:cNvPr id="20" name="Shape 18"/>
          <p:cNvSpPr/>
          <p:nvPr/>
        </p:nvSpPr>
        <p:spPr>
          <a:xfrm>
            <a:off x="7943850" y="1714500"/>
            <a:ext cx="3676650" cy="2343150"/>
          </a:xfrm>
          <a:prstGeom prst="roundRect">
            <a:avLst>
              <a:gd name="adj" fmla="val 1561"/>
            </a:avLst>
          </a:prstGeom>
          <a:solidFill>
            <a:srgbClr val="FFFFFF"/>
          </a:solidFill>
          <a:ln w="12700">
            <a:solidFill>
              <a:srgbClr val="D7E1EA"/>
            </a:solidFill>
            <a:prstDash val="solid"/>
          </a:ln>
        </p:spPr>
        <p:txBody>
          <a:bodyPr/>
          <a:lstStyle/>
          <a:p>
            <a:endParaRPr lang="en-IN"/>
          </a:p>
        </p:txBody>
      </p:sp>
      <p:sp>
        <p:nvSpPr>
          <p:cNvPr id="21" name="Shape 19"/>
          <p:cNvSpPr/>
          <p:nvPr/>
        </p:nvSpPr>
        <p:spPr>
          <a:xfrm>
            <a:off x="7943850" y="1714500"/>
            <a:ext cx="3676650" cy="47625"/>
          </a:xfrm>
          <a:prstGeom prst="rect">
            <a:avLst/>
          </a:prstGeom>
          <a:solidFill>
            <a:srgbClr val="18B89A"/>
          </a:solidFill>
          <a:ln/>
        </p:spPr>
        <p:txBody>
          <a:bodyPr/>
          <a:lstStyle/>
          <a:p>
            <a:endParaRPr lang="en-IN"/>
          </a:p>
        </p:txBody>
      </p:sp>
      <p:sp>
        <p:nvSpPr>
          <p:cNvPr id="22" name="Text 20"/>
          <p:cNvSpPr/>
          <p:nvPr/>
        </p:nvSpPr>
        <p:spPr>
          <a:xfrm>
            <a:off x="8153400" y="1885950"/>
            <a:ext cx="3238500" cy="476250"/>
          </a:xfrm>
          <a:prstGeom prst="rect">
            <a:avLst/>
          </a:prstGeom>
          <a:noFill/>
          <a:ln/>
        </p:spPr>
        <p:txBody>
          <a:bodyPr wrap="square" lIns="0" tIns="0" rIns="0" bIns="0" rtlCol="0" anchor="t">
            <a:normAutofit/>
          </a:bodyPr>
          <a:lstStyle/>
          <a:p>
            <a:pPr marL="0" indent="0" algn="l">
              <a:lnSpc>
                <a:spcPct val="100000"/>
              </a:lnSpc>
              <a:buNone/>
            </a:pPr>
            <a:r>
              <a:rPr lang="en-US" sz="4000" b="1" dirty="0">
                <a:solidFill>
                  <a:srgbClr val="1C7293"/>
                </a:solidFill>
                <a:latin typeface="Cambria" pitchFamily="34" charset="0"/>
                <a:ea typeface="Cambria" pitchFamily="34" charset="-122"/>
                <a:cs typeface="Cambria" pitchFamily="34" charset="-120"/>
              </a:rPr>
              <a:t>≈2 s</a:t>
            </a:r>
            <a:endParaRPr lang="en-US" sz="4000" dirty="0"/>
          </a:p>
        </p:txBody>
      </p:sp>
      <p:sp>
        <p:nvSpPr>
          <p:cNvPr id="23" name="Text 21"/>
          <p:cNvSpPr/>
          <p:nvPr/>
        </p:nvSpPr>
        <p:spPr>
          <a:xfrm>
            <a:off x="8153400" y="2400300"/>
            <a:ext cx="3276600" cy="43815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ambria" pitchFamily="34" charset="0"/>
                <a:ea typeface="Cambria" pitchFamily="34" charset="-122"/>
                <a:cs typeface="Cambria" pitchFamily="34" charset="-120"/>
              </a:rPr>
              <a:t>Observed time from attack onset to O-RU crash in one published study</a:t>
            </a:r>
            <a:endParaRPr lang="en-US" sz="1500" dirty="0"/>
          </a:p>
        </p:txBody>
      </p:sp>
      <p:sp>
        <p:nvSpPr>
          <p:cNvPr id="24" name="Text 22"/>
          <p:cNvSpPr/>
          <p:nvPr/>
        </p:nvSpPr>
        <p:spPr>
          <a:xfrm>
            <a:off x="8153400" y="2895600"/>
            <a:ext cx="3276600" cy="74295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The O-RU crashed and required a manual reboot, with switch PTP ports in dynamic role</a:t>
            </a:r>
            <a:endParaRPr lang="en-US" sz="1300" dirty="0"/>
          </a:p>
        </p:txBody>
      </p:sp>
      <p:sp>
        <p:nvSpPr>
          <p:cNvPr id="25" name="Text 23"/>
          <p:cNvSpPr/>
          <p:nvPr/>
        </p:nvSpPr>
        <p:spPr>
          <a:xfrm>
            <a:off x="8153400" y="3733800"/>
            <a:ext cx="3276600" cy="190500"/>
          </a:xfrm>
          <a:prstGeom prst="rect">
            <a:avLst/>
          </a:prstGeom>
          <a:noFill/>
          <a:ln/>
        </p:spPr>
        <p:txBody>
          <a:bodyPr wrap="square" lIns="0" tIns="0" rIns="0" bIns="0" rtlCol="0" anchor="t">
            <a:normAutofit/>
          </a:bodyPr>
          <a:lstStyle/>
          <a:p>
            <a:pPr marL="0" indent="0" algn="l">
              <a:lnSpc>
                <a:spcPct val="100000"/>
              </a:lnSpc>
              <a:buNone/>
            </a:pPr>
            <a:r>
              <a:rPr lang="en-US" sz="1050" b="1" dirty="0">
                <a:solidFill>
                  <a:srgbClr val="1C7293"/>
                </a:solidFill>
                <a:latin typeface="Calibri" pitchFamily="34" charset="0"/>
                <a:ea typeface="Calibri" pitchFamily="34" charset="-122"/>
                <a:cs typeface="Calibri" pitchFamily="34" charset="-120"/>
              </a:rPr>
              <a:t>TIMESAFE, ACM ToPS 2025</a:t>
            </a:r>
            <a:endParaRPr lang="en-US" sz="1050" dirty="0"/>
          </a:p>
        </p:txBody>
      </p:sp>
      <p:sp>
        <p:nvSpPr>
          <p:cNvPr id="26" name="Shape 24"/>
          <p:cNvSpPr/>
          <p:nvPr/>
        </p:nvSpPr>
        <p:spPr>
          <a:xfrm>
            <a:off x="571500" y="4248149"/>
            <a:ext cx="11049000" cy="1038225"/>
          </a:xfrm>
          <a:prstGeom prst="roundRect">
            <a:avLst>
              <a:gd name="adj" fmla="val 4000"/>
            </a:avLst>
          </a:prstGeom>
          <a:solidFill>
            <a:srgbClr val="EAF2F8"/>
          </a:solidFill>
          <a:ln w="12700">
            <a:solidFill>
              <a:srgbClr val="D7E1EA"/>
            </a:solidFill>
            <a:prstDash val="solid"/>
          </a:ln>
        </p:spPr>
        <p:txBody>
          <a:bodyPr/>
          <a:lstStyle/>
          <a:p>
            <a:endParaRPr lang="en-IN"/>
          </a:p>
        </p:txBody>
      </p:sp>
      <p:sp>
        <p:nvSpPr>
          <p:cNvPr id="27" name="Text 25"/>
          <p:cNvSpPr/>
          <p:nvPr/>
        </p:nvSpPr>
        <p:spPr>
          <a:xfrm>
            <a:off x="781050" y="4400550"/>
            <a:ext cx="95250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WHY THIS IS A SECURITY SURFACE, NOT ONLY AN ENGINEERING CONSTRAINT</a:t>
            </a:r>
            <a:endParaRPr lang="en-US" sz="1200" dirty="0"/>
          </a:p>
        </p:txBody>
      </p:sp>
      <p:sp>
        <p:nvSpPr>
          <p:cNvPr id="28" name="Text 26"/>
          <p:cNvSpPr/>
          <p:nvPr/>
        </p:nvSpPr>
        <p:spPr>
          <a:xfrm>
            <a:off x="781050" y="4648200"/>
            <a:ext cx="10629900" cy="457200"/>
          </a:xfrm>
          <a:prstGeom prst="rect">
            <a:avLst/>
          </a:prstGeom>
          <a:noFill/>
          <a:ln/>
        </p:spPr>
        <p:txBody>
          <a:bodyPr wrap="square" lIns="0" tIns="0" rIns="0" bIns="0" rtlCol="0" anchor="t">
            <a:normAutofit/>
          </a:bodyPr>
          <a:lstStyle/>
          <a:p>
            <a:pPr marL="0" indent="0" algn="l">
              <a:lnSpc>
                <a:spcPct val="100000"/>
              </a:lnSpc>
              <a:buNone/>
            </a:pPr>
            <a:r>
              <a:rPr lang="en-US" sz="1420" dirty="0">
                <a:solidFill>
                  <a:srgbClr val="12263A"/>
                </a:solidFill>
                <a:latin typeface="Calibri" pitchFamily="34" charset="0"/>
                <a:ea typeface="Calibri" pitchFamily="34" charset="-122"/>
                <a:cs typeface="Calibri" pitchFamily="34" charset="-120"/>
              </a:rPr>
              <a:t>Time is distributed across the fronthaul as ordinary Ethernet frames carrying the IEEE 1588 protocol, not over a dedicated physical channel. Any device able to place frames on that path can therefore advertise itself as a time source, forge timing content, or withhold legitimate messages. Loss of a shared time reference degrades radio coordination, so the S-plane is simultaneously a timing-performance boundary and an attack surface.</a:t>
            </a:r>
            <a:endParaRPr lang="en-US" sz="1420" dirty="0"/>
          </a:p>
        </p:txBody>
      </p:sp>
      <p:sp>
        <p:nvSpPr>
          <p:cNvPr id="29" name="Shape 27"/>
          <p:cNvSpPr/>
          <p:nvPr/>
        </p:nvSpPr>
        <p:spPr>
          <a:xfrm>
            <a:off x="571500" y="5334000"/>
            <a:ext cx="11049000" cy="571500"/>
          </a:xfrm>
          <a:prstGeom prst="roundRect">
            <a:avLst>
              <a:gd name="adj" fmla="val 6400"/>
            </a:avLst>
          </a:prstGeom>
          <a:solidFill>
            <a:srgbClr val="FFF8E8"/>
          </a:solidFill>
          <a:ln w="12700">
            <a:solidFill>
              <a:srgbClr val="C58B18"/>
            </a:solidFill>
            <a:prstDash val="solid"/>
          </a:ln>
        </p:spPr>
        <p:txBody>
          <a:bodyPr/>
          <a:lstStyle/>
          <a:p>
            <a:endParaRPr lang="en-IN"/>
          </a:p>
        </p:txBody>
      </p:sp>
      <p:sp>
        <p:nvSpPr>
          <p:cNvPr id="30" name="Text 28"/>
          <p:cNvSpPr/>
          <p:nvPr/>
        </p:nvSpPr>
        <p:spPr>
          <a:xfrm>
            <a:off x="781050" y="547687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Figure basis</a:t>
            </a:r>
            <a:endParaRPr lang="en-US" sz="1600" dirty="0"/>
          </a:p>
        </p:txBody>
      </p:sp>
      <p:sp>
        <p:nvSpPr>
          <p:cNvPr id="31" name="Text 29"/>
          <p:cNvSpPr/>
          <p:nvPr/>
        </p:nvSpPr>
        <p:spPr>
          <a:xfrm>
            <a:off x="2781300" y="5457825"/>
            <a:ext cx="8629650" cy="3429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The 130 ns and ±1.5 µs values derive from 3GPP air-interface requirements re-expressed by O-RAN and ITU-T. The ≈2 s figure is a single observed experimental result, not a standardised limit.</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DECISION REQUIREMENT</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200" b="1" dirty="0">
                <a:solidFill>
                  <a:srgbClr val="12263A"/>
                </a:solidFill>
                <a:latin typeface="Cambria" pitchFamily="34" charset="0"/>
                <a:ea typeface="Cambria" pitchFamily="34" charset="-122"/>
                <a:cs typeface="Cambria" pitchFamily="34" charset="-120"/>
              </a:rPr>
              <a:t>Attack–Fault Ambiguity and Sub-Scope Selection</a:t>
            </a:r>
            <a:endParaRPr lang="en-US" sz="32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IEEE 1588-2019 clock states and timePropertiesDS  |  ITU-T G.8275.1 clockClass ladder (6 locked, 7 holdover in spec)  |  O-RAN WG11 Threat Model, ETSI TR 104 106 V3.0.0</a:t>
            </a:r>
            <a:endParaRPr lang="en-US" sz="1120" dirty="0"/>
          </a:p>
        </p:txBody>
      </p:sp>
      <p:sp>
        <p:nvSpPr>
          <p:cNvPr id="8" name="Shape 6"/>
          <p:cNvSpPr/>
          <p:nvPr/>
        </p:nvSpPr>
        <p:spPr>
          <a:xfrm>
            <a:off x="571500" y="1638300"/>
            <a:ext cx="5334000" cy="2038350"/>
          </a:xfrm>
          <a:prstGeom prst="roundRect">
            <a:avLst>
              <a:gd name="adj" fmla="val 1794"/>
            </a:avLst>
          </a:prstGeom>
          <a:solidFill>
            <a:srgbClr val="FFFFFF"/>
          </a:solidFill>
          <a:ln w="12700">
            <a:solidFill>
              <a:srgbClr val="D7E1EA"/>
            </a:solidFill>
            <a:prstDash val="solid"/>
          </a:ln>
        </p:spPr>
        <p:txBody>
          <a:bodyPr/>
          <a:lstStyle/>
          <a:p>
            <a:endParaRPr lang="en-IN"/>
          </a:p>
        </p:txBody>
      </p:sp>
      <p:sp>
        <p:nvSpPr>
          <p:cNvPr id="9" name="Shape 7"/>
          <p:cNvSpPr/>
          <p:nvPr/>
        </p:nvSpPr>
        <p:spPr>
          <a:xfrm>
            <a:off x="571500" y="1638300"/>
            <a:ext cx="5334000" cy="47625"/>
          </a:xfrm>
          <a:prstGeom prst="rect">
            <a:avLst/>
          </a:prstGeom>
          <a:solidFill>
            <a:srgbClr val="1E8E5A"/>
          </a:solidFill>
          <a:ln/>
        </p:spPr>
        <p:txBody>
          <a:bodyPr/>
          <a:lstStyle/>
          <a:p>
            <a:endParaRPr lang="en-IN"/>
          </a:p>
        </p:txBody>
      </p:sp>
      <p:sp>
        <p:nvSpPr>
          <p:cNvPr id="10" name="Text 8"/>
          <p:cNvSpPr/>
          <p:nvPr/>
        </p:nvSpPr>
        <p:spPr>
          <a:xfrm>
            <a:off x="781050" y="1790700"/>
            <a:ext cx="2857500" cy="20955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E8E5A"/>
                </a:solidFill>
                <a:latin typeface="Calibri" pitchFamily="34" charset="0"/>
                <a:ea typeface="Calibri" pitchFamily="34" charset="-122"/>
                <a:cs typeface="Calibri" pitchFamily="34" charset="-120"/>
              </a:rPr>
              <a:t>BENIGN FAULT</a:t>
            </a:r>
            <a:endParaRPr lang="en-US" sz="1200" dirty="0"/>
          </a:p>
        </p:txBody>
      </p:sp>
      <p:sp>
        <p:nvSpPr>
          <p:cNvPr id="11" name="Text 9"/>
          <p:cNvSpPr/>
          <p:nvPr/>
        </p:nvSpPr>
        <p:spPr>
          <a:xfrm>
            <a:off x="781050" y="2019300"/>
            <a:ext cx="4762500" cy="285750"/>
          </a:xfrm>
          <a:prstGeom prst="rect">
            <a:avLst/>
          </a:prstGeom>
          <a:noFill/>
          <a:ln/>
        </p:spPr>
        <p:txBody>
          <a:bodyPr wrap="square" lIns="0" tIns="0" rIns="0" bIns="0" rtlCol="0" anchor="t">
            <a:normAutofit/>
          </a:bodyPr>
          <a:lstStyle/>
          <a:p>
            <a:pPr marL="0" indent="0" algn="l">
              <a:lnSpc>
                <a:spcPct val="100000"/>
              </a:lnSpc>
              <a:buNone/>
            </a:pPr>
            <a:r>
              <a:rPr lang="en-US" sz="2300" b="1" dirty="0">
                <a:solidFill>
                  <a:srgbClr val="12263A"/>
                </a:solidFill>
                <a:latin typeface="Cambria" pitchFamily="34" charset="0"/>
                <a:ea typeface="Cambria" pitchFamily="34" charset="-122"/>
                <a:cs typeface="Cambria" pitchFamily="34" charset="-120"/>
              </a:rPr>
              <a:t>The clock is wrong</a:t>
            </a:r>
            <a:endParaRPr lang="en-US" sz="2300" dirty="0"/>
          </a:p>
        </p:txBody>
      </p:sp>
      <p:sp>
        <p:nvSpPr>
          <p:cNvPr id="12" name="Text 10"/>
          <p:cNvSpPr/>
          <p:nvPr/>
        </p:nvSpPr>
        <p:spPr>
          <a:xfrm>
            <a:off x="781050" y="2381250"/>
            <a:ext cx="4914900" cy="361950"/>
          </a:xfrm>
          <a:prstGeom prst="rect">
            <a:avLst/>
          </a:prstGeom>
          <a:noFill/>
          <a:ln/>
        </p:spPr>
        <p:txBody>
          <a:bodyPr wrap="square" lIns="0" tIns="0" rIns="0" bIns="0" rtlCol="0" anchor="t">
            <a:normAutofit/>
          </a:bodyPr>
          <a:lstStyle/>
          <a:p>
            <a:pPr marL="0" indent="0" algn="l">
              <a:lnSpc>
                <a:spcPct val="100000"/>
              </a:lnSpc>
              <a:buNone/>
            </a:pPr>
            <a:r>
              <a:rPr lang="en-US" sz="1400" dirty="0">
                <a:solidFill>
                  <a:srgbClr val="5B6B7C"/>
                </a:solidFill>
                <a:latin typeface="Calibri" pitchFamily="34" charset="0"/>
                <a:ea typeface="Calibri" pitchFamily="34" charset="-122"/>
                <a:cs typeface="Calibri" pitchFamily="34" charset="-120"/>
              </a:rPr>
              <a:t>Example: a GNSS outage at the grandmaster, declared through clockClass 6 → 7.</a:t>
            </a:r>
            <a:endParaRPr lang="en-US" sz="1400" dirty="0"/>
          </a:p>
        </p:txBody>
      </p:sp>
      <p:sp>
        <p:nvSpPr>
          <p:cNvPr id="13" name="Text 11"/>
          <p:cNvSpPr/>
          <p:nvPr/>
        </p:nvSpPr>
        <p:spPr>
          <a:xfrm>
            <a:off x="781050" y="2819400"/>
            <a:ext cx="4914900" cy="209550"/>
          </a:xfrm>
          <a:prstGeom prst="rect">
            <a:avLst/>
          </a:prstGeom>
          <a:noFill/>
          <a:ln/>
        </p:spPr>
        <p:txBody>
          <a:bodyPr wrap="square" lIns="0" tIns="0" rIns="0" bIns="0" rtlCol="0" anchor="t">
            <a:normAutofit/>
          </a:bodyPr>
          <a:lstStyle/>
          <a:p>
            <a:pPr marL="0" indent="0" algn="l">
              <a:lnSpc>
                <a:spcPct val="100000"/>
              </a:lnSpc>
              <a:buNone/>
            </a:pPr>
            <a:r>
              <a:rPr lang="en-US" sz="1450" b="1" dirty="0">
                <a:solidFill>
                  <a:srgbClr val="12263A"/>
                </a:solidFill>
                <a:latin typeface="Calibri" pitchFamily="34" charset="0"/>
                <a:ea typeface="Calibri" pitchFamily="34" charset="-122"/>
                <a:cs typeface="Calibri" pitchFamily="34" charset="-120"/>
              </a:rPr>
              <a:t>Correct response — ride it out in holdover.</a:t>
            </a:r>
            <a:endParaRPr lang="en-US" sz="1450" dirty="0"/>
          </a:p>
        </p:txBody>
      </p:sp>
      <p:sp>
        <p:nvSpPr>
          <p:cNvPr id="14" name="Text 12"/>
          <p:cNvSpPr/>
          <p:nvPr/>
        </p:nvSpPr>
        <p:spPr>
          <a:xfrm>
            <a:off x="781050" y="3067050"/>
            <a:ext cx="4914900" cy="400050"/>
          </a:xfrm>
          <a:prstGeom prst="rect">
            <a:avLst/>
          </a:prstGeom>
          <a:noFill/>
          <a:ln/>
        </p:spPr>
        <p:txBody>
          <a:bodyPr wrap="square" lIns="0" tIns="0" rIns="0" bIns="0" rtlCol="0" anchor="t">
            <a:normAutofit/>
          </a:bodyPr>
          <a:lstStyle/>
          <a:p>
            <a:pPr marL="0" indent="0" algn="l">
              <a:lnSpc>
                <a:spcPct val="100000"/>
              </a:lnSpc>
              <a:buNone/>
            </a:pPr>
            <a:r>
              <a:rPr lang="en-US" sz="1350" dirty="0">
                <a:solidFill>
                  <a:srgbClr val="5B6B7C"/>
                </a:solidFill>
                <a:latin typeface="Calibri" pitchFamily="34" charset="0"/>
                <a:ea typeface="Calibri" pitchFamily="34" charset="-122"/>
                <a:cs typeface="Calibri" pitchFamily="34" charset="-120"/>
              </a:rPr>
              <a:t>Isolating the node here creates an outage that was not going to occur.</a:t>
            </a:r>
            <a:endParaRPr lang="en-US" sz="1350" dirty="0"/>
          </a:p>
        </p:txBody>
      </p:sp>
      <p:sp>
        <p:nvSpPr>
          <p:cNvPr id="15" name="Shape 13"/>
          <p:cNvSpPr/>
          <p:nvPr/>
        </p:nvSpPr>
        <p:spPr>
          <a:xfrm>
            <a:off x="6286500" y="1638300"/>
            <a:ext cx="5334000" cy="2038350"/>
          </a:xfrm>
          <a:prstGeom prst="roundRect">
            <a:avLst>
              <a:gd name="adj" fmla="val 1794"/>
            </a:avLst>
          </a:prstGeom>
          <a:solidFill>
            <a:srgbClr val="FFFFFF"/>
          </a:solidFill>
          <a:ln w="12700">
            <a:solidFill>
              <a:srgbClr val="D7E1EA"/>
            </a:solidFill>
            <a:prstDash val="solid"/>
          </a:ln>
        </p:spPr>
        <p:txBody>
          <a:bodyPr/>
          <a:lstStyle/>
          <a:p>
            <a:endParaRPr lang="en-IN"/>
          </a:p>
        </p:txBody>
      </p:sp>
      <p:sp>
        <p:nvSpPr>
          <p:cNvPr id="16" name="Shape 14"/>
          <p:cNvSpPr/>
          <p:nvPr/>
        </p:nvSpPr>
        <p:spPr>
          <a:xfrm>
            <a:off x="6286500" y="1638300"/>
            <a:ext cx="5334000" cy="47625"/>
          </a:xfrm>
          <a:prstGeom prst="rect">
            <a:avLst/>
          </a:prstGeom>
          <a:solidFill>
            <a:srgbClr val="B3402F"/>
          </a:solidFill>
          <a:ln/>
        </p:spPr>
        <p:txBody>
          <a:bodyPr/>
          <a:lstStyle/>
          <a:p>
            <a:endParaRPr lang="en-IN"/>
          </a:p>
        </p:txBody>
      </p:sp>
      <p:sp>
        <p:nvSpPr>
          <p:cNvPr id="17" name="Text 15"/>
          <p:cNvSpPr/>
          <p:nvPr/>
        </p:nvSpPr>
        <p:spPr>
          <a:xfrm>
            <a:off x="6496050" y="1790700"/>
            <a:ext cx="2857500" cy="20955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B3402F"/>
                </a:solidFill>
                <a:latin typeface="Calibri" pitchFamily="34" charset="0"/>
                <a:ea typeface="Calibri" pitchFamily="34" charset="-122"/>
                <a:cs typeface="Calibri" pitchFamily="34" charset="-120"/>
              </a:rPr>
              <a:t>ATTACK</a:t>
            </a:r>
            <a:endParaRPr lang="en-US" sz="1200" dirty="0"/>
          </a:p>
        </p:txBody>
      </p:sp>
      <p:sp>
        <p:nvSpPr>
          <p:cNvPr id="18" name="Text 16"/>
          <p:cNvSpPr/>
          <p:nvPr/>
        </p:nvSpPr>
        <p:spPr>
          <a:xfrm>
            <a:off x="6496050" y="2019300"/>
            <a:ext cx="4762500" cy="285750"/>
          </a:xfrm>
          <a:prstGeom prst="rect">
            <a:avLst/>
          </a:prstGeom>
          <a:noFill/>
          <a:ln/>
        </p:spPr>
        <p:txBody>
          <a:bodyPr wrap="square" lIns="0" tIns="0" rIns="0" bIns="0" rtlCol="0" anchor="t">
            <a:normAutofit/>
          </a:bodyPr>
          <a:lstStyle/>
          <a:p>
            <a:pPr marL="0" indent="0" algn="l">
              <a:lnSpc>
                <a:spcPct val="100000"/>
              </a:lnSpc>
              <a:buNone/>
            </a:pPr>
            <a:r>
              <a:rPr lang="en-US" sz="2300" b="1" dirty="0">
                <a:solidFill>
                  <a:srgbClr val="12263A"/>
                </a:solidFill>
                <a:latin typeface="Cambria" pitchFamily="34" charset="0"/>
                <a:ea typeface="Cambria" pitchFamily="34" charset="-122"/>
                <a:cs typeface="Cambria" pitchFamily="34" charset="-120"/>
              </a:rPr>
              <a:t>The clock is wrong</a:t>
            </a:r>
            <a:endParaRPr lang="en-US" sz="2300" dirty="0"/>
          </a:p>
        </p:txBody>
      </p:sp>
      <p:sp>
        <p:nvSpPr>
          <p:cNvPr id="19" name="Text 17"/>
          <p:cNvSpPr/>
          <p:nvPr/>
        </p:nvSpPr>
        <p:spPr>
          <a:xfrm>
            <a:off x="6496050" y="2381250"/>
            <a:ext cx="4914900" cy="361950"/>
          </a:xfrm>
          <a:prstGeom prst="rect">
            <a:avLst/>
          </a:prstGeom>
          <a:noFill/>
          <a:ln/>
        </p:spPr>
        <p:txBody>
          <a:bodyPr wrap="square" lIns="0" tIns="0" rIns="0" bIns="0" rtlCol="0" anchor="t">
            <a:normAutofit/>
          </a:bodyPr>
          <a:lstStyle/>
          <a:p>
            <a:pPr marL="0" indent="0" algn="l">
              <a:lnSpc>
                <a:spcPct val="100000"/>
              </a:lnSpc>
              <a:buNone/>
            </a:pPr>
            <a:r>
              <a:rPr lang="en-US" sz="1400" dirty="0">
                <a:solidFill>
                  <a:srgbClr val="5B6B7C"/>
                </a:solidFill>
                <a:latin typeface="Calibri" pitchFamily="34" charset="0"/>
                <a:ea typeface="Calibri" pitchFamily="34" charset="-122"/>
                <a:cs typeface="Calibri" pitchFamily="34" charset="-120"/>
              </a:rPr>
              <a:t>Example: a rogue master injecting false time through forged Announce messages.</a:t>
            </a:r>
            <a:endParaRPr lang="en-US" sz="1400" dirty="0"/>
          </a:p>
        </p:txBody>
      </p:sp>
      <p:sp>
        <p:nvSpPr>
          <p:cNvPr id="20" name="Text 18"/>
          <p:cNvSpPr/>
          <p:nvPr/>
        </p:nvSpPr>
        <p:spPr>
          <a:xfrm>
            <a:off x="6496050" y="2819400"/>
            <a:ext cx="4914900" cy="209550"/>
          </a:xfrm>
          <a:prstGeom prst="rect">
            <a:avLst/>
          </a:prstGeom>
          <a:noFill/>
          <a:ln/>
        </p:spPr>
        <p:txBody>
          <a:bodyPr wrap="square" lIns="0" tIns="0" rIns="0" bIns="0" rtlCol="0" anchor="t">
            <a:normAutofit/>
          </a:bodyPr>
          <a:lstStyle/>
          <a:p>
            <a:pPr marL="0" indent="0" algn="l">
              <a:lnSpc>
                <a:spcPct val="100000"/>
              </a:lnSpc>
              <a:buNone/>
            </a:pPr>
            <a:r>
              <a:rPr lang="en-US" sz="1450" b="1" dirty="0">
                <a:solidFill>
                  <a:srgbClr val="12263A"/>
                </a:solidFill>
                <a:latin typeface="Calibri" pitchFamily="34" charset="0"/>
                <a:ea typeface="Calibri" pitchFamily="34" charset="-122"/>
                <a:cs typeface="Calibri" pitchFamily="34" charset="-120"/>
              </a:rPr>
              <a:t>Correct response — isolate the source immediately.</a:t>
            </a:r>
            <a:endParaRPr lang="en-US" sz="1450" dirty="0"/>
          </a:p>
        </p:txBody>
      </p:sp>
      <p:sp>
        <p:nvSpPr>
          <p:cNvPr id="21" name="Text 19"/>
          <p:cNvSpPr/>
          <p:nvPr/>
        </p:nvSpPr>
        <p:spPr>
          <a:xfrm>
            <a:off x="6496050" y="3067050"/>
            <a:ext cx="4914900" cy="400050"/>
          </a:xfrm>
          <a:prstGeom prst="rect">
            <a:avLst/>
          </a:prstGeom>
          <a:noFill/>
          <a:ln/>
        </p:spPr>
        <p:txBody>
          <a:bodyPr wrap="square" lIns="0" tIns="0" rIns="0" bIns="0" rtlCol="0" anchor="t">
            <a:normAutofit/>
          </a:bodyPr>
          <a:lstStyle/>
          <a:p>
            <a:pPr marL="0" indent="0" algn="l">
              <a:lnSpc>
                <a:spcPct val="100000"/>
              </a:lnSpc>
              <a:buNone/>
            </a:pPr>
            <a:r>
              <a:rPr lang="en-US" sz="1350" dirty="0">
                <a:solidFill>
                  <a:srgbClr val="5B6B7C"/>
                </a:solidFill>
                <a:latin typeface="Calibri" pitchFamily="34" charset="0"/>
                <a:ea typeface="Calibri" pitchFamily="34" charset="-122"/>
                <a:cs typeface="Calibri" pitchFamily="34" charset="-120"/>
              </a:rPr>
              <a:t>Waiting in holdover allows the attacker to keep steering the clock.</a:t>
            </a:r>
            <a:endParaRPr lang="en-US" sz="1350" dirty="0"/>
          </a:p>
        </p:txBody>
      </p:sp>
      <p:sp>
        <p:nvSpPr>
          <p:cNvPr id="22" name="Shape 20"/>
          <p:cNvSpPr/>
          <p:nvPr/>
        </p:nvSpPr>
        <p:spPr>
          <a:xfrm>
            <a:off x="571500" y="3810000"/>
            <a:ext cx="11049000" cy="419100"/>
          </a:xfrm>
          <a:prstGeom prst="roundRect">
            <a:avLst>
              <a:gd name="adj" fmla="val 8727"/>
            </a:avLst>
          </a:prstGeom>
          <a:solidFill>
            <a:srgbClr val="0E2440"/>
          </a:solidFill>
          <a:ln w="12700">
            <a:solidFill>
              <a:srgbClr val="0E2440"/>
            </a:solidFill>
            <a:prstDash val="solid"/>
          </a:ln>
        </p:spPr>
        <p:txBody>
          <a:bodyPr/>
          <a:lstStyle/>
          <a:p>
            <a:endParaRPr lang="en-IN"/>
          </a:p>
        </p:txBody>
      </p:sp>
      <p:sp>
        <p:nvSpPr>
          <p:cNvPr id="23" name="Text 21"/>
          <p:cNvSpPr/>
          <p:nvPr/>
        </p:nvSpPr>
        <p:spPr>
          <a:xfrm>
            <a:off x="781050" y="3924300"/>
            <a:ext cx="1062990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FFFFFF"/>
                </a:solidFill>
                <a:latin typeface="Cambria" pitchFamily="34" charset="0"/>
                <a:ea typeface="Cambria" pitchFamily="34" charset="-122"/>
                <a:cs typeface="Cambria" pitchFamily="34" charset="-120"/>
              </a:rPr>
              <a:t>Identical observable symptom · opposite correct response · the decision cannot be made from the symptom alone</a:t>
            </a:r>
            <a:endParaRPr lang="en-US" sz="1500" dirty="0"/>
          </a:p>
        </p:txBody>
      </p:sp>
      <p:sp>
        <p:nvSpPr>
          <p:cNvPr id="24" name="Text 22"/>
          <p:cNvSpPr/>
          <p:nvPr/>
        </p:nvSpPr>
        <p:spPr>
          <a:xfrm>
            <a:off x="571500" y="4400550"/>
            <a:ext cx="66675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RATIONALE FOR SELECTING THE S-PLANE SUB-SCOPE</a:t>
            </a:r>
            <a:endParaRPr lang="en-US" sz="1200" dirty="0"/>
          </a:p>
        </p:txBody>
      </p:sp>
      <p:sp>
        <p:nvSpPr>
          <p:cNvPr id="25" name="Shape 23"/>
          <p:cNvSpPr/>
          <p:nvPr/>
        </p:nvSpPr>
        <p:spPr>
          <a:xfrm>
            <a:off x="571500" y="4686300"/>
            <a:ext cx="2705100" cy="1409700"/>
          </a:xfrm>
          <a:prstGeom prst="roundRect">
            <a:avLst>
              <a:gd name="adj" fmla="val 2595"/>
            </a:avLst>
          </a:prstGeom>
          <a:solidFill>
            <a:srgbClr val="FFFFFF"/>
          </a:solidFill>
          <a:ln w="12700">
            <a:solidFill>
              <a:srgbClr val="D7E1EA"/>
            </a:solidFill>
            <a:prstDash val="solid"/>
          </a:ln>
        </p:spPr>
        <p:txBody>
          <a:bodyPr/>
          <a:lstStyle/>
          <a:p>
            <a:endParaRPr lang="en-IN"/>
          </a:p>
        </p:txBody>
      </p:sp>
      <p:sp>
        <p:nvSpPr>
          <p:cNvPr id="26" name="Shape 24"/>
          <p:cNvSpPr/>
          <p:nvPr/>
        </p:nvSpPr>
        <p:spPr>
          <a:xfrm>
            <a:off x="742950" y="4838700"/>
            <a:ext cx="323850" cy="323850"/>
          </a:xfrm>
          <a:prstGeom prst="roundRect">
            <a:avLst>
              <a:gd name="adj" fmla="val 11294"/>
            </a:avLst>
          </a:prstGeom>
          <a:solidFill>
            <a:srgbClr val="1C7293"/>
          </a:solidFill>
          <a:ln w="12700">
            <a:solidFill>
              <a:srgbClr val="1C7293"/>
            </a:solidFill>
            <a:prstDash val="solid"/>
          </a:ln>
        </p:spPr>
        <p:txBody>
          <a:bodyPr/>
          <a:lstStyle/>
          <a:p>
            <a:endParaRPr lang="en-IN"/>
          </a:p>
        </p:txBody>
      </p:sp>
      <p:sp>
        <p:nvSpPr>
          <p:cNvPr id="27" name="Text 25"/>
          <p:cNvSpPr/>
          <p:nvPr/>
        </p:nvSpPr>
        <p:spPr>
          <a:xfrm>
            <a:off x="742950" y="4895850"/>
            <a:ext cx="3238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28" name="Text 26"/>
          <p:cNvSpPr/>
          <p:nvPr/>
        </p:nvSpPr>
        <p:spPr>
          <a:xfrm>
            <a:off x="1162050" y="4876800"/>
            <a:ext cx="1981200" cy="26670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Highest consequence</a:t>
            </a:r>
            <a:endParaRPr lang="en-US" sz="1550" dirty="0"/>
          </a:p>
        </p:txBody>
      </p:sp>
      <p:sp>
        <p:nvSpPr>
          <p:cNvPr id="29" name="Text 27"/>
          <p:cNvSpPr/>
          <p:nvPr/>
        </p:nvSpPr>
        <p:spPr>
          <a:xfrm>
            <a:off x="742950" y="5257800"/>
            <a:ext cx="2362200" cy="74295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A timing failure can become a service failure within seconds, leaving little time for a safe decision.</a:t>
            </a:r>
            <a:endParaRPr lang="en-US" sz="1280" dirty="0"/>
          </a:p>
        </p:txBody>
      </p:sp>
      <p:sp>
        <p:nvSpPr>
          <p:cNvPr id="30" name="Shape 28"/>
          <p:cNvSpPr/>
          <p:nvPr/>
        </p:nvSpPr>
        <p:spPr>
          <a:xfrm>
            <a:off x="3352800" y="4686300"/>
            <a:ext cx="2705100" cy="1409700"/>
          </a:xfrm>
          <a:prstGeom prst="roundRect">
            <a:avLst>
              <a:gd name="adj" fmla="val 2595"/>
            </a:avLst>
          </a:prstGeom>
          <a:solidFill>
            <a:srgbClr val="FFFFFF"/>
          </a:solidFill>
          <a:ln w="12700">
            <a:solidFill>
              <a:srgbClr val="D7E1EA"/>
            </a:solidFill>
            <a:prstDash val="solid"/>
          </a:ln>
        </p:spPr>
        <p:txBody>
          <a:bodyPr/>
          <a:lstStyle/>
          <a:p>
            <a:endParaRPr lang="en-IN"/>
          </a:p>
        </p:txBody>
      </p:sp>
      <p:sp>
        <p:nvSpPr>
          <p:cNvPr id="31" name="Shape 29"/>
          <p:cNvSpPr/>
          <p:nvPr/>
        </p:nvSpPr>
        <p:spPr>
          <a:xfrm>
            <a:off x="3524250" y="4838700"/>
            <a:ext cx="323850" cy="323850"/>
          </a:xfrm>
          <a:prstGeom prst="roundRect">
            <a:avLst>
              <a:gd name="adj" fmla="val 11294"/>
            </a:avLst>
          </a:prstGeom>
          <a:solidFill>
            <a:srgbClr val="1C7293"/>
          </a:solidFill>
          <a:ln w="12700">
            <a:solidFill>
              <a:srgbClr val="1C7293"/>
            </a:solidFill>
            <a:prstDash val="solid"/>
          </a:ln>
        </p:spPr>
        <p:txBody>
          <a:bodyPr/>
          <a:lstStyle/>
          <a:p>
            <a:endParaRPr lang="en-IN"/>
          </a:p>
        </p:txBody>
      </p:sp>
      <p:sp>
        <p:nvSpPr>
          <p:cNvPr id="32" name="Text 30"/>
          <p:cNvSpPr/>
          <p:nvPr/>
        </p:nvSpPr>
        <p:spPr>
          <a:xfrm>
            <a:off x="3524250" y="4895850"/>
            <a:ext cx="3238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33" name="Text 31"/>
          <p:cNvSpPr/>
          <p:nvPr/>
        </p:nvSpPr>
        <p:spPr>
          <a:xfrm>
            <a:off x="3943350" y="4876800"/>
            <a:ext cx="1981200" cy="26670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Genuine ambiguity</a:t>
            </a:r>
            <a:endParaRPr lang="en-US" sz="1550" dirty="0"/>
          </a:p>
        </p:txBody>
      </p:sp>
      <p:sp>
        <p:nvSpPr>
          <p:cNvPr id="34" name="Text 32"/>
          <p:cNvSpPr/>
          <p:nvPr/>
        </p:nvSpPr>
        <p:spPr>
          <a:xfrm>
            <a:off x="3524250" y="5257800"/>
            <a:ext cx="2362200" cy="74295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Selected benign faults and attacks produce overlapping symptoms; the decision needs provisioned context.</a:t>
            </a:r>
            <a:endParaRPr lang="en-US" sz="1280" dirty="0"/>
          </a:p>
        </p:txBody>
      </p:sp>
      <p:sp>
        <p:nvSpPr>
          <p:cNvPr id="35" name="Shape 33"/>
          <p:cNvSpPr/>
          <p:nvPr/>
        </p:nvSpPr>
        <p:spPr>
          <a:xfrm>
            <a:off x="6134100" y="4686300"/>
            <a:ext cx="2705100" cy="1409700"/>
          </a:xfrm>
          <a:prstGeom prst="roundRect">
            <a:avLst>
              <a:gd name="adj" fmla="val 2595"/>
            </a:avLst>
          </a:prstGeom>
          <a:solidFill>
            <a:srgbClr val="FFFFFF"/>
          </a:solidFill>
          <a:ln w="12700">
            <a:solidFill>
              <a:srgbClr val="D7E1EA"/>
            </a:solidFill>
            <a:prstDash val="solid"/>
          </a:ln>
        </p:spPr>
        <p:txBody>
          <a:bodyPr/>
          <a:lstStyle/>
          <a:p>
            <a:endParaRPr lang="en-IN"/>
          </a:p>
        </p:txBody>
      </p:sp>
      <p:sp>
        <p:nvSpPr>
          <p:cNvPr id="36" name="Shape 34"/>
          <p:cNvSpPr/>
          <p:nvPr/>
        </p:nvSpPr>
        <p:spPr>
          <a:xfrm>
            <a:off x="6305550" y="4838700"/>
            <a:ext cx="323850" cy="323850"/>
          </a:xfrm>
          <a:prstGeom prst="roundRect">
            <a:avLst>
              <a:gd name="adj" fmla="val 11294"/>
            </a:avLst>
          </a:prstGeom>
          <a:solidFill>
            <a:srgbClr val="1C7293"/>
          </a:solidFill>
          <a:ln w="12700">
            <a:solidFill>
              <a:srgbClr val="1C7293"/>
            </a:solidFill>
            <a:prstDash val="solid"/>
          </a:ln>
        </p:spPr>
        <p:txBody>
          <a:bodyPr/>
          <a:lstStyle/>
          <a:p>
            <a:endParaRPr lang="en-IN"/>
          </a:p>
        </p:txBody>
      </p:sp>
      <p:sp>
        <p:nvSpPr>
          <p:cNvPr id="37" name="Text 35"/>
          <p:cNvSpPr/>
          <p:nvPr/>
        </p:nvSpPr>
        <p:spPr>
          <a:xfrm>
            <a:off x="6305550" y="4895850"/>
            <a:ext cx="3238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38" name="Text 36"/>
          <p:cNvSpPr/>
          <p:nvPr/>
        </p:nvSpPr>
        <p:spPr>
          <a:xfrm>
            <a:off x="6724650" y="4876800"/>
            <a:ext cx="1981200" cy="26670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Constrained by standards</a:t>
            </a:r>
            <a:endParaRPr lang="en-US" sz="1550" dirty="0"/>
          </a:p>
        </p:txBody>
      </p:sp>
      <p:sp>
        <p:nvSpPr>
          <p:cNvPr id="39" name="Text 37"/>
          <p:cNvSpPr/>
          <p:nvPr/>
        </p:nvSpPr>
        <p:spPr>
          <a:xfrm>
            <a:off x="6343650" y="5334000"/>
            <a:ext cx="2362200" cy="74295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IEEE 1588-2019 and ITU-T G.8275.1 fix wire-level legality, giving objective decision criteria.</a:t>
            </a:r>
            <a:endParaRPr lang="en-US" sz="1280" dirty="0"/>
          </a:p>
        </p:txBody>
      </p:sp>
      <p:sp>
        <p:nvSpPr>
          <p:cNvPr id="40" name="Shape 38"/>
          <p:cNvSpPr/>
          <p:nvPr/>
        </p:nvSpPr>
        <p:spPr>
          <a:xfrm>
            <a:off x="8915400" y="4686300"/>
            <a:ext cx="2705100" cy="1409700"/>
          </a:xfrm>
          <a:prstGeom prst="roundRect">
            <a:avLst>
              <a:gd name="adj" fmla="val 2595"/>
            </a:avLst>
          </a:prstGeom>
          <a:solidFill>
            <a:srgbClr val="FFFFFF"/>
          </a:solidFill>
          <a:ln w="12700">
            <a:solidFill>
              <a:srgbClr val="D7E1EA"/>
            </a:solidFill>
            <a:prstDash val="solid"/>
          </a:ln>
        </p:spPr>
        <p:txBody>
          <a:bodyPr/>
          <a:lstStyle/>
          <a:p>
            <a:endParaRPr lang="en-IN"/>
          </a:p>
        </p:txBody>
      </p:sp>
      <p:sp>
        <p:nvSpPr>
          <p:cNvPr id="41" name="Shape 39"/>
          <p:cNvSpPr/>
          <p:nvPr/>
        </p:nvSpPr>
        <p:spPr>
          <a:xfrm>
            <a:off x="9086850" y="4838700"/>
            <a:ext cx="323850" cy="323850"/>
          </a:xfrm>
          <a:prstGeom prst="roundRect">
            <a:avLst>
              <a:gd name="adj" fmla="val 11294"/>
            </a:avLst>
          </a:prstGeom>
          <a:solidFill>
            <a:srgbClr val="1C7293"/>
          </a:solidFill>
          <a:ln w="12700">
            <a:solidFill>
              <a:srgbClr val="1C7293"/>
            </a:solidFill>
            <a:prstDash val="solid"/>
          </a:ln>
        </p:spPr>
        <p:txBody>
          <a:bodyPr/>
          <a:lstStyle/>
          <a:p>
            <a:endParaRPr lang="en-IN"/>
          </a:p>
        </p:txBody>
      </p:sp>
      <p:sp>
        <p:nvSpPr>
          <p:cNvPr id="42" name="Text 40"/>
          <p:cNvSpPr/>
          <p:nvPr/>
        </p:nvSpPr>
        <p:spPr>
          <a:xfrm>
            <a:off x="9086850" y="4895850"/>
            <a:ext cx="3238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43" name="Text 41"/>
          <p:cNvSpPr/>
          <p:nvPr/>
        </p:nvSpPr>
        <p:spPr>
          <a:xfrm>
            <a:off x="9505950" y="4876800"/>
            <a:ext cx="1981200" cy="26670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Reproducible in software</a:t>
            </a:r>
            <a:endParaRPr lang="en-US" sz="1550" dirty="0"/>
          </a:p>
        </p:txBody>
      </p:sp>
      <p:sp>
        <p:nvSpPr>
          <p:cNvPr id="44" name="Text 42"/>
          <p:cNvSpPr/>
          <p:nvPr/>
        </p:nvSpPr>
        <p:spPr>
          <a:xfrm>
            <a:off x="9086850" y="5257800"/>
            <a:ext cx="2362200" cy="74295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Real PTP daemons can be executed and attacked on a virtual wire without a proprietary RAN stack.</a:t>
            </a:r>
            <a:endParaRPr lang="en-US" sz="1280" dirty="0"/>
          </a:p>
        </p:txBody>
      </p:sp>
      <p:sp>
        <p:nvSpPr>
          <p:cNvPr id="45" name="Shape 43"/>
          <p:cNvSpPr/>
          <p:nvPr/>
        </p:nvSpPr>
        <p:spPr>
          <a:xfrm>
            <a:off x="571500" y="6257731"/>
            <a:ext cx="11049000" cy="514350"/>
          </a:xfrm>
          <a:prstGeom prst="roundRect">
            <a:avLst>
              <a:gd name="adj" fmla="val 7111"/>
            </a:avLst>
          </a:prstGeom>
          <a:solidFill>
            <a:srgbClr val="DDF5EF"/>
          </a:solidFill>
          <a:ln w="12700">
            <a:solidFill>
              <a:srgbClr val="18B89A"/>
            </a:solidFill>
            <a:prstDash val="solid"/>
          </a:ln>
        </p:spPr>
        <p:txBody>
          <a:bodyPr/>
          <a:lstStyle/>
          <a:p>
            <a:endParaRPr lang="en-IN"/>
          </a:p>
        </p:txBody>
      </p:sp>
      <p:sp>
        <p:nvSpPr>
          <p:cNvPr id="46" name="Text 44"/>
          <p:cNvSpPr/>
          <p:nvPr/>
        </p:nvSpPr>
        <p:spPr>
          <a:xfrm>
            <a:off x="781050" y="6372225"/>
            <a:ext cx="10629900" cy="28575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0B5547"/>
                </a:solidFill>
                <a:latin typeface="Cambria" pitchFamily="34" charset="0"/>
                <a:ea typeface="Cambria" pitchFamily="34" charset="-122"/>
                <a:cs typeface="Cambria" pitchFamily="34" charset="-120"/>
              </a:rPr>
              <a:t>The sub-scope was selected because it is the point where a detection label alone is insufficient: the same symptom requires opposite recovery actions, and standards supply objective criteria for separating them.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9331"/>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LITERATURE SURVEY</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200" b="1" dirty="0">
                <a:solidFill>
                  <a:srgbClr val="12263A"/>
                </a:solidFill>
                <a:latin typeface="Cambria" pitchFamily="34" charset="0"/>
                <a:ea typeface="Cambria" pitchFamily="34" charset="-122"/>
                <a:cs typeface="Cambria" pitchFamily="34" charset="-120"/>
              </a:rPr>
              <a:t>Research Foundation for S-Plane Timing Assurance</a:t>
            </a:r>
            <a:endParaRPr lang="en-US" sz="32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827398" cy="323850"/>
          </a:xfrm>
          <a:prstGeom prst="rect">
            <a:avLst/>
          </a:prstGeom>
          <a:noFill/>
          <a:ln/>
        </p:spPr>
        <p:txBody>
          <a:bodyPr wrap="square" lIns="0" tIns="0" rIns="0" bIns="0" rtlCol="0" anchor="t">
            <a:normAutofit fontScale="92500"/>
          </a:bodyPr>
          <a:lstStyle/>
          <a:p>
            <a:pPr marL="0" indent="0" algn="l">
              <a:lnSpc>
                <a:spcPct val="102000"/>
              </a:lnSpc>
              <a:buNone/>
            </a:pPr>
            <a:r>
              <a:rPr lang="en-US" sz="1020" dirty="0">
                <a:solidFill>
                  <a:srgbClr val="5B6B7C"/>
                </a:solidFill>
                <a:latin typeface="Calibri" pitchFamily="34" charset="0"/>
                <a:ea typeface="Calibri" pitchFamily="34" charset="-122"/>
                <a:cs typeface="Calibri" pitchFamily="34" charset="-120"/>
              </a:rPr>
              <a:t>Groen et al., TIMESAFE, ACM ToPS 28(5), 2025, doi:10.1145/3775060  |  Bonati et al., Colosseum, IEEE OJ-COMS, 2024, doi:10.1109/OJCOMS.2024.3447472</a:t>
            </a:r>
            <a:endParaRPr lang="en-US" sz="1020" dirty="0"/>
          </a:p>
          <a:p>
            <a:pPr marL="0" indent="0" algn="l">
              <a:lnSpc>
                <a:spcPct val="102000"/>
              </a:lnSpc>
              <a:buNone/>
            </a:pPr>
            <a:r>
              <a:rPr lang="en-US" sz="1020" dirty="0">
                <a:solidFill>
                  <a:srgbClr val="5B6B7C"/>
                </a:solidFill>
                <a:latin typeface="Calibri" pitchFamily="34" charset="0"/>
                <a:ea typeface="Calibri" pitchFamily="34" charset="-122"/>
                <a:cs typeface="Calibri" pitchFamily="34" charset="-120"/>
              </a:rPr>
              <a:t>Digital Twin for O-RAN, IEEE Communications Magazine, 2024, doi:10.1109/MCOM.003.2400016  |  OpenRAN Gym, Computer Networks, 2023  |  TSN Digital Twin, EURASIP JIS, 2025, doi:10.1186/s13635-025-00213-7</a:t>
            </a:r>
            <a:endParaRPr lang="en-US" sz="1020" dirty="0"/>
          </a:p>
        </p:txBody>
      </p:sp>
      <p:sp>
        <p:nvSpPr>
          <p:cNvPr id="8" name="Text 6"/>
          <p:cNvSpPr/>
          <p:nvPr/>
        </p:nvSpPr>
        <p:spPr>
          <a:xfrm>
            <a:off x="666750" y="1647825"/>
            <a:ext cx="2857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SOURCE</a:t>
            </a:r>
            <a:endParaRPr lang="en-US" sz="1200" dirty="0"/>
          </a:p>
        </p:txBody>
      </p:sp>
      <p:sp>
        <p:nvSpPr>
          <p:cNvPr id="9" name="Text 7"/>
          <p:cNvSpPr/>
          <p:nvPr/>
        </p:nvSpPr>
        <p:spPr>
          <a:xfrm>
            <a:off x="3714750" y="1647825"/>
            <a:ext cx="38100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WHAT THE LITERATURE ESTABLISHES</a:t>
            </a:r>
            <a:endParaRPr lang="en-US" sz="1200" dirty="0"/>
          </a:p>
        </p:txBody>
      </p:sp>
      <p:sp>
        <p:nvSpPr>
          <p:cNvPr id="10" name="Text 8"/>
          <p:cNvSpPr/>
          <p:nvPr/>
        </p:nvSpPr>
        <p:spPr>
          <a:xfrm>
            <a:off x="7810500" y="1647825"/>
            <a:ext cx="3524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BOUNDARY LEFT OPEN</a:t>
            </a:r>
            <a:endParaRPr lang="en-US" sz="1200" dirty="0"/>
          </a:p>
        </p:txBody>
      </p:sp>
      <p:sp>
        <p:nvSpPr>
          <p:cNvPr id="11" name="Shape 9"/>
          <p:cNvSpPr/>
          <p:nvPr/>
        </p:nvSpPr>
        <p:spPr>
          <a:xfrm>
            <a:off x="571500" y="1905000"/>
            <a:ext cx="11049000" cy="11430"/>
          </a:xfrm>
          <a:prstGeom prst="rect">
            <a:avLst/>
          </a:prstGeom>
          <a:solidFill>
            <a:srgbClr val="D7E1EA"/>
          </a:solidFill>
          <a:ln/>
        </p:spPr>
        <p:txBody>
          <a:bodyPr/>
          <a:lstStyle/>
          <a:p>
            <a:endParaRPr lang="en-IN"/>
          </a:p>
        </p:txBody>
      </p:sp>
      <p:sp>
        <p:nvSpPr>
          <p:cNvPr id="12" name="Text 10"/>
          <p:cNvSpPr/>
          <p:nvPr/>
        </p:nvSpPr>
        <p:spPr>
          <a:xfrm>
            <a:off x="666750" y="2114550"/>
            <a:ext cx="2809875" cy="53340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TIMESAFE · ACM ToPS 2025</a:t>
            </a:r>
            <a:endParaRPr lang="en-US" sz="1550" dirty="0"/>
          </a:p>
        </p:txBody>
      </p:sp>
      <p:sp>
        <p:nvSpPr>
          <p:cNvPr id="13" name="Text 11"/>
          <p:cNvSpPr/>
          <p:nvPr/>
        </p:nvSpPr>
        <p:spPr>
          <a:xfrm>
            <a:off x="3714750" y="2105025"/>
            <a:ext cx="3762375"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5B6B7C"/>
                </a:solidFill>
                <a:latin typeface="Calibri" pitchFamily="34" charset="0"/>
                <a:ea typeface="Calibri" pitchFamily="34" charset="-122"/>
                <a:cs typeface="Calibri" pitchFamily="34" charset="-120"/>
              </a:rPr>
              <a:t>PTP attacks disrupt O-RAN fronthaul and are detectable from packet evidence.</a:t>
            </a:r>
            <a:endParaRPr lang="en-US" sz="1430" dirty="0"/>
          </a:p>
        </p:txBody>
      </p:sp>
      <p:sp>
        <p:nvSpPr>
          <p:cNvPr id="14" name="Text 12"/>
          <p:cNvSpPr/>
          <p:nvPr/>
        </p:nvSpPr>
        <p:spPr>
          <a:xfrm>
            <a:off x="7810500" y="2105025"/>
            <a:ext cx="3524250"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12263A"/>
                </a:solidFill>
                <a:latin typeface="Calibri" pitchFamily="34" charset="0"/>
                <a:ea typeface="Calibri" pitchFamily="34" charset="-122"/>
                <a:cs typeface="Calibri" pitchFamily="34" charset="-120"/>
              </a:rPr>
              <a:t>Detection was not tested against a matched set of benign timing faults.</a:t>
            </a:r>
            <a:endParaRPr lang="en-US" sz="1430" dirty="0"/>
          </a:p>
        </p:txBody>
      </p:sp>
      <p:sp>
        <p:nvSpPr>
          <p:cNvPr id="15" name="Shape 13"/>
          <p:cNvSpPr/>
          <p:nvPr/>
        </p:nvSpPr>
        <p:spPr>
          <a:xfrm>
            <a:off x="571500" y="2724150"/>
            <a:ext cx="11049000" cy="11430"/>
          </a:xfrm>
          <a:prstGeom prst="rect">
            <a:avLst/>
          </a:prstGeom>
          <a:solidFill>
            <a:srgbClr val="D7E1EA"/>
          </a:solidFill>
          <a:ln/>
        </p:spPr>
        <p:txBody>
          <a:bodyPr/>
          <a:lstStyle/>
          <a:p>
            <a:endParaRPr lang="en-IN"/>
          </a:p>
        </p:txBody>
      </p:sp>
      <p:sp>
        <p:nvSpPr>
          <p:cNvPr id="16" name="Text 14"/>
          <p:cNvSpPr/>
          <p:nvPr/>
        </p:nvSpPr>
        <p:spPr>
          <a:xfrm>
            <a:off x="666750" y="2867025"/>
            <a:ext cx="2809875" cy="53340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Digital Twin for O-RAN · IEEE 2024</a:t>
            </a:r>
            <a:endParaRPr lang="en-US" sz="1550" dirty="0"/>
          </a:p>
        </p:txBody>
      </p:sp>
      <p:sp>
        <p:nvSpPr>
          <p:cNvPr id="17" name="Text 15"/>
          <p:cNvSpPr/>
          <p:nvPr/>
        </p:nvSpPr>
        <p:spPr>
          <a:xfrm>
            <a:off x="3714750" y="2857500"/>
            <a:ext cx="3762375"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5B6B7C"/>
                </a:solidFill>
                <a:latin typeface="Calibri" pitchFamily="34" charset="0"/>
                <a:ea typeface="Calibri" pitchFamily="34" charset="-122"/>
                <a:cs typeface="Calibri" pitchFamily="34" charset="-120"/>
              </a:rPr>
              <a:t>A RAN twin supports testing, optimization and safer control decisions.</a:t>
            </a:r>
            <a:endParaRPr lang="en-US" sz="1430" dirty="0"/>
          </a:p>
        </p:txBody>
      </p:sp>
      <p:sp>
        <p:nvSpPr>
          <p:cNvPr id="18" name="Text 16"/>
          <p:cNvSpPr/>
          <p:nvPr/>
        </p:nvSpPr>
        <p:spPr>
          <a:xfrm>
            <a:off x="7810500" y="2857500"/>
            <a:ext cx="3524250"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12263A"/>
                </a:solidFill>
                <a:latin typeface="Calibri" pitchFamily="34" charset="0"/>
                <a:ea typeface="Calibri" pitchFamily="34" charset="-122"/>
                <a:cs typeface="Calibri" pitchFamily="34" charset="-120"/>
              </a:rPr>
              <a:t>The architecture does not validate S-plane attack-versus-fault discrimination.</a:t>
            </a:r>
            <a:endParaRPr lang="en-US" sz="1430" dirty="0"/>
          </a:p>
        </p:txBody>
      </p:sp>
      <p:sp>
        <p:nvSpPr>
          <p:cNvPr id="19" name="Shape 17"/>
          <p:cNvSpPr/>
          <p:nvPr/>
        </p:nvSpPr>
        <p:spPr>
          <a:xfrm>
            <a:off x="571500" y="3476625"/>
            <a:ext cx="11049000" cy="11430"/>
          </a:xfrm>
          <a:prstGeom prst="rect">
            <a:avLst/>
          </a:prstGeom>
          <a:solidFill>
            <a:srgbClr val="D7E1EA"/>
          </a:solidFill>
          <a:ln/>
        </p:spPr>
        <p:txBody>
          <a:bodyPr/>
          <a:lstStyle/>
          <a:p>
            <a:endParaRPr lang="en-IN"/>
          </a:p>
        </p:txBody>
      </p:sp>
      <p:sp>
        <p:nvSpPr>
          <p:cNvPr id="20" name="Text 18"/>
          <p:cNvSpPr/>
          <p:nvPr/>
        </p:nvSpPr>
        <p:spPr>
          <a:xfrm>
            <a:off x="666750" y="3619500"/>
            <a:ext cx="2809875" cy="53340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Colosseum · IEEE 2024</a:t>
            </a:r>
            <a:endParaRPr lang="en-US" sz="1550" dirty="0"/>
          </a:p>
        </p:txBody>
      </p:sp>
      <p:sp>
        <p:nvSpPr>
          <p:cNvPr id="21" name="Text 19"/>
          <p:cNvSpPr/>
          <p:nvPr/>
        </p:nvSpPr>
        <p:spPr>
          <a:xfrm>
            <a:off x="3714750" y="3609975"/>
            <a:ext cx="3762375"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5B6B7C"/>
                </a:solidFill>
                <a:latin typeface="Calibri" pitchFamily="34" charset="0"/>
                <a:ea typeface="Calibri" pitchFamily="34" charset="-122"/>
                <a:cs typeface="Calibri" pitchFamily="34" charset="-120"/>
              </a:rPr>
              <a:t>Repeatable Open RAN twins reproduce realistic experimental conditions.</a:t>
            </a:r>
            <a:endParaRPr lang="en-US" sz="1430" dirty="0"/>
          </a:p>
        </p:txBody>
      </p:sp>
      <p:sp>
        <p:nvSpPr>
          <p:cNvPr id="22" name="Text 20"/>
          <p:cNvSpPr/>
          <p:nvPr/>
        </p:nvSpPr>
        <p:spPr>
          <a:xfrm>
            <a:off x="7810500" y="3609975"/>
            <a:ext cx="3524250"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12263A"/>
                </a:solidFill>
                <a:latin typeface="Calibri" pitchFamily="34" charset="0"/>
                <a:ea typeface="Calibri" pitchFamily="34" charset="-122"/>
                <a:cs typeface="Calibri" pitchFamily="34" charset="-120"/>
              </a:rPr>
              <a:t>The platform does not address telecom PTP legality or recovery choice.</a:t>
            </a:r>
            <a:endParaRPr lang="en-US" sz="1430" dirty="0"/>
          </a:p>
        </p:txBody>
      </p:sp>
      <p:sp>
        <p:nvSpPr>
          <p:cNvPr id="23" name="Shape 21"/>
          <p:cNvSpPr/>
          <p:nvPr/>
        </p:nvSpPr>
        <p:spPr>
          <a:xfrm>
            <a:off x="571500" y="4229100"/>
            <a:ext cx="11049000" cy="11430"/>
          </a:xfrm>
          <a:prstGeom prst="rect">
            <a:avLst/>
          </a:prstGeom>
          <a:solidFill>
            <a:srgbClr val="D7E1EA"/>
          </a:solidFill>
          <a:ln/>
        </p:spPr>
        <p:txBody>
          <a:bodyPr/>
          <a:lstStyle/>
          <a:p>
            <a:endParaRPr lang="en-IN"/>
          </a:p>
        </p:txBody>
      </p:sp>
      <p:sp>
        <p:nvSpPr>
          <p:cNvPr id="24" name="Text 22"/>
          <p:cNvSpPr/>
          <p:nvPr/>
        </p:nvSpPr>
        <p:spPr>
          <a:xfrm>
            <a:off x="666750" y="4371975"/>
            <a:ext cx="2809875" cy="53340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OpenRAN Gym · Elsevier 2023</a:t>
            </a:r>
            <a:endParaRPr lang="en-US" sz="1550" dirty="0"/>
          </a:p>
        </p:txBody>
      </p:sp>
      <p:sp>
        <p:nvSpPr>
          <p:cNvPr id="25" name="Text 23"/>
          <p:cNvSpPr/>
          <p:nvPr/>
        </p:nvSpPr>
        <p:spPr>
          <a:xfrm>
            <a:off x="3714750" y="4362450"/>
            <a:ext cx="3762375"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5B6B7C"/>
                </a:solidFill>
                <a:latin typeface="Calibri" pitchFamily="34" charset="0"/>
                <a:ea typeface="Calibri" pitchFamily="34" charset="-122"/>
                <a:cs typeface="Calibri" pitchFamily="34" charset="-120"/>
              </a:rPr>
              <a:t>O-RAN AI/ML requires controlled data collection and reproducible evaluation.</a:t>
            </a:r>
            <a:endParaRPr lang="en-US" sz="1430" dirty="0"/>
          </a:p>
        </p:txBody>
      </p:sp>
      <p:sp>
        <p:nvSpPr>
          <p:cNvPr id="26" name="Text 24"/>
          <p:cNvSpPr/>
          <p:nvPr/>
        </p:nvSpPr>
        <p:spPr>
          <a:xfrm>
            <a:off x="7810500" y="4362450"/>
            <a:ext cx="3524250"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12263A"/>
                </a:solidFill>
                <a:latin typeface="Calibri" pitchFamily="34" charset="0"/>
                <a:ea typeface="Calibri" pitchFamily="34" charset="-122"/>
                <a:cs typeface="Calibri" pitchFamily="34" charset="-120"/>
              </a:rPr>
              <a:t>It does not test whether an S-plane model beats rules or a constant predictor.</a:t>
            </a:r>
            <a:endParaRPr lang="en-US" sz="1430" dirty="0"/>
          </a:p>
        </p:txBody>
      </p:sp>
      <p:sp>
        <p:nvSpPr>
          <p:cNvPr id="27" name="Shape 25"/>
          <p:cNvSpPr/>
          <p:nvPr/>
        </p:nvSpPr>
        <p:spPr>
          <a:xfrm>
            <a:off x="571500" y="4981575"/>
            <a:ext cx="11049000" cy="11430"/>
          </a:xfrm>
          <a:prstGeom prst="rect">
            <a:avLst/>
          </a:prstGeom>
          <a:solidFill>
            <a:srgbClr val="D7E1EA"/>
          </a:solidFill>
          <a:ln/>
        </p:spPr>
        <p:txBody>
          <a:bodyPr/>
          <a:lstStyle/>
          <a:p>
            <a:endParaRPr lang="en-IN"/>
          </a:p>
        </p:txBody>
      </p:sp>
      <p:sp>
        <p:nvSpPr>
          <p:cNvPr id="28" name="Text 26"/>
          <p:cNvSpPr/>
          <p:nvPr/>
        </p:nvSpPr>
        <p:spPr>
          <a:xfrm>
            <a:off x="666750" y="5124450"/>
            <a:ext cx="2809875" cy="53340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TSN Digital Twin · Springer 2025</a:t>
            </a:r>
            <a:endParaRPr lang="en-US" sz="1550" dirty="0"/>
          </a:p>
        </p:txBody>
      </p:sp>
      <p:sp>
        <p:nvSpPr>
          <p:cNvPr id="29" name="Text 27"/>
          <p:cNvSpPr/>
          <p:nvPr/>
        </p:nvSpPr>
        <p:spPr>
          <a:xfrm>
            <a:off x="3714750" y="5114925"/>
            <a:ext cx="3762375"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5B6B7C"/>
                </a:solidFill>
                <a:latin typeface="Calibri" pitchFamily="34" charset="0"/>
                <a:ea typeface="Calibri" pitchFamily="34" charset="-122"/>
                <a:cs typeface="Calibri" pitchFamily="34" charset="-120"/>
              </a:rPr>
              <a:t>A timing-aware twin supports structured security testing.</a:t>
            </a:r>
            <a:endParaRPr lang="en-US" sz="1430" dirty="0"/>
          </a:p>
        </p:txBody>
      </p:sp>
      <p:sp>
        <p:nvSpPr>
          <p:cNvPr id="30" name="Text 28"/>
          <p:cNvSpPr/>
          <p:nvPr/>
        </p:nvSpPr>
        <p:spPr>
          <a:xfrm>
            <a:off x="7810500" y="5114925"/>
            <a:ext cx="3524250" cy="571500"/>
          </a:xfrm>
          <a:prstGeom prst="rect">
            <a:avLst/>
          </a:prstGeom>
          <a:noFill/>
          <a:ln/>
        </p:spPr>
        <p:txBody>
          <a:bodyPr wrap="square" lIns="0" tIns="0" rIns="0" bIns="0" rtlCol="0" anchor="t">
            <a:normAutofit/>
          </a:bodyPr>
          <a:lstStyle/>
          <a:p>
            <a:pPr marL="0" indent="0" algn="l">
              <a:lnSpc>
                <a:spcPct val="100000"/>
              </a:lnSpc>
              <a:buNone/>
            </a:pPr>
            <a:r>
              <a:rPr lang="en-US" sz="1430" dirty="0">
                <a:solidFill>
                  <a:srgbClr val="12263A"/>
                </a:solidFill>
                <a:latin typeface="Calibri" pitchFamily="34" charset="0"/>
                <a:ea typeface="Calibri" pitchFamily="34" charset="-122"/>
                <a:cs typeface="Calibri" pitchFamily="34" charset="-120"/>
              </a:rPr>
              <a:t>The study does not combine O-RAN PTP, benign lookalikes and held-out controls.</a:t>
            </a:r>
            <a:endParaRPr lang="en-US" sz="1430" dirty="0"/>
          </a:p>
        </p:txBody>
      </p:sp>
      <p:sp>
        <p:nvSpPr>
          <p:cNvPr id="31" name="Shape 29"/>
          <p:cNvSpPr/>
          <p:nvPr/>
        </p:nvSpPr>
        <p:spPr>
          <a:xfrm>
            <a:off x="571500" y="5734050"/>
            <a:ext cx="11049000" cy="11430"/>
          </a:xfrm>
          <a:prstGeom prst="rect">
            <a:avLst/>
          </a:prstGeom>
          <a:solidFill>
            <a:srgbClr val="D7E1EA"/>
          </a:solidFill>
          <a:ln/>
        </p:spPr>
        <p:txBody>
          <a:bodyPr/>
          <a:lstStyle/>
          <a:p>
            <a:endParaRPr lang="en-IN"/>
          </a:p>
        </p:txBody>
      </p:sp>
      <p:sp>
        <p:nvSpPr>
          <p:cNvPr id="32" name="Shape 30"/>
          <p:cNvSpPr/>
          <p:nvPr/>
        </p:nvSpPr>
        <p:spPr>
          <a:xfrm>
            <a:off x="571500" y="5905500"/>
            <a:ext cx="11049000" cy="514350"/>
          </a:xfrm>
          <a:prstGeom prst="roundRect">
            <a:avLst>
              <a:gd name="adj" fmla="val 7111"/>
            </a:avLst>
          </a:prstGeom>
          <a:solidFill>
            <a:srgbClr val="0E2440"/>
          </a:solidFill>
          <a:ln w="12700">
            <a:solidFill>
              <a:srgbClr val="0E2440"/>
            </a:solidFill>
            <a:prstDash val="solid"/>
          </a:ln>
        </p:spPr>
        <p:txBody>
          <a:bodyPr/>
          <a:lstStyle/>
          <a:p>
            <a:endParaRPr lang="en-IN"/>
          </a:p>
        </p:txBody>
      </p:sp>
      <p:sp>
        <p:nvSpPr>
          <p:cNvPr id="33" name="Text 31"/>
          <p:cNvSpPr/>
          <p:nvPr/>
        </p:nvSpPr>
        <p:spPr>
          <a:xfrm>
            <a:off x="781050" y="6019800"/>
            <a:ext cx="10629900" cy="3048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FFFFFF"/>
                </a:solidFill>
                <a:latin typeface="Cambria" pitchFamily="34" charset="0"/>
                <a:ea typeface="Cambria" pitchFamily="34" charset="-122"/>
                <a:cs typeface="Cambria" pitchFamily="34" charset="-120"/>
              </a:rPr>
              <a:t>Prior work establishes the threat, the AI testbed direction and the digital-twin direction. It does not resolve the operational decision between malicious timing behaviour and a benign timing fault presenting the same symptom.</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RESEARCH GAP ANALYSIS</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Research Gaps Behind the Experimental Design</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020" dirty="0">
                <a:solidFill>
                  <a:srgbClr val="5B6B7C"/>
                </a:solidFill>
                <a:latin typeface="Calibri" pitchFamily="34" charset="0"/>
                <a:ea typeface="Calibri" pitchFamily="34" charset="-122"/>
                <a:cs typeface="Calibri" pitchFamily="34" charset="-120"/>
              </a:rPr>
              <a:t>Federated Continual Learning for O-RAN Anomaly Detection, IEEE WCNC 2024  |  Adversarial ML Threat Analysis in O-RAN, JNCA 2024, doi:10.1016/j.jnca.2024.104090</a:t>
            </a:r>
            <a:endParaRPr lang="en-US" sz="1020" dirty="0"/>
          </a:p>
          <a:p>
            <a:pPr marL="0" indent="0" algn="l">
              <a:lnSpc>
                <a:spcPct val="102000"/>
              </a:lnSpc>
              <a:buNone/>
            </a:pPr>
            <a:r>
              <a:rPr lang="en-US" sz="1020" dirty="0">
                <a:solidFill>
                  <a:srgbClr val="5B6B7C"/>
                </a:solidFill>
                <a:latin typeface="Calibri" pitchFamily="34" charset="0"/>
                <a:ea typeface="Calibri" pitchFamily="34" charset="-122"/>
                <a:cs typeface="Calibri" pitchFamily="34" charset="-120"/>
              </a:rPr>
              <a:t>O-RAN xApps: Survey and Research Challenges, Computer Networks 2025  |  Anomaly Detection for xApp and E2 Threats, IEEE 2025</a:t>
            </a:r>
            <a:endParaRPr lang="en-US" sz="1020" dirty="0"/>
          </a:p>
        </p:txBody>
      </p:sp>
      <p:sp>
        <p:nvSpPr>
          <p:cNvPr id="8" name="Shape 6"/>
          <p:cNvSpPr/>
          <p:nvPr/>
        </p:nvSpPr>
        <p:spPr>
          <a:xfrm>
            <a:off x="571500" y="1790700"/>
            <a:ext cx="438150" cy="438150"/>
          </a:xfrm>
          <a:prstGeom prst="roundRect">
            <a:avLst>
              <a:gd name="adj" fmla="val 8348"/>
            </a:avLst>
          </a:prstGeom>
          <a:solidFill>
            <a:srgbClr val="1C7293"/>
          </a:solidFill>
          <a:ln w="12700">
            <a:solidFill>
              <a:srgbClr val="1C7293"/>
            </a:solidFill>
            <a:prstDash val="solid"/>
          </a:ln>
        </p:spPr>
        <p:txBody>
          <a:bodyPr/>
          <a:lstStyle/>
          <a:p>
            <a:endParaRPr lang="en-IN"/>
          </a:p>
        </p:txBody>
      </p:sp>
      <p:sp>
        <p:nvSpPr>
          <p:cNvPr id="9" name="Text 7"/>
          <p:cNvSpPr/>
          <p:nvPr/>
        </p:nvSpPr>
        <p:spPr>
          <a:xfrm>
            <a:off x="571500" y="1905000"/>
            <a:ext cx="4381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10" name="Text 8"/>
          <p:cNvSpPr/>
          <p:nvPr/>
        </p:nvSpPr>
        <p:spPr>
          <a:xfrm>
            <a:off x="1190625" y="1781175"/>
            <a:ext cx="5715000" cy="2667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12263A"/>
                </a:solidFill>
                <a:latin typeface="Cambria" pitchFamily="34" charset="0"/>
                <a:ea typeface="Cambria" pitchFamily="34" charset="-122"/>
                <a:cs typeface="Cambria" pitchFamily="34" charset="-120"/>
              </a:rPr>
              <a:t>Attack and fault ambiguity</a:t>
            </a:r>
            <a:endParaRPr lang="en-US" sz="2000" dirty="0"/>
          </a:p>
        </p:txBody>
      </p:sp>
      <p:sp>
        <p:nvSpPr>
          <p:cNvPr id="11" name="Text 9"/>
          <p:cNvSpPr/>
          <p:nvPr/>
        </p:nvSpPr>
        <p:spPr>
          <a:xfrm>
            <a:off x="1190625" y="2085975"/>
            <a:ext cx="6429375" cy="514350"/>
          </a:xfrm>
          <a:prstGeom prst="rect">
            <a:avLst/>
          </a:prstGeom>
          <a:noFill/>
          <a:ln/>
        </p:spPr>
        <p:txBody>
          <a:bodyPr wrap="square" lIns="0" tIns="0" rIns="0" bIns="0" rtlCol="0" anchor="t">
            <a:normAutofit/>
          </a:bodyPr>
          <a:lstStyle/>
          <a:p>
            <a:pPr marL="0" indent="0" algn="l">
              <a:lnSpc>
                <a:spcPct val="100000"/>
              </a:lnSpc>
              <a:buNone/>
            </a:pPr>
            <a:r>
              <a:rPr lang="en-US" sz="1520" dirty="0">
                <a:solidFill>
                  <a:srgbClr val="5B6B7C"/>
                </a:solidFill>
                <a:latin typeface="Calibri" pitchFamily="34" charset="0"/>
                <a:ea typeface="Calibri" pitchFamily="34" charset="-122"/>
                <a:cs typeface="Calibri" pitchFamily="34" charset="-120"/>
              </a:rPr>
              <a:t>Prior detectors separate attack from normal operation. Operators must also separate attacks from real clock, path and configuration faults.</a:t>
            </a:r>
            <a:endParaRPr lang="en-US" sz="1520" dirty="0"/>
          </a:p>
        </p:txBody>
      </p:sp>
      <p:sp>
        <p:nvSpPr>
          <p:cNvPr id="12" name="Shape 10"/>
          <p:cNvSpPr/>
          <p:nvPr/>
        </p:nvSpPr>
        <p:spPr>
          <a:xfrm>
            <a:off x="571500" y="2752725"/>
            <a:ext cx="438150" cy="438150"/>
          </a:xfrm>
          <a:prstGeom prst="roundRect">
            <a:avLst>
              <a:gd name="adj" fmla="val 8348"/>
            </a:avLst>
          </a:prstGeom>
          <a:solidFill>
            <a:srgbClr val="1C7293"/>
          </a:solidFill>
          <a:ln w="12700">
            <a:solidFill>
              <a:srgbClr val="1C7293"/>
            </a:solidFill>
            <a:prstDash val="solid"/>
          </a:ln>
        </p:spPr>
        <p:txBody>
          <a:bodyPr/>
          <a:lstStyle/>
          <a:p>
            <a:endParaRPr lang="en-IN"/>
          </a:p>
        </p:txBody>
      </p:sp>
      <p:sp>
        <p:nvSpPr>
          <p:cNvPr id="13" name="Text 11"/>
          <p:cNvSpPr/>
          <p:nvPr/>
        </p:nvSpPr>
        <p:spPr>
          <a:xfrm>
            <a:off x="571500" y="2867025"/>
            <a:ext cx="4381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4" name="Text 12"/>
          <p:cNvSpPr/>
          <p:nvPr/>
        </p:nvSpPr>
        <p:spPr>
          <a:xfrm>
            <a:off x="1190625" y="2743200"/>
            <a:ext cx="5715000" cy="2667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12263A"/>
                </a:solidFill>
                <a:latin typeface="Cambria" pitchFamily="34" charset="0"/>
                <a:ea typeface="Cambria" pitchFamily="34" charset="-122"/>
                <a:cs typeface="Cambria" pitchFamily="34" charset="-120"/>
              </a:rPr>
              <a:t>Unverified AI claims</a:t>
            </a:r>
            <a:endParaRPr lang="en-US" sz="2000" dirty="0"/>
          </a:p>
        </p:txBody>
      </p:sp>
      <p:sp>
        <p:nvSpPr>
          <p:cNvPr id="15" name="Text 13"/>
          <p:cNvSpPr/>
          <p:nvPr/>
        </p:nvSpPr>
        <p:spPr>
          <a:xfrm>
            <a:off x="1190625" y="3048000"/>
            <a:ext cx="6429375" cy="514350"/>
          </a:xfrm>
          <a:prstGeom prst="rect">
            <a:avLst/>
          </a:prstGeom>
          <a:noFill/>
          <a:ln/>
        </p:spPr>
        <p:txBody>
          <a:bodyPr wrap="square" lIns="0" tIns="0" rIns="0" bIns="0" rtlCol="0" anchor="t">
            <a:normAutofit/>
          </a:bodyPr>
          <a:lstStyle/>
          <a:p>
            <a:pPr marL="0" indent="0" algn="l">
              <a:lnSpc>
                <a:spcPct val="100000"/>
              </a:lnSpc>
              <a:buNone/>
            </a:pPr>
            <a:r>
              <a:rPr lang="en-US" sz="1520" dirty="0">
                <a:solidFill>
                  <a:srgbClr val="5B6B7C"/>
                </a:solidFill>
                <a:latin typeface="Calibri" pitchFamily="34" charset="0"/>
                <a:ea typeface="Calibri" pitchFamily="34" charset="-122"/>
                <a:cs typeface="Calibri" pitchFamily="34" charset="-120"/>
              </a:rPr>
              <a:t>Reported model accuracy can appear strong without a held-out split, a rule comparator and a trivial constant baseline.</a:t>
            </a:r>
            <a:endParaRPr lang="en-US" sz="1520" dirty="0"/>
          </a:p>
        </p:txBody>
      </p:sp>
      <p:sp>
        <p:nvSpPr>
          <p:cNvPr id="16" name="Shape 14"/>
          <p:cNvSpPr/>
          <p:nvPr/>
        </p:nvSpPr>
        <p:spPr>
          <a:xfrm>
            <a:off x="571500" y="3714750"/>
            <a:ext cx="438150" cy="438150"/>
          </a:xfrm>
          <a:prstGeom prst="roundRect">
            <a:avLst>
              <a:gd name="adj" fmla="val 8348"/>
            </a:avLst>
          </a:prstGeom>
          <a:solidFill>
            <a:srgbClr val="1C7293"/>
          </a:solidFill>
          <a:ln w="12700">
            <a:solidFill>
              <a:srgbClr val="1C7293"/>
            </a:solidFill>
            <a:prstDash val="solid"/>
          </a:ln>
        </p:spPr>
        <p:txBody>
          <a:bodyPr/>
          <a:lstStyle/>
          <a:p>
            <a:endParaRPr lang="en-IN"/>
          </a:p>
        </p:txBody>
      </p:sp>
      <p:sp>
        <p:nvSpPr>
          <p:cNvPr id="17" name="Text 15"/>
          <p:cNvSpPr/>
          <p:nvPr/>
        </p:nvSpPr>
        <p:spPr>
          <a:xfrm>
            <a:off x="571500" y="3829050"/>
            <a:ext cx="4381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8" name="Text 16"/>
          <p:cNvSpPr/>
          <p:nvPr/>
        </p:nvSpPr>
        <p:spPr>
          <a:xfrm>
            <a:off x="1190625" y="3705225"/>
            <a:ext cx="5715000" cy="2667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12263A"/>
                </a:solidFill>
                <a:latin typeface="Cambria" pitchFamily="34" charset="0"/>
                <a:ea typeface="Cambria" pitchFamily="34" charset="-122"/>
                <a:cs typeface="Cambria" pitchFamily="34" charset="-120"/>
              </a:rPr>
              <a:t>Protocol evidence separated from ML</a:t>
            </a:r>
            <a:endParaRPr lang="en-US" sz="2000" dirty="0"/>
          </a:p>
        </p:txBody>
      </p:sp>
      <p:sp>
        <p:nvSpPr>
          <p:cNvPr id="19" name="Text 17"/>
          <p:cNvSpPr/>
          <p:nvPr/>
        </p:nvSpPr>
        <p:spPr>
          <a:xfrm>
            <a:off x="1190625" y="4010025"/>
            <a:ext cx="6429375" cy="514350"/>
          </a:xfrm>
          <a:prstGeom prst="rect">
            <a:avLst/>
          </a:prstGeom>
          <a:noFill/>
          <a:ln/>
        </p:spPr>
        <p:txBody>
          <a:bodyPr wrap="square" lIns="0" tIns="0" rIns="0" bIns="0" rtlCol="0" anchor="t">
            <a:normAutofit/>
          </a:bodyPr>
          <a:lstStyle/>
          <a:p>
            <a:pPr marL="0" indent="0" algn="l">
              <a:lnSpc>
                <a:spcPct val="100000"/>
              </a:lnSpc>
              <a:buNone/>
            </a:pPr>
            <a:r>
              <a:rPr lang="en-US" sz="1520" dirty="0">
                <a:solidFill>
                  <a:srgbClr val="5B6B7C"/>
                </a:solidFill>
                <a:latin typeface="Calibri" pitchFamily="34" charset="0"/>
                <a:ea typeface="Calibri" pitchFamily="34" charset="-122"/>
                <a:cs typeface="Calibri" pitchFamily="34" charset="-120"/>
              </a:rPr>
              <a:t>Standards checks and statistical models are usually presented as alternatives rather than evaluated on the same executed runs.</a:t>
            </a:r>
            <a:endParaRPr lang="en-US" sz="1520" dirty="0"/>
          </a:p>
        </p:txBody>
      </p:sp>
      <p:sp>
        <p:nvSpPr>
          <p:cNvPr id="20" name="Shape 18"/>
          <p:cNvSpPr/>
          <p:nvPr/>
        </p:nvSpPr>
        <p:spPr>
          <a:xfrm>
            <a:off x="571500" y="4676775"/>
            <a:ext cx="438150" cy="438150"/>
          </a:xfrm>
          <a:prstGeom prst="roundRect">
            <a:avLst>
              <a:gd name="adj" fmla="val 8348"/>
            </a:avLst>
          </a:prstGeom>
          <a:solidFill>
            <a:srgbClr val="1C7293"/>
          </a:solidFill>
          <a:ln w="12700">
            <a:solidFill>
              <a:srgbClr val="1C7293"/>
            </a:solidFill>
            <a:prstDash val="solid"/>
          </a:ln>
        </p:spPr>
        <p:txBody>
          <a:bodyPr/>
          <a:lstStyle/>
          <a:p>
            <a:endParaRPr lang="en-IN"/>
          </a:p>
        </p:txBody>
      </p:sp>
      <p:sp>
        <p:nvSpPr>
          <p:cNvPr id="21" name="Text 19"/>
          <p:cNvSpPr/>
          <p:nvPr/>
        </p:nvSpPr>
        <p:spPr>
          <a:xfrm>
            <a:off x="571500" y="4791075"/>
            <a:ext cx="4381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2" name="Text 20"/>
          <p:cNvSpPr/>
          <p:nvPr/>
        </p:nvSpPr>
        <p:spPr>
          <a:xfrm>
            <a:off x="1190625" y="4667250"/>
            <a:ext cx="5715000" cy="2667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12263A"/>
                </a:solidFill>
                <a:latin typeface="Cambria" pitchFamily="34" charset="0"/>
                <a:ea typeface="Cambria" pitchFamily="34" charset="-122"/>
                <a:cs typeface="Cambria" pitchFamily="34" charset="-120"/>
              </a:rPr>
              <a:t>Detection separated from safe response</a:t>
            </a:r>
            <a:endParaRPr lang="en-US" sz="2000" dirty="0"/>
          </a:p>
        </p:txBody>
      </p:sp>
      <p:sp>
        <p:nvSpPr>
          <p:cNvPr id="23" name="Text 21"/>
          <p:cNvSpPr/>
          <p:nvPr/>
        </p:nvSpPr>
        <p:spPr>
          <a:xfrm>
            <a:off x="1190625" y="4972050"/>
            <a:ext cx="6429375" cy="514350"/>
          </a:xfrm>
          <a:prstGeom prst="rect">
            <a:avLst/>
          </a:prstGeom>
          <a:noFill/>
          <a:ln/>
        </p:spPr>
        <p:txBody>
          <a:bodyPr wrap="square" lIns="0" tIns="0" rIns="0" bIns="0" rtlCol="0" anchor="t">
            <a:normAutofit/>
          </a:bodyPr>
          <a:lstStyle/>
          <a:p>
            <a:pPr marL="0" indent="0" algn="l">
              <a:lnSpc>
                <a:spcPct val="100000"/>
              </a:lnSpc>
              <a:buNone/>
            </a:pPr>
            <a:r>
              <a:rPr lang="en-US" sz="1520" dirty="0">
                <a:solidFill>
                  <a:srgbClr val="5B6B7C"/>
                </a:solidFill>
                <a:latin typeface="Calibri" pitchFamily="34" charset="0"/>
                <a:ea typeface="Calibri" pitchFamily="34" charset="-122"/>
                <a:cs typeface="Calibri" pitchFamily="34" charset="-120"/>
              </a:rPr>
              <a:t>A label alone does not determine whether to isolate a source, enter holdover or escalate to an operator.</a:t>
            </a:r>
            <a:endParaRPr lang="en-US" sz="1520" dirty="0"/>
          </a:p>
        </p:txBody>
      </p:sp>
      <p:sp>
        <p:nvSpPr>
          <p:cNvPr id="24" name="Shape 22"/>
          <p:cNvSpPr/>
          <p:nvPr/>
        </p:nvSpPr>
        <p:spPr>
          <a:xfrm>
            <a:off x="7953375" y="1781175"/>
            <a:ext cx="3667125" cy="3886200"/>
          </a:xfrm>
          <a:prstGeom prst="roundRect">
            <a:avLst>
              <a:gd name="adj" fmla="val 997"/>
            </a:avLst>
          </a:prstGeom>
          <a:solidFill>
            <a:srgbClr val="0E2440"/>
          </a:solidFill>
          <a:ln w="12700">
            <a:solidFill>
              <a:srgbClr val="0E2440"/>
            </a:solidFill>
            <a:prstDash val="solid"/>
          </a:ln>
        </p:spPr>
        <p:txBody>
          <a:bodyPr/>
          <a:lstStyle/>
          <a:p>
            <a:endParaRPr lang="en-IN"/>
          </a:p>
        </p:txBody>
      </p:sp>
      <p:sp>
        <p:nvSpPr>
          <p:cNvPr id="25" name="Text 23"/>
          <p:cNvSpPr/>
          <p:nvPr/>
        </p:nvSpPr>
        <p:spPr>
          <a:xfrm>
            <a:off x="8239125" y="1920240"/>
            <a:ext cx="3095625" cy="228600"/>
          </a:xfrm>
          <a:prstGeom prst="rect">
            <a:avLst/>
          </a:prstGeom>
          <a:noFill/>
          <a:ln/>
        </p:spPr>
        <p:txBody>
          <a:bodyPr wrap="square" lIns="0" tIns="0" rIns="0" bIns="0" rtlCol="0" anchor="t">
            <a:normAutofit/>
          </a:bodyPr>
          <a:lstStyle/>
          <a:p>
            <a:pPr marL="0" indent="0" algn="l">
              <a:lnSpc>
                <a:spcPct val="100000"/>
              </a:lnSpc>
              <a:buNone/>
            </a:pPr>
            <a:r>
              <a:rPr lang="en-US" sz="1250" b="1" dirty="0">
                <a:solidFill>
                  <a:srgbClr val="18B89A"/>
                </a:solidFill>
                <a:latin typeface="Calibri" pitchFamily="34" charset="0"/>
                <a:ea typeface="Calibri" pitchFamily="34" charset="-122"/>
                <a:cs typeface="Calibri" pitchFamily="34" charset="-120"/>
              </a:rPr>
              <a:t>RESULTING STUDY DESIGN</a:t>
            </a:r>
            <a:endParaRPr lang="en-US" sz="1250" dirty="0"/>
          </a:p>
        </p:txBody>
      </p:sp>
      <p:sp>
        <p:nvSpPr>
          <p:cNvPr id="26" name="Text 24"/>
          <p:cNvSpPr/>
          <p:nvPr/>
        </p:nvSpPr>
        <p:spPr>
          <a:xfrm>
            <a:off x="8239125" y="2194560"/>
            <a:ext cx="3095625" cy="228600"/>
          </a:xfrm>
          <a:prstGeom prst="rect">
            <a:avLst/>
          </a:prstGeom>
          <a:noFill/>
          <a:ln/>
        </p:spPr>
        <p:txBody>
          <a:bodyPr wrap="square" lIns="0" tIns="0" rIns="0" bIns="0" rtlCol="0" anchor="t">
            <a:normAutofit fontScale="92500" lnSpcReduction="10000"/>
          </a:bodyPr>
          <a:lstStyle/>
          <a:p>
            <a:pPr marL="0" indent="0" algn="l">
              <a:lnSpc>
                <a:spcPct val="100000"/>
              </a:lnSpc>
              <a:buNone/>
            </a:pPr>
            <a:r>
              <a:rPr lang="en-US" sz="1450" b="1" dirty="0">
                <a:solidFill>
                  <a:srgbClr val="FFFFFF"/>
                </a:solidFill>
                <a:latin typeface="Cambria" pitchFamily="34" charset="0"/>
                <a:ea typeface="Cambria" pitchFamily="34" charset="-122"/>
                <a:cs typeface="Cambria" pitchFamily="34" charset="-120"/>
              </a:rPr>
              <a:t>Matched scenarios</a:t>
            </a:r>
            <a:endParaRPr lang="en-US" sz="1600" dirty="0"/>
          </a:p>
        </p:txBody>
      </p:sp>
      <p:sp>
        <p:nvSpPr>
          <p:cNvPr id="27" name="Text 25"/>
          <p:cNvSpPr/>
          <p:nvPr/>
        </p:nvSpPr>
        <p:spPr>
          <a:xfrm>
            <a:off x="8239123" y="2423160"/>
            <a:ext cx="3095625" cy="365760"/>
          </a:xfrm>
          <a:prstGeom prst="rect">
            <a:avLst/>
          </a:prstGeom>
          <a:noFill/>
          <a:ln/>
        </p:spPr>
        <p:txBody>
          <a:bodyPr wrap="square" lIns="0" tIns="0" rIns="0" bIns="0" rtlCol="0" anchor="t">
            <a:normAutofit lnSpcReduction="10000"/>
          </a:bodyPr>
          <a:lstStyle/>
          <a:p>
            <a:pPr marL="0" indent="0" algn="l">
              <a:lnSpc>
                <a:spcPct val="100000"/>
              </a:lnSpc>
              <a:buNone/>
            </a:pPr>
            <a:r>
              <a:rPr lang="en-US" sz="1150" dirty="0">
                <a:solidFill>
                  <a:srgbClr val="CFD9E5"/>
                </a:solidFill>
                <a:latin typeface="Calibri" pitchFamily="34" charset="0"/>
                <a:ea typeface="Calibri" pitchFamily="34" charset="-122"/>
                <a:cs typeface="Calibri" pitchFamily="34" charset="-120"/>
              </a:rPr>
              <a:t>Attacks and benign lookalikes execute through the same packet path.</a:t>
            </a:r>
            <a:endParaRPr lang="en-US" sz="1330" dirty="0"/>
          </a:p>
        </p:txBody>
      </p:sp>
      <p:sp>
        <p:nvSpPr>
          <p:cNvPr id="28" name="Text 26"/>
          <p:cNvSpPr/>
          <p:nvPr/>
        </p:nvSpPr>
        <p:spPr>
          <a:xfrm>
            <a:off x="8239125" y="2843784"/>
            <a:ext cx="3095625" cy="228600"/>
          </a:xfrm>
          <a:prstGeom prst="rect">
            <a:avLst/>
          </a:prstGeom>
          <a:noFill/>
          <a:ln/>
        </p:spPr>
        <p:txBody>
          <a:bodyPr wrap="square" lIns="0" tIns="0" rIns="0" bIns="0" rtlCol="0" anchor="t">
            <a:normAutofit fontScale="92500" lnSpcReduction="10000"/>
          </a:bodyPr>
          <a:lstStyle/>
          <a:p>
            <a:pPr marL="0" indent="0" algn="l">
              <a:lnSpc>
                <a:spcPct val="100000"/>
              </a:lnSpc>
              <a:buNone/>
            </a:pPr>
            <a:r>
              <a:rPr lang="en-US" sz="1450" b="1" dirty="0">
                <a:solidFill>
                  <a:srgbClr val="FFFFFF"/>
                </a:solidFill>
                <a:latin typeface="Cambria" pitchFamily="34" charset="0"/>
                <a:ea typeface="Cambria" pitchFamily="34" charset="-122"/>
                <a:cs typeface="Cambria" pitchFamily="34" charset="-120"/>
              </a:rPr>
              <a:t>Two decision arms</a:t>
            </a:r>
            <a:endParaRPr lang="en-US" sz="1600" dirty="0"/>
          </a:p>
        </p:txBody>
      </p:sp>
      <p:sp>
        <p:nvSpPr>
          <p:cNvPr id="29" name="Text 27"/>
          <p:cNvSpPr/>
          <p:nvPr/>
        </p:nvSpPr>
        <p:spPr>
          <a:xfrm>
            <a:off x="8239124" y="3072384"/>
            <a:ext cx="3095625" cy="512064"/>
          </a:xfrm>
          <a:prstGeom prst="rect">
            <a:avLst/>
          </a:prstGeom>
          <a:noFill/>
          <a:ln/>
        </p:spPr>
        <p:txBody>
          <a:bodyPr wrap="square" lIns="0" tIns="0" rIns="0" bIns="0" rtlCol="0" anchor="t">
            <a:noAutofit/>
          </a:bodyPr>
          <a:lstStyle/>
          <a:p>
            <a:pPr marL="0" indent="0" algn="l">
              <a:lnSpc>
                <a:spcPct val="100000"/>
              </a:lnSpc>
              <a:buNone/>
            </a:pPr>
            <a:r>
              <a:rPr lang="en-US" sz="1150" dirty="0">
                <a:solidFill>
                  <a:srgbClr val="CFD9E5"/>
                </a:solidFill>
                <a:latin typeface="Calibri" pitchFamily="34" charset="0"/>
                <a:ea typeface="Calibri" pitchFamily="34" charset="-122"/>
                <a:cs typeface="Calibri" pitchFamily="34" charset="-120"/>
              </a:rPr>
              <a:t>ARM A applies standards legality plus operator context. ARM B applies Random Forest with an Isolation Forest novelty layer.</a:t>
            </a:r>
            <a:endParaRPr lang="en-US" sz="1100" dirty="0"/>
          </a:p>
        </p:txBody>
      </p:sp>
      <p:sp>
        <p:nvSpPr>
          <p:cNvPr id="30" name="Text 28"/>
          <p:cNvSpPr/>
          <p:nvPr/>
        </p:nvSpPr>
        <p:spPr>
          <a:xfrm>
            <a:off x="8239125" y="3639312"/>
            <a:ext cx="3095625" cy="228600"/>
          </a:xfrm>
          <a:prstGeom prst="rect">
            <a:avLst/>
          </a:prstGeom>
          <a:noFill/>
          <a:ln/>
        </p:spPr>
        <p:txBody>
          <a:bodyPr wrap="square" lIns="0" tIns="0" rIns="0" bIns="0" rtlCol="0" anchor="t">
            <a:normAutofit fontScale="92500" lnSpcReduction="10000"/>
          </a:bodyPr>
          <a:lstStyle/>
          <a:p>
            <a:pPr marL="0" indent="0" algn="l">
              <a:lnSpc>
                <a:spcPct val="100000"/>
              </a:lnSpc>
              <a:buNone/>
            </a:pPr>
            <a:r>
              <a:rPr lang="en-US" sz="1450" b="1" dirty="0">
                <a:solidFill>
                  <a:srgbClr val="FFFFFF"/>
                </a:solidFill>
                <a:latin typeface="Cambria" pitchFamily="34" charset="0"/>
                <a:ea typeface="Cambria" pitchFamily="34" charset="-122"/>
                <a:cs typeface="Cambria" pitchFamily="34" charset="-120"/>
              </a:rPr>
              <a:t>Held-out evaluation</a:t>
            </a:r>
            <a:endParaRPr lang="en-US" sz="1600" dirty="0"/>
          </a:p>
        </p:txBody>
      </p:sp>
      <p:sp>
        <p:nvSpPr>
          <p:cNvPr id="31" name="Text 29"/>
          <p:cNvSpPr/>
          <p:nvPr/>
        </p:nvSpPr>
        <p:spPr>
          <a:xfrm>
            <a:off x="8239125" y="3867912"/>
            <a:ext cx="3095625" cy="365760"/>
          </a:xfrm>
          <a:prstGeom prst="rect">
            <a:avLst/>
          </a:prstGeom>
          <a:noFill/>
          <a:ln/>
        </p:spPr>
        <p:txBody>
          <a:bodyPr wrap="square" lIns="0" tIns="0" rIns="0" bIns="0" rtlCol="0" anchor="t">
            <a:normAutofit/>
          </a:bodyPr>
          <a:lstStyle/>
          <a:p>
            <a:pPr marL="0" indent="0" algn="l">
              <a:lnSpc>
                <a:spcPct val="100000"/>
              </a:lnSpc>
              <a:buNone/>
            </a:pPr>
            <a:r>
              <a:rPr lang="en-US" sz="1150" dirty="0">
                <a:solidFill>
                  <a:srgbClr val="CFD9E5"/>
                </a:solidFill>
                <a:latin typeface="Calibri" pitchFamily="34" charset="0"/>
                <a:ea typeface="Calibri" pitchFamily="34" charset="-122"/>
                <a:cs typeface="Calibri" pitchFamily="34" charset="-120"/>
              </a:rPr>
              <a:t>Replicates 9–12 remain outside training for the 56-run final test.</a:t>
            </a:r>
            <a:endParaRPr lang="en-US" sz="1330" dirty="0"/>
          </a:p>
        </p:txBody>
      </p:sp>
      <p:sp>
        <p:nvSpPr>
          <p:cNvPr id="32" name="Text 30"/>
          <p:cNvSpPr/>
          <p:nvPr/>
        </p:nvSpPr>
        <p:spPr>
          <a:xfrm>
            <a:off x="8239125" y="4288536"/>
            <a:ext cx="3095625" cy="228600"/>
          </a:xfrm>
          <a:prstGeom prst="rect">
            <a:avLst/>
          </a:prstGeom>
          <a:noFill/>
          <a:ln/>
        </p:spPr>
        <p:txBody>
          <a:bodyPr wrap="square" lIns="0" tIns="0" rIns="0" bIns="0" rtlCol="0" anchor="t">
            <a:normAutofit/>
          </a:bodyPr>
          <a:lstStyle/>
          <a:p>
            <a:pPr marL="0" indent="0" algn="l">
              <a:lnSpc>
                <a:spcPct val="100000"/>
              </a:lnSpc>
              <a:buNone/>
            </a:pPr>
            <a:r>
              <a:rPr lang="en-US" sz="1450" b="1" dirty="0">
                <a:solidFill>
                  <a:srgbClr val="FFFFFF"/>
                </a:solidFill>
                <a:latin typeface="Cambria" pitchFamily="34" charset="0"/>
                <a:ea typeface="Cambria" pitchFamily="34" charset="-122"/>
                <a:cs typeface="Cambria" pitchFamily="34" charset="-120"/>
              </a:rPr>
              <a:t>Trivial control</a:t>
            </a:r>
            <a:endParaRPr lang="en-US" sz="1600" dirty="0"/>
          </a:p>
        </p:txBody>
      </p:sp>
      <p:sp>
        <p:nvSpPr>
          <p:cNvPr id="33" name="Text 31"/>
          <p:cNvSpPr/>
          <p:nvPr/>
        </p:nvSpPr>
        <p:spPr>
          <a:xfrm>
            <a:off x="8239125" y="4517136"/>
            <a:ext cx="3095625" cy="365760"/>
          </a:xfrm>
          <a:prstGeom prst="rect">
            <a:avLst/>
          </a:prstGeom>
          <a:noFill/>
          <a:ln/>
        </p:spPr>
        <p:txBody>
          <a:bodyPr wrap="square" lIns="0" tIns="0" rIns="0" bIns="0" rtlCol="0" anchor="t">
            <a:normAutofit/>
          </a:bodyPr>
          <a:lstStyle/>
          <a:p>
            <a:pPr marL="0" indent="0" algn="l">
              <a:lnSpc>
                <a:spcPct val="100000"/>
              </a:lnSpc>
              <a:buNone/>
            </a:pPr>
            <a:r>
              <a:rPr lang="en-US" sz="1150" dirty="0">
                <a:solidFill>
                  <a:srgbClr val="CFD9E5"/>
                </a:solidFill>
                <a:latin typeface="Calibri" pitchFamily="34" charset="0"/>
                <a:ea typeface="Calibri" pitchFamily="34" charset="-122"/>
                <a:cs typeface="Calibri" pitchFamily="34" charset="-120"/>
              </a:rPr>
              <a:t>An always-BENIGN predictor establishes whether ARM B adds information.</a:t>
            </a:r>
            <a:endParaRPr lang="en-US" sz="1330" dirty="0"/>
          </a:p>
        </p:txBody>
      </p:sp>
      <p:sp>
        <p:nvSpPr>
          <p:cNvPr id="34" name="Text 32"/>
          <p:cNvSpPr/>
          <p:nvPr/>
        </p:nvSpPr>
        <p:spPr>
          <a:xfrm>
            <a:off x="8239125" y="4937759"/>
            <a:ext cx="3095625" cy="228600"/>
          </a:xfrm>
          <a:prstGeom prst="rect">
            <a:avLst/>
          </a:prstGeom>
          <a:noFill/>
          <a:ln/>
        </p:spPr>
        <p:txBody>
          <a:bodyPr wrap="square" lIns="0" tIns="0" rIns="0" bIns="0" rtlCol="0" anchor="t">
            <a:normAutofit/>
          </a:bodyPr>
          <a:lstStyle/>
          <a:p>
            <a:pPr marL="0" indent="0" algn="l">
              <a:lnSpc>
                <a:spcPct val="100000"/>
              </a:lnSpc>
              <a:buNone/>
            </a:pPr>
            <a:r>
              <a:rPr lang="en-US" sz="1450" b="1" dirty="0">
                <a:solidFill>
                  <a:srgbClr val="FFFFFF"/>
                </a:solidFill>
                <a:latin typeface="Cambria" pitchFamily="34" charset="0"/>
                <a:ea typeface="Cambria" pitchFamily="34" charset="-122"/>
                <a:cs typeface="Cambria" pitchFamily="34" charset="-120"/>
              </a:rPr>
              <a:t>Explicit abstention</a:t>
            </a:r>
            <a:endParaRPr lang="en-US" sz="1600" dirty="0"/>
          </a:p>
        </p:txBody>
      </p:sp>
      <p:sp>
        <p:nvSpPr>
          <p:cNvPr id="35" name="Text 33"/>
          <p:cNvSpPr/>
          <p:nvPr/>
        </p:nvSpPr>
        <p:spPr>
          <a:xfrm>
            <a:off x="8239125" y="5166359"/>
            <a:ext cx="3095625" cy="365760"/>
          </a:xfrm>
          <a:prstGeom prst="rect">
            <a:avLst/>
          </a:prstGeom>
          <a:noFill/>
          <a:ln/>
        </p:spPr>
        <p:txBody>
          <a:bodyPr wrap="square" lIns="0" tIns="0" rIns="0" bIns="0" rtlCol="0" anchor="t">
            <a:normAutofit/>
          </a:bodyPr>
          <a:lstStyle/>
          <a:p>
            <a:pPr marL="0" indent="0" algn="l">
              <a:lnSpc>
                <a:spcPct val="100000"/>
              </a:lnSpc>
              <a:buNone/>
            </a:pPr>
            <a:r>
              <a:rPr lang="en-US" sz="1150" dirty="0">
                <a:solidFill>
                  <a:srgbClr val="CFD9E5"/>
                </a:solidFill>
                <a:latin typeface="Calibri" pitchFamily="34" charset="0"/>
                <a:ea typeface="Calibri" pitchFamily="34" charset="-122"/>
                <a:cs typeface="Calibri" pitchFamily="34" charset="-120"/>
              </a:rPr>
              <a:t>Ambiguous evidence escalates instead of forcing an unsafe answer.</a:t>
            </a:r>
            <a:endParaRPr lang="en-US" sz="1330" dirty="0"/>
          </a:p>
        </p:txBody>
      </p:sp>
      <p:sp>
        <p:nvSpPr>
          <p:cNvPr id="36" name="Shape 34"/>
          <p:cNvSpPr/>
          <p:nvPr/>
        </p:nvSpPr>
        <p:spPr>
          <a:xfrm>
            <a:off x="571500" y="5857875"/>
            <a:ext cx="11049000" cy="561975"/>
          </a:xfrm>
          <a:prstGeom prst="roundRect">
            <a:avLst>
              <a:gd name="adj" fmla="val 6508"/>
            </a:avLst>
          </a:prstGeom>
          <a:solidFill>
            <a:srgbClr val="DDF5EF"/>
          </a:solidFill>
          <a:ln w="12700">
            <a:solidFill>
              <a:srgbClr val="18B89A"/>
            </a:solidFill>
            <a:prstDash val="solid"/>
          </a:ln>
        </p:spPr>
        <p:txBody>
          <a:bodyPr/>
          <a:lstStyle/>
          <a:p>
            <a:endParaRPr lang="en-IN"/>
          </a:p>
        </p:txBody>
      </p:sp>
      <p:sp>
        <p:nvSpPr>
          <p:cNvPr id="37" name="Text 35"/>
          <p:cNvSpPr/>
          <p:nvPr/>
        </p:nvSpPr>
        <p:spPr>
          <a:xfrm>
            <a:off x="781050" y="5981700"/>
            <a:ext cx="10629900" cy="333375"/>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0B5547"/>
                </a:solidFill>
                <a:latin typeface="Cambria" pitchFamily="34" charset="0"/>
                <a:ea typeface="Cambria" pitchFamily="34" charset="-122"/>
                <a:cs typeface="Cambria" pitchFamily="34" charset="-120"/>
              </a:rPr>
              <a:t>Gap addressed: the reviewed source set did not combine S-plane benign lookalikes, standards-aware rules, a machine-learning arm, explicit abstention and a constant baseline within one held-out campaign.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9331"/>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CONTRIBUTION POSITIONING</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200" b="1" dirty="0">
                <a:solidFill>
                  <a:srgbClr val="12263A"/>
                </a:solidFill>
                <a:latin typeface="Cambria" pitchFamily="34" charset="0"/>
                <a:ea typeface="Cambria" pitchFamily="34" charset="-122"/>
                <a:cs typeface="Cambria" pitchFamily="34" charset="-120"/>
              </a:rPr>
              <a:t>Standards-Grounded Positioning of the Contribution</a:t>
            </a:r>
            <a:endParaRPr lang="en-US" sz="32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Normative basis: IEEE 1588-2019, ITU-T G.8275.1, O-RAN.WG4.CUS.0, O-RAN WG11 (ETSI TR 104 106 V3.0.0)  |  Prior-art boundary: TIMESAFE, Colosseum, OpenRAN Gym, digital-twin literature</a:t>
            </a:r>
            <a:endParaRPr lang="en-US" sz="1120" dirty="0"/>
          </a:p>
        </p:txBody>
      </p:sp>
      <p:sp>
        <p:nvSpPr>
          <p:cNvPr id="8" name="Shape 6"/>
          <p:cNvSpPr/>
          <p:nvPr/>
        </p:nvSpPr>
        <p:spPr>
          <a:xfrm>
            <a:off x="571500" y="1752600"/>
            <a:ext cx="2476500" cy="2038350"/>
          </a:xfrm>
          <a:prstGeom prst="roundRect">
            <a:avLst>
              <a:gd name="adj" fmla="val 1794"/>
            </a:avLst>
          </a:prstGeom>
          <a:solidFill>
            <a:srgbClr val="FFFFFF"/>
          </a:solidFill>
          <a:ln w="12700">
            <a:solidFill>
              <a:srgbClr val="D7E1EA"/>
            </a:solidFill>
            <a:prstDash val="solid"/>
          </a:ln>
        </p:spPr>
        <p:txBody>
          <a:bodyPr/>
          <a:lstStyle/>
          <a:p>
            <a:endParaRPr lang="en-IN"/>
          </a:p>
        </p:txBody>
      </p:sp>
      <p:sp>
        <p:nvSpPr>
          <p:cNvPr id="9" name="Text 7"/>
          <p:cNvSpPr/>
          <p:nvPr/>
        </p:nvSpPr>
        <p:spPr>
          <a:xfrm>
            <a:off x="762000" y="1943100"/>
            <a:ext cx="419100" cy="26670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C7293"/>
                </a:solidFill>
                <a:latin typeface="Cambria" pitchFamily="34" charset="0"/>
                <a:ea typeface="Cambria" pitchFamily="34" charset="-122"/>
                <a:cs typeface="Cambria" pitchFamily="34" charset="-120"/>
              </a:rPr>
              <a:t>01</a:t>
            </a:r>
            <a:endParaRPr lang="en-US" sz="1800" dirty="0"/>
          </a:p>
        </p:txBody>
      </p:sp>
      <p:sp>
        <p:nvSpPr>
          <p:cNvPr id="10" name="Text 8"/>
          <p:cNvSpPr/>
          <p:nvPr/>
        </p:nvSpPr>
        <p:spPr>
          <a:xfrm>
            <a:off x="762000" y="2324100"/>
            <a:ext cx="2095500" cy="304800"/>
          </a:xfrm>
          <a:prstGeom prst="rect">
            <a:avLst/>
          </a:prstGeom>
          <a:noFill/>
          <a:ln/>
        </p:spPr>
        <p:txBody>
          <a:bodyPr wrap="square" lIns="0" tIns="0" rIns="0" bIns="0" rtlCol="0" anchor="t">
            <a:normAutofit/>
          </a:bodyPr>
          <a:lstStyle/>
          <a:p>
            <a:pPr marL="0" indent="0" algn="l">
              <a:lnSpc>
                <a:spcPct val="100000"/>
              </a:lnSpc>
              <a:buNone/>
            </a:pPr>
            <a:r>
              <a:rPr lang="en-US" sz="1900" b="1" dirty="0">
                <a:solidFill>
                  <a:srgbClr val="12263A"/>
                </a:solidFill>
                <a:latin typeface="Cambria" pitchFamily="34" charset="0"/>
                <a:ea typeface="Cambria" pitchFamily="34" charset="-122"/>
                <a:cs typeface="Cambria" pitchFamily="34" charset="-120"/>
              </a:rPr>
              <a:t>Normative ground</a:t>
            </a:r>
            <a:endParaRPr lang="en-US" sz="1900" dirty="0"/>
          </a:p>
        </p:txBody>
      </p:sp>
      <p:sp>
        <p:nvSpPr>
          <p:cNvPr id="11" name="Text 9"/>
          <p:cNvSpPr/>
          <p:nvPr/>
        </p:nvSpPr>
        <p:spPr>
          <a:xfrm>
            <a:off x="762000" y="2743200"/>
            <a:ext cx="2114550" cy="95250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5B6B7C"/>
                </a:solidFill>
                <a:latin typeface="Calibri" pitchFamily="34" charset="0"/>
                <a:ea typeface="Calibri" pitchFamily="34" charset="-122"/>
                <a:cs typeface="Calibri" pitchFamily="34" charset="-120"/>
              </a:rPr>
              <a:t>Protocol legality and telecom timing expectations are taken from recognized standards, not from arbitrary thresholds.</a:t>
            </a:r>
            <a:endParaRPr lang="en-US" sz="1360" dirty="0"/>
          </a:p>
        </p:txBody>
      </p:sp>
      <p:sp>
        <p:nvSpPr>
          <p:cNvPr id="12" name="Shape 10"/>
          <p:cNvSpPr/>
          <p:nvPr/>
        </p:nvSpPr>
        <p:spPr>
          <a:xfrm>
            <a:off x="3152775" y="2762250"/>
            <a:ext cx="219075" cy="19050"/>
          </a:xfrm>
          <a:prstGeom prst="rect">
            <a:avLst/>
          </a:prstGeom>
          <a:solidFill>
            <a:srgbClr val="18B89A"/>
          </a:solidFill>
          <a:ln/>
        </p:spPr>
        <p:txBody>
          <a:bodyPr/>
          <a:lstStyle/>
          <a:p>
            <a:endParaRPr lang="en-IN"/>
          </a:p>
        </p:txBody>
      </p:sp>
      <p:sp>
        <p:nvSpPr>
          <p:cNvPr id="13" name="Shape 11"/>
          <p:cNvSpPr/>
          <p:nvPr/>
        </p:nvSpPr>
        <p:spPr>
          <a:xfrm>
            <a:off x="3429000" y="1752600"/>
            <a:ext cx="2476500" cy="2038350"/>
          </a:xfrm>
          <a:prstGeom prst="roundRect">
            <a:avLst>
              <a:gd name="adj" fmla="val 1794"/>
            </a:avLst>
          </a:prstGeom>
          <a:solidFill>
            <a:srgbClr val="FFFFFF"/>
          </a:solidFill>
          <a:ln w="12700">
            <a:solidFill>
              <a:srgbClr val="D7E1EA"/>
            </a:solidFill>
            <a:prstDash val="solid"/>
          </a:ln>
        </p:spPr>
        <p:txBody>
          <a:bodyPr/>
          <a:lstStyle/>
          <a:p>
            <a:endParaRPr lang="en-IN"/>
          </a:p>
        </p:txBody>
      </p:sp>
      <p:sp>
        <p:nvSpPr>
          <p:cNvPr id="14" name="Text 12"/>
          <p:cNvSpPr/>
          <p:nvPr/>
        </p:nvSpPr>
        <p:spPr>
          <a:xfrm>
            <a:off x="3619500" y="1943100"/>
            <a:ext cx="419100" cy="26670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C7293"/>
                </a:solidFill>
                <a:latin typeface="Cambria" pitchFamily="34" charset="0"/>
                <a:ea typeface="Cambria" pitchFamily="34" charset="-122"/>
                <a:cs typeface="Cambria" pitchFamily="34" charset="-120"/>
              </a:rPr>
              <a:t>02</a:t>
            </a:r>
            <a:endParaRPr lang="en-US" sz="1800" dirty="0"/>
          </a:p>
        </p:txBody>
      </p:sp>
      <p:sp>
        <p:nvSpPr>
          <p:cNvPr id="15" name="Text 13"/>
          <p:cNvSpPr/>
          <p:nvPr/>
        </p:nvSpPr>
        <p:spPr>
          <a:xfrm>
            <a:off x="3619500" y="2324100"/>
            <a:ext cx="2095500" cy="304800"/>
          </a:xfrm>
          <a:prstGeom prst="rect">
            <a:avLst/>
          </a:prstGeom>
          <a:noFill/>
          <a:ln/>
        </p:spPr>
        <p:txBody>
          <a:bodyPr wrap="square" lIns="0" tIns="0" rIns="0" bIns="0" rtlCol="0" anchor="t">
            <a:normAutofit/>
          </a:bodyPr>
          <a:lstStyle/>
          <a:p>
            <a:pPr marL="0" indent="0" algn="l">
              <a:lnSpc>
                <a:spcPct val="100000"/>
              </a:lnSpc>
              <a:buNone/>
            </a:pPr>
            <a:r>
              <a:rPr lang="en-US" sz="1900" b="1" dirty="0">
                <a:solidFill>
                  <a:srgbClr val="12263A"/>
                </a:solidFill>
                <a:latin typeface="Cambria" pitchFamily="34" charset="0"/>
                <a:ea typeface="Cambria" pitchFamily="34" charset="-122"/>
                <a:cs typeface="Cambria" pitchFamily="34" charset="-120"/>
              </a:rPr>
              <a:t>Executed evidence</a:t>
            </a:r>
            <a:endParaRPr lang="en-US" sz="1900" dirty="0"/>
          </a:p>
        </p:txBody>
      </p:sp>
      <p:sp>
        <p:nvSpPr>
          <p:cNvPr id="16" name="Text 14"/>
          <p:cNvSpPr/>
          <p:nvPr/>
        </p:nvSpPr>
        <p:spPr>
          <a:xfrm>
            <a:off x="3619500" y="2743200"/>
            <a:ext cx="2114550" cy="95250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5B6B7C"/>
                </a:solidFill>
                <a:latin typeface="Calibri" pitchFamily="34" charset="0"/>
                <a:ea typeface="Calibri" pitchFamily="34" charset="-122"/>
                <a:cs typeface="Calibri" pitchFamily="34" charset="-120"/>
              </a:rPr>
              <a:t>Real PTP daemons, packet captures and daemon telemetry produce auditable observations rather than synthetic rows.</a:t>
            </a:r>
            <a:endParaRPr lang="en-US" sz="1360" dirty="0"/>
          </a:p>
        </p:txBody>
      </p:sp>
      <p:sp>
        <p:nvSpPr>
          <p:cNvPr id="17" name="Shape 15"/>
          <p:cNvSpPr/>
          <p:nvPr/>
        </p:nvSpPr>
        <p:spPr>
          <a:xfrm>
            <a:off x="6010275" y="2762250"/>
            <a:ext cx="219075" cy="19050"/>
          </a:xfrm>
          <a:prstGeom prst="rect">
            <a:avLst/>
          </a:prstGeom>
          <a:solidFill>
            <a:srgbClr val="18B89A"/>
          </a:solidFill>
          <a:ln/>
        </p:spPr>
        <p:txBody>
          <a:bodyPr/>
          <a:lstStyle/>
          <a:p>
            <a:endParaRPr lang="en-IN"/>
          </a:p>
        </p:txBody>
      </p:sp>
      <p:sp>
        <p:nvSpPr>
          <p:cNvPr id="18" name="Shape 16"/>
          <p:cNvSpPr/>
          <p:nvPr/>
        </p:nvSpPr>
        <p:spPr>
          <a:xfrm>
            <a:off x="6286500" y="1752600"/>
            <a:ext cx="2476500" cy="2038350"/>
          </a:xfrm>
          <a:prstGeom prst="roundRect">
            <a:avLst>
              <a:gd name="adj" fmla="val 1794"/>
            </a:avLst>
          </a:prstGeom>
          <a:solidFill>
            <a:srgbClr val="DDF5EF"/>
          </a:solidFill>
          <a:ln w="12700">
            <a:solidFill>
              <a:srgbClr val="18B89A"/>
            </a:solidFill>
            <a:prstDash val="solid"/>
          </a:ln>
        </p:spPr>
        <p:txBody>
          <a:bodyPr/>
          <a:lstStyle/>
          <a:p>
            <a:endParaRPr lang="en-IN"/>
          </a:p>
        </p:txBody>
      </p:sp>
      <p:sp>
        <p:nvSpPr>
          <p:cNvPr id="19" name="Text 17"/>
          <p:cNvSpPr/>
          <p:nvPr/>
        </p:nvSpPr>
        <p:spPr>
          <a:xfrm>
            <a:off x="6477000" y="1943100"/>
            <a:ext cx="419100" cy="26670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C7293"/>
                </a:solidFill>
                <a:latin typeface="Cambria" pitchFamily="34" charset="0"/>
                <a:ea typeface="Cambria" pitchFamily="34" charset="-122"/>
                <a:cs typeface="Cambria" pitchFamily="34" charset="-120"/>
              </a:rPr>
              <a:t>03</a:t>
            </a:r>
            <a:endParaRPr lang="en-US" sz="1800" dirty="0"/>
          </a:p>
        </p:txBody>
      </p:sp>
      <p:sp>
        <p:nvSpPr>
          <p:cNvPr id="20" name="Text 18"/>
          <p:cNvSpPr/>
          <p:nvPr/>
        </p:nvSpPr>
        <p:spPr>
          <a:xfrm>
            <a:off x="6477000" y="2324100"/>
            <a:ext cx="2095500" cy="304800"/>
          </a:xfrm>
          <a:prstGeom prst="rect">
            <a:avLst/>
          </a:prstGeom>
          <a:noFill/>
          <a:ln/>
        </p:spPr>
        <p:txBody>
          <a:bodyPr wrap="square" lIns="0" tIns="0" rIns="0" bIns="0" rtlCol="0" anchor="t">
            <a:normAutofit/>
          </a:bodyPr>
          <a:lstStyle/>
          <a:p>
            <a:pPr marL="0" indent="0" algn="l">
              <a:lnSpc>
                <a:spcPct val="100000"/>
              </a:lnSpc>
              <a:buNone/>
            </a:pPr>
            <a:r>
              <a:rPr lang="en-US" sz="1900" b="1" dirty="0">
                <a:solidFill>
                  <a:srgbClr val="12263A"/>
                </a:solidFill>
                <a:latin typeface="Cambria" pitchFamily="34" charset="0"/>
                <a:ea typeface="Cambria" pitchFamily="34" charset="-122"/>
                <a:cs typeface="Cambria" pitchFamily="34" charset="-120"/>
              </a:rPr>
              <a:t>Controlled comparison</a:t>
            </a:r>
            <a:endParaRPr lang="en-US" sz="1900" dirty="0"/>
          </a:p>
        </p:txBody>
      </p:sp>
      <p:sp>
        <p:nvSpPr>
          <p:cNvPr id="21" name="Text 19"/>
          <p:cNvSpPr/>
          <p:nvPr/>
        </p:nvSpPr>
        <p:spPr>
          <a:xfrm>
            <a:off x="6477000" y="2895600"/>
            <a:ext cx="2114550" cy="95250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5B6B7C"/>
                </a:solidFill>
                <a:latin typeface="Calibri" pitchFamily="34" charset="0"/>
                <a:ea typeface="Calibri" pitchFamily="34" charset="-122"/>
                <a:cs typeface="Calibri" pitchFamily="34" charset="-120"/>
              </a:rPr>
              <a:t>Rules, machine learning and an always-BENIGN control are scored on the same 56 held-out runs.</a:t>
            </a:r>
            <a:endParaRPr lang="en-US" sz="1360" dirty="0"/>
          </a:p>
        </p:txBody>
      </p:sp>
      <p:sp>
        <p:nvSpPr>
          <p:cNvPr id="22" name="Shape 20"/>
          <p:cNvSpPr/>
          <p:nvPr/>
        </p:nvSpPr>
        <p:spPr>
          <a:xfrm>
            <a:off x="8867775" y="2762250"/>
            <a:ext cx="219075" cy="19050"/>
          </a:xfrm>
          <a:prstGeom prst="rect">
            <a:avLst/>
          </a:prstGeom>
          <a:solidFill>
            <a:srgbClr val="18B89A"/>
          </a:solidFill>
          <a:ln/>
        </p:spPr>
        <p:txBody>
          <a:bodyPr/>
          <a:lstStyle/>
          <a:p>
            <a:endParaRPr lang="en-IN"/>
          </a:p>
        </p:txBody>
      </p:sp>
      <p:sp>
        <p:nvSpPr>
          <p:cNvPr id="23" name="Shape 21"/>
          <p:cNvSpPr/>
          <p:nvPr/>
        </p:nvSpPr>
        <p:spPr>
          <a:xfrm>
            <a:off x="9144000" y="1752600"/>
            <a:ext cx="2476500" cy="2038350"/>
          </a:xfrm>
          <a:prstGeom prst="roundRect">
            <a:avLst>
              <a:gd name="adj" fmla="val 1794"/>
            </a:avLst>
          </a:prstGeom>
          <a:solidFill>
            <a:srgbClr val="FFFFFF"/>
          </a:solidFill>
          <a:ln w="12700">
            <a:solidFill>
              <a:srgbClr val="D7E1EA"/>
            </a:solidFill>
            <a:prstDash val="solid"/>
          </a:ln>
        </p:spPr>
        <p:txBody>
          <a:bodyPr/>
          <a:lstStyle/>
          <a:p>
            <a:endParaRPr lang="en-IN"/>
          </a:p>
        </p:txBody>
      </p:sp>
      <p:sp>
        <p:nvSpPr>
          <p:cNvPr id="24" name="Text 22"/>
          <p:cNvSpPr/>
          <p:nvPr/>
        </p:nvSpPr>
        <p:spPr>
          <a:xfrm>
            <a:off x="9334500" y="1943100"/>
            <a:ext cx="419100" cy="26670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C7293"/>
                </a:solidFill>
                <a:latin typeface="Cambria" pitchFamily="34" charset="0"/>
                <a:ea typeface="Cambria" pitchFamily="34" charset="-122"/>
                <a:cs typeface="Cambria" pitchFamily="34" charset="-120"/>
              </a:rPr>
              <a:t>04</a:t>
            </a:r>
            <a:endParaRPr lang="en-US" sz="1800" dirty="0"/>
          </a:p>
        </p:txBody>
      </p:sp>
      <p:sp>
        <p:nvSpPr>
          <p:cNvPr id="25" name="Text 23"/>
          <p:cNvSpPr/>
          <p:nvPr/>
        </p:nvSpPr>
        <p:spPr>
          <a:xfrm>
            <a:off x="9334500" y="2324100"/>
            <a:ext cx="2095500" cy="304800"/>
          </a:xfrm>
          <a:prstGeom prst="rect">
            <a:avLst/>
          </a:prstGeom>
          <a:noFill/>
          <a:ln/>
        </p:spPr>
        <p:txBody>
          <a:bodyPr wrap="square" lIns="0" tIns="0" rIns="0" bIns="0" rtlCol="0" anchor="t">
            <a:normAutofit/>
          </a:bodyPr>
          <a:lstStyle/>
          <a:p>
            <a:pPr marL="0" indent="0" algn="l">
              <a:lnSpc>
                <a:spcPct val="100000"/>
              </a:lnSpc>
              <a:buNone/>
            </a:pPr>
            <a:r>
              <a:rPr lang="en-US" sz="1900" b="1" dirty="0">
                <a:solidFill>
                  <a:srgbClr val="12263A"/>
                </a:solidFill>
                <a:latin typeface="Cambria" pitchFamily="34" charset="0"/>
                <a:ea typeface="Cambria" pitchFamily="34" charset="-122"/>
                <a:cs typeface="Cambria" pitchFamily="34" charset="-120"/>
              </a:rPr>
              <a:t>Governed response</a:t>
            </a:r>
            <a:endParaRPr lang="en-US" sz="1900" dirty="0"/>
          </a:p>
        </p:txBody>
      </p:sp>
      <p:sp>
        <p:nvSpPr>
          <p:cNvPr id="26" name="Text 24"/>
          <p:cNvSpPr/>
          <p:nvPr/>
        </p:nvSpPr>
        <p:spPr>
          <a:xfrm>
            <a:off x="9353550" y="2857889"/>
            <a:ext cx="2114550" cy="95250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5B6B7C"/>
                </a:solidFill>
                <a:latin typeface="Calibri" pitchFamily="34" charset="0"/>
                <a:ea typeface="Calibri" pitchFamily="34" charset="-122"/>
                <a:cs typeface="Calibri" pitchFamily="34" charset="-120"/>
              </a:rPr>
              <a:t>ATTACK, BENIGN and UNKNOWN map to isolation, holdover and escalation policy respectively.</a:t>
            </a:r>
            <a:endParaRPr lang="en-US" sz="1360" dirty="0"/>
          </a:p>
        </p:txBody>
      </p:sp>
      <p:sp>
        <p:nvSpPr>
          <p:cNvPr id="27" name="Shape 25"/>
          <p:cNvSpPr/>
          <p:nvPr/>
        </p:nvSpPr>
        <p:spPr>
          <a:xfrm>
            <a:off x="571500" y="4038600"/>
            <a:ext cx="5286375" cy="1638300"/>
          </a:xfrm>
          <a:prstGeom prst="roundRect">
            <a:avLst>
              <a:gd name="adj" fmla="val 2233"/>
            </a:avLst>
          </a:prstGeom>
          <a:solidFill>
            <a:srgbClr val="0E2440"/>
          </a:solidFill>
          <a:ln w="12700">
            <a:solidFill>
              <a:srgbClr val="0E2440"/>
            </a:solidFill>
            <a:prstDash val="solid"/>
          </a:ln>
        </p:spPr>
        <p:txBody>
          <a:bodyPr/>
          <a:lstStyle/>
          <a:p>
            <a:endParaRPr lang="en-IN"/>
          </a:p>
        </p:txBody>
      </p:sp>
      <p:sp>
        <p:nvSpPr>
          <p:cNvPr id="28" name="Text 26"/>
          <p:cNvSpPr/>
          <p:nvPr/>
        </p:nvSpPr>
        <p:spPr>
          <a:xfrm>
            <a:off x="809625" y="4248150"/>
            <a:ext cx="4762500" cy="228600"/>
          </a:xfrm>
          <a:prstGeom prst="rect">
            <a:avLst/>
          </a:prstGeom>
          <a:noFill/>
          <a:ln/>
        </p:spPr>
        <p:txBody>
          <a:bodyPr wrap="square" lIns="0" tIns="0" rIns="0" bIns="0" rtlCol="0" anchor="t">
            <a:normAutofit/>
          </a:bodyPr>
          <a:lstStyle/>
          <a:p>
            <a:pPr marL="0" indent="0" algn="l">
              <a:lnSpc>
                <a:spcPct val="100000"/>
              </a:lnSpc>
              <a:buNone/>
            </a:pPr>
            <a:r>
              <a:rPr lang="en-US" sz="1250" b="1" dirty="0">
                <a:solidFill>
                  <a:srgbClr val="18B89A"/>
                </a:solidFill>
                <a:latin typeface="Calibri" pitchFamily="34" charset="0"/>
                <a:ea typeface="Calibri" pitchFamily="34" charset="-122"/>
                <a:cs typeface="Calibri" pitchFamily="34" charset="-120"/>
              </a:rPr>
              <a:t>DEMONSTRATED IN THIS CAMPAIGN</a:t>
            </a:r>
            <a:endParaRPr lang="en-US" sz="1250" dirty="0"/>
          </a:p>
        </p:txBody>
      </p:sp>
      <p:sp>
        <p:nvSpPr>
          <p:cNvPr id="29" name="Text 27"/>
          <p:cNvSpPr/>
          <p:nvPr/>
        </p:nvSpPr>
        <p:spPr>
          <a:xfrm>
            <a:off x="809625" y="4591050"/>
            <a:ext cx="4762500" cy="952500"/>
          </a:xfrm>
          <a:prstGeom prst="rect">
            <a:avLst/>
          </a:prstGeom>
          <a:noFill/>
          <a:ln/>
        </p:spPr>
        <p:txBody>
          <a:bodyPr wrap="square" lIns="0" tIns="0" rIns="0" bIns="0" rtlCol="0" anchor="t">
            <a:normAutofit/>
          </a:bodyPr>
          <a:lstStyle/>
          <a:p>
            <a:pPr marL="0" indent="0" algn="l">
              <a:lnSpc>
                <a:spcPct val="100000"/>
              </a:lnSpc>
              <a:buNone/>
            </a:pPr>
            <a:r>
              <a:rPr lang="en-US" sz="1550" dirty="0">
                <a:solidFill>
                  <a:srgbClr val="FFFFFF"/>
                </a:solidFill>
                <a:latin typeface="Calibri" pitchFamily="34" charset="0"/>
                <a:ea typeface="Calibri" pitchFamily="34" charset="-122"/>
                <a:cs typeface="Calibri" pitchFamily="34" charset="-120"/>
              </a:rPr>
              <a:t>Live PTP packet-path execution</a:t>
            </a:r>
            <a:endParaRPr lang="en-US" sz="1550" dirty="0"/>
          </a:p>
          <a:p>
            <a:pPr marL="0" indent="0" algn="l">
              <a:lnSpc>
                <a:spcPct val="100000"/>
              </a:lnSpc>
              <a:buNone/>
            </a:pPr>
            <a:r>
              <a:rPr lang="en-US" sz="1550" dirty="0">
                <a:solidFill>
                  <a:srgbClr val="FFFFFF"/>
                </a:solidFill>
                <a:latin typeface="Calibri" pitchFamily="34" charset="0"/>
                <a:ea typeface="Calibri" pitchFamily="34" charset="-122"/>
                <a:cs typeface="Calibri" pitchFamily="34" charset="-120"/>
              </a:rPr>
              <a:t>Held-out attack and benign-fault classification</a:t>
            </a:r>
            <a:endParaRPr lang="en-US" sz="1550" dirty="0"/>
          </a:p>
          <a:p>
            <a:pPr marL="0" indent="0" algn="l">
              <a:lnSpc>
                <a:spcPct val="100000"/>
              </a:lnSpc>
              <a:buNone/>
            </a:pPr>
            <a:r>
              <a:rPr lang="en-US" sz="1550" dirty="0">
                <a:solidFill>
                  <a:srgbClr val="FFFFFF"/>
                </a:solidFill>
                <a:latin typeface="Calibri" pitchFamily="34" charset="0"/>
                <a:ea typeface="Calibri" pitchFamily="34" charset="-122"/>
                <a:cs typeface="Calibri" pitchFamily="34" charset="-120"/>
              </a:rPr>
              <a:t>ARM A versus ARM B versus constant control</a:t>
            </a:r>
            <a:endParaRPr lang="en-US" sz="1550" dirty="0"/>
          </a:p>
          <a:p>
            <a:pPr marL="0" indent="0" algn="l">
              <a:lnSpc>
                <a:spcPct val="100000"/>
              </a:lnSpc>
              <a:buNone/>
            </a:pPr>
            <a:r>
              <a:rPr lang="en-US" sz="1550" dirty="0">
                <a:solidFill>
                  <a:srgbClr val="FFFFFF"/>
                </a:solidFill>
                <a:latin typeface="Calibri" pitchFamily="34" charset="0"/>
                <a:ea typeface="Calibri" pitchFamily="34" charset="-122"/>
                <a:cs typeface="Calibri" pitchFamily="34" charset="-120"/>
              </a:rPr>
              <a:t>Explicit abstention with evidence provenance</a:t>
            </a:r>
            <a:endParaRPr lang="en-US" sz="1550" dirty="0"/>
          </a:p>
        </p:txBody>
      </p:sp>
      <p:sp>
        <p:nvSpPr>
          <p:cNvPr id="30" name="Shape 28"/>
          <p:cNvSpPr/>
          <p:nvPr/>
        </p:nvSpPr>
        <p:spPr>
          <a:xfrm>
            <a:off x="6334125" y="4038600"/>
            <a:ext cx="5286375" cy="1638300"/>
          </a:xfrm>
          <a:prstGeom prst="roundRect">
            <a:avLst>
              <a:gd name="adj" fmla="val 2233"/>
            </a:avLst>
          </a:prstGeom>
          <a:solidFill>
            <a:srgbClr val="EAF2F8"/>
          </a:solidFill>
          <a:ln w="12700">
            <a:solidFill>
              <a:srgbClr val="1C7293"/>
            </a:solidFill>
            <a:prstDash val="solid"/>
          </a:ln>
        </p:spPr>
        <p:txBody>
          <a:bodyPr/>
          <a:lstStyle/>
          <a:p>
            <a:endParaRPr lang="en-IN"/>
          </a:p>
        </p:txBody>
      </p:sp>
      <p:sp>
        <p:nvSpPr>
          <p:cNvPr id="31" name="Text 29"/>
          <p:cNvSpPr/>
          <p:nvPr/>
        </p:nvSpPr>
        <p:spPr>
          <a:xfrm>
            <a:off x="6572250" y="4248150"/>
            <a:ext cx="4762500" cy="228600"/>
          </a:xfrm>
          <a:prstGeom prst="rect">
            <a:avLst/>
          </a:prstGeom>
          <a:noFill/>
          <a:ln/>
        </p:spPr>
        <p:txBody>
          <a:bodyPr wrap="square" lIns="0" tIns="0" rIns="0" bIns="0" rtlCol="0" anchor="t">
            <a:normAutofit/>
          </a:bodyPr>
          <a:lstStyle/>
          <a:p>
            <a:pPr marL="0" indent="0" algn="l">
              <a:lnSpc>
                <a:spcPct val="100000"/>
              </a:lnSpc>
              <a:buNone/>
            </a:pPr>
            <a:r>
              <a:rPr lang="en-US" sz="1250" b="1" dirty="0">
                <a:solidFill>
                  <a:srgbClr val="1C7293"/>
                </a:solidFill>
                <a:latin typeface="Calibri" pitchFamily="34" charset="0"/>
                <a:ea typeface="Calibri" pitchFamily="34" charset="-122"/>
                <a:cs typeface="Calibri" pitchFamily="34" charset="-120"/>
              </a:rPr>
              <a:t>NOT YET DEMONSTRATED</a:t>
            </a:r>
            <a:endParaRPr lang="en-US" sz="1250" dirty="0"/>
          </a:p>
        </p:txBody>
      </p:sp>
      <p:sp>
        <p:nvSpPr>
          <p:cNvPr id="32" name="Text 30"/>
          <p:cNvSpPr/>
          <p:nvPr/>
        </p:nvSpPr>
        <p:spPr>
          <a:xfrm>
            <a:off x="6572250" y="4591050"/>
            <a:ext cx="4762500" cy="952500"/>
          </a:xfrm>
          <a:prstGeom prst="rect">
            <a:avLst/>
          </a:prstGeom>
          <a:noFill/>
          <a:ln/>
        </p:spPr>
        <p:txBody>
          <a:bodyPr wrap="square" lIns="0" tIns="0" rIns="0" bIns="0" rtlCol="0" anchor="t">
            <a:normAutofit/>
          </a:bodyPr>
          <a:lstStyle/>
          <a:p>
            <a:pPr marL="0" indent="0" algn="l">
              <a:lnSpc>
                <a:spcPct val="100000"/>
              </a:lnSpc>
              <a:buNone/>
            </a:pPr>
            <a:r>
              <a:rPr lang="en-US" sz="1550" dirty="0">
                <a:solidFill>
                  <a:srgbClr val="12263A"/>
                </a:solidFill>
                <a:latin typeface="Calibri" pitchFamily="34" charset="0"/>
                <a:ea typeface="Calibri" pitchFamily="34" charset="-122"/>
                <a:cs typeface="Calibri" pitchFamily="34" charset="-120"/>
              </a:rPr>
              <a:t>Digital-twin action verification</a:t>
            </a:r>
            <a:endParaRPr lang="en-US" sz="1550" dirty="0"/>
          </a:p>
          <a:p>
            <a:pPr marL="0" indent="0" algn="l">
              <a:lnSpc>
                <a:spcPct val="100000"/>
              </a:lnSpc>
              <a:buNone/>
            </a:pPr>
            <a:r>
              <a:rPr lang="en-US" sz="1550" dirty="0">
                <a:solidFill>
                  <a:srgbClr val="12263A"/>
                </a:solidFill>
                <a:latin typeface="Calibri" pitchFamily="34" charset="0"/>
                <a:ea typeface="Calibri" pitchFamily="34" charset="-122"/>
                <a:cs typeface="Calibri" pitchFamily="34" charset="-120"/>
              </a:rPr>
              <a:t>Executed isolate or holdover recovery</a:t>
            </a:r>
            <a:endParaRPr lang="en-US" sz="1550" dirty="0"/>
          </a:p>
          <a:p>
            <a:pPr marL="0" indent="0" algn="l">
              <a:lnSpc>
                <a:spcPct val="100000"/>
              </a:lnSpc>
              <a:buNone/>
            </a:pPr>
            <a:r>
              <a:rPr lang="en-US" sz="1550" dirty="0">
                <a:solidFill>
                  <a:srgbClr val="12263A"/>
                </a:solidFill>
                <a:latin typeface="Calibri" pitchFamily="34" charset="0"/>
                <a:ea typeface="Calibri" pitchFamily="34" charset="-122"/>
                <a:cs typeface="Calibri" pitchFamily="34" charset="-120"/>
              </a:rPr>
              <a:t>Measured MTTR and availability improvement</a:t>
            </a:r>
            <a:endParaRPr lang="en-US" sz="1550" dirty="0"/>
          </a:p>
          <a:p>
            <a:pPr marL="0" indent="0" algn="l">
              <a:lnSpc>
                <a:spcPct val="100000"/>
              </a:lnSpc>
              <a:buNone/>
            </a:pPr>
            <a:r>
              <a:rPr lang="en-US" sz="1550" dirty="0">
                <a:solidFill>
                  <a:srgbClr val="12263A"/>
                </a:solidFill>
                <a:latin typeface="Calibri" pitchFamily="34" charset="0"/>
                <a:ea typeface="Calibri" pitchFamily="34" charset="-122"/>
                <a:cs typeface="Calibri" pitchFamily="34" charset="-120"/>
              </a:rPr>
              <a:t>An ML model exceeding transparent baselines</a:t>
            </a:r>
            <a:endParaRPr lang="en-US" sz="1550" dirty="0"/>
          </a:p>
        </p:txBody>
      </p:sp>
      <p:sp>
        <p:nvSpPr>
          <p:cNvPr id="33" name="Shape 31"/>
          <p:cNvSpPr/>
          <p:nvPr/>
        </p:nvSpPr>
        <p:spPr>
          <a:xfrm>
            <a:off x="571500" y="5905500"/>
            <a:ext cx="11049000" cy="495300"/>
          </a:xfrm>
          <a:prstGeom prst="roundRect">
            <a:avLst>
              <a:gd name="adj" fmla="val 7385"/>
            </a:avLst>
          </a:prstGeom>
          <a:solidFill>
            <a:srgbClr val="0E2440"/>
          </a:solidFill>
          <a:ln w="12700">
            <a:solidFill>
              <a:srgbClr val="0E2440"/>
            </a:solidFill>
            <a:prstDash val="solid"/>
          </a:ln>
        </p:spPr>
        <p:txBody>
          <a:bodyPr/>
          <a:lstStyle/>
          <a:p>
            <a:endParaRPr lang="en-IN"/>
          </a:p>
        </p:txBody>
      </p:sp>
      <p:sp>
        <p:nvSpPr>
          <p:cNvPr id="34" name="Text 32"/>
          <p:cNvSpPr/>
          <p:nvPr/>
        </p:nvSpPr>
        <p:spPr>
          <a:xfrm>
            <a:off x="781050" y="6019800"/>
            <a:ext cx="10668000" cy="219075"/>
          </a:xfrm>
          <a:prstGeom prst="rect">
            <a:avLst/>
          </a:prstGeom>
          <a:noFill/>
          <a:ln/>
        </p:spPr>
        <p:txBody>
          <a:bodyPr wrap="square" lIns="0" tIns="0" rIns="0" bIns="0" rtlCol="0" anchor="t">
            <a:normAutofit fontScale="77500" lnSpcReduction="20000"/>
          </a:bodyPr>
          <a:lstStyle/>
          <a:p>
            <a:pPr marL="0" indent="0" algn="l">
              <a:lnSpc>
                <a:spcPct val="100000"/>
              </a:lnSpc>
              <a:buNone/>
            </a:pPr>
            <a:r>
              <a:rPr lang="en-US" sz="1450" b="1" dirty="0">
                <a:solidFill>
                  <a:srgbClr val="FFFFFF"/>
                </a:solidFill>
                <a:latin typeface="Cambria" pitchFamily="34" charset="0"/>
                <a:ea typeface="Cambria" pitchFamily="34" charset="-122"/>
                <a:cs typeface="Cambria" pitchFamily="34" charset="-120"/>
              </a:rPr>
              <a:t>Contribution: a standards-aware, controlled S-plane benchmark that tests whether a learned model adds decision value before it is granted authority over recovery.</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STANDARDS FOLLOWED</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Telecom Standards and Profile Grounding</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020" dirty="0">
                <a:solidFill>
                  <a:srgbClr val="5B6B7C"/>
                </a:solidFill>
                <a:latin typeface="Calibri" pitchFamily="34" charset="0"/>
                <a:ea typeface="Calibri" pitchFamily="34" charset="-122"/>
                <a:cs typeface="Calibri" pitchFamily="34" charset="-120"/>
              </a:rPr>
              <a:t>Normative basis: IEEE Std 1588-2019  |  O-RAN.WG4.CUS.0  |  O-RAN WG11 Security Threat Modeling (ETSI TR 104 106 V3.0.0)  |  ITU-T G.8275.1</a:t>
            </a:r>
            <a:endParaRPr lang="en-US" sz="1020" dirty="0"/>
          </a:p>
          <a:p>
            <a:pPr marL="0" indent="0" algn="l">
              <a:lnSpc>
                <a:spcPct val="102000"/>
              </a:lnSpc>
              <a:buNone/>
            </a:pPr>
            <a:r>
              <a:rPr lang="en-US" sz="1020" dirty="0">
                <a:solidFill>
                  <a:srgbClr val="5B6B7C"/>
                </a:solidFill>
                <a:latin typeface="Calibri" pitchFamily="34" charset="0"/>
                <a:ea typeface="Calibri" pitchFamily="34" charset="-122"/>
                <a:cs typeface="Calibri" pitchFamily="34" charset="-120"/>
              </a:rPr>
              <a:t>Timing performance context: ITU-T G.8273.2  |  Frequency synchronization context: ITU-T G.8262 (SyncE, not implemented here)</a:t>
            </a:r>
            <a:endParaRPr lang="en-US" sz="1020" dirty="0"/>
          </a:p>
        </p:txBody>
      </p:sp>
      <p:sp>
        <p:nvSpPr>
          <p:cNvPr id="8" name="Text 6"/>
          <p:cNvSpPr/>
          <p:nvPr/>
        </p:nvSpPr>
        <p:spPr>
          <a:xfrm>
            <a:off x="666750" y="1657350"/>
            <a:ext cx="2333625"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AUTHORITY</a:t>
            </a:r>
            <a:endParaRPr lang="en-US" sz="1200" dirty="0"/>
          </a:p>
        </p:txBody>
      </p:sp>
      <p:sp>
        <p:nvSpPr>
          <p:cNvPr id="9" name="Text 7"/>
          <p:cNvSpPr/>
          <p:nvPr/>
        </p:nvSpPr>
        <p:spPr>
          <a:xfrm>
            <a:off x="3190875" y="1657350"/>
            <a:ext cx="3857625"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WHAT IT DEFINES</a:t>
            </a:r>
            <a:endParaRPr lang="en-US" sz="1200" dirty="0"/>
          </a:p>
        </p:txBody>
      </p:sp>
      <p:sp>
        <p:nvSpPr>
          <p:cNvPr id="10" name="Text 8"/>
          <p:cNvSpPr/>
          <p:nvPr/>
        </p:nvSpPr>
        <p:spPr>
          <a:xfrm>
            <a:off x="7334250" y="1657350"/>
            <a:ext cx="4000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HOW THIS PROJECT USES IT</a:t>
            </a:r>
            <a:endParaRPr lang="en-US" sz="1200" dirty="0"/>
          </a:p>
        </p:txBody>
      </p:sp>
      <p:sp>
        <p:nvSpPr>
          <p:cNvPr id="11" name="Shape 9"/>
          <p:cNvSpPr/>
          <p:nvPr/>
        </p:nvSpPr>
        <p:spPr>
          <a:xfrm>
            <a:off x="571500" y="1914525"/>
            <a:ext cx="11049000" cy="11430"/>
          </a:xfrm>
          <a:prstGeom prst="rect">
            <a:avLst/>
          </a:prstGeom>
          <a:solidFill>
            <a:srgbClr val="D7E1EA"/>
          </a:solidFill>
          <a:ln/>
        </p:spPr>
        <p:txBody>
          <a:bodyPr/>
          <a:lstStyle/>
          <a:p>
            <a:endParaRPr lang="en-IN"/>
          </a:p>
        </p:txBody>
      </p:sp>
      <p:sp>
        <p:nvSpPr>
          <p:cNvPr id="12" name="Text 10"/>
          <p:cNvSpPr/>
          <p:nvPr/>
        </p:nvSpPr>
        <p:spPr>
          <a:xfrm>
            <a:off x="666750" y="2114550"/>
            <a:ext cx="2333625" cy="45720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2263A"/>
                </a:solidFill>
                <a:latin typeface="Cambria" pitchFamily="34" charset="0"/>
                <a:ea typeface="Cambria" pitchFamily="34" charset="-122"/>
                <a:cs typeface="Cambria" pitchFamily="34" charset="-120"/>
              </a:rPr>
              <a:t>IEEE 1588-2019</a:t>
            </a:r>
            <a:endParaRPr lang="en-US" sz="1700" dirty="0"/>
          </a:p>
        </p:txBody>
      </p:sp>
      <p:sp>
        <p:nvSpPr>
          <p:cNvPr id="13" name="Text 11"/>
          <p:cNvSpPr/>
          <p:nvPr/>
        </p:nvSpPr>
        <p:spPr>
          <a:xfrm>
            <a:off x="3190875" y="2105025"/>
            <a:ext cx="38100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5B6B7C"/>
                </a:solidFill>
                <a:latin typeface="Calibri" pitchFamily="34" charset="0"/>
                <a:ea typeface="Calibri" pitchFamily="34" charset="-122"/>
                <a:cs typeface="Calibri" pitchFamily="34" charset="-120"/>
              </a:rPr>
              <a:t>Legal PTP message fields, data sets, clock behaviour and leap-second handling.</a:t>
            </a:r>
            <a:endParaRPr lang="en-US" sz="1460" dirty="0"/>
          </a:p>
        </p:txBody>
      </p:sp>
      <p:sp>
        <p:nvSpPr>
          <p:cNvPr id="14" name="Text 12"/>
          <p:cNvSpPr/>
          <p:nvPr/>
        </p:nvSpPr>
        <p:spPr>
          <a:xfrm>
            <a:off x="7334250" y="2105025"/>
            <a:ext cx="40005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12263A"/>
                </a:solidFill>
                <a:latin typeface="Calibri" pitchFamily="34" charset="0"/>
                <a:ea typeface="Calibri" pitchFamily="34" charset="-122"/>
                <a:cs typeface="Calibri" pitchFamily="34" charset="-120"/>
              </a:rPr>
              <a:t>ARM A checks field legality, sequence continuity and timePropertiesDS consistency.</a:t>
            </a:r>
            <a:endParaRPr lang="en-US" sz="1460" dirty="0"/>
          </a:p>
        </p:txBody>
      </p:sp>
      <p:sp>
        <p:nvSpPr>
          <p:cNvPr id="15" name="Shape 13"/>
          <p:cNvSpPr/>
          <p:nvPr/>
        </p:nvSpPr>
        <p:spPr>
          <a:xfrm>
            <a:off x="571500" y="2695575"/>
            <a:ext cx="11049000" cy="11430"/>
          </a:xfrm>
          <a:prstGeom prst="rect">
            <a:avLst/>
          </a:prstGeom>
          <a:solidFill>
            <a:srgbClr val="D7E1EA"/>
          </a:solidFill>
          <a:ln/>
        </p:spPr>
        <p:txBody>
          <a:bodyPr/>
          <a:lstStyle/>
          <a:p>
            <a:endParaRPr lang="en-IN"/>
          </a:p>
        </p:txBody>
      </p:sp>
      <p:sp>
        <p:nvSpPr>
          <p:cNvPr id="16" name="Text 14"/>
          <p:cNvSpPr/>
          <p:nvPr/>
        </p:nvSpPr>
        <p:spPr>
          <a:xfrm>
            <a:off x="666750" y="2838450"/>
            <a:ext cx="2333625" cy="45720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2263A"/>
                </a:solidFill>
                <a:latin typeface="Cambria" pitchFamily="34" charset="0"/>
                <a:ea typeface="Cambria" pitchFamily="34" charset="-122"/>
                <a:cs typeface="Cambria" pitchFamily="34" charset="-120"/>
              </a:rPr>
              <a:t>O-RAN.WG4.CUS.0</a:t>
            </a:r>
            <a:endParaRPr lang="en-US" sz="1700" dirty="0"/>
          </a:p>
        </p:txBody>
      </p:sp>
      <p:sp>
        <p:nvSpPr>
          <p:cNvPr id="17" name="Text 15"/>
          <p:cNvSpPr/>
          <p:nvPr/>
        </p:nvSpPr>
        <p:spPr>
          <a:xfrm>
            <a:off x="3190875" y="2828925"/>
            <a:ext cx="38100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5B6B7C"/>
                </a:solidFill>
                <a:latin typeface="Calibri" pitchFamily="34" charset="0"/>
                <a:ea typeface="Calibri" pitchFamily="34" charset="-122"/>
                <a:cs typeface="Calibri" pitchFamily="34" charset="-120"/>
              </a:rPr>
              <a:t>Open Fronthaul C/U/S-plane architecture and synchronization configurations.</a:t>
            </a:r>
            <a:endParaRPr lang="en-US" sz="1460" dirty="0"/>
          </a:p>
        </p:txBody>
      </p:sp>
      <p:sp>
        <p:nvSpPr>
          <p:cNvPr id="18" name="Text 16"/>
          <p:cNvSpPr/>
          <p:nvPr/>
        </p:nvSpPr>
        <p:spPr>
          <a:xfrm>
            <a:off x="7334250" y="2828925"/>
            <a:ext cx="40005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12263A"/>
                </a:solidFill>
                <a:latin typeface="Calibri" pitchFamily="34" charset="0"/>
                <a:ea typeface="Calibri" pitchFamily="34" charset="-122"/>
                <a:cs typeface="Calibri" pitchFamily="34" charset="-120"/>
              </a:rPr>
              <a:t>Defines the O-DU–O-RU S-plane boundary used by the experiment.</a:t>
            </a:r>
            <a:endParaRPr lang="en-US" sz="1460" dirty="0"/>
          </a:p>
        </p:txBody>
      </p:sp>
      <p:sp>
        <p:nvSpPr>
          <p:cNvPr id="19" name="Shape 17"/>
          <p:cNvSpPr/>
          <p:nvPr/>
        </p:nvSpPr>
        <p:spPr>
          <a:xfrm>
            <a:off x="571500" y="3419475"/>
            <a:ext cx="11049000" cy="11430"/>
          </a:xfrm>
          <a:prstGeom prst="rect">
            <a:avLst/>
          </a:prstGeom>
          <a:solidFill>
            <a:srgbClr val="D7E1EA"/>
          </a:solidFill>
          <a:ln/>
        </p:spPr>
        <p:txBody>
          <a:bodyPr/>
          <a:lstStyle/>
          <a:p>
            <a:endParaRPr lang="en-IN"/>
          </a:p>
        </p:txBody>
      </p:sp>
      <p:sp>
        <p:nvSpPr>
          <p:cNvPr id="20" name="Text 18"/>
          <p:cNvSpPr/>
          <p:nvPr/>
        </p:nvSpPr>
        <p:spPr>
          <a:xfrm>
            <a:off x="666750" y="3562350"/>
            <a:ext cx="2333625" cy="45720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2263A"/>
                </a:solidFill>
                <a:latin typeface="Cambria" pitchFamily="34" charset="0"/>
                <a:ea typeface="Cambria" pitchFamily="34" charset="-122"/>
                <a:cs typeface="Cambria" pitchFamily="34" charset="-120"/>
              </a:rPr>
              <a:t>O-RAN WG11</a:t>
            </a:r>
            <a:endParaRPr lang="en-US" sz="1700" dirty="0"/>
          </a:p>
        </p:txBody>
      </p:sp>
      <p:sp>
        <p:nvSpPr>
          <p:cNvPr id="21" name="Text 19"/>
          <p:cNvSpPr/>
          <p:nvPr/>
        </p:nvSpPr>
        <p:spPr>
          <a:xfrm>
            <a:off x="3190875" y="3552825"/>
            <a:ext cx="38100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5B6B7C"/>
                </a:solidFill>
                <a:latin typeface="Calibri" pitchFamily="34" charset="0"/>
                <a:ea typeface="Calibri" pitchFamily="34" charset="-122"/>
                <a:cs typeface="Calibri" pitchFamily="34" charset="-120"/>
              </a:rPr>
              <a:t>Open Fronthaul threat model, including malicious timing-source behaviour.</a:t>
            </a:r>
            <a:endParaRPr lang="en-US" sz="1460" dirty="0"/>
          </a:p>
        </p:txBody>
      </p:sp>
      <p:sp>
        <p:nvSpPr>
          <p:cNvPr id="22" name="Text 20"/>
          <p:cNvSpPr/>
          <p:nvPr/>
        </p:nvSpPr>
        <p:spPr>
          <a:xfrm>
            <a:off x="7334250" y="3552825"/>
            <a:ext cx="40005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12263A"/>
                </a:solidFill>
                <a:latin typeface="Calibri" pitchFamily="34" charset="0"/>
                <a:ea typeface="Calibri" pitchFamily="34" charset="-122"/>
                <a:cs typeface="Calibri" pitchFamily="34" charset="-120"/>
              </a:rPr>
              <a:t>Supplies the threat identifiers that label the attack scenarios.</a:t>
            </a:r>
            <a:endParaRPr lang="en-US" sz="1460" dirty="0"/>
          </a:p>
        </p:txBody>
      </p:sp>
      <p:sp>
        <p:nvSpPr>
          <p:cNvPr id="23" name="Shape 21"/>
          <p:cNvSpPr/>
          <p:nvPr/>
        </p:nvSpPr>
        <p:spPr>
          <a:xfrm>
            <a:off x="571500" y="4143375"/>
            <a:ext cx="11049000" cy="11430"/>
          </a:xfrm>
          <a:prstGeom prst="rect">
            <a:avLst/>
          </a:prstGeom>
          <a:solidFill>
            <a:srgbClr val="D7E1EA"/>
          </a:solidFill>
          <a:ln/>
        </p:spPr>
        <p:txBody>
          <a:bodyPr/>
          <a:lstStyle/>
          <a:p>
            <a:endParaRPr lang="en-IN"/>
          </a:p>
        </p:txBody>
      </p:sp>
      <p:sp>
        <p:nvSpPr>
          <p:cNvPr id="24" name="Text 22"/>
          <p:cNvSpPr/>
          <p:nvPr/>
        </p:nvSpPr>
        <p:spPr>
          <a:xfrm>
            <a:off x="666750" y="4286250"/>
            <a:ext cx="2333625" cy="45720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2263A"/>
                </a:solidFill>
                <a:latin typeface="Cambria" pitchFamily="34" charset="0"/>
                <a:ea typeface="Cambria" pitchFamily="34" charset="-122"/>
                <a:cs typeface="Cambria" pitchFamily="34" charset="-120"/>
              </a:rPr>
              <a:t>ITU-T G.8275.1</a:t>
            </a:r>
            <a:endParaRPr lang="en-US" sz="1700" dirty="0"/>
          </a:p>
        </p:txBody>
      </p:sp>
      <p:sp>
        <p:nvSpPr>
          <p:cNvPr id="25" name="Text 23"/>
          <p:cNvSpPr/>
          <p:nvPr/>
        </p:nvSpPr>
        <p:spPr>
          <a:xfrm>
            <a:off x="3190875" y="4276725"/>
            <a:ext cx="38100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5B6B7C"/>
                </a:solidFill>
                <a:latin typeface="Calibri" pitchFamily="34" charset="0"/>
                <a:ea typeface="Calibri" pitchFamily="34" charset="-122"/>
                <a:cs typeface="Calibri" pitchFamily="34" charset="-120"/>
              </a:rPr>
              <a:t>Telecom PTP profile for phase and time distribution with full timing support.</a:t>
            </a:r>
            <a:endParaRPr lang="en-US" sz="1460" dirty="0"/>
          </a:p>
        </p:txBody>
      </p:sp>
      <p:sp>
        <p:nvSpPr>
          <p:cNvPr id="26" name="Text 24"/>
          <p:cNvSpPr/>
          <p:nvPr/>
        </p:nvSpPr>
        <p:spPr>
          <a:xfrm>
            <a:off x="7334250" y="4276725"/>
            <a:ext cx="40005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12263A"/>
                </a:solidFill>
                <a:latin typeface="Calibri" pitchFamily="34" charset="0"/>
                <a:ea typeface="Calibri" pitchFamily="34" charset="-122"/>
                <a:cs typeface="Calibri" pitchFamily="34" charset="-120"/>
              </a:rPr>
              <a:t>Fixes domain, message rates, transport and the alternate BMCA used by the testbed.</a:t>
            </a:r>
            <a:endParaRPr lang="en-US" sz="1460" dirty="0"/>
          </a:p>
        </p:txBody>
      </p:sp>
      <p:sp>
        <p:nvSpPr>
          <p:cNvPr id="27" name="Shape 25"/>
          <p:cNvSpPr/>
          <p:nvPr/>
        </p:nvSpPr>
        <p:spPr>
          <a:xfrm>
            <a:off x="571500" y="4867275"/>
            <a:ext cx="11049000" cy="11430"/>
          </a:xfrm>
          <a:prstGeom prst="rect">
            <a:avLst/>
          </a:prstGeom>
          <a:solidFill>
            <a:srgbClr val="D7E1EA"/>
          </a:solidFill>
          <a:ln/>
        </p:spPr>
        <p:txBody>
          <a:bodyPr/>
          <a:lstStyle/>
          <a:p>
            <a:endParaRPr lang="en-IN"/>
          </a:p>
        </p:txBody>
      </p:sp>
      <p:sp>
        <p:nvSpPr>
          <p:cNvPr id="28" name="Text 26"/>
          <p:cNvSpPr/>
          <p:nvPr/>
        </p:nvSpPr>
        <p:spPr>
          <a:xfrm>
            <a:off x="666750" y="5010150"/>
            <a:ext cx="2333625" cy="45720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2263A"/>
                </a:solidFill>
                <a:latin typeface="Cambria" pitchFamily="34" charset="0"/>
                <a:ea typeface="Cambria" pitchFamily="34" charset="-122"/>
                <a:cs typeface="Cambria" pitchFamily="34" charset="-120"/>
              </a:rPr>
              <a:t>ITU-T G.8273.2</a:t>
            </a:r>
            <a:endParaRPr lang="en-US" sz="1700" dirty="0"/>
          </a:p>
        </p:txBody>
      </p:sp>
      <p:sp>
        <p:nvSpPr>
          <p:cNvPr id="29" name="Text 27"/>
          <p:cNvSpPr/>
          <p:nvPr/>
        </p:nvSpPr>
        <p:spPr>
          <a:xfrm>
            <a:off x="3190875" y="5000625"/>
            <a:ext cx="38100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5B6B7C"/>
                </a:solidFill>
                <a:latin typeface="Calibri" pitchFamily="34" charset="0"/>
                <a:ea typeface="Calibri" pitchFamily="34" charset="-122"/>
                <a:cs typeface="Calibri" pitchFamily="34" charset="-120"/>
              </a:rPr>
              <a:t>Timing characteristics and limits for telecom boundary clocks.</a:t>
            </a:r>
            <a:endParaRPr lang="en-US" sz="1460" dirty="0"/>
          </a:p>
        </p:txBody>
      </p:sp>
      <p:sp>
        <p:nvSpPr>
          <p:cNvPr id="30" name="Text 28"/>
          <p:cNvSpPr/>
          <p:nvPr/>
        </p:nvSpPr>
        <p:spPr>
          <a:xfrm>
            <a:off x="7334250" y="5000625"/>
            <a:ext cx="4000500" cy="533400"/>
          </a:xfrm>
          <a:prstGeom prst="rect">
            <a:avLst/>
          </a:prstGeom>
          <a:noFill/>
          <a:ln/>
        </p:spPr>
        <p:txBody>
          <a:bodyPr wrap="square" lIns="0" tIns="0" rIns="0" bIns="0" rtlCol="0" anchor="t">
            <a:normAutofit/>
          </a:bodyPr>
          <a:lstStyle/>
          <a:p>
            <a:pPr marL="0" indent="0" algn="l">
              <a:lnSpc>
                <a:spcPct val="100000"/>
              </a:lnSpc>
              <a:buNone/>
            </a:pPr>
            <a:r>
              <a:rPr lang="en-US" sz="1460" dirty="0">
                <a:solidFill>
                  <a:srgbClr val="12263A"/>
                </a:solidFill>
                <a:latin typeface="Calibri" pitchFamily="34" charset="0"/>
                <a:ea typeface="Calibri" pitchFamily="34" charset="-122"/>
                <a:cs typeface="Calibri" pitchFamily="34" charset="-120"/>
              </a:rPr>
              <a:t>Provides performance context for interpreting timing-quality evidence.</a:t>
            </a:r>
            <a:endParaRPr lang="en-US" sz="1460" dirty="0"/>
          </a:p>
        </p:txBody>
      </p:sp>
      <p:sp>
        <p:nvSpPr>
          <p:cNvPr id="31" name="Shape 29"/>
          <p:cNvSpPr/>
          <p:nvPr/>
        </p:nvSpPr>
        <p:spPr>
          <a:xfrm>
            <a:off x="571500" y="5591175"/>
            <a:ext cx="11049000" cy="11430"/>
          </a:xfrm>
          <a:prstGeom prst="rect">
            <a:avLst/>
          </a:prstGeom>
          <a:solidFill>
            <a:srgbClr val="D7E1EA"/>
          </a:solidFill>
          <a:ln/>
        </p:spPr>
        <p:txBody>
          <a:bodyPr/>
          <a:lstStyle/>
          <a:p>
            <a:endParaRPr lang="en-IN"/>
          </a:p>
        </p:txBody>
      </p:sp>
      <p:sp>
        <p:nvSpPr>
          <p:cNvPr id="32" name="Shape 30"/>
          <p:cNvSpPr/>
          <p:nvPr/>
        </p:nvSpPr>
        <p:spPr>
          <a:xfrm>
            <a:off x="571500" y="5753100"/>
            <a:ext cx="11049000" cy="685800"/>
          </a:xfrm>
          <a:prstGeom prst="roundRect">
            <a:avLst>
              <a:gd name="adj" fmla="val 5333"/>
            </a:avLst>
          </a:prstGeom>
          <a:solidFill>
            <a:srgbClr val="FFF8E8"/>
          </a:solidFill>
          <a:ln w="12700">
            <a:solidFill>
              <a:srgbClr val="C58B18"/>
            </a:solidFill>
            <a:prstDash val="solid"/>
          </a:ln>
        </p:spPr>
        <p:txBody>
          <a:bodyPr/>
          <a:lstStyle/>
          <a:p>
            <a:endParaRPr lang="en-IN"/>
          </a:p>
        </p:txBody>
      </p:sp>
      <p:sp>
        <p:nvSpPr>
          <p:cNvPr id="33" name="Text 31"/>
          <p:cNvSpPr/>
          <p:nvPr/>
        </p:nvSpPr>
        <p:spPr>
          <a:xfrm>
            <a:off x="781050" y="589597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Scope disclosure</a:t>
            </a:r>
            <a:endParaRPr lang="en-US" sz="1600" dirty="0"/>
          </a:p>
        </p:txBody>
      </p:sp>
      <p:sp>
        <p:nvSpPr>
          <p:cNvPr id="34" name="Text 32"/>
          <p:cNvSpPr/>
          <p:nvPr/>
        </p:nvSpPr>
        <p:spPr>
          <a:xfrm>
            <a:off x="2781300" y="5876925"/>
            <a:ext cx="8629650" cy="45720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12263A"/>
                </a:solidFill>
                <a:latin typeface="Calibri" pitchFamily="34" charset="0"/>
                <a:ea typeface="Calibri" pitchFamily="34" charset="-122"/>
                <a:cs typeface="Calibri" pitchFamily="34" charset="-120"/>
              </a:rPr>
              <a:t>The testbed exercised PTP only; SyncE is a physical-layer function and was not implemented. ITU-T recommendations are paywalled, so several values were confirmed against authoritative secondary sources, as recorded in the project workbooks.</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EXPERIMENTAL CONFIGURATION</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Open Fronthaul Timing Testbed Architecture</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linuxptp v4.0 (released 2023-06-09), reference implementation of IEEE 1588-2019 and ITU-T G.8275.1  |  Linux network namespaces, veth pairs and software bridges  |  tcpdump packet capture</a:t>
            </a:r>
            <a:endParaRPr lang="en-US" sz="1120" dirty="0"/>
          </a:p>
        </p:txBody>
      </p:sp>
      <p:sp>
        <p:nvSpPr>
          <p:cNvPr id="8" name="Text 6"/>
          <p:cNvSpPr/>
          <p:nvPr/>
        </p:nvSpPr>
        <p:spPr>
          <a:xfrm>
            <a:off x="571500" y="1638300"/>
            <a:ext cx="11049000" cy="381000"/>
          </a:xfrm>
          <a:prstGeom prst="rect">
            <a:avLst/>
          </a:prstGeom>
          <a:noFill/>
          <a:ln/>
        </p:spPr>
        <p:txBody>
          <a:bodyPr wrap="square" lIns="0" tIns="0" rIns="0" bIns="0" rtlCol="0" anchor="t">
            <a:normAutofit/>
          </a:bodyPr>
          <a:lstStyle/>
          <a:p>
            <a:pPr marL="0" indent="0" algn="l">
              <a:lnSpc>
                <a:spcPct val="100000"/>
              </a:lnSpc>
              <a:buNone/>
            </a:pPr>
            <a:r>
              <a:rPr lang="en-US" sz="1500" dirty="0">
                <a:solidFill>
                  <a:srgbClr val="5B6B7C"/>
                </a:solidFill>
                <a:latin typeface="Calibri" pitchFamily="34" charset="0"/>
                <a:ea typeface="Calibri" pitchFamily="34" charset="-122"/>
                <a:cs typeface="Calibri" pitchFamily="34" charset="-120"/>
              </a:rPr>
              <a:t>Six genuine linuxptp 4.0 daemons in isolated Linux network namespaces across two bridged segments. All protocol behaviour — BMCA election, servo control, message cadence — is executed by real daemons, not simulated.</a:t>
            </a:r>
            <a:endParaRPr lang="en-US" sz="1500" dirty="0"/>
          </a:p>
        </p:txBody>
      </p:sp>
      <p:sp>
        <p:nvSpPr>
          <p:cNvPr id="9" name="Shape 7"/>
          <p:cNvSpPr/>
          <p:nvPr/>
        </p:nvSpPr>
        <p:spPr>
          <a:xfrm>
            <a:off x="571500" y="2266950"/>
            <a:ext cx="11049000" cy="2438400"/>
          </a:xfrm>
          <a:prstGeom prst="roundRect">
            <a:avLst>
              <a:gd name="adj" fmla="val 1500"/>
            </a:avLst>
          </a:prstGeom>
          <a:solidFill>
            <a:srgbClr val="FFFFFF"/>
          </a:solidFill>
          <a:ln w="12700">
            <a:solidFill>
              <a:srgbClr val="D7E1EA"/>
            </a:solidFill>
            <a:prstDash val="solid"/>
          </a:ln>
        </p:spPr>
        <p:txBody>
          <a:bodyPr/>
          <a:lstStyle/>
          <a:p>
            <a:endParaRPr lang="en-IN"/>
          </a:p>
        </p:txBody>
      </p:sp>
      <p:sp>
        <p:nvSpPr>
          <p:cNvPr id="10" name="Shape 8"/>
          <p:cNvSpPr/>
          <p:nvPr/>
        </p:nvSpPr>
        <p:spPr>
          <a:xfrm>
            <a:off x="914400" y="2495550"/>
            <a:ext cx="1600200" cy="685800"/>
          </a:xfrm>
          <a:prstGeom prst="roundRect">
            <a:avLst>
              <a:gd name="adj" fmla="val 5333"/>
            </a:avLst>
          </a:prstGeom>
          <a:solidFill>
            <a:srgbClr val="EAF2F8"/>
          </a:solidFill>
          <a:ln w="12700">
            <a:solidFill>
              <a:srgbClr val="D7E1EA"/>
            </a:solidFill>
            <a:prstDash val="solid"/>
          </a:ln>
        </p:spPr>
        <p:txBody>
          <a:bodyPr/>
          <a:lstStyle/>
          <a:p>
            <a:endParaRPr lang="en-IN"/>
          </a:p>
        </p:txBody>
      </p:sp>
      <p:sp>
        <p:nvSpPr>
          <p:cNvPr id="11" name="Text 9"/>
          <p:cNvSpPr/>
          <p:nvPr/>
        </p:nvSpPr>
        <p:spPr>
          <a:xfrm>
            <a:off x="914400" y="2628900"/>
            <a:ext cx="1600200" cy="228600"/>
          </a:xfrm>
          <a:prstGeom prst="rect">
            <a:avLst/>
          </a:prstGeom>
          <a:noFill/>
          <a:ln/>
        </p:spPr>
        <p:txBody>
          <a:bodyPr wrap="square" lIns="0" tIns="0" rIns="0" bIns="0" rtlCol="0" anchor="t">
            <a:normAutofit/>
          </a:bodyPr>
          <a:lstStyle/>
          <a:p>
            <a:pPr marL="0" indent="0" algn="ctr">
              <a:lnSpc>
                <a:spcPct val="100000"/>
              </a:lnSpc>
              <a:buNone/>
            </a:pPr>
            <a:r>
              <a:rPr lang="en-US" sz="1600" b="1" dirty="0">
                <a:solidFill>
                  <a:srgbClr val="12263A"/>
                </a:solidFill>
                <a:latin typeface="Cambria" pitchFamily="34" charset="0"/>
                <a:ea typeface="Cambria" pitchFamily="34" charset="-122"/>
                <a:cs typeface="Cambria" pitchFamily="34" charset="-120"/>
              </a:rPr>
              <a:t>GM-A</a:t>
            </a:r>
            <a:endParaRPr lang="en-US" sz="1600" dirty="0"/>
          </a:p>
        </p:txBody>
      </p:sp>
      <p:sp>
        <p:nvSpPr>
          <p:cNvPr id="12" name="Text 10"/>
          <p:cNvSpPr/>
          <p:nvPr/>
        </p:nvSpPr>
        <p:spPr>
          <a:xfrm>
            <a:off x="914400" y="2876550"/>
            <a:ext cx="1600200" cy="1905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5B6B7C"/>
                </a:solidFill>
                <a:latin typeface="Calibri" pitchFamily="34" charset="0"/>
                <a:ea typeface="Calibri" pitchFamily="34" charset="-122"/>
                <a:cs typeface="Calibri" pitchFamily="34" charset="-120"/>
              </a:rPr>
              <a:t>grandmaster</a:t>
            </a:r>
            <a:endParaRPr lang="en-US" sz="1100" dirty="0"/>
          </a:p>
        </p:txBody>
      </p:sp>
      <p:sp>
        <p:nvSpPr>
          <p:cNvPr id="13" name="Shape 11"/>
          <p:cNvSpPr/>
          <p:nvPr/>
        </p:nvSpPr>
        <p:spPr>
          <a:xfrm>
            <a:off x="914400" y="3486150"/>
            <a:ext cx="1600200" cy="685800"/>
          </a:xfrm>
          <a:prstGeom prst="roundRect">
            <a:avLst>
              <a:gd name="adj" fmla="val 5333"/>
            </a:avLst>
          </a:prstGeom>
          <a:solidFill>
            <a:srgbClr val="EAF2F8"/>
          </a:solidFill>
          <a:ln w="12700">
            <a:solidFill>
              <a:srgbClr val="D7E1EA"/>
            </a:solidFill>
            <a:prstDash val="solid"/>
          </a:ln>
        </p:spPr>
        <p:txBody>
          <a:bodyPr/>
          <a:lstStyle/>
          <a:p>
            <a:endParaRPr lang="en-IN"/>
          </a:p>
        </p:txBody>
      </p:sp>
      <p:sp>
        <p:nvSpPr>
          <p:cNvPr id="14" name="Text 12"/>
          <p:cNvSpPr/>
          <p:nvPr/>
        </p:nvSpPr>
        <p:spPr>
          <a:xfrm>
            <a:off x="914400" y="3619500"/>
            <a:ext cx="1600200" cy="228600"/>
          </a:xfrm>
          <a:prstGeom prst="rect">
            <a:avLst/>
          </a:prstGeom>
          <a:noFill/>
          <a:ln/>
        </p:spPr>
        <p:txBody>
          <a:bodyPr wrap="square" lIns="0" tIns="0" rIns="0" bIns="0" rtlCol="0" anchor="t">
            <a:normAutofit/>
          </a:bodyPr>
          <a:lstStyle/>
          <a:p>
            <a:pPr marL="0" indent="0" algn="ctr">
              <a:lnSpc>
                <a:spcPct val="100000"/>
              </a:lnSpc>
              <a:buNone/>
            </a:pPr>
            <a:r>
              <a:rPr lang="en-US" sz="1600" b="1" dirty="0">
                <a:solidFill>
                  <a:srgbClr val="12263A"/>
                </a:solidFill>
                <a:latin typeface="Cambria" pitchFamily="34" charset="0"/>
                <a:ea typeface="Cambria" pitchFamily="34" charset="-122"/>
                <a:cs typeface="Cambria" pitchFamily="34" charset="-120"/>
              </a:rPr>
              <a:t>GM-B</a:t>
            </a:r>
            <a:endParaRPr lang="en-US" sz="1600" dirty="0"/>
          </a:p>
        </p:txBody>
      </p:sp>
      <p:sp>
        <p:nvSpPr>
          <p:cNvPr id="15" name="Text 13"/>
          <p:cNvSpPr/>
          <p:nvPr/>
        </p:nvSpPr>
        <p:spPr>
          <a:xfrm>
            <a:off x="914400" y="3867150"/>
            <a:ext cx="1600200" cy="1905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5B6B7C"/>
                </a:solidFill>
                <a:latin typeface="Calibri" pitchFamily="34" charset="0"/>
                <a:ea typeface="Calibri" pitchFamily="34" charset="-122"/>
                <a:cs typeface="Calibri" pitchFamily="34" charset="-120"/>
              </a:rPr>
              <a:t>backup GM</a:t>
            </a:r>
            <a:endParaRPr lang="en-US" sz="1100" dirty="0"/>
          </a:p>
        </p:txBody>
      </p:sp>
      <p:sp>
        <p:nvSpPr>
          <p:cNvPr id="16" name="Shape 14"/>
          <p:cNvSpPr/>
          <p:nvPr/>
        </p:nvSpPr>
        <p:spPr>
          <a:xfrm>
            <a:off x="2857500" y="2495550"/>
            <a:ext cx="247650" cy="1676400"/>
          </a:xfrm>
          <a:prstGeom prst="roundRect">
            <a:avLst>
              <a:gd name="adj" fmla="val 14769"/>
            </a:avLst>
          </a:prstGeom>
          <a:solidFill>
            <a:srgbClr val="18B89A"/>
          </a:solidFill>
          <a:ln w="12700">
            <a:solidFill>
              <a:srgbClr val="18B89A"/>
            </a:solidFill>
            <a:prstDash val="solid"/>
          </a:ln>
        </p:spPr>
        <p:txBody>
          <a:bodyPr/>
          <a:lstStyle/>
          <a:p>
            <a:endParaRPr lang="en-IN"/>
          </a:p>
        </p:txBody>
      </p:sp>
      <p:sp>
        <p:nvSpPr>
          <p:cNvPr id="17" name="Text 15"/>
          <p:cNvSpPr/>
          <p:nvPr/>
        </p:nvSpPr>
        <p:spPr>
          <a:xfrm>
            <a:off x="2857500" y="3219450"/>
            <a:ext cx="247650" cy="1905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FFFFFF"/>
                </a:solidFill>
                <a:latin typeface="Calibri" pitchFamily="34" charset="0"/>
                <a:ea typeface="Calibri" pitchFamily="34" charset="-122"/>
                <a:cs typeface="Calibri" pitchFamily="34" charset="-120"/>
              </a:rPr>
              <a:t>brUP</a:t>
            </a:r>
            <a:endParaRPr lang="en-US" sz="950" dirty="0"/>
          </a:p>
        </p:txBody>
      </p:sp>
      <p:sp>
        <p:nvSpPr>
          <p:cNvPr id="18" name="Shape 16"/>
          <p:cNvSpPr/>
          <p:nvPr/>
        </p:nvSpPr>
        <p:spPr>
          <a:xfrm>
            <a:off x="3543300" y="2990850"/>
            <a:ext cx="1714500" cy="685800"/>
          </a:xfrm>
          <a:prstGeom prst="roundRect">
            <a:avLst>
              <a:gd name="adj" fmla="val 5333"/>
            </a:avLst>
          </a:prstGeom>
          <a:solidFill>
            <a:srgbClr val="0E2440"/>
          </a:solidFill>
          <a:ln w="12700">
            <a:solidFill>
              <a:srgbClr val="0E2440"/>
            </a:solidFill>
            <a:prstDash val="solid"/>
          </a:ln>
        </p:spPr>
        <p:txBody>
          <a:bodyPr/>
          <a:lstStyle/>
          <a:p>
            <a:endParaRPr lang="en-IN"/>
          </a:p>
        </p:txBody>
      </p:sp>
      <p:sp>
        <p:nvSpPr>
          <p:cNvPr id="19" name="Text 17"/>
          <p:cNvSpPr/>
          <p:nvPr/>
        </p:nvSpPr>
        <p:spPr>
          <a:xfrm>
            <a:off x="3543300" y="3124200"/>
            <a:ext cx="1714500" cy="228600"/>
          </a:xfrm>
          <a:prstGeom prst="rect">
            <a:avLst/>
          </a:prstGeom>
          <a:noFill/>
          <a:ln/>
        </p:spPr>
        <p:txBody>
          <a:bodyPr wrap="square" lIns="0" tIns="0" rIns="0" bIns="0" rtlCol="0" anchor="t">
            <a:normAutofit/>
          </a:bodyPr>
          <a:lstStyle/>
          <a:p>
            <a:pPr marL="0" indent="0" algn="ctr">
              <a:lnSpc>
                <a:spcPct val="100000"/>
              </a:lnSpc>
              <a:buNone/>
            </a:pPr>
            <a:r>
              <a:rPr lang="en-US" sz="1600" b="1" dirty="0">
                <a:solidFill>
                  <a:srgbClr val="FFFFFF"/>
                </a:solidFill>
                <a:latin typeface="Cambria" pitchFamily="34" charset="0"/>
                <a:ea typeface="Cambria" pitchFamily="34" charset="-122"/>
                <a:cs typeface="Cambria" pitchFamily="34" charset="-120"/>
              </a:rPr>
              <a:t>BC</a:t>
            </a:r>
            <a:endParaRPr lang="en-US" sz="1600" dirty="0"/>
          </a:p>
        </p:txBody>
      </p:sp>
      <p:sp>
        <p:nvSpPr>
          <p:cNvPr id="20" name="Text 18"/>
          <p:cNvSpPr/>
          <p:nvPr/>
        </p:nvSpPr>
        <p:spPr>
          <a:xfrm>
            <a:off x="3543300" y="3371850"/>
            <a:ext cx="1714500" cy="1905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CFD9E5"/>
                </a:solidFill>
                <a:latin typeface="Calibri" pitchFamily="34" charset="0"/>
                <a:ea typeface="Calibri" pitchFamily="34" charset="-122"/>
                <a:cs typeface="Calibri" pitchFamily="34" charset="-120"/>
              </a:rPr>
              <a:t>boundary clock</a:t>
            </a:r>
            <a:endParaRPr lang="en-US" sz="1100" dirty="0"/>
          </a:p>
        </p:txBody>
      </p:sp>
      <p:sp>
        <p:nvSpPr>
          <p:cNvPr id="21" name="Shape 19"/>
          <p:cNvSpPr/>
          <p:nvPr/>
        </p:nvSpPr>
        <p:spPr>
          <a:xfrm>
            <a:off x="5619750" y="2495550"/>
            <a:ext cx="247650" cy="1676400"/>
          </a:xfrm>
          <a:prstGeom prst="roundRect">
            <a:avLst>
              <a:gd name="adj" fmla="val 14769"/>
            </a:avLst>
          </a:prstGeom>
          <a:solidFill>
            <a:srgbClr val="18B89A"/>
          </a:solidFill>
          <a:ln w="12700">
            <a:solidFill>
              <a:srgbClr val="18B89A"/>
            </a:solidFill>
            <a:prstDash val="solid"/>
          </a:ln>
        </p:spPr>
        <p:txBody>
          <a:bodyPr/>
          <a:lstStyle/>
          <a:p>
            <a:endParaRPr lang="en-IN"/>
          </a:p>
        </p:txBody>
      </p:sp>
      <p:sp>
        <p:nvSpPr>
          <p:cNvPr id="22" name="Text 20"/>
          <p:cNvSpPr/>
          <p:nvPr/>
        </p:nvSpPr>
        <p:spPr>
          <a:xfrm>
            <a:off x="5619750" y="3219450"/>
            <a:ext cx="247650" cy="1905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FFFFFF"/>
                </a:solidFill>
                <a:latin typeface="Calibri" pitchFamily="34" charset="0"/>
                <a:ea typeface="Calibri" pitchFamily="34" charset="-122"/>
                <a:cs typeface="Calibri" pitchFamily="34" charset="-120"/>
              </a:rPr>
              <a:t>brDN</a:t>
            </a:r>
            <a:endParaRPr lang="en-US" sz="950" dirty="0"/>
          </a:p>
        </p:txBody>
      </p:sp>
      <p:sp>
        <p:nvSpPr>
          <p:cNvPr id="23" name="Shape 21"/>
          <p:cNvSpPr/>
          <p:nvPr/>
        </p:nvSpPr>
        <p:spPr>
          <a:xfrm>
            <a:off x="6324600" y="2419350"/>
            <a:ext cx="1600200" cy="628650"/>
          </a:xfrm>
          <a:prstGeom prst="roundRect">
            <a:avLst>
              <a:gd name="adj" fmla="val 5818"/>
            </a:avLst>
          </a:prstGeom>
          <a:solidFill>
            <a:srgbClr val="FFFFFF"/>
          </a:solidFill>
          <a:ln w="12700">
            <a:solidFill>
              <a:srgbClr val="D7E1EA"/>
            </a:solidFill>
            <a:prstDash val="solid"/>
          </a:ln>
        </p:spPr>
        <p:txBody>
          <a:bodyPr/>
          <a:lstStyle/>
          <a:p>
            <a:endParaRPr lang="en-IN"/>
          </a:p>
        </p:txBody>
      </p:sp>
      <p:sp>
        <p:nvSpPr>
          <p:cNvPr id="24" name="Text 22"/>
          <p:cNvSpPr/>
          <p:nvPr/>
        </p:nvSpPr>
        <p:spPr>
          <a:xfrm>
            <a:off x="6324600" y="2524125"/>
            <a:ext cx="1600200" cy="228600"/>
          </a:xfrm>
          <a:prstGeom prst="rect">
            <a:avLst/>
          </a:prstGeom>
          <a:noFill/>
          <a:ln/>
        </p:spPr>
        <p:txBody>
          <a:bodyPr wrap="square" lIns="0" tIns="0" rIns="0" bIns="0" rtlCol="0" anchor="t">
            <a:normAutofit/>
          </a:bodyPr>
          <a:lstStyle/>
          <a:p>
            <a:pPr marL="0" indent="0" algn="ctr">
              <a:lnSpc>
                <a:spcPct val="100000"/>
              </a:lnSpc>
              <a:buNone/>
            </a:pPr>
            <a:r>
              <a:rPr lang="en-US" sz="1600" b="1" dirty="0">
                <a:solidFill>
                  <a:srgbClr val="12263A"/>
                </a:solidFill>
                <a:latin typeface="Cambria" pitchFamily="34" charset="0"/>
                <a:ea typeface="Cambria" pitchFamily="34" charset="-122"/>
                <a:cs typeface="Cambria" pitchFamily="34" charset="-120"/>
              </a:rPr>
              <a:t>RU1</a:t>
            </a:r>
            <a:endParaRPr lang="en-US" sz="1600" dirty="0"/>
          </a:p>
        </p:txBody>
      </p:sp>
      <p:sp>
        <p:nvSpPr>
          <p:cNvPr id="25" name="Text 23"/>
          <p:cNvSpPr/>
          <p:nvPr/>
        </p:nvSpPr>
        <p:spPr>
          <a:xfrm>
            <a:off x="6324600" y="2771775"/>
            <a:ext cx="1600200" cy="1905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5B6B7C"/>
                </a:solidFill>
                <a:latin typeface="Calibri" pitchFamily="34" charset="0"/>
                <a:ea typeface="Calibri" pitchFamily="34" charset="-122"/>
                <a:cs typeface="Calibri" pitchFamily="34" charset="-120"/>
              </a:rPr>
              <a:t>radio unit</a:t>
            </a:r>
            <a:endParaRPr lang="en-US" sz="1100" dirty="0"/>
          </a:p>
        </p:txBody>
      </p:sp>
      <p:sp>
        <p:nvSpPr>
          <p:cNvPr id="26" name="Shape 24"/>
          <p:cNvSpPr/>
          <p:nvPr/>
        </p:nvSpPr>
        <p:spPr>
          <a:xfrm>
            <a:off x="6324600" y="3181350"/>
            <a:ext cx="1600200" cy="628650"/>
          </a:xfrm>
          <a:prstGeom prst="roundRect">
            <a:avLst>
              <a:gd name="adj" fmla="val 5818"/>
            </a:avLst>
          </a:prstGeom>
          <a:solidFill>
            <a:srgbClr val="FFFFFF"/>
          </a:solidFill>
          <a:ln w="12700">
            <a:solidFill>
              <a:srgbClr val="D7E1EA"/>
            </a:solidFill>
            <a:prstDash val="solid"/>
          </a:ln>
        </p:spPr>
        <p:txBody>
          <a:bodyPr/>
          <a:lstStyle/>
          <a:p>
            <a:endParaRPr lang="en-IN"/>
          </a:p>
        </p:txBody>
      </p:sp>
      <p:sp>
        <p:nvSpPr>
          <p:cNvPr id="27" name="Text 25"/>
          <p:cNvSpPr/>
          <p:nvPr/>
        </p:nvSpPr>
        <p:spPr>
          <a:xfrm>
            <a:off x="6324600" y="3286125"/>
            <a:ext cx="1600200" cy="228600"/>
          </a:xfrm>
          <a:prstGeom prst="rect">
            <a:avLst/>
          </a:prstGeom>
          <a:noFill/>
          <a:ln/>
        </p:spPr>
        <p:txBody>
          <a:bodyPr wrap="square" lIns="0" tIns="0" rIns="0" bIns="0" rtlCol="0" anchor="t">
            <a:normAutofit/>
          </a:bodyPr>
          <a:lstStyle/>
          <a:p>
            <a:pPr marL="0" indent="0" algn="ctr">
              <a:lnSpc>
                <a:spcPct val="100000"/>
              </a:lnSpc>
              <a:buNone/>
            </a:pPr>
            <a:r>
              <a:rPr lang="en-US" sz="1600" b="1" dirty="0">
                <a:solidFill>
                  <a:srgbClr val="12263A"/>
                </a:solidFill>
                <a:latin typeface="Cambria" pitchFamily="34" charset="0"/>
                <a:ea typeface="Cambria" pitchFamily="34" charset="-122"/>
                <a:cs typeface="Cambria" pitchFamily="34" charset="-120"/>
              </a:rPr>
              <a:t>RU2</a:t>
            </a:r>
            <a:endParaRPr lang="en-US" sz="1600" dirty="0"/>
          </a:p>
        </p:txBody>
      </p:sp>
      <p:sp>
        <p:nvSpPr>
          <p:cNvPr id="28" name="Text 26"/>
          <p:cNvSpPr/>
          <p:nvPr/>
        </p:nvSpPr>
        <p:spPr>
          <a:xfrm>
            <a:off x="6324600" y="3533775"/>
            <a:ext cx="1600200" cy="1905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5B6B7C"/>
                </a:solidFill>
                <a:latin typeface="Calibri" pitchFamily="34" charset="0"/>
                <a:ea typeface="Calibri" pitchFamily="34" charset="-122"/>
                <a:cs typeface="Calibri" pitchFamily="34" charset="-120"/>
              </a:rPr>
              <a:t>radio unit</a:t>
            </a:r>
            <a:endParaRPr lang="en-US" sz="1100" dirty="0"/>
          </a:p>
        </p:txBody>
      </p:sp>
      <p:sp>
        <p:nvSpPr>
          <p:cNvPr id="29" name="Shape 27"/>
          <p:cNvSpPr/>
          <p:nvPr/>
        </p:nvSpPr>
        <p:spPr>
          <a:xfrm>
            <a:off x="6324600" y="3943350"/>
            <a:ext cx="1600200" cy="628650"/>
          </a:xfrm>
          <a:prstGeom prst="roundRect">
            <a:avLst>
              <a:gd name="adj" fmla="val 5818"/>
            </a:avLst>
          </a:prstGeom>
          <a:solidFill>
            <a:srgbClr val="FFFFFF"/>
          </a:solidFill>
          <a:ln w="12700">
            <a:solidFill>
              <a:srgbClr val="D7E1EA"/>
            </a:solidFill>
            <a:prstDash val="solid"/>
          </a:ln>
        </p:spPr>
        <p:txBody>
          <a:bodyPr/>
          <a:lstStyle/>
          <a:p>
            <a:endParaRPr lang="en-IN"/>
          </a:p>
        </p:txBody>
      </p:sp>
      <p:sp>
        <p:nvSpPr>
          <p:cNvPr id="30" name="Text 28"/>
          <p:cNvSpPr/>
          <p:nvPr/>
        </p:nvSpPr>
        <p:spPr>
          <a:xfrm>
            <a:off x="6324600" y="4048125"/>
            <a:ext cx="1600200" cy="228600"/>
          </a:xfrm>
          <a:prstGeom prst="rect">
            <a:avLst/>
          </a:prstGeom>
          <a:noFill/>
          <a:ln/>
        </p:spPr>
        <p:txBody>
          <a:bodyPr wrap="square" lIns="0" tIns="0" rIns="0" bIns="0" rtlCol="0" anchor="t">
            <a:normAutofit/>
          </a:bodyPr>
          <a:lstStyle/>
          <a:p>
            <a:pPr marL="0" indent="0" algn="ctr">
              <a:lnSpc>
                <a:spcPct val="100000"/>
              </a:lnSpc>
              <a:buNone/>
            </a:pPr>
            <a:r>
              <a:rPr lang="en-US" sz="1600" b="1" dirty="0">
                <a:solidFill>
                  <a:srgbClr val="12263A"/>
                </a:solidFill>
                <a:latin typeface="Cambria" pitchFamily="34" charset="0"/>
                <a:ea typeface="Cambria" pitchFamily="34" charset="-122"/>
                <a:cs typeface="Cambria" pitchFamily="34" charset="-120"/>
              </a:rPr>
              <a:t>RU3</a:t>
            </a:r>
            <a:endParaRPr lang="en-US" sz="1600" dirty="0"/>
          </a:p>
        </p:txBody>
      </p:sp>
      <p:sp>
        <p:nvSpPr>
          <p:cNvPr id="31" name="Text 29"/>
          <p:cNvSpPr/>
          <p:nvPr/>
        </p:nvSpPr>
        <p:spPr>
          <a:xfrm>
            <a:off x="6324600" y="4295775"/>
            <a:ext cx="1600200" cy="1905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5B6B7C"/>
                </a:solidFill>
                <a:latin typeface="Calibri" pitchFamily="34" charset="0"/>
                <a:ea typeface="Calibri" pitchFamily="34" charset="-122"/>
                <a:cs typeface="Calibri" pitchFamily="34" charset="-120"/>
              </a:rPr>
              <a:t>radio unit</a:t>
            </a:r>
            <a:endParaRPr lang="en-US" sz="1100" dirty="0"/>
          </a:p>
        </p:txBody>
      </p:sp>
      <p:sp>
        <p:nvSpPr>
          <p:cNvPr id="32" name="Shape 30"/>
          <p:cNvSpPr/>
          <p:nvPr/>
        </p:nvSpPr>
        <p:spPr>
          <a:xfrm>
            <a:off x="2514600" y="2838450"/>
            <a:ext cx="342900" cy="19050"/>
          </a:xfrm>
          <a:prstGeom prst="rect">
            <a:avLst/>
          </a:prstGeom>
          <a:solidFill>
            <a:srgbClr val="D7E1EA"/>
          </a:solidFill>
          <a:ln/>
        </p:spPr>
        <p:txBody>
          <a:bodyPr/>
          <a:lstStyle/>
          <a:p>
            <a:endParaRPr lang="en-IN"/>
          </a:p>
        </p:txBody>
      </p:sp>
      <p:sp>
        <p:nvSpPr>
          <p:cNvPr id="33" name="Shape 31"/>
          <p:cNvSpPr/>
          <p:nvPr/>
        </p:nvSpPr>
        <p:spPr>
          <a:xfrm>
            <a:off x="2514600" y="3829050"/>
            <a:ext cx="342900" cy="19050"/>
          </a:xfrm>
          <a:prstGeom prst="rect">
            <a:avLst/>
          </a:prstGeom>
          <a:solidFill>
            <a:srgbClr val="D7E1EA"/>
          </a:solidFill>
          <a:ln/>
        </p:spPr>
        <p:txBody>
          <a:bodyPr/>
          <a:lstStyle/>
          <a:p>
            <a:endParaRPr lang="en-IN"/>
          </a:p>
        </p:txBody>
      </p:sp>
      <p:sp>
        <p:nvSpPr>
          <p:cNvPr id="34" name="Shape 32"/>
          <p:cNvSpPr/>
          <p:nvPr/>
        </p:nvSpPr>
        <p:spPr>
          <a:xfrm>
            <a:off x="3105150" y="3333750"/>
            <a:ext cx="438150" cy="19050"/>
          </a:xfrm>
          <a:prstGeom prst="rect">
            <a:avLst/>
          </a:prstGeom>
          <a:solidFill>
            <a:srgbClr val="D7E1EA"/>
          </a:solidFill>
          <a:ln/>
        </p:spPr>
        <p:txBody>
          <a:bodyPr/>
          <a:lstStyle/>
          <a:p>
            <a:endParaRPr lang="en-IN"/>
          </a:p>
        </p:txBody>
      </p:sp>
      <p:sp>
        <p:nvSpPr>
          <p:cNvPr id="35" name="Shape 33"/>
          <p:cNvSpPr/>
          <p:nvPr/>
        </p:nvSpPr>
        <p:spPr>
          <a:xfrm>
            <a:off x="5257800" y="3333750"/>
            <a:ext cx="361950" cy="19050"/>
          </a:xfrm>
          <a:prstGeom prst="rect">
            <a:avLst/>
          </a:prstGeom>
          <a:solidFill>
            <a:srgbClr val="D7E1EA"/>
          </a:solidFill>
          <a:ln/>
        </p:spPr>
        <p:txBody>
          <a:bodyPr/>
          <a:lstStyle/>
          <a:p>
            <a:endParaRPr lang="en-IN"/>
          </a:p>
        </p:txBody>
      </p:sp>
      <p:sp>
        <p:nvSpPr>
          <p:cNvPr id="36" name="Shape 34"/>
          <p:cNvSpPr/>
          <p:nvPr/>
        </p:nvSpPr>
        <p:spPr>
          <a:xfrm>
            <a:off x="5867400" y="2733675"/>
            <a:ext cx="457200" cy="19050"/>
          </a:xfrm>
          <a:prstGeom prst="rect">
            <a:avLst/>
          </a:prstGeom>
          <a:solidFill>
            <a:srgbClr val="D7E1EA"/>
          </a:solidFill>
          <a:ln/>
        </p:spPr>
        <p:txBody>
          <a:bodyPr/>
          <a:lstStyle/>
          <a:p>
            <a:endParaRPr lang="en-IN"/>
          </a:p>
        </p:txBody>
      </p:sp>
      <p:sp>
        <p:nvSpPr>
          <p:cNvPr id="37" name="Shape 35"/>
          <p:cNvSpPr/>
          <p:nvPr/>
        </p:nvSpPr>
        <p:spPr>
          <a:xfrm>
            <a:off x="5867400" y="3495675"/>
            <a:ext cx="457200" cy="19050"/>
          </a:xfrm>
          <a:prstGeom prst="rect">
            <a:avLst/>
          </a:prstGeom>
          <a:solidFill>
            <a:srgbClr val="D7E1EA"/>
          </a:solidFill>
          <a:ln/>
        </p:spPr>
        <p:txBody>
          <a:bodyPr/>
          <a:lstStyle/>
          <a:p>
            <a:endParaRPr lang="en-IN"/>
          </a:p>
        </p:txBody>
      </p:sp>
      <p:sp>
        <p:nvSpPr>
          <p:cNvPr id="38" name="Shape 36"/>
          <p:cNvSpPr/>
          <p:nvPr/>
        </p:nvSpPr>
        <p:spPr>
          <a:xfrm>
            <a:off x="5867400" y="4257675"/>
            <a:ext cx="457200" cy="19050"/>
          </a:xfrm>
          <a:prstGeom prst="rect">
            <a:avLst/>
          </a:prstGeom>
          <a:solidFill>
            <a:srgbClr val="D7E1EA"/>
          </a:solidFill>
          <a:ln/>
        </p:spPr>
        <p:txBody>
          <a:bodyPr/>
          <a:lstStyle/>
          <a:p>
            <a:endParaRPr lang="en-IN"/>
          </a:p>
        </p:txBody>
      </p:sp>
      <p:sp>
        <p:nvSpPr>
          <p:cNvPr id="39" name="Shape 37"/>
          <p:cNvSpPr/>
          <p:nvPr/>
        </p:nvSpPr>
        <p:spPr>
          <a:xfrm>
            <a:off x="8382000" y="2419350"/>
            <a:ext cx="2971800" cy="2152650"/>
          </a:xfrm>
          <a:prstGeom prst="roundRect">
            <a:avLst>
              <a:gd name="adj" fmla="val 1699"/>
            </a:avLst>
          </a:prstGeom>
          <a:solidFill>
            <a:srgbClr val="EAF2F8"/>
          </a:solidFill>
          <a:ln w="12700">
            <a:solidFill>
              <a:srgbClr val="1C7293"/>
            </a:solidFill>
            <a:prstDash val="solid"/>
          </a:ln>
        </p:spPr>
        <p:txBody>
          <a:bodyPr/>
          <a:lstStyle/>
          <a:p>
            <a:endParaRPr lang="en-IN"/>
          </a:p>
        </p:txBody>
      </p:sp>
      <p:sp>
        <p:nvSpPr>
          <p:cNvPr id="40" name="Text 38"/>
          <p:cNvSpPr/>
          <p:nvPr/>
        </p:nvSpPr>
        <p:spPr>
          <a:xfrm>
            <a:off x="8572500" y="2571750"/>
            <a:ext cx="26670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C7293"/>
                </a:solidFill>
                <a:latin typeface="Calibri" pitchFamily="34" charset="0"/>
                <a:ea typeface="Calibri" pitchFamily="34" charset="-122"/>
                <a:cs typeface="Calibri" pitchFamily="34" charset="-120"/>
              </a:rPr>
              <a:t>CAPTURE AND TELEMETRY</a:t>
            </a:r>
            <a:endParaRPr lang="en-US" sz="1150" dirty="0"/>
          </a:p>
        </p:txBody>
      </p:sp>
      <p:sp>
        <p:nvSpPr>
          <p:cNvPr id="41" name="Text 39"/>
          <p:cNvSpPr/>
          <p:nvPr/>
        </p:nvSpPr>
        <p:spPr>
          <a:xfrm>
            <a:off x="8572500" y="2819400"/>
            <a:ext cx="2628900" cy="161925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12263A"/>
                </a:solidFill>
                <a:latin typeface="Calibri" pitchFamily="34" charset="0"/>
                <a:ea typeface="Calibri" pitchFamily="34" charset="-122"/>
                <a:cs typeface="Calibri" pitchFamily="34" charset="-120"/>
              </a:rPr>
              <a:t>tcpdump on both bridges during each run (raw PCAPs not kept in the packaged archive)</a:t>
            </a:r>
            <a:endParaRPr lang="en-US" sz="1300" dirty="0"/>
          </a:p>
          <a:p>
            <a:pPr marL="0" indent="0" algn="l">
              <a:lnSpc>
                <a:spcPct val="100000"/>
              </a:lnSpc>
              <a:buNone/>
            </a:pPr>
            <a:r>
              <a:rPr lang="en-US" sz="1300" dirty="0">
                <a:solidFill>
                  <a:srgbClr val="12263A"/>
                </a:solidFill>
                <a:latin typeface="Calibri" pitchFamily="34" charset="0"/>
                <a:ea typeface="Calibri" pitchFamily="34" charset="-122"/>
                <a:cs typeface="Calibri" pitchFamily="34" charset="-120"/>
              </a:rPr>
              <a:t>ptp4l servo logs from all six daemons</a:t>
            </a:r>
            <a:endParaRPr lang="en-US" sz="1300" dirty="0"/>
          </a:p>
          <a:p>
            <a:pPr marL="0" indent="0" algn="l">
              <a:lnSpc>
                <a:spcPct val="100000"/>
              </a:lnSpc>
              <a:buNone/>
            </a:pPr>
            <a:r>
              <a:rPr lang="en-US" sz="1300" dirty="0">
                <a:solidFill>
                  <a:srgbClr val="12263A"/>
                </a:solidFill>
                <a:latin typeface="Calibri" pitchFamily="34" charset="0"/>
                <a:ea typeface="Calibri" pitchFamily="34" charset="-122"/>
                <a:cs typeface="Calibri" pitchFamily="34" charset="-120"/>
              </a:rPr>
              <a:t>pmc management queries per run (returned no data; see KPI sources)</a:t>
            </a:r>
            <a:endParaRPr lang="en-US" sz="1300" dirty="0"/>
          </a:p>
          <a:p>
            <a:pPr marL="0" indent="0" algn="l">
              <a:lnSpc>
                <a:spcPct val="100000"/>
              </a:lnSpc>
              <a:buNone/>
            </a:pPr>
            <a:r>
              <a:rPr lang="en-US" sz="1300" dirty="0">
                <a:solidFill>
                  <a:srgbClr val="12263A"/>
                </a:solidFill>
                <a:latin typeface="Calibri" pitchFamily="34" charset="0"/>
                <a:ea typeface="Calibri" pitchFamily="34" charset="-122"/>
                <a:cs typeface="Calibri" pitchFamily="34" charset="-120"/>
              </a:rPr>
              <a:t>context.json — ground-truth label plus provisioned operator context</a:t>
            </a:r>
            <a:endParaRPr lang="en-US" sz="1300" dirty="0"/>
          </a:p>
        </p:txBody>
      </p:sp>
      <p:sp>
        <p:nvSpPr>
          <p:cNvPr id="42" name="Shape 40"/>
          <p:cNvSpPr/>
          <p:nvPr/>
        </p:nvSpPr>
        <p:spPr>
          <a:xfrm>
            <a:off x="571500" y="4819650"/>
            <a:ext cx="5476875" cy="819150"/>
          </a:xfrm>
          <a:prstGeom prst="roundRect">
            <a:avLst>
              <a:gd name="adj" fmla="val 4465"/>
            </a:avLst>
          </a:prstGeom>
          <a:solidFill>
            <a:srgbClr val="FFFFFF"/>
          </a:solidFill>
          <a:ln w="12700">
            <a:solidFill>
              <a:srgbClr val="D7E1EA"/>
            </a:solidFill>
            <a:prstDash val="solid"/>
          </a:ln>
        </p:spPr>
        <p:txBody>
          <a:bodyPr/>
          <a:lstStyle/>
          <a:p>
            <a:endParaRPr lang="en-IN"/>
          </a:p>
        </p:txBody>
      </p:sp>
      <p:sp>
        <p:nvSpPr>
          <p:cNvPr id="43" name="Text 41"/>
          <p:cNvSpPr/>
          <p:nvPr/>
        </p:nvSpPr>
        <p:spPr>
          <a:xfrm>
            <a:off x="742950" y="4933950"/>
            <a:ext cx="5133975"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libri" pitchFamily="34" charset="0"/>
                <a:ea typeface="Calibri" pitchFamily="34" charset="-122"/>
                <a:cs typeface="Calibri" pitchFamily="34" charset="-120"/>
              </a:rPr>
              <a:t>ITU-T G.8275.1 profile as configured</a:t>
            </a:r>
            <a:endParaRPr lang="en-US" sz="1300" dirty="0"/>
          </a:p>
        </p:txBody>
      </p:sp>
      <p:sp>
        <p:nvSpPr>
          <p:cNvPr id="44" name="Text 42"/>
          <p:cNvSpPr/>
          <p:nvPr/>
        </p:nvSpPr>
        <p:spPr>
          <a:xfrm>
            <a:off x="742950" y="5162550"/>
            <a:ext cx="5133975" cy="4191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domain 24  ·  priority1 128  ·  Sync 16/s (logInterval −4)  ·  Announce 8/s (logInterval −3)</a:t>
            </a:r>
            <a:endParaRPr lang="en-US" sz="1300" dirty="0"/>
          </a:p>
        </p:txBody>
      </p:sp>
      <p:sp>
        <p:nvSpPr>
          <p:cNvPr id="45" name="Shape 43"/>
          <p:cNvSpPr/>
          <p:nvPr/>
        </p:nvSpPr>
        <p:spPr>
          <a:xfrm>
            <a:off x="6143625" y="4819650"/>
            <a:ext cx="5476875" cy="819150"/>
          </a:xfrm>
          <a:prstGeom prst="roundRect">
            <a:avLst>
              <a:gd name="adj" fmla="val 4465"/>
            </a:avLst>
          </a:prstGeom>
          <a:solidFill>
            <a:srgbClr val="FFFFFF"/>
          </a:solidFill>
          <a:ln w="12700">
            <a:solidFill>
              <a:srgbClr val="D7E1EA"/>
            </a:solidFill>
            <a:prstDash val="solid"/>
          </a:ln>
        </p:spPr>
        <p:txBody>
          <a:bodyPr/>
          <a:lstStyle/>
          <a:p>
            <a:endParaRPr lang="en-IN"/>
          </a:p>
        </p:txBody>
      </p:sp>
      <p:sp>
        <p:nvSpPr>
          <p:cNvPr id="46" name="Text 44"/>
          <p:cNvSpPr/>
          <p:nvPr/>
        </p:nvSpPr>
        <p:spPr>
          <a:xfrm>
            <a:off x="6315075" y="4933950"/>
            <a:ext cx="5133975"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libri" pitchFamily="34" charset="0"/>
                <a:ea typeface="Calibri" pitchFamily="34" charset="-122"/>
                <a:cs typeface="Calibri" pitchFamily="34" charset="-120"/>
              </a:rPr>
              <a:t>Evidence boundary</a:t>
            </a:r>
            <a:endParaRPr lang="en-US" sz="1300" dirty="0"/>
          </a:p>
        </p:txBody>
      </p:sp>
      <p:sp>
        <p:nvSpPr>
          <p:cNvPr id="47" name="Text 45"/>
          <p:cNvSpPr/>
          <p:nvPr/>
        </p:nvSpPr>
        <p:spPr>
          <a:xfrm>
            <a:off x="6315075" y="5162550"/>
            <a:ext cx="5133975" cy="4191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No independent clock-error instrument was used; synchronization impact is inferred from protocol and servo telemetry, not measured against a reference clock.</a:t>
            </a:r>
            <a:endParaRPr lang="en-US" sz="1300" dirty="0"/>
          </a:p>
        </p:txBody>
      </p:sp>
      <p:sp>
        <p:nvSpPr>
          <p:cNvPr id="48" name="Shape 46"/>
          <p:cNvSpPr/>
          <p:nvPr/>
        </p:nvSpPr>
        <p:spPr>
          <a:xfrm>
            <a:off x="571500" y="5791200"/>
            <a:ext cx="11049000" cy="495300"/>
          </a:xfrm>
          <a:prstGeom prst="roundRect">
            <a:avLst>
              <a:gd name="adj" fmla="val 7385"/>
            </a:avLst>
          </a:prstGeom>
          <a:solidFill>
            <a:srgbClr val="0E2440"/>
          </a:solidFill>
          <a:ln w="12700">
            <a:solidFill>
              <a:srgbClr val="0E2440"/>
            </a:solidFill>
            <a:prstDash val="solid"/>
          </a:ln>
        </p:spPr>
        <p:txBody>
          <a:bodyPr/>
          <a:lstStyle/>
          <a:p>
            <a:endParaRPr lang="en-IN"/>
          </a:p>
        </p:txBody>
      </p:sp>
      <p:sp>
        <p:nvSpPr>
          <p:cNvPr id="49" name="Text 47"/>
          <p:cNvSpPr/>
          <p:nvPr/>
        </p:nvSpPr>
        <p:spPr>
          <a:xfrm>
            <a:off x="781050" y="5905500"/>
            <a:ext cx="10629900" cy="285750"/>
          </a:xfrm>
          <a:prstGeom prst="rect">
            <a:avLst/>
          </a:prstGeom>
          <a:noFill/>
          <a:ln/>
        </p:spPr>
        <p:txBody>
          <a:bodyPr wrap="square" lIns="0" tIns="0" rIns="0" bIns="0" rtlCol="0" anchor="t">
            <a:normAutofit/>
          </a:bodyPr>
          <a:lstStyle/>
          <a:p>
            <a:pPr marL="0" indent="0" algn="l">
              <a:lnSpc>
                <a:spcPct val="100000"/>
              </a:lnSpc>
              <a:buNone/>
            </a:pPr>
            <a:r>
              <a:rPr lang="en-US" sz="1450" b="1" dirty="0">
                <a:solidFill>
                  <a:srgbClr val="FFFFFF"/>
                </a:solidFill>
                <a:latin typeface="Cambria" pitchFamily="34" charset="0"/>
                <a:ea typeface="Cambria" pitchFamily="34" charset="-122"/>
                <a:cs typeface="Cambria" pitchFamily="34" charset="-120"/>
              </a:rPr>
              <a:t>Faults are produced by live packet-path mechanisms — competing daemons, injected frames, replayed captures and link or queue manipulation — never by editing rows in a dataset.</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CONFIGURATION AND PLATFORM LIMITS</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2900" b="1" dirty="0">
                <a:solidFill>
                  <a:srgbClr val="12263A"/>
                </a:solidFill>
                <a:latin typeface="Cambria" pitchFamily="34" charset="0"/>
                <a:ea typeface="Cambria" pitchFamily="34" charset="-122"/>
                <a:cs typeface="Cambria" pitchFamily="34" charset="-120"/>
              </a:rPr>
              <a:t>Timing Configuration and Verified Platform Constraints</a:t>
            </a:r>
            <a:endParaRPr lang="en-US" sz="29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ITU-T G.8275.1 telecom profile (values cross-checked against Cisco and Nokia profile documentation and linuxptp configs/G.8275.1.cfg)  |  Constraints confirmed by direct query of the running system</a:t>
            </a:r>
            <a:endParaRPr lang="en-US" sz="1120" dirty="0"/>
          </a:p>
        </p:txBody>
      </p:sp>
      <p:sp>
        <p:nvSpPr>
          <p:cNvPr id="8" name="Text 6"/>
          <p:cNvSpPr/>
          <p:nvPr/>
        </p:nvSpPr>
        <p:spPr>
          <a:xfrm>
            <a:off x="666750" y="1657350"/>
            <a:ext cx="2095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PARAMETER</a:t>
            </a:r>
            <a:endParaRPr lang="en-US" sz="1200" dirty="0"/>
          </a:p>
        </p:txBody>
      </p:sp>
      <p:sp>
        <p:nvSpPr>
          <p:cNvPr id="9" name="Text 7"/>
          <p:cNvSpPr/>
          <p:nvPr/>
        </p:nvSpPr>
        <p:spPr>
          <a:xfrm>
            <a:off x="2857500" y="1657350"/>
            <a:ext cx="2476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CONFIGURED VALUE</a:t>
            </a:r>
            <a:endParaRPr lang="en-US" sz="1200" dirty="0"/>
          </a:p>
        </p:txBody>
      </p:sp>
      <p:sp>
        <p:nvSpPr>
          <p:cNvPr id="10" name="Text 8"/>
          <p:cNvSpPr/>
          <p:nvPr/>
        </p:nvSpPr>
        <p:spPr>
          <a:xfrm>
            <a:off x="5505450" y="1657350"/>
            <a:ext cx="2857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BASIS</a:t>
            </a:r>
            <a:endParaRPr lang="en-US" sz="1200" dirty="0"/>
          </a:p>
        </p:txBody>
      </p:sp>
      <p:sp>
        <p:nvSpPr>
          <p:cNvPr id="11" name="Shape 9"/>
          <p:cNvSpPr/>
          <p:nvPr/>
        </p:nvSpPr>
        <p:spPr>
          <a:xfrm>
            <a:off x="571500" y="1914525"/>
            <a:ext cx="7810500" cy="11430"/>
          </a:xfrm>
          <a:prstGeom prst="rect">
            <a:avLst/>
          </a:prstGeom>
          <a:solidFill>
            <a:srgbClr val="D7E1EA"/>
          </a:solidFill>
          <a:ln/>
        </p:spPr>
        <p:txBody>
          <a:bodyPr/>
          <a:lstStyle/>
          <a:p>
            <a:endParaRPr lang="en-IN"/>
          </a:p>
        </p:txBody>
      </p:sp>
      <p:sp>
        <p:nvSpPr>
          <p:cNvPr id="12" name="Text 10"/>
          <p:cNvSpPr/>
          <p:nvPr/>
        </p:nvSpPr>
        <p:spPr>
          <a:xfrm>
            <a:off x="666750" y="2038350"/>
            <a:ext cx="21145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Profile</a:t>
            </a:r>
            <a:endParaRPr lang="en-US" sz="1340" dirty="0"/>
          </a:p>
        </p:txBody>
      </p:sp>
      <p:sp>
        <p:nvSpPr>
          <p:cNvPr id="13" name="Text 11"/>
          <p:cNvSpPr/>
          <p:nvPr/>
        </p:nvSpPr>
        <p:spPr>
          <a:xfrm>
            <a:off x="2857500" y="2038350"/>
            <a:ext cx="2590800" cy="209550"/>
          </a:xfrm>
          <a:prstGeom prst="rect">
            <a:avLst/>
          </a:prstGeom>
          <a:noFill/>
          <a:ln/>
        </p:spPr>
        <p:txBody>
          <a:bodyPr wrap="square" lIns="0" tIns="0" rIns="0" bIns="0" rtlCol="0" anchor="t">
            <a:normAutofit/>
          </a:bodyPr>
          <a:lstStyle/>
          <a:p>
            <a:pPr marL="0" indent="0" algn="l">
              <a:lnSpc>
                <a:spcPct val="100000"/>
              </a:lnSpc>
              <a:buNone/>
            </a:pPr>
            <a:r>
              <a:rPr lang="en-US" sz="1310" b="1" dirty="0">
                <a:solidFill>
                  <a:srgbClr val="1C7293"/>
                </a:solidFill>
                <a:latin typeface="Calibri" pitchFamily="34" charset="0"/>
                <a:ea typeface="Calibri" pitchFamily="34" charset="-122"/>
                <a:cs typeface="Calibri" pitchFamily="34" charset="-120"/>
              </a:rPr>
              <a:t>ITU-T G.8275.1 telecom profile</a:t>
            </a:r>
            <a:endParaRPr lang="en-US" sz="1310" dirty="0"/>
          </a:p>
        </p:txBody>
      </p:sp>
      <p:sp>
        <p:nvSpPr>
          <p:cNvPr id="14" name="Text 12"/>
          <p:cNvSpPr/>
          <p:nvPr/>
        </p:nvSpPr>
        <p:spPr>
          <a:xfrm>
            <a:off x="5505450" y="2019300"/>
            <a:ext cx="2857500" cy="304800"/>
          </a:xfrm>
          <a:prstGeom prst="rect">
            <a:avLst/>
          </a:prstGeom>
          <a:noFill/>
          <a:ln/>
        </p:spPr>
        <p:txBody>
          <a:bodyPr wrap="square" lIns="0" tIns="0" rIns="0" bIns="0" rtlCol="0" anchor="t">
            <a:normAutofit/>
          </a:bodyPr>
          <a:lstStyle/>
          <a:p>
            <a:pPr marL="0" indent="0" algn="l">
              <a:lnSpc>
                <a:spcPct val="92000"/>
              </a:lnSpc>
              <a:buNone/>
            </a:pPr>
            <a:r>
              <a:rPr lang="en-US" sz="1150" dirty="0">
                <a:solidFill>
                  <a:srgbClr val="5B6B7C"/>
                </a:solidFill>
                <a:latin typeface="Calibri" pitchFamily="34" charset="0"/>
                <a:ea typeface="Calibri" pitchFamily="34" charset="-122"/>
                <a:cs typeface="Calibri" pitchFamily="34" charset="-120"/>
              </a:rPr>
              <a:t>Full timing support from the network</a:t>
            </a:r>
            <a:endParaRPr lang="en-US" sz="1150" dirty="0"/>
          </a:p>
        </p:txBody>
      </p:sp>
      <p:sp>
        <p:nvSpPr>
          <p:cNvPr id="15" name="Shape 13"/>
          <p:cNvSpPr/>
          <p:nvPr/>
        </p:nvSpPr>
        <p:spPr>
          <a:xfrm>
            <a:off x="571500" y="2343150"/>
            <a:ext cx="7810500" cy="11430"/>
          </a:xfrm>
          <a:prstGeom prst="rect">
            <a:avLst/>
          </a:prstGeom>
          <a:solidFill>
            <a:srgbClr val="D7E1EA"/>
          </a:solidFill>
          <a:ln/>
        </p:spPr>
        <p:txBody>
          <a:bodyPr/>
          <a:lstStyle/>
          <a:p>
            <a:endParaRPr lang="en-IN"/>
          </a:p>
        </p:txBody>
      </p:sp>
      <p:sp>
        <p:nvSpPr>
          <p:cNvPr id="16" name="Text 14"/>
          <p:cNvSpPr/>
          <p:nvPr/>
        </p:nvSpPr>
        <p:spPr>
          <a:xfrm>
            <a:off x="666750" y="2438400"/>
            <a:ext cx="21145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domainNumber</a:t>
            </a:r>
            <a:endParaRPr lang="en-US" sz="1340" dirty="0"/>
          </a:p>
        </p:txBody>
      </p:sp>
      <p:sp>
        <p:nvSpPr>
          <p:cNvPr id="17" name="Text 15"/>
          <p:cNvSpPr/>
          <p:nvPr/>
        </p:nvSpPr>
        <p:spPr>
          <a:xfrm>
            <a:off x="2857500" y="2438400"/>
            <a:ext cx="2590800" cy="209550"/>
          </a:xfrm>
          <a:prstGeom prst="rect">
            <a:avLst/>
          </a:prstGeom>
          <a:noFill/>
          <a:ln/>
        </p:spPr>
        <p:txBody>
          <a:bodyPr wrap="square" lIns="0" tIns="0" rIns="0" bIns="0" rtlCol="0" anchor="t">
            <a:normAutofit/>
          </a:bodyPr>
          <a:lstStyle/>
          <a:p>
            <a:pPr marL="0" indent="0" algn="l">
              <a:lnSpc>
                <a:spcPct val="100000"/>
              </a:lnSpc>
              <a:buNone/>
            </a:pPr>
            <a:r>
              <a:rPr lang="en-US" sz="1310" b="1" dirty="0">
                <a:solidFill>
                  <a:srgbClr val="1C7293"/>
                </a:solidFill>
                <a:latin typeface="Calibri" pitchFamily="34" charset="0"/>
                <a:ea typeface="Calibri" pitchFamily="34" charset="-122"/>
                <a:cs typeface="Calibri" pitchFamily="34" charset="-120"/>
              </a:rPr>
              <a:t>24</a:t>
            </a:r>
            <a:endParaRPr lang="en-US" sz="1310" dirty="0"/>
          </a:p>
        </p:txBody>
      </p:sp>
      <p:sp>
        <p:nvSpPr>
          <p:cNvPr id="18" name="Text 16"/>
          <p:cNvSpPr/>
          <p:nvPr/>
        </p:nvSpPr>
        <p:spPr>
          <a:xfrm>
            <a:off x="5505450" y="2419350"/>
            <a:ext cx="2857500" cy="304800"/>
          </a:xfrm>
          <a:prstGeom prst="rect">
            <a:avLst/>
          </a:prstGeom>
          <a:noFill/>
          <a:ln/>
        </p:spPr>
        <p:txBody>
          <a:bodyPr wrap="square" lIns="0" tIns="0" rIns="0" bIns="0" rtlCol="0" anchor="t">
            <a:normAutofit/>
          </a:bodyPr>
          <a:lstStyle/>
          <a:p>
            <a:pPr marL="0" indent="0" algn="l">
              <a:lnSpc>
                <a:spcPct val="92000"/>
              </a:lnSpc>
              <a:buNone/>
            </a:pPr>
            <a:r>
              <a:rPr lang="en-US" sz="1150" dirty="0">
                <a:solidFill>
                  <a:srgbClr val="5B6B7C"/>
                </a:solidFill>
                <a:latin typeface="Calibri" pitchFamily="34" charset="0"/>
                <a:ea typeface="Calibri" pitchFamily="34" charset="-122"/>
                <a:cs typeface="Calibri" pitchFamily="34" charset="-120"/>
              </a:rPr>
              <a:t>G.8275.1 permitted range 24–43</a:t>
            </a:r>
            <a:endParaRPr lang="en-US" sz="1150" dirty="0"/>
          </a:p>
        </p:txBody>
      </p:sp>
      <p:sp>
        <p:nvSpPr>
          <p:cNvPr id="19" name="Shape 17"/>
          <p:cNvSpPr/>
          <p:nvPr/>
        </p:nvSpPr>
        <p:spPr>
          <a:xfrm>
            <a:off x="571500" y="2743200"/>
            <a:ext cx="7810500" cy="11430"/>
          </a:xfrm>
          <a:prstGeom prst="rect">
            <a:avLst/>
          </a:prstGeom>
          <a:solidFill>
            <a:srgbClr val="D7E1EA"/>
          </a:solidFill>
          <a:ln/>
        </p:spPr>
        <p:txBody>
          <a:bodyPr/>
          <a:lstStyle/>
          <a:p>
            <a:endParaRPr lang="en-IN"/>
          </a:p>
        </p:txBody>
      </p:sp>
      <p:sp>
        <p:nvSpPr>
          <p:cNvPr id="20" name="Text 18"/>
          <p:cNvSpPr/>
          <p:nvPr/>
        </p:nvSpPr>
        <p:spPr>
          <a:xfrm>
            <a:off x="666750" y="2838450"/>
            <a:ext cx="21145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priority1</a:t>
            </a:r>
            <a:endParaRPr lang="en-US" sz="1340" dirty="0"/>
          </a:p>
        </p:txBody>
      </p:sp>
      <p:sp>
        <p:nvSpPr>
          <p:cNvPr id="21" name="Text 19"/>
          <p:cNvSpPr/>
          <p:nvPr/>
        </p:nvSpPr>
        <p:spPr>
          <a:xfrm>
            <a:off x="2857500" y="2838450"/>
            <a:ext cx="2590800" cy="209550"/>
          </a:xfrm>
          <a:prstGeom prst="rect">
            <a:avLst/>
          </a:prstGeom>
          <a:noFill/>
          <a:ln/>
        </p:spPr>
        <p:txBody>
          <a:bodyPr wrap="square" lIns="0" tIns="0" rIns="0" bIns="0" rtlCol="0" anchor="t">
            <a:normAutofit/>
          </a:bodyPr>
          <a:lstStyle/>
          <a:p>
            <a:pPr marL="0" indent="0" algn="l">
              <a:lnSpc>
                <a:spcPct val="100000"/>
              </a:lnSpc>
              <a:buNone/>
            </a:pPr>
            <a:r>
              <a:rPr lang="en-US" sz="1310" b="1" dirty="0">
                <a:solidFill>
                  <a:srgbClr val="1C7293"/>
                </a:solidFill>
                <a:latin typeface="Calibri" pitchFamily="34" charset="0"/>
                <a:ea typeface="Calibri" pitchFamily="34" charset="-122"/>
                <a:cs typeface="Calibri" pitchFamily="34" charset="-120"/>
              </a:rPr>
              <a:t>128 (fixed)</a:t>
            </a:r>
            <a:endParaRPr lang="en-US" sz="1310" dirty="0"/>
          </a:p>
        </p:txBody>
      </p:sp>
      <p:sp>
        <p:nvSpPr>
          <p:cNvPr id="22" name="Text 20"/>
          <p:cNvSpPr/>
          <p:nvPr/>
        </p:nvSpPr>
        <p:spPr>
          <a:xfrm>
            <a:off x="5505450" y="2819400"/>
            <a:ext cx="2857500" cy="304800"/>
          </a:xfrm>
          <a:prstGeom prst="rect">
            <a:avLst/>
          </a:prstGeom>
          <a:noFill/>
          <a:ln/>
        </p:spPr>
        <p:txBody>
          <a:bodyPr wrap="square" lIns="0" tIns="0" rIns="0" bIns="0" rtlCol="0" anchor="t">
            <a:normAutofit/>
          </a:bodyPr>
          <a:lstStyle/>
          <a:p>
            <a:pPr marL="0" indent="0" algn="l">
              <a:lnSpc>
                <a:spcPct val="92000"/>
              </a:lnSpc>
              <a:buNone/>
            </a:pPr>
            <a:r>
              <a:rPr lang="en-US" sz="1150" dirty="0">
                <a:solidFill>
                  <a:srgbClr val="5B6B7C"/>
                </a:solidFill>
                <a:latin typeface="Calibri" pitchFamily="34" charset="0"/>
                <a:ea typeface="Calibri" pitchFamily="34" charset="-122"/>
                <a:cs typeface="Calibri" pitchFamily="34" charset="-120"/>
              </a:rPr>
              <a:t>G.8275.1 fixes the value and the alternate BMCA excludes it from comparison</a:t>
            </a:r>
            <a:endParaRPr lang="en-US" sz="1150" dirty="0"/>
          </a:p>
        </p:txBody>
      </p:sp>
      <p:sp>
        <p:nvSpPr>
          <p:cNvPr id="23" name="Shape 21"/>
          <p:cNvSpPr/>
          <p:nvPr/>
        </p:nvSpPr>
        <p:spPr>
          <a:xfrm>
            <a:off x="571500" y="3143250"/>
            <a:ext cx="7810500" cy="11430"/>
          </a:xfrm>
          <a:prstGeom prst="rect">
            <a:avLst/>
          </a:prstGeom>
          <a:solidFill>
            <a:srgbClr val="D7E1EA"/>
          </a:solidFill>
          <a:ln/>
        </p:spPr>
        <p:txBody>
          <a:bodyPr/>
          <a:lstStyle/>
          <a:p>
            <a:endParaRPr lang="en-IN"/>
          </a:p>
        </p:txBody>
      </p:sp>
      <p:sp>
        <p:nvSpPr>
          <p:cNvPr id="24" name="Text 22"/>
          <p:cNvSpPr/>
          <p:nvPr/>
        </p:nvSpPr>
        <p:spPr>
          <a:xfrm>
            <a:off x="666750" y="3238500"/>
            <a:ext cx="21145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Sync rate</a:t>
            </a:r>
            <a:endParaRPr lang="en-US" sz="1340" dirty="0"/>
          </a:p>
        </p:txBody>
      </p:sp>
      <p:sp>
        <p:nvSpPr>
          <p:cNvPr id="25" name="Text 23"/>
          <p:cNvSpPr/>
          <p:nvPr/>
        </p:nvSpPr>
        <p:spPr>
          <a:xfrm>
            <a:off x="2857500" y="3238500"/>
            <a:ext cx="2590800" cy="209550"/>
          </a:xfrm>
          <a:prstGeom prst="rect">
            <a:avLst/>
          </a:prstGeom>
          <a:noFill/>
          <a:ln/>
        </p:spPr>
        <p:txBody>
          <a:bodyPr wrap="square" lIns="0" tIns="0" rIns="0" bIns="0" rtlCol="0" anchor="t">
            <a:normAutofit/>
          </a:bodyPr>
          <a:lstStyle/>
          <a:p>
            <a:pPr marL="0" indent="0" algn="l">
              <a:lnSpc>
                <a:spcPct val="100000"/>
              </a:lnSpc>
              <a:buNone/>
            </a:pPr>
            <a:r>
              <a:rPr lang="en-US" sz="1310" b="1" dirty="0">
                <a:solidFill>
                  <a:srgbClr val="1C7293"/>
                </a:solidFill>
                <a:latin typeface="Calibri" pitchFamily="34" charset="0"/>
                <a:ea typeface="Calibri" pitchFamily="34" charset="-122"/>
                <a:cs typeface="Calibri" pitchFamily="34" charset="-120"/>
              </a:rPr>
              <a:t>16 / s  (logInterval −4)</a:t>
            </a:r>
            <a:endParaRPr lang="en-US" sz="1310" dirty="0"/>
          </a:p>
        </p:txBody>
      </p:sp>
      <p:sp>
        <p:nvSpPr>
          <p:cNvPr id="26" name="Text 24"/>
          <p:cNvSpPr/>
          <p:nvPr/>
        </p:nvSpPr>
        <p:spPr>
          <a:xfrm>
            <a:off x="5505450" y="3219450"/>
            <a:ext cx="2857500" cy="304800"/>
          </a:xfrm>
          <a:prstGeom prst="rect">
            <a:avLst/>
          </a:prstGeom>
          <a:noFill/>
          <a:ln/>
        </p:spPr>
        <p:txBody>
          <a:bodyPr wrap="square" lIns="0" tIns="0" rIns="0" bIns="0" rtlCol="0" anchor="t">
            <a:normAutofit/>
          </a:bodyPr>
          <a:lstStyle/>
          <a:p>
            <a:pPr marL="0" indent="0" algn="l">
              <a:lnSpc>
                <a:spcPct val="92000"/>
              </a:lnSpc>
              <a:buNone/>
            </a:pPr>
            <a:r>
              <a:rPr lang="en-US" sz="1150" dirty="0">
                <a:solidFill>
                  <a:srgbClr val="5B6B7C"/>
                </a:solidFill>
                <a:latin typeface="Calibri" pitchFamily="34" charset="0"/>
                <a:ea typeface="Calibri" pitchFamily="34" charset="-122"/>
                <a:cs typeface="Calibri" pitchFamily="34" charset="-120"/>
              </a:rPr>
              <a:t>G.8275.1</a:t>
            </a:r>
            <a:endParaRPr lang="en-US" sz="1150" dirty="0"/>
          </a:p>
        </p:txBody>
      </p:sp>
      <p:sp>
        <p:nvSpPr>
          <p:cNvPr id="27" name="Shape 25"/>
          <p:cNvSpPr/>
          <p:nvPr/>
        </p:nvSpPr>
        <p:spPr>
          <a:xfrm>
            <a:off x="571500" y="3543300"/>
            <a:ext cx="7810500" cy="11430"/>
          </a:xfrm>
          <a:prstGeom prst="rect">
            <a:avLst/>
          </a:prstGeom>
          <a:solidFill>
            <a:srgbClr val="D7E1EA"/>
          </a:solidFill>
          <a:ln/>
        </p:spPr>
        <p:txBody>
          <a:bodyPr/>
          <a:lstStyle/>
          <a:p>
            <a:endParaRPr lang="en-IN"/>
          </a:p>
        </p:txBody>
      </p:sp>
      <p:sp>
        <p:nvSpPr>
          <p:cNvPr id="28" name="Text 26"/>
          <p:cNvSpPr/>
          <p:nvPr/>
        </p:nvSpPr>
        <p:spPr>
          <a:xfrm>
            <a:off x="666750" y="3638550"/>
            <a:ext cx="21145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Announce rate</a:t>
            </a:r>
            <a:endParaRPr lang="en-US" sz="1340" dirty="0"/>
          </a:p>
        </p:txBody>
      </p:sp>
      <p:sp>
        <p:nvSpPr>
          <p:cNvPr id="29" name="Text 27"/>
          <p:cNvSpPr/>
          <p:nvPr/>
        </p:nvSpPr>
        <p:spPr>
          <a:xfrm>
            <a:off x="2857500" y="3638550"/>
            <a:ext cx="2590800" cy="209550"/>
          </a:xfrm>
          <a:prstGeom prst="rect">
            <a:avLst/>
          </a:prstGeom>
          <a:noFill/>
          <a:ln/>
        </p:spPr>
        <p:txBody>
          <a:bodyPr wrap="square" lIns="0" tIns="0" rIns="0" bIns="0" rtlCol="0" anchor="t">
            <a:normAutofit/>
          </a:bodyPr>
          <a:lstStyle/>
          <a:p>
            <a:pPr marL="0" indent="0" algn="l">
              <a:lnSpc>
                <a:spcPct val="100000"/>
              </a:lnSpc>
              <a:buNone/>
            </a:pPr>
            <a:r>
              <a:rPr lang="en-US" sz="1310" b="1" dirty="0">
                <a:solidFill>
                  <a:srgbClr val="1C7293"/>
                </a:solidFill>
                <a:latin typeface="Calibri" pitchFamily="34" charset="0"/>
                <a:ea typeface="Calibri" pitchFamily="34" charset="-122"/>
                <a:cs typeface="Calibri" pitchFamily="34" charset="-120"/>
              </a:rPr>
              <a:t>8 / s  (logInterval −3)</a:t>
            </a:r>
            <a:endParaRPr lang="en-US" sz="1310" dirty="0"/>
          </a:p>
        </p:txBody>
      </p:sp>
      <p:sp>
        <p:nvSpPr>
          <p:cNvPr id="30" name="Text 28"/>
          <p:cNvSpPr/>
          <p:nvPr/>
        </p:nvSpPr>
        <p:spPr>
          <a:xfrm>
            <a:off x="5505450" y="3619500"/>
            <a:ext cx="2857500" cy="304800"/>
          </a:xfrm>
          <a:prstGeom prst="rect">
            <a:avLst/>
          </a:prstGeom>
          <a:noFill/>
          <a:ln/>
        </p:spPr>
        <p:txBody>
          <a:bodyPr wrap="square" lIns="0" tIns="0" rIns="0" bIns="0" rtlCol="0" anchor="t">
            <a:normAutofit/>
          </a:bodyPr>
          <a:lstStyle/>
          <a:p>
            <a:pPr marL="0" indent="0" algn="l">
              <a:lnSpc>
                <a:spcPct val="92000"/>
              </a:lnSpc>
              <a:buNone/>
            </a:pPr>
            <a:r>
              <a:rPr lang="en-US" sz="1150" dirty="0">
                <a:solidFill>
                  <a:srgbClr val="5B6B7C"/>
                </a:solidFill>
                <a:latin typeface="Calibri" pitchFamily="34" charset="0"/>
                <a:ea typeface="Calibri" pitchFamily="34" charset="-122"/>
                <a:cs typeface="Calibri" pitchFamily="34" charset="-120"/>
              </a:rPr>
              <a:t>G.8275.1</a:t>
            </a:r>
            <a:endParaRPr lang="en-US" sz="1150" dirty="0"/>
          </a:p>
        </p:txBody>
      </p:sp>
      <p:sp>
        <p:nvSpPr>
          <p:cNvPr id="31" name="Shape 29"/>
          <p:cNvSpPr/>
          <p:nvPr/>
        </p:nvSpPr>
        <p:spPr>
          <a:xfrm>
            <a:off x="571500" y="3943350"/>
            <a:ext cx="7810500" cy="11430"/>
          </a:xfrm>
          <a:prstGeom prst="rect">
            <a:avLst/>
          </a:prstGeom>
          <a:solidFill>
            <a:srgbClr val="D7E1EA"/>
          </a:solidFill>
          <a:ln/>
        </p:spPr>
        <p:txBody>
          <a:bodyPr/>
          <a:lstStyle/>
          <a:p>
            <a:endParaRPr lang="en-IN"/>
          </a:p>
        </p:txBody>
      </p:sp>
      <p:sp>
        <p:nvSpPr>
          <p:cNvPr id="32" name="Text 30"/>
          <p:cNvSpPr/>
          <p:nvPr/>
        </p:nvSpPr>
        <p:spPr>
          <a:xfrm>
            <a:off x="666750" y="4038600"/>
            <a:ext cx="21145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BMCA</a:t>
            </a:r>
            <a:endParaRPr lang="en-US" sz="1340" dirty="0"/>
          </a:p>
        </p:txBody>
      </p:sp>
      <p:sp>
        <p:nvSpPr>
          <p:cNvPr id="33" name="Text 31"/>
          <p:cNvSpPr/>
          <p:nvPr/>
        </p:nvSpPr>
        <p:spPr>
          <a:xfrm>
            <a:off x="2857500" y="4038600"/>
            <a:ext cx="2590800" cy="209550"/>
          </a:xfrm>
          <a:prstGeom prst="rect">
            <a:avLst/>
          </a:prstGeom>
          <a:noFill/>
          <a:ln/>
        </p:spPr>
        <p:txBody>
          <a:bodyPr wrap="square" lIns="0" tIns="0" rIns="0" bIns="0" rtlCol="0" anchor="t">
            <a:normAutofit/>
          </a:bodyPr>
          <a:lstStyle/>
          <a:p>
            <a:pPr marL="0" indent="0" algn="l">
              <a:lnSpc>
                <a:spcPct val="100000"/>
              </a:lnSpc>
              <a:buNone/>
            </a:pPr>
            <a:r>
              <a:rPr lang="en-US" sz="1310" b="1" dirty="0">
                <a:solidFill>
                  <a:srgbClr val="1C7293"/>
                </a:solidFill>
                <a:latin typeface="Calibri" pitchFamily="34" charset="0"/>
                <a:ea typeface="Calibri" pitchFamily="34" charset="-122"/>
                <a:cs typeface="Calibri" pitchFamily="34" charset="-120"/>
              </a:rPr>
              <a:t>dataset_comparison G.8275.x</a:t>
            </a:r>
            <a:endParaRPr lang="en-US" sz="1310" dirty="0"/>
          </a:p>
        </p:txBody>
      </p:sp>
      <p:sp>
        <p:nvSpPr>
          <p:cNvPr id="34" name="Text 32"/>
          <p:cNvSpPr/>
          <p:nvPr/>
        </p:nvSpPr>
        <p:spPr>
          <a:xfrm>
            <a:off x="5505450" y="4019550"/>
            <a:ext cx="2857500" cy="304800"/>
          </a:xfrm>
          <a:prstGeom prst="rect">
            <a:avLst/>
          </a:prstGeom>
          <a:noFill/>
          <a:ln/>
        </p:spPr>
        <p:txBody>
          <a:bodyPr wrap="square" lIns="0" tIns="0" rIns="0" bIns="0" rtlCol="0" anchor="t">
            <a:normAutofit/>
          </a:bodyPr>
          <a:lstStyle/>
          <a:p>
            <a:pPr marL="0" indent="0" algn="l">
              <a:lnSpc>
                <a:spcPct val="92000"/>
              </a:lnSpc>
              <a:buNone/>
            </a:pPr>
            <a:r>
              <a:rPr lang="en-US" sz="1150" dirty="0">
                <a:solidFill>
                  <a:srgbClr val="5B6B7C"/>
                </a:solidFill>
                <a:latin typeface="Calibri" pitchFamily="34" charset="0"/>
                <a:ea typeface="Calibri" pitchFamily="34" charset="-122"/>
                <a:cs typeface="Calibri" pitchFamily="34" charset="-120"/>
              </a:rPr>
              <a:t>Alternate BMCA, not the IEEE 1588 default</a:t>
            </a:r>
            <a:endParaRPr lang="en-US" sz="1150" dirty="0"/>
          </a:p>
        </p:txBody>
      </p:sp>
      <p:sp>
        <p:nvSpPr>
          <p:cNvPr id="35" name="Shape 33"/>
          <p:cNvSpPr/>
          <p:nvPr/>
        </p:nvSpPr>
        <p:spPr>
          <a:xfrm>
            <a:off x="571500" y="4343400"/>
            <a:ext cx="7810500" cy="11430"/>
          </a:xfrm>
          <a:prstGeom prst="rect">
            <a:avLst/>
          </a:prstGeom>
          <a:solidFill>
            <a:srgbClr val="D7E1EA"/>
          </a:solidFill>
          <a:ln/>
        </p:spPr>
        <p:txBody>
          <a:bodyPr/>
          <a:lstStyle/>
          <a:p>
            <a:endParaRPr lang="en-IN"/>
          </a:p>
        </p:txBody>
      </p:sp>
      <p:sp>
        <p:nvSpPr>
          <p:cNvPr id="36" name="Text 34"/>
          <p:cNvSpPr/>
          <p:nvPr/>
        </p:nvSpPr>
        <p:spPr>
          <a:xfrm>
            <a:off x="666750" y="4438650"/>
            <a:ext cx="21145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Transport</a:t>
            </a:r>
            <a:endParaRPr lang="en-US" sz="1340" dirty="0"/>
          </a:p>
        </p:txBody>
      </p:sp>
      <p:sp>
        <p:nvSpPr>
          <p:cNvPr id="37" name="Text 35"/>
          <p:cNvSpPr/>
          <p:nvPr/>
        </p:nvSpPr>
        <p:spPr>
          <a:xfrm>
            <a:off x="2857500" y="4438650"/>
            <a:ext cx="2590800" cy="209550"/>
          </a:xfrm>
          <a:prstGeom prst="rect">
            <a:avLst/>
          </a:prstGeom>
          <a:noFill/>
          <a:ln/>
        </p:spPr>
        <p:txBody>
          <a:bodyPr wrap="square" lIns="0" tIns="0" rIns="0" bIns="0" rtlCol="0" anchor="t">
            <a:normAutofit/>
          </a:bodyPr>
          <a:lstStyle/>
          <a:p>
            <a:pPr marL="0" indent="0" algn="l">
              <a:lnSpc>
                <a:spcPct val="100000"/>
              </a:lnSpc>
              <a:buNone/>
            </a:pPr>
            <a:r>
              <a:rPr lang="en-US" sz="1310" b="1" dirty="0">
                <a:solidFill>
                  <a:srgbClr val="1C7293"/>
                </a:solidFill>
                <a:latin typeface="Calibri" pitchFamily="34" charset="0"/>
                <a:ea typeface="Calibri" pitchFamily="34" charset="-122"/>
                <a:cs typeface="Calibri" pitchFamily="34" charset="-120"/>
              </a:rPr>
              <a:t>L2 multicast 01-1B-19-00-00-00</a:t>
            </a:r>
            <a:endParaRPr lang="en-US" sz="1310" dirty="0"/>
          </a:p>
        </p:txBody>
      </p:sp>
      <p:sp>
        <p:nvSpPr>
          <p:cNvPr id="38" name="Text 36"/>
          <p:cNvSpPr/>
          <p:nvPr/>
        </p:nvSpPr>
        <p:spPr>
          <a:xfrm>
            <a:off x="5505450" y="4419600"/>
            <a:ext cx="2857500" cy="304800"/>
          </a:xfrm>
          <a:prstGeom prst="rect">
            <a:avLst/>
          </a:prstGeom>
          <a:noFill/>
          <a:ln/>
        </p:spPr>
        <p:txBody>
          <a:bodyPr wrap="square" lIns="0" tIns="0" rIns="0" bIns="0" rtlCol="0" anchor="t">
            <a:normAutofit/>
          </a:bodyPr>
          <a:lstStyle/>
          <a:p>
            <a:pPr marL="0" indent="0" algn="l">
              <a:lnSpc>
                <a:spcPct val="92000"/>
              </a:lnSpc>
              <a:buNone/>
            </a:pPr>
            <a:r>
              <a:rPr lang="en-US" sz="1150" dirty="0">
                <a:solidFill>
                  <a:srgbClr val="5B6B7C"/>
                </a:solidFill>
                <a:latin typeface="Calibri" pitchFamily="34" charset="0"/>
                <a:ea typeface="Calibri" pitchFamily="34" charset="-122"/>
                <a:cs typeface="Calibri" pitchFamily="34" charset="-120"/>
              </a:rPr>
              <a:t>Forwardable address, permitted by G.8275.1 (linuxptp default)</a:t>
            </a:r>
            <a:endParaRPr lang="en-US" sz="1150" dirty="0"/>
          </a:p>
        </p:txBody>
      </p:sp>
      <p:sp>
        <p:nvSpPr>
          <p:cNvPr id="39" name="Shape 37"/>
          <p:cNvSpPr/>
          <p:nvPr/>
        </p:nvSpPr>
        <p:spPr>
          <a:xfrm>
            <a:off x="571500" y="4743450"/>
            <a:ext cx="7810500" cy="11430"/>
          </a:xfrm>
          <a:prstGeom prst="rect">
            <a:avLst/>
          </a:prstGeom>
          <a:solidFill>
            <a:srgbClr val="D7E1EA"/>
          </a:solidFill>
          <a:ln/>
        </p:spPr>
        <p:txBody>
          <a:bodyPr/>
          <a:lstStyle/>
          <a:p>
            <a:endParaRPr lang="en-IN"/>
          </a:p>
        </p:txBody>
      </p:sp>
      <p:sp>
        <p:nvSpPr>
          <p:cNvPr id="40" name="Text 38"/>
          <p:cNvSpPr/>
          <p:nvPr/>
        </p:nvSpPr>
        <p:spPr>
          <a:xfrm>
            <a:off x="666750" y="4838700"/>
            <a:ext cx="21145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Timestamping</a:t>
            </a:r>
            <a:endParaRPr lang="en-US" sz="1340" dirty="0"/>
          </a:p>
        </p:txBody>
      </p:sp>
      <p:sp>
        <p:nvSpPr>
          <p:cNvPr id="41" name="Text 39"/>
          <p:cNvSpPr/>
          <p:nvPr/>
        </p:nvSpPr>
        <p:spPr>
          <a:xfrm>
            <a:off x="2857500" y="4838700"/>
            <a:ext cx="2590800" cy="209550"/>
          </a:xfrm>
          <a:prstGeom prst="rect">
            <a:avLst/>
          </a:prstGeom>
          <a:noFill/>
          <a:ln/>
        </p:spPr>
        <p:txBody>
          <a:bodyPr wrap="square" lIns="0" tIns="0" rIns="0" bIns="0" rtlCol="0" anchor="t">
            <a:normAutofit/>
          </a:bodyPr>
          <a:lstStyle/>
          <a:p>
            <a:pPr marL="0" indent="0" algn="l">
              <a:lnSpc>
                <a:spcPct val="100000"/>
              </a:lnSpc>
              <a:buNone/>
            </a:pPr>
            <a:r>
              <a:rPr lang="en-US" sz="1310" b="1" dirty="0">
                <a:solidFill>
                  <a:srgbClr val="1C7293"/>
                </a:solidFill>
                <a:latin typeface="Calibri" pitchFamily="34" charset="0"/>
                <a:ea typeface="Calibri" pitchFamily="34" charset="-122"/>
                <a:cs typeface="Calibri" pitchFamily="34" charset="-120"/>
              </a:rPr>
              <a:t>software</a:t>
            </a:r>
            <a:endParaRPr lang="en-US" sz="1310" dirty="0"/>
          </a:p>
        </p:txBody>
      </p:sp>
      <p:sp>
        <p:nvSpPr>
          <p:cNvPr id="42" name="Text 40"/>
          <p:cNvSpPr/>
          <p:nvPr/>
        </p:nvSpPr>
        <p:spPr>
          <a:xfrm>
            <a:off x="5505450" y="4819650"/>
            <a:ext cx="2857500" cy="304800"/>
          </a:xfrm>
          <a:prstGeom prst="rect">
            <a:avLst/>
          </a:prstGeom>
          <a:noFill/>
          <a:ln/>
        </p:spPr>
        <p:txBody>
          <a:bodyPr wrap="square" lIns="0" tIns="0" rIns="0" bIns="0" rtlCol="0" anchor="t">
            <a:normAutofit/>
          </a:bodyPr>
          <a:lstStyle/>
          <a:p>
            <a:pPr marL="0" indent="0" algn="l">
              <a:lnSpc>
                <a:spcPct val="92000"/>
              </a:lnSpc>
              <a:buNone/>
            </a:pPr>
            <a:r>
              <a:rPr lang="en-US" sz="1150" dirty="0">
                <a:solidFill>
                  <a:srgbClr val="5B6B7C"/>
                </a:solidFill>
                <a:latin typeface="Calibri" pitchFamily="34" charset="0"/>
                <a:ea typeface="Calibri" pitchFamily="34" charset="-122"/>
                <a:cs typeface="Calibri" pitchFamily="34" charset="-120"/>
              </a:rPr>
              <a:t>Platform limit — see constraints</a:t>
            </a:r>
            <a:endParaRPr lang="en-US" sz="1150" dirty="0"/>
          </a:p>
        </p:txBody>
      </p:sp>
      <p:sp>
        <p:nvSpPr>
          <p:cNvPr id="43" name="Shape 41"/>
          <p:cNvSpPr/>
          <p:nvPr/>
        </p:nvSpPr>
        <p:spPr>
          <a:xfrm>
            <a:off x="571500" y="5143500"/>
            <a:ext cx="7810500" cy="11430"/>
          </a:xfrm>
          <a:prstGeom prst="rect">
            <a:avLst/>
          </a:prstGeom>
          <a:solidFill>
            <a:srgbClr val="D7E1EA"/>
          </a:solidFill>
          <a:ln/>
        </p:spPr>
        <p:txBody>
          <a:bodyPr/>
          <a:lstStyle/>
          <a:p>
            <a:endParaRPr lang="en-IN"/>
          </a:p>
        </p:txBody>
      </p:sp>
      <p:sp>
        <p:nvSpPr>
          <p:cNvPr id="44" name="Shape 42"/>
          <p:cNvSpPr/>
          <p:nvPr/>
        </p:nvSpPr>
        <p:spPr>
          <a:xfrm>
            <a:off x="8620125" y="1809750"/>
            <a:ext cx="3000375" cy="3390900"/>
          </a:xfrm>
          <a:prstGeom prst="roundRect">
            <a:avLst>
              <a:gd name="adj" fmla="val 1219"/>
            </a:avLst>
          </a:prstGeom>
          <a:solidFill>
            <a:srgbClr val="0E2440"/>
          </a:solidFill>
          <a:ln w="12700">
            <a:solidFill>
              <a:srgbClr val="0E2440"/>
            </a:solidFill>
            <a:prstDash val="solid"/>
          </a:ln>
        </p:spPr>
        <p:txBody>
          <a:bodyPr/>
          <a:lstStyle/>
          <a:p>
            <a:endParaRPr lang="en-IN"/>
          </a:p>
        </p:txBody>
      </p:sp>
      <p:sp>
        <p:nvSpPr>
          <p:cNvPr id="45" name="Text 43"/>
          <p:cNvSpPr/>
          <p:nvPr/>
        </p:nvSpPr>
        <p:spPr>
          <a:xfrm>
            <a:off x="8839200" y="1962150"/>
            <a:ext cx="26670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8B89A"/>
                </a:solidFill>
                <a:latin typeface="Calibri" pitchFamily="34" charset="0"/>
                <a:ea typeface="Calibri" pitchFamily="34" charset="-122"/>
                <a:cs typeface="Calibri" pitchFamily="34" charset="-120"/>
              </a:rPr>
              <a:t>VERIFIED PLATFORM CONSTRAINTS</a:t>
            </a:r>
            <a:endParaRPr lang="en-US" sz="1150" dirty="0"/>
          </a:p>
        </p:txBody>
      </p:sp>
      <p:sp>
        <p:nvSpPr>
          <p:cNvPr id="46" name="Text 44"/>
          <p:cNvSpPr/>
          <p:nvPr/>
        </p:nvSpPr>
        <p:spPr>
          <a:xfrm>
            <a:off x="8839200" y="2247900"/>
            <a:ext cx="152400" cy="19050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B3402F"/>
                </a:solidFill>
                <a:latin typeface="Calibri" pitchFamily="34" charset="0"/>
                <a:ea typeface="Calibri" pitchFamily="34" charset="-122"/>
                <a:cs typeface="Calibri" pitchFamily="34" charset="-120"/>
              </a:rPr>
              <a:t>!</a:t>
            </a:r>
            <a:endParaRPr lang="en-US" sz="1400" dirty="0"/>
          </a:p>
        </p:txBody>
      </p:sp>
      <p:sp>
        <p:nvSpPr>
          <p:cNvPr id="47" name="Text 45"/>
          <p:cNvSpPr/>
          <p:nvPr/>
        </p:nvSpPr>
        <p:spPr>
          <a:xfrm>
            <a:off x="9048750" y="2247900"/>
            <a:ext cx="2457450" cy="190500"/>
          </a:xfrm>
          <a:prstGeom prst="rect">
            <a:avLst/>
          </a:prstGeom>
          <a:noFill/>
          <a:ln/>
        </p:spPr>
        <p:txBody>
          <a:bodyPr wrap="square" lIns="0" tIns="0" rIns="0" bIns="0" rtlCol="0" anchor="t">
            <a:normAutofit/>
          </a:bodyPr>
          <a:lstStyle/>
          <a:p>
            <a:pPr marL="0" indent="0" algn="l">
              <a:lnSpc>
                <a:spcPct val="100000"/>
              </a:lnSpc>
              <a:buNone/>
            </a:pPr>
            <a:r>
              <a:rPr lang="en-US" sz="1350" b="1" dirty="0">
                <a:solidFill>
                  <a:srgbClr val="FFFFFF"/>
                </a:solidFill>
                <a:latin typeface="Cambria" pitchFamily="34" charset="0"/>
                <a:ea typeface="Cambria" pitchFamily="34" charset="-122"/>
                <a:cs typeface="Cambria" pitchFamily="34" charset="-120"/>
              </a:rPr>
              <a:t>No PTP hardware clock</a:t>
            </a:r>
            <a:endParaRPr lang="en-US" sz="1350" dirty="0"/>
          </a:p>
        </p:txBody>
      </p:sp>
      <p:sp>
        <p:nvSpPr>
          <p:cNvPr id="48" name="Text 46"/>
          <p:cNvSpPr/>
          <p:nvPr/>
        </p:nvSpPr>
        <p:spPr>
          <a:xfrm>
            <a:off x="9048750" y="2447925"/>
            <a:ext cx="2457450" cy="495300"/>
          </a:xfrm>
          <a:prstGeom prst="rect">
            <a:avLst/>
          </a:prstGeom>
          <a:noFill/>
          <a:ln/>
        </p:spPr>
        <p:txBody>
          <a:bodyPr wrap="square" lIns="0" tIns="0" rIns="0" bIns="0" rtlCol="0" anchor="t">
            <a:normAutofit/>
          </a:bodyPr>
          <a:lstStyle/>
          <a:p>
            <a:pPr marL="0" indent="0" algn="l">
              <a:lnSpc>
                <a:spcPct val="95000"/>
              </a:lnSpc>
              <a:buNone/>
            </a:pPr>
            <a:r>
              <a:rPr lang="en-US" sz="1080" dirty="0">
                <a:solidFill>
                  <a:srgbClr val="CFD9E5"/>
                </a:solidFill>
                <a:latin typeface="Calibri" pitchFamily="34" charset="0"/>
                <a:ea typeface="Calibri" pitchFamily="34" charset="-122"/>
                <a:cs typeface="Calibri" pitchFamily="34" charset="-120"/>
              </a:rPr>
              <a:t>ls /dev/ptp* returns empty. Software timestamping only: a microsecond-scale noise floor against a nanosecond-scale target.</a:t>
            </a:r>
            <a:endParaRPr lang="en-US" sz="1080" dirty="0"/>
          </a:p>
        </p:txBody>
      </p:sp>
      <p:sp>
        <p:nvSpPr>
          <p:cNvPr id="49" name="Text 47"/>
          <p:cNvSpPr/>
          <p:nvPr/>
        </p:nvSpPr>
        <p:spPr>
          <a:xfrm>
            <a:off x="8839200" y="2990850"/>
            <a:ext cx="152400" cy="19050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B3402F"/>
                </a:solidFill>
                <a:latin typeface="Calibri" pitchFamily="34" charset="0"/>
                <a:ea typeface="Calibri" pitchFamily="34" charset="-122"/>
                <a:cs typeface="Calibri" pitchFamily="34" charset="-120"/>
              </a:rPr>
              <a:t>!</a:t>
            </a:r>
            <a:endParaRPr lang="en-US" sz="1400" dirty="0"/>
          </a:p>
        </p:txBody>
      </p:sp>
      <p:sp>
        <p:nvSpPr>
          <p:cNvPr id="50" name="Text 48"/>
          <p:cNvSpPr/>
          <p:nvPr/>
        </p:nvSpPr>
        <p:spPr>
          <a:xfrm>
            <a:off x="9048750" y="2990850"/>
            <a:ext cx="2457450" cy="190500"/>
          </a:xfrm>
          <a:prstGeom prst="rect">
            <a:avLst/>
          </a:prstGeom>
          <a:noFill/>
          <a:ln/>
        </p:spPr>
        <p:txBody>
          <a:bodyPr wrap="square" lIns="0" tIns="0" rIns="0" bIns="0" rtlCol="0" anchor="t">
            <a:normAutofit/>
          </a:bodyPr>
          <a:lstStyle/>
          <a:p>
            <a:pPr marL="0" indent="0" algn="l">
              <a:lnSpc>
                <a:spcPct val="100000"/>
              </a:lnSpc>
              <a:buNone/>
            </a:pPr>
            <a:r>
              <a:rPr lang="en-US" sz="1350" b="1" dirty="0">
                <a:solidFill>
                  <a:srgbClr val="FFFFFF"/>
                </a:solidFill>
                <a:latin typeface="Cambria" pitchFamily="34" charset="0"/>
                <a:ea typeface="Cambria" pitchFamily="34" charset="-122"/>
                <a:cs typeface="Cambria" pitchFamily="34" charset="-120"/>
              </a:rPr>
              <a:t>No loadable kernel modules</a:t>
            </a:r>
            <a:endParaRPr lang="en-US" sz="1350" dirty="0"/>
          </a:p>
        </p:txBody>
      </p:sp>
      <p:sp>
        <p:nvSpPr>
          <p:cNvPr id="51" name="Text 49"/>
          <p:cNvSpPr/>
          <p:nvPr/>
        </p:nvSpPr>
        <p:spPr>
          <a:xfrm>
            <a:off x="9048750" y="3190875"/>
            <a:ext cx="2457450" cy="495300"/>
          </a:xfrm>
          <a:prstGeom prst="rect">
            <a:avLst/>
          </a:prstGeom>
          <a:noFill/>
          <a:ln/>
        </p:spPr>
        <p:txBody>
          <a:bodyPr wrap="square" lIns="0" tIns="0" rIns="0" bIns="0" rtlCol="0" anchor="t">
            <a:normAutofit/>
          </a:bodyPr>
          <a:lstStyle/>
          <a:p>
            <a:pPr marL="0" indent="0" algn="l">
              <a:lnSpc>
                <a:spcPct val="95000"/>
              </a:lnSpc>
              <a:buNone/>
            </a:pPr>
            <a:r>
              <a:rPr lang="en-US" sz="1080" dirty="0">
                <a:solidFill>
                  <a:srgbClr val="CFD9E5"/>
                </a:solidFill>
                <a:latin typeface="Calibri" pitchFamily="34" charset="0"/>
                <a:ea typeface="Calibri" pitchFamily="34" charset="-122"/>
                <a:cs typeface="Calibri" pitchFamily="34" charset="-120"/>
              </a:rPr>
              <a:t>modprobe absent and sch_netem unavailable, so congestion uses tbf.</a:t>
            </a:r>
            <a:endParaRPr lang="en-US" sz="1080" dirty="0"/>
          </a:p>
        </p:txBody>
      </p:sp>
      <p:sp>
        <p:nvSpPr>
          <p:cNvPr id="52" name="Text 50"/>
          <p:cNvSpPr/>
          <p:nvPr/>
        </p:nvSpPr>
        <p:spPr>
          <a:xfrm>
            <a:off x="8839200" y="3733800"/>
            <a:ext cx="152400" cy="19050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B3402F"/>
                </a:solidFill>
                <a:latin typeface="Calibri" pitchFamily="34" charset="0"/>
                <a:ea typeface="Calibri" pitchFamily="34" charset="-122"/>
                <a:cs typeface="Calibri" pitchFamily="34" charset="-120"/>
              </a:rPr>
              <a:t>!</a:t>
            </a:r>
            <a:endParaRPr lang="en-US" sz="1400" dirty="0"/>
          </a:p>
        </p:txBody>
      </p:sp>
      <p:sp>
        <p:nvSpPr>
          <p:cNvPr id="53" name="Text 51"/>
          <p:cNvSpPr/>
          <p:nvPr/>
        </p:nvSpPr>
        <p:spPr>
          <a:xfrm>
            <a:off x="9048750" y="3733800"/>
            <a:ext cx="2457450" cy="190500"/>
          </a:xfrm>
          <a:prstGeom prst="rect">
            <a:avLst/>
          </a:prstGeom>
          <a:noFill/>
          <a:ln/>
        </p:spPr>
        <p:txBody>
          <a:bodyPr wrap="square" lIns="0" tIns="0" rIns="0" bIns="0" rtlCol="0" anchor="t">
            <a:normAutofit/>
          </a:bodyPr>
          <a:lstStyle/>
          <a:p>
            <a:pPr marL="0" indent="0" algn="l">
              <a:lnSpc>
                <a:spcPct val="100000"/>
              </a:lnSpc>
              <a:buNone/>
            </a:pPr>
            <a:r>
              <a:rPr lang="en-US" sz="1350" b="1" dirty="0">
                <a:solidFill>
                  <a:srgbClr val="FFFFFF"/>
                </a:solidFill>
                <a:latin typeface="Cambria" pitchFamily="34" charset="0"/>
                <a:ea typeface="Cambria" pitchFamily="34" charset="-122"/>
                <a:cs typeface="Cambria" pitchFamily="34" charset="-120"/>
              </a:rPr>
              <a:t>One shared oscillator</a:t>
            </a:r>
            <a:endParaRPr lang="en-US" sz="1350" dirty="0"/>
          </a:p>
        </p:txBody>
      </p:sp>
      <p:sp>
        <p:nvSpPr>
          <p:cNvPr id="54" name="Text 52"/>
          <p:cNvSpPr/>
          <p:nvPr/>
        </p:nvSpPr>
        <p:spPr>
          <a:xfrm>
            <a:off x="9048750" y="3933825"/>
            <a:ext cx="2457450" cy="495300"/>
          </a:xfrm>
          <a:prstGeom prst="rect">
            <a:avLst/>
          </a:prstGeom>
          <a:noFill/>
          <a:ln/>
        </p:spPr>
        <p:txBody>
          <a:bodyPr wrap="square" lIns="0" tIns="0" rIns="0" bIns="0" rtlCol="0" anchor="t">
            <a:normAutofit/>
          </a:bodyPr>
          <a:lstStyle/>
          <a:p>
            <a:pPr marL="0" indent="0" algn="l">
              <a:lnSpc>
                <a:spcPct val="95000"/>
              </a:lnSpc>
              <a:buNone/>
            </a:pPr>
            <a:r>
              <a:rPr lang="en-US" sz="1080" dirty="0">
                <a:solidFill>
                  <a:srgbClr val="CFD9E5"/>
                </a:solidFill>
                <a:latin typeface="Calibri" pitchFamily="34" charset="0"/>
                <a:ea typeface="Calibri" pitchFamily="34" charset="-122"/>
                <a:cs typeface="Calibri" pitchFamily="34" charset="-120"/>
              </a:rPr>
              <a:t>All namespaces share the host clock, and free_running 1 is set: offset is measured, never steered.</a:t>
            </a:r>
            <a:endParaRPr lang="en-US" sz="1080" dirty="0"/>
          </a:p>
        </p:txBody>
      </p:sp>
      <p:sp>
        <p:nvSpPr>
          <p:cNvPr id="55" name="Text 53"/>
          <p:cNvSpPr/>
          <p:nvPr/>
        </p:nvSpPr>
        <p:spPr>
          <a:xfrm>
            <a:off x="8839200" y="4476750"/>
            <a:ext cx="152400" cy="19050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B3402F"/>
                </a:solidFill>
                <a:latin typeface="Calibri" pitchFamily="34" charset="0"/>
                <a:ea typeface="Calibri" pitchFamily="34" charset="-122"/>
                <a:cs typeface="Calibri" pitchFamily="34" charset="-120"/>
              </a:rPr>
              <a:t>!</a:t>
            </a:r>
            <a:endParaRPr lang="en-US" sz="1400" dirty="0"/>
          </a:p>
        </p:txBody>
      </p:sp>
      <p:sp>
        <p:nvSpPr>
          <p:cNvPr id="56" name="Text 54"/>
          <p:cNvSpPr/>
          <p:nvPr/>
        </p:nvSpPr>
        <p:spPr>
          <a:xfrm>
            <a:off x="9048750" y="4476750"/>
            <a:ext cx="2457450" cy="190500"/>
          </a:xfrm>
          <a:prstGeom prst="rect">
            <a:avLst/>
          </a:prstGeom>
          <a:noFill/>
          <a:ln/>
        </p:spPr>
        <p:txBody>
          <a:bodyPr wrap="square" lIns="0" tIns="0" rIns="0" bIns="0" rtlCol="0" anchor="t">
            <a:normAutofit/>
          </a:bodyPr>
          <a:lstStyle/>
          <a:p>
            <a:pPr marL="0" indent="0" algn="l">
              <a:lnSpc>
                <a:spcPct val="100000"/>
              </a:lnSpc>
              <a:buNone/>
            </a:pPr>
            <a:r>
              <a:rPr lang="en-US" sz="1350" b="1" dirty="0">
                <a:solidFill>
                  <a:srgbClr val="FFFFFF"/>
                </a:solidFill>
                <a:latin typeface="Cambria" pitchFamily="34" charset="0"/>
                <a:ea typeface="Cambria" pitchFamily="34" charset="-122"/>
                <a:cs typeface="Cambria" pitchFamily="34" charset="-120"/>
              </a:rPr>
              <a:t>No GNSS receiver</a:t>
            </a:r>
            <a:endParaRPr lang="en-US" sz="1350" dirty="0"/>
          </a:p>
        </p:txBody>
      </p:sp>
      <p:sp>
        <p:nvSpPr>
          <p:cNvPr id="57" name="Text 55"/>
          <p:cNvSpPr/>
          <p:nvPr/>
        </p:nvSpPr>
        <p:spPr>
          <a:xfrm>
            <a:off x="9048750" y="4676775"/>
            <a:ext cx="2457450" cy="495300"/>
          </a:xfrm>
          <a:prstGeom prst="rect">
            <a:avLst/>
          </a:prstGeom>
          <a:noFill/>
          <a:ln/>
        </p:spPr>
        <p:txBody>
          <a:bodyPr wrap="square" lIns="0" tIns="0" rIns="0" bIns="0" rtlCol="0" anchor="t">
            <a:normAutofit/>
          </a:bodyPr>
          <a:lstStyle/>
          <a:p>
            <a:pPr marL="0" indent="0" algn="l">
              <a:lnSpc>
                <a:spcPct val="95000"/>
              </a:lnSpc>
              <a:buNone/>
            </a:pPr>
            <a:r>
              <a:rPr lang="en-US" sz="1080" dirty="0">
                <a:solidFill>
                  <a:srgbClr val="CFD9E5"/>
                </a:solidFill>
                <a:latin typeface="Calibri" pitchFamily="34" charset="0"/>
                <a:ea typeface="Calibri" pitchFamily="34" charset="-122"/>
                <a:cs typeface="Calibri" pitchFamily="34" charset="-120"/>
              </a:rPr>
              <a:t>GNSS spoofing and jamming cannot be produced at all.</a:t>
            </a:r>
            <a:endParaRPr lang="en-US" sz="1080" dirty="0"/>
          </a:p>
        </p:txBody>
      </p:sp>
      <p:sp>
        <p:nvSpPr>
          <p:cNvPr id="58" name="Shape 56"/>
          <p:cNvSpPr/>
          <p:nvPr/>
        </p:nvSpPr>
        <p:spPr>
          <a:xfrm>
            <a:off x="571500" y="5276850"/>
            <a:ext cx="11049000" cy="571500"/>
          </a:xfrm>
          <a:prstGeom prst="roundRect">
            <a:avLst>
              <a:gd name="adj" fmla="val 6400"/>
            </a:avLst>
          </a:prstGeom>
          <a:solidFill>
            <a:srgbClr val="FFF8E8"/>
          </a:solidFill>
          <a:ln w="12700">
            <a:solidFill>
              <a:srgbClr val="C58B18"/>
            </a:solidFill>
            <a:prstDash val="solid"/>
          </a:ln>
        </p:spPr>
        <p:txBody>
          <a:bodyPr/>
          <a:lstStyle/>
          <a:p>
            <a:endParaRPr lang="en-IN"/>
          </a:p>
        </p:txBody>
      </p:sp>
      <p:sp>
        <p:nvSpPr>
          <p:cNvPr id="59" name="Text 57"/>
          <p:cNvSpPr/>
          <p:nvPr/>
        </p:nvSpPr>
        <p:spPr>
          <a:xfrm>
            <a:off x="781050" y="541972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Effect on scope</a:t>
            </a:r>
            <a:endParaRPr lang="en-US" sz="1600" dirty="0"/>
          </a:p>
        </p:txBody>
      </p:sp>
      <p:sp>
        <p:nvSpPr>
          <p:cNvPr id="60" name="Text 58"/>
          <p:cNvSpPr/>
          <p:nvPr/>
        </p:nvSpPr>
        <p:spPr>
          <a:xfrm>
            <a:off x="2781300" y="5400675"/>
            <a:ext cx="8629650" cy="3429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These constraints set the ceiling on every result that follows: five of the sixteen catalogued fault classes cannot be produced here, and no claim is made about absolute time-error magnitude.</a:t>
            </a:r>
            <a:endParaRPr lang="en-US" sz="1320" dirty="0"/>
          </a:p>
        </p:txBody>
      </p:sp>
      <p:sp>
        <p:nvSpPr>
          <p:cNvPr id="61" name="Shape 59"/>
          <p:cNvSpPr/>
          <p:nvPr/>
        </p:nvSpPr>
        <p:spPr>
          <a:xfrm>
            <a:off x="571500" y="5943600"/>
            <a:ext cx="11049000" cy="552450"/>
          </a:xfrm>
          <a:prstGeom prst="roundRect">
            <a:avLst>
              <a:gd name="adj" fmla="val 6621"/>
            </a:avLst>
          </a:prstGeom>
          <a:solidFill>
            <a:srgbClr val="0E2440"/>
          </a:solidFill>
          <a:ln w="12700">
            <a:solidFill>
              <a:srgbClr val="0E2440"/>
            </a:solidFill>
            <a:prstDash val="solid"/>
          </a:ln>
        </p:spPr>
        <p:txBody>
          <a:bodyPr/>
          <a:lstStyle/>
          <a:p>
            <a:endParaRPr lang="en-IN"/>
          </a:p>
        </p:txBody>
      </p:sp>
      <p:sp>
        <p:nvSpPr>
          <p:cNvPr id="62" name="Text 60"/>
          <p:cNvSpPr/>
          <p:nvPr/>
        </p:nvSpPr>
        <p:spPr>
          <a:xfrm>
            <a:off x="781050" y="6057900"/>
            <a:ext cx="10629900" cy="342900"/>
          </a:xfrm>
          <a:prstGeom prst="rect">
            <a:avLst/>
          </a:prstGeom>
          <a:noFill/>
          <a:ln/>
        </p:spPr>
        <p:txBody>
          <a:bodyPr wrap="square" lIns="0" tIns="0" rIns="0" bIns="0" rtlCol="0" anchor="t">
            <a:normAutofit/>
          </a:bodyPr>
          <a:lstStyle/>
          <a:p>
            <a:pPr marL="0" indent="0" algn="l">
              <a:lnSpc>
                <a:spcPct val="100000"/>
              </a:lnSpc>
              <a:buNone/>
            </a:pPr>
            <a:r>
              <a:rPr lang="en-US" sz="1450" b="1" dirty="0">
                <a:solidFill>
                  <a:srgbClr val="FFFFFF"/>
                </a:solidFill>
                <a:latin typeface="Cambria" pitchFamily="34" charset="0"/>
                <a:ea typeface="Cambria" pitchFamily="34" charset="-122"/>
                <a:cs typeface="Cambria" pitchFamily="34" charset="-120"/>
              </a:rPr>
              <a:t>Every configured value was read back from the running system and traced to the governing standard or, where the normative text is paywalled, to an authoritative secondary source.</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PROCESSING PIPELINE</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Data Flow from Packet Capture to Verdict</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Deep extractor: 56 fields per PTP frame  |  Field definitions from IEEE 1588-2019 message and data-set clauses  |  Conformance flags derived from ITU-T G.8275.1 profile constraints</a:t>
            </a:r>
            <a:endParaRPr lang="en-US" sz="1120" dirty="0"/>
          </a:p>
        </p:txBody>
      </p:sp>
      <p:sp>
        <p:nvSpPr>
          <p:cNvPr id="8" name="Shape 6"/>
          <p:cNvSpPr/>
          <p:nvPr/>
        </p:nvSpPr>
        <p:spPr>
          <a:xfrm>
            <a:off x="571500" y="1809750"/>
            <a:ext cx="1962150" cy="2171700"/>
          </a:xfrm>
          <a:prstGeom prst="roundRect">
            <a:avLst>
              <a:gd name="adj" fmla="val 1864"/>
            </a:avLst>
          </a:prstGeom>
          <a:solidFill>
            <a:srgbClr val="FFFFFF"/>
          </a:solidFill>
          <a:ln w="12700">
            <a:solidFill>
              <a:srgbClr val="D7E1EA"/>
            </a:solidFill>
            <a:prstDash val="solid"/>
          </a:ln>
        </p:spPr>
        <p:txBody>
          <a:bodyPr/>
          <a:lstStyle/>
          <a:p>
            <a:endParaRPr lang="en-IN"/>
          </a:p>
        </p:txBody>
      </p:sp>
      <p:sp>
        <p:nvSpPr>
          <p:cNvPr id="9" name="Shape 7"/>
          <p:cNvSpPr/>
          <p:nvPr/>
        </p:nvSpPr>
        <p:spPr>
          <a:xfrm>
            <a:off x="571500" y="1809750"/>
            <a:ext cx="1962150" cy="47625"/>
          </a:xfrm>
          <a:prstGeom prst="rect">
            <a:avLst/>
          </a:prstGeom>
          <a:solidFill>
            <a:srgbClr val="18B89A"/>
          </a:solidFill>
          <a:ln/>
        </p:spPr>
        <p:txBody>
          <a:bodyPr/>
          <a:lstStyle/>
          <a:p>
            <a:endParaRPr lang="en-IN"/>
          </a:p>
        </p:txBody>
      </p:sp>
      <p:sp>
        <p:nvSpPr>
          <p:cNvPr id="10" name="Text 8"/>
          <p:cNvSpPr/>
          <p:nvPr/>
        </p:nvSpPr>
        <p:spPr>
          <a:xfrm>
            <a:off x="742950" y="1981200"/>
            <a:ext cx="571500" cy="24765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C7293"/>
                </a:solidFill>
                <a:latin typeface="Cambria" pitchFamily="34" charset="0"/>
                <a:ea typeface="Cambria" pitchFamily="34" charset="-122"/>
                <a:cs typeface="Cambria" pitchFamily="34" charset="-120"/>
              </a:rPr>
              <a:t>01</a:t>
            </a:r>
            <a:endParaRPr lang="en-US" sz="1700" dirty="0"/>
          </a:p>
        </p:txBody>
      </p:sp>
      <p:sp>
        <p:nvSpPr>
          <p:cNvPr id="11" name="Text 9"/>
          <p:cNvSpPr/>
          <p:nvPr/>
        </p:nvSpPr>
        <p:spPr>
          <a:xfrm>
            <a:off x="742950" y="2305050"/>
            <a:ext cx="1619250" cy="266700"/>
          </a:xfrm>
          <a:prstGeom prst="rect">
            <a:avLst/>
          </a:prstGeom>
          <a:noFill/>
          <a:ln/>
        </p:spPr>
        <p:txBody>
          <a:bodyPr wrap="square" lIns="0" tIns="0" rIns="0" bIns="0" rtlCol="0" anchor="t">
            <a:normAutofit/>
          </a:bodyPr>
          <a:lstStyle/>
          <a:p>
            <a:pPr marL="0" indent="0" algn="l">
              <a:lnSpc>
                <a:spcPct val="100000"/>
              </a:lnSpc>
              <a:buNone/>
            </a:pPr>
            <a:r>
              <a:rPr lang="en-US" sz="1900" b="1" dirty="0">
                <a:solidFill>
                  <a:srgbClr val="12263A"/>
                </a:solidFill>
                <a:latin typeface="Cambria" pitchFamily="34" charset="0"/>
                <a:ea typeface="Cambria" pitchFamily="34" charset="-122"/>
                <a:cs typeface="Cambria" pitchFamily="34" charset="-120"/>
              </a:rPr>
              <a:t>The wire</a:t>
            </a:r>
            <a:endParaRPr lang="en-US" sz="1900" dirty="0"/>
          </a:p>
        </p:txBody>
      </p:sp>
      <p:sp>
        <p:nvSpPr>
          <p:cNvPr id="12" name="Text 10"/>
          <p:cNvSpPr/>
          <p:nvPr/>
        </p:nvSpPr>
        <p:spPr>
          <a:xfrm>
            <a:off x="742950" y="2667000"/>
            <a:ext cx="1638300" cy="120015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Real PTP frames produced by six linuxptp daemons on two bridged segments</a:t>
            </a:r>
            <a:endParaRPr lang="en-US" sz="1300" dirty="0"/>
          </a:p>
        </p:txBody>
      </p:sp>
      <p:sp>
        <p:nvSpPr>
          <p:cNvPr id="13" name="Text 11"/>
          <p:cNvSpPr/>
          <p:nvPr/>
        </p:nvSpPr>
        <p:spPr>
          <a:xfrm>
            <a:off x="2590800" y="2686050"/>
            <a:ext cx="247650" cy="285750"/>
          </a:xfrm>
          <a:prstGeom prst="rect">
            <a:avLst/>
          </a:prstGeom>
          <a:noFill/>
          <a:ln/>
        </p:spPr>
        <p:txBody>
          <a:bodyPr wrap="square" lIns="0" tIns="0" rIns="0" bIns="0" rtlCol="0" anchor="t">
            <a:normAutofit/>
          </a:bodyPr>
          <a:lstStyle/>
          <a:p>
            <a:pPr marL="0" indent="0" algn="ctr">
              <a:lnSpc>
                <a:spcPct val="100000"/>
              </a:lnSpc>
              <a:buNone/>
            </a:pPr>
            <a:r>
              <a:rPr lang="en-US" sz="2400" b="1" dirty="0">
                <a:solidFill>
                  <a:srgbClr val="18B89A"/>
                </a:solidFill>
                <a:latin typeface="Calibri" pitchFamily="34" charset="0"/>
                <a:ea typeface="Calibri" pitchFamily="34" charset="-122"/>
                <a:cs typeface="Calibri" pitchFamily="34" charset="-120"/>
              </a:rPr>
              <a:t>›</a:t>
            </a:r>
            <a:endParaRPr lang="en-US" sz="2400" dirty="0"/>
          </a:p>
        </p:txBody>
      </p:sp>
      <p:sp>
        <p:nvSpPr>
          <p:cNvPr id="14" name="Shape 12"/>
          <p:cNvSpPr/>
          <p:nvPr/>
        </p:nvSpPr>
        <p:spPr>
          <a:xfrm>
            <a:off x="2838450" y="1809750"/>
            <a:ext cx="1962150" cy="2171700"/>
          </a:xfrm>
          <a:prstGeom prst="roundRect">
            <a:avLst>
              <a:gd name="adj" fmla="val 1864"/>
            </a:avLst>
          </a:prstGeom>
          <a:solidFill>
            <a:srgbClr val="FFFFFF"/>
          </a:solidFill>
          <a:ln w="12700">
            <a:solidFill>
              <a:srgbClr val="D7E1EA"/>
            </a:solidFill>
            <a:prstDash val="solid"/>
          </a:ln>
        </p:spPr>
        <p:txBody>
          <a:bodyPr/>
          <a:lstStyle/>
          <a:p>
            <a:endParaRPr lang="en-IN"/>
          </a:p>
        </p:txBody>
      </p:sp>
      <p:sp>
        <p:nvSpPr>
          <p:cNvPr id="15" name="Shape 13"/>
          <p:cNvSpPr/>
          <p:nvPr/>
        </p:nvSpPr>
        <p:spPr>
          <a:xfrm>
            <a:off x="2838450" y="1809750"/>
            <a:ext cx="1962150" cy="47625"/>
          </a:xfrm>
          <a:prstGeom prst="rect">
            <a:avLst/>
          </a:prstGeom>
          <a:solidFill>
            <a:srgbClr val="18B89A"/>
          </a:solidFill>
          <a:ln/>
        </p:spPr>
        <p:txBody>
          <a:bodyPr/>
          <a:lstStyle/>
          <a:p>
            <a:endParaRPr lang="en-IN"/>
          </a:p>
        </p:txBody>
      </p:sp>
      <p:sp>
        <p:nvSpPr>
          <p:cNvPr id="16" name="Text 14"/>
          <p:cNvSpPr/>
          <p:nvPr/>
        </p:nvSpPr>
        <p:spPr>
          <a:xfrm>
            <a:off x="3009900" y="1981200"/>
            <a:ext cx="571500" cy="24765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C7293"/>
                </a:solidFill>
                <a:latin typeface="Cambria" pitchFamily="34" charset="0"/>
                <a:ea typeface="Cambria" pitchFamily="34" charset="-122"/>
                <a:cs typeface="Cambria" pitchFamily="34" charset="-120"/>
              </a:rPr>
              <a:t>02</a:t>
            </a:r>
            <a:endParaRPr lang="en-US" sz="1700" dirty="0"/>
          </a:p>
        </p:txBody>
      </p:sp>
      <p:sp>
        <p:nvSpPr>
          <p:cNvPr id="17" name="Text 15"/>
          <p:cNvSpPr/>
          <p:nvPr/>
        </p:nvSpPr>
        <p:spPr>
          <a:xfrm>
            <a:off x="3009900" y="2305050"/>
            <a:ext cx="1619250" cy="266700"/>
          </a:xfrm>
          <a:prstGeom prst="rect">
            <a:avLst/>
          </a:prstGeom>
          <a:noFill/>
          <a:ln/>
        </p:spPr>
        <p:txBody>
          <a:bodyPr wrap="square" lIns="0" tIns="0" rIns="0" bIns="0" rtlCol="0" anchor="t">
            <a:normAutofit/>
          </a:bodyPr>
          <a:lstStyle/>
          <a:p>
            <a:pPr marL="0" indent="0" algn="l">
              <a:lnSpc>
                <a:spcPct val="100000"/>
              </a:lnSpc>
              <a:buNone/>
            </a:pPr>
            <a:r>
              <a:rPr lang="en-US" sz="1900" b="1" dirty="0">
                <a:solidFill>
                  <a:srgbClr val="12263A"/>
                </a:solidFill>
                <a:latin typeface="Cambria" pitchFamily="34" charset="0"/>
                <a:ea typeface="Cambria" pitchFamily="34" charset="-122"/>
                <a:cs typeface="Cambria" pitchFamily="34" charset="-120"/>
              </a:rPr>
              <a:t>Capture</a:t>
            </a:r>
            <a:endParaRPr lang="en-US" sz="1900" dirty="0"/>
          </a:p>
        </p:txBody>
      </p:sp>
      <p:sp>
        <p:nvSpPr>
          <p:cNvPr id="18" name="Text 16"/>
          <p:cNvSpPr/>
          <p:nvPr/>
        </p:nvSpPr>
        <p:spPr>
          <a:xfrm>
            <a:off x="3009900" y="2667000"/>
            <a:ext cx="1638300" cy="120015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tcpdump captures PTP frames on brUP and brDN; raw PCAPs not kept in the archive</a:t>
            </a:r>
            <a:endParaRPr lang="en-US" sz="1300" dirty="0"/>
          </a:p>
        </p:txBody>
      </p:sp>
      <p:sp>
        <p:nvSpPr>
          <p:cNvPr id="19" name="Text 17"/>
          <p:cNvSpPr/>
          <p:nvPr/>
        </p:nvSpPr>
        <p:spPr>
          <a:xfrm>
            <a:off x="4857750" y="2686050"/>
            <a:ext cx="247650" cy="285750"/>
          </a:xfrm>
          <a:prstGeom prst="rect">
            <a:avLst/>
          </a:prstGeom>
          <a:noFill/>
          <a:ln/>
        </p:spPr>
        <p:txBody>
          <a:bodyPr wrap="square" lIns="0" tIns="0" rIns="0" bIns="0" rtlCol="0" anchor="t">
            <a:normAutofit/>
          </a:bodyPr>
          <a:lstStyle/>
          <a:p>
            <a:pPr marL="0" indent="0" algn="ctr">
              <a:lnSpc>
                <a:spcPct val="100000"/>
              </a:lnSpc>
              <a:buNone/>
            </a:pPr>
            <a:r>
              <a:rPr lang="en-US" sz="2400" b="1" dirty="0">
                <a:solidFill>
                  <a:srgbClr val="18B89A"/>
                </a:solidFill>
                <a:latin typeface="Calibri" pitchFamily="34" charset="0"/>
                <a:ea typeface="Calibri" pitchFamily="34" charset="-122"/>
                <a:cs typeface="Calibri" pitchFamily="34" charset="-120"/>
              </a:rPr>
              <a:t>›</a:t>
            </a:r>
            <a:endParaRPr lang="en-US" sz="2400" dirty="0"/>
          </a:p>
        </p:txBody>
      </p:sp>
      <p:sp>
        <p:nvSpPr>
          <p:cNvPr id="20" name="Shape 18"/>
          <p:cNvSpPr/>
          <p:nvPr/>
        </p:nvSpPr>
        <p:spPr>
          <a:xfrm>
            <a:off x="5105400" y="1809750"/>
            <a:ext cx="1962150" cy="2171700"/>
          </a:xfrm>
          <a:prstGeom prst="roundRect">
            <a:avLst>
              <a:gd name="adj" fmla="val 1864"/>
            </a:avLst>
          </a:prstGeom>
          <a:solidFill>
            <a:srgbClr val="FFFFFF"/>
          </a:solidFill>
          <a:ln w="12700">
            <a:solidFill>
              <a:srgbClr val="D7E1EA"/>
            </a:solidFill>
            <a:prstDash val="solid"/>
          </a:ln>
        </p:spPr>
        <p:txBody>
          <a:bodyPr/>
          <a:lstStyle/>
          <a:p>
            <a:endParaRPr lang="en-IN"/>
          </a:p>
        </p:txBody>
      </p:sp>
      <p:sp>
        <p:nvSpPr>
          <p:cNvPr id="21" name="Shape 19"/>
          <p:cNvSpPr/>
          <p:nvPr/>
        </p:nvSpPr>
        <p:spPr>
          <a:xfrm>
            <a:off x="5105400" y="1809750"/>
            <a:ext cx="1962150" cy="47625"/>
          </a:xfrm>
          <a:prstGeom prst="rect">
            <a:avLst/>
          </a:prstGeom>
          <a:solidFill>
            <a:srgbClr val="18B89A"/>
          </a:solidFill>
          <a:ln/>
        </p:spPr>
        <p:txBody>
          <a:bodyPr/>
          <a:lstStyle/>
          <a:p>
            <a:endParaRPr lang="en-IN"/>
          </a:p>
        </p:txBody>
      </p:sp>
      <p:sp>
        <p:nvSpPr>
          <p:cNvPr id="22" name="Text 20"/>
          <p:cNvSpPr/>
          <p:nvPr/>
        </p:nvSpPr>
        <p:spPr>
          <a:xfrm>
            <a:off x="5276850" y="1981200"/>
            <a:ext cx="571500" cy="24765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C7293"/>
                </a:solidFill>
                <a:latin typeface="Cambria" pitchFamily="34" charset="0"/>
                <a:ea typeface="Cambria" pitchFamily="34" charset="-122"/>
                <a:cs typeface="Cambria" pitchFamily="34" charset="-120"/>
              </a:rPr>
              <a:t>03</a:t>
            </a:r>
            <a:endParaRPr lang="en-US" sz="1700" dirty="0"/>
          </a:p>
        </p:txBody>
      </p:sp>
      <p:sp>
        <p:nvSpPr>
          <p:cNvPr id="23" name="Text 21"/>
          <p:cNvSpPr/>
          <p:nvPr/>
        </p:nvSpPr>
        <p:spPr>
          <a:xfrm>
            <a:off x="5276850" y="2305050"/>
            <a:ext cx="1619250" cy="266700"/>
          </a:xfrm>
          <a:prstGeom prst="rect">
            <a:avLst/>
          </a:prstGeom>
          <a:noFill/>
          <a:ln/>
        </p:spPr>
        <p:txBody>
          <a:bodyPr wrap="square" lIns="0" tIns="0" rIns="0" bIns="0" rtlCol="0" anchor="t">
            <a:normAutofit/>
          </a:bodyPr>
          <a:lstStyle/>
          <a:p>
            <a:pPr marL="0" indent="0" algn="l">
              <a:lnSpc>
                <a:spcPct val="100000"/>
              </a:lnSpc>
              <a:buNone/>
            </a:pPr>
            <a:r>
              <a:rPr lang="en-US" sz="1900" b="1" dirty="0">
                <a:solidFill>
                  <a:srgbClr val="12263A"/>
                </a:solidFill>
                <a:latin typeface="Cambria" pitchFamily="34" charset="0"/>
                <a:ea typeface="Cambria" pitchFamily="34" charset="-122"/>
                <a:cs typeface="Cambria" pitchFamily="34" charset="-120"/>
              </a:rPr>
              <a:t>Deep extract</a:t>
            </a:r>
            <a:endParaRPr lang="en-US" sz="1900" dirty="0"/>
          </a:p>
        </p:txBody>
      </p:sp>
      <p:sp>
        <p:nvSpPr>
          <p:cNvPr id="24" name="Text 22"/>
          <p:cNvSpPr/>
          <p:nvPr/>
        </p:nvSpPr>
        <p:spPr>
          <a:xfrm>
            <a:off x="5276850" y="2667000"/>
            <a:ext cx="1638300" cy="120015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56 protocol and conformance fields per packet; fields that cannot be observed are written EMPTY</a:t>
            </a:r>
            <a:endParaRPr lang="en-US" sz="1300" dirty="0"/>
          </a:p>
        </p:txBody>
      </p:sp>
      <p:sp>
        <p:nvSpPr>
          <p:cNvPr id="25" name="Text 23"/>
          <p:cNvSpPr/>
          <p:nvPr/>
        </p:nvSpPr>
        <p:spPr>
          <a:xfrm>
            <a:off x="7124700" y="2686050"/>
            <a:ext cx="247650" cy="285750"/>
          </a:xfrm>
          <a:prstGeom prst="rect">
            <a:avLst/>
          </a:prstGeom>
          <a:noFill/>
          <a:ln/>
        </p:spPr>
        <p:txBody>
          <a:bodyPr wrap="square" lIns="0" tIns="0" rIns="0" bIns="0" rtlCol="0" anchor="t">
            <a:normAutofit/>
          </a:bodyPr>
          <a:lstStyle/>
          <a:p>
            <a:pPr marL="0" indent="0" algn="ctr">
              <a:lnSpc>
                <a:spcPct val="100000"/>
              </a:lnSpc>
              <a:buNone/>
            </a:pPr>
            <a:r>
              <a:rPr lang="en-US" sz="2400" b="1" dirty="0">
                <a:solidFill>
                  <a:srgbClr val="18B89A"/>
                </a:solidFill>
                <a:latin typeface="Calibri" pitchFamily="34" charset="0"/>
                <a:ea typeface="Calibri" pitchFamily="34" charset="-122"/>
                <a:cs typeface="Calibri" pitchFamily="34" charset="-120"/>
              </a:rPr>
              <a:t>›</a:t>
            </a:r>
            <a:endParaRPr lang="en-US" sz="2400" dirty="0"/>
          </a:p>
        </p:txBody>
      </p:sp>
      <p:sp>
        <p:nvSpPr>
          <p:cNvPr id="26" name="Shape 24"/>
          <p:cNvSpPr/>
          <p:nvPr/>
        </p:nvSpPr>
        <p:spPr>
          <a:xfrm>
            <a:off x="7372350" y="1809750"/>
            <a:ext cx="1962150" cy="2171700"/>
          </a:xfrm>
          <a:prstGeom prst="roundRect">
            <a:avLst>
              <a:gd name="adj" fmla="val 1864"/>
            </a:avLst>
          </a:prstGeom>
          <a:solidFill>
            <a:srgbClr val="FFFFFF"/>
          </a:solidFill>
          <a:ln w="12700">
            <a:solidFill>
              <a:srgbClr val="D7E1EA"/>
            </a:solidFill>
            <a:prstDash val="solid"/>
          </a:ln>
        </p:spPr>
        <p:txBody>
          <a:bodyPr/>
          <a:lstStyle/>
          <a:p>
            <a:endParaRPr lang="en-IN"/>
          </a:p>
        </p:txBody>
      </p:sp>
      <p:sp>
        <p:nvSpPr>
          <p:cNvPr id="27" name="Shape 25"/>
          <p:cNvSpPr/>
          <p:nvPr/>
        </p:nvSpPr>
        <p:spPr>
          <a:xfrm>
            <a:off x="7372350" y="1809750"/>
            <a:ext cx="1962150" cy="47625"/>
          </a:xfrm>
          <a:prstGeom prst="rect">
            <a:avLst/>
          </a:prstGeom>
          <a:solidFill>
            <a:srgbClr val="18B89A"/>
          </a:solidFill>
          <a:ln/>
        </p:spPr>
        <p:txBody>
          <a:bodyPr/>
          <a:lstStyle/>
          <a:p>
            <a:endParaRPr lang="en-IN"/>
          </a:p>
        </p:txBody>
      </p:sp>
      <p:sp>
        <p:nvSpPr>
          <p:cNvPr id="28" name="Text 26"/>
          <p:cNvSpPr/>
          <p:nvPr/>
        </p:nvSpPr>
        <p:spPr>
          <a:xfrm>
            <a:off x="7543800" y="1981200"/>
            <a:ext cx="571500" cy="24765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C7293"/>
                </a:solidFill>
                <a:latin typeface="Cambria" pitchFamily="34" charset="0"/>
                <a:ea typeface="Cambria" pitchFamily="34" charset="-122"/>
                <a:cs typeface="Cambria" pitchFamily="34" charset="-120"/>
              </a:rPr>
              <a:t>04</a:t>
            </a:r>
            <a:endParaRPr lang="en-US" sz="1700" dirty="0"/>
          </a:p>
        </p:txBody>
      </p:sp>
      <p:sp>
        <p:nvSpPr>
          <p:cNvPr id="29" name="Text 27"/>
          <p:cNvSpPr/>
          <p:nvPr/>
        </p:nvSpPr>
        <p:spPr>
          <a:xfrm>
            <a:off x="7543800" y="2305050"/>
            <a:ext cx="1619250" cy="266700"/>
          </a:xfrm>
          <a:prstGeom prst="rect">
            <a:avLst/>
          </a:prstGeom>
          <a:noFill/>
          <a:ln/>
        </p:spPr>
        <p:txBody>
          <a:bodyPr wrap="square" lIns="0" tIns="0" rIns="0" bIns="0" rtlCol="0" anchor="t">
            <a:normAutofit/>
          </a:bodyPr>
          <a:lstStyle/>
          <a:p>
            <a:pPr marL="0" indent="0" algn="l">
              <a:lnSpc>
                <a:spcPct val="100000"/>
              </a:lnSpc>
              <a:buNone/>
            </a:pPr>
            <a:r>
              <a:rPr lang="en-US" sz="1900" b="1" dirty="0">
                <a:solidFill>
                  <a:srgbClr val="12263A"/>
                </a:solidFill>
                <a:latin typeface="Cambria" pitchFamily="34" charset="0"/>
                <a:ea typeface="Cambria" pitchFamily="34" charset="-122"/>
                <a:cs typeface="Cambria" pitchFamily="34" charset="-120"/>
              </a:rPr>
              <a:t>Decision rule</a:t>
            </a:r>
            <a:endParaRPr lang="en-US" sz="1900" dirty="0"/>
          </a:p>
        </p:txBody>
      </p:sp>
      <p:sp>
        <p:nvSpPr>
          <p:cNvPr id="30" name="Text 28"/>
          <p:cNvSpPr/>
          <p:nvPr/>
        </p:nvSpPr>
        <p:spPr>
          <a:xfrm>
            <a:off x="7543800" y="2667000"/>
            <a:ext cx="1638300" cy="120015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Standards legality plus provisioned operator context, applied as ordered clauses</a:t>
            </a:r>
            <a:endParaRPr lang="en-US" sz="1300" dirty="0"/>
          </a:p>
        </p:txBody>
      </p:sp>
      <p:sp>
        <p:nvSpPr>
          <p:cNvPr id="31" name="Text 29"/>
          <p:cNvSpPr/>
          <p:nvPr/>
        </p:nvSpPr>
        <p:spPr>
          <a:xfrm>
            <a:off x="9391650" y="2686050"/>
            <a:ext cx="247650" cy="285750"/>
          </a:xfrm>
          <a:prstGeom prst="rect">
            <a:avLst/>
          </a:prstGeom>
          <a:noFill/>
          <a:ln/>
        </p:spPr>
        <p:txBody>
          <a:bodyPr wrap="square" lIns="0" tIns="0" rIns="0" bIns="0" rtlCol="0" anchor="t">
            <a:normAutofit/>
          </a:bodyPr>
          <a:lstStyle/>
          <a:p>
            <a:pPr marL="0" indent="0" algn="ctr">
              <a:lnSpc>
                <a:spcPct val="100000"/>
              </a:lnSpc>
              <a:buNone/>
            </a:pPr>
            <a:r>
              <a:rPr lang="en-US" sz="2400" b="1" dirty="0">
                <a:solidFill>
                  <a:srgbClr val="18B89A"/>
                </a:solidFill>
                <a:latin typeface="Calibri" pitchFamily="34" charset="0"/>
                <a:ea typeface="Calibri" pitchFamily="34" charset="-122"/>
                <a:cs typeface="Calibri" pitchFamily="34" charset="-120"/>
              </a:rPr>
              <a:t>›</a:t>
            </a:r>
            <a:endParaRPr lang="en-US" sz="2400" dirty="0"/>
          </a:p>
        </p:txBody>
      </p:sp>
      <p:sp>
        <p:nvSpPr>
          <p:cNvPr id="32" name="Shape 30"/>
          <p:cNvSpPr/>
          <p:nvPr/>
        </p:nvSpPr>
        <p:spPr>
          <a:xfrm>
            <a:off x="9639300" y="1809750"/>
            <a:ext cx="1962150" cy="2171700"/>
          </a:xfrm>
          <a:prstGeom prst="roundRect">
            <a:avLst>
              <a:gd name="adj" fmla="val 1864"/>
            </a:avLst>
          </a:prstGeom>
          <a:solidFill>
            <a:srgbClr val="FFFFFF"/>
          </a:solidFill>
          <a:ln w="12700">
            <a:solidFill>
              <a:srgbClr val="D7E1EA"/>
            </a:solidFill>
            <a:prstDash val="solid"/>
          </a:ln>
        </p:spPr>
        <p:txBody>
          <a:bodyPr/>
          <a:lstStyle/>
          <a:p>
            <a:endParaRPr lang="en-IN"/>
          </a:p>
        </p:txBody>
      </p:sp>
      <p:sp>
        <p:nvSpPr>
          <p:cNvPr id="33" name="Shape 31"/>
          <p:cNvSpPr/>
          <p:nvPr/>
        </p:nvSpPr>
        <p:spPr>
          <a:xfrm>
            <a:off x="9639300" y="1809750"/>
            <a:ext cx="1962150" cy="47625"/>
          </a:xfrm>
          <a:prstGeom prst="rect">
            <a:avLst/>
          </a:prstGeom>
          <a:solidFill>
            <a:srgbClr val="18B89A"/>
          </a:solidFill>
          <a:ln/>
        </p:spPr>
        <p:txBody>
          <a:bodyPr/>
          <a:lstStyle/>
          <a:p>
            <a:endParaRPr lang="en-IN"/>
          </a:p>
        </p:txBody>
      </p:sp>
      <p:sp>
        <p:nvSpPr>
          <p:cNvPr id="34" name="Text 32"/>
          <p:cNvSpPr/>
          <p:nvPr/>
        </p:nvSpPr>
        <p:spPr>
          <a:xfrm>
            <a:off x="9810750" y="1981200"/>
            <a:ext cx="571500" cy="24765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1C7293"/>
                </a:solidFill>
                <a:latin typeface="Cambria" pitchFamily="34" charset="0"/>
                <a:ea typeface="Cambria" pitchFamily="34" charset="-122"/>
                <a:cs typeface="Cambria" pitchFamily="34" charset="-120"/>
              </a:rPr>
              <a:t>05</a:t>
            </a:r>
            <a:endParaRPr lang="en-US" sz="1700" dirty="0"/>
          </a:p>
        </p:txBody>
      </p:sp>
      <p:sp>
        <p:nvSpPr>
          <p:cNvPr id="35" name="Text 33"/>
          <p:cNvSpPr/>
          <p:nvPr/>
        </p:nvSpPr>
        <p:spPr>
          <a:xfrm>
            <a:off x="9810750" y="2305050"/>
            <a:ext cx="1619250" cy="266700"/>
          </a:xfrm>
          <a:prstGeom prst="rect">
            <a:avLst/>
          </a:prstGeom>
          <a:noFill/>
          <a:ln/>
        </p:spPr>
        <p:txBody>
          <a:bodyPr wrap="square" lIns="0" tIns="0" rIns="0" bIns="0" rtlCol="0" anchor="t">
            <a:normAutofit/>
          </a:bodyPr>
          <a:lstStyle/>
          <a:p>
            <a:pPr marL="0" indent="0" algn="l">
              <a:lnSpc>
                <a:spcPct val="100000"/>
              </a:lnSpc>
              <a:buNone/>
            </a:pPr>
            <a:r>
              <a:rPr lang="en-US" sz="1900" b="1" dirty="0">
                <a:solidFill>
                  <a:srgbClr val="12263A"/>
                </a:solidFill>
                <a:latin typeface="Cambria" pitchFamily="34" charset="0"/>
                <a:ea typeface="Cambria" pitchFamily="34" charset="-122"/>
                <a:cs typeface="Cambria" pitchFamily="34" charset="-120"/>
              </a:rPr>
              <a:t>Verdict</a:t>
            </a:r>
            <a:endParaRPr lang="en-US" sz="1900" dirty="0"/>
          </a:p>
        </p:txBody>
      </p:sp>
      <p:sp>
        <p:nvSpPr>
          <p:cNvPr id="36" name="Text 34"/>
          <p:cNvSpPr/>
          <p:nvPr/>
        </p:nvSpPr>
        <p:spPr>
          <a:xfrm>
            <a:off x="9810750" y="2667000"/>
            <a:ext cx="1638300" cy="120015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ATTACK · BENIGN · UNKNOWN, with the triggering clause recorded</a:t>
            </a:r>
            <a:endParaRPr lang="en-US" sz="1300" dirty="0"/>
          </a:p>
        </p:txBody>
      </p:sp>
      <p:sp>
        <p:nvSpPr>
          <p:cNvPr id="37" name="Shape 35"/>
          <p:cNvSpPr/>
          <p:nvPr/>
        </p:nvSpPr>
        <p:spPr>
          <a:xfrm>
            <a:off x="571500" y="4229100"/>
            <a:ext cx="11049000" cy="1143000"/>
          </a:xfrm>
          <a:prstGeom prst="roundRect">
            <a:avLst>
              <a:gd name="adj" fmla="val 3200"/>
            </a:avLst>
          </a:prstGeom>
          <a:solidFill>
            <a:srgbClr val="0E2440"/>
          </a:solidFill>
          <a:ln w="12700">
            <a:solidFill>
              <a:srgbClr val="0E2440"/>
            </a:solidFill>
            <a:prstDash val="solid"/>
          </a:ln>
        </p:spPr>
        <p:txBody>
          <a:bodyPr/>
          <a:lstStyle/>
          <a:p>
            <a:endParaRPr lang="en-IN"/>
          </a:p>
        </p:txBody>
      </p:sp>
      <p:sp>
        <p:nvSpPr>
          <p:cNvPr id="38" name="Text 36"/>
          <p:cNvSpPr/>
          <p:nvPr/>
        </p:nvSpPr>
        <p:spPr>
          <a:xfrm>
            <a:off x="800100" y="4400550"/>
            <a:ext cx="8572500" cy="209550"/>
          </a:xfrm>
          <a:prstGeom prst="rect">
            <a:avLst/>
          </a:prstGeom>
          <a:noFill/>
          <a:ln/>
        </p:spPr>
        <p:txBody>
          <a:bodyPr wrap="square" lIns="0" tIns="0" rIns="0" bIns="0" rtlCol="0" anchor="t">
            <a:normAutofit/>
          </a:bodyPr>
          <a:lstStyle/>
          <a:p>
            <a:pPr marL="0" indent="0" algn="l">
              <a:lnSpc>
                <a:spcPct val="100000"/>
              </a:lnSpc>
              <a:buNone/>
            </a:pPr>
            <a:r>
              <a:rPr lang="en-US" sz="1250" b="1" dirty="0">
                <a:solidFill>
                  <a:srgbClr val="18B89A"/>
                </a:solidFill>
                <a:latin typeface="Calibri" pitchFamily="34" charset="0"/>
                <a:ea typeface="Calibri" pitchFamily="34" charset="-122"/>
                <a:cs typeface="Calibri" pitchFamily="34" charset="-120"/>
              </a:rPr>
              <a:t>INTEGRITY RULE CARRIED THROUGH THE WHOLE PIPELINE</a:t>
            </a:r>
            <a:endParaRPr lang="en-US" sz="1250" dirty="0"/>
          </a:p>
        </p:txBody>
      </p:sp>
      <p:sp>
        <p:nvSpPr>
          <p:cNvPr id="39" name="Text 37"/>
          <p:cNvSpPr/>
          <p:nvPr/>
        </p:nvSpPr>
        <p:spPr>
          <a:xfrm>
            <a:off x="800100" y="4667250"/>
            <a:ext cx="10477500" cy="24765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FFFFFF"/>
                </a:solidFill>
                <a:latin typeface="Cambria" pitchFamily="34" charset="0"/>
                <a:ea typeface="Cambria" pitchFamily="34" charset="-122"/>
                <a:cs typeface="Cambria" pitchFamily="34" charset="-120"/>
              </a:rPr>
              <a:t>A value that cannot be measured is written EMPTY — never zero.</a:t>
            </a:r>
            <a:endParaRPr lang="en-US" sz="2000" dirty="0"/>
          </a:p>
        </p:txBody>
      </p:sp>
      <p:sp>
        <p:nvSpPr>
          <p:cNvPr id="40" name="Text 38"/>
          <p:cNvSpPr/>
          <p:nvPr/>
        </p:nvSpPr>
        <p:spPr>
          <a:xfrm>
            <a:off x="800100" y="4972050"/>
            <a:ext cx="10477500" cy="381000"/>
          </a:xfrm>
          <a:prstGeom prst="rect">
            <a:avLst/>
          </a:prstGeom>
          <a:noFill/>
          <a:ln/>
        </p:spPr>
        <p:txBody>
          <a:bodyPr wrap="square" lIns="0" tIns="0" rIns="0" bIns="0" rtlCol="0" anchor="t">
            <a:normAutofit/>
          </a:bodyPr>
          <a:lstStyle/>
          <a:p>
            <a:pPr marL="0" indent="0" algn="l">
              <a:lnSpc>
                <a:spcPct val="100000"/>
              </a:lnSpc>
              <a:buNone/>
            </a:pPr>
            <a:r>
              <a:rPr lang="en-US" sz="1380" dirty="0">
                <a:solidFill>
                  <a:srgbClr val="CFD9E5"/>
                </a:solidFill>
                <a:latin typeface="Calibri" pitchFamily="34" charset="0"/>
                <a:ea typeface="Calibri" pitchFamily="34" charset="-122"/>
                <a:cs typeface="Calibri" pitchFamily="34" charset="-120"/>
              </a:rPr>
              <a:t>A zero offset reads as perfect synchronization. An earlier build wrote zero for unobserved fields and consequently reported a blind node as healthy. Nothing is treated as healthy without positive proof of observation, and this rule is applied at extraction, at feature construction and at scoring.</a:t>
            </a:r>
            <a:endParaRPr lang="en-US" sz="1380" dirty="0"/>
          </a:p>
        </p:txBody>
      </p:sp>
      <p:sp>
        <p:nvSpPr>
          <p:cNvPr id="41" name="Shape 39"/>
          <p:cNvSpPr/>
          <p:nvPr/>
        </p:nvSpPr>
        <p:spPr>
          <a:xfrm>
            <a:off x="571500" y="5524500"/>
            <a:ext cx="11049000" cy="514350"/>
          </a:xfrm>
          <a:prstGeom prst="roundRect">
            <a:avLst>
              <a:gd name="adj" fmla="val 7111"/>
            </a:avLst>
          </a:prstGeom>
          <a:solidFill>
            <a:srgbClr val="DDF5EF"/>
          </a:solidFill>
          <a:ln w="12700">
            <a:solidFill>
              <a:srgbClr val="18B89A"/>
            </a:solidFill>
            <a:prstDash val="solid"/>
          </a:ln>
        </p:spPr>
        <p:txBody>
          <a:bodyPr/>
          <a:lstStyle/>
          <a:p>
            <a:endParaRPr lang="en-IN"/>
          </a:p>
        </p:txBody>
      </p:sp>
      <p:sp>
        <p:nvSpPr>
          <p:cNvPr id="42" name="Text 40"/>
          <p:cNvSpPr/>
          <p:nvPr/>
        </p:nvSpPr>
        <p:spPr>
          <a:xfrm>
            <a:off x="781050" y="5648325"/>
            <a:ext cx="10629900" cy="28575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0B5547"/>
                </a:solidFill>
                <a:latin typeface="Cambria" pitchFamily="34" charset="0"/>
                <a:ea typeface="Cambria" pitchFamily="34" charset="-122"/>
                <a:cs typeface="Cambria" pitchFamily="34" charset="-120"/>
              </a:rPr>
              <a:t>The same extracted evidence feeds both decision arms, so the rule-based and machine-learning comparison is performed on identical executed runs rather than on separately prepared datasets.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DATASET PRODUCED</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Experimental Dataset Composition</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Packaged archive: splane_campaign_CORRECTED_2026-09-20.tgz, 1096 files, sha256 6149b4fb15940cdac694ba8666d97041b4eb62d5523d2631c1edf96d531e4ed9  |  Run inventory enumerated in EVALUATION_V4.json</a:t>
            </a:r>
            <a:endParaRPr lang="en-US" sz="1120" dirty="0"/>
          </a:p>
        </p:txBody>
      </p:sp>
      <p:sp>
        <p:nvSpPr>
          <p:cNvPr id="8" name="Shape 6"/>
          <p:cNvSpPr/>
          <p:nvPr/>
        </p:nvSpPr>
        <p:spPr>
          <a:xfrm>
            <a:off x="571500" y="1638300"/>
            <a:ext cx="2057400" cy="876300"/>
          </a:xfrm>
          <a:prstGeom prst="roundRect">
            <a:avLst>
              <a:gd name="adj" fmla="val 4174"/>
            </a:avLst>
          </a:prstGeom>
          <a:solidFill>
            <a:srgbClr val="0E2440"/>
          </a:solidFill>
          <a:ln w="12700">
            <a:solidFill>
              <a:srgbClr val="0E2440"/>
            </a:solidFill>
            <a:prstDash val="solid"/>
          </a:ln>
        </p:spPr>
        <p:txBody>
          <a:bodyPr/>
          <a:lstStyle/>
          <a:p>
            <a:endParaRPr lang="en-IN"/>
          </a:p>
        </p:txBody>
      </p:sp>
      <p:sp>
        <p:nvSpPr>
          <p:cNvPr id="9" name="Text 7"/>
          <p:cNvSpPr/>
          <p:nvPr/>
        </p:nvSpPr>
        <p:spPr>
          <a:xfrm>
            <a:off x="571500" y="1809750"/>
            <a:ext cx="2057400" cy="342900"/>
          </a:xfrm>
          <a:prstGeom prst="rect">
            <a:avLst/>
          </a:prstGeom>
          <a:noFill/>
          <a:ln/>
        </p:spPr>
        <p:txBody>
          <a:bodyPr wrap="square" lIns="0" tIns="0" rIns="0" bIns="0" rtlCol="0" anchor="t">
            <a:normAutofit/>
          </a:bodyPr>
          <a:lstStyle/>
          <a:p>
            <a:pPr marL="0" indent="0" algn="ctr">
              <a:lnSpc>
                <a:spcPct val="100000"/>
              </a:lnSpc>
              <a:buNone/>
            </a:pPr>
            <a:r>
              <a:rPr lang="en-US" sz="3100" b="1" dirty="0">
                <a:solidFill>
                  <a:srgbClr val="18B89A"/>
                </a:solidFill>
                <a:latin typeface="Cambria" pitchFamily="34" charset="0"/>
                <a:ea typeface="Cambria" pitchFamily="34" charset="-122"/>
                <a:cs typeface="Cambria" pitchFamily="34" charset="-120"/>
              </a:rPr>
              <a:t>168</a:t>
            </a:r>
            <a:endParaRPr lang="en-US" sz="3100" dirty="0"/>
          </a:p>
        </p:txBody>
      </p:sp>
      <p:sp>
        <p:nvSpPr>
          <p:cNvPr id="10" name="Text 8"/>
          <p:cNvSpPr/>
          <p:nvPr/>
        </p:nvSpPr>
        <p:spPr>
          <a:xfrm>
            <a:off x="647700" y="2190750"/>
            <a:ext cx="1905000" cy="2667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CFD9E5"/>
                </a:solidFill>
                <a:latin typeface="Calibri" pitchFamily="34" charset="0"/>
                <a:ea typeface="Calibri" pitchFamily="34" charset="-122"/>
                <a:cs typeface="Calibri" pitchFamily="34" charset="-120"/>
              </a:rPr>
              <a:t>live on-wire runs</a:t>
            </a:r>
            <a:endParaRPr lang="en-US" sz="1100" dirty="0"/>
          </a:p>
        </p:txBody>
      </p:sp>
      <p:sp>
        <p:nvSpPr>
          <p:cNvPr id="11" name="Shape 9"/>
          <p:cNvSpPr/>
          <p:nvPr/>
        </p:nvSpPr>
        <p:spPr>
          <a:xfrm>
            <a:off x="2819400" y="1638300"/>
            <a:ext cx="2057400" cy="876300"/>
          </a:xfrm>
          <a:prstGeom prst="roundRect">
            <a:avLst>
              <a:gd name="adj" fmla="val 4174"/>
            </a:avLst>
          </a:prstGeom>
          <a:solidFill>
            <a:srgbClr val="0E2440"/>
          </a:solidFill>
          <a:ln w="12700">
            <a:solidFill>
              <a:srgbClr val="0E2440"/>
            </a:solidFill>
            <a:prstDash val="solid"/>
          </a:ln>
        </p:spPr>
        <p:txBody>
          <a:bodyPr/>
          <a:lstStyle/>
          <a:p>
            <a:endParaRPr lang="en-IN"/>
          </a:p>
        </p:txBody>
      </p:sp>
      <p:sp>
        <p:nvSpPr>
          <p:cNvPr id="12" name="Text 10"/>
          <p:cNvSpPr/>
          <p:nvPr/>
        </p:nvSpPr>
        <p:spPr>
          <a:xfrm>
            <a:off x="2819400" y="1809750"/>
            <a:ext cx="2057400" cy="342900"/>
          </a:xfrm>
          <a:prstGeom prst="rect">
            <a:avLst/>
          </a:prstGeom>
          <a:noFill/>
          <a:ln/>
        </p:spPr>
        <p:txBody>
          <a:bodyPr wrap="square" lIns="0" tIns="0" rIns="0" bIns="0" rtlCol="0" anchor="t">
            <a:normAutofit/>
          </a:bodyPr>
          <a:lstStyle/>
          <a:p>
            <a:pPr marL="0" indent="0" algn="ctr">
              <a:lnSpc>
                <a:spcPct val="100000"/>
              </a:lnSpc>
              <a:buNone/>
            </a:pPr>
            <a:r>
              <a:rPr lang="en-US" sz="3100" b="1" dirty="0">
                <a:solidFill>
                  <a:srgbClr val="18B89A"/>
                </a:solidFill>
                <a:latin typeface="Cambria" pitchFamily="34" charset="0"/>
                <a:ea typeface="Cambria" pitchFamily="34" charset="-122"/>
                <a:cs typeface="Cambria" pitchFamily="34" charset="-120"/>
              </a:rPr>
              <a:t>14</a:t>
            </a:r>
            <a:endParaRPr lang="en-US" sz="3100" dirty="0"/>
          </a:p>
        </p:txBody>
      </p:sp>
      <p:sp>
        <p:nvSpPr>
          <p:cNvPr id="13" name="Text 11"/>
          <p:cNvSpPr/>
          <p:nvPr/>
        </p:nvSpPr>
        <p:spPr>
          <a:xfrm>
            <a:off x="2895600" y="2190750"/>
            <a:ext cx="1905000" cy="2667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CFD9E5"/>
                </a:solidFill>
                <a:latin typeface="Calibri" pitchFamily="34" charset="0"/>
                <a:ea typeface="Calibri" pitchFamily="34" charset="-122"/>
                <a:cs typeface="Calibri" pitchFamily="34" charset="-120"/>
              </a:rPr>
              <a:t>fault scenarios</a:t>
            </a:r>
            <a:endParaRPr lang="en-US" sz="1100" dirty="0"/>
          </a:p>
        </p:txBody>
      </p:sp>
      <p:sp>
        <p:nvSpPr>
          <p:cNvPr id="14" name="Shape 12"/>
          <p:cNvSpPr/>
          <p:nvPr/>
        </p:nvSpPr>
        <p:spPr>
          <a:xfrm>
            <a:off x="5067300" y="1638300"/>
            <a:ext cx="2057400" cy="876300"/>
          </a:xfrm>
          <a:prstGeom prst="roundRect">
            <a:avLst>
              <a:gd name="adj" fmla="val 4174"/>
            </a:avLst>
          </a:prstGeom>
          <a:solidFill>
            <a:srgbClr val="0E2440"/>
          </a:solidFill>
          <a:ln w="12700">
            <a:solidFill>
              <a:srgbClr val="0E2440"/>
            </a:solidFill>
            <a:prstDash val="solid"/>
          </a:ln>
        </p:spPr>
        <p:txBody>
          <a:bodyPr/>
          <a:lstStyle/>
          <a:p>
            <a:endParaRPr lang="en-IN"/>
          </a:p>
        </p:txBody>
      </p:sp>
      <p:sp>
        <p:nvSpPr>
          <p:cNvPr id="15" name="Text 13"/>
          <p:cNvSpPr/>
          <p:nvPr/>
        </p:nvSpPr>
        <p:spPr>
          <a:xfrm>
            <a:off x="5067300" y="1809750"/>
            <a:ext cx="2057400" cy="342900"/>
          </a:xfrm>
          <a:prstGeom prst="rect">
            <a:avLst/>
          </a:prstGeom>
          <a:noFill/>
          <a:ln/>
        </p:spPr>
        <p:txBody>
          <a:bodyPr wrap="square" lIns="0" tIns="0" rIns="0" bIns="0" rtlCol="0" anchor="t">
            <a:normAutofit/>
          </a:bodyPr>
          <a:lstStyle/>
          <a:p>
            <a:pPr marL="0" indent="0" algn="ctr">
              <a:lnSpc>
                <a:spcPct val="100000"/>
              </a:lnSpc>
              <a:buNone/>
            </a:pPr>
            <a:r>
              <a:rPr lang="en-US" sz="3100" b="1" dirty="0">
                <a:solidFill>
                  <a:srgbClr val="18B89A"/>
                </a:solidFill>
                <a:latin typeface="Cambria" pitchFamily="34" charset="0"/>
                <a:ea typeface="Cambria" pitchFamily="34" charset="-122"/>
                <a:cs typeface="Cambria" pitchFamily="34" charset="-120"/>
              </a:rPr>
              <a:t>12</a:t>
            </a:r>
            <a:endParaRPr lang="en-US" sz="3100" dirty="0"/>
          </a:p>
        </p:txBody>
      </p:sp>
      <p:sp>
        <p:nvSpPr>
          <p:cNvPr id="16" name="Text 14"/>
          <p:cNvSpPr/>
          <p:nvPr/>
        </p:nvSpPr>
        <p:spPr>
          <a:xfrm>
            <a:off x="5143500" y="2190750"/>
            <a:ext cx="1905000" cy="2667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CFD9E5"/>
                </a:solidFill>
                <a:latin typeface="Calibri" pitchFamily="34" charset="0"/>
                <a:ea typeface="Calibri" pitchFamily="34" charset="-122"/>
                <a:cs typeface="Calibri" pitchFamily="34" charset="-120"/>
              </a:rPr>
              <a:t>randomised replicates each</a:t>
            </a:r>
            <a:endParaRPr lang="en-US" sz="1100" dirty="0"/>
          </a:p>
        </p:txBody>
      </p:sp>
      <p:sp>
        <p:nvSpPr>
          <p:cNvPr id="17" name="Shape 15"/>
          <p:cNvSpPr/>
          <p:nvPr/>
        </p:nvSpPr>
        <p:spPr>
          <a:xfrm>
            <a:off x="7315200" y="1638300"/>
            <a:ext cx="2057400" cy="876300"/>
          </a:xfrm>
          <a:prstGeom prst="roundRect">
            <a:avLst>
              <a:gd name="adj" fmla="val 4174"/>
            </a:avLst>
          </a:prstGeom>
          <a:solidFill>
            <a:srgbClr val="0E2440"/>
          </a:solidFill>
          <a:ln w="12700">
            <a:solidFill>
              <a:srgbClr val="0E2440"/>
            </a:solidFill>
            <a:prstDash val="solid"/>
          </a:ln>
        </p:spPr>
        <p:txBody>
          <a:bodyPr/>
          <a:lstStyle/>
          <a:p>
            <a:endParaRPr lang="en-IN"/>
          </a:p>
        </p:txBody>
      </p:sp>
      <p:sp>
        <p:nvSpPr>
          <p:cNvPr id="18" name="Text 16"/>
          <p:cNvSpPr/>
          <p:nvPr/>
        </p:nvSpPr>
        <p:spPr>
          <a:xfrm>
            <a:off x="7315200" y="1809750"/>
            <a:ext cx="2057400" cy="342900"/>
          </a:xfrm>
          <a:prstGeom prst="rect">
            <a:avLst/>
          </a:prstGeom>
          <a:noFill/>
          <a:ln/>
        </p:spPr>
        <p:txBody>
          <a:bodyPr wrap="square" lIns="0" tIns="0" rIns="0" bIns="0" rtlCol="0" anchor="t">
            <a:normAutofit/>
          </a:bodyPr>
          <a:lstStyle/>
          <a:p>
            <a:pPr marL="0" indent="0" algn="ctr">
              <a:lnSpc>
                <a:spcPct val="100000"/>
              </a:lnSpc>
              <a:buNone/>
            </a:pPr>
            <a:r>
              <a:rPr lang="en-US" sz="2400" b="1" dirty="0">
                <a:solidFill>
                  <a:srgbClr val="18B89A"/>
                </a:solidFill>
                <a:latin typeface="Cambria" pitchFamily="34" charset="0"/>
                <a:ea typeface="Cambria" pitchFamily="34" charset="-122"/>
                <a:cs typeface="Cambria" pitchFamily="34" charset="-120"/>
              </a:rPr>
              <a:t>1,451,909</a:t>
            </a:r>
            <a:endParaRPr lang="en-US" sz="2400" dirty="0"/>
          </a:p>
        </p:txBody>
      </p:sp>
      <p:sp>
        <p:nvSpPr>
          <p:cNvPr id="19" name="Text 17"/>
          <p:cNvSpPr/>
          <p:nvPr/>
        </p:nvSpPr>
        <p:spPr>
          <a:xfrm>
            <a:off x="7391400" y="2190750"/>
            <a:ext cx="1905000" cy="2667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CFD9E5"/>
                </a:solidFill>
                <a:latin typeface="Calibri" pitchFamily="34" charset="0"/>
                <a:ea typeface="Calibri" pitchFamily="34" charset="-122"/>
                <a:cs typeface="Calibri" pitchFamily="34" charset="-120"/>
              </a:rPr>
              <a:t>PTP packet records extracted</a:t>
            </a:r>
            <a:endParaRPr lang="en-US" sz="1100" dirty="0"/>
          </a:p>
        </p:txBody>
      </p:sp>
      <p:sp>
        <p:nvSpPr>
          <p:cNvPr id="20" name="Shape 18"/>
          <p:cNvSpPr/>
          <p:nvPr/>
        </p:nvSpPr>
        <p:spPr>
          <a:xfrm>
            <a:off x="9563100" y="1638300"/>
            <a:ext cx="2057400" cy="876300"/>
          </a:xfrm>
          <a:prstGeom prst="roundRect">
            <a:avLst>
              <a:gd name="adj" fmla="val 4174"/>
            </a:avLst>
          </a:prstGeom>
          <a:solidFill>
            <a:srgbClr val="0E2440"/>
          </a:solidFill>
          <a:ln w="12700">
            <a:solidFill>
              <a:srgbClr val="0E2440"/>
            </a:solidFill>
            <a:prstDash val="solid"/>
          </a:ln>
        </p:spPr>
        <p:txBody>
          <a:bodyPr/>
          <a:lstStyle/>
          <a:p>
            <a:endParaRPr lang="en-IN"/>
          </a:p>
        </p:txBody>
      </p:sp>
      <p:sp>
        <p:nvSpPr>
          <p:cNvPr id="21" name="Text 19"/>
          <p:cNvSpPr/>
          <p:nvPr/>
        </p:nvSpPr>
        <p:spPr>
          <a:xfrm>
            <a:off x="9563100" y="1809750"/>
            <a:ext cx="2057400" cy="342900"/>
          </a:xfrm>
          <a:prstGeom prst="rect">
            <a:avLst/>
          </a:prstGeom>
          <a:noFill/>
          <a:ln/>
        </p:spPr>
        <p:txBody>
          <a:bodyPr wrap="square" lIns="0" tIns="0" rIns="0" bIns="0" rtlCol="0" anchor="t">
            <a:normAutofit/>
          </a:bodyPr>
          <a:lstStyle/>
          <a:p>
            <a:pPr marL="0" indent="0" algn="ctr">
              <a:lnSpc>
                <a:spcPct val="100000"/>
              </a:lnSpc>
              <a:buNone/>
            </a:pPr>
            <a:r>
              <a:rPr lang="en-US" sz="3100" b="1" dirty="0">
                <a:solidFill>
                  <a:srgbClr val="18B89A"/>
                </a:solidFill>
                <a:latin typeface="Cambria" pitchFamily="34" charset="0"/>
                <a:ea typeface="Cambria" pitchFamily="34" charset="-122"/>
                <a:cs typeface="Cambria" pitchFamily="34" charset="-120"/>
              </a:rPr>
              <a:t>56</a:t>
            </a:r>
            <a:endParaRPr lang="en-US" sz="3100" dirty="0"/>
          </a:p>
        </p:txBody>
      </p:sp>
      <p:sp>
        <p:nvSpPr>
          <p:cNvPr id="22" name="Text 20"/>
          <p:cNvSpPr/>
          <p:nvPr/>
        </p:nvSpPr>
        <p:spPr>
          <a:xfrm>
            <a:off x="9639300" y="2190750"/>
            <a:ext cx="1905000" cy="266700"/>
          </a:xfrm>
          <a:prstGeom prst="rect">
            <a:avLst/>
          </a:prstGeom>
          <a:noFill/>
          <a:ln/>
        </p:spPr>
        <p:txBody>
          <a:bodyPr wrap="square" lIns="0" tIns="0" rIns="0" bIns="0" rtlCol="0" anchor="t">
            <a:normAutofit/>
          </a:bodyPr>
          <a:lstStyle/>
          <a:p>
            <a:pPr marL="0" indent="0" algn="ctr">
              <a:lnSpc>
                <a:spcPct val="100000"/>
              </a:lnSpc>
              <a:buNone/>
            </a:pPr>
            <a:r>
              <a:rPr lang="en-US" sz="1100" dirty="0">
                <a:solidFill>
                  <a:srgbClr val="CFD9E5"/>
                </a:solidFill>
                <a:latin typeface="Calibri" pitchFamily="34" charset="0"/>
                <a:ea typeface="Calibri" pitchFamily="34" charset="-122"/>
                <a:cs typeface="Calibri" pitchFamily="34" charset="-120"/>
              </a:rPr>
              <a:t>fields per packet</a:t>
            </a:r>
            <a:endParaRPr lang="en-US" sz="1100" dirty="0"/>
          </a:p>
        </p:txBody>
      </p:sp>
      <p:sp>
        <p:nvSpPr>
          <p:cNvPr id="23" name="Shape 21"/>
          <p:cNvSpPr/>
          <p:nvPr/>
        </p:nvSpPr>
        <p:spPr>
          <a:xfrm>
            <a:off x="571500" y="2686050"/>
            <a:ext cx="5381625" cy="2381250"/>
          </a:xfrm>
          <a:prstGeom prst="roundRect">
            <a:avLst>
              <a:gd name="adj" fmla="val 1536"/>
            </a:avLst>
          </a:prstGeom>
          <a:solidFill>
            <a:srgbClr val="FFFFFF"/>
          </a:solidFill>
          <a:ln w="12700">
            <a:solidFill>
              <a:srgbClr val="D7E1EA"/>
            </a:solidFill>
            <a:prstDash val="solid"/>
          </a:ln>
        </p:spPr>
        <p:txBody>
          <a:bodyPr/>
          <a:lstStyle/>
          <a:p>
            <a:endParaRPr lang="en-IN"/>
          </a:p>
        </p:txBody>
      </p:sp>
      <p:sp>
        <p:nvSpPr>
          <p:cNvPr id="24" name="Text 22"/>
          <p:cNvSpPr/>
          <p:nvPr/>
        </p:nvSpPr>
        <p:spPr>
          <a:xfrm>
            <a:off x="781050" y="2838450"/>
            <a:ext cx="47625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WHAT CONSTITUTES ONE RUN</a:t>
            </a:r>
            <a:endParaRPr lang="en-US" sz="1200" dirty="0"/>
          </a:p>
        </p:txBody>
      </p:sp>
      <p:sp>
        <p:nvSpPr>
          <p:cNvPr id="25" name="Shape 23"/>
          <p:cNvSpPr/>
          <p:nvPr/>
        </p:nvSpPr>
        <p:spPr>
          <a:xfrm>
            <a:off x="800100" y="3143250"/>
            <a:ext cx="57150" cy="57150"/>
          </a:xfrm>
          <a:prstGeom prst="rect">
            <a:avLst/>
          </a:prstGeom>
          <a:solidFill>
            <a:srgbClr val="18B89A"/>
          </a:solidFill>
          <a:ln/>
        </p:spPr>
        <p:txBody>
          <a:bodyPr/>
          <a:lstStyle/>
          <a:p>
            <a:endParaRPr lang="en-IN"/>
          </a:p>
        </p:txBody>
      </p:sp>
      <p:sp>
        <p:nvSpPr>
          <p:cNvPr id="26" name="Text 24"/>
          <p:cNvSpPr/>
          <p:nvPr/>
        </p:nvSpPr>
        <p:spPr>
          <a:xfrm>
            <a:off x="952500" y="3086100"/>
            <a:ext cx="19050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2263A"/>
                </a:solidFill>
                <a:latin typeface="Calibri" pitchFamily="34" charset="0"/>
                <a:ea typeface="Calibri" pitchFamily="34" charset="-122"/>
                <a:cs typeface="Calibri" pitchFamily="34" charset="-120"/>
              </a:rPr>
              <a:t>Two bridge captures</a:t>
            </a:r>
            <a:endParaRPr lang="en-US" sz="1300" dirty="0"/>
          </a:p>
        </p:txBody>
      </p:sp>
      <p:sp>
        <p:nvSpPr>
          <p:cNvPr id="27" name="Text 25"/>
          <p:cNvSpPr/>
          <p:nvPr/>
        </p:nvSpPr>
        <p:spPr>
          <a:xfrm>
            <a:off x="2895600" y="3086100"/>
            <a:ext cx="2857500" cy="19050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5B6B7C"/>
                </a:solidFill>
                <a:latin typeface="Calibri" pitchFamily="34" charset="0"/>
                <a:ea typeface="Calibri" pitchFamily="34" charset="-122"/>
                <a:cs typeface="Calibri" pitchFamily="34" charset="-120"/>
              </a:rPr>
              <a:t>brUP and brDN; raw PCAPs not kept in archive</a:t>
            </a:r>
            <a:endParaRPr lang="en-US" sz="1240" dirty="0"/>
          </a:p>
        </p:txBody>
      </p:sp>
      <p:sp>
        <p:nvSpPr>
          <p:cNvPr id="28" name="Shape 26"/>
          <p:cNvSpPr/>
          <p:nvPr/>
        </p:nvSpPr>
        <p:spPr>
          <a:xfrm>
            <a:off x="800100" y="3467100"/>
            <a:ext cx="57150" cy="57150"/>
          </a:xfrm>
          <a:prstGeom prst="rect">
            <a:avLst/>
          </a:prstGeom>
          <a:solidFill>
            <a:srgbClr val="18B89A"/>
          </a:solidFill>
          <a:ln/>
        </p:spPr>
        <p:txBody>
          <a:bodyPr/>
          <a:lstStyle/>
          <a:p>
            <a:endParaRPr lang="en-IN"/>
          </a:p>
        </p:txBody>
      </p:sp>
      <p:sp>
        <p:nvSpPr>
          <p:cNvPr id="29" name="Text 27"/>
          <p:cNvSpPr/>
          <p:nvPr/>
        </p:nvSpPr>
        <p:spPr>
          <a:xfrm>
            <a:off x="952500" y="3409950"/>
            <a:ext cx="19050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2263A"/>
                </a:solidFill>
                <a:latin typeface="Calibri" pitchFamily="34" charset="0"/>
                <a:ea typeface="Calibri" pitchFamily="34" charset="-122"/>
                <a:cs typeface="Calibri" pitchFamily="34" charset="-120"/>
              </a:rPr>
              <a:t>One deep-extract CSV</a:t>
            </a:r>
            <a:endParaRPr lang="en-US" sz="1300" dirty="0"/>
          </a:p>
        </p:txBody>
      </p:sp>
      <p:sp>
        <p:nvSpPr>
          <p:cNvPr id="30" name="Text 28"/>
          <p:cNvSpPr/>
          <p:nvPr/>
        </p:nvSpPr>
        <p:spPr>
          <a:xfrm>
            <a:off x="2895600" y="3409950"/>
            <a:ext cx="2857500" cy="19050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5B6B7C"/>
                </a:solidFill>
                <a:latin typeface="Calibri" pitchFamily="34" charset="0"/>
                <a:ea typeface="Calibri" pitchFamily="34" charset="-122"/>
                <a:cs typeface="Calibri" pitchFamily="34" charset="-120"/>
              </a:rPr>
              <a:t>56 fields per packet; unobservable fields written EMPTY</a:t>
            </a:r>
            <a:endParaRPr lang="en-US" sz="1240" dirty="0"/>
          </a:p>
        </p:txBody>
      </p:sp>
      <p:sp>
        <p:nvSpPr>
          <p:cNvPr id="31" name="Shape 29"/>
          <p:cNvSpPr/>
          <p:nvPr/>
        </p:nvSpPr>
        <p:spPr>
          <a:xfrm>
            <a:off x="800100" y="3790950"/>
            <a:ext cx="57150" cy="57150"/>
          </a:xfrm>
          <a:prstGeom prst="rect">
            <a:avLst/>
          </a:prstGeom>
          <a:solidFill>
            <a:srgbClr val="18B89A"/>
          </a:solidFill>
          <a:ln/>
        </p:spPr>
        <p:txBody>
          <a:bodyPr/>
          <a:lstStyle/>
          <a:p>
            <a:endParaRPr lang="en-IN"/>
          </a:p>
        </p:txBody>
      </p:sp>
      <p:sp>
        <p:nvSpPr>
          <p:cNvPr id="32" name="Text 30"/>
          <p:cNvSpPr/>
          <p:nvPr/>
        </p:nvSpPr>
        <p:spPr>
          <a:xfrm>
            <a:off x="952500" y="3733800"/>
            <a:ext cx="19050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2263A"/>
                </a:solidFill>
                <a:latin typeface="Calibri" pitchFamily="34" charset="0"/>
                <a:ea typeface="Calibri" pitchFamily="34" charset="-122"/>
                <a:cs typeface="Calibri" pitchFamily="34" charset="-120"/>
              </a:rPr>
              <a:t>Six daemon servo logs</a:t>
            </a:r>
            <a:endParaRPr lang="en-US" sz="1300" dirty="0"/>
          </a:p>
        </p:txBody>
      </p:sp>
      <p:sp>
        <p:nvSpPr>
          <p:cNvPr id="33" name="Text 31"/>
          <p:cNvSpPr/>
          <p:nvPr/>
        </p:nvSpPr>
        <p:spPr>
          <a:xfrm>
            <a:off x="2895600" y="3733800"/>
            <a:ext cx="2857500" cy="19050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5B6B7C"/>
                </a:solidFill>
                <a:latin typeface="Calibri" pitchFamily="34" charset="0"/>
                <a:ea typeface="Calibri" pitchFamily="34" charset="-122"/>
                <a:cs typeface="Calibri" pitchFamily="34" charset="-120"/>
              </a:rPr>
              <a:t>offset, path delay and frequency per node</a:t>
            </a:r>
            <a:endParaRPr lang="en-US" sz="1240" dirty="0"/>
          </a:p>
        </p:txBody>
      </p:sp>
      <p:sp>
        <p:nvSpPr>
          <p:cNvPr id="34" name="Shape 32"/>
          <p:cNvSpPr/>
          <p:nvPr/>
        </p:nvSpPr>
        <p:spPr>
          <a:xfrm>
            <a:off x="800100" y="4114800"/>
            <a:ext cx="57150" cy="57150"/>
          </a:xfrm>
          <a:prstGeom prst="rect">
            <a:avLst/>
          </a:prstGeom>
          <a:solidFill>
            <a:srgbClr val="18B89A"/>
          </a:solidFill>
          <a:ln/>
        </p:spPr>
        <p:txBody>
          <a:bodyPr/>
          <a:lstStyle/>
          <a:p>
            <a:endParaRPr lang="en-IN"/>
          </a:p>
        </p:txBody>
      </p:sp>
      <p:sp>
        <p:nvSpPr>
          <p:cNvPr id="35" name="Text 33"/>
          <p:cNvSpPr/>
          <p:nvPr/>
        </p:nvSpPr>
        <p:spPr>
          <a:xfrm>
            <a:off x="952500" y="4057650"/>
            <a:ext cx="19050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2263A"/>
                </a:solidFill>
                <a:latin typeface="Calibri" pitchFamily="34" charset="0"/>
                <a:ea typeface="Calibri" pitchFamily="34" charset="-122"/>
                <a:cs typeface="Calibri" pitchFamily="34" charset="-120"/>
              </a:rPr>
              <a:t>One pmc telemetry file</a:t>
            </a:r>
            <a:endParaRPr lang="en-US" sz="1300" dirty="0"/>
          </a:p>
        </p:txBody>
      </p:sp>
      <p:sp>
        <p:nvSpPr>
          <p:cNvPr id="36" name="Text 34"/>
          <p:cNvSpPr/>
          <p:nvPr/>
        </p:nvSpPr>
        <p:spPr>
          <a:xfrm>
            <a:off x="2895600" y="4057650"/>
            <a:ext cx="2857500" cy="19050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5B6B7C"/>
                </a:solidFill>
                <a:latin typeface="Calibri" pitchFamily="34" charset="0"/>
                <a:ea typeface="Calibri" pitchFamily="34" charset="-122"/>
                <a:cs typeface="Calibri" pitchFamily="34" charset="-120"/>
              </a:rPr>
              <a:t>GET requests logged; no responses returned in any run</a:t>
            </a:r>
            <a:endParaRPr lang="en-US" sz="1240" dirty="0"/>
          </a:p>
        </p:txBody>
      </p:sp>
      <p:sp>
        <p:nvSpPr>
          <p:cNvPr id="37" name="Shape 35"/>
          <p:cNvSpPr/>
          <p:nvPr/>
        </p:nvSpPr>
        <p:spPr>
          <a:xfrm>
            <a:off x="800100" y="4438650"/>
            <a:ext cx="57150" cy="57150"/>
          </a:xfrm>
          <a:prstGeom prst="rect">
            <a:avLst/>
          </a:prstGeom>
          <a:solidFill>
            <a:srgbClr val="18B89A"/>
          </a:solidFill>
          <a:ln/>
        </p:spPr>
        <p:txBody>
          <a:bodyPr/>
          <a:lstStyle/>
          <a:p>
            <a:endParaRPr lang="en-IN"/>
          </a:p>
        </p:txBody>
      </p:sp>
      <p:sp>
        <p:nvSpPr>
          <p:cNvPr id="38" name="Text 36"/>
          <p:cNvSpPr/>
          <p:nvPr/>
        </p:nvSpPr>
        <p:spPr>
          <a:xfrm>
            <a:off x="952500" y="4381500"/>
            <a:ext cx="19050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2263A"/>
                </a:solidFill>
                <a:latin typeface="Calibri" pitchFamily="34" charset="0"/>
                <a:ea typeface="Calibri" pitchFamily="34" charset="-122"/>
                <a:cs typeface="Calibri" pitchFamily="34" charset="-120"/>
              </a:rPr>
              <a:t>One context.json</a:t>
            </a:r>
            <a:endParaRPr lang="en-US" sz="1300" dirty="0"/>
          </a:p>
        </p:txBody>
      </p:sp>
      <p:sp>
        <p:nvSpPr>
          <p:cNvPr id="39" name="Text 37"/>
          <p:cNvSpPr/>
          <p:nvPr/>
        </p:nvSpPr>
        <p:spPr>
          <a:xfrm>
            <a:off x="2895600" y="4381500"/>
            <a:ext cx="2857500" cy="19050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5B6B7C"/>
                </a:solidFill>
                <a:latin typeface="Calibri" pitchFamily="34" charset="0"/>
                <a:ea typeface="Calibri" pitchFamily="34" charset="-122"/>
                <a:cs typeface="Calibri" pitchFamily="34" charset="-120"/>
              </a:rPr>
              <a:t>ground-truth class, fault id, allow-list, maintenance state</a:t>
            </a:r>
            <a:endParaRPr lang="en-US" sz="1240" dirty="0"/>
          </a:p>
        </p:txBody>
      </p:sp>
      <p:sp>
        <p:nvSpPr>
          <p:cNvPr id="40" name="Shape 38"/>
          <p:cNvSpPr/>
          <p:nvPr/>
        </p:nvSpPr>
        <p:spPr>
          <a:xfrm>
            <a:off x="800100" y="4762500"/>
            <a:ext cx="57150" cy="57150"/>
          </a:xfrm>
          <a:prstGeom prst="rect">
            <a:avLst/>
          </a:prstGeom>
          <a:solidFill>
            <a:srgbClr val="18B89A"/>
          </a:solidFill>
          <a:ln/>
        </p:spPr>
        <p:txBody>
          <a:bodyPr/>
          <a:lstStyle/>
          <a:p>
            <a:endParaRPr lang="en-IN"/>
          </a:p>
        </p:txBody>
      </p:sp>
      <p:sp>
        <p:nvSpPr>
          <p:cNvPr id="41" name="Text 39"/>
          <p:cNvSpPr/>
          <p:nvPr/>
        </p:nvSpPr>
        <p:spPr>
          <a:xfrm>
            <a:off x="952500" y="4705350"/>
            <a:ext cx="19050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2263A"/>
                </a:solidFill>
                <a:latin typeface="Calibri" pitchFamily="34" charset="0"/>
                <a:ea typeface="Calibri" pitchFamily="34" charset="-122"/>
                <a:cs typeface="Calibri" pitchFamily="34" charset="-120"/>
              </a:rPr>
              <a:t>Three verdict files</a:t>
            </a:r>
            <a:endParaRPr lang="en-US" sz="1300" dirty="0"/>
          </a:p>
        </p:txBody>
      </p:sp>
      <p:sp>
        <p:nvSpPr>
          <p:cNvPr id="42" name="Text 40"/>
          <p:cNvSpPr/>
          <p:nvPr/>
        </p:nvSpPr>
        <p:spPr>
          <a:xfrm>
            <a:off x="2895600" y="4705350"/>
            <a:ext cx="2857500" cy="19050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5B6B7C"/>
                </a:solidFill>
                <a:latin typeface="Calibri" pitchFamily="34" charset="0"/>
                <a:ea typeface="Calibri" pitchFamily="34" charset="-122"/>
                <a:cs typeface="Calibri" pitchFamily="34" charset="-120"/>
              </a:rPr>
              <a:t>base rule, v2 and v3 scored on the same capture</a:t>
            </a:r>
            <a:endParaRPr lang="en-US" sz="1240" dirty="0"/>
          </a:p>
        </p:txBody>
      </p:sp>
      <p:sp>
        <p:nvSpPr>
          <p:cNvPr id="43" name="Shape 41"/>
          <p:cNvSpPr/>
          <p:nvPr/>
        </p:nvSpPr>
        <p:spPr>
          <a:xfrm>
            <a:off x="6238875" y="2686050"/>
            <a:ext cx="5381625" cy="2381250"/>
          </a:xfrm>
          <a:prstGeom prst="roundRect">
            <a:avLst>
              <a:gd name="adj" fmla="val 1536"/>
            </a:avLst>
          </a:prstGeom>
          <a:solidFill>
            <a:srgbClr val="EAF2F8"/>
          </a:solidFill>
          <a:ln w="12700">
            <a:solidFill>
              <a:srgbClr val="D7E1EA"/>
            </a:solidFill>
            <a:prstDash val="solid"/>
          </a:ln>
        </p:spPr>
        <p:txBody>
          <a:bodyPr/>
          <a:lstStyle/>
          <a:p>
            <a:endParaRPr lang="en-IN"/>
          </a:p>
        </p:txBody>
      </p:sp>
      <p:sp>
        <p:nvSpPr>
          <p:cNvPr id="44" name="Text 42"/>
          <p:cNvSpPr/>
          <p:nvPr/>
        </p:nvSpPr>
        <p:spPr>
          <a:xfrm>
            <a:off x="6448425" y="2838450"/>
            <a:ext cx="47625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MEASURABLE AND UNAVAILABLE EVIDENCE</a:t>
            </a:r>
            <a:endParaRPr lang="en-US" sz="1200" dirty="0"/>
          </a:p>
        </p:txBody>
      </p:sp>
      <p:sp>
        <p:nvSpPr>
          <p:cNvPr id="45" name="Text 43"/>
          <p:cNvSpPr/>
          <p:nvPr/>
        </p:nvSpPr>
        <p:spPr>
          <a:xfrm>
            <a:off x="6448425" y="3105150"/>
            <a:ext cx="28575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E8E5A"/>
                </a:solidFill>
                <a:latin typeface="Calibri" pitchFamily="34" charset="0"/>
                <a:ea typeface="Calibri" pitchFamily="34" charset="-122"/>
                <a:cs typeface="Calibri" pitchFamily="34" charset="-120"/>
              </a:rPr>
              <a:t>Recorded for every run</a:t>
            </a:r>
            <a:endParaRPr lang="en-US" sz="1300" dirty="0"/>
          </a:p>
        </p:txBody>
      </p:sp>
      <p:sp>
        <p:nvSpPr>
          <p:cNvPr id="46" name="Text 44"/>
          <p:cNvSpPr/>
          <p:nvPr/>
        </p:nvSpPr>
        <p:spPr>
          <a:xfrm>
            <a:off x="6448425" y="3314700"/>
            <a:ext cx="4953000" cy="419100"/>
          </a:xfrm>
          <a:prstGeom prst="rect">
            <a:avLst/>
          </a:prstGeom>
          <a:noFill/>
          <a:ln/>
        </p:spPr>
        <p:txBody>
          <a:bodyPr wrap="square" lIns="0" tIns="0" rIns="0" bIns="0" rtlCol="0" anchor="t">
            <a:normAutofit/>
          </a:bodyPr>
          <a:lstStyle/>
          <a:p>
            <a:pPr marL="0" indent="0" algn="l">
              <a:lnSpc>
                <a:spcPct val="100000"/>
              </a:lnSpc>
              <a:buNone/>
            </a:pPr>
            <a:r>
              <a:rPr lang="en-US" sz="1260" dirty="0">
                <a:solidFill>
                  <a:srgbClr val="12263A"/>
                </a:solidFill>
                <a:latin typeface="Calibri" pitchFamily="34" charset="0"/>
                <a:ea typeface="Calibri" pitchFamily="34" charset="-122"/>
                <a:cs typeface="Calibri" pitchFamily="34" charset="-120"/>
              </a:rPr>
              <a:t>Packet header, flag, correction, identity, sequence and Announce data-set fields; derived G.8275.1 conformance flags; per-node servo telemetry.</a:t>
            </a:r>
            <a:endParaRPr lang="en-US" sz="1260" dirty="0"/>
          </a:p>
        </p:txBody>
      </p:sp>
      <p:sp>
        <p:nvSpPr>
          <p:cNvPr id="47" name="Text 45"/>
          <p:cNvSpPr/>
          <p:nvPr/>
        </p:nvSpPr>
        <p:spPr>
          <a:xfrm>
            <a:off x="6448425" y="3810000"/>
            <a:ext cx="28575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B3402F"/>
                </a:solidFill>
                <a:latin typeface="Calibri" pitchFamily="34" charset="0"/>
                <a:ea typeface="Calibri" pitchFamily="34" charset="-122"/>
                <a:cs typeface="Calibri" pitchFamily="34" charset="-120"/>
              </a:rPr>
              <a:t>Structurally unavailable</a:t>
            </a:r>
            <a:endParaRPr lang="en-US" sz="1300" dirty="0"/>
          </a:p>
        </p:txBody>
      </p:sp>
      <p:sp>
        <p:nvSpPr>
          <p:cNvPr id="48" name="Text 46"/>
          <p:cNvSpPr/>
          <p:nvPr/>
        </p:nvSpPr>
        <p:spPr>
          <a:xfrm>
            <a:off x="6448425" y="4019550"/>
            <a:ext cx="4953000" cy="533400"/>
          </a:xfrm>
          <a:prstGeom prst="rect">
            <a:avLst/>
          </a:prstGeom>
          <a:noFill/>
          <a:ln/>
        </p:spPr>
        <p:txBody>
          <a:bodyPr wrap="square" lIns="0" tIns="0" rIns="0" bIns="0" rtlCol="0" anchor="t">
            <a:normAutofit/>
          </a:bodyPr>
          <a:lstStyle/>
          <a:p>
            <a:pPr marL="0" indent="0" algn="l">
              <a:lnSpc>
                <a:spcPct val="100000"/>
              </a:lnSpc>
              <a:buNone/>
            </a:pPr>
            <a:r>
              <a:rPr lang="en-US" sz="1260" dirty="0">
                <a:solidFill>
                  <a:srgbClr val="12263A"/>
                </a:solidFill>
                <a:latin typeface="Calibri" pitchFamily="34" charset="0"/>
                <a:ea typeface="Calibri" pitchFamily="34" charset="-122"/>
                <a:cs typeface="Calibri" pitchFamily="34" charset="-120"/>
              </a:rPr>
              <a:t>GNSS status, SyncE quality level, oscillator frequency error and absolute clock error. No hardware exists in this testbed to produce them, so the corresponding columns are EMPTY rather than defaulted.</a:t>
            </a:r>
            <a:endParaRPr lang="en-US" sz="1260" dirty="0"/>
          </a:p>
        </p:txBody>
      </p:sp>
      <p:sp>
        <p:nvSpPr>
          <p:cNvPr id="49" name="Text 47"/>
          <p:cNvSpPr/>
          <p:nvPr/>
        </p:nvSpPr>
        <p:spPr>
          <a:xfrm>
            <a:off x="6448425" y="4629150"/>
            <a:ext cx="28575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C58B18"/>
                </a:solidFill>
                <a:latin typeface="Calibri" pitchFamily="34" charset="0"/>
                <a:ea typeface="Calibri" pitchFamily="34" charset="-122"/>
                <a:cs typeface="Calibri" pitchFamily="34" charset="-120"/>
              </a:rPr>
              <a:t>Configured, returned nothing</a:t>
            </a:r>
            <a:endParaRPr lang="en-US" sz="1300" dirty="0"/>
          </a:p>
        </p:txBody>
      </p:sp>
      <p:sp>
        <p:nvSpPr>
          <p:cNvPr id="50" name="Text 48"/>
          <p:cNvSpPr/>
          <p:nvPr/>
        </p:nvSpPr>
        <p:spPr>
          <a:xfrm>
            <a:off x="6448425" y="4838700"/>
            <a:ext cx="4953000" cy="323850"/>
          </a:xfrm>
          <a:prstGeom prst="rect">
            <a:avLst/>
          </a:prstGeom>
          <a:noFill/>
          <a:ln/>
        </p:spPr>
        <p:txBody>
          <a:bodyPr wrap="square" lIns="0" tIns="0" rIns="0" bIns="0" rtlCol="0" anchor="t">
            <a:normAutofit/>
          </a:bodyPr>
          <a:lstStyle/>
          <a:p>
            <a:pPr marL="0" indent="0" algn="l">
              <a:lnSpc>
                <a:spcPct val="100000"/>
              </a:lnSpc>
              <a:buNone/>
            </a:pPr>
            <a:r>
              <a:rPr lang="en-US" sz="1260" dirty="0">
                <a:solidFill>
                  <a:srgbClr val="12263A"/>
                </a:solidFill>
                <a:latin typeface="Calibri" pitchFamily="34" charset="0"/>
                <a:ea typeface="Calibri" pitchFamily="34" charset="-122"/>
                <a:cs typeface="Calibri" pitchFamily="34" charset="-120"/>
              </a:rPr>
              <a:t>pmc queries returned no data in any of the 168 runs.</a:t>
            </a:r>
            <a:endParaRPr lang="en-US" sz="1260" dirty="0"/>
          </a:p>
        </p:txBody>
      </p:sp>
      <p:sp>
        <p:nvSpPr>
          <p:cNvPr id="51" name="Shape 49"/>
          <p:cNvSpPr/>
          <p:nvPr/>
        </p:nvSpPr>
        <p:spPr>
          <a:xfrm>
            <a:off x="571500" y="5219700"/>
            <a:ext cx="11049000" cy="628650"/>
          </a:xfrm>
          <a:prstGeom prst="roundRect">
            <a:avLst>
              <a:gd name="adj" fmla="val 5818"/>
            </a:avLst>
          </a:prstGeom>
          <a:solidFill>
            <a:srgbClr val="FFFFFF"/>
          </a:solidFill>
          <a:ln w="12700">
            <a:solidFill>
              <a:srgbClr val="D7E1EA"/>
            </a:solidFill>
            <a:prstDash val="solid"/>
          </a:ln>
        </p:spPr>
        <p:txBody>
          <a:bodyPr/>
          <a:lstStyle/>
          <a:p>
            <a:endParaRPr lang="en-IN"/>
          </a:p>
        </p:txBody>
      </p:sp>
      <p:sp>
        <p:nvSpPr>
          <p:cNvPr id="52" name="Text 50"/>
          <p:cNvSpPr/>
          <p:nvPr/>
        </p:nvSpPr>
        <p:spPr>
          <a:xfrm>
            <a:off x="781050" y="5334000"/>
            <a:ext cx="85725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C7293"/>
                </a:solidFill>
                <a:latin typeface="Calibri" pitchFamily="34" charset="0"/>
                <a:ea typeface="Calibri" pitchFamily="34" charset="-122"/>
                <a:cs typeface="Calibri" pitchFamily="34" charset="-120"/>
              </a:rPr>
              <a:t>RECORD COUNT VARIES WITH THE FAULT, AND THE VARIATION IS ITSELF EVIDENCE</a:t>
            </a:r>
            <a:endParaRPr lang="en-US" sz="1150" dirty="0"/>
          </a:p>
        </p:txBody>
      </p:sp>
      <p:sp>
        <p:nvSpPr>
          <p:cNvPr id="53" name="Text 51"/>
          <p:cNvSpPr/>
          <p:nvPr/>
        </p:nvSpPr>
        <p:spPr>
          <a:xfrm>
            <a:off x="781050" y="5562600"/>
            <a:ext cx="10629900" cy="228600"/>
          </a:xfrm>
          <a:prstGeom prst="rect">
            <a:avLst/>
          </a:prstGeom>
          <a:noFill/>
          <a:ln/>
        </p:spPr>
        <p:txBody>
          <a:bodyPr wrap="square" lIns="0" tIns="0" rIns="0" bIns="0" rtlCol="0" anchor="t">
            <a:normAutofit/>
          </a:bodyPr>
          <a:lstStyle/>
          <a:p>
            <a:pPr marL="0" indent="0" algn="l">
              <a:lnSpc>
                <a:spcPct val="100000"/>
              </a:lnSpc>
              <a:buNone/>
            </a:pPr>
            <a:r>
              <a:rPr lang="en-US" sz="1320" dirty="0">
                <a:solidFill>
                  <a:srgbClr val="12263A"/>
                </a:solidFill>
                <a:latin typeface="Calibri" pitchFamily="34" charset="0"/>
                <a:ea typeface="Calibri" pitchFamily="34" charset="-122"/>
                <a:cs typeface="Calibri" pitchFamily="34" charset="-120"/>
              </a:rPr>
              <a:t>C1 interception averages 2,360 records per run because the attack starves the link  ·  baseline averages 6,021  ·  A5 flooding averages 38,319 because the attack adds traffic. Record volume is therefore a discriminating feature, not a data-quality artefact.</a:t>
            </a:r>
            <a:endParaRPr lang="en-US" sz="1320" dirty="0"/>
          </a:p>
        </p:txBody>
      </p:sp>
      <p:sp>
        <p:nvSpPr>
          <p:cNvPr id="54" name="Shape 52"/>
          <p:cNvSpPr/>
          <p:nvPr/>
        </p:nvSpPr>
        <p:spPr>
          <a:xfrm>
            <a:off x="571500" y="5981700"/>
            <a:ext cx="11049000" cy="571500"/>
          </a:xfrm>
          <a:prstGeom prst="roundRect">
            <a:avLst>
              <a:gd name="adj" fmla="val 6400"/>
            </a:avLst>
          </a:prstGeom>
          <a:solidFill>
            <a:srgbClr val="FFF8E8"/>
          </a:solidFill>
          <a:ln w="12700">
            <a:solidFill>
              <a:srgbClr val="C58B18"/>
            </a:solidFill>
            <a:prstDash val="solid"/>
          </a:ln>
        </p:spPr>
        <p:txBody>
          <a:bodyPr/>
          <a:lstStyle/>
          <a:p>
            <a:endParaRPr lang="en-IN"/>
          </a:p>
        </p:txBody>
      </p:sp>
      <p:sp>
        <p:nvSpPr>
          <p:cNvPr id="55" name="Text 53"/>
          <p:cNvSpPr/>
          <p:nvPr/>
        </p:nvSpPr>
        <p:spPr>
          <a:xfrm>
            <a:off x="781050" y="612457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Archive contents</a:t>
            </a:r>
            <a:endParaRPr lang="en-US" sz="1600" dirty="0"/>
          </a:p>
        </p:txBody>
      </p:sp>
      <p:sp>
        <p:nvSpPr>
          <p:cNvPr id="56" name="Text 54"/>
          <p:cNvSpPr/>
          <p:nvPr/>
        </p:nvSpPr>
        <p:spPr>
          <a:xfrm>
            <a:off x="2781300" y="6105525"/>
            <a:ext cx="8629650" cy="34290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12263A"/>
                </a:solidFill>
                <a:latin typeface="Calibri" pitchFamily="34" charset="0"/>
                <a:ea typeface="Calibri" pitchFamily="34" charset="-122"/>
                <a:cs typeface="Calibri" pitchFamily="34" charset="-120"/>
              </a:rPr>
              <a:t>Roughly 222 MB of source PCAPs were captured across the campaign. The packaged review archive retains the extracted CSVs, verdicts, context files, daemon logs, scripts and freeze records; it does not retain the source PCAPs.</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FAULT INJECTION</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200" b="1" dirty="0">
                <a:solidFill>
                  <a:srgbClr val="12263A"/>
                </a:solidFill>
                <a:latin typeface="Cambria" pitchFamily="34" charset="0"/>
                <a:ea typeface="Cambria" pitchFamily="34" charset="-122"/>
                <a:cs typeface="Cambria" pitchFamily="34" charset="-120"/>
              </a:rPr>
              <a:t>Fault Injection Mechanisms on the Live Packet Path</a:t>
            </a:r>
            <a:endParaRPr lang="en-US" sz="32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IEEE 1588-2019: message formats, sequenceId continuity, timePropertiesDS §8.2.4, leap-second handling §9.4  |  O-RAN WG11 security test identifiers (ETSI TS 104 105)  |  Scapy, tcpreplay, Linux tc</a:t>
            </a:r>
            <a:endParaRPr lang="en-US" sz="1120" dirty="0"/>
          </a:p>
        </p:txBody>
      </p:sp>
      <p:sp>
        <p:nvSpPr>
          <p:cNvPr id="8" name="Shape 6"/>
          <p:cNvSpPr/>
          <p:nvPr/>
        </p:nvSpPr>
        <p:spPr>
          <a:xfrm>
            <a:off x="571500" y="1676400"/>
            <a:ext cx="11049000" cy="990600"/>
          </a:xfrm>
          <a:prstGeom prst="roundRect">
            <a:avLst>
              <a:gd name="adj" fmla="val 3692"/>
            </a:avLst>
          </a:prstGeom>
          <a:solidFill>
            <a:srgbClr val="FFFFFF"/>
          </a:solidFill>
          <a:ln w="12700">
            <a:solidFill>
              <a:srgbClr val="D7E1EA"/>
            </a:solidFill>
            <a:prstDash val="solid"/>
          </a:ln>
        </p:spPr>
        <p:txBody>
          <a:bodyPr/>
          <a:lstStyle/>
          <a:p>
            <a:endParaRPr lang="en-IN"/>
          </a:p>
        </p:txBody>
      </p:sp>
      <p:sp>
        <p:nvSpPr>
          <p:cNvPr id="9" name="Shape 7"/>
          <p:cNvSpPr/>
          <p:nvPr/>
        </p:nvSpPr>
        <p:spPr>
          <a:xfrm>
            <a:off x="571500" y="1676400"/>
            <a:ext cx="47625" cy="990600"/>
          </a:xfrm>
          <a:prstGeom prst="rect">
            <a:avLst/>
          </a:prstGeom>
          <a:solidFill>
            <a:srgbClr val="1C7293"/>
          </a:solidFill>
          <a:ln/>
        </p:spPr>
        <p:txBody>
          <a:bodyPr/>
          <a:lstStyle/>
          <a:p>
            <a:endParaRPr lang="en-IN"/>
          </a:p>
        </p:txBody>
      </p:sp>
      <p:sp>
        <p:nvSpPr>
          <p:cNvPr id="10" name="Text 8"/>
          <p:cNvSpPr/>
          <p:nvPr/>
        </p:nvSpPr>
        <p:spPr>
          <a:xfrm>
            <a:off x="800100" y="1828800"/>
            <a:ext cx="3143250" cy="24765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2263A"/>
                </a:solidFill>
                <a:latin typeface="Cambria" pitchFamily="34" charset="0"/>
                <a:ea typeface="Cambria" pitchFamily="34" charset="-122"/>
                <a:cs typeface="Cambria" pitchFamily="34" charset="-120"/>
              </a:rPr>
              <a:t>Additional real PTP daemons</a:t>
            </a:r>
            <a:endParaRPr lang="en-US" sz="1800" dirty="0"/>
          </a:p>
        </p:txBody>
      </p:sp>
      <p:sp>
        <p:nvSpPr>
          <p:cNvPr id="11" name="Shape 9"/>
          <p:cNvSpPr/>
          <p:nvPr/>
        </p:nvSpPr>
        <p:spPr>
          <a:xfrm>
            <a:off x="800100" y="2152650"/>
            <a:ext cx="1428750" cy="247650"/>
          </a:xfrm>
          <a:prstGeom prst="roundRect">
            <a:avLst>
              <a:gd name="adj" fmla="val 14769"/>
            </a:avLst>
          </a:prstGeom>
          <a:solidFill>
            <a:srgbClr val="EAF2F8"/>
          </a:solidFill>
          <a:ln w="12700">
            <a:solidFill>
              <a:srgbClr val="D7E1EA"/>
            </a:solidFill>
            <a:prstDash val="solid"/>
          </a:ln>
        </p:spPr>
        <p:txBody>
          <a:bodyPr/>
          <a:lstStyle/>
          <a:p>
            <a:endParaRPr lang="en-IN"/>
          </a:p>
        </p:txBody>
      </p:sp>
      <p:sp>
        <p:nvSpPr>
          <p:cNvPr id="12" name="Text 10"/>
          <p:cNvSpPr/>
          <p:nvPr/>
        </p:nvSpPr>
        <p:spPr>
          <a:xfrm>
            <a:off x="800100" y="2200275"/>
            <a:ext cx="1428750" cy="190500"/>
          </a:xfrm>
          <a:prstGeom prst="rect">
            <a:avLst/>
          </a:prstGeom>
          <a:noFill/>
          <a:ln/>
        </p:spPr>
        <p:txBody>
          <a:bodyPr wrap="square" lIns="0" tIns="0" rIns="0" bIns="0" rtlCol="0" anchor="t">
            <a:normAutofit/>
          </a:bodyPr>
          <a:lstStyle/>
          <a:p>
            <a:pPr marL="0" indent="0" algn="ctr">
              <a:lnSpc>
                <a:spcPct val="100000"/>
              </a:lnSpc>
              <a:buNone/>
            </a:pPr>
            <a:r>
              <a:rPr lang="en-US" sz="1250" b="1" dirty="0">
                <a:solidFill>
                  <a:srgbClr val="1C7293"/>
                </a:solidFill>
                <a:latin typeface="Calibri" pitchFamily="34" charset="0"/>
                <a:ea typeface="Calibri" pitchFamily="34" charset="-122"/>
                <a:cs typeface="Calibri" pitchFamily="34" charset="-120"/>
              </a:rPr>
              <a:t>A1 · A8</a:t>
            </a:r>
            <a:endParaRPr lang="en-US" sz="1250" dirty="0"/>
          </a:p>
        </p:txBody>
      </p:sp>
      <p:sp>
        <p:nvSpPr>
          <p:cNvPr id="13" name="Text 11"/>
          <p:cNvSpPr/>
          <p:nvPr/>
        </p:nvSpPr>
        <p:spPr>
          <a:xfrm>
            <a:off x="4191000" y="1828800"/>
            <a:ext cx="7200900" cy="742950"/>
          </a:xfrm>
          <a:prstGeom prst="rect">
            <a:avLst/>
          </a:prstGeom>
          <a:noFill/>
          <a:ln/>
        </p:spPr>
        <p:txBody>
          <a:bodyPr wrap="square" lIns="0" tIns="0" rIns="0" bIns="0" rtlCol="0" anchor="t">
            <a:normAutofit/>
          </a:bodyPr>
          <a:lstStyle/>
          <a:p>
            <a:pPr marL="0" indent="0" algn="l">
              <a:lnSpc>
                <a:spcPct val="100000"/>
              </a:lnSpc>
              <a:buNone/>
            </a:pPr>
            <a:r>
              <a:rPr lang="en-US" sz="1380" dirty="0">
                <a:solidFill>
                  <a:srgbClr val="5B6B7C"/>
                </a:solidFill>
                <a:latin typeface="Calibri" pitchFamily="34" charset="0"/>
                <a:ea typeface="Calibri" pitchFamily="34" charset="-122"/>
                <a:cs typeface="Calibri" pitchFamily="34" charset="-120"/>
              </a:rPr>
              <a:t>A new namespace runs a genuine ptp4l instance with an identity outside the provisioned allow-list and a superior data set, then competes for election under the G.8275.1 alternate BMCA. The attack is won on protocol merit, not by editing a capture.</a:t>
            </a:r>
            <a:endParaRPr lang="en-US" sz="1380" dirty="0"/>
          </a:p>
        </p:txBody>
      </p:sp>
      <p:sp>
        <p:nvSpPr>
          <p:cNvPr id="14" name="Shape 12"/>
          <p:cNvSpPr/>
          <p:nvPr/>
        </p:nvSpPr>
        <p:spPr>
          <a:xfrm>
            <a:off x="571500" y="2762250"/>
            <a:ext cx="11049000" cy="990600"/>
          </a:xfrm>
          <a:prstGeom prst="roundRect">
            <a:avLst>
              <a:gd name="adj" fmla="val 3692"/>
            </a:avLst>
          </a:prstGeom>
          <a:solidFill>
            <a:srgbClr val="FFFFFF"/>
          </a:solidFill>
          <a:ln w="12700">
            <a:solidFill>
              <a:srgbClr val="D7E1EA"/>
            </a:solidFill>
            <a:prstDash val="solid"/>
          </a:ln>
        </p:spPr>
        <p:txBody>
          <a:bodyPr/>
          <a:lstStyle/>
          <a:p>
            <a:endParaRPr lang="en-IN"/>
          </a:p>
        </p:txBody>
      </p:sp>
      <p:sp>
        <p:nvSpPr>
          <p:cNvPr id="15" name="Shape 13"/>
          <p:cNvSpPr/>
          <p:nvPr/>
        </p:nvSpPr>
        <p:spPr>
          <a:xfrm>
            <a:off x="571500" y="2762250"/>
            <a:ext cx="47625" cy="990600"/>
          </a:xfrm>
          <a:prstGeom prst="rect">
            <a:avLst/>
          </a:prstGeom>
          <a:solidFill>
            <a:srgbClr val="18B89A"/>
          </a:solidFill>
          <a:ln/>
        </p:spPr>
        <p:txBody>
          <a:bodyPr/>
          <a:lstStyle/>
          <a:p>
            <a:endParaRPr lang="en-IN"/>
          </a:p>
        </p:txBody>
      </p:sp>
      <p:sp>
        <p:nvSpPr>
          <p:cNvPr id="16" name="Text 14"/>
          <p:cNvSpPr/>
          <p:nvPr/>
        </p:nvSpPr>
        <p:spPr>
          <a:xfrm>
            <a:off x="800100" y="2914650"/>
            <a:ext cx="3143250" cy="24765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2263A"/>
                </a:solidFill>
                <a:latin typeface="Cambria" pitchFamily="34" charset="0"/>
                <a:ea typeface="Cambria" pitchFamily="34" charset="-122"/>
                <a:cs typeface="Cambria" pitchFamily="34" charset="-120"/>
              </a:rPr>
              <a:t>Crafted frame injection</a:t>
            </a:r>
            <a:endParaRPr lang="en-US" sz="1800" dirty="0"/>
          </a:p>
        </p:txBody>
      </p:sp>
      <p:sp>
        <p:nvSpPr>
          <p:cNvPr id="17" name="Shape 15"/>
          <p:cNvSpPr/>
          <p:nvPr/>
        </p:nvSpPr>
        <p:spPr>
          <a:xfrm>
            <a:off x="800100" y="3238500"/>
            <a:ext cx="1428750" cy="247650"/>
          </a:xfrm>
          <a:prstGeom prst="roundRect">
            <a:avLst>
              <a:gd name="adj" fmla="val 14769"/>
            </a:avLst>
          </a:prstGeom>
          <a:solidFill>
            <a:srgbClr val="EAF2F8"/>
          </a:solidFill>
          <a:ln w="12700">
            <a:solidFill>
              <a:srgbClr val="D7E1EA"/>
            </a:solidFill>
            <a:prstDash val="solid"/>
          </a:ln>
        </p:spPr>
        <p:txBody>
          <a:bodyPr/>
          <a:lstStyle/>
          <a:p>
            <a:endParaRPr lang="en-IN"/>
          </a:p>
        </p:txBody>
      </p:sp>
      <p:sp>
        <p:nvSpPr>
          <p:cNvPr id="18" name="Text 16"/>
          <p:cNvSpPr/>
          <p:nvPr/>
        </p:nvSpPr>
        <p:spPr>
          <a:xfrm>
            <a:off x="800100" y="3286125"/>
            <a:ext cx="1428750" cy="190500"/>
          </a:xfrm>
          <a:prstGeom prst="rect">
            <a:avLst/>
          </a:prstGeom>
          <a:noFill/>
          <a:ln/>
        </p:spPr>
        <p:txBody>
          <a:bodyPr wrap="square" lIns="0" tIns="0" rIns="0" bIns="0" rtlCol="0" anchor="t">
            <a:normAutofit/>
          </a:bodyPr>
          <a:lstStyle/>
          <a:p>
            <a:pPr marL="0" indent="0" algn="ctr">
              <a:lnSpc>
                <a:spcPct val="100000"/>
              </a:lnSpc>
              <a:buNone/>
            </a:pPr>
            <a:r>
              <a:rPr lang="en-US" sz="1250" b="1" dirty="0">
                <a:solidFill>
                  <a:srgbClr val="1C7293"/>
                </a:solidFill>
                <a:latin typeface="Calibri" pitchFamily="34" charset="0"/>
                <a:ea typeface="Calibri" pitchFamily="34" charset="-122"/>
                <a:cs typeface="Calibri" pitchFamily="34" charset="-120"/>
              </a:rPr>
              <a:t>A2 · C2 · C3</a:t>
            </a:r>
            <a:endParaRPr lang="en-US" sz="1250" dirty="0"/>
          </a:p>
        </p:txBody>
      </p:sp>
      <p:sp>
        <p:nvSpPr>
          <p:cNvPr id="19" name="Text 17"/>
          <p:cNvSpPr/>
          <p:nvPr/>
        </p:nvSpPr>
        <p:spPr>
          <a:xfrm>
            <a:off x="4191000" y="2914650"/>
            <a:ext cx="7200900" cy="742950"/>
          </a:xfrm>
          <a:prstGeom prst="rect">
            <a:avLst/>
          </a:prstGeom>
          <a:noFill/>
          <a:ln/>
        </p:spPr>
        <p:txBody>
          <a:bodyPr wrap="square" lIns="0" tIns="0" rIns="0" bIns="0" rtlCol="0" anchor="t">
            <a:normAutofit/>
          </a:bodyPr>
          <a:lstStyle/>
          <a:p>
            <a:pPr marL="0" indent="0" algn="l">
              <a:lnSpc>
                <a:spcPct val="100000"/>
              </a:lnSpc>
              <a:buNone/>
            </a:pPr>
            <a:r>
              <a:rPr lang="en-US" sz="1380" dirty="0">
                <a:solidFill>
                  <a:srgbClr val="5B6B7C"/>
                </a:solidFill>
                <a:latin typeface="Calibri" pitchFamily="34" charset="0"/>
                <a:ea typeface="Calibri" pitchFamily="34" charset="-122"/>
                <a:cs typeface="Calibri" pitchFamily="34" charset="-120"/>
              </a:rPr>
              <a:t>Hand-built frames placed on the RU segment: forged two-step timing messages; malformed frames using versionPTP 3, a reserved message type and a short length; Announce frames with leap61 set and the UTC offset falsified.</a:t>
            </a:r>
            <a:endParaRPr lang="en-US" sz="1380" dirty="0"/>
          </a:p>
        </p:txBody>
      </p:sp>
      <p:sp>
        <p:nvSpPr>
          <p:cNvPr id="20" name="Shape 18"/>
          <p:cNvSpPr/>
          <p:nvPr/>
        </p:nvSpPr>
        <p:spPr>
          <a:xfrm>
            <a:off x="571500" y="3848100"/>
            <a:ext cx="11049000" cy="990600"/>
          </a:xfrm>
          <a:prstGeom prst="roundRect">
            <a:avLst>
              <a:gd name="adj" fmla="val 3692"/>
            </a:avLst>
          </a:prstGeom>
          <a:solidFill>
            <a:srgbClr val="FFFFFF"/>
          </a:solidFill>
          <a:ln w="12700">
            <a:solidFill>
              <a:srgbClr val="D7E1EA"/>
            </a:solidFill>
            <a:prstDash val="solid"/>
          </a:ln>
        </p:spPr>
        <p:txBody>
          <a:bodyPr/>
          <a:lstStyle/>
          <a:p>
            <a:endParaRPr lang="en-IN"/>
          </a:p>
        </p:txBody>
      </p:sp>
      <p:sp>
        <p:nvSpPr>
          <p:cNvPr id="21" name="Shape 19"/>
          <p:cNvSpPr/>
          <p:nvPr/>
        </p:nvSpPr>
        <p:spPr>
          <a:xfrm>
            <a:off x="571500" y="3848100"/>
            <a:ext cx="47625" cy="990600"/>
          </a:xfrm>
          <a:prstGeom prst="rect">
            <a:avLst/>
          </a:prstGeom>
          <a:solidFill>
            <a:srgbClr val="1E8E5A"/>
          </a:solidFill>
          <a:ln/>
        </p:spPr>
        <p:txBody>
          <a:bodyPr/>
          <a:lstStyle/>
          <a:p>
            <a:endParaRPr lang="en-IN"/>
          </a:p>
        </p:txBody>
      </p:sp>
      <p:sp>
        <p:nvSpPr>
          <p:cNvPr id="22" name="Text 20"/>
          <p:cNvSpPr/>
          <p:nvPr/>
        </p:nvSpPr>
        <p:spPr>
          <a:xfrm>
            <a:off x="800100" y="4000500"/>
            <a:ext cx="3143250" cy="24765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2263A"/>
                </a:solidFill>
                <a:latin typeface="Cambria" pitchFamily="34" charset="0"/>
                <a:ea typeface="Cambria" pitchFamily="34" charset="-122"/>
                <a:cs typeface="Cambria" pitchFamily="34" charset="-120"/>
              </a:rPr>
              <a:t>Capture and replay</a:t>
            </a:r>
            <a:endParaRPr lang="en-US" sz="1800" dirty="0"/>
          </a:p>
        </p:txBody>
      </p:sp>
      <p:sp>
        <p:nvSpPr>
          <p:cNvPr id="23" name="Shape 21"/>
          <p:cNvSpPr/>
          <p:nvPr/>
        </p:nvSpPr>
        <p:spPr>
          <a:xfrm>
            <a:off x="800100" y="4324350"/>
            <a:ext cx="1428750" cy="247650"/>
          </a:xfrm>
          <a:prstGeom prst="roundRect">
            <a:avLst>
              <a:gd name="adj" fmla="val 14769"/>
            </a:avLst>
          </a:prstGeom>
          <a:solidFill>
            <a:srgbClr val="EAF2F8"/>
          </a:solidFill>
          <a:ln w="12700">
            <a:solidFill>
              <a:srgbClr val="D7E1EA"/>
            </a:solidFill>
            <a:prstDash val="solid"/>
          </a:ln>
        </p:spPr>
        <p:txBody>
          <a:bodyPr/>
          <a:lstStyle/>
          <a:p>
            <a:endParaRPr lang="en-IN"/>
          </a:p>
        </p:txBody>
      </p:sp>
      <p:sp>
        <p:nvSpPr>
          <p:cNvPr id="24" name="Text 22"/>
          <p:cNvSpPr/>
          <p:nvPr/>
        </p:nvSpPr>
        <p:spPr>
          <a:xfrm>
            <a:off x="800100" y="4371975"/>
            <a:ext cx="1428750" cy="190500"/>
          </a:xfrm>
          <a:prstGeom prst="rect">
            <a:avLst/>
          </a:prstGeom>
          <a:noFill/>
          <a:ln/>
        </p:spPr>
        <p:txBody>
          <a:bodyPr wrap="square" lIns="0" tIns="0" rIns="0" bIns="0" rtlCol="0" anchor="t">
            <a:normAutofit/>
          </a:bodyPr>
          <a:lstStyle/>
          <a:p>
            <a:pPr marL="0" indent="0" algn="ctr">
              <a:lnSpc>
                <a:spcPct val="100000"/>
              </a:lnSpc>
              <a:buNone/>
            </a:pPr>
            <a:r>
              <a:rPr lang="en-US" sz="1250" b="1" dirty="0">
                <a:solidFill>
                  <a:srgbClr val="1C7293"/>
                </a:solidFill>
                <a:latin typeface="Calibri" pitchFamily="34" charset="0"/>
                <a:ea typeface="Calibri" pitchFamily="34" charset="-122"/>
                <a:cs typeface="Calibri" pitchFamily="34" charset="-120"/>
              </a:rPr>
              <a:t>A3</a:t>
            </a:r>
            <a:endParaRPr lang="en-US" sz="1250" dirty="0"/>
          </a:p>
        </p:txBody>
      </p:sp>
      <p:sp>
        <p:nvSpPr>
          <p:cNvPr id="25" name="Text 23"/>
          <p:cNvSpPr/>
          <p:nvPr/>
        </p:nvSpPr>
        <p:spPr>
          <a:xfrm>
            <a:off x="4191000" y="4000500"/>
            <a:ext cx="7200900" cy="742950"/>
          </a:xfrm>
          <a:prstGeom prst="rect">
            <a:avLst/>
          </a:prstGeom>
          <a:noFill/>
          <a:ln/>
        </p:spPr>
        <p:txBody>
          <a:bodyPr wrap="square" lIns="0" tIns="0" rIns="0" bIns="0" rtlCol="0" anchor="t">
            <a:normAutofit/>
          </a:bodyPr>
          <a:lstStyle/>
          <a:p>
            <a:pPr marL="0" indent="0" algn="l">
              <a:lnSpc>
                <a:spcPct val="100000"/>
              </a:lnSpc>
              <a:buNone/>
            </a:pPr>
            <a:r>
              <a:rPr lang="en-US" sz="1380" dirty="0">
                <a:solidFill>
                  <a:srgbClr val="5B6B7C"/>
                </a:solidFill>
                <a:latin typeface="Calibri" pitchFamily="34" charset="0"/>
                <a:ea typeface="Calibri" pitchFamily="34" charset="-122"/>
                <a:cs typeface="Calibri" pitchFamily="34" charset="-120"/>
              </a:rPr>
              <a:t>tcpdump captures live frames mid-run and tcpreplay retransmits them, producing genuinely stale origin timestamps and reused sequence identifiers rather than synthetic duplicates.</a:t>
            </a:r>
            <a:endParaRPr lang="en-US" sz="1380" dirty="0"/>
          </a:p>
        </p:txBody>
      </p:sp>
      <p:sp>
        <p:nvSpPr>
          <p:cNvPr id="26" name="Shape 24"/>
          <p:cNvSpPr/>
          <p:nvPr/>
        </p:nvSpPr>
        <p:spPr>
          <a:xfrm>
            <a:off x="571500" y="4933950"/>
            <a:ext cx="11049000" cy="990600"/>
          </a:xfrm>
          <a:prstGeom prst="roundRect">
            <a:avLst>
              <a:gd name="adj" fmla="val 3692"/>
            </a:avLst>
          </a:prstGeom>
          <a:solidFill>
            <a:srgbClr val="FFFFFF"/>
          </a:solidFill>
          <a:ln w="12700">
            <a:solidFill>
              <a:srgbClr val="D7E1EA"/>
            </a:solidFill>
            <a:prstDash val="solid"/>
          </a:ln>
        </p:spPr>
        <p:txBody>
          <a:bodyPr/>
          <a:lstStyle/>
          <a:p>
            <a:endParaRPr lang="en-IN"/>
          </a:p>
        </p:txBody>
      </p:sp>
      <p:sp>
        <p:nvSpPr>
          <p:cNvPr id="27" name="Shape 25"/>
          <p:cNvSpPr/>
          <p:nvPr/>
        </p:nvSpPr>
        <p:spPr>
          <a:xfrm>
            <a:off x="571500" y="4933950"/>
            <a:ext cx="47625" cy="990600"/>
          </a:xfrm>
          <a:prstGeom prst="rect">
            <a:avLst/>
          </a:prstGeom>
          <a:solidFill>
            <a:srgbClr val="C58B18"/>
          </a:solidFill>
          <a:ln/>
        </p:spPr>
        <p:txBody>
          <a:bodyPr/>
          <a:lstStyle/>
          <a:p>
            <a:endParaRPr lang="en-IN"/>
          </a:p>
        </p:txBody>
      </p:sp>
      <p:sp>
        <p:nvSpPr>
          <p:cNvPr id="28" name="Text 26"/>
          <p:cNvSpPr/>
          <p:nvPr/>
        </p:nvSpPr>
        <p:spPr>
          <a:xfrm>
            <a:off x="800100" y="5086350"/>
            <a:ext cx="3143250" cy="24765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2263A"/>
                </a:solidFill>
                <a:latin typeface="Cambria" pitchFamily="34" charset="0"/>
                <a:ea typeface="Cambria" pitchFamily="34" charset="-122"/>
                <a:cs typeface="Cambria" pitchFamily="34" charset="-120"/>
              </a:rPr>
              <a:t>Link and queue manipulation</a:t>
            </a:r>
            <a:endParaRPr lang="en-US" sz="1800" dirty="0"/>
          </a:p>
        </p:txBody>
      </p:sp>
      <p:sp>
        <p:nvSpPr>
          <p:cNvPr id="29" name="Shape 27"/>
          <p:cNvSpPr/>
          <p:nvPr/>
        </p:nvSpPr>
        <p:spPr>
          <a:xfrm>
            <a:off x="800100" y="5410200"/>
            <a:ext cx="1428750" cy="247650"/>
          </a:xfrm>
          <a:prstGeom prst="roundRect">
            <a:avLst>
              <a:gd name="adj" fmla="val 14769"/>
            </a:avLst>
          </a:prstGeom>
          <a:solidFill>
            <a:srgbClr val="EAF2F8"/>
          </a:solidFill>
          <a:ln w="12700">
            <a:solidFill>
              <a:srgbClr val="D7E1EA"/>
            </a:solidFill>
            <a:prstDash val="solid"/>
          </a:ln>
        </p:spPr>
        <p:txBody>
          <a:bodyPr/>
          <a:lstStyle/>
          <a:p>
            <a:endParaRPr lang="en-IN"/>
          </a:p>
        </p:txBody>
      </p:sp>
      <p:sp>
        <p:nvSpPr>
          <p:cNvPr id="30" name="Text 28"/>
          <p:cNvSpPr/>
          <p:nvPr/>
        </p:nvSpPr>
        <p:spPr>
          <a:xfrm>
            <a:off x="800100" y="5457825"/>
            <a:ext cx="1428750" cy="190500"/>
          </a:xfrm>
          <a:prstGeom prst="rect">
            <a:avLst/>
          </a:prstGeom>
          <a:noFill/>
          <a:ln/>
        </p:spPr>
        <p:txBody>
          <a:bodyPr wrap="square" lIns="0" tIns="0" rIns="0" bIns="0" rtlCol="0" anchor="t">
            <a:normAutofit/>
          </a:bodyPr>
          <a:lstStyle/>
          <a:p>
            <a:pPr marL="0" indent="0" algn="ctr">
              <a:lnSpc>
                <a:spcPct val="100000"/>
              </a:lnSpc>
              <a:buNone/>
            </a:pPr>
            <a:r>
              <a:rPr lang="en-US" sz="1250" b="1" dirty="0">
                <a:solidFill>
                  <a:srgbClr val="1C7293"/>
                </a:solidFill>
                <a:latin typeface="Calibri" pitchFamily="34" charset="0"/>
                <a:ea typeface="Calibri" pitchFamily="34" charset="-122"/>
                <a:cs typeface="Calibri" pitchFamily="34" charset="-120"/>
              </a:rPr>
              <a:t>A5 · C1 · B3 · B7</a:t>
            </a:r>
            <a:endParaRPr lang="en-US" sz="1250" dirty="0"/>
          </a:p>
        </p:txBody>
      </p:sp>
      <p:sp>
        <p:nvSpPr>
          <p:cNvPr id="31" name="Text 29"/>
          <p:cNvSpPr/>
          <p:nvPr/>
        </p:nvSpPr>
        <p:spPr>
          <a:xfrm>
            <a:off x="4191000" y="5086350"/>
            <a:ext cx="7200900" cy="742950"/>
          </a:xfrm>
          <a:prstGeom prst="rect">
            <a:avLst/>
          </a:prstGeom>
          <a:noFill/>
          <a:ln/>
        </p:spPr>
        <p:txBody>
          <a:bodyPr wrap="square" lIns="0" tIns="0" rIns="0" bIns="0" rtlCol="0" anchor="t">
            <a:normAutofit/>
          </a:bodyPr>
          <a:lstStyle/>
          <a:p>
            <a:pPr marL="0" indent="0" algn="l">
              <a:lnSpc>
                <a:spcPct val="100000"/>
              </a:lnSpc>
              <a:buNone/>
            </a:pPr>
            <a:r>
              <a:rPr lang="en-US" sz="1380" dirty="0">
                <a:solidFill>
                  <a:srgbClr val="5B6B7C"/>
                </a:solidFill>
                <a:latin typeface="Calibri" pitchFamily="34" charset="0"/>
                <a:ea typeface="Calibri" pitchFamily="34" charset="-122"/>
                <a:cs typeface="Calibri" pitchFamily="34" charset="-120"/>
              </a:rPr>
              <a:t>High-rate flooding; sustained blackholing of the boundary clock's downstream port; a tbf bottleneck carrying competing non-PTP traffic; and bouncing an RU link during a maintenance window.</a:t>
            </a:r>
            <a:endParaRPr lang="en-US" sz="1380" dirty="0"/>
          </a:p>
        </p:txBody>
      </p:sp>
      <p:sp>
        <p:nvSpPr>
          <p:cNvPr id="32" name="Shape 30"/>
          <p:cNvSpPr/>
          <p:nvPr/>
        </p:nvSpPr>
        <p:spPr>
          <a:xfrm>
            <a:off x="571500" y="6076950"/>
            <a:ext cx="11049000" cy="552450"/>
          </a:xfrm>
          <a:prstGeom prst="roundRect">
            <a:avLst>
              <a:gd name="adj" fmla="val 6621"/>
            </a:avLst>
          </a:prstGeom>
          <a:solidFill>
            <a:srgbClr val="0E2440"/>
          </a:solidFill>
          <a:ln w="12700">
            <a:solidFill>
              <a:srgbClr val="0E2440"/>
            </a:solidFill>
            <a:prstDash val="solid"/>
          </a:ln>
        </p:spPr>
        <p:txBody>
          <a:bodyPr/>
          <a:lstStyle/>
          <a:p>
            <a:endParaRPr lang="en-IN"/>
          </a:p>
        </p:txBody>
      </p:sp>
      <p:sp>
        <p:nvSpPr>
          <p:cNvPr id="33" name="Text 31"/>
          <p:cNvSpPr/>
          <p:nvPr/>
        </p:nvSpPr>
        <p:spPr>
          <a:xfrm>
            <a:off x="781050" y="6191250"/>
            <a:ext cx="10629900" cy="3429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FFFFFF"/>
                </a:solidFill>
                <a:latin typeface="Cambria" pitchFamily="34" charset="0"/>
                <a:ea typeface="Cambria" pitchFamily="34" charset="-122"/>
                <a:cs typeface="Cambria" pitchFamily="34" charset="-120"/>
              </a:rPr>
              <a:t>An attack and its benign twin frequently share the same packet-path mechanism. Killing a grandmaster is identical in B2 and B_unplanned_failover; only the provisioned maintenance context differs. The context is therefore part of the evidence, not metadata.</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FAULT TAXONOMY · ATTACK SCENARIOS 1 OF 2</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200" b="1" dirty="0">
                <a:solidFill>
                  <a:srgbClr val="12263A"/>
                </a:solidFill>
                <a:latin typeface="Cambria" pitchFamily="34" charset="0"/>
                <a:ea typeface="Cambria" pitchFamily="34" charset="-122"/>
                <a:cs typeface="Cambria" pitchFamily="34" charset="-120"/>
              </a:rPr>
              <a:t>Attack Scenarios: Identity and Message Manipulation</a:t>
            </a:r>
            <a:endParaRPr lang="en-US" sz="32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IEEE 1588-2019 Announce, Sync and Follow_Up message clauses and sequenceId continuity  |  ITU-T G.8275.1 alternate BMCA and message-rate cadence  |  O-RAN WG11 threat identifiers, ETSI TR 104 106 V3.0.0</a:t>
            </a:r>
            <a:endParaRPr lang="en-US" sz="1120" dirty="0"/>
          </a:p>
        </p:txBody>
      </p:sp>
      <p:sp>
        <p:nvSpPr>
          <p:cNvPr id="8" name="Text 6"/>
          <p:cNvSpPr/>
          <p:nvPr/>
        </p:nvSpPr>
        <p:spPr>
          <a:xfrm>
            <a:off x="666750" y="1676400"/>
            <a:ext cx="2381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SCENARIO</a:t>
            </a:r>
            <a:endParaRPr lang="en-US" sz="1200" dirty="0"/>
          </a:p>
        </p:txBody>
      </p:sp>
      <p:sp>
        <p:nvSpPr>
          <p:cNvPr id="9" name="Text 7"/>
          <p:cNvSpPr/>
          <p:nvPr/>
        </p:nvSpPr>
        <p:spPr>
          <a:xfrm>
            <a:off x="3143250" y="1676400"/>
            <a:ext cx="3143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INJECTED CONDITION</a:t>
            </a:r>
            <a:endParaRPr lang="en-US" sz="1200" dirty="0"/>
          </a:p>
        </p:txBody>
      </p:sp>
      <p:sp>
        <p:nvSpPr>
          <p:cNvPr id="10" name="Text 8"/>
          <p:cNvSpPr/>
          <p:nvPr/>
        </p:nvSpPr>
        <p:spPr>
          <a:xfrm>
            <a:off x="6477000" y="1676400"/>
            <a:ext cx="2857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OBSERVABLE EFFECT</a:t>
            </a:r>
            <a:endParaRPr lang="en-US" sz="1200" dirty="0"/>
          </a:p>
        </p:txBody>
      </p:sp>
      <p:sp>
        <p:nvSpPr>
          <p:cNvPr id="11" name="Text 9"/>
          <p:cNvSpPr/>
          <p:nvPr/>
        </p:nvSpPr>
        <p:spPr>
          <a:xfrm>
            <a:off x="9477375" y="1676400"/>
            <a:ext cx="1047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EXPECTED</a:t>
            </a:r>
            <a:endParaRPr lang="en-US" sz="1200" dirty="0"/>
          </a:p>
        </p:txBody>
      </p:sp>
      <p:sp>
        <p:nvSpPr>
          <p:cNvPr id="12" name="Text 10"/>
          <p:cNvSpPr/>
          <p:nvPr/>
        </p:nvSpPr>
        <p:spPr>
          <a:xfrm>
            <a:off x="10525125" y="1676400"/>
            <a:ext cx="1047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RESULT</a:t>
            </a:r>
            <a:endParaRPr lang="en-US" sz="1200" dirty="0"/>
          </a:p>
        </p:txBody>
      </p:sp>
      <p:sp>
        <p:nvSpPr>
          <p:cNvPr id="13" name="Shape 11"/>
          <p:cNvSpPr/>
          <p:nvPr/>
        </p:nvSpPr>
        <p:spPr>
          <a:xfrm>
            <a:off x="571500" y="1933575"/>
            <a:ext cx="11049000" cy="11430"/>
          </a:xfrm>
          <a:prstGeom prst="rect">
            <a:avLst/>
          </a:prstGeom>
          <a:solidFill>
            <a:srgbClr val="D7E1EA"/>
          </a:solidFill>
          <a:ln/>
        </p:spPr>
        <p:txBody>
          <a:bodyPr/>
          <a:lstStyle/>
          <a:p>
            <a:endParaRPr lang="en-IN"/>
          </a:p>
        </p:txBody>
      </p:sp>
      <p:sp>
        <p:nvSpPr>
          <p:cNvPr id="14" name="Text 12"/>
          <p:cNvSpPr/>
          <p:nvPr/>
        </p:nvSpPr>
        <p:spPr>
          <a:xfrm>
            <a:off x="666750" y="205740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A1</a:t>
            </a:r>
            <a:endParaRPr lang="en-US" sz="1550" dirty="0"/>
          </a:p>
        </p:txBody>
      </p:sp>
      <p:sp>
        <p:nvSpPr>
          <p:cNvPr id="15" name="Text 13"/>
          <p:cNvSpPr/>
          <p:nvPr/>
        </p:nvSpPr>
        <p:spPr>
          <a:xfrm>
            <a:off x="666750" y="2266950"/>
            <a:ext cx="2381250" cy="3429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Rogue grandmaster / BMCA spoof</a:t>
            </a:r>
            <a:endParaRPr lang="en-US" sz="1220" dirty="0"/>
          </a:p>
        </p:txBody>
      </p:sp>
      <p:sp>
        <p:nvSpPr>
          <p:cNvPr id="16" name="Text 14"/>
          <p:cNvSpPr/>
          <p:nvPr/>
        </p:nvSpPr>
        <p:spPr>
          <a:xfrm>
            <a:off x="666750" y="262890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T-SPLANE-02 / -03</a:t>
            </a:r>
            <a:endParaRPr lang="en-US" sz="1020" dirty="0"/>
          </a:p>
        </p:txBody>
      </p:sp>
      <p:sp>
        <p:nvSpPr>
          <p:cNvPr id="17" name="Text 15"/>
          <p:cNvSpPr/>
          <p:nvPr/>
        </p:nvSpPr>
        <p:spPr>
          <a:xfrm>
            <a:off x="3143250" y="2057400"/>
            <a:ext cx="32004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A second real ptp4l instance with an identity outside the provisioned allow-list and a superior data set (randomised priority2 and clockClass) competes in the G.8275.1 alternate BMCA.</a:t>
            </a:r>
            <a:endParaRPr lang="en-US" sz="1280" dirty="0"/>
          </a:p>
        </p:txBody>
      </p:sp>
      <p:sp>
        <p:nvSpPr>
          <p:cNvPr id="18" name="Text 16"/>
          <p:cNvSpPr/>
          <p:nvPr/>
        </p:nvSpPr>
        <p:spPr>
          <a:xfrm>
            <a:off x="6477000" y="2057400"/>
            <a:ext cx="28575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The rogue clock wins the alternate BMCA and becomes the advertised time source for the downstream segment.</a:t>
            </a:r>
            <a:endParaRPr lang="en-US" sz="1280" dirty="0"/>
          </a:p>
        </p:txBody>
      </p:sp>
      <p:sp>
        <p:nvSpPr>
          <p:cNvPr id="19" name="Shape 17"/>
          <p:cNvSpPr/>
          <p:nvPr/>
        </p:nvSpPr>
        <p:spPr>
          <a:xfrm>
            <a:off x="9477375" y="2095500"/>
            <a:ext cx="914400" cy="247650"/>
          </a:xfrm>
          <a:prstGeom prst="roundRect">
            <a:avLst>
              <a:gd name="adj" fmla="val 14769"/>
            </a:avLst>
          </a:prstGeom>
          <a:solidFill>
            <a:srgbClr val="F6E4E0"/>
          </a:solidFill>
          <a:ln w="12700">
            <a:solidFill>
              <a:srgbClr val="B3402F"/>
            </a:solidFill>
            <a:prstDash val="solid"/>
          </a:ln>
        </p:spPr>
        <p:txBody>
          <a:bodyPr/>
          <a:lstStyle/>
          <a:p>
            <a:endParaRPr lang="en-IN"/>
          </a:p>
        </p:txBody>
      </p:sp>
      <p:sp>
        <p:nvSpPr>
          <p:cNvPr id="20" name="Text 18"/>
          <p:cNvSpPr/>
          <p:nvPr/>
        </p:nvSpPr>
        <p:spPr>
          <a:xfrm>
            <a:off x="9477375" y="214312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21" name="Text 19"/>
          <p:cNvSpPr/>
          <p:nvPr/>
        </p:nvSpPr>
        <p:spPr>
          <a:xfrm>
            <a:off x="10525125" y="207645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22" name="Text 20"/>
          <p:cNvSpPr/>
          <p:nvPr/>
        </p:nvSpPr>
        <p:spPr>
          <a:xfrm>
            <a:off x="10525125" y="230505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23" name="Shape 21"/>
          <p:cNvSpPr/>
          <p:nvPr/>
        </p:nvSpPr>
        <p:spPr>
          <a:xfrm>
            <a:off x="571500" y="2952750"/>
            <a:ext cx="11049000" cy="11430"/>
          </a:xfrm>
          <a:prstGeom prst="rect">
            <a:avLst/>
          </a:prstGeom>
          <a:solidFill>
            <a:srgbClr val="D7E1EA"/>
          </a:solidFill>
          <a:ln/>
        </p:spPr>
        <p:txBody>
          <a:bodyPr/>
          <a:lstStyle/>
          <a:p>
            <a:endParaRPr lang="en-IN"/>
          </a:p>
        </p:txBody>
      </p:sp>
      <p:sp>
        <p:nvSpPr>
          <p:cNvPr id="24" name="Text 22"/>
          <p:cNvSpPr/>
          <p:nvPr/>
        </p:nvSpPr>
        <p:spPr>
          <a:xfrm>
            <a:off x="666750" y="304800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A2</a:t>
            </a:r>
            <a:endParaRPr lang="en-US" sz="1550" dirty="0"/>
          </a:p>
        </p:txBody>
      </p:sp>
      <p:sp>
        <p:nvSpPr>
          <p:cNvPr id="25" name="Text 23"/>
          <p:cNvSpPr/>
          <p:nvPr/>
        </p:nvSpPr>
        <p:spPr>
          <a:xfrm>
            <a:off x="666750" y="3257550"/>
            <a:ext cx="2381250" cy="3429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Sync / Follow_Up spoofing</a:t>
            </a:r>
            <a:endParaRPr lang="en-US" sz="1220" dirty="0"/>
          </a:p>
        </p:txBody>
      </p:sp>
      <p:sp>
        <p:nvSpPr>
          <p:cNvPr id="26" name="Text 24"/>
          <p:cNvSpPr/>
          <p:nvPr/>
        </p:nvSpPr>
        <p:spPr>
          <a:xfrm>
            <a:off x="666750" y="361950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IEEE 1588-2019</a:t>
            </a:r>
            <a:endParaRPr lang="en-US" sz="1020" dirty="0"/>
          </a:p>
        </p:txBody>
      </p:sp>
      <p:sp>
        <p:nvSpPr>
          <p:cNvPr id="27" name="Text 25"/>
          <p:cNvSpPr/>
          <p:nvPr/>
        </p:nvSpPr>
        <p:spPr>
          <a:xfrm>
            <a:off x="3143250" y="3048000"/>
            <a:ext cx="32004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Forged timing messages from an unallow-listed source identity, sent in bursts, with implausible origin timestamps and no accompanying Announce.</a:t>
            </a:r>
            <a:endParaRPr lang="en-US" sz="1280" dirty="0"/>
          </a:p>
        </p:txBody>
      </p:sp>
      <p:sp>
        <p:nvSpPr>
          <p:cNvPr id="28" name="Text 26"/>
          <p:cNvSpPr/>
          <p:nvPr/>
        </p:nvSpPr>
        <p:spPr>
          <a:xfrm>
            <a:off x="6477000" y="3048000"/>
            <a:ext cx="28575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Timing content conflicts with the elected grandmaster while the source never advertises itself legitimately.</a:t>
            </a:r>
            <a:endParaRPr lang="en-US" sz="1280" dirty="0"/>
          </a:p>
        </p:txBody>
      </p:sp>
      <p:sp>
        <p:nvSpPr>
          <p:cNvPr id="29" name="Shape 27"/>
          <p:cNvSpPr/>
          <p:nvPr/>
        </p:nvSpPr>
        <p:spPr>
          <a:xfrm>
            <a:off x="9477375" y="3086100"/>
            <a:ext cx="914400" cy="247650"/>
          </a:xfrm>
          <a:prstGeom prst="roundRect">
            <a:avLst>
              <a:gd name="adj" fmla="val 14769"/>
            </a:avLst>
          </a:prstGeom>
          <a:solidFill>
            <a:srgbClr val="F6E4E0"/>
          </a:solidFill>
          <a:ln w="12700">
            <a:solidFill>
              <a:srgbClr val="B3402F"/>
            </a:solidFill>
            <a:prstDash val="solid"/>
          </a:ln>
        </p:spPr>
        <p:txBody>
          <a:bodyPr/>
          <a:lstStyle/>
          <a:p>
            <a:endParaRPr lang="en-IN"/>
          </a:p>
        </p:txBody>
      </p:sp>
      <p:sp>
        <p:nvSpPr>
          <p:cNvPr id="30" name="Text 28"/>
          <p:cNvSpPr/>
          <p:nvPr/>
        </p:nvSpPr>
        <p:spPr>
          <a:xfrm>
            <a:off x="9477375" y="313372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31" name="Text 29"/>
          <p:cNvSpPr/>
          <p:nvPr/>
        </p:nvSpPr>
        <p:spPr>
          <a:xfrm>
            <a:off x="10525125" y="306705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32" name="Text 30"/>
          <p:cNvSpPr/>
          <p:nvPr/>
        </p:nvSpPr>
        <p:spPr>
          <a:xfrm>
            <a:off x="10525125" y="329565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33" name="Shape 31"/>
          <p:cNvSpPr/>
          <p:nvPr/>
        </p:nvSpPr>
        <p:spPr>
          <a:xfrm>
            <a:off x="571500" y="3943350"/>
            <a:ext cx="11049000" cy="11430"/>
          </a:xfrm>
          <a:prstGeom prst="rect">
            <a:avLst/>
          </a:prstGeom>
          <a:solidFill>
            <a:srgbClr val="D7E1EA"/>
          </a:solidFill>
          <a:ln/>
        </p:spPr>
        <p:txBody>
          <a:bodyPr/>
          <a:lstStyle/>
          <a:p>
            <a:endParaRPr lang="en-IN"/>
          </a:p>
        </p:txBody>
      </p:sp>
      <p:sp>
        <p:nvSpPr>
          <p:cNvPr id="34" name="Text 32"/>
          <p:cNvSpPr/>
          <p:nvPr/>
        </p:nvSpPr>
        <p:spPr>
          <a:xfrm>
            <a:off x="666750" y="403860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A3</a:t>
            </a:r>
            <a:endParaRPr lang="en-US" sz="1550" dirty="0"/>
          </a:p>
        </p:txBody>
      </p:sp>
      <p:sp>
        <p:nvSpPr>
          <p:cNvPr id="35" name="Text 33"/>
          <p:cNvSpPr/>
          <p:nvPr/>
        </p:nvSpPr>
        <p:spPr>
          <a:xfrm>
            <a:off x="666750" y="4248150"/>
            <a:ext cx="2381250" cy="3429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Replay</a:t>
            </a:r>
            <a:endParaRPr lang="en-US" sz="1220" dirty="0"/>
          </a:p>
        </p:txBody>
      </p:sp>
      <p:sp>
        <p:nvSpPr>
          <p:cNvPr id="36" name="Text 34"/>
          <p:cNvSpPr/>
          <p:nvPr/>
        </p:nvSpPr>
        <p:spPr>
          <a:xfrm>
            <a:off x="666750" y="461010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IEEE 1588-2019 sequenceId</a:t>
            </a:r>
            <a:endParaRPr lang="en-US" sz="1020" dirty="0"/>
          </a:p>
        </p:txBody>
      </p:sp>
      <p:sp>
        <p:nvSpPr>
          <p:cNvPr id="37" name="Text 35"/>
          <p:cNvSpPr/>
          <p:nvPr/>
        </p:nvSpPr>
        <p:spPr>
          <a:xfrm>
            <a:off x="3143250" y="4038600"/>
            <a:ext cx="32004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Live frames captured mid-run and retransmitted with tcpreplay, carrying genuinely stale origin timestamps and reused sequence identifiers.</a:t>
            </a:r>
            <a:endParaRPr lang="en-US" sz="1280" dirty="0"/>
          </a:p>
        </p:txBody>
      </p:sp>
      <p:sp>
        <p:nvSpPr>
          <p:cNvPr id="38" name="Text 36"/>
          <p:cNvSpPr/>
          <p:nvPr/>
        </p:nvSpPr>
        <p:spPr>
          <a:xfrm>
            <a:off x="6477000" y="4038600"/>
            <a:ext cx="28575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Sequence continuity regresses and timestamps move backwards relative to the active stream.</a:t>
            </a:r>
            <a:endParaRPr lang="en-US" sz="1280" dirty="0"/>
          </a:p>
        </p:txBody>
      </p:sp>
      <p:sp>
        <p:nvSpPr>
          <p:cNvPr id="39" name="Shape 37"/>
          <p:cNvSpPr/>
          <p:nvPr/>
        </p:nvSpPr>
        <p:spPr>
          <a:xfrm>
            <a:off x="9477375" y="4076700"/>
            <a:ext cx="914400" cy="247650"/>
          </a:xfrm>
          <a:prstGeom prst="roundRect">
            <a:avLst>
              <a:gd name="adj" fmla="val 14769"/>
            </a:avLst>
          </a:prstGeom>
          <a:solidFill>
            <a:srgbClr val="F6E4E0"/>
          </a:solidFill>
          <a:ln w="12700">
            <a:solidFill>
              <a:srgbClr val="B3402F"/>
            </a:solidFill>
            <a:prstDash val="solid"/>
          </a:ln>
        </p:spPr>
        <p:txBody>
          <a:bodyPr/>
          <a:lstStyle/>
          <a:p>
            <a:endParaRPr lang="en-IN"/>
          </a:p>
        </p:txBody>
      </p:sp>
      <p:sp>
        <p:nvSpPr>
          <p:cNvPr id="40" name="Text 38"/>
          <p:cNvSpPr/>
          <p:nvPr/>
        </p:nvSpPr>
        <p:spPr>
          <a:xfrm>
            <a:off x="9477375" y="412432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41" name="Text 39"/>
          <p:cNvSpPr/>
          <p:nvPr/>
        </p:nvSpPr>
        <p:spPr>
          <a:xfrm>
            <a:off x="10525125" y="405765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42" name="Text 40"/>
          <p:cNvSpPr/>
          <p:nvPr/>
        </p:nvSpPr>
        <p:spPr>
          <a:xfrm>
            <a:off x="10525125" y="428625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43" name="Shape 41"/>
          <p:cNvSpPr/>
          <p:nvPr/>
        </p:nvSpPr>
        <p:spPr>
          <a:xfrm>
            <a:off x="571500" y="4933950"/>
            <a:ext cx="11049000" cy="11430"/>
          </a:xfrm>
          <a:prstGeom prst="rect">
            <a:avLst/>
          </a:prstGeom>
          <a:solidFill>
            <a:srgbClr val="D7E1EA"/>
          </a:solidFill>
          <a:ln/>
        </p:spPr>
        <p:txBody>
          <a:bodyPr/>
          <a:lstStyle/>
          <a:p>
            <a:endParaRPr lang="en-IN"/>
          </a:p>
        </p:txBody>
      </p:sp>
      <p:sp>
        <p:nvSpPr>
          <p:cNvPr id="44" name="Text 42"/>
          <p:cNvSpPr/>
          <p:nvPr/>
        </p:nvSpPr>
        <p:spPr>
          <a:xfrm>
            <a:off x="666750" y="502920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A5</a:t>
            </a:r>
            <a:endParaRPr lang="en-US" sz="1550" dirty="0"/>
          </a:p>
        </p:txBody>
      </p:sp>
      <p:sp>
        <p:nvSpPr>
          <p:cNvPr id="45" name="Text 43"/>
          <p:cNvSpPr/>
          <p:nvPr/>
        </p:nvSpPr>
        <p:spPr>
          <a:xfrm>
            <a:off x="666750" y="5238750"/>
            <a:ext cx="2381250" cy="3429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DoS / PTP flooding</a:t>
            </a:r>
            <a:endParaRPr lang="en-US" sz="1220" dirty="0"/>
          </a:p>
        </p:txBody>
      </p:sp>
      <p:sp>
        <p:nvSpPr>
          <p:cNvPr id="46" name="Text 44"/>
          <p:cNvSpPr/>
          <p:nvPr/>
        </p:nvSpPr>
        <p:spPr>
          <a:xfrm>
            <a:off x="666750" y="560070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T-SPLANE-01</a:t>
            </a:r>
            <a:endParaRPr lang="en-US" sz="1020" dirty="0"/>
          </a:p>
        </p:txBody>
      </p:sp>
      <p:sp>
        <p:nvSpPr>
          <p:cNvPr id="47" name="Text 45"/>
          <p:cNvSpPr/>
          <p:nvPr/>
        </p:nvSpPr>
        <p:spPr>
          <a:xfrm>
            <a:off x="3143250" y="5029200"/>
            <a:ext cx="32004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High-rate PTP traffic injected on the RU segment in bursts of 300 frames, from a source outside the allow-list.</a:t>
            </a:r>
            <a:endParaRPr lang="en-US" sz="1280" dirty="0"/>
          </a:p>
        </p:txBody>
      </p:sp>
      <p:sp>
        <p:nvSpPr>
          <p:cNvPr id="48" name="Text 46"/>
          <p:cNvSpPr/>
          <p:nvPr/>
        </p:nvSpPr>
        <p:spPr>
          <a:xfrm>
            <a:off x="6477000" y="5029200"/>
            <a:ext cx="28575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Message rate far exceeds the profile cadence; record volume rises to roughly 38,000 per run against a baseline of 6,000.</a:t>
            </a:r>
            <a:endParaRPr lang="en-US" sz="1280" dirty="0"/>
          </a:p>
        </p:txBody>
      </p:sp>
      <p:sp>
        <p:nvSpPr>
          <p:cNvPr id="49" name="Shape 47"/>
          <p:cNvSpPr/>
          <p:nvPr/>
        </p:nvSpPr>
        <p:spPr>
          <a:xfrm>
            <a:off x="9477375" y="5067300"/>
            <a:ext cx="914400" cy="247650"/>
          </a:xfrm>
          <a:prstGeom prst="roundRect">
            <a:avLst>
              <a:gd name="adj" fmla="val 14769"/>
            </a:avLst>
          </a:prstGeom>
          <a:solidFill>
            <a:srgbClr val="F6E4E0"/>
          </a:solidFill>
          <a:ln w="12700">
            <a:solidFill>
              <a:srgbClr val="B3402F"/>
            </a:solidFill>
            <a:prstDash val="solid"/>
          </a:ln>
        </p:spPr>
        <p:txBody>
          <a:bodyPr/>
          <a:lstStyle/>
          <a:p>
            <a:endParaRPr lang="en-IN"/>
          </a:p>
        </p:txBody>
      </p:sp>
      <p:sp>
        <p:nvSpPr>
          <p:cNvPr id="50" name="Text 48"/>
          <p:cNvSpPr/>
          <p:nvPr/>
        </p:nvSpPr>
        <p:spPr>
          <a:xfrm>
            <a:off x="9477375" y="511492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51" name="Text 49"/>
          <p:cNvSpPr/>
          <p:nvPr/>
        </p:nvSpPr>
        <p:spPr>
          <a:xfrm>
            <a:off x="10525125" y="504825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52" name="Text 50"/>
          <p:cNvSpPr/>
          <p:nvPr/>
        </p:nvSpPr>
        <p:spPr>
          <a:xfrm>
            <a:off x="10525125" y="527685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53" name="Shape 51"/>
          <p:cNvSpPr/>
          <p:nvPr/>
        </p:nvSpPr>
        <p:spPr>
          <a:xfrm>
            <a:off x="571500" y="5924550"/>
            <a:ext cx="11049000" cy="11430"/>
          </a:xfrm>
          <a:prstGeom prst="rect">
            <a:avLst/>
          </a:prstGeom>
          <a:solidFill>
            <a:srgbClr val="D7E1EA"/>
          </a:solidFill>
          <a:ln/>
        </p:spPr>
        <p:txBody>
          <a:bodyPr/>
          <a:lstStyle/>
          <a:p>
            <a:endParaRPr lang="en-IN"/>
          </a:p>
        </p:txBody>
      </p:sp>
      <p:sp>
        <p:nvSpPr>
          <p:cNvPr id="54" name="Shape 52"/>
          <p:cNvSpPr/>
          <p:nvPr/>
        </p:nvSpPr>
        <p:spPr>
          <a:xfrm>
            <a:off x="571500" y="6057900"/>
            <a:ext cx="11049000" cy="514350"/>
          </a:xfrm>
          <a:prstGeom prst="roundRect">
            <a:avLst>
              <a:gd name="adj" fmla="val 7111"/>
            </a:avLst>
          </a:prstGeom>
          <a:solidFill>
            <a:srgbClr val="DDF5EF"/>
          </a:solidFill>
          <a:ln w="12700">
            <a:solidFill>
              <a:srgbClr val="18B89A"/>
            </a:solidFill>
            <a:prstDash val="solid"/>
          </a:ln>
        </p:spPr>
        <p:txBody>
          <a:bodyPr/>
          <a:lstStyle/>
          <a:p>
            <a:endParaRPr lang="en-IN"/>
          </a:p>
        </p:txBody>
      </p:sp>
      <p:sp>
        <p:nvSpPr>
          <p:cNvPr id="55" name="Text 53"/>
          <p:cNvSpPr/>
          <p:nvPr/>
        </p:nvSpPr>
        <p:spPr>
          <a:xfrm>
            <a:off x="781050" y="6181725"/>
            <a:ext cx="10629900" cy="28575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0B5547"/>
                </a:solidFill>
                <a:latin typeface="Cambria" pitchFamily="34" charset="0"/>
                <a:ea typeface="Cambria" pitchFamily="34" charset="-122"/>
                <a:cs typeface="Cambria" pitchFamily="34" charset="-120"/>
              </a:rPr>
              <a:t>All four scenarios were detected by the pre-frozen base rule at 12/12, before any rule revision. Detection rests on protocol legality and allow-list membership, not on the magnitude of the timing error produced.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FAULT TAXONOMY · ATTACK SCENARIOS 2 OF 2</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2900" b="1" dirty="0">
                <a:solidFill>
                  <a:srgbClr val="12263A"/>
                </a:solidFill>
                <a:latin typeface="Cambria" pitchFamily="34" charset="0"/>
                <a:ea typeface="Cambria" pitchFamily="34" charset="-122"/>
                <a:cs typeface="Cambria" pitchFamily="34" charset="-120"/>
              </a:rPr>
              <a:t>Attack Scenarios: Relay, Interception and Field Abuse</a:t>
            </a:r>
            <a:endParaRPr lang="en-US" sz="29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O-RAN WG11 security test identifiers 11.1.5.3.1 and 24.2.1.2 (ETSI TS 104 105)  |  IEEE 1588-2019 stepsRemoved, timePropertiesDS §8.2.4 and leap-second handling §9.4  |  ETSI TR 104 106 V3.0.0</a:t>
            </a:r>
            <a:endParaRPr lang="en-US" sz="1120" dirty="0"/>
          </a:p>
        </p:txBody>
      </p:sp>
      <p:sp>
        <p:nvSpPr>
          <p:cNvPr id="8" name="Text 6"/>
          <p:cNvSpPr/>
          <p:nvPr/>
        </p:nvSpPr>
        <p:spPr>
          <a:xfrm>
            <a:off x="666750" y="1676400"/>
            <a:ext cx="2381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SCENARIO</a:t>
            </a:r>
            <a:endParaRPr lang="en-US" sz="1200" dirty="0"/>
          </a:p>
        </p:txBody>
      </p:sp>
      <p:sp>
        <p:nvSpPr>
          <p:cNvPr id="9" name="Text 7"/>
          <p:cNvSpPr/>
          <p:nvPr/>
        </p:nvSpPr>
        <p:spPr>
          <a:xfrm>
            <a:off x="3143250" y="1676400"/>
            <a:ext cx="3143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INJECTED CONDITION</a:t>
            </a:r>
            <a:endParaRPr lang="en-US" sz="1200" dirty="0"/>
          </a:p>
        </p:txBody>
      </p:sp>
      <p:sp>
        <p:nvSpPr>
          <p:cNvPr id="10" name="Text 8"/>
          <p:cNvSpPr/>
          <p:nvPr/>
        </p:nvSpPr>
        <p:spPr>
          <a:xfrm>
            <a:off x="6477000" y="1676400"/>
            <a:ext cx="2857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OBSERVABLE EFFECT</a:t>
            </a:r>
            <a:endParaRPr lang="en-US" sz="1200" dirty="0"/>
          </a:p>
        </p:txBody>
      </p:sp>
      <p:sp>
        <p:nvSpPr>
          <p:cNvPr id="11" name="Text 9"/>
          <p:cNvSpPr/>
          <p:nvPr/>
        </p:nvSpPr>
        <p:spPr>
          <a:xfrm>
            <a:off x="9477375" y="1676400"/>
            <a:ext cx="1047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EXPECTED</a:t>
            </a:r>
            <a:endParaRPr lang="en-US" sz="1200" dirty="0"/>
          </a:p>
        </p:txBody>
      </p:sp>
      <p:sp>
        <p:nvSpPr>
          <p:cNvPr id="12" name="Text 10"/>
          <p:cNvSpPr/>
          <p:nvPr/>
        </p:nvSpPr>
        <p:spPr>
          <a:xfrm>
            <a:off x="10525125" y="1676400"/>
            <a:ext cx="1047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RESULT</a:t>
            </a:r>
            <a:endParaRPr lang="en-US" sz="1200" dirty="0"/>
          </a:p>
        </p:txBody>
      </p:sp>
      <p:sp>
        <p:nvSpPr>
          <p:cNvPr id="13" name="Shape 11"/>
          <p:cNvSpPr/>
          <p:nvPr/>
        </p:nvSpPr>
        <p:spPr>
          <a:xfrm>
            <a:off x="571500" y="1933575"/>
            <a:ext cx="11049000" cy="11430"/>
          </a:xfrm>
          <a:prstGeom prst="rect">
            <a:avLst/>
          </a:prstGeom>
          <a:solidFill>
            <a:srgbClr val="D7E1EA"/>
          </a:solidFill>
          <a:ln/>
        </p:spPr>
        <p:txBody>
          <a:bodyPr/>
          <a:lstStyle/>
          <a:p>
            <a:endParaRPr lang="en-IN"/>
          </a:p>
        </p:txBody>
      </p:sp>
      <p:sp>
        <p:nvSpPr>
          <p:cNvPr id="14" name="Text 12"/>
          <p:cNvSpPr/>
          <p:nvPr/>
        </p:nvSpPr>
        <p:spPr>
          <a:xfrm>
            <a:off x="666750" y="205740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A8</a:t>
            </a:r>
            <a:endParaRPr lang="en-US" sz="1550" dirty="0"/>
          </a:p>
        </p:txBody>
      </p:sp>
      <p:sp>
        <p:nvSpPr>
          <p:cNvPr id="15" name="Text 13"/>
          <p:cNvSpPr/>
          <p:nvPr/>
        </p:nvSpPr>
        <p:spPr>
          <a:xfrm>
            <a:off x="666750" y="2266950"/>
            <a:ext cx="2381250" cy="3429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Rogue boundary clock</a:t>
            </a:r>
            <a:endParaRPr lang="en-US" sz="1220" dirty="0"/>
          </a:p>
        </p:txBody>
      </p:sp>
      <p:sp>
        <p:nvSpPr>
          <p:cNvPr id="16" name="Text 14"/>
          <p:cNvSpPr/>
          <p:nvPr/>
        </p:nvSpPr>
        <p:spPr>
          <a:xfrm>
            <a:off x="666750" y="262890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T-SPLANE-03</a:t>
            </a:r>
            <a:endParaRPr lang="en-US" sz="1020" dirty="0"/>
          </a:p>
        </p:txBody>
      </p:sp>
      <p:sp>
        <p:nvSpPr>
          <p:cNvPr id="17" name="Text 15"/>
          <p:cNvSpPr/>
          <p:nvPr/>
        </p:nvSpPr>
        <p:spPr>
          <a:xfrm>
            <a:off x="3143250" y="2057400"/>
            <a:ext cx="32004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A two-port ptp4l instance slaves to the legitimate grandmaster upstream and re-advertises downstream with stepsRemoved incremented.</a:t>
            </a:r>
            <a:endParaRPr lang="en-US" sz="1280" dirty="0"/>
          </a:p>
        </p:txBody>
      </p:sp>
      <p:sp>
        <p:nvSpPr>
          <p:cNvPr id="18" name="Text 16"/>
          <p:cNvSpPr/>
          <p:nvPr/>
        </p:nvSpPr>
        <p:spPr>
          <a:xfrm>
            <a:off x="6477000" y="2057400"/>
            <a:ext cx="28575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An unauthorised clock is inserted into the timing path while still relaying genuine time, so content alone appears valid.</a:t>
            </a:r>
            <a:endParaRPr lang="en-US" sz="1280" dirty="0"/>
          </a:p>
        </p:txBody>
      </p:sp>
      <p:sp>
        <p:nvSpPr>
          <p:cNvPr id="19" name="Shape 17"/>
          <p:cNvSpPr/>
          <p:nvPr/>
        </p:nvSpPr>
        <p:spPr>
          <a:xfrm>
            <a:off x="9477375" y="2095500"/>
            <a:ext cx="914400" cy="247650"/>
          </a:xfrm>
          <a:prstGeom prst="roundRect">
            <a:avLst>
              <a:gd name="adj" fmla="val 14769"/>
            </a:avLst>
          </a:prstGeom>
          <a:solidFill>
            <a:srgbClr val="F6E4E0"/>
          </a:solidFill>
          <a:ln w="12700">
            <a:solidFill>
              <a:srgbClr val="B3402F"/>
            </a:solidFill>
            <a:prstDash val="solid"/>
          </a:ln>
        </p:spPr>
        <p:txBody>
          <a:bodyPr/>
          <a:lstStyle/>
          <a:p>
            <a:endParaRPr lang="en-IN"/>
          </a:p>
        </p:txBody>
      </p:sp>
      <p:sp>
        <p:nvSpPr>
          <p:cNvPr id="20" name="Text 18"/>
          <p:cNvSpPr/>
          <p:nvPr/>
        </p:nvSpPr>
        <p:spPr>
          <a:xfrm>
            <a:off x="9477375" y="214312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21" name="Text 19"/>
          <p:cNvSpPr/>
          <p:nvPr/>
        </p:nvSpPr>
        <p:spPr>
          <a:xfrm>
            <a:off x="10525125" y="207645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22" name="Text 20"/>
          <p:cNvSpPr/>
          <p:nvPr/>
        </p:nvSpPr>
        <p:spPr>
          <a:xfrm>
            <a:off x="10525125" y="230505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23" name="Shape 21"/>
          <p:cNvSpPr/>
          <p:nvPr/>
        </p:nvSpPr>
        <p:spPr>
          <a:xfrm>
            <a:off x="571500" y="2952750"/>
            <a:ext cx="11049000" cy="11430"/>
          </a:xfrm>
          <a:prstGeom prst="rect">
            <a:avLst/>
          </a:prstGeom>
          <a:solidFill>
            <a:srgbClr val="D7E1EA"/>
          </a:solidFill>
          <a:ln/>
        </p:spPr>
        <p:txBody>
          <a:bodyPr/>
          <a:lstStyle/>
          <a:p>
            <a:endParaRPr lang="en-IN"/>
          </a:p>
        </p:txBody>
      </p:sp>
      <p:sp>
        <p:nvSpPr>
          <p:cNvPr id="24" name="Text 22"/>
          <p:cNvSpPr/>
          <p:nvPr/>
        </p:nvSpPr>
        <p:spPr>
          <a:xfrm>
            <a:off x="666750" y="304800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C1</a:t>
            </a:r>
            <a:endParaRPr lang="en-US" sz="1550" dirty="0"/>
          </a:p>
        </p:txBody>
      </p:sp>
      <p:sp>
        <p:nvSpPr>
          <p:cNvPr id="25" name="Text 23"/>
          <p:cNvSpPr/>
          <p:nvPr/>
        </p:nvSpPr>
        <p:spPr>
          <a:xfrm>
            <a:off x="666750" y="3257550"/>
            <a:ext cx="2381250" cy="3429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Selective interception and removal</a:t>
            </a:r>
            <a:endParaRPr lang="en-US" sz="1220" dirty="0"/>
          </a:p>
        </p:txBody>
      </p:sp>
      <p:sp>
        <p:nvSpPr>
          <p:cNvPr id="26" name="Text 24"/>
          <p:cNvSpPr/>
          <p:nvPr/>
        </p:nvSpPr>
        <p:spPr>
          <a:xfrm>
            <a:off x="666750" y="361950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T-SPLANE-04</a:t>
            </a:r>
            <a:endParaRPr lang="en-US" sz="1020" dirty="0"/>
          </a:p>
        </p:txBody>
      </p:sp>
      <p:sp>
        <p:nvSpPr>
          <p:cNvPr id="27" name="Text 25"/>
          <p:cNvSpPr/>
          <p:nvPr/>
        </p:nvSpPr>
        <p:spPr>
          <a:xfrm>
            <a:off x="3143250" y="3048000"/>
            <a:ext cx="32004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The boundary clock's downstream port is blackholed for a sustained fraction of the observation window, withholding Sync and Announce.</a:t>
            </a:r>
            <a:endParaRPr lang="en-US" sz="1280" dirty="0"/>
          </a:p>
        </p:txBody>
      </p:sp>
      <p:sp>
        <p:nvSpPr>
          <p:cNvPr id="28" name="Text 26"/>
          <p:cNvSpPr/>
          <p:nvPr/>
        </p:nvSpPr>
        <p:spPr>
          <a:xfrm>
            <a:off x="6477000" y="3048000"/>
            <a:ext cx="28575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Radio units receive messages below the rate the boundary clock itself declares; delivered-to-declared ratio falls toward 0.37.</a:t>
            </a:r>
            <a:endParaRPr lang="en-US" sz="1280" dirty="0"/>
          </a:p>
        </p:txBody>
      </p:sp>
      <p:sp>
        <p:nvSpPr>
          <p:cNvPr id="29" name="Shape 27"/>
          <p:cNvSpPr/>
          <p:nvPr/>
        </p:nvSpPr>
        <p:spPr>
          <a:xfrm>
            <a:off x="9477375" y="3086100"/>
            <a:ext cx="914400" cy="247650"/>
          </a:xfrm>
          <a:prstGeom prst="roundRect">
            <a:avLst>
              <a:gd name="adj" fmla="val 14769"/>
            </a:avLst>
          </a:prstGeom>
          <a:solidFill>
            <a:srgbClr val="F6E4E0"/>
          </a:solidFill>
          <a:ln w="12700">
            <a:solidFill>
              <a:srgbClr val="B3402F"/>
            </a:solidFill>
            <a:prstDash val="solid"/>
          </a:ln>
        </p:spPr>
        <p:txBody>
          <a:bodyPr/>
          <a:lstStyle/>
          <a:p>
            <a:endParaRPr lang="en-IN"/>
          </a:p>
        </p:txBody>
      </p:sp>
      <p:sp>
        <p:nvSpPr>
          <p:cNvPr id="30" name="Text 28"/>
          <p:cNvSpPr/>
          <p:nvPr/>
        </p:nvSpPr>
        <p:spPr>
          <a:xfrm>
            <a:off x="9477375" y="313372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31" name="Text 29"/>
          <p:cNvSpPr/>
          <p:nvPr/>
        </p:nvSpPr>
        <p:spPr>
          <a:xfrm>
            <a:off x="10525125" y="306705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11/12</a:t>
            </a:r>
            <a:endParaRPr lang="en-US" sz="1500" dirty="0"/>
          </a:p>
        </p:txBody>
      </p:sp>
      <p:sp>
        <p:nvSpPr>
          <p:cNvPr id="32" name="Text 30"/>
          <p:cNvSpPr/>
          <p:nvPr/>
        </p:nvSpPr>
        <p:spPr>
          <a:xfrm>
            <a:off x="10525125" y="329565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33" name="Shape 31"/>
          <p:cNvSpPr/>
          <p:nvPr/>
        </p:nvSpPr>
        <p:spPr>
          <a:xfrm>
            <a:off x="571500" y="3943350"/>
            <a:ext cx="11049000" cy="11430"/>
          </a:xfrm>
          <a:prstGeom prst="rect">
            <a:avLst/>
          </a:prstGeom>
          <a:solidFill>
            <a:srgbClr val="D7E1EA"/>
          </a:solidFill>
          <a:ln/>
        </p:spPr>
        <p:txBody>
          <a:bodyPr/>
          <a:lstStyle/>
          <a:p>
            <a:endParaRPr lang="en-IN"/>
          </a:p>
        </p:txBody>
      </p:sp>
      <p:sp>
        <p:nvSpPr>
          <p:cNvPr id="34" name="Text 32"/>
          <p:cNvSpPr/>
          <p:nvPr/>
        </p:nvSpPr>
        <p:spPr>
          <a:xfrm>
            <a:off x="666750" y="403860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C2</a:t>
            </a:r>
            <a:endParaRPr lang="en-US" sz="1550" dirty="0"/>
          </a:p>
        </p:txBody>
      </p:sp>
      <p:sp>
        <p:nvSpPr>
          <p:cNvPr id="35" name="Text 33"/>
          <p:cNvSpPr/>
          <p:nvPr/>
        </p:nvSpPr>
        <p:spPr>
          <a:xfrm>
            <a:off x="666750" y="4248150"/>
            <a:ext cx="2381250" cy="3429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Malformed / fuzzed frames</a:t>
            </a:r>
            <a:endParaRPr lang="en-US" sz="1220" dirty="0"/>
          </a:p>
        </p:txBody>
      </p:sp>
      <p:sp>
        <p:nvSpPr>
          <p:cNvPr id="36" name="Text 34"/>
          <p:cNvSpPr/>
          <p:nvPr/>
        </p:nvSpPr>
        <p:spPr>
          <a:xfrm>
            <a:off x="666750" y="461010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WG11 24.2.1.2</a:t>
            </a:r>
            <a:endParaRPr lang="en-US" sz="1020" dirty="0"/>
          </a:p>
        </p:txBody>
      </p:sp>
      <p:sp>
        <p:nvSpPr>
          <p:cNvPr id="37" name="Text 35"/>
          <p:cNvSpPr/>
          <p:nvPr/>
        </p:nvSpPr>
        <p:spPr>
          <a:xfrm>
            <a:off x="3143250" y="4038600"/>
            <a:ext cx="32004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Frames injected with versionPTP 3, a reserved message type, and a message length shorter than the protocol permits.</a:t>
            </a:r>
            <a:endParaRPr lang="en-US" sz="1280" dirty="0"/>
          </a:p>
        </p:txBody>
      </p:sp>
      <p:sp>
        <p:nvSpPr>
          <p:cNvPr id="38" name="Text 36"/>
          <p:cNvSpPr/>
          <p:nvPr/>
        </p:nvSpPr>
        <p:spPr>
          <a:xfrm>
            <a:off x="6477000" y="4038600"/>
            <a:ext cx="28575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Frames are structurally illegal under IEEE 1588-2019 regardless of their timing content.</a:t>
            </a:r>
            <a:endParaRPr lang="en-US" sz="1280" dirty="0"/>
          </a:p>
        </p:txBody>
      </p:sp>
      <p:sp>
        <p:nvSpPr>
          <p:cNvPr id="39" name="Shape 37"/>
          <p:cNvSpPr/>
          <p:nvPr/>
        </p:nvSpPr>
        <p:spPr>
          <a:xfrm>
            <a:off x="9477375" y="4076700"/>
            <a:ext cx="914400" cy="247650"/>
          </a:xfrm>
          <a:prstGeom prst="roundRect">
            <a:avLst>
              <a:gd name="adj" fmla="val 14769"/>
            </a:avLst>
          </a:prstGeom>
          <a:solidFill>
            <a:srgbClr val="F6E4E0"/>
          </a:solidFill>
          <a:ln w="12700">
            <a:solidFill>
              <a:srgbClr val="B3402F"/>
            </a:solidFill>
            <a:prstDash val="solid"/>
          </a:ln>
        </p:spPr>
        <p:txBody>
          <a:bodyPr/>
          <a:lstStyle/>
          <a:p>
            <a:endParaRPr lang="en-IN"/>
          </a:p>
        </p:txBody>
      </p:sp>
      <p:sp>
        <p:nvSpPr>
          <p:cNvPr id="40" name="Text 38"/>
          <p:cNvSpPr/>
          <p:nvPr/>
        </p:nvSpPr>
        <p:spPr>
          <a:xfrm>
            <a:off x="9477375" y="412432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41" name="Text 39"/>
          <p:cNvSpPr/>
          <p:nvPr/>
        </p:nvSpPr>
        <p:spPr>
          <a:xfrm>
            <a:off x="10525125" y="405765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42" name="Text 40"/>
          <p:cNvSpPr/>
          <p:nvPr/>
        </p:nvSpPr>
        <p:spPr>
          <a:xfrm>
            <a:off x="10525125" y="428625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43" name="Shape 41"/>
          <p:cNvSpPr/>
          <p:nvPr/>
        </p:nvSpPr>
        <p:spPr>
          <a:xfrm>
            <a:off x="571500" y="4933950"/>
            <a:ext cx="11049000" cy="11430"/>
          </a:xfrm>
          <a:prstGeom prst="rect">
            <a:avLst/>
          </a:prstGeom>
          <a:solidFill>
            <a:srgbClr val="D7E1EA"/>
          </a:solidFill>
          <a:ln/>
        </p:spPr>
        <p:txBody>
          <a:bodyPr/>
          <a:lstStyle/>
          <a:p>
            <a:endParaRPr lang="en-IN"/>
          </a:p>
        </p:txBody>
      </p:sp>
      <p:sp>
        <p:nvSpPr>
          <p:cNvPr id="44" name="Text 42"/>
          <p:cNvSpPr/>
          <p:nvPr/>
        </p:nvSpPr>
        <p:spPr>
          <a:xfrm>
            <a:off x="666750" y="502920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C3</a:t>
            </a:r>
            <a:endParaRPr lang="en-US" sz="1550" dirty="0"/>
          </a:p>
        </p:txBody>
      </p:sp>
      <p:sp>
        <p:nvSpPr>
          <p:cNvPr id="45" name="Text 43"/>
          <p:cNvSpPr/>
          <p:nvPr/>
        </p:nvSpPr>
        <p:spPr>
          <a:xfrm>
            <a:off x="666750" y="5238750"/>
            <a:ext cx="2381250" cy="3429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Whole-second field abuse</a:t>
            </a:r>
            <a:endParaRPr lang="en-US" sz="1220" dirty="0"/>
          </a:p>
        </p:txBody>
      </p:sp>
      <p:sp>
        <p:nvSpPr>
          <p:cNvPr id="46" name="Text 44"/>
          <p:cNvSpPr/>
          <p:nvPr/>
        </p:nvSpPr>
        <p:spPr>
          <a:xfrm>
            <a:off x="666750" y="560070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IEEE 1588-2019 §8.2.4</a:t>
            </a:r>
            <a:endParaRPr lang="en-US" sz="1020" dirty="0"/>
          </a:p>
        </p:txBody>
      </p:sp>
      <p:sp>
        <p:nvSpPr>
          <p:cNvPr id="47" name="Text 45"/>
          <p:cNvSpPr/>
          <p:nvPr/>
        </p:nvSpPr>
        <p:spPr>
          <a:xfrm>
            <a:off x="3143250" y="5029200"/>
            <a:ext cx="32004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Announce frames carrying leap61 asserted, currentUtcOffset falsified to 0 against a true value of 37, and traceability flags stripped.</a:t>
            </a:r>
            <a:endParaRPr lang="en-US" sz="1280" dirty="0"/>
          </a:p>
        </p:txBody>
      </p:sp>
      <p:sp>
        <p:nvSpPr>
          <p:cNvPr id="48" name="Text 46"/>
          <p:cNvSpPr/>
          <p:nvPr/>
        </p:nvSpPr>
        <p:spPr>
          <a:xfrm>
            <a:off x="6477000" y="5029200"/>
            <a:ext cx="28575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Time properties become internally inconsistent, which would shift the applied UTC offset by a whole second.</a:t>
            </a:r>
            <a:endParaRPr lang="en-US" sz="1280" dirty="0"/>
          </a:p>
        </p:txBody>
      </p:sp>
      <p:sp>
        <p:nvSpPr>
          <p:cNvPr id="49" name="Shape 47"/>
          <p:cNvSpPr/>
          <p:nvPr/>
        </p:nvSpPr>
        <p:spPr>
          <a:xfrm>
            <a:off x="9477375" y="5067300"/>
            <a:ext cx="914400" cy="247650"/>
          </a:xfrm>
          <a:prstGeom prst="roundRect">
            <a:avLst>
              <a:gd name="adj" fmla="val 14769"/>
            </a:avLst>
          </a:prstGeom>
          <a:solidFill>
            <a:srgbClr val="F6E4E0"/>
          </a:solidFill>
          <a:ln w="12700">
            <a:solidFill>
              <a:srgbClr val="B3402F"/>
            </a:solidFill>
            <a:prstDash val="solid"/>
          </a:ln>
        </p:spPr>
        <p:txBody>
          <a:bodyPr/>
          <a:lstStyle/>
          <a:p>
            <a:endParaRPr lang="en-IN"/>
          </a:p>
        </p:txBody>
      </p:sp>
      <p:sp>
        <p:nvSpPr>
          <p:cNvPr id="50" name="Text 48"/>
          <p:cNvSpPr/>
          <p:nvPr/>
        </p:nvSpPr>
        <p:spPr>
          <a:xfrm>
            <a:off x="9477375" y="511492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51" name="Text 49"/>
          <p:cNvSpPr/>
          <p:nvPr/>
        </p:nvSpPr>
        <p:spPr>
          <a:xfrm>
            <a:off x="10525125" y="504825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52" name="Text 50"/>
          <p:cNvSpPr/>
          <p:nvPr/>
        </p:nvSpPr>
        <p:spPr>
          <a:xfrm>
            <a:off x="10525125" y="527685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53" name="Shape 51"/>
          <p:cNvSpPr/>
          <p:nvPr/>
        </p:nvSpPr>
        <p:spPr>
          <a:xfrm>
            <a:off x="571500" y="5924550"/>
            <a:ext cx="11049000" cy="11430"/>
          </a:xfrm>
          <a:prstGeom prst="rect">
            <a:avLst/>
          </a:prstGeom>
          <a:solidFill>
            <a:srgbClr val="D7E1EA"/>
          </a:solidFill>
          <a:ln/>
        </p:spPr>
        <p:txBody>
          <a:bodyPr/>
          <a:lstStyle/>
          <a:p>
            <a:endParaRPr lang="en-IN"/>
          </a:p>
        </p:txBody>
      </p:sp>
      <p:sp>
        <p:nvSpPr>
          <p:cNvPr id="54" name="Shape 52"/>
          <p:cNvSpPr/>
          <p:nvPr/>
        </p:nvSpPr>
        <p:spPr>
          <a:xfrm>
            <a:off x="571500" y="6057900"/>
            <a:ext cx="11049000" cy="514350"/>
          </a:xfrm>
          <a:prstGeom prst="roundRect">
            <a:avLst>
              <a:gd name="adj" fmla="val 7111"/>
            </a:avLst>
          </a:prstGeom>
          <a:solidFill>
            <a:srgbClr val="FFF8E8"/>
          </a:solidFill>
          <a:ln w="12700">
            <a:solidFill>
              <a:srgbClr val="C58B18"/>
            </a:solidFill>
            <a:prstDash val="solid"/>
          </a:ln>
        </p:spPr>
        <p:txBody>
          <a:bodyPr/>
          <a:lstStyle/>
          <a:p>
            <a:endParaRPr lang="en-IN"/>
          </a:p>
        </p:txBody>
      </p:sp>
      <p:sp>
        <p:nvSpPr>
          <p:cNvPr id="55" name="Text 53"/>
          <p:cNvSpPr/>
          <p:nvPr/>
        </p:nvSpPr>
        <p:spPr>
          <a:xfrm>
            <a:off x="781050" y="620077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Note</a:t>
            </a:r>
            <a:endParaRPr lang="en-US" sz="1600" dirty="0"/>
          </a:p>
        </p:txBody>
      </p:sp>
      <p:sp>
        <p:nvSpPr>
          <p:cNvPr id="56" name="Text 54"/>
          <p:cNvSpPr/>
          <p:nvPr/>
        </p:nvSpPr>
        <p:spPr>
          <a:xfrm>
            <a:off x="2781300" y="6181725"/>
            <a:ext cx="8629650" cy="28575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12263A"/>
                </a:solidFill>
                <a:latin typeface="Calibri" pitchFamily="34" charset="0"/>
                <a:ea typeface="Calibri" pitchFamily="34" charset="-122"/>
                <a:cs typeface="Calibri" pitchFamily="34" charset="-120"/>
              </a:rPr>
              <a:t>The pre-frozen base rule returned BENIGN on C1, C2 and C3 at 0/12 each. These three coverage gaps were closed by a disclosed post-campaign rule revision, evaluated on the same captures and reported separately from the pre-frozen result.</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FAULT TAXONOMY · BENIGN SCENARIOS</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200" b="1" dirty="0">
                <a:solidFill>
                  <a:srgbClr val="12263A"/>
                </a:solidFill>
                <a:latin typeface="Cambria" pitchFamily="34" charset="0"/>
                <a:ea typeface="Cambria" pitchFamily="34" charset="-122"/>
                <a:cs typeface="Cambria" pitchFamily="34" charset="-120"/>
              </a:rPr>
              <a:t>Benign Fault and Operational-Change Scenarios</a:t>
            </a:r>
            <a:endParaRPr lang="en-US" sz="32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ITU-T G.8275.1 clockClass ladder and stepsRemoved semantics  |  IEEE 1588-2019 BMCA re-election behaviour  |  Provisioned operator context: allow-list, maintenance-window state, expected boundary-clock identity</a:t>
            </a:r>
            <a:endParaRPr lang="en-US" sz="1120" dirty="0"/>
          </a:p>
        </p:txBody>
      </p:sp>
      <p:sp>
        <p:nvSpPr>
          <p:cNvPr id="8" name="Text 6"/>
          <p:cNvSpPr/>
          <p:nvPr/>
        </p:nvSpPr>
        <p:spPr>
          <a:xfrm>
            <a:off x="666750" y="1676400"/>
            <a:ext cx="2381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SCENARIO</a:t>
            </a:r>
            <a:endParaRPr lang="en-US" sz="1200" dirty="0"/>
          </a:p>
        </p:txBody>
      </p:sp>
      <p:sp>
        <p:nvSpPr>
          <p:cNvPr id="9" name="Text 7"/>
          <p:cNvSpPr/>
          <p:nvPr/>
        </p:nvSpPr>
        <p:spPr>
          <a:xfrm>
            <a:off x="3143250" y="1676400"/>
            <a:ext cx="3143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INJECTED CONDITION</a:t>
            </a:r>
            <a:endParaRPr lang="en-US" sz="1200" dirty="0"/>
          </a:p>
        </p:txBody>
      </p:sp>
      <p:sp>
        <p:nvSpPr>
          <p:cNvPr id="10" name="Text 8"/>
          <p:cNvSpPr/>
          <p:nvPr/>
        </p:nvSpPr>
        <p:spPr>
          <a:xfrm>
            <a:off x="6477000" y="1676400"/>
            <a:ext cx="2857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OBSERVABLE EFFECT</a:t>
            </a:r>
            <a:endParaRPr lang="en-US" sz="1200" dirty="0"/>
          </a:p>
        </p:txBody>
      </p:sp>
      <p:sp>
        <p:nvSpPr>
          <p:cNvPr id="11" name="Text 9"/>
          <p:cNvSpPr/>
          <p:nvPr/>
        </p:nvSpPr>
        <p:spPr>
          <a:xfrm>
            <a:off x="9477375" y="1676400"/>
            <a:ext cx="1047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EXPECTED</a:t>
            </a:r>
            <a:endParaRPr lang="en-US" sz="1200" dirty="0"/>
          </a:p>
        </p:txBody>
      </p:sp>
      <p:sp>
        <p:nvSpPr>
          <p:cNvPr id="12" name="Text 10"/>
          <p:cNvSpPr/>
          <p:nvPr/>
        </p:nvSpPr>
        <p:spPr>
          <a:xfrm>
            <a:off x="10525125" y="1676400"/>
            <a:ext cx="1047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RESULT</a:t>
            </a:r>
            <a:endParaRPr lang="en-US" sz="1200" dirty="0"/>
          </a:p>
        </p:txBody>
      </p:sp>
      <p:sp>
        <p:nvSpPr>
          <p:cNvPr id="13" name="Shape 11"/>
          <p:cNvSpPr/>
          <p:nvPr/>
        </p:nvSpPr>
        <p:spPr>
          <a:xfrm>
            <a:off x="571500" y="1933575"/>
            <a:ext cx="11049000" cy="11430"/>
          </a:xfrm>
          <a:prstGeom prst="rect">
            <a:avLst/>
          </a:prstGeom>
          <a:solidFill>
            <a:srgbClr val="D7E1EA"/>
          </a:solidFill>
          <a:ln/>
        </p:spPr>
        <p:txBody>
          <a:bodyPr/>
          <a:lstStyle/>
          <a:p>
            <a:endParaRPr lang="en-IN"/>
          </a:p>
        </p:txBody>
      </p:sp>
      <p:sp>
        <p:nvSpPr>
          <p:cNvPr id="14" name="Text 12"/>
          <p:cNvSpPr/>
          <p:nvPr/>
        </p:nvSpPr>
        <p:spPr>
          <a:xfrm>
            <a:off x="666750" y="200025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baseline</a:t>
            </a:r>
            <a:endParaRPr lang="en-US" sz="1550" dirty="0"/>
          </a:p>
        </p:txBody>
      </p:sp>
      <p:sp>
        <p:nvSpPr>
          <p:cNvPr id="15" name="Text 13"/>
          <p:cNvSpPr/>
          <p:nvPr/>
        </p:nvSpPr>
        <p:spPr>
          <a:xfrm>
            <a:off x="666750" y="2209800"/>
            <a:ext cx="2381250" cy="2857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Healthy control</a:t>
            </a:r>
            <a:endParaRPr lang="en-US" sz="1220" dirty="0"/>
          </a:p>
        </p:txBody>
      </p:sp>
      <p:sp>
        <p:nvSpPr>
          <p:cNvPr id="16" name="Text 14"/>
          <p:cNvSpPr/>
          <p:nvPr/>
        </p:nvSpPr>
        <p:spPr>
          <a:xfrm>
            <a:off x="666750" y="249555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a:t>
            </a:r>
            <a:endParaRPr lang="en-US" sz="1020" dirty="0"/>
          </a:p>
        </p:txBody>
      </p:sp>
      <p:sp>
        <p:nvSpPr>
          <p:cNvPr id="17" name="Text 15"/>
          <p:cNvSpPr/>
          <p:nvPr/>
        </p:nvSpPr>
        <p:spPr>
          <a:xfrm>
            <a:off x="3143250" y="2000250"/>
            <a:ext cx="32004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12263A"/>
                </a:solidFill>
                <a:latin typeface="Calibri" pitchFamily="34" charset="0"/>
                <a:ea typeface="Calibri" pitchFamily="34" charset="-122"/>
                <a:cs typeface="Calibri" pitchFamily="34" charset="-120"/>
              </a:rPr>
              <a:t>All six daemons nominal: grandmaster A elected, relayed through the boundary clock to three radio units.</a:t>
            </a:r>
            <a:endParaRPr lang="en-US" sz="1200" dirty="0"/>
          </a:p>
        </p:txBody>
      </p:sp>
      <p:sp>
        <p:nvSpPr>
          <p:cNvPr id="18" name="Text 16"/>
          <p:cNvSpPr/>
          <p:nvPr/>
        </p:nvSpPr>
        <p:spPr>
          <a:xfrm>
            <a:off x="6477000" y="2000250"/>
            <a:ext cx="28575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Stable offset and path delay; message cadence matches the declared profile rates.</a:t>
            </a:r>
            <a:endParaRPr lang="en-US" sz="1200" dirty="0"/>
          </a:p>
        </p:txBody>
      </p:sp>
      <p:sp>
        <p:nvSpPr>
          <p:cNvPr id="19" name="Shape 17"/>
          <p:cNvSpPr/>
          <p:nvPr/>
        </p:nvSpPr>
        <p:spPr>
          <a:xfrm>
            <a:off x="9477375" y="2038350"/>
            <a:ext cx="914400" cy="247650"/>
          </a:xfrm>
          <a:prstGeom prst="roundRect">
            <a:avLst>
              <a:gd name="adj" fmla="val 14769"/>
            </a:avLst>
          </a:prstGeom>
          <a:solidFill>
            <a:srgbClr val="E3F3EA"/>
          </a:solidFill>
          <a:ln w="12700">
            <a:solidFill>
              <a:srgbClr val="1E8E5A"/>
            </a:solidFill>
            <a:prstDash val="solid"/>
          </a:ln>
        </p:spPr>
        <p:txBody>
          <a:bodyPr/>
          <a:lstStyle/>
          <a:p>
            <a:endParaRPr lang="en-IN"/>
          </a:p>
        </p:txBody>
      </p:sp>
      <p:sp>
        <p:nvSpPr>
          <p:cNvPr id="20" name="Text 18"/>
          <p:cNvSpPr/>
          <p:nvPr/>
        </p:nvSpPr>
        <p:spPr>
          <a:xfrm>
            <a:off x="9477375" y="208597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21" name="Text 19"/>
          <p:cNvSpPr/>
          <p:nvPr/>
        </p:nvSpPr>
        <p:spPr>
          <a:xfrm>
            <a:off x="10525125" y="201930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22" name="Text 20"/>
          <p:cNvSpPr/>
          <p:nvPr/>
        </p:nvSpPr>
        <p:spPr>
          <a:xfrm>
            <a:off x="10525125" y="224790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23" name="Shape 21"/>
          <p:cNvSpPr/>
          <p:nvPr/>
        </p:nvSpPr>
        <p:spPr>
          <a:xfrm>
            <a:off x="571500" y="2705100"/>
            <a:ext cx="11049000" cy="11430"/>
          </a:xfrm>
          <a:prstGeom prst="rect">
            <a:avLst/>
          </a:prstGeom>
          <a:solidFill>
            <a:srgbClr val="D7E1EA"/>
          </a:solidFill>
          <a:ln/>
        </p:spPr>
        <p:txBody>
          <a:bodyPr/>
          <a:lstStyle/>
          <a:p>
            <a:endParaRPr lang="en-IN"/>
          </a:p>
        </p:txBody>
      </p:sp>
      <p:sp>
        <p:nvSpPr>
          <p:cNvPr id="24" name="Text 22"/>
          <p:cNvSpPr/>
          <p:nvPr/>
        </p:nvSpPr>
        <p:spPr>
          <a:xfrm>
            <a:off x="666750" y="280035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B2</a:t>
            </a:r>
            <a:endParaRPr lang="en-US" sz="1550" dirty="0"/>
          </a:p>
        </p:txBody>
      </p:sp>
      <p:sp>
        <p:nvSpPr>
          <p:cNvPr id="25" name="Text 23"/>
          <p:cNvSpPr/>
          <p:nvPr/>
        </p:nvSpPr>
        <p:spPr>
          <a:xfrm>
            <a:off x="666750" y="3009900"/>
            <a:ext cx="2381250" cy="2857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Planned grandmaster changeover</a:t>
            </a:r>
            <a:endParaRPr lang="en-US" sz="1220" dirty="0"/>
          </a:p>
        </p:txBody>
      </p:sp>
      <p:sp>
        <p:nvSpPr>
          <p:cNvPr id="26" name="Text 24"/>
          <p:cNvSpPr/>
          <p:nvPr/>
        </p:nvSpPr>
        <p:spPr>
          <a:xfrm>
            <a:off x="666750" y="329565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ITU-T G.8275.1</a:t>
            </a:r>
            <a:endParaRPr lang="en-US" sz="1020" dirty="0"/>
          </a:p>
        </p:txBody>
      </p:sp>
      <p:sp>
        <p:nvSpPr>
          <p:cNvPr id="27" name="Text 25"/>
          <p:cNvSpPr/>
          <p:nvPr/>
        </p:nvSpPr>
        <p:spPr>
          <a:xfrm>
            <a:off x="3143250" y="2800350"/>
            <a:ext cx="32004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12263A"/>
                </a:solidFill>
                <a:latin typeface="Calibri" pitchFamily="34" charset="0"/>
                <a:ea typeface="Calibri" pitchFamily="34" charset="-122"/>
                <a:cs typeface="Calibri" pitchFamily="34" charset="-120"/>
              </a:rPr>
              <a:t>Grandmaster A withdrawn during an open maintenance window; grandmaster B, which is on the provisioned allow-list, is elected.</a:t>
            </a:r>
            <a:endParaRPr lang="en-US" sz="1200" dirty="0"/>
          </a:p>
        </p:txBody>
      </p:sp>
      <p:sp>
        <p:nvSpPr>
          <p:cNvPr id="28" name="Text 26"/>
          <p:cNvSpPr/>
          <p:nvPr/>
        </p:nvSpPr>
        <p:spPr>
          <a:xfrm>
            <a:off x="6477000" y="2800350"/>
            <a:ext cx="28575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A grandmaster change identical in packet terms to A1 — the distinguishing evidence is allow-list membership plus maintenance state.</a:t>
            </a:r>
            <a:endParaRPr lang="en-US" sz="1200" dirty="0"/>
          </a:p>
        </p:txBody>
      </p:sp>
      <p:sp>
        <p:nvSpPr>
          <p:cNvPr id="29" name="Shape 27"/>
          <p:cNvSpPr/>
          <p:nvPr/>
        </p:nvSpPr>
        <p:spPr>
          <a:xfrm>
            <a:off x="9477375" y="2838450"/>
            <a:ext cx="914400" cy="247650"/>
          </a:xfrm>
          <a:prstGeom prst="roundRect">
            <a:avLst>
              <a:gd name="adj" fmla="val 14769"/>
            </a:avLst>
          </a:prstGeom>
          <a:solidFill>
            <a:srgbClr val="E3F3EA"/>
          </a:solidFill>
          <a:ln w="12700">
            <a:solidFill>
              <a:srgbClr val="1E8E5A"/>
            </a:solidFill>
            <a:prstDash val="solid"/>
          </a:ln>
        </p:spPr>
        <p:txBody>
          <a:bodyPr/>
          <a:lstStyle/>
          <a:p>
            <a:endParaRPr lang="en-IN"/>
          </a:p>
        </p:txBody>
      </p:sp>
      <p:sp>
        <p:nvSpPr>
          <p:cNvPr id="30" name="Text 28"/>
          <p:cNvSpPr/>
          <p:nvPr/>
        </p:nvSpPr>
        <p:spPr>
          <a:xfrm>
            <a:off x="9477375" y="288607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31" name="Text 29"/>
          <p:cNvSpPr/>
          <p:nvPr/>
        </p:nvSpPr>
        <p:spPr>
          <a:xfrm>
            <a:off x="10525125" y="281940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32" name="Text 30"/>
          <p:cNvSpPr/>
          <p:nvPr/>
        </p:nvSpPr>
        <p:spPr>
          <a:xfrm>
            <a:off x="10525125" y="304800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33" name="Shape 31"/>
          <p:cNvSpPr/>
          <p:nvPr/>
        </p:nvSpPr>
        <p:spPr>
          <a:xfrm>
            <a:off x="571500" y="3505200"/>
            <a:ext cx="11049000" cy="11430"/>
          </a:xfrm>
          <a:prstGeom prst="rect">
            <a:avLst/>
          </a:prstGeom>
          <a:solidFill>
            <a:srgbClr val="D7E1EA"/>
          </a:solidFill>
          <a:ln/>
        </p:spPr>
        <p:txBody>
          <a:bodyPr/>
          <a:lstStyle/>
          <a:p>
            <a:endParaRPr lang="en-IN"/>
          </a:p>
        </p:txBody>
      </p:sp>
      <p:sp>
        <p:nvSpPr>
          <p:cNvPr id="34" name="Text 32"/>
          <p:cNvSpPr/>
          <p:nvPr/>
        </p:nvSpPr>
        <p:spPr>
          <a:xfrm>
            <a:off x="666750" y="360045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B3</a:t>
            </a:r>
            <a:endParaRPr lang="en-US" sz="1550" dirty="0"/>
          </a:p>
        </p:txBody>
      </p:sp>
      <p:sp>
        <p:nvSpPr>
          <p:cNvPr id="35" name="Text 33"/>
          <p:cNvSpPr/>
          <p:nvPr/>
        </p:nvSpPr>
        <p:spPr>
          <a:xfrm>
            <a:off x="666750" y="3810000"/>
            <a:ext cx="2381250" cy="2857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Packet delay variation and congestion</a:t>
            </a:r>
            <a:endParaRPr lang="en-US" sz="1220" dirty="0"/>
          </a:p>
        </p:txBody>
      </p:sp>
      <p:sp>
        <p:nvSpPr>
          <p:cNvPr id="36" name="Text 34"/>
          <p:cNvSpPr/>
          <p:nvPr/>
        </p:nvSpPr>
        <p:spPr>
          <a:xfrm>
            <a:off x="666750" y="409575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ITU-T G.8261</a:t>
            </a:r>
            <a:endParaRPr lang="en-US" sz="1020" dirty="0"/>
          </a:p>
        </p:txBody>
      </p:sp>
      <p:sp>
        <p:nvSpPr>
          <p:cNvPr id="37" name="Text 35"/>
          <p:cNvSpPr/>
          <p:nvPr/>
        </p:nvSpPr>
        <p:spPr>
          <a:xfrm>
            <a:off x="3143250" y="3600450"/>
            <a:ext cx="32004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12263A"/>
                </a:solidFill>
                <a:latin typeface="Calibri" pitchFamily="34" charset="0"/>
                <a:ea typeface="Calibri" pitchFamily="34" charset="-122"/>
                <a:cs typeface="Calibri" pitchFamily="34" charset="-120"/>
              </a:rPr>
              <a:t>A 1 Mbit tbf bottleneck on the boundary-clock to radio-unit path carrying competing non-PTP background traffic.</a:t>
            </a:r>
            <a:endParaRPr lang="en-US" sz="1200" dirty="0"/>
          </a:p>
        </p:txBody>
      </p:sp>
      <p:sp>
        <p:nvSpPr>
          <p:cNvPr id="38" name="Text 36"/>
          <p:cNvSpPr/>
          <p:nvPr/>
        </p:nvSpPr>
        <p:spPr>
          <a:xfrm>
            <a:off x="6477000" y="3600450"/>
            <a:ext cx="28575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Real queueing delay: Sync packet delay variation rises from 0.07 ms to between 5.6 and 857 ms, with no packet loss and no protocol anomaly.</a:t>
            </a:r>
            <a:endParaRPr lang="en-US" sz="1200" dirty="0"/>
          </a:p>
        </p:txBody>
      </p:sp>
      <p:sp>
        <p:nvSpPr>
          <p:cNvPr id="39" name="Shape 37"/>
          <p:cNvSpPr/>
          <p:nvPr/>
        </p:nvSpPr>
        <p:spPr>
          <a:xfrm>
            <a:off x="9477375" y="3638550"/>
            <a:ext cx="914400" cy="247650"/>
          </a:xfrm>
          <a:prstGeom prst="roundRect">
            <a:avLst>
              <a:gd name="adj" fmla="val 14769"/>
            </a:avLst>
          </a:prstGeom>
          <a:solidFill>
            <a:srgbClr val="E3F3EA"/>
          </a:solidFill>
          <a:ln w="12700">
            <a:solidFill>
              <a:srgbClr val="1E8E5A"/>
            </a:solidFill>
            <a:prstDash val="solid"/>
          </a:ln>
        </p:spPr>
        <p:txBody>
          <a:bodyPr/>
          <a:lstStyle/>
          <a:p>
            <a:endParaRPr lang="en-IN"/>
          </a:p>
        </p:txBody>
      </p:sp>
      <p:sp>
        <p:nvSpPr>
          <p:cNvPr id="40" name="Text 38"/>
          <p:cNvSpPr/>
          <p:nvPr/>
        </p:nvSpPr>
        <p:spPr>
          <a:xfrm>
            <a:off x="9477375" y="368617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41" name="Text 39"/>
          <p:cNvSpPr/>
          <p:nvPr/>
        </p:nvSpPr>
        <p:spPr>
          <a:xfrm>
            <a:off x="10525125" y="361950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11/12</a:t>
            </a:r>
            <a:endParaRPr lang="en-US" sz="1500" dirty="0"/>
          </a:p>
        </p:txBody>
      </p:sp>
      <p:sp>
        <p:nvSpPr>
          <p:cNvPr id="42" name="Text 40"/>
          <p:cNvSpPr/>
          <p:nvPr/>
        </p:nvSpPr>
        <p:spPr>
          <a:xfrm>
            <a:off x="10525125" y="384810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43" name="Shape 41"/>
          <p:cNvSpPr/>
          <p:nvPr/>
        </p:nvSpPr>
        <p:spPr>
          <a:xfrm>
            <a:off x="571500" y="4305300"/>
            <a:ext cx="11049000" cy="11430"/>
          </a:xfrm>
          <a:prstGeom prst="rect">
            <a:avLst/>
          </a:prstGeom>
          <a:solidFill>
            <a:srgbClr val="D7E1EA"/>
          </a:solidFill>
          <a:ln/>
        </p:spPr>
        <p:txBody>
          <a:bodyPr/>
          <a:lstStyle/>
          <a:p>
            <a:endParaRPr lang="en-IN"/>
          </a:p>
        </p:txBody>
      </p:sp>
      <p:sp>
        <p:nvSpPr>
          <p:cNvPr id="44" name="Text 42"/>
          <p:cNvSpPr/>
          <p:nvPr/>
        </p:nvSpPr>
        <p:spPr>
          <a:xfrm>
            <a:off x="666750" y="440055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B7</a:t>
            </a:r>
            <a:endParaRPr lang="en-US" sz="1550" dirty="0"/>
          </a:p>
        </p:txBody>
      </p:sp>
      <p:sp>
        <p:nvSpPr>
          <p:cNvPr id="45" name="Text 43"/>
          <p:cNvSpPr/>
          <p:nvPr/>
        </p:nvSpPr>
        <p:spPr>
          <a:xfrm>
            <a:off x="666750" y="4610100"/>
            <a:ext cx="2381250" cy="2857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Topology reconfiguration</a:t>
            </a:r>
            <a:endParaRPr lang="en-US" sz="1220" dirty="0"/>
          </a:p>
        </p:txBody>
      </p:sp>
      <p:sp>
        <p:nvSpPr>
          <p:cNvPr id="46" name="Text 44"/>
          <p:cNvSpPr/>
          <p:nvPr/>
        </p:nvSpPr>
        <p:spPr>
          <a:xfrm>
            <a:off x="666750" y="489585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IEEE 1588-2019</a:t>
            </a:r>
            <a:endParaRPr lang="en-US" sz="1020" dirty="0"/>
          </a:p>
        </p:txBody>
      </p:sp>
      <p:sp>
        <p:nvSpPr>
          <p:cNvPr id="47" name="Text 45"/>
          <p:cNvSpPr/>
          <p:nvPr/>
        </p:nvSpPr>
        <p:spPr>
          <a:xfrm>
            <a:off x="3143250" y="4400550"/>
            <a:ext cx="32004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12263A"/>
                </a:solidFill>
                <a:latin typeface="Calibri" pitchFamily="34" charset="0"/>
                <a:ea typeface="Calibri" pitchFamily="34" charset="-122"/>
                <a:cs typeface="Calibri" pitchFamily="34" charset="-120"/>
              </a:rPr>
              <a:t>A radio-unit link is bounced and re-homed during an open maintenance window.</a:t>
            </a:r>
            <a:endParaRPr lang="en-US" sz="1200" dirty="0"/>
          </a:p>
        </p:txBody>
      </p:sp>
      <p:sp>
        <p:nvSpPr>
          <p:cNvPr id="48" name="Text 46"/>
          <p:cNvSpPr/>
          <p:nvPr/>
        </p:nvSpPr>
        <p:spPr>
          <a:xfrm>
            <a:off x="6477000" y="4400550"/>
            <a:ext cx="28575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stepsRemoved and measured path delay change consistently with the new topology, with no illegal field values.</a:t>
            </a:r>
            <a:endParaRPr lang="en-US" sz="1200" dirty="0"/>
          </a:p>
        </p:txBody>
      </p:sp>
      <p:sp>
        <p:nvSpPr>
          <p:cNvPr id="49" name="Shape 47"/>
          <p:cNvSpPr/>
          <p:nvPr/>
        </p:nvSpPr>
        <p:spPr>
          <a:xfrm>
            <a:off x="9477375" y="4438650"/>
            <a:ext cx="914400" cy="247650"/>
          </a:xfrm>
          <a:prstGeom prst="roundRect">
            <a:avLst>
              <a:gd name="adj" fmla="val 14769"/>
            </a:avLst>
          </a:prstGeom>
          <a:solidFill>
            <a:srgbClr val="E3F3EA"/>
          </a:solidFill>
          <a:ln w="12700">
            <a:solidFill>
              <a:srgbClr val="1E8E5A"/>
            </a:solidFill>
            <a:prstDash val="solid"/>
          </a:ln>
        </p:spPr>
        <p:txBody>
          <a:bodyPr/>
          <a:lstStyle/>
          <a:p>
            <a:endParaRPr lang="en-IN"/>
          </a:p>
        </p:txBody>
      </p:sp>
      <p:sp>
        <p:nvSpPr>
          <p:cNvPr id="50" name="Text 48"/>
          <p:cNvSpPr/>
          <p:nvPr/>
        </p:nvSpPr>
        <p:spPr>
          <a:xfrm>
            <a:off x="9477375" y="448627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51" name="Text 49"/>
          <p:cNvSpPr/>
          <p:nvPr/>
        </p:nvSpPr>
        <p:spPr>
          <a:xfrm>
            <a:off x="10525125" y="441960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E8E5A"/>
                </a:solidFill>
                <a:latin typeface="Cambria" pitchFamily="34" charset="0"/>
                <a:ea typeface="Cambria" pitchFamily="34" charset="-122"/>
                <a:cs typeface="Cambria" pitchFamily="34" charset="-120"/>
              </a:rPr>
              <a:t>12/12</a:t>
            </a:r>
            <a:endParaRPr lang="en-US" sz="1500" dirty="0"/>
          </a:p>
        </p:txBody>
      </p:sp>
      <p:sp>
        <p:nvSpPr>
          <p:cNvPr id="52" name="Text 50"/>
          <p:cNvSpPr/>
          <p:nvPr/>
        </p:nvSpPr>
        <p:spPr>
          <a:xfrm>
            <a:off x="10525125" y="464820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correct</a:t>
            </a:r>
            <a:endParaRPr lang="en-US" sz="1020" dirty="0"/>
          </a:p>
        </p:txBody>
      </p:sp>
      <p:sp>
        <p:nvSpPr>
          <p:cNvPr id="53" name="Shape 51"/>
          <p:cNvSpPr/>
          <p:nvPr/>
        </p:nvSpPr>
        <p:spPr>
          <a:xfrm>
            <a:off x="571500" y="5105400"/>
            <a:ext cx="11049000" cy="11430"/>
          </a:xfrm>
          <a:prstGeom prst="rect">
            <a:avLst/>
          </a:prstGeom>
          <a:solidFill>
            <a:srgbClr val="D7E1EA"/>
          </a:solidFill>
          <a:ln/>
        </p:spPr>
        <p:txBody>
          <a:bodyPr/>
          <a:lstStyle/>
          <a:p>
            <a:endParaRPr lang="en-IN"/>
          </a:p>
        </p:txBody>
      </p:sp>
      <p:sp>
        <p:nvSpPr>
          <p:cNvPr id="54" name="Text 52"/>
          <p:cNvSpPr/>
          <p:nvPr/>
        </p:nvSpPr>
        <p:spPr>
          <a:xfrm>
            <a:off x="666750" y="5200650"/>
            <a:ext cx="2381250" cy="209550"/>
          </a:xfrm>
          <a:prstGeom prst="rect">
            <a:avLst/>
          </a:prstGeom>
          <a:noFill/>
          <a:ln/>
        </p:spPr>
        <p:txBody>
          <a:bodyPr wrap="square" lIns="0" tIns="0" rIns="0" bIns="0" rtlCol="0" anchor="t">
            <a:normAutofit/>
          </a:bodyPr>
          <a:lstStyle/>
          <a:p>
            <a:pPr marL="0" indent="0" algn="l">
              <a:lnSpc>
                <a:spcPct val="100000"/>
              </a:lnSpc>
              <a:buNone/>
            </a:pPr>
            <a:r>
              <a:rPr lang="en-US" sz="1550" b="1" dirty="0">
                <a:solidFill>
                  <a:srgbClr val="12263A"/>
                </a:solidFill>
                <a:latin typeface="Cambria" pitchFamily="34" charset="0"/>
                <a:ea typeface="Cambria" pitchFamily="34" charset="-122"/>
                <a:cs typeface="Cambria" pitchFamily="34" charset="-120"/>
              </a:rPr>
              <a:t>B_bc_repl</a:t>
            </a:r>
            <a:endParaRPr lang="en-US" sz="1550" dirty="0"/>
          </a:p>
        </p:txBody>
      </p:sp>
      <p:sp>
        <p:nvSpPr>
          <p:cNvPr id="55" name="Text 53"/>
          <p:cNvSpPr/>
          <p:nvPr/>
        </p:nvSpPr>
        <p:spPr>
          <a:xfrm>
            <a:off x="666750" y="5410200"/>
            <a:ext cx="2381250" cy="2857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Planned boundary-clock replacement</a:t>
            </a:r>
            <a:endParaRPr lang="en-US" sz="1220" dirty="0"/>
          </a:p>
        </p:txBody>
      </p:sp>
      <p:sp>
        <p:nvSpPr>
          <p:cNvPr id="56" name="Text 54"/>
          <p:cNvSpPr/>
          <p:nvPr/>
        </p:nvSpPr>
        <p:spPr>
          <a:xfrm>
            <a:off x="666750" y="5695950"/>
            <a:ext cx="2381250" cy="171450"/>
          </a:xfrm>
          <a:prstGeom prst="rect">
            <a:avLst/>
          </a:prstGeom>
          <a:noFill/>
          <a:ln/>
        </p:spPr>
        <p:txBody>
          <a:bodyPr wrap="square" lIns="0" tIns="0" rIns="0" bIns="0" rtlCol="0" anchor="t">
            <a:normAutofit/>
          </a:bodyPr>
          <a:lstStyle/>
          <a:p>
            <a:pPr marL="0" indent="0" algn="l">
              <a:lnSpc>
                <a:spcPct val="100000"/>
              </a:lnSpc>
              <a:buNone/>
            </a:pPr>
            <a:r>
              <a:rPr lang="en-US" sz="1020" b="1" dirty="0">
                <a:solidFill>
                  <a:srgbClr val="1C7293"/>
                </a:solidFill>
                <a:latin typeface="Calibri" pitchFamily="34" charset="0"/>
                <a:ea typeface="Calibri" pitchFamily="34" charset="-122"/>
                <a:cs typeface="Calibri" pitchFamily="34" charset="-120"/>
              </a:rPr>
              <a:t>ITU-T G.8275.1</a:t>
            </a:r>
            <a:endParaRPr lang="en-US" sz="1020" dirty="0"/>
          </a:p>
        </p:txBody>
      </p:sp>
      <p:sp>
        <p:nvSpPr>
          <p:cNvPr id="57" name="Text 55"/>
          <p:cNvSpPr/>
          <p:nvPr/>
        </p:nvSpPr>
        <p:spPr>
          <a:xfrm>
            <a:off x="3143250" y="5200650"/>
            <a:ext cx="32004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12263A"/>
                </a:solidFill>
                <a:latin typeface="Calibri" pitchFamily="34" charset="0"/>
                <a:ea typeface="Calibri" pitchFamily="34" charset="-122"/>
                <a:cs typeface="Calibri" pitchFamily="34" charset="-120"/>
              </a:rPr>
              <a:t>A provisioned replacement boundary clock is swapped in during maintenance; its identity is recorded in the operator context.</a:t>
            </a:r>
            <a:endParaRPr lang="en-US" sz="1200" dirty="0"/>
          </a:p>
        </p:txBody>
      </p:sp>
      <p:sp>
        <p:nvSpPr>
          <p:cNvPr id="58" name="Text 56"/>
          <p:cNvSpPr/>
          <p:nvPr/>
        </p:nvSpPr>
        <p:spPr>
          <a:xfrm>
            <a:off x="6477000" y="5200650"/>
            <a:ext cx="2857500" cy="6858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A new clock identity appears in the timing path relaying the genuine grandmaster — structurally identical to the A8 rogue relay.</a:t>
            </a:r>
            <a:endParaRPr lang="en-US" sz="1200" dirty="0"/>
          </a:p>
        </p:txBody>
      </p:sp>
      <p:sp>
        <p:nvSpPr>
          <p:cNvPr id="59" name="Shape 57"/>
          <p:cNvSpPr/>
          <p:nvPr/>
        </p:nvSpPr>
        <p:spPr>
          <a:xfrm>
            <a:off x="9477375" y="5238750"/>
            <a:ext cx="914400" cy="247650"/>
          </a:xfrm>
          <a:prstGeom prst="roundRect">
            <a:avLst>
              <a:gd name="adj" fmla="val 14769"/>
            </a:avLst>
          </a:prstGeom>
          <a:solidFill>
            <a:srgbClr val="E3F3EA"/>
          </a:solidFill>
          <a:ln w="12700">
            <a:solidFill>
              <a:srgbClr val="1E8E5A"/>
            </a:solidFill>
            <a:prstDash val="solid"/>
          </a:ln>
        </p:spPr>
        <p:txBody>
          <a:bodyPr/>
          <a:lstStyle/>
          <a:p>
            <a:endParaRPr lang="en-IN"/>
          </a:p>
        </p:txBody>
      </p:sp>
      <p:sp>
        <p:nvSpPr>
          <p:cNvPr id="60" name="Text 58"/>
          <p:cNvSpPr/>
          <p:nvPr/>
        </p:nvSpPr>
        <p:spPr>
          <a:xfrm>
            <a:off x="9477375" y="5286375"/>
            <a:ext cx="9144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61" name="Text 59"/>
          <p:cNvSpPr/>
          <p:nvPr/>
        </p:nvSpPr>
        <p:spPr>
          <a:xfrm>
            <a:off x="10525125" y="5219700"/>
            <a:ext cx="1047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B3402F"/>
                </a:solidFill>
                <a:latin typeface="Cambria" pitchFamily="34" charset="0"/>
                <a:ea typeface="Cambria" pitchFamily="34" charset="-122"/>
                <a:cs typeface="Cambria" pitchFamily="34" charset="-120"/>
              </a:rPr>
              <a:t>0/12</a:t>
            </a:r>
            <a:endParaRPr lang="en-US" sz="1500" dirty="0"/>
          </a:p>
        </p:txBody>
      </p:sp>
      <p:sp>
        <p:nvSpPr>
          <p:cNvPr id="62" name="Text 60"/>
          <p:cNvSpPr/>
          <p:nvPr/>
        </p:nvSpPr>
        <p:spPr>
          <a:xfrm>
            <a:off x="10525125" y="5448300"/>
            <a:ext cx="1047750" cy="171450"/>
          </a:xfrm>
          <a:prstGeom prst="rect">
            <a:avLst/>
          </a:prstGeom>
          <a:noFill/>
          <a:ln/>
        </p:spPr>
        <p:txBody>
          <a:bodyPr wrap="square" lIns="0" tIns="0" rIns="0" bIns="0" rtlCol="0" anchor="t">
            <a:normAutofit/>
          </a:bodyPr>
          <a:lstStyle/>
          <a:p>
            <a:pPr marL="0" indent="0" algn="l">
              <a:lnSpc>
                <a:spcPct val="100000"/>
              </a:lnSpc>
              <a:buNone/>
            </a:pPr>
            <a:r>
              <a:rPr lang="en-US" sz="1020" dirty="0">
                <a:solidFill>
                  <a:srgbClr val="5B6B7C"/>
                </a:solidFill>
                <a:latin typeface="Calibri" pitchFamily="34" charset="0"/>
                <a:ea typeface="Calibri" pitchFamily="34" charset="-122"/>
                <a:cs typeface="Calibri" pitchFamily="34" charset="-120"/>
              </a:rPr>
              <a:t>open failure</a:t>
            </a:r>
            <a:endParaRPr lang="en-US" sz="1020" dirty="0"/>
          </a:p>
        </p:txBody>
      </p:sp>
      <p:sp>
        <p:nvSpPr>
          <p:cNvPr id="63" name="Shape 61"/>
          <p:cNvSpPr/>
          <p:nvPr/>
        </p:nvSpPr>
        <p:spPr>
          <a:xfrm>
            <a:off x="571500" y="5905500"/>
            <a:ext cx="11049000" cy="11430"/>
          </a:xfrm>
          <a:prstGeom prst="rect">
            <a:avLst/>
          </a:prstGeom>
          <a:solidFill>
            <a:srgbClr val="D7E1EA"/>
          </a:solidFill>
          <a:ln/>
        </p:spPr>
        <p:txBody>
          <a:bodyPr/>
          <a:lstStyle/>
          <a:p>
            <a:endParaRPr lang="en-IN"/>
          </a:p>
        </p:txBody>
      </p:sp>
      <p:sp>
        <p:nvSpPr>
          <p:cNvPr id="64" name="Shape 62"/>
          <p:cNvSpPr/>
          <p:nvPr/>
        </p:nvSpPr>
        <p:spPr>
          <a:xfrm>
            <a:off x="571500" y="6096000"/>
            <a:ext cx="11049000" cy="514350"/>
          </a:xfrm>
          <a:prstGeom prst="roundRect">
            <a:avLst>
              <a:gd name="adj" fmla="val 7111"/>
            </a:avLst>
          </a:prstGeom>
          <a:solidFill>
            <a:srgbClr val="FFF8E8"/>
          </a:solidFill>
          <a:ln w="12700">
            <a:solidFill>
              <a:srgbClr val="C58B18"/>
            </a:solidFill>
            <a:prstDash val="solid"/>
          </a:ln>
        </p:spPr>
        <p:txBody>
          <a:bodyPr/>
          <a:lstStyle/>
          <a:p>
            <a:endParaRPr lang="en-IN"/>
          </a:p>
        </p:txBody>
      </p:sp>
      <p:sp>
        <p:nvSpPr>
          <p:cNvPr id="65" name="Text 63"/>
          <p:cNvSpPr/>
          <p:nvPr/>
        </p:nvSpPr>
        <p:spPr>
          <a:xfrm>
            <a:off x="781050" y="623887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Note</a:t>
            </a:r>
            <a:endParaRPr lang="en-US" sz="1600" dirty="0"/>
          </a:p>
        </p:txBody>
      </p:sp>
      <p:sp>
        <p:nvSpPr>
          <p:cNvPr id="66" name="Text 64"/>
          <p:cNvSpPr/>
          <p:nvPr/>
        </p:nvSpPr>
        <p:spPr>
          <a:xfrm>
            <a:off x="2781300" y="6219825"/>
            <a:ext cx="8629650" cy="28575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12263A"/>
                </a:solidFill>
                <a:latin typeface="Calibri" pitchFamily="34" charset="0"/>
                <a:ea typeface="Calibri" pitchFamily="34" charset="-122"/>
                <a:cs typeface="Calibri" pitchFamily="34" charset="-120"/>
              </a:rPr>
              <a:t>Four of five benign scenarios were classified correctly. The boundary-clock replacement is the single systematic failure: the decision context carries one expected boundary-clock identity, so a legitimate replacement is read as an unauthorised relay.</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FAULT TAXONOMY · AMBIGUOUS CASE AND COVERAGE</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Ambiguous Scenario and Catalogue Coverage</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Sixteen-class S-plane fault catalogue maintained in the project parameter matrix (144 parameters × 16 fault classes)  |  Threat identifiers from ETSI TR 104 106 V3.0.0  |  Coverage assessed against verified platform constraints</a:t>
            </a:r>
            <a:endParaRPr lang="en-US" sz="1120" dirty="0"/>
          </a:p>
        </p:txBody>
      </p:sp>
      <p:sp>
        <p:nvSpPr>
          <p:cNvPr id="8" name="Shape 6"/>
          <p:cNvSpPr/>
          <p:nvPr/>
        </p:nvSpPr>
        <p:spPr>
          <a:xfrm>
            <a:off x="571500" y="1638300"/>
            <a:ext cx="11049000" cy="1181100"/>
          </a:xfrm>
          <a:prstGeom prst="roundRect">
            <a:avLst>
              <a:gd name="adj" fmla="val 3097"/>
            </a:avLst>
          </a:prstGeom>
          <a:solidFill>
            <a:srgbClr val="0E2440"/>
          </a:solidFill>
          <a:ln w="12700">
            <a:solidFill>
              <a:srgbClr val="C58B18"/>
            </a:solidFill>
            <a:prstDash val="solid"/>
          </a:ln>
        </p:spPr>
        <p:txBody>
          <a:bodyPr/>
          <a:lstStyle/>
          <a:p>
            <a:endParaRPr lang="en-IN"/>
          </a:p>
        </p:txBody>
      </p:sp>
      <p:sp>
        <p:nvSpPr>
          <p:cNvPr id="9" name="Shape 7"/>
          <p:cNvSpPr/>
          <p:nvPr/>
        </p:nvSpPr>
        <p:spPr>
          <a:xfrm>
            <a:off x="571500" y="1638300"/>
            <a:ext cx="57150" cy="1181100"/>
          </a:xfrm>
          <a:prstGeom prst="rect">
            <a:avLst/>
          </a:prstGeom>
          <a:solidFill>
            <a:srgbClr val="C58B18"/>
          </a:solidFill>
          <a:ln/>
        </p:spPr>
        <p:txBody>
          <a:bodyPr/>
          <a:lstStyle/>
          <a:p>
            <a:endParaRPr lang="en-IN"/>
          </a:p>
        </p:txBody>
      </p:sp>
      <p:sp>
        <p:nvSpPr>
          <p:cNvPr id="10" name="Text 8"/>
          <p:cNvSpPr/>
          <p:nvPr/>
        </p:nvSpPr>
        <p:spPr>
          <a:xfrm>
            <a:off x="819150" y="1790700"/>
            <a:ext cx="5715000" cy="20955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C58B18"/>
                </a:solidFill>
                <a:latin typeface="Calibri" pitchFamily="34" charset="0"/>
                <a:ea typeface="Calibri" pitchFamily="34" charset="-122"/>
                <a:cs typeface="Calibri" pitchFamily="34" charset="-120"/>
              </a:rPr>
              <a:t>B_unplanned_failover  ·  DELIBERATELY AMBIGUOUS</a:t>
            </a:r>
            <a:endParaRPr lang="en-US" sz="1200" dirty="0"/>
          </a:p>
        </p:txBody>
      </p:sp>
      <p:sp>
        <p:nvSpPr>
          <p:cNvPr id="11" name="Text 9"/>
          <p:cNvSpPr/>
          <p:nvPr/>
        </p:nvSpPr>
        <p:spPr>
          <a:xfrm>
            <a:off x="819150" y="2038350"/>
            <a:ext cx="6667500" cy="228600"/>
          </a:xfrm>
          <a:prstGeom prst="rect">
            <a:avLst/>
          </a:prstGeom>
          <a:noFill/>
          <a:ln/>
        </p:spPr>
        <p:txBody>
          <a:bodyPr wrap="square" lIns="0" tIns="0" rIns="0" bIns="0" rtlCol="0" anchor="t">
            <a:normAutofit/>
          </a:bodyPr>
          <a:lstStyle/>
          <a:p>
            <a:pPr marL="0" indent="0" algn="l">
              <a:lnSpc>
                <a:spcPct val="100000"/>
              </a:lnSpc>
              <a:buNone/>
            </a:pPr>
            <a:r>
              <a:rPr lang="en-US" sz="1700" b="1" dirty="0">
                <a:solidFill>
                  <a:srgbClr val="FFFFFF"/>
                </a:solidFill>
                <a:latin typeface="Cambria" pitchFamily="34" charset="0"/>
                <a:ea typeface="Cambria" pitchFamily="34" charset="-122"/>
                <a:cs typeface="Cambria" pitchFamily="34" charset="-120"/>
              </a:rPr>
              <a:t>Grandmaster A fails with no maintenance window open; provisioned grandmaster B is elected.</a:t>
            </a:r>
            <a:endParaRPr lang="en-US" sz="1700" dirty="0"/>
          </a:p>
        </p:txBody>
      </p:sp>
      <p:sp>
        <p:nvSpPr>
          <p:cNvPr id="12" name="Text 10"/>
          <p:cNvSpPr/>
          <p:nvPr/>
        </p:nvSpPr>
        <p:spPr>
          <a:xfrm>
            <a:off x="819150" y="2343150"/>
            <a:ext cx="6667500" cy="400050"/>
          </a:xfrm>
          <a:prstGeom prst="rect">
            <a:avLst/>
          </a:prstGeom>
          <a:noFill/>
          <a:ln/>
        </p:spPr>
        <p:txBody>
          <a:bodyPr wrap="square" lIns="0" tIns="0" rIns="0" bIns="0" rtlCol="0" anchor="t">
            <a:normAutofit/>
          </a:bodyPr>
          <a:lstStyle/>
          <a:p>
            <a:pPr marL="0" indent="0" algn="l">
              <a:lnSpc>
                <a:spcPct val="100000"/>
              </a:lnSpc>
              <a:buNone/>
            </a:pPr>
            <a:r>
              <a:rPr lang="en-US" sz="1320" dirty="0">
                <a:solidFill>
                  <a:srgbClr val="CFD9E5"/>
                </a:solidFill>
                <a:latin typeface="Calibri" pitchFamily="34" charset="0"/>
                <a:ea typeface="Calibri" pitchFamily="34" charset="-122"/>
                <a:cs typeface="Calibri" pitchFamily="34" charset="-120"/>
              </a:rPr>
              <a:t>From packet evidence alone this is indistinguishable from an attack that suppressed the grandmaster. Both produce an unplanned election to a legitimate backup. The decision rule returns UNKNOWN and escalates rather than forcing a binary answer.</a:t>
            </a:r>
            <a:endParaRPr lang="en-US" sz="1320" dirty="0"/>
          </a:p>
        </p:txBody>
      </p:sp>
      <p:sp>
        <p:nvSpPr>
          <p:cNvPr id="13" name="Shape 11"/>
          <p:cNvSpPr/>
          <p:nvPr/>
        </p:nvSpPr>
        <p:spPr>
          <a:xfrm>
            <a:off x="7810500" y="1809750"/>
            <a:ext cx="3600450" cy="838200"/>
          </a:xfrm>
          <a:prstGeom prst="roundRect">
            <a:avLst>
              <a:gd name="adj" fmla="val 4364"/>
            </a:avLst>
          </a:prstGeom>
          <a:solidFill>
            <a:srgbClr val="1A3A2E"/>
          </a:solidFill>
          <a:ln w="12700">
            <a:solidFill>
              <a:srgbClr val="1E8E5A"/>
            </a:solidFill>
            <a:prstDash val="solid"/>
          </a:ln>
        </p:spPr>
        <p:txBody>
          <a:bodyPr/>
          <a:lstStyle/>
          <a:p>
            <a:endParaRPr lang="en-IN"/>
          </a:p>
        </p:txBody>
      </p:sp>
      <p:sp>
        <p:nvSpPr>
          <p:cNvPr id="14" name="Text 12"/>
          <p:cNvSpPr/>
          <p:nvPr/>
        </p:nvSpPr>
        <p:spPr>
          <a:xfrm>
            <a:off x="8020050" y="1943100"/>
            <a:ext cx="32385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E8E5A"/>
                </a:solidFill>
                <a:latin typeface="Calibri" pitchFamily="34" charset="0"/>
                <a:ea typeface="Calibri" pitchFamily="34" charset="-122"/>
                <a:cs typeface="Calibri" pitchFamily="34" charset="-120"/>
              </a:rPr>
              <a:t>EXPECTED  UNKNOWN</a:t>
            </a:r>
            <a:endParaRPr lang="en-US" sz="1150" dirty="0"/>
          </a:p>
        </p:txBody>
      </p:sp>
      <p:sp>
        <p:nvSpPr>
          <p:cNvPr id="15" name="Text 13"/>
          <p:cNvSpPr/>
          <p:nvPr/>
        </p:nvSpPr>
        <p:spPr>
          <a:xfrm>
            <a:off x="8020050" y="2152650"/>
            <a:ext cx="3238500" cy="304800"/>
          </a:xfrm>
          <a:prstGeom prst="rect">
            <a:avLst/>
          </a:prstGeom>
          <a:noFill/>
          <a:ln/>
        </p:spPr>
        <p:txBody>
          <a:bodyPr wrap="square" lIns="0" tIns="0" rIns="0" bIns="0" rtlCol="0" anchor="t">
            <a:normAutofit/>
          </a:bodyPr>
          <a:lstStyle/>
          <a:p>
            <a:pPr marL="0" indent="0" algn="l">
              <a:lnSpc>
                <a:spcPct val="100000"/>
              </a:lnSpc>
              <a:buNone/>
            </a:pPr>
            <a:r>
              <a:rPr lang="en-US" sz="2600" b="1" dirty="0">
                <a:solidFill>
                  <a:srgbClr val="FFFFFF"/>
                </a:solidFill>
                <a:latin typeface="Cambria" pitchFamily="34" charset="0"/>
                <a:ea typeface="Cambria" pitchFamily="34" charset="-122"/>
                <a:cs typeface="Cambria" pitchFamily="34" charset="-120"/>
              </a:rPr>
              <a:t>12 / 12 correct</a:t>
            </a:r>
            <a:endParaRPr lang="en-US" sz="2600" dirty="0"/>
          </a:p>
        </p:txBody>
      </p:sp>
      <p:sp>
        <p:nvSpPr>
          <p:cNvPr id="16" name="Text 14"/>
          <p:cNvSpPr/>
          <p:nvPr/>
        </p:nvSpPr>
        <p:spPr>
          <a:xfrm>
            <a:off x="8020050" y="2457450"/>
            <a:ext cx="3238500" cy="171450"/>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CFD9E5"/>
                </a:solidFill>
                <a:latin typeface="Calibri" pitchFamily="34" charset="0"/>
                <a:ea typeface="Calibri" pitchFamily="34" charset="-122"/>
                <a:cs typeface="Calibri" pitchFamily="34" charset="-120"/>
              </a:rPr>
              <a:t>Abstention is scored on its own axis, not as a detection success.</a:t>
            </a:r>
            <a:endParaRPr lang="en-US" sz="1100" dirty="0"/>
          </a:p>
        </p:txBody>
      </p:sp>
      <p:sp>
        <p:nvSpPr>
          <p:cNvPr id="17" name="Text 15"/>
          <p:cNvSpPr/>
          <p:nvPr/>
        </p:nvSpPr>
        <p:spPr>
          <a:xfrm>
            <a:off x="571500" y="2971800"/>
            <a:ext cx="66675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SIXTEEN-CLASS CATALOGUE COVERAGE</a:t>
            </a:r>
            <a:endParaRPr lang="en-US" sz="1200" dirty="0"/>
          </a:p>
        </p:txBody>
      </p:sp>
      <p:sp>
        <p:nvSpPr>
          <p:cNvPr id="18" name="Shape 16"/>
          <p:cNvSpPr/>
          <p:nvPr/>
        </p:nvSpPr>
        <p:spPr>
          <a:xfrm>
            <a:off x="571500" y="3238500"/>
            <a:ext cx="2619375" cy="609600"/>
          </a:xfrm>
          <a:prstGeom prst="roundRect">
            <a:avLst>
              <a:gd name="adj" fmla="val 6000"/>
            </a:avLst>
          </a:prstGeom>
          <a:solidFill>
            <a:srgbClr val="E3F3EA"/>
          </a:solidFill>
          <a:ln w="12700">
            <a:solidFill>
              <a:srgbClr val="1E8E5A"/>
            </a:solidFill>
            <a:prstDash val="solid"/>
          </a:ln>
        </p:spPr>
        <p:txBody>
          <a:bodyPr/>
          <a:lstStyle/>
          <a:p>
            <a:endParaRPr lang="en-IN"/>
          </a:p>
        </p:txBody>
      </p:sp>
      <p:sp>
        <p:nvSpPr>
          <p:cNvPr id="19" name="Text 17"/>
          <p:cNvSpPr/>
          <p:nvPr/>
        </p:nvSpPr>
        <p:spPr>
          <a:xfrm>
            <a:off x="685800" y="33147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A1</a:t>
            </a:r>
            <a:endParaRPr lang="en-US" sz="1400" dirty="0"/>
          </a:p>
        </p:txBody>
      </p:sp>
      <p:sp>
        <p:nvSpPr>
          <p:cNvPr id="20" name="Shape 18"/>
          <p:cNvSpPr/>
          <p:nvPr/>
        </p:nvSpPr>
        <p:spPr>
          <a:xfrm>
            <a:off x="1162050" y="33242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21" name="Text 19"/>
          <p:cNvSpPr/>
          <p:nvPr/>
        </p:nvSpPr>
        <p:spPr>
          <a:xfrm>
            <a:off x="1162050" y="33528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22" name="Text 20"/>
          <p:cNvSpPr/>
          <p:nvPr/>
        </p:nvSpPr>
        <p:spPr>
          <a:xfrm>
            <a:off x="2286000" y="33337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1E8E5A"/>
                </a:solidFill>
                <a:latin typeface="Calibri" pitchFamily="34" charset="0"/>
                <a:ea typeface="Calibri" pitchFamily="34" charset="-122"/>
                <a:cs typeface="Calibri" pitchFamily="34" charset="-120"/>
              </a:rPr>
              <a:t>TESTED</a:t>
            </a:r>
            <a:endParaRPr lang="en-US" sz="950" dirty="0"/>
          </a:p>
        </p:txBody>
      </p:sp>
      <p:sp>
        <p:nvSpPr>
          <p:cNvPr id="23" name="Text 21"/>
          <p:cNvSpPr/>
          <p:nvPr/>
        </p:nvSpPr>
        <p:spPr>
          <a:xfrm>
            <a:off x="685800" y="35433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Rogue grandmaster / BMCA spoof</a:t>
            </a:r>
            <a:endParaRPr lang="en-US" sz="1120" dirty="0"/>
          </a:p>
        </p:txBody>
      </p:sp>
      <p:sp>
        <p:nvSpPr>
          <p:cNvPr id="24" name="Shape 22"/>
          <p:cNvSpPr/>
          <p:nvPr/>
        </p:nvSpPr>
        <p:spPr>
          <a:xfrm>
            <a:off x="3390900" y="3238500"/>
            <a:ext cx="2619375" cy="609600"/>
          </a:xfrm>
          <a:prstGeom prst="roundRect">
            <a:avLst>
              <a:gd name="adj" fmla="val 6000"/>
            </a:avLst>
          </a:prstGeom>
          <a:solidFill>
            <a:srgbClr val="E3F3EA"/>
          </a:solidFill>
          <a:ln w="12700">
            <a:solidFill>
              <a:srgbClr val="1E8E5A"/>
            </a:solidFill>
            <a:prstDash val="solid"/>
          </a:ln>
        </p:spPr>
        <p:txBody>
          <a:bodyPr/>
          <a:lstStyle/>
          <a:p>
            <a:endParaRPr lang="en-IN"/>
          </a:p>
        </p:txBody>
      </p:sp>
      <p:sp>
        <p:nvSpPr>
          <p:cNvPr id="25" name="Text 23"/>
          <p:cNvSpPr/>
          <p:nvPr/>
        </p:nvSpPr>
        <p:spPr>
          <a:xfrm>
            <a:off x="3505200" y="33147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A2</a:t>
            </a:r>
            <a:endParaRPr lang="en-US" sz="1400" dirty="0"/>
          </a:p>
        </p:txBody>
      </p:sp>
      <p:sp>
        <p:nvSpPr>
          <p:cNvPr id="26" name="Shape 24"/>
          <p:cNvSpPr/>
          <p:nvPr/>
        </p:nvSpPr>
        <p:spPr>
          <a:xfrm>
            <a:off x="3981450" y="33242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27" name="Text 25"/>
          <p:cNvSpPr/>
          <p:nvPr/>
        </p:nvSpPr>
        <p:spPr>
          <a:xfrm>
            <a:off x="3981450" y="33528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28" name="Text 26"/>
          <p:cNvSpPr/>
          <p:nvPr/>
        </p:nvSpPr>
        <p:spPr>
          <a:xfrm>
            <a:off x="5105400" y="33337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1E8E5A"/>
                </a:solidFill>
                <a:latin typeface="Calibri" pitchFamily="34" charset="0"/>
                <a:ea typeface="Calibri" pitchFamily="34" charset="-122"/>
                <a:cs typeface="Calibri" pitchFamily="34" charset="-120"/>
              </a:rPr>
              <a:t>TESTED</a:t>
            </a:r>
            <a:endParaRPr lang="en-US" sz="950" dirty="0"/>
          </a:p>
        </p:txBody>
      </p:sp>
      <p:sp>
        <p:nvSpPr>
          <p:cNvPr id="29" name="Text 27"/>
          <p:cNvSpPr/>
          <p:nvPr/>
        </p:nvSpPr>
        <p:spPr>
          <a:xfrm>
            <a:off x="3505200" y="35433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Sync / Follow_Up spoofing</a:t>
            </a:r>
            <a:endParaRPr lang="en-US" sz="1120" dirty="0"/>
          </a:p>
        </p:txBody>
      </p:sp>
      <p:sp>
        <p:nvSpPr>
          <p:cNvPr id="30" name="Shape 28"/>
          <p:cNvSpPr/>
          <p:nvPr/>
        </p:nvSpPr>
        <p:spPr>
          <a:xfrm>
            <a:off x="6210300" y="3238500"/>
            <a:ext cx="2619375" cy="609600"/>
          </a:xfrm>
          <a:prstGeom prst="roundRect">
            <a:avLst>
              <a:gd name="adj" fmla="val 6000"/>
            </a:avLst>
          </a:prstGeom>
          <a:solidFill>
            <a:srgbClr val="E3F3EA"/>
          </a:solidFill>
          <a:ln w="12700">
            <a:solidFill>
              <a:srgbClr val="1E8E5A"/>
            </a:solidFill>
            <a:prstDash val="solid"/>
          </a:ln>
        </p:spPr>
        <p:txBody>
          <a:bodyPr/>
          <a:lstStyle/>
          <a:p>
            <a:endParaRPr lang="en-IN"/>
          </a:p>
        </p:txBody>
      </p:sp>
      <p:sp>
        <p:nvSpPr>
          <p:cNvPr id="31" name="Text 29"/>
          <p:cNvSpPr/>
          <p:nvPr/>
        </p:nvSpPr>
        <p:spPr>
          <a:xfrm>
            <a:off x="6324600" y="33147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A3</a:t>
            </a:r>
            <a:endParaRPr lang="en-US" sz="1400" dirty="0"/>
          </a:p>
        </p:txBody>
      </p:sp>
      <p:sp>
        <p:nvSpPr>
          <p:cNvPr id="32" name="Shape 30"/>
          <p:cNvSpPr/>
          <p:nvPr/>
        </p:nvSpPr>
        <p:spPr>
          <a:xfrm>
            <a:off x="6800850" y="33242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33" name="Text 31"/>
          <p:cNvSpPr/>
          <p:nvPr/>
        </p:nvSpPr>
        <p:spPr>
          <a:xfrm>
            <a:off x="6800850" y="33528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34" name="Text 32"/>
          <p:cNvSpPr/>
          <p:nvPr/>
        </p:nvSpPr>
        <p:spPr>
          <a:xfrm>
            <a:off x="7924800" y="33337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1E8E5A"/>
                </a:solidFill>
                <a:latin typeface="Calibri" pitchFamily="34" charset="0"/>
                <a:ea typeface="Calibri" pitchFamily="34" charset="-122"/>
                <a:cs typeface="Calibri" pitchFamily="34" charset="-120"/>
              </a:rPr>
              <a:t>TESTED</a:t>
            </a:r>
            <a:endParaRPr lang="en-US" sz="950" dirty="0"/>
          </a:p>
        </p:txBody>
      </p:sp>
      <p:sp>
        <p:nvSpPr>
          <p:cNvPr id="35" name="Text 33"/>
          <p:cNvSpPr/>
          <p:nvPr/>
        </p:nvSpPr>
        <p:spPr>
          <a:xfrm>
            <a:off x="6324600" y="35433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Replay</a:t>
            </a:r>
            <a:endParaRPr lang="en-US" sz="1120" dirty="0"/>
          </a:p>
        </p:txBody>
      </p:sp>
      <p:sp>
        <p:nvSpPr>
          <p:cNvPr id="36" name="Shape 34"/>
          <p:cNvSpPr/>
          <p:nvPr/>
        </p:nvSpPr>
        <p:spPr>
          <a:xfrm>
            <a:off x="9029700" y="3238500"/>
            <a:ext cx="2619375" cy="609600"/>
          </a:xfrm>
          <a:prstGeom prst="roundRect">
            <a:avLst>
              <a:gd name="adj" fmla="val 6000"/>
            </a:avLst>
          </a:prstGeom>
          <a:solidFill>
            <a:srgbClr val="FFFFFF"/>
          </a:solidFill>
          <a:ln w="12700">
            <a:solidFill>
              <a:srgbClr val="D7E1EA"/>
            </a:solidFill>
            <a:prstDash val="solid"/>
          </a:ln>
        </p:spPr>
        <p:txBody>
          <a:bodyPr/>
          <a:lstStyle/>
          <a:p>
            <a:endParaRPr lang="en-IN"/>
          </a:p>
        </p:txBody>
      </p:sp>
      <p:sp>
        <p:nvSpPr>
          <p:cNvPr id="37" name="Text 35"/>
          <p:cNvSpPr/>
          <p:nvPr/>
        </p:nvSpPr>
        <p:spPr>
          <a:xfrm>
            <a:off x="9144000" y="33147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A4</a:t>
            </a:r>
            <a:endParaRPr lang="en-US" sz="1400" dirty="0"/>
          </a:p>
        </p:txBody>
      </p:sp>
      <p:sp>
        <p:nvSpPr>
          <p:cNvPr id="38" name="Shape 36"/>
          <p:cNvSpPr/>
          <p:nvPr/>
        </p:nvSpPr>
        <p:spPr>
          <a:xfrm>
            <a:off x="9620250" y="33242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39" name="Text 37"/>
          <p:cNvSpPr/>
          <p:nvPr/>
        </p:nvSpPr>
        <p:spPr>
          <a:xfrm>
            <a:off x="9620250" y="33528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40" name="Text 38"/>
          <p:cNvSpPr/>
          <p:nvPr/>
        </p:nvSpPr>
        <p:spPr>
          <a:xfrm>
            <a:off x="10744200" y="33337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5B6B7C"/>
                </a:solidFill>
                <a:latin typeface="Calibri" pitchFamily="34" charset="0"/>
                <a:ea typeface="Calibri" pitchFamily="34" charset="-122"/>
                <a:cs typeface="Calibri" pitchFamily="34" charset="-120"/>
              </a:rPr>
              <a:t>not run</a:t>
            </a:r>
            <a:endParaRPr lang="en-US" sz="950" dirty="0"/>
          </a:p>
        </p:txBody>
      </p:sp>
      <p:sp>
        <p:nvSpPr>
          <p:cNvPr id="41" name="Text 39"/>
          <p:cNvSpPr/>
          <p:nvPr/>
        </p:nvSpPr>
        <p:spPr>
          <a:xfrm>
            <a:off x="9144000" y="35433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Delay (time) attack</a:t>
            </a:r>
            <a:endParaRPr lang="en-US" sz="1120" dirty="0"/>
          </a:p>
        </p:txBody>
      </p:sp>
      <p:sp>
        <p:nvSpPr>
          <p:cNvPr id="42" name="Shape 40"/>
          <p:cNvSpPr/>
          <p:nvPr/>
        </p:nvSpPr>
        <p:spPr>
          <a:xfrm>
            <a:off x="571500" y="3924300"/>
            <a:ext cx="2619375" cy="609600"/>
          </a:xfrm>
          <a:prstGeom prst="roundRect">
            <a:avLst>
              <a:gd name="adj" fmla="val 6000"/>
            </a:avLst>
          </a:prstGeom>
          <a:solidFill>
            <a:srgbClr val="E3F3EA"/>
          </a:solidFill>
          <a:ln w="12700">
            <a:solidFill>
              <a:srgbClr val="1E8E5A"/>
            </a:solidFill>
            <a:prstDash val="solid"/>
          </a:ln>
        </p:spPr>
        <p:txBody>
          <a:bodyPr/>
          <a:lstStyle/>
          <a:p>
            <a:endParaRPr lang="en-IN"/>
          </a:p>
        </p:txBody>
      </p:sp>
      <p:sp>
        <p:nvSpPr>
          <p:cNvPr id="43" name="Text 41"/>
          <p:cNvSpPr/>
          <p:nvPr/>
        </p:nvSpPr>
        <p:spPr>
          <a:xfrm>
            <a:off x="685800" y="40005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A5</a:t>
            </a:r>
            <a:endParaRPr lang="en-US" sz="1400" dirty="0"/>
          </a:p>
        </p:txBody>
      </p:sp>
      <p:sp>
        <p:nvSpPr>
          <p:cNvPr id="44" name="Shape 42"/>
          <p:cNvSpPr/>
          <p:nvPr/>
        </p:nvSpPr>
        <p:spPr>
          <a:xfrm>
            <a:off x="1162050" y="40100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45" name="Text 43"/>
          <p:cNvSpPr/>
          <p:nvPr/>
        </p:nvSpPr>
        <p:spPr>
          <a:xfrm>
            <a:off x="1162050" y="40386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46" name="Text 44"/>
          <p:cNvSpPr/>
          <p:nvPr/>
        </p:nvSpPr>
        <p:spPr>
          <a:xfrm>
            <a:off x="2286000" y="40195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1E8E5A"/>
                </a:solidFill>
                <a:latin typeface="Calibri" pitchFamily="34" charset="0"/>
                <a:ea typeface="Calibri" pitchFamily="34" charset="-122"/>
                <a:cs typeface="Calibri" pitchFamily="34" charset="-120"/>
              </a:rPr>
              <a:t>TESTED</a:t>
            </a:r>
            <a:endParaRPr lang="en-US" sz="950" dirty="0"/>
          </a:p>
        </p:txBody>
      </p:sp>
      <p:sp>
        <p:nvSpPr>
          <p:cNvPr id="47" name="Text 45"/>
          <p:cNvSpPr/>
          <p:nvPr/>
        </p:nvSpPr>
        <p:spPr>
          <a:xfrm>
            <a:off x="685800" y="42291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DoS / PTP flooding</a:t>
            </a:r>
            <a:endParaRPr lang="en-US" sz="1120" dirty="0"/>
          </a:p>
        </p:txBody>
      </p:sp>
      <p:sp>
        <p:nvSpPr>
          <p:cNvPr id="48" name="Shape 46"/>
          <p:cNvSpPr/>
          <p:nvPr/>
        </p:nvSpPr>
        <p:spPr>
          <a:xfrm>
            <a:off x="3390900" y="3924300"/>
            <a:ext cx="2619375" cy="609600"/>
          </a:xfrm>
          <a:prstGeom prst="roundRect">
            <a:avLst>
              <a:gd name="adj" fmla="val 6000"/>
            </a:avLst>
          </a:prstGeom>
          <a:solidFill>
            <a:srgbClr val="F6E4E0"/>
          </a:solidFill>
          <a:ln w="12700">
            <a:solidFill>
              <a:srgbClr val="B3402F"/>
            </a:solidFill>
            <a:prstDash val="solid"/>
          </a:ln>
        </p:spPr>
        <p:txBody>
          <a:bodyPr/>
          <a:lstStyle/>
          <a:p>
            <a:endParaRPr lang="en-IN"/>
          </a:p>
        </p:txBody>
      </p:sp>
      <p:sp>
        <p:nvSpPr>
          <p:cNvPr id="49" name="Text 47"/>
          <p:cNvSpPr/>
          <p:nvPr/>
        </p:nvSpPr>
        <p:spPr>
          <a:xfrm>
            <a:off x="3505200" y="40005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A6</a:t>
            </a:r>
            <a:endParaRPr lang="en-US" sz="1400" dirty="0"/>
          </a:p>
        </p:txBody>
      </p:sp>
      <p:sp>
        <p:nvSpPr>
          <p:cNvPr id="50" name="Shape 48"/>
          <p:cNvSpPr/>
          <p:nvPr/>
        </p:nvSpPr>
        <p:spPr>
          <a:xfrm>
            <a:off x="3981450" y="40100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51" name="Text 49"/>
          <p:cNvSpPr/>
          <p:nvPr/>
        </p:nvSpPr>
        <p:spPr>
          <a:xfrm>
            <a:off x="3981450" y="40386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HW</a:t>
            </a:r>
            <a:endParaRPr lang="en-US" sz="950" dirty="0"/>
          </a:p>
        </p:txBody>
      </p:sp>
      <p:sp>
        <p:nvSpPr>
          <p:cNvPr id="52" name="Text 50"/>
          <p:cNvSpPr/>
          <p:nvPr/>
        </p:nvSpPr>
        <p:spPr>
          <a:xfrm>
            <a:off x="5105400" y="40195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B3402F"/>
                </a:solidFill>
                <a:latin typeface="Calibri" pitchFamily="34" charset="0"/>
                <a:ea typeface="Calibri" pitchFamily="34" charset="-122"/>
                <a:cs typeface="Calibri" pitchFamily="34" charset="-120"/>
              </a:rPr>
              <a:t>blocked</a:t>
            </a:r>
            <a:endParaRPr lang="en-US" sz="950" dirty="0"/>
          </a:p>
        </p:txBody>
      </p:sp>
      <p:sp>
        <p:nvSpPr>
          <p:cNvPr id="53" name="Text 51"/>
          <p:cNvSpPr/>
          <p:nvPr/>
        </p:nvSpPr>
        <p:spPr>
          <a:xfrm>
            <a:off x="3505200" y="42291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GNSS spoofing</a:t>
            </a:r>
            <a:endParaRPr lang="en-US" sz="1120" dirty="0"/>
          </a:p>
        </p:txBody>
      </p:sp>
      <p:sp>
        <p:nvSpPr>
          <p:cNvPr id="54" name="Shape 52"/>
          <p:cNvSpPr/>
          <p:nvPr/>
        </p:nvSpPr>
        <p:spPr>
          <a:xfrm>
            <a:off x="6210300" y="3924300"/>
            <a:ext cx="2619375" cy="609600"/>
          </a:xfrm>
          <a:prstGeom prst="roundRect">
            <a:avLst>
              <a:gd name="adj" fmla="val 6000"/>
            </a:avLst>
          </a:prstGeom>
          <a:solidFill>
            <a:srgbClr val="F6E4E0"/>
          </a:solidFill>
          <a:ln w="12700">
            <a:solidFill>
              <a:srgbClr val="B3402F"/>
            </a:solidFill>
            <a:prstDash val="solid"/>
          </a:ln>
        </p:spPr>
        <p:txBody>
          <a:bodyPr/>
          <a:lstStyle/>
          <a:p>
            <a:endParaRPr lang="en-IN"/>
          </a:p>
        </p:txBody>
      </p:sp>
      <p:sp>
        <p:nvSpPr>
          <p:cNvPr id="55" name="Text 53"/>
          <p:cNvSpPr/>
          <p:nvPr/>
        </p:nvSpPr>
        <p:spPr>
          <a:xfrm>
            <a:off x="6324600" y="40005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A7</a:t>
            </a:r>
            <a:endParaRPr lang="en-US" sz="1400" dirty="0"/>
          </a:p>
        </p:txBody>
      </p:sp>
      <p:sp>
        <p:nvSpPr>
          <p:cNvPr id="56" name="Shape 54"/>
          <p:cNvSpPr/>
          <p:nvPr/>
        </p:nvSpPr>
        <p:spPr>
          <a:xfrm>
            <a:off x="6800850" y="40100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57" name="Text 55"/>
          <p:cNvSpPr/>
          <p:nvPr/>
        </p:nvSpPr>
        <p:spPr>
          <a:xfrm>
            <a:off x="6800850" y="40386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HW</a:t>
            </a:r>
            <a:endParaRPr lang="en-US" sz="950" dirty="0"/>
          </a:p>
        </p:txBody>
      </p:sp>
      <p:sp>
        <p:nvSpPr>
          <p:cNvPr id="58" name="Text 56"/>
          <p:cNvSpPr/>
          <p:nvPr/>
        </p:nvSpPr>
        <p:spPr>
          <a:xfrm>
            <a:off x="7924800" y="40195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B3402F"/>
                </a:solidFill>
                <a:latin typeface="Calibri" pitchFamily="34" charset="0"/>
                <a:ea typeface="Calibri" pitchFamily="34" charset="-122"/>
                <a:cs typeface="Calibri" pitchFamily="34" charset="-120"/>
              </a:rPr>
              <a:t>blocked</a:t>
            </a:r>
            <a:endParaRPr lang="en-US" sz="950" dirty="0"/>
          </a:p>
        </p:txBody>
      </p:sp>
      <p:sp>
        <p:nvSpPr>
          <p:cNvPr id="59" name="Text 57"/>
          <p:cNvSpPr/>
          <p:nvPr/>
        </p:nvSpPr>
        <p:spPr>
          <a:xfrm>
            <a:off x="6324600" y="42291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GNSS jamming</a:t>
            </a:r>
            <a:endParaRPr lang="en-US" sz="1120" dirty="0"/>
          </a:p>
        </p:txBody>
      </p:sp>
      <p:sp>
        <p:nvSpPr>
          <p:cNvPr id="60" name="Shape 58"/>
          <p:cNvSpPr/>
          <p:nvPr/>
        </p:nvSpPr>
        <p:spPr>
          <a:xfrm>
            <a:off x="9029700" y="3924300"/>
            <a:ext cx="2619375" cy="609600"/>
          </a:xfrm>
          <a:prstGeom prst="roundRect">
            <a:avLst>
              <a:gd name="adj" fmla="val 6000"/>
            </a:avLst>
          </a:prstGeom>
          <a:solidFill>
            <a:srgbClr val="E3F3EA"/>
          </a:solidFill>
          <a:ln w="12700">
            <a:solidFill>
              <a:srgbClr val="1E8E5A"/>
            </a:solidFill>
            <a:prstDash val="solid"/>
          </a:ln>
        </p:spPr>
        <p:txBody>
          <a:bodyPr/>
          <a:lstStyle/>
          <a:p>
            <a:endParaRPr lang="en-IN"/>
          </a:p>
        </p:txBody>
      </p:sp>
      <p:sp>
        <p:nvSpPr>
          <p:cNvPr id="61" name="Text 59"/>
          <p:cNvSpPr/>
          <p:nvPr/>
        </p:nvSpPr>
        <p:spPr>
          <a:xfrm>
            <a:off x="9144000" y="40005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A8</a:t>
            </a:r>
            <a:endParaRPr lang="en-US" sz="1400" dirty="0"/>
          </a:p>
        </p:txBody>
      </p:sp>
      <p:sp>
        <p:nvSpPr>
          <p:cNvPr id="62" name="Shape 60"/>
          <p:cNvSpPr/>
          <p:nvPr/>
        </p:nvSpPr>
        <p:spPr>
          <a:xfrm>
            <a:off x="9620250" y="40100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63" name="Text 61"/>
          <p:cNvSpPr/>
          <p:nvPr/>
        </p:nvSpPr>
        <p:spPr>
          <a:xfrm>
            <a:off x="9620250" y="40386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64" name="Text 62"/>
          <p:cNvSpPr/>
          <p:nvPr/>
        </p:nvSpPr>
        <p:spPr>
          <a:xfrm>
            <a:off x="10744200" y="40195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1E8E5A"/>
                </a:solidFill>
                <a:latin typeface="Calibri" pitchFamily="34" charset="0"/>
                <a:ea typeface="Calibri" pitchFamily="34" charset="-122"/>
                <a:cs typeface="Calibri" pitchFamily="34" charset="-120"/>
              </a:rPr>
              <a:t>TESTED</a:t>
            </a:r>
            <a:endParaRPr lang="en-US" sz="950" dirty="0"/>
          </a:p>
        </p:txBody>
      </p:sp>
      <p:sp>
        <p:nvSpPr>
          <p:cNvPr id="65" name="Text 63"/>
          <p:cNvSpPr/>
          <p:nvPr/>
        </p:nvSpPr>
        <p:spPr>
          <a:xfrm>
            <a:off x="9144000" y="42291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Rogue boundary clock</a:t>
            </a:r>
            <a:endParaRPr lang="en-US" sz="1120" dirty="0"/>
          </a:p>
        </p:txBody>
      </p:sp>
      <p:sp>
        <p:nvSpPr>
          <p:cNvPr id="66" name="Shape 64"/>
          <p:cNvSpPr/>
          <p:nvPr/>
        </p:nvSpPr>
        <p:spPr>
          <a:xfrm>
            <a:off x="571500" y="4610100"/>
            <a:ext cx="2619375" cy="609600"/>
          </a:xfrm>
          <a:prstGeom prst="roundRect">
            <a:avLst>
              <a:gd name="adj" fmla="val 6000"/>
            </a:avLst>
          </a:prstGeom>
          <a:solidFill>
            <a:srgbClr val="F6E4E0"/>
          </a:solidFill>
          <a:ln w="12700">
            <a:solidFill>
              <a:srgbClr val="B3402F"/>
            </a:solidFill>
            <a:prstDash val="solid"/>
          </a:ln>
        </p:spPr>
        <p:txBody>
          <a:bodyPr/>
          <a:lstStyle/>
          <a:p>
            <a:endParaRPr lang="en-IN"/>
          </a:p>
        </p:txBody>
      </p:sp>
      <p:sp>
        <p:nvSpPr>
          <p:cNvPr id="67" name="Text 65"/>
          <p:cNvSpPr/>
          <p:nvPr/>
        </p:nvSpPr>
        <p:spPr>
          <a:xfrm>
            <a:off x="685800" y="46863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B1</a:t>
            </a:r>
            <a:endParaRPr lang="en-US" sz="1400" dirty="0"/>
          </a:p>
        </p:txBody>
      </p:sp>
      <p:sp>
        <p:nvSpPr>
          <p:cNvPr id="68" name="Shape 66"/>
          <p:cNvSpPr/>
          <p:nvPr/>
        </p:nvSpPr>
        <p:spPr>
          <a:xfrm>
            <a:off x="1162050" y="46958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69" name="Text 67"/>
          <p:cNvSpPr/>
          <p:nvPr/>
        </p:nvSpPr>
        <p:spPr>
          <a:xfrm>
            <a:off x="1162050" y="47244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HW</a:t>
            </a:r>
            <a:endParaRPr lang="en-US" sz="950" dirty="0"/>
          </a:p>
        </p:txBody>
      </p:sp>
      <p:sp>
        <p:nvSpPr>
          <p:cNvPr id="70" name="Text 68"/>
          <p:cNvSpPr/>
          <p:nvPr/>
        </p:nvSpPr>
        <p:spPr>
          <a:xfrm>
            <a:off x="2286000" y="47053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B3402F"/>
                </a:solidFill>
                <a:latin typeface="Calibri" pitchFamily="34" charset="0"/>
                <a:ea typeface="Calibri" pitchFamily="34" charset="-122"/>
                <a:cs typeface="Calibri" pitchFamily="34" charset="-120"/>
              </a:rPr>
              <a:t>blocked</a:t>
            </a:r>
            <a:endParaRPr lang="en-US" sz="950" dirty="0"/>
          </a:p>
        </p:txBody>
      </p:sp>
      <p:sp>
        <p:nvSpPr>
          <p:cNvPr id="71" name="Text 69"/>
          <p:cNvSpPr/>
          <p:nvPr/>
        </p:nvSpPr>
        <p:spPr>
          <a:xfrm>
            <a:off x="685800" y="49149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GNSS holdover</a:t>
            </a:r>
            <a:endParaRPr lang="en-US" sz="1120" dirty="0"/>
          </a:p>
        </p:txBody>
      </p:sp>
      <p:sp>
        <p:nvSpPr>
          <p:cNvPr id="72" name="Shape 70"/>
          <p:cNvSpPr/>
          <p:nvPr/>
        </p:nvSpPr>
        <p:spPr>
          <a:xfrm>
            <a:off x="3390900" y="4610100"/>
            <a:ext cx="2619375" cy="609600"/>
          </a:xfrm>
          <a:prstGeom prst="roundRect">
            <a:avLst>
              <a:gd name="adj" fmla="val 6000"/>
            </a:avLst>
          </a:prstGeom>
          <a:solidFill>
            <a:srgbClr val="E3F3EA"/>
          </a:solidFill>
          <a:ln w="12700">
            <a:solidFill>
              <a:srgbClr val="1E8E5A"/>
            </a:solidFill>
            <a:prstDash val="solid"/>
          </a:ln>
        </p:spPr>
        <p:txBody>
          <a:bodyPr/>
          <a:lstStyle/>
          <a:p>
            <a:endParaRPr lang="en-IN"/>
          </a:p>
        </p:txBody>
      </p:sp>
      <p:sp>
        <p:nvSpPr>
          <p:cNvPr id="73" name="Text 71"/>
          <p:cNvSpPr/>
          <p:nvPr/>
        </p:nvSpPr>
        <p:spPr>
          <a:xfrm>
            <a:off x="3505200" y="46863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B2</a:t>
            </a:r>
            <a:endParaRPr lang="en-US" sz="1400" dirty="0"/>
          </a:p>
        </p:txBody>
      </p:sp>
      <p:sp>
        <p:nvSpPr>
          <p:cNvPr id="74" name="Shape 72"/>
          <p:cNvSpPr/>
          <p:nvPr/>
        </p:nvSpPr>
        <p:spPr>
          <a:xfrm>
            <a:off x="3981450" y="46958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75" name="Text 73"/>
          <p:cNvSpPr/>
          <p:nvPr/>
        </p:nvSpPr>
        <p:spPr>
          <a:xfrm>
            <a:off x="3981450" y="47244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76" name="Text 74"/>
          <p:cNvSpPr/>
          <p:nvPr/>
        </p:nvSpPr>
        <p:spPr>
          <a:xfrm>
            <a:off x="5105400" y="47053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1E8E5A"/>
                </a:solidFill>
                <a:latin typeface="Calibri" pitchFamily="34" charset="0"/>
                <a:ea typeface="Calibri" pitchFamily="34" charset="-122"/>
                <a:cs typeface="Calibri" pitchFamily="34" charset="-120"/>
              </a:rPr>
              <a:t>TESTED</a:t>
            </a:r>
            <a:endParaRPr lang="en-US" sz="950" dirty="0"/>
          </a:p>
        </p:txBody>
      </p:sp>
      <p:sp>
        <p:nvSpPr>
          <p:cNvPr id="77" name="Text 75"/>
          <p:cNvSpPr/>
          <p:nvPr/>
        </p:nvSpPr>
        <p:spPr>
          <a:xfrm>
            <a:off x="3505200" y="49149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Planned GM changeover</a:t>
            </a:r>
            <a:endParaRPr lang="en-US" sz="1120" dirty="0"/>
          </a:p>
        </p:txBody>
      </p:sp>
      <p:sp>
        <p:nvSpPr>
          <p:cNvPr id="78" name="Shape 76"/>
          <p:cNvSpPr/>
          <p:nvPr/>
        </p:nvSpPr>
        <p:spPr>
          <a:xfrm>
            <a:off x="6210300" y="4610100"/>
            <a:ext cx="2619375" cy="609600"/>
          </a:xfrm>
          <a:prstGeom prst="roundRect">
            <a:avLst>
              <a:gd name="adj" fmla="val 6000"/>
            </a:avLst>
          </a:prstGeom>
          <a:solidFill>
            <a:srgbClr val="E3F3EA"/>
          </a:solidFill>
          <a:ln w="12700">
            <a:solidFill>
              <a:srgbClr val="1E8E5A"/>
            </a:solidFill>
            <a:prstDash val="solid"/>
          </a:ln>
        </p:spPr>
        <p:txBody>
          <a:bodyPr/>
          <a:lstStyle/>
          <a:p>
            <a:endParaRPr lang="en-IN"/>
          </a:p>
        </p:txBody>
      </p:sp>
      <p:sp>
        <p:nvSpPr>
          <p:cNvPr id="79" name="Text 77"/>
          <p:cNvSpPr/>
          <p:nvPr/>
        </p:nvSpPr>
        <p:spPr>
          <a:xfrm>
            <a:off x="6324600" y="46863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B3</a:t>
            </a:r>
            <a:endParaRPr lang="en-US" sz="1400" dirty="0"/>
          </a:p>
        </p:txBody>
      </p:sp>
      <p:sp>
        <p:nvSpPr>
          <p:cNvPr id="80" name="Shape 78"/>
          <p:cNvSpPr/>
          <p:nvPr/>
        </p:nvSpPr>
        <p:spPr>
          <a:xfrm>
            <a:off x="6800850" y="46958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81" name="Text 79"/>
          <p:cNvSpPr/>
          <p:nvPr/>
        </p:nvSpPr>
        <p:spPr>
          <a:xfrm>
            <a:off x="6800850" y="47244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82" name="Text 80"/>
          <p:cNvSpPr/>
          <p:nvPr/>
        </p:nvSpPr>
        <p:spPr>
          <a:xfrm>
            <a:off x="7924800" y="47053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1E8E5A"/>
                </a:solidFill>
                <a:latin typeface="Calibri" pitchFamily="34" charset="0"/>
                <a:ea typeface="Calibri" pitchFamily="34" charset="-122"/>
                <a:cs typeface="Calibri" pitchFamily="34" charset="-120"/>
              </a:rPr>
              <a:t>TESTED</a:t>
            </a:r>
            <a:endParaRPr lang="en-US" sz="950" dirty="0"/>
          </a:p>
        </p:txBody>
      </p:sp>
      <p:sp>
        <p:nvSpPr>
          <p:cNvPr id="83" name="Text 81"/>
          <p:cNvSpPr/>
          <p:nvPr/>
        </p:nvSpPr>
        <p:spPr>
          <a:xfrm>
            <a:off x="6324600" y="49149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PDV / congestion</a:t>
            </a:r>
            <a:endParaRPr lang="en-US" sz="1120" dirty="0"/>
          </a:p>
        </p:txBody>
      </p:sp>
      <p:sp>
        <p:nvSpPr>
          <p:cNvPr id="84" name="Shape 82"/>
          <p:cNvSpPr/>
          <p:nvPr/>
        </p:nvSpPr>
        <p:spPr>
          <a:xfrm>
            <a:off x="9029700" y="4610100"/>
            <a:ext cx="2619375" cy="609600"/>
          </a:xfrm>
          <a:prstGeom prst="roundRect">
            <a:avLst>
              <a:gd name="adj" fmla="val 6000"/>
            </a:avLst>
          </a:prstGeom>
          <a:solidFill>
            <a:srgbClr val="F6E4E0"/>
          </a:solidFill>
          <a:ln w="12700">
            <a:solidFill>
              <a:srgbClr val="B3402F"/>
            </a:solidFill>
            <a:prstDash val="solid"/>
          </a:ln>
        </p:spPr>
        <p:txBody>
          <a:bodyPr/>
          <a:lstStyle/>
          <a:p>
            <a:endParaRPr lang="en-IN"/>
          </a:p>
        </p:txBody>
      </p:sp>
      <p:sp>
        <p:nvSpPr>
          <p:cNvPr id="85" name="Text 83"/>
          <p:cNvSpPr/>
          <p:nvPr/>
        </p:nvSpPr>
        <p:spPr>
          <a:xfrm>
            <a:off x="9144000" y="46863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B4</a:t>
            </a:r>
            <a:endParaRPr lang="en-US" sz="1400" dirty="0"/>
          </a:p>
        </p:txBody>
      </p:sp>
      <p:sp>
        <p:nvSpPr>
          <p:cNvPr id="86" name="Shape 84"/>
          <p:cNvSpPr/>
          <p:nvPr/>
        </p:nvSpPr>
        <p:spPr>
          <a:xfrm>
            <a:off x="9620250" y="46958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87" name="Text 85"/>
          <p:cNvSpPr/>
          <p:nvPr/>
        </p:nvSpPr>
        <p:spPr>
          <a:xfrm>
            <a:off x="9620250" y="47244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HW</a:t>
            </a:r>
            <a:endParaRPr lang="en-US" sz="950" dirty="0"/>
          </a:p>
        </p:txBody>
      </p:sp>
      <p:sp>
        <p:nvSpPr>
          <p:cNvPr id="88" name="Text 86"/>
          <p:cNvSpPr/>
          <p:nvPr/>
        </p:nvSpPr>
        <p:spPr>
          <a:xfrm>
            <a:off x="10744200" y="47053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B3402F"/>
                </a:solidFill>
                <a:latin typeface="Calibri" pitchFamily="34" charset="0"/>
                <a:ea typeface="Calibri" pitchFamily="34" charset="-122"/>
                <a:cs typeface="Calibri" pitchFamily="34" charset="-120"/>
              </a:rPr>
              <a:t>blocked</a:t>
            </a:r>
            <a:endParaRPr lang="en-US" sz="950" dirty="0"/>
          </a:p>
        </p:txBody>
      </p:sp>
      <p:sp>
        <p:nvSpPr>
          <p:cNvPr id="89" name="Text 87"/>
          <p:cNvSpPr/>
          <p:nvPr/>
        </p:nvSpPr>
        <p:spPr>
          <a:xfrm>
            <a:off x="9144000" y="49149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SyncE / EEC degradation</a:t>
            </a:r>
            <a:endParaRPr lang="en-US" sz="1120" dirty="0"/>
          </a:p>
        </p:txBody>
      </p:sp>
      <p:sp>
        <p:nvSpPr>
          <p:cNvPr id="90" name="Shape 88"/>
          <p:cNvSpPr/>
          <p:nvPr/>
        </p:nvSpPr>
        <p:spPr>
          <a:xfrm>
            <a:off x="571500" y="5295900"/>
            <a:ext cx="2619375" cy="609600"/>
          </a:xfrm>
          <a:prstGeom prst="roundRect">
            <a:avLst>
              <a:gd name="adj" fmla="val 6000"/>
            </a:avLst>
          </a:prstGeom>
          <a:solidFill>
            <a:srgbClr val="FFFFFF"/>
          </a:solidFill>
          <a:ln w="12700">
            <a:solidFill>
              <a:srgbClr val="D7E1EA"/>
            </a:solidFill>
            <a:prstDash val="solid"/>
          </a:ln>
        </p:spPr>
        <p:txBody>
          <a:bodyPr/>
          <a:lstStyle/>
          <a:p>
            <a:endParaRPr lang="en-IN"/>
          </a:p>
        </p:txBody>
      </p:sp>
      <p:sp>
        <p:nvSpPr>
          <p:cNvPr id="91" name="Text 89"/>
          <p:cNvSpPr/>
          <p:nvPr/>
        </p:nvSpPr>
        <p:spPr>
          <a:xfrm>
            <a:off x="685800" y="53721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B5</a:t>
            </a:r>
            <a:endParaRPr lang="en-US" sz="1400" dirty="0"/>
          </a:p>
        </p:txBody>
      </p:sp>
      <p:sp>
        <p:nvSpPr>
          <p:cNvPr id="92" name="Shape 90"/>
          <p:cNvSpPr/>
          <p:nvPr/>
        </p:nvSpPr>
        <p:spPr>
          <a:xfrm>
            <a:off x="1162050" y="53816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93" name="Text 91"/>
          <p:cNvSpPr/>
          <p:nvPr/>
        </p:nvSpPr>
        <p:spPr>
          <a:xfrm>
            <a:off x="1162050" y="54102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94" name="Text 92"/>
          <p:cNvSpPr/>
          <p:nvPr/>
        </p:nvSpPr>
        <p:spPr>
          <a:xfrm>
            <a:off x="2286000" y="53911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5B6B7C"/>
                </a:solidFill>
                <a:latin typeface="Calibri" pitchFamily="34" charset="0"/>
                <a:ea typeface="Calibri" pitchFamily="34" charset="-122"/>
                <a:cs typeface="Calibri" pitchFamily="34" charset="-120"/>
              </a:rPr>
              <a:t>not run</a:t>
            </a:r>
            <a:endParaRPr lang="en-US" sz="950" dirty="0"/>
          </a:p>
        </p:txBody>
      </p:sp>
      <p:sp>
        <p:nvSpPr>
          <p:cNvPr id="95" name="Text 93"/>
          <p:cNvSpPr/>
          <p:nvPr/>
        </p:nvSpPr>
        <p:spPr>
          <a:xfrm>
            <a:off x="685800" y="56007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Static path asymmetry</a:t>
            </a:r>
            <a:endParaRPr lang="en-US" sz="1120" dirty="0"/>
          </a:p>
        </p:txBody>
      </p:sp>
      <p:sp>
        <p:nvSpPr>
          <p:cNvPr id="96" name="Shape 94"/>
          <p:cNvSpPr/>
          <p:nvPr/>
        </p:nvSpPr>
        <p:spPr>
          <a:xfrm>
            <a:off x="3390900" y="5295900"/>
            <a:ext cx="2619375" cy="609600"/>
          </a:xfrm>
          <a:prstGeom prst="roundRect">
            <a:avLst>
              <a:gd name="adj" fmla="val 6000"/>
            </a:avLst>
          </a:prstGeom>
          <a:solidFill>
            <a:srgbClr val="F6E4E0"/>
          </a:solidFill>
          <a:ln w="12700">
            <a:solidFill>
              <a:srgbClr val="B3402F"/>
            </a:solidFill>
            <a:prstDash val="solid"/>
          </a:ln>
        </p:spPr>
        <p:txBody>
          <a:bodyPr/>
          <a:lstStyle/>
          <a:p>
            <a:endParaRPr lang="en-IN"/>
          </a:p>
        </p:txBody>
      </p:sp>
      <p:sp>
        <p:nvSpPr>
          <p:cNvPr id="97" name="Text 95"/>
          <p:cNvSpPr/>
          <p:nvPr/>
        </p:nvSpPr>
        <p:spPr>
          <a:xfrm>
            <a:off x="3505200" y="53721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B6</a:t>
            </a:r>
            <a:endParaRPr lang="en-US" sz="1400" dirty="0"/>
          </a:p>
        </p:txBody>
      </p:sp>
      <p:sp>
        <p:nvSpPr>
          <p:cNvPr id="98" name="Shape 96"/>
          <p:cNvSpPr/>
          <p:nvPr/>
        </p:nvSpPr>
        <p:spPr>
          <a:xfrm>
            <a:off x="3981450" y="53816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99" name="Text 97"/>
          <p:cNvSpPr/>
          <p:nvPr/>
        </p:nvSpPr>
        <p:spPr>
          <a:xfrm>
            <a:off x="3981450" y="54102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HW</a:t>
            </a:r>
            <a:endParaRPr lang="en-US" sz="950" dirty="0"/>
          </a:p>
        </p:txBody>
      </p:sp>
      <p:sp>
        <p:nvSpPr>
          <p:cNvPr id="100" name="Text 98"/>
          <p:cNvSpPr/>
          <p:nvPr/>
        </p:nvSpPr>
        <p:spPr>
          <a:xfrm>
            <a:off x="5105400" y="53911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B3402F"/>
                </a:solidFill>
                <a:latin typeface="Calibri" pitchFamily="34" charset="0"/>
                <a:ea typeface="Calibri" pitchFamily="34" charset="-122"/>
                <a:cs typeface="Calibri" pitchFamily="34" charset="-120"/>
              </a:rPr>
              <a:t>blocked</a:t>
            </a:r>
            <a:endParaRPr lang="en-US" sz="950" dirty="0"/>
          </a:p>
        </p:txBody>
      </p:sp>
      <p:sp>
        <p:nvSpPr>
          <p:cNvPr id="101" name="Text 99"/>
          <p:cNvSpPr/>
          <p:nvPr/>
        </p:nvSpPr>
        <p:spPr>
          <a:xfrm>
            <a:off x="3505200" y="56007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Oscillator drift</a:t>
            </a:r>
            <a:endParaRPr lang="en-US" sz="1120" dirty="0"/>
          </a:p>
        </p:txBody>
      </p:sp>
      <p:sp>
        <p:nvSpPr>
          <p:cNvPr id="102" name="Shape 100"/>
          <p:cNvSpPr/>
          <p:nvPr/>
        </p:nvSpPr>
        <p:spPr>
          <a:xfrm>
            <a:off x="6210300" y="5295900"/>
            <a:ext cx="2619375" cy="609600"/>
          </a:xfrm>
          <a:prstGeom prst="roundRect">
            <a:avLst>
              <a:gd name="adj" fmla="val 6000"/>
            </a:avLst>
          </a:prstGeom>
          <a:solidFill>
            <a:srgbClr val="E3F3EA"/>
          </a:solidFill>
          <a:ln w="12700">
            <a:solidFill>
              <a:srgbClr val="1E8E5A"/>
            </a:solidFill>
            <a:prstDash val="solid"/>
          </a:ln>
        </p:spPr>
        <p:txBody>
          <a:bodyPr/>
          <a:lstStyle/>
          <a:p>
            <a:endParaRPr lang="en-IN"/>
          </a:p>
        </p:txBody>
      </p:sp>
      <p:sp>
        <p:nvSpPr>
          <p:cNvPr id="103" name="Text 101"/>
          <p:cNvSpPr/>
          <p:nvPr/>
        </p:nvSpPr>
        <p:spPr>
          <a:xfrm>
            <a:off x="6324600" y="53721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B7</a:t>
            </a:r>
            <a:endParaRPr lang="en-US" sz="1400" dirty="0"/>
          </a:p>
        </p:txBody>
      </p:sp>
      <p:sp>
        <p:nvSpPr>
          <p:cNvPr id="104" name="Shape 102"/>
          <p:cNvSpPr/>
          <p:nvPr/>
        </p:nvSpPr>
        <p:spPr>
          <a:xfrm>
            <a:off x="6800850" y="53816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105" name="Text 103"/>
          <p:cNvSpPr/>
          <p:nvPr/>
        </p:nvSpPr>
        <p:spPr>
          <a:xfrm>
            <a:off x="6800850" y="54102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106" name="Text 104"/>
          <p:cNvSpPr/>
          <p:nvPr/>
        </p:nvSpPr>
        <p:spPr>
          <a:xfrm>
            <a:off x="7924800" y="53911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1E8E5A"/>
                </a:solidFill>
                <a:latin typeface="Calibri" pitchFamily="34" charset="0"/>
                <a:ea typeface="Calibri" pitchFamily="34" charset="-122"/>
                <a:cs typeface="Calibri" pitchFamily="34" charset="-120"/>
              </a:rPr>
              <a:t>TESTED</a:t>
            </a:r>
            <a:endParaRPr lang="en-US" sz="950" dirty="0"/>
          </a:p>
        </p:txBody>
      </p:sp>
      <p:sp>
        <p:nvSpPr>
          <p:cNvPr id="107" name="Text 105"/>
          <p:cNvSpPr/>
          <p:nvPr/>
        </p:nvSpPr>
        <p:spPr>
          <a:xfrm>
            <a:off x="6324600" y="56007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Topology reconfiguration</a:t>
            </a:r>
            <a:endParaRPr lang="en-US" sz="1120" dirty="0"/>
          </a:p>
        </p:txBody>
      </p:sp>
      <p:sp>
        <p:nvSpPr>
          <p:cNvPr id="108" name="Shape 106"/>
          <p:cNvSpPr/>
          <p:nvPr/>
        </p:nvSpPr>
        <p:spPr>
          <a:xfrm>
            <a:off x="9029700" y="5295900"/>
            <a:ext cx="2619375" cy="609600"/>
          </a:xfrm>
          <a:prstGeom prst="roundRect">
            <a:avLst>
              <a:gd name="adj" fmla="val 6000"/>
            </a:avLst>
          </a:prstGeom>
          <a:solidFill>
            <a:srgbClr val="FFFFFF"/>
          </a:solidFill>
          <a:ln w="12700">
            <a:solidFill>
              <a:srgbClr val="D7E1EA"/>
            </a:solidFill>
            <a:prstDash val="solid"/>
          </a:ln>
        </p:spPr>
        <p:txBody>
          <a:bodyPr/>
          <a:lstStyle/>
          <a:p>
            <a:endParaRPr lang="en-IN"/>
          </a:p>
        </p:txBody>
      </p:sp>
      <p:sp>
        <p:nvSpPr>
          <p:cNvPr id="109" name="Text 107"/>
          <p:cNvSpPr/>
          <p:nvPr/>
        </p:nvSpPr>
        <p:spPr>
          <a:xfrm>
            <a:off x="9144000" y="5372100"/>
            <a:ext cx="4762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B8</a:t>
            </a:r>
            <a:endParaRPr lang="en-US" sz="1400" dirty="0"/>
          </a:p>
        </p:txBody>
      </p:sp>
      <p:sp>
        <p:nvSpPr>
          <p:cNvPr id="110" name="Shape 108"/>
          <p:cNvSpPr/>
          <p:nvPr/>
        </p:nvSpPr>
        <p:spPr>
          <a:xfrm>
            <a:off x="9620250" y="5381625"/>
            <a:ext cx="381000" cy="180975"/>
          </a:xfrm>
          <a:prstGeom prst="roundRect">
            <a:avLst>
              <a:gd name="adj" fmla="val 20211"/>
            </a:avLst>
          </a:prstGeom>
          <a:solidFill>
            <a:srgbClr val="EAF2F8"/>
          </a:solidFill>
          <a:ln w="12700">
            <a:solidFill>
              <a:srgbClr val="D7E1EA"/>
            </a:solidFill>
            <a:prstDash val="solid"/>
          </a:ln>
        </p:spPr>
        <p:txBody>
          <a:bodyPr/>
          <a:lstStyle/>
          <a:p>
            <a:endParaRPr lang="en-IN"/>
          </a:p>
        </p:txBody>
      </p:sp>
      <p:sp>
        <p:nvSpPr>
          <p:cNvPr id="111" name="Text 109"/>
          <p:cNvSpPr/>
          <p:nvPr/>
        </p:nvSpPr>
        <p:spPr>
          <a:xfrm>
            <a:off x="9620250" y="5410200"/>
            <a:ext cx="381000" cy="142875"/>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C7293"/>
                </a:solidFill>
                <a:latin typeface="Calibri" pitchFamily="34" charset="0"/>
                <a:ea typeface="Calibri" pitchFamily="34" charset="-122"/>
                <a:cs typeface="Calibri" pitchFamily="34" charset="-120"/>
              </a:rPr>
              <a:t>SW</a:t>
            </a:r>
            <a:endParaRPr lang="en-US" sz="950" dirty="0"/>
          </a:p>
        </p:txBody>
      </p:sp>
      <p:sp>
        <p:nvSpPr>
          <p:cNvPr id="112" name="Text 110"/>
          <p:cNvSpPr/>
          <p:nvPr/>
        </p:nvSpPr>
        <p:spPr>
          <a:xfrm>
            <a:off x="10744200" y="5391150"/>
            <a:ext cx="809625" cy="171450"/>
          </a:xfrm>
          <a:prstGeom prst="rect">
            <a:avLst/>
          </a:prstGeom>
          <a:noFill/>
          <a:ln/>
        </p:spPr>
        <p:txBody>
          <a:bodyPr wrap="square" lIns="0" tIns="0" rIns="0" bIns="0" rtlCol="0" anchor="t">
            <a:normAutofit/>
          </a:bodyPr>
          <a:lstStyle/>
          <a:p>
            <a:pPr marL="0" indent="0" algn="r">
              <a:lnSpc>
                <a:spcPct val="100000"/>
              </a:lnSpc>
              <a:buNone/>
            </a:pPr>
            <a:r>
              <a:rPr lang="en-US" sz="950" b="1" dirty="0">
                <a:solidFill>
                  <a:srgbClr val="5B6B7C"/>
                </a:solidFill>
                <a:latin typeface="Calibri" pitchFamily="34" charset="0"/>
                <a:ea typeface="Calibri" pitchFamily="34" charset="-122"/>
                <a:cs typeface="Calibri" pitchFamily="34" charset="-120"/>
              </a:rPr>
              <a:t>not run</a:t>
            </a:r>
            <a:endParaRPr lang="en-US" sz="950" dirty="0"/>
          </a:p>
        </p:txBody>
      </p:sp>
      <p:sp>
        <p:nvSpPr>
          <p:cNvPr id="113" name="Text 111"/>
          <p:cNvSpPr/>
          <p:nvPr/>
        </p:nvSpPr>
        <p:spPr>
          <a:xfrm>
            <a:off x="9144000" y="5600700"/>
            <a:ext cx="2409825" cy="266700"/>
          </a:xfrm>
          <a:prstGeom prst="rect">
            <a:avLst/>
          </a:prstGeom>
          <a:noFill/>
          <a:ln/>
        </p:spPr>
        <p:txBody>
          <a:bodyPr wrap="square" lIns="0" tIns="0" rIns="0" bIns="0" rtlCol="0" anchor="t">
            <a:normAutofit/>
          </a:bodyPr>
          <a:lstStyle/>
          <a:p>
            <a:pPr marL="0" indent="0" algn="l">
              <a:lnSpc>
                <a:spcPct val="100000"/>
              </a:lnSpc>
              <a:buNone/>
            </a:pPr>
            <a:r>
              <a:rPr lang="en-US" sz="1120" dirty="0">
                <a:solidFill>
                  <a:srgbClr val="5B6B7C"/>
                </a:solidFill>
                <a:latin typeface="Calibri" pitchFamily="34" charset="0"/>
                <a:ea typeface="Calibri" pitchFamily="34" charset="-122"/>
                <a:cs typeface="Calibri" pitchFamily="34" charset="-120"/>
              </a:rPr>
              <a:t>Measurement noise floor</a:t>
            </a:r>
            <a:endParaRPr lang="en-US" sz="1120" dirty="0"/>
          </a:p>
        </p:txBody>
      </p:sp>
      <p:sp>
        <p:nvSpPr>
          <p:cNvPr id="114" name="Shape 112"/>
          <p:cNvSpPr/>
          <p:nvPr/>
        </p:nvSpPr>
        <p:spPr>
          <a:xfrm>
            <a:off x="571500" y="6038850"/>
            <a:ext cx="11049000" cy="571500"/>
          </a:xfrm>
          <a:prstGeom prst="roundRect">
            <a:avLst>
              <a:gd name="adj" fmla="val 6400"/>
            </a:avLst>
          </a:prstGeom>
          <a:solidFill>
            <a:srgbClr val="0E2440"/>
          </a:solidFill>
          <a:ln w="12700">
            <a:solidFill>
              <a:srgbClr val="0E2440"/>
            </a:solidFill>
            <a:prstDash val="solid"/>
          </a:ln>
        </p:spPr>
        <p:txBody>
          <a:bodyPr/>
          <a:lstStyle/>
          <a:p>
            <a:endParaRPr lang="en-IN"/>
          </a:p>
        </p:txBody>
      </p:sp>
      <p:sp>
        <p:nvSpPr>
          <p:cNvPr id="115" name="Text 113"/>
          <p:cNvSpPr/>
          <p:nvPr/>
        </p:nvSpPr>
        <p:spPr>
          <a:xfrm>
            <a:off x="781050" y="6153150"/>
            <a:ext cx="10629900" cy="36195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FFFFFF"/>
                </a:solidFill>
                <a:latin typeface="Cambria" pitchFamily="34" charset="0"/>
                <a:ea typeface="Cambria" pitchFamily="34" charset="-122"/>
                <a:cs typeface="Cambria" pitchFamily="34" charset="-120"/>
              </a:rPr>
              <a:t>Eight of sixteen catalogued classes were executed. Five require physical timing hardware and cannot be produced here. Three have software detection logic only, where physical impact would need hardware to measure. SW* denotes detection logic without physical-impact measurement.</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CLASSIFICATION METHOD</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Classification Logic and Verdict Assignment</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IEEE 1588-2019 field legality, data-set consistency and sequence continuity  |  ITU-T G.8275.1 profile constraints and clockClass ladder  |  Provisioned operator context supplied per run in context.json</a:t>
            </a:r>
            <a:endParaRPr lang="en-US" sz="1120" dirty="0"/>
          </a:p>
        </p:txBody>
      </p:sp>
      <p:sp>
        <p:nvSpPr>
          <p:cNvPr id="8" name="Shape 6"/>
          <p:cNvSpPr/>
          <p:nvPr/>
        </p:nvSpPr>
        <p:spPr>
          <a:xfrm>
            <a:off x="571500" y="1638300"/>
            <a:ext cx="5381625" cy="1714500"/>
          </a:xfrm>
          <a:prstGeom prst="roundRect">
            <a:avLst>
              <a:gd name="adj" fmla="val 2133"/>
            </a:avLst>
          </a:prstGeom>
          <a:solidFill>
            <a:srgbClr val="FFFFFF"/>
          </a:solidFill>
          <a:ln w="12700">
            <a:solidFill>
              <a:srgbClr val="1E8E5A"/>
            </a:solidFill>
            <a:prstDash val="solid"/>
          </a:ln>
        </p:spPr>
        <p:txBody>
          <a:bodyPr/>
          <a:lstStyle/>
          <a:p>
            <a:endParaRPr lang="en-IN"/>
          </a:p>
        </p:txBody>
      </p:sp>
      <p:sp>
        <p:nvSpPr>
          <p:cNvPr id="9" name="Shape 7"/>
          <p:cNvSpPr/>
          <p:nvPr/>
        </p:nvSpPr>
        <p:spPr>
          <a:xfrm>
            <a:off x="571500" y="1638300"/>
            <a:ext cx="47625" cy="1714500"/>
          </a:xfrm>
          <a:prstGeom prst="rect">
            <a:avLst/>
          </a:prstGeom>
          <a:solidFill>
            <a:srgbClr val="1E8E5A"/>
          </a:solidFill>
          <a:ln/>
        </p:spPr>
        <p:txBody>
          <a:bodyPr/>
          <a:lstStyle/>
          <a:p>
            <a:endParaRPr lang="en-IN"/>
          </a:p>
        </p:txBody>
      </p:sp>
      <p:sp>
        <p:nvSpPr>
          <p:cNvPr id="10" name="Text 8"/>
          <p:cNvSpPr/>
          <p:nvPr/>
        </p:nvSpPr>
        <p:spPr>
          <a:xfrm>
            <a:off x="800100" y="1790700"/>
            <a:ext cx="38100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E8E5A"/>
                </a:solidFill>
                <a:latin typeface="Calibri" pitchFamily="34" charset="0"/>
                <a:ea typeface="Calibri" pitchFamily="34" charset="-122"/>
                <a:cs typeface="Calibri" pitchFamily="34" charset="-120"/>
              </a:rPr>
              <a:t>BENIGN FAULT SIGNATURE</a:t>
            </a:r>
            <a:endParaRPr lang="en-US" sz="1200" dirty="0"/>
          </a:p>
        </p:txBody>
      </p:sp>
      <p:sp>
        <p:nvSpPr>
          <p:cNvPr id="11" name="Text 9"/>
          <p:cNvSpPr/>
          <p:nvPr/>
        </p:nvSpPr>
        <p:spPr>
          <a:xfrm>
            <a:off x="800100" y="2038350"/>
            <a:ext cx="4953000" cy="8572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12263A"/>
                </a:solidFill>
                <a:latin typeface="Calibri" pitchFamily="34" charset="0"/>
                <a:ea typeface="Calibri" pitchFamily="34" charset="-122"/>
                <a:cs typeface="Calibri" pitchFamily="34" charset="-120"/>
              </a:rPr>
              <a:t>Degradation that is self-consistent with a declared, standards-compliant state change: clockClass 6 to 7 for a grandmaster entering holdover within specification, stepsRemoved changing consistently with a new topology, or delay variation rising without any field becoming illegal.</a:t>
            </a:r>
            <a:endParaRPr lang="en-US" sz="1360" dirty="0"/>
          </a:p>
        </p:txBody>
      </p:sp>
      <p:sp>
        <p:nvSpPr>
          <p:cNvPr id="12" name="Text 10"/>
          <p:cNvSpPr/>
          <p:nvPr/>
        </p:nvSpPr>
        <p:spPr>
          <a:xfrm>
            <a:off x="800100" y="2990850"/>
            <a:ext cx="4953000" cy="209550"/>
          </a:xfrm>
          <a:prstGeom prst="rect">
            <a:avLst/>
          </a:prstGeom>
          <a:noFill/>
          <a:ln/>
        </p:spPr>
        <p:txBody>
          <a:bodyPr wrap="square" lIns="0" tIns="0" rIns="0" bIns="0" rtlCol="0" anchor="t">
            <a:normAutofit/>
          </a:bodyPr>
          <a:lstStyle/>
          <a:p>
            <a:pPr marL="0" indent="0" algn="l">
              <a:lnSpc>
                <a:spcPct val="100000"/>
              </a:lnSpc>
              <a:buNone/>
            </a:pPr>
            <a:r>
              <a:rPr lang="en-US" sz="1350" b="1" dirty="0">
                <a:solidFill>
                  <a:srgbClr val="1E8E5A"/>
                </a:solidFill>
                <a:latin typeface="Calibri" pitchFamily="34" charset="0"/>
                <a:ea typeface="Calibri" pitchFamily="34" charset="-122"/>
                <a:cs typeface="Calibri" pitchFamily="34" charset="-120"/>
              </a:rPr>
              <a:t>The declaration and the observation agree.</a:t>
            </a:r>
            <a:endParaRPr lang="en-US" sz="1350" dirty="0"/>
          </a:p>
        </p:txBody>
      </p:sp>
      <p:sp>
        <p:nvSpPr>
          <p:cNvPr id="13" name="Shape 11"/>
          <p:cNvSpPr/>
          <p:nvPr/>
        </p:nvSpPr>
        <p:spPr>
          <a:xfrm>
            <a:off x="6238875" y="1638300"/>
            <a:ext cx="5381625" cy="1714500"/>
          </a:xfrm>
          <a:prstGeom prst="roundRect">
            <a:avLst>
              <a:gd name="adj" fmla="val 2133"/>
            </a:avLst>
          </a:prstGeom>
          <a:solidFill>
            <a:srgbClr val="FFFFFF"/>
          </a:solidFill>
          <a:ln w="12700">
            <a:solidFill>
              <a:srgbClr val="B3402F"/>
            </a:solidFill>
            <a:prstDash val="solid"/>
          </a:ln>
        </p:spPr>
        <p:txBody>
          <a:bodyPr/>
          <a:lstStyle/>
          <a:p>
            <a:endParaRPr lang="en-IN"/>
          </a:p>
        </p:txBody>
      </p:sp>
      <p:sp>
        <p:nvSpPr>
          <p:cNvPr id="14" name="Shape 12"/>
          <p:cNvSpPr/>
          <p:nvPr/>
        </p:nvSpPr>
        <p:spPr>
          <a:xfrm>
            <a:off x="6238875" y="1638300"/>
            <a:ext cx="47625" cy="1714500"/>
          </a:xfrm>
          <a:prstGeom prst="rect">
            <a:avLst/>
          </a:prstGeom>
          <a:solidFill>
            <a:srgbClr val="B3402F"/>
          </a:solidFill>
          <a:ln/>
        </p:spPr>
        <p:txBody>
          <a:bodyPr/>
          <a:lstStyle/>
          <a:p>
            <a:endParaRPr lang="en-IN"/>
          </a:p>
        </p:txBody>
      </p:sp>
      <p:sp>
        <p:nvSpPr>
          <p:cNvPr id="15" name="Text 13"/>
          <p:cNvSpPr/>
          <p:nvPr/>
        </p:nvSpPr>
        <p:spPr>
          <a:xfrm>
            <a:off x="6467475" y="1790700"/>
            <a:ext cx="38100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B3402F"/>
                </a:solidFill>
                <a:latin typeface="Calibri" pitchFamily="34" charset="0"/>
                <a:ea typeface="Calibri" pitchFamily="34" charset="-122"/>
                <a:cs typeface="Calibri" pitchFamily="34" charset="-120"/>
              </a:rPr>
              <a:t>ATTACK SIGNATURE</a:t>
            </a:r>
            <a:endParaRPr lang="en-US" sz="1200" dirty="0"/>
          </a:p>
        </p:txBody>
      </p:sp>
      <p:sp>
        <p:nvSpPr>
          <p:cNvPr id="16" name="Text 14"/>
          <p:cNvSpPr/>
          <p:nvPr/>
        </p:nvSpPr>
        <p:spPr>
          <a:xfrm>
            <a:off x="6467475" y="2038350"/>
            <a:ext cx="4953000" cy="8572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12263A"/>
                </a:solidFill>
                <a:latin typeface="Calibri" pitchFamily="34" charset="0"/>
                <a:ea typeface="Calibri" pitchFamily="34" charset="-122"/>
                <a:cs typeface="Calibri" pitchFamily="34" charset="-120"/>
              </a:rPr>
              <a:t>Evidence that is illegal or unauthorised: forged Announce fields, non-monotonic sequence identifiers, structurally invalid frames, a delivered message rate below the rate the source itself declares, or a superior clock whose identity is outside the provisioned allow-list.</a:t>
            </a:r>
            <a:endParaRPr lang="en-US" sz="1360" dirty="0"/>
          </a:p>
        </p:txBody>
      </p:sp>
      <p:sp>
        <p:nvSpPr>
          <p:cNvPr id="17" name="Text 15"/>
          <p:cNvSpPr/>
          <p:nvPr/>
        </p:nvSpPr>
        <p:spPr>
          <a:xfrm>
            <a:off x="6467475" y="2990850"/>
            <a:ext cx="4953000" cy="209550"/>
          </a:xfrm>
          <a:prstGeom prst="rect">
            <a:avLst/>
          </a:prstGeom>
          <a:noFill/>
          <a:ln/>
        </p:spPr>
        <p:txBody>
          <a:bodyPr wrap="square" lIns="0" tIns="0" rIns="0" bIns="0" rtlCol="0" anchor="t">
            <a:normAutofit/>
          </a:bodyPr>
          <a:lstStyle/>
          <a:p>
            <a:pPr marL="0" indent="0" algn="l">
              <a:lnSpc>
                <a:spcPct val="100000"/>
              </a:lnSpc>
              <a:buNone/>
            </a:pPr>
            <a:r>
              <a:rPr lang="en-US" sz="1350" b="1" dirty="0">
                <a:solidFill>
                  <a:srgbClr val="B3402F"/>
                </a:solidFill>
                <a:latin typeface="Calibri" pitchFamily="34" charset="0"/>
                <a:ea typeface="Calibri" pitchFamily="34" charset="-122"/>
                <a:cs typeface="Calibri" pitchFamily="34" charset="-120"/>
              </a:rPr>
              <a:t>The declaration and the observation disagree.</a:t>
            </a:r>
            <a:endParaRPr lang="en-US" sz="1350" dirty="0"/>
          </a:p>
        </p:txBody>
      </p:sp>
      <p:sp>
        <p:nvSpPr>
          <p:cNvPr id="18" name="Text 16"/>
          <p:cNvSpPr/>
          <p:nvPr/>
        </p:nvSpPr>
        <p:spPr>
          <a:xfrm>
            <a:off x="571500" y="3505200"/>
            <a:ext cx="66675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VERDICT ASSIGNMENT AND RECOMMENDED RESPONSE</a:t>
            </a:r>
            <a:endParaRPr lang="en-US" sz="1200" dirty="0"/>
          </a:p>
        </p:txBody>
      </p:sp>
      <p:sp>
        <p:nvSpPr>
          <p:cNvPr id="19" name="Shape 17"/>
          <p:cNvSpPr/>
          <p:nvPr/>
        </p:nvSpPr>
        <p:spPr>
          <a:xfrm>
            <a:off x="571500" y="3771900"/>
            <a:ext cx="3676650" cy="1409700"/>
          </a:xfrm>
          <a:prstGeom prst="roundRect">
            <a:avLst>
              <a:gd name="adj" fmla="val 2595"/>
            </a:avLst>
          </a:prstGeom>
          <a:solidFill>
            <a:srgbClr val="F6E4E0"/>
          </a:solidFill>
          <a:ln w="12700">
            <a:solidFill>
              <a:srgbClr val="B3402F"/>
            </a:solidFill>
            <a:prstDash val="solid"/>
          </a:ln>
        </p:spPr>
        <p:txBody>
          <a:bodyPr/>
          <a:lstStyle/>
          <a:p>
            <a:endParaRPr lang="en-IN"/>
          </a:p>
        </p:txBody>
      </p:sp>
      <p:sp>
        <p:nvSpPr>
          <p:cNvPr id="20" name="Text 18"/>
          <p:cNvSpPr/>
          <p:nvPr/>
        </p:nvSpPr>
        <p:spPr>
          <a:xfrm>
            <a:off x="781050" y="3924300"/>
            <a:ext cx="3238500" cy="266700"/>
          </a:xfrm>
          <a:prstGeom prst="rect">
            <a:avLst/>
          </a:prstGeom>
          <a:noFill/>
          <a:ln/>
        </p:spPr>
        <p:txBody>
          <a:bodyPr wrap="square" lIns="0" tIns="0" rIns="0" bIns="0" rtlCol="0" anchor="t">
            <a:normAutofit/>
          </a:bodyPr>
          <a:lstStyle/>
          <a:p>
            <a:pPr marL="0" indent="0" algn="l">
              <a:lnSpc>
                <a:spcPct val="100000"/>
              </a:lnSpc>
              <a:buNone/>
            </a:pPr>
            <a:r>
              <a:rPr lang="en-US" sz="2200" b="1" dirty="0">
                <a:solidFill>
                  <a:srgbClr val="B3402F"/>
                </a:solidFill>
                <a:latin typeface="Cambria" pitchFamily="34" charset="0"/>
                <a:ea typeface="Cambria" pitchFamily="34" charset="-122"/>
                <a:cs typeface="Cambria" pitchFamily="34" charset="-120"/>
              </a:rPr>
              <a:t>ATTACK</a:t>
            </a:r>
            <a:endParaRPr lang="en-US" sz="2200" dirty="0"/>
          </a:p>
        </p:txBody>
      </p:sp>
      <p:sp>
        <p:nvSpPr>
          <p:cNvPr id="21" name="Text 19"/>
          <p:cNvSpPr/>
          <p:nvPr/>
        </p:nvSpPr>
        <p:spPr>
          <a:xfrm>
            <a:off x="781050" y="4248150"/>
            <a:ext cx="3276600" cy="4191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12263A"/>
                </a:solidFill>
                <a:latin typeface="Calibri" pitchFamily="34" charset="0"/>
                <a:ea typeface="Calibri" pitchFamily="34" charset="-122"/>
                <a:cs typeface="Calibri" pitchFamily="34" charset="-120"/>
              </a:rPr>
              <a:t>Protocol-inconsistent or unauthorised evidence present</a:t>
            </a:r>
            <a:endParaRPr lang="en-US" sz="1300" dirty="0"/>
          </a:p>
        </p:txBody>
      </p:sp>
      <p:sp>
        <p:nvSpPr>
          <p:cNvPr id="22" name="Shape 20"/>
          <p:cNvSpPr/>
          <p:nvPr/>
        </p:nvSpPr>
        <p:spPr>
          <a:xfrm>
            <a:off x="781050" y="4743450"/>
            <a:ext cx="3276600" cy="304800"/>
          </a:xfrm>
          <a:prstGeom prst="roundRect">
            <a:avLst>
              <a:gd name="adj" fmla="val 12000"/>
            </a:avLst>
          </a:prstGeom>
          <a:solidFill>
            <a:srgbClr val="FFFFFF"/>
          </a:solidFill>
          <a:ln w="12700">
            <a:solidFill>
              <a:srgbClr val="B3402F"/>
            </a:solidFill>
            <a:prstDash val="solid"/>
          </a:ln>
        </p:spPr>
        <p:txBody>
          <a:bodyPr/>
          <a:lstStyle/>
          <a:p>
            <a:endParaRPr lang="en-IN"/>
          </a:p>
        </p:txBody>
      </p:sp>
      <p:sp>
        <p:nvSpPr>
          <p:cNvPr id="23" name="Text 21"/>
          <p:cNvSpPr/>
          <p:nvPr/>
        </p:nvSpPr>
        <p:spPr>
          <a:xfrm>
            <a:off x="781050" y="4819650"/>
            <a:ext cx="3276600" cy="190500"/>
          </a:xfrm>
          <a:prstGeom prst="rect">
            <a:avLst/>
          </a:prstGeom>
          <a:noFill/>
          <a:ln/>
        </p:spPr>
        <p:txBody>
          <a:bodyPr wrap="square" lIns="0" tIns="0" rIns="0" bIns="0" rtlCol="0" anchor="t">
            <a:normAutofit/>
          </a:bodyPr>
          <a:lstStyle/>
          <a:p>
            <a:pPr marL="0" indent="0" algn="ctr">
              <a:lnSpc>
                <a:spcPct val="100000"/>
              </a:lnSpc>
              <a:buNone/>
            </a:pPr>
            <a:r>
              <a:rPr lang="en-US" sz="1300" b="1" dirty="0">
                <a:solidFill>
                  <a:srgbClr val="B3402F"/>
                </a:solidFill>
                <a:latin typeface="Calibri" pitchFamily="34" charset="0"/>
                <a:ea typeface="Calibri" pitchFamily="34" charset="-122"/>
                <a:cs typeface="Calibri" pitchFamily="34" charset="-120"/>
              </a:rPr>
              <a:t>ISOLATE</a:t>
            </a:r>
            <a:endParaRPr lang="en-US" sz="1300" dirty="0"/>
          </a:p>
        </p:txBody>
      </p:sp>
      <p:sp>
        <p:nvSpPr>
          <p:cNvPr id="24" name="Shape 22"/>
          <p:cNvSpPr/>
          <p:nvPr/>
        </p:nvSpPr>
        <p:spPr>
          <a:xfrm>
            <a:off x="4257675" y="3771900"/>
            <a:ext cx="3676650" cy="1409700"/>
          </a:xfrm>
          <a:prstGeom prst="roundRect">
            <a:avLst>
              <a:gd name="adj" fmla="val 2595"/>
            </a:avLst>
          </a:prstGeom>
          <a:solidFill>
            <a:srgbClr val="E3F3EA"/>
          </a:solidFill>
          <a:ln w="12700">
            <a:solidFill>
              <a:srgbClr val="1E8E5A"/>
            </a:solidFill>
            <a:prstDash val="solid"/>
          </a:ln>
        </p:spPr>
        <p:txBody>
          <a:bodyPr/>
          <a:lstStyle/>
          <a:p>
            <a:endParaRPr lang="en-IN"/>
          </a:p>
        </p:txBody>
      </p:sp>
      <p:sp>
        <p:nvSpPr>
          <p:cNvPr id="25" name="Text 23"/>
          <p:cNvSpPr/>
          <p:nvPr/>
        </p:nvSpPr>
        <p:spPr>
          <a:xfrm>
            <a:off x="4467225" y="3924300"/>
            <a:ext cx="3238500" cy="266700"/>
          </a:xfrm>
          <a:prstGeom prst="rect">
            <a:avLst/>
          </a:prstGeom>
          <a:noFill/>
          <a:ln/>
        </p:spPr>
        <p:txBody>
          <a:bodyPr wrap="square" lIns="0" tIns="0" rIns="0" bIns="0" rtlCol="0" anchor="t">
            <a:normAutofit/>
          </a:bodyPr>
          <a:lstStyle/>
          <a:p>
            <a:pPr marL="0" indent="0" algn="l">
              <a:lnSpc>
                <a:spcPct val="100000"/>
              </a:lnSpc>
              <a:buNone/>
            </a:pPr>
            <a:r>
              <a:rPr lang="en-US" sz="2200" b="1" dirty="0">
                <a:solidFill>
                  <a:srgbClr val="1E8E5A"/>
                </a:solidFill>
                <a:latin typeface="Cambria" pitchFamily="34" charset="0"/>
                <a:ea typeface="Cambria" pitchFamily="34" charset="-122"/>
                <a:cs typeface="Cambria" pitchFamily="34" charset="-120"/>
              </a:rPr>
              <a:t>BENIGN</a:t>
            </a:r>
            <a:endParaRPr lang="en-US" sz="2200" dirty="0"/>
          </a:p>
        </p:txBody>
      </p:sp>
      <p:sp>
        <p:nvSpPr>
          <p:cNvPr id="26" name="Text 24"/>
          <p:cNvSpPr/>
          <p:nvPr/>
        </p:nvSpPr>
        <p:spPr>
          <a:xfrm>
            <a:off x="4467225" y="4248150"/>
            <a:ext cx="3276600" cy="4191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12263A"/>
                </a:solidFill>
                <a:latin typeface="Calibri" pitchFamily="34" charset="0"/>
                <a:ea typeface="Calibri" pitchFamily="34" charset="-122"/>
                <a:cs typeface="Calibri" pitchFamily="34" charset="-120"/>
              </a:rPr>
              <a:t>Only provisioned clocks, no legality violation</a:t>
            </a:r>
            <a:endParaRPr lang="en-US" sz="1300" dirty="0"/>
          </a:p>
        </p:txBody>
      </p:sp>
      <p:sp>
        <p:nvSpPr>
          <p:cNvPr id="27" name="Shape 25"/>
          <p:cNvSpPr/>
          <p:nvPr/>
        </p:nvSpPr>
        <p:spPr>
          <a:xfrm>
            <a:off x="4467225" y="4743450"/>
            <a:ext cx="3276600" cy="304800"/>
          </a:xfrm>
          <a:prstGeom prst="roundRect">
            <a:avLst>
              <a:gd name="adj" fmla="val 12000"/>
            </a:avLst>
          </a:prstGeom>
          <a:solidFill>
            <a:srgbClr val="FFFFFF"/>
          </a:solidFill>
          <a:ln w="12700">
            <a:solidFill>
              <a:srgbClr val="1E8E5A"/>
            </a:solidFill>
            <a:prstDash val="solid"/>
          </a:ln>
        </p:spPr>
        <p:txBody>
          <a:bodyPr/>
          <a:lstStyle/>
          <a:p>
            <a:endParaRPr lang="en-IN"/>
          </a:p>
        </p:txBody>
      </p:sp>
      <p:sp>
        <p:nvSpPr>
          <p:cNvPr id="28" name="Text 26"/>
          <p:cNvSpPr/>
          <p:nvPr/>
        </p:nvSpPr>
        <p:spPr>
          <a:xfrm>
            <a:off x="4467225" y="4819650"/>
            <a:ext cx="3276600" cy="190500"/>
          </a:xfrm>
          <a:prstGeom prst="rect">
            <a:avLst/>
          </a:prstGeom>
          <a:noFill/>
          <a:ln/>
        </p:spPr>
        <p:txBody>
          <a:bodyPr wrap="square" lIns="0" tIns="0" rIns="0" bIns="0" rtlCol="0" anchor="t">
            <a:normAutofit/>
          </a:bodyPr>
          <a:lstStyle/>
          <a:p>
            <a:pPr marL="0" indent="0" algn="ctr">
              <a:lnSpc>
                <a:spcPct val="100000"/>
              </a:lnSpc>
              <a:buNone/>
            </a:pPr>
            <a:r>
              <a:rPr lang="en-US" sz="1300" b="1" dirty="0">
                <a:solidFill>
                  <a:srgbClr val="1E8E5A"/>
                </a:solidFill>
                <a:latin typeface="Calibri" pitchFamily="34" charset="0"/>
                <a:ea typeface="Calibri" pitchFamily="34" charset="-122"/>
                <a:cs typeface="Calibri" pitchFamily="34" charset="-120"/>
              </a:rPr>
              <a:t>TOLERATE / HOLDOVER</a:t>
            </a:r>
            <a:endParaRPr lang="en-US" sz="1300" dirty="0"/>
          </a:p>
        </p:txBody>
      </p:sp>
      <p:sp>
        <p:nvSpPr>
          <p:cNvPr id="29" name="Shape 27"/>
          <p:cNvSpPr/>
          <p:nvPr/>
        </p:nvSpPr>
        <p:spPr>
          <a:xfrm>
            <a:off x="7943850" y="3771900"/>
            <a:ext cx="3676650" cy="1409700"/>
          </a:xfrm>
          <a:prstGeom prst="roundRect">
            <a:avLst>
              <a:gd name="adj" fmla="val 2595"/>
            </a:avLst>
          </a:prstGeom>
          <a:solidFill>
            <a:srgbClr val="FFF3D6"/>
          </a:solidFill>
          <a:ln w="12700">
            <a:solidFill>
              <a:srgbClr val="C58B18"/>
            </a:solidFill>
            <a:prstDash val="solid"/>
          </a:ln>
        </p:spPr>
        <p:txBody>
          <a:bodyPr/>
          <a:lstStyle/>
          <a:p>
            <a:endParaRPr lang="en-IN"/>
          </a:p>
        </p:txBody>
      </p:sp>
      <p:sp>
        <p:nvSpPr>
          <p:cNvPr id="30" name="Text 28"/>
          <p:cNvSpPr/>
          <p:nvPr/>
        </p:nvSpPr>
        <p:spPr>
          <a:xfrm>
            <a:off x="8153400" y="3924300"/>
            <a:ext cx="3238500" cy="266700"/>
          </a:xfrm>
          <a:prstGeom prst="rect">
            <a:avLst/>
          </a:prstGeom>
          <a:noFill/>
          <a:ln/>
        </p:spPr>
        <p:txBody>
          <a:bodyPr wrap="square" lIns="0" tIns="0" rIns="0" bIns="0" rtlCol="0" anchor="t">
            <a:normAutofit/>
          </a:bodyPr>
          <a:lstStyle/>
          <a:p>
            <a:pPr marL="0" indent="0" algn="l">
              <a:lnSpc>
                <a:spcPct val="100000"/>
              </a:lnSpc>
              <a:buNone/>
            </a:pPr>
            <a:r>
              <a:rPr lang="en-US" sz="2200" b="1" dirty="0">
                <a:solidFill>
                  <a:srgbClr val="C58B18"/>
                </a:solidFill>
                <a:latin typeface="Cambria" pitchFamily="34" charset="0"/>
                <a:ea typeface="Cambria" pitchFamily="34" charset="-122"/>
                <a:cs typeface="Cambria" pitchFamily="34" charset="-120"/>
              </a:rPr>
              <a:t>UNKNOWN</a:t>
            </a:r>
            <a:endParaRPr lang="en-US" sz="2200" dirty="0"/>
          </a:p>
        </p:txBody>
      </p:sp>
      <p:sp>
        <p:nvSpPr>
          <p:cNvPr id="31" name="Text 29"/>
          <p:cNvSpPr/>
          <p:nvPr/>
        </p:nvSpPr>
        <p:spPr>
          <a:xfrm>
            <a:off x="8153400" y="4248150"/>
            <a:ext cx="3276600" cy="4191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12263A"/>
                </a:solidFill>
                <a:latin typeface="Calibri" pitchFamily="34" charset="0"/>
                <a:ea typeface="Calibri" pitchFamily="34" charset="-122"/>
                <a:cs typeface="Calibri" pitchFamily="34" charset="-120"/>
              </a:rPr>
              <a:t>Packet evidence cannot distinguish intent</a:t>
            </a:r>
            <a:endParaRPr lang="en-US" sz="1300" dirty="0"/>
          </a:p>
        </p:txBody>
      </p:sp>
      <p:sp>
        <p:nvSpPr>
          <p:cNvPr id="32" name="Shape 30"/>
          <p:cNvSpPr/>
          <p:nvPr/>
        </p:nvSpPr>
        <p:spPr>
          <a:xfrm>
            <a:off x="8153400" y="4743450"/>
            <a:ext cx="3276600" cy="304800"/>
          </a:xfrm>
          <a:prstGeom prst="roundRect">
            <a:avLst>
              <a:gd name="adj" fmla="val 12000"/>
            </a:avLst>
          </a:prstGeom>
          <a:solidFill>
            <a:srgbClr val="FFFFFF"/>
          </a:solidFill>
          <a:ln w="12700">
            <a:solidFill>
              <a:srgbClr val="C58B18"/>
            </a:solidFill>
            <a:prstDash val="solid"/>
          </a:ln>
        </p:spPr>
        <p:txBody>
          <a:bodyPr/>
          <a:lstStyle/>
          <a:p>
            <a:endParaRPr lang="en-IN"/>
          </a:p>
        </p:txBody>
      </p:sp>
      <p:sp>
        <p:nvSpPr>
          <p:cNvPr id="33" name="Text 31"/>
          <p:cNvSpPr/>
          <p:nvPr/>
        </p:nvSpPr>
        <p:spPr>
          <a:xfrm>
            <a:off x="8153400" y="4819650"/>
            <a:ext cx="3276600" cy="190500"/>
          </a:xfrm>
          <a:prstGeom prst="rect">
            <a:avLst/>
          </a:prstGeom>
          <a:noFill/>
          <a:ln/>
        </p:spPr>
        <p:txBody>
          <a:bodyPr wrap="square" lIns="0" tIns="0" rIns="0" bIns="0" rtlCol="0" anchor="t">
            <a:normAutofit/>
          </a:bodyPr>
          <a:lstStyle/>
          <a:p>
            <a:pPr marL="0" indent="0" algn="ctr">
              <a:lnSpc>
                <a:spcPct val="100000"/>
              </a:lnSpc>
              <a:buNone/>
            </a:pPr>
            <a:r>
              <a:rPr lang="en-US" sz="1300" b="1" dirty="0">
                <a:solidFill>
                  <a:srgbClr val="C58B18"/>
                </a:solidFill>
                <a:latin typeface="Calibri" pitchFamily="34" charset="0"/>
                <a:ea typeface="Calibri" pitchFamily="34" charset="-122"/>
                <a:cs typeface="Calibri" pitchFamily="34" charset="-120"/>
              </a:rPr>
              <a:t>ESCALATE</a:t>
            </a:r>
            <a:endParaRPr lang="en-US" sz="1300" dirty="0"/>
          </a:p>
        </p:txBody>
      </p:sp>
      <p:sp>
        <p:nvSpPr>
          <p:cNvPr id="34" name="Text 32"/>
          <p:cNvSpPr/>
          <p:nvPr/>
        </p:nvSpPr>
        <p:spPr>
          <a:xfrm>
            <a:off x="571500" y="5257800"/>
            <a:ext cx="11049000" cy="190500"/>
          </a:xfrm>
          <a:prstGeom prst="rect">
            <a:avLst/>
          </a:prstGeom>
          <a:noFill/>
          <a:ln/>
        </p:spPr>
        <p:txBody>
          <a:bodyPr wrap="square" lIns="0" tIns="0" rIns="0" bIns="0" rtlCol="0" anchor="t">
            <a:normAutofit/>
          </a:bodyPr>
          <a:lstStyle/>
          <a:p>
            <a:pPr marL="0" indent="0" algn="l">
              <a:lnSpc>
                <a:spcPct val="100000"/>
              </a:lnSpc>
              <a:buNone/>
            </a:pPr>
            <a:r>
              <a:rPr lang="en-US" sz="1200" i="1" dirty="0">
                <a:solidFill>
                  <a:srgbClr val="5B6B7C"/>
                </a:solidFill>
                <a:latin typeface="Calibri" pitchFamily="34" charset="0"/>
                <a:ea typeface="Calibri" pitchFamily="34" charset="-122"/>
                <a:cs typeface="Calibri" pitchFamily="34" charset="-120"/>
              </a:rPr>
              <a:t>Recommended response labels only. No corrective action was executed in this 168-run campaign.</a:t>
            </a:r>
            <a:endParaRPr lang="en-US" sz="1200" dirty="0"/>
          </a:p>
        </p:txBody>
      </p:sp>
      <p:sp>
        <p:nvSpPr>
          <p:cNvPr id="35" name="Shape 33"/>
          <p:cNvSpPr/>
          <p:nvPr/>
        </p:nvSpPr>
        <p:spPr>
          <a:xfrm>
            <a:off x="571500" y="5581650"/>
            <a:ext cx="11049000" cy="628650"/>
          </a:xfrm>
          <a:prstGeom prst="roundRect">
            <a:avLst>
              <a:gd name="adj" fmla="val 5818"/>
            </a:avLst>
          </a:prstGeom>
          <a:solidFill>
            <a:srgbClr val="0E2440"/>
          </a:solidFill>
          <a:ln w="12700">
            <a:solidFill>
              <a:srgbClr val="0E2440"/>
            </a:solidFill>
            <a:prstDash val="solid"/>
          </a:ln>
        </p:spPr>
        <p:txBody>
          <a:bodyPr/>
          <a:lstStyle/>
          <a:p>
            <a:endParaRPr lang="en-IN"/>
          </a:p>
        </p:txBody>
      </p:sp>
      <p:sp>
        <p:nvSpPr>
          <p:cNvPr id="36" name="Text 34"/>
          <p:cNvSpPr/>
          <p:nvPr/>
        </p:nvSpPr>
        <p:spPr>
          <a:xfrm>
            <a:off x="781050" y="5695950"/>
            <a:ext cx="10629900" cy="41910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FFFFFF"/>
                </a:solidFill>
                <a:latin typeface="Cambria" pitchFamily="34" charset="0"/>
                <a:ea typeface="Cambria" pitchFamily="34" charset="-122"/>
                <a:cs typeface="Cambria" pitchFamily="34" charset="-120"/>
              </a:rPr>
              <a:t>The worked discriminator: a grandmaster suddenly changes. It could be B2, a planned failover, or A1, BMCA spoofing. The decisive test is whether the new clock identity appears on the provisioned allow-list and whether a maintenance window is open. Both scenarios were classified correctly at 12/12.</a:t>
            </a:r>
            <a:endParaRPr lang="en-US" sz="1220" dirty="0"/>
          </a:p>
        </p:txBody>
      </p:sp>
      <p:sp>
        <p:nvSpPr>
          <p:cNvPr id="37" name="Shape 35"/>
          <p:cNvSpPr/>
          <p:nvPr/>
        </p:nvSpPr>
        <p:spPr>
          <a:xfrm>
            <a:off x="571500" y="6305550"/>
            <a:ext cx="11049000" cy="495300"/>
          </a:xfrm>
          <a:prstGeom prst="roundRect">
            <a:avLst>
              <a:gd name="adj" fmla="val 7385"/>
            </a:avLst>
          </a:prstGeom>
          <a:solidFill>
            <a:srgbClr val="DDF5EF"/>
          </a:solidFill>
          <a:ln w="12700">
            <a:solidFill>
              <a:srgbClr val="18B89A"/>
            </a:solidFill>
            <a:prstDash val="solid"/>
          </a:ln>
        </p:spPr>
        <p:txBody>
          <a:bodyPr/>
          <a:lstStyle/>
          <a:p>
            <a:endParaRPr lang="en-IN"/>
          </a:p>
        </p:txBody>
      </p:sp>
      <p:sp>
        <p:nvSpPr>
          <p:cNvPr id="38" name="Text 36"/>
          <p:cNvSpPr/>
          <p:nvPr/>
        </p:nvSpPr>
        <p:spPr>
          <a:xfrm>
            <a:off x="781050" y="6429375"/>
            <a:ext cx="10629900" cy="2667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0B5547"/>
                </a:solidFill>
                <a:latin typeface="Cambria" pitchFamily="34" charset="0"/>
                <a:ea typeface="Cambria" pitchFamily="34" charset="-122"/>
                <a:cs typeface="Cambria" pitchFamily="34" charset="-120"/>
              </a:rPr>
              <a:t>On the deliberately ambiguous unplanned failover the rule returned UNKNOWN on 12 of 12 runs. A BENIGN call there would be an unsafe over-claim and an ATTACK call a false alarm; both are treated as failures.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EXPERIMENT DESIGN</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Campaign Design and Reproducibility Controls</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Decision rule SHA-256 hashed before execution (FROZEN.json)  |  Per-replicate randomisation seeded from the replicate number  |  Pre-registered expected verdicts  |  Full run inventory in EVALUATION_V4.json</a:t>
            </a:r>
            <a:endParaRPr lang="en-US" sz="1120" dirty="0"/>
          </a:p>
        </p:txBody>
      </p:sp>
      <p:sp>
        <p:nvSpPr>
          <p:cNvPr id="8" name="Shape 6"/>
          <p:cNvSpPr/>
          <p:nvPr/>
        </p:nvSpPr>
        <p:spPr>
          <a:xfrm>
            <a:off x="571500" y="1676400"/>
            <a:ext cx="2619375" cy="914400"/>
          </a:xfrm>
          <a:prstGeom prst="roundRect">
            <a:avLst>
              <a:gd name="adj" fmla="val 4000"/>
            </a:avLst>
          </a:prstGeom>
          <a:solidFill>
            <a:srgbClr val="0E2440"/>
          </a:solidFill>
          <a:ln w="12700">
            <a:solidFill>
              <a:srgbClr val="0E2440"/>
            </a:solidFill>
            <a:prstDash val="solid"/>
          </a:ln>
        </p:spPr>
        <p:txBody>
          <a:bodyPr/>
          <a:lstStyle/>
          <a:p>
            <a:endParaRPr lang="en-IN"/>
          </a:p>
        </p:txBody>
      </p:sp>
      <p:sp>
        <p:nvSpPr>
          <p:cNvPr id="9" name="Text 7"/>
          <p:cNvSpPr/>
          <p:nvPr/>
        </p:nvSpPr>
        <p:spPr>
          <a:xfrm>
            <a:off x="571500" y="1847850"/>
            <a:ext cx="2619375" cy="381000"/>
          </a:xfrm>
          <a:prstGeom prst="rect">
            <a:avLst/>
          </a:prstGeom>
          <a:noFill/>
          <a:ln/>
        </p:spPr>
        <p:txBody>
          <a:bodyPr wrap="square" lIns="0" tIns="0" rIns="0" bIns="0" rtlCol="0" anchor="t">
            <a:normAutofit/>
          </a:bodyPr>
          <a:lstStyle/>
          <a:p>
            <a:pPr marL="0" indent="0" algn="ctr">
              <a:lnSpc>
                <a:spcPct val="100000"/>
              </a:lnSpc>
              <a:buNone/>
            </a:pPr>
            <a:r>
              <a:rPr lang="en-US" sz="3400" b="1" dirty="0">
                <a:solidFill>
                  <a:srgbClr val="18B89A"/>
                </a:solidFill>
                <a:latin typeface="Cambria" pitchFamily="34" charset="0"/>
                <a:ea typeface="Cambria" pitchFamily="34" charset="-122"/>
                <a:cs typeface="Cambria" pitchFamily="34" charset="-120"/>
              </a:rPr>
              <a:t>168</a:t>
            </a:r>
            <a:endParaRPr lang="en-US" sz="3400" dirty="0"/>
          </a:p>
        </p:txBody>
      </p:sp>
      <p:sp>
        <p:nvSpPr>
          <p:cNvPr id="10" name="Text 8"/>
          <p:cNvSpPr/>
          <p:nvPr/>
        </p:nvSpPr>
        <p:spPr>
          <a:xfrm>
            <a:off x="685800" y="2266950"/>
            <a:ext cx="2390775" cy="228600"/>
          </a:xfrm>
          <a:prstGeom prst="rect">
            <a:avLst/>
          </a:prstGeom>
          <a:noFill/>
          <a:ln/>
        </p:spPr>
        <p:txBody>
          <a:bodyPr wrap="square" lIns="0" tIns="0" rIns="0" bIns="0" rtlCol="0" anchor="t">
            <a:normAutofit/>
          </a:bodyPr>
          <a:lstStyle/>
          <a:p>
            <a:pPr marL="0" indent="0" algn="ctr">
              <a:lnSpc>
                <a:spcPct val="100000"/>
              </a:lnSpc>
              <a:buNone/>
            </a:pPr>
            <a:r>
              <a:rPr lang="en-US" sz="1150" dirty="0">
                <a:solidFill>
                  <a:srgbClr val="CFD9E5"/>
                </a:solidFill>
                <a:latin typeface="Calibri" pitchFamily="34" charset="0"/>
                <a:ea typeface="Calibri" pitchFamily="34" charset="-122"/>
                <a:cs typeface="Calibri" pitchFamily="34" charset="-120"/>
              </a:rPr>
              <a:t>live on-wire runs</a:t>
            </a:r>
            <a:endParaRPr lang="en-US" sz="1150" dirty="0"/>
          </a:p>
        </p:txBody>
      </p:sp>
      <p:sp>
        <p:nvSpPr>
          <p:cNvPr id="11" name="Shape 9"/>
          <p:cNvSpPr/>
          <p:nvPr/>
        </p:nvSpPr>
        <p:spPr>
          <a:xfrm>
            <a:off x="3381375" y="1676400"/>
            <a:ext cx="2619375" cy="914400"/>
          </a:xfrm>
          <a:prstGeom prst="roundRect">
            <a:avLst>
              <a:gd name="adj" fmla="val 4000"/>
            </a:avLst>
          </a:prstGeom>
          <a:solidFill>
            <a:srgbClr val="0E2440"/>
          </a:solidFill>
          <a:ln w="12700">
            <a:solidFill>
              <a:srgbClr val="0E2440"/>
            </a:solidFill>
            <a:prstDash val="solid"/>
          </a:ln>
        </p:spPr>
        <p:txBody>
          <a:bodyPr/>
          <a:lstStyle/>
          <a:p>
            <a:endParaRPr lang="en-IN"/>
          </a:p>
        </p:txBody>
      </p:sp>
      <p:sp>
        <p:nvSpPr>
          <p:cNvPr id="12" name="Text 10"/>
          <p:cNvSpPr/>
          <p:nvPr/>
        </p:nvSpPr>
        <p:spPr>
          <a:xfrm>
            <a:off x="3381375" y="1847850"/>
            <a:ext cx="2619375" cy="381000"/>
          </a:xfrm>
          <a:prstGeom prst="rect">
            <a:avLst/>
          </a:prstGeom>
          <a:noFill/>
          <a:ln/>
        </p:spPr>
        <p:txBody>
          <a:bodyPr wrap="square" lIns="0" tIns="0" rIns="0" bIns="0" rtlCol="0" anchor="t">
            <a:normAutofit/>
          </a:bodyPr>
          <a:lstStyle/>
          <a:p>
            <a:pPr marL="0" indent="0" algn="ctr">
              <a:lnSpc>
                <a:spcPct val="100000"/>
              </a:lnSpc>
              <a:buNone/>
            </a:pPr>
            <a:r>
              <a:rPr lang="en-US" sz="3400" b="1" dirty="0">
                <a:solidFill>
                  <a:srgbClr val="18B89A"/>
                </a:solidFill>
                <a:latin typeface="Cambria" pitchFamily="34" charset="0"/>
                <a:ea typeface="Cambria" pitchFamily="34" charset="-122"/>
                <a:cs typeface="Cambria" pitchFamily="34" charset="-120"/>
              </a:rPr>
              <a:t>14</a:t>
            </a:r>
            <a:endParaRPr lang="en-US" sz="3400" dirty="0"/>
          </a:p>
        </p:txBody>
      </p:sp>
      <p:sp>
        <p:nvSpPr>
          <p:cNvPr id="13" name="Text 11"/>
          <p:cNvSpPr/>
          <p:nvPr/>
        </p:nvSpPr>
        <p:spPr>
          <a:xfrm>
            <a:off x="3495675" y="2266950"/>
            <a:ext cx="2390775" cy="228600"/>
          </a:xfrm>
          <a:prstGeom prst="rect">
            <a:avLst/>
          </a:prstGeom>
          <a:noFill/>
          <a:ln/>
        </p:spPr>
        <p:txBody>
          <a:bodyPr wrap="square" lIns="0" tIns="0" rIns="0" bIns="0" rtlCol="0" anchor="t">
            <a:normAutofit/>
          </a:bodyPr>
          <a:lstStyle/>
          <a:p>
            <a:pPr marL="0" indent="0" algn="ctr">
              <a:lnSpc>
                <a:spcPct val="100000"/>
              </a:lnSpc>
              <a:buNone/>
            </a:pPr>
            <a:r>
              <a:rPr lang="en-US" sz="1150" dirty="0">
                <a:solidFill>
                  <a:srgbClr val="CFD9E5"/>
                </a:solidFill>
                <a:latin typeface="Calibri" pitchFamily="34" charset="0"/>
                <a:ea typeface="Calibri" pitchFamily="34" charset="-122"/>
                <a:cs typeface="Calibri" pitchFamily="34" charset="-120"/>
              </a:rPr>
              <a:t>scenarios</a:t>
            </a:r>
            <a:endParaRPr lang="en-US" sz="1150" dirty="0"/>
          </a:p>
        </p:txBody>
      </p:sp>
      <p:sp>
        <p:nvSpPr>
          <p:cNvPr id="14" name="Shape 12"/>
          <p:cNvSpPr/>
          <p:nvPr/>
        </p:nvSpPr>
        <p:spPr>
          <a:xfrm>
            <a:off x="6191250" y="1676400"/>
            <a:ext cx="2619375" cy="914400"/>
          </a:xfrm>
          <a:prstGeom prst="roundRect">
            <a:avLst>
              <a:gd name="adj" fmla="val 4000"/>
            </a:avLst>
          </a:prstGeom>
          <a:solidFill>
            <a:srgbClr val="0E2440"/>
          </a:solidFill>
          <a:ln w="12700">
            <a:solidFill>
              <a:srgbClr val="0E2440"/>
            </a:solidFill>
            <a:prstDash val="solid"/>
          </a:ln>
        </p:spPr>
        <p:txBody>
          <a:bodyPr/>
          <a:lstStyle/>
          <a:p>
            <a:endParaRPr lang="en-IN"/>
          </a:p>
        </p:txBody>
      </p:sp>
      <p:sp>
        <p:nvSpPr>
          <p:cNvPr id="15" name="Text 13"/>
          <p:cNvSpPr/>
          <p:nvPr/>
        </p:nvSpPr>
        <p:spPr>
          <a:xfrm>
            <a:off x="6191250" y="1847850"/>
            <a:ext cx="2619375" cy="381000"/>
          </a:xfrm>
          <a:prstGeom prst="rect">
            <a:avLst/>
          </a:prstGeom>
          <a:noFill/>
          <a:ln/>
        </p:spPr>
        <p:txBody>
          <a:bodyPr wrap="square" lIns="0" tIns="0" rIns="0" bIns="0" rtlCol="0" anchor="t">
            <a:normAutofit/>
          </a:bodyPr>
          <a:lstStyle/>
          <a:p>
            <a:pPr marL="0" indent="0" algn="ctr">
              <a:lnSpc>
                <a:spcPct val="100000"/>
              </a:lnSpc>
              <a:buNone/>
            </a:pPr>
            <a:r>
              <a:rPr lang="en-US" sz="3400" b="1" dirty="0">
                <a:solidFill>
                  <a:srgbClr val="18B89A"/>
                </a:solidFill>
                <a:latin typeface="Cambria" pitchFamily="34" charset="0"/>
                <a:ea typeface="Cambria" pitchFamily="34" charset="-122"/>
                <a:cs typeface="Cambria" pitchFamily="34" charset="-120"/>
              </a:rPr>
              <a:t>12</a:t>
            </a:r>
            <a:endParaRPr lang="en-US" sz="3400" dirty="0"/>
          </a:p>
        </p:txBody>
      </p:sp>
      <p:sp>
        <p:nvSpPr>
          <p:cNvPr id="16" name="Text 14"/>
          <p:cNvSpPr/>
          <p:nvPr/>
        </p:nvSpPr>
        <p:spPr>
          <a:xfrm>
            <a:off x="6305550" y="2266950"/>
            <a:ext cx="2390775" cy="228600"/>
          </a:xfrm>
          <a:prstGeom prst="rect">
            <a:avLst/>
          </a:prstGeom>
          <a:noFill/>
          <a:ln/>
        </p:spPr>
        <p:txBody>
          <a:bodyPr wrap="square" lIns="0" tIns="0" rIns="0" bIns="0" rtlCol="0" anchor="t">
            <a:normAutofit/>
          </a:bodyPr>
          <a:lstStyle/>
          <a:p>
            <a:pPr marL="0" indent="0" algn="ctr">
              <a:lnSpc>
                <a:spcPct val="100000"/>
              </a:lnSpc>
              <a:buNone/>
            </a:pPr>
            <a:r>
              <a:rPr lang="en-US" sz="1150" dirty="0">
                <a:solidFill>
                  <a:srgbClr val="CFD9E5"/>
                </a:solidFill>
                <a:latin typeface="Calibri" pitchFamily="34" charset="0"/>
                <a:ea typeface="Calibri" pitchFamily="34" charset="-122"/>
                <a:cs typeface="Calibri" pitchFamily="34" charset="-120"/>
              </a:rPr>
              <a:t>randomised replicates each</a:t>
            </a:r>
            <a:endParaRPr lang="en-US" sz="1150" dirty="0"/>
          </a:p>
        </p:txBody>
      </p:sp>
      <p:sp>
        <p:nvSpPr>
          <p:cNvPr id="17" name="Shape 15"/>
          <p:cNvSpPr/>
          <p:nvPr/>
        </p:nvSpPr>
        <p:spPr>
          <a:xfrm>
            <a:off x="9001125" y="1676400"/>
            <a:ext cx="2619375" cy="914400"/>
          </a:xfrm>
          <a:prstGeom prst="roundRect">
            <a:avLst>
              <a:gd name="adj" fmla="val 4000"/>
            </a:avLst>
          </a:prstGeom>
          <a:solidFill>
            <a:srgbClr val="0E2440"/>
          </a:solidFill>
          <a:ln w="12700">
            <a:solidFill>
              <a:srgbClr val="0E2440"/>
            </a:solidFill>
            <a:prstDash val="solid"/>
          </a:ln>
        </p:spPr>
        <p:txBody>
          <a:bodyPr/>
          <a:lstStyle/>
          <a:p>
            <a:endParaRPr lang="en-IN"/>
          </a:p>
        </p:txBody>
      </p:sp>
      <p:sp>
        <p:nvSpPr>
          <p:cNvPr id="18" name="Text 16"/>
          <p:cNvSpPr/>
          <p:nvPr/>
        </p:nvSpPr>
        <p:spPr>
          <a:xfrm>
            <a:off x="9001125" y="1847850"/>
            <a:ext cx="2619375" cy="381000"/>
          </a:xfrm>
          <a:prstGeom prst="rect">
            <a:avLst/>
          </a:prstGeom>
          <a:noFill/>
          <a:ln/>
        </p:spPr>
        <p:txBody>
          <a:bodyPr wrap="square" lIns="0" tIns="0" rIns="0" bIns="0" rtlCol="0" anchor="t">
            <a:normAutofit/>
          </a:bodyPr>
          <a:lstStyle/>
          <a:p>
            <a:pPr marL="0" indent="0" algn="ctr">
              <a:lnSpc>
                <a:spcPct val="100000"/>
              </a:lnSpc>
              <a:buNone/>
            </a:pPr>
            <a:r>
              <a:rPr lang="en-US" sz="3400" b="1" dirty="0">
                <a:solidFill>
                  <a:srgbClr val="18B89A"/>
                </a:solidFill>
                <a:latin typeface="Cambria" pitchFamily="34" charset="0"/>
                <a:ea typeface="Cambria" pitchFamily="34" charset="-122"/>
                <a:cs typeface="Cambria" pitchFamily="34" charset="-120"/>
              </a:rPr>
              <a:t>3</a:t>
            </a:r>
            <a:endParaRPr lang="en-US" sz="3400" dirty="0"/>
          </a:p>
        </p:txBody>
      </p:sp>
      <p:sp>
        <p:nvSpPr>
          <p:cNvPr id="19" name="Text 17"/>
          <p:cNvSpPr/>
          <p:nvPr/>
        </p:nvSpPr>
        <p:spPr>
          <a:xfrm>
            <a:off x="9115425" y="2266950"/>
            <a:ext cx="2390775" cy="228600"/>
          </a:xfrm>
          <a:prstGeom prst="rect">
            <a:avLst/>
          </a:prstGeom>
          <a:noFill/>
          <a:ln/>
        </p:spPr>
        <p:txBody>
          <a:bodyPr wrap="square" lIns="0" tIns="0" rIns="0" bIns="0" rtlCol="0" anchor="t">
            <a:normAutofit/>
          </a:bodyPr>
          <a:lstStyle/>
          <a:p>
            <a:pPr marL="0" indent="0" algn="ctr">
              <a:lnSpc>
                <a:spcPct val="100000"/>
              </a:lnSpc>
              <a:buNone/>
            </a:pPr>
            <a:r>
              <a:rPr lang="en-US" sz="1150" dirty="0">
                <a:solidFill>
                  <a:srgbClr val="CFD9E5"/>
                </a:solidFill>
                <a:latin typeface="Calibri" pitchFamily="34" charset="0"/>
                <a:ea typeface="Calibri" pitchFamily="34" charset="-122"/>
                <a:cs typeface="Calibri" pitchFamily="34" charset="-120"/>
              </a:rPr>
              <a:t>rules scored on identical captures</a:t>
            </a:r>
            <a:endParaRPr lang="en-US" sz="1150" dirty="0"/>
          </a:p>
        </p:txBody>
      </p:sp>
      <p:sp>
        <p:nvSpPr>
          <p:cNvPr id="20" name="Shape 18"/>
          <p:cNvSpPr/>
          <p:nvPr/>
        </p:nvSpPr>
        <p:spPr>
          <a:xfrm>
            <a:off x="571500" y="2819400"/>
            <a:ext cx="11049000" cy="590550"/>
          </a:xfrm>
          <a:prstGeom prst="roundRect">
            <a:avLst>
              <a:gd name="adj" fmla="val 6194"/>
            </a:avLst>
          </a:prstGeom>
          <a:solidFill>
            <a:srgbClr val="FFFFFF"/>
          </a:solidFill>
          <a:ln w="12700">
            <a:solidFill>
              <a:srgbClr val="D7E1EA"/>
            </a:solidFill>
            <a:prstDash val="solid"/>
          </a:ln>
        </p:spPr>
        <p:txBody>
          <a:bodyPr/>
          <a:lstStyle/>
          <a:p>
            <a:endParaRPr lang="en-IN"/>
          </a:p>
        </p:txBody>
      </p:sp>
      <p:sp>
        <p:nvSpPr>
          <p:cNvPr id="21" name="Shape 19"/>
          <p:cNvSpPr/>
          <p:nvPr/>
        </p:nvSpPr>
        <p:spPr>
          <a:xfrm>
            <a:off x="571500" y="2819400"/>
            <a:ext cx="38100" cy="590550"/>
          </a:xfrm>
          <a:prstGeom prst="rect">
            <a:avLst/>
          </a:prstGeom>
          <a:solidFill>
            <a:srgbClr val="18B89A"/>
          </a:solidFill>
          <a:ln/>
        </p:spPr>
        <p:txBody>
          <a:bodyPr/>
          <a:lstStyle/>
          <a:p>
            <a:endParaRPr lang="en-IN"/>
          </a:p>
        </p:txBody>
      </p:sp>
      <p:sp>
        <p:nvSpPr>
          <p:cNvPr id="22" name="Text 20"/>
          <p:cNvSpPr/>
          <p:nvPr/>
        </p:nvSpPr>
        <p:spPr>
          <a:xfrm>
            <a:off x="800100" y="2914650"/>
            <a:ext cx="285750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ambria" pitchFamily="34" charset="0"/>
                <a:ea typeface="Cambria" pitchFamily="34" charset="-122"/>
                <a:cs typeface="Cambria" pitchFamily="34" charset="-120"/>
              </a:rPr>
              <a:t>Rule frozen before execution</a:t>
            </a:r>
            <a:endParaRPr lang="en-US" sz="1500" dirty="0"/>
          </a:p>
        </p:txBody>
      </p:sp>
      <p:sp>
        <p:nvSpPr>
          <p:cNvPr id="23" name="Text 21"/>
          <p:cNvSpPr/>
          <p:nvPr/>
        </p:nvSpPr>
        <p:spPr>
          <a:xfrm>
            <a:off x="3810000" y="2895600"/>
            <a:ext cx="7620000" cy="476250"/>
          </a:xfrm>
          <a:prstGeom prst="rect">
            <a:avLst/>
          </a:prstGeom>
          <a:noFill/>
          <a:ln/>
        </p:spPr>
        <p:txBody>
          <a:bodyPr wrap="square" lIns="0" tIns="0" rIns="0" bIns="0" rtlCol="0" anchor="t">
            <a:normAutofit/>
          </a:bodyPr>
          <a:lstStyle/>
          <a:p>
            <a:pPr marL="0" indent="0" algn="l">
              <a:lnSpc>
                <a:spcPct val="100000"/>
              </a:lnSpc>
              <a:buNone/>
            </a:pPr>
            <a:r>
              <a:rPr lang="en-US" sz="1320" dirty="0">
                <a:solidFill>
                  <a:srgbClr val="5B6B7C"/>
                </a:solidFill>
                <a:latin typeface="Calibri" pitchFamily="34" charset="0"/>
                <a:ea typeface="Calibri" pitchFamily="34" charset="-122"/>
                <a:cs typeface="Calibri" pitchFamily="34" charset="-120"/>
              </a:rPr>
              <a:t>The base decision rule was SHA-256 hashed before any run started, so it could not be tuned to the outcome. The hash is recorded in the packaged archive.</a:t>
            </a:r>
            <a:endParaRPr lang="en-US" sz="1320" dirty="0"/>
          </a:p>
        </p:txBody>
      </p:sp>
      <p:sp>
        <p:nvSpPr>
          <p:cNvPr id="24" name="Shape 22"/>
          <p:cNvSpPr/>
          <p:nvPr/>
        </p:nvSpPr>
        <p:spPr>
          <a:xfrm>
            <a:off x="571500" y="3467100"/>
            <a:ext cx="11049000" cy="590550"/>
          </a:xfrm>
          <a:prstGeom prst="roundRect">
            <a:avLst>
              <a:gd name="adj" fmla="val 6194"/>
            </a:avLst>
          </a:prstGeom>
          <a:solidFill>
            <a:srgbClr val="FFFFFF"/>
          </a:solidFill>
          <a:ln w="12700">
            <a:solidFill>
              <a:srgbClr val="D7E1EA"/>
            </a:solidFill>
            <a:prstDash val="solid"/>
          </a:ln>
        </p:spPr>
        <p:txBody>
          <a:bodyPr/>
          <a:lstStyle/>
          <a:p>
            <a:endParaRPr lang="en-IN"/>
          </a:p>
        </p:txBody>
      </p:sp>
      <p:sp>
        <p:nvSpPr>
          <p:cNvPr id="25" name="Shape 23"/>
          <p:cNvSpPr/>
          <p:nvPr/>
        </p:nvSpPr>
        <p:spPr>
          <a:xfrm>
            <a:off x="571500" y="3467100"/>
            <a:ext cx="38100" cy="590550"/>
          </a:xfrm>
          <a:prstGeom prst="rect">
            <a:avLst/>
          </a:prstGeom>
          <a:solidFill>
            <a:srgbClr val="18B89A"/>
          </a:solidFill>
          <a:ln/>
        </p:spPr>
        <p:txBody>
          <a:bodyPr/>
          <a:lstStyle/>
          <a:p>
            <a:endParaRPr lang="en-IN"/>
          </a:p>
        </p:txBody>
      </p:sp>
      <p:sp>
        <p:nvSpPr>
          <p:cNvPr id="26" name="Text 24"/>
          <p:cNvSpPr/>
          <p:nvPr/>
        </p:nvSpPr>
        <p:spPr>
          <a:xfrm>
            <a:off x="800100" y="3562350"/>
            <a:ext cx="285750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ambria" pitchFamily="34" charset="0"/>
                <a:ea typeface="Cambria" pitchFamily="34" charset="-122"/>
                <a:cs typeface="Cambria" pitchFamily="34" charset="-120"/>
              </a:rPr>
              <a:t>Revision history disclosed</a:t>
            </a:r>
            <a:endParaRPr lang="en-US" sz="1500" dirty="0"/>
          </a:p>
        </p:txBody>
      </p:sp>
      <p:sp>
        <p:nvSpPr>
          <p:cNvPr id="27" name="Text 25"/>
          <p:cNvSpPr/>
          <p:nvPr/>
        </p:nvSpPr>
        <p:spPr>
          <a:xfrm>
            <a:off x="3810000" y="3543300"/>
            <a:ext cx="7620000" cy="476250"/>
          </a:xfrm>
          <a:prstGeom prst="rect">
            <a:avLst/>
          </a:prstGeom>
          <a:noFill/>
          <a:ln/>
        </p:spPr>
        <p:txBody>
          <a:bodyPr wrap="square" lIns="0" tIns="0" rIns="0" bIns="0" rtlCol="0" anchor="t">
            <a:normAutofit/>
          </a:bodyPr>
          <a:lstStyle/>
          <a:p>
            <a:pPr marL="0" indent="0" algn="l">
              <a:lnSpc>
                <a:spcPct val="100000"/>
              </a:lnSpc>
              <a:buNone/>
            </a:pPr>
            <a:r>
              <a:rPr lang="en-US" sz="1320" dirty="0">
                <a:solidFill>
                  <a:srgbClr val="5B6B7C"/>
                </a:solidFill>
                <a:latin typeface="Calibri" pitchFamily="34" charset="0"/>
                <a:ea typeface="Calibri" pitchFamily="34" charset="-122"/>
                <a:cs typeface="Calibri" pitchFamily="34" charset="-120"/>
              </a:rPr>
              <a:t>Rule v3 fixed v2 false positives seen on upstream captures and was re-hashed before scoring. v2, frozen before the campaign began, gives identical verdicts on all 168 runs.</a:t>
            </a:r>
            <a:endParaRPr lang="en-US" sz="1320" dirty="0"/>
          </a:p>
        </p:txBody>
      </p:sp>
      <p:sp>
        <p:nvSpPr>
          <p:cNvPr id="28" name="Shape 26"/>
          <p:cNvSpPr/>
          <p:nvPr/>
        </p:nvSpPr>
        <p:spPr>
          <a:xfrm>
            <a:off x="571500" y="4114800"/>
            <a:ext cx="11049000" cy="590550"/>
          </a:xfrm>
          <a:prstGeom prst="roundRect">
            <a:avLst>
              <a:gd name="adj" fmla="val 6194"/>
            </a:avLst>
          </a:prstGeom>
          <a:solidFill>
            <a:srgbClr val="FFFFFF"/>
          </a:solidFill>
          <a:ln w="12700">
            <a:solidFill>
              <a:srgbClr val="D7E1EA"/>
            </a:solidFill>
            <a:prstDash val="solid"/>
          </a:ln>
        </p:spPr>
        <p:txBody>
          <a:bodyPr/>
          <a:lstStyle/>
          <a:p>
            <a:endParaRPr lang="en-IN"/>
          </a:p>
        </p:txBody>
      </p:sp>
      <p:sp>
        <p:nvSpPr>
          <p:cNvPr id="29" name="Shape 27"/>
          <p:cNvSpPr/>
          <p:nvPr/>
        </p:nvSpPr>
        <p:spPr>
          <a:xfrm>
            <a:off x="571500" y="4114800"/>
            <a:ext cx="38100" cy="590550"/>
          </a:xfrm>
          <a:prstGeom prst="rect">
            <a:avLst/>
          </a:prstGeom>
          <a:solidFill>
            <a:srgbClr val="18B89A"/>
          </a:solidFill>
          <a:ln/>
        </p:spPr>
        <p:txBody>
          <a:bodyPr/>
          <a:lstStyle/>
          <a:p>
            <a:endParaRPr lang="en-IN"/>
          </a:p>
        </p:txBody>
      </p:sp>
      <p:sp>
        <p:nvSpPr>
          <p:cNvPr id="30" name="Text 28"/>
          <p:cNvSpPr/>
          <p:nvPr/>
        </p:nvSpPr>
        <p:spPr>
          <a:xfrm>
            <a:off x="800100" y="4210050"/>
            <a:ext cx="285750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ambria" pitchFamily="34" charset="0"/>
                <a:ea typeface="Cambria" pitchFamily="34" charset="-122"/>
                <a:cs typeface="Cambria" pitchFamily="34" charset="-120"/>
              </a:rPr>
              <a:t>Pre-registered expectations</a:t>
            </a:r>
            <a:endParaRPr lang="en-US" sz="1500" dirty="0"/>
          </a:p>
        </p:txBody>
      </p:sp>
      <p:sp>
        <p:nvSpPr>
          <p:cNvPr id="31" name="Text 29"/>
          <p:cNvSpPr/>
          <p:nvPr/>
        </p:nvSpPr>
        <p:spPr>
          <a:xfrm>
            <a:off x="3810000" y="4191000"/>
            <a:ext cx="7620000" cy="476250"/>
          </a:xfrm>
          <a:prstGeom prst="rect">
            <a:avLst/>
          </a:prstGeom>
          <a:noFill/>
          <a:ln/>
        </p:spPr>
        <p:txBody>
          <a:bodyPr wrap="square" lIns="0" tIns="0" rIns="0" bIns="0" rtlCol="0" anchor="t">
            <a:normAutofit/>
          </a:bodyPr>
          <a:lstStyle/>
          <a:p>
            <a:pPr marL="0" indent="0" algn="l">
              <a:lnSpc>
                <a:spcPct val="100000"/>
              </a:lnSpc>
              <a:buNone/>
            </a:pPr>
            <a:r>
              <a:rPr lang="en-US" sz="1320" dirty="0">
                <a:solidFill>
                  <a:srgbClr val="5B6B7C"/>
                </a:solidFill>
                <a:latin typeface="Calibri" pitchFamily="34" charset="0"/>
                <a:ea typeface="Calibri" pitchFamily="34" charset="-122"/>
                <a:cs typeface="Calibri" pitchFamily="34" charset="-120"/>
              </a:rPr>
              <a:t>Each scenario's expected verdict was written down in advance. Sensitivity, specificity and abstention are scored on separate axes rather than pooled into one figure.</a:t>
            </a:r>
            <a:endParaRPr lang="en-US" sz="1320" dirty="0"/>
          </a:p>
        </p:txBody>
      </p:sp>
      <p:sp>
        <p:nvSpPr>
          <p:cNvPr id="32" name="Shape 30"/>
          <p:cNvSpPr/>
          <p:nvPr/>
        </p:nvSpPr>
        <p:spPr>
          <a:xfrm>
            <a:off x="571500" y="4762500"/>
            <a:ext cx="11049000" cy="590550"/>
          </a:xfrm>
          <a:prstGeom prst="roundRect">
            <a:avLst>
              <a:gd name="adj" fmla="val 6194"/>
            </a:avLst>
          </a:prstGeom>
          <a:solidFill>
            <a:srgbClr val="FFFFFF"/>
          </a:solidFill>
          <a:ln w="12700">
            <a:solidFill>
              <a:srgbClr val="D7E1EA"/>
            </a:solidFill>
            <a:prstDash val="solid"/>
          </a:ln>
        </p:spPr>
        <p:txBody>
          <a:bodyPr/>
          <a:lstStyle/>
          <a:p>
            <a:endParaRPr lang="en-IN"/>
          </a:p>
        </p:txBody>
      </p:sp>
      <p:sp>
        <p:nvSpPr>
          <p:cNvPr id="33" name="Shape 31"/>
          <p:cNvSpPr/>
          <p:nvPr/>
        </p:nvSpPr>
        <p:spPr>
          <a:xfrm>
            <a:off x="571500" y="4762500"/>
            <a:ext cx="38100" cy="590550"/>
          </a:xfrm>
          <a:prstGeom prst="rect">
            <a:avLst/>
          </a:prstGeom>
          <a:solidFill>
            <a:srgbClr val="18B89A"/>
          </a:solidFill>
          <a:ln/>
        </p:spPr>
        <p:txBody>
          <a:bodyPr/>
          <a:lstStyle/>
          <a:p>
            <a:endParaRPr lang="en-IN"/>
          </a:p>
        </p:txBody>
      </p:sp>
      <p:sp>
        <p:nvSpPr>
          <p:cNvPr id="34" name="Text 32"/>
          <p:cNvSpPr/>
          <p:nvPr/>
        </p:nvSpPr>
        <p:spPr>
          <a:xfrm>
            <a:off x="800100" y="4857750"/>
            <a:ext cx="285750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ambria" pitchFamily="34" charset="0"/>
                <a:ea typeface="Cambria" pitchFamily="34" charset="-122"/>
                <a:cs typeface="Cambria" pitchFamily="34" charset="-120"/>
              </a:rPr>
              <a:t>Per-replicate randomisation</a:t>
            </a:r>
            <a:endParaRPr lang="en-US" sz="1500" dirty="0"/>
          </a:p>
        </p:txBody>
      </p:sp>
      <p:sp>
        <p:nvSpPr>
          <p:cNvPr id="35" name="Text 33"/>
          <p:cNvSpPr/>
          <p:nvPr/>
        </p:nvSpPr>
        <p:spPr>
          <a:xfrm>
            <a:off x="3810000" y="4838700"/>
            <a:ext cx="7620000" cy="476250"/>
          </a:xfrm>
          <a:prstGeom prst="rect">
            <a:avLst/>
          </a:prstGeom>
          <a:noFill/>
          <a:ln/>
        </p:spPr>
        <p:txBody>
          <a:bodyPr wrap="square" lIns="0" tIns="0" rIns="0" bIns="0" rtlCol="0" anchor="t">
            <a:normAutofit/>
          </a:bodyPr>
          <a:lstStyle/>
          <a:p>
            <a:pPr marL="0" indent="0" algn="l">
              <a:lnSpc>
                <a:spcPct val="100000"/>
              </a:lnSpc>
              <a:buNone/>
            </a:pPr>
            <a:r>
              <a:rPr lang="en-US" sz="1320" dirty="0">
                <a:solidFill>
                  <a:srgbClr val="5B6B7C"/>
                </a:solidFill>
                <a:latin typeface="Calibri" pitchFamily="34" charset="0"/>
                <a:ea typeface="Calibri" pitchFamily="34" charset="-122"/>
                <a:cs typeface="Calibri" pitchFamily="34" charset="-120"/>
              </a:rPr>
              <a:t>Attacker identity, priority, burst size, inter-frame gap and onset are drawn reproducibly from the replicate number, so repeats test generalisation rather than repetition.</a:t>
            </a:r>
            <a:endParaRPr lang="en-US" sz="1320" dirty="0"/>
          </a:p>
        </p:txBody>
      </p:sp>
      <p:sp>
        <p:nvSpPr>
          <p:cNvPr id="36" name="Shape 34"/>
          <p:cNvSpPr/>
          <p:nvPr/>
        </p:nvSpPr>
        <p:spPr>
          <a:xfrm>
            <a:off x="571500" y="5410200"/>
            <a:ext cx="11049000" cy="590550"/>
          </a:xfrm>
          <a:prstGeom prst="roundRect">
            <a:avLst>
              <a:gd name="adj" fmla="val 6194"/>
            </a:avLst>
          </a:prstGeom>
          <a:solidFill>
            <a:srgbClr val="FFFFFF"/>
          </a:solidFill>
          <a:ln w="12700">
            <a:solidFill>
              <a:srgbClr val="D7E1EA"/>
            </a:solidFill>
            <a:prstDash val="solid"/>
          </a:ln>
        </p:spPr>
        <p:txBody>
          <a:bodyPr/>
          <a:lstStyle/>
          <a:p>
            <a:endParaRPr lang="en-IN"/>
          </a:p>
        </p:txBody>
      </p:sp>
      <p:sp>
        <p:nvSpPr>
          <p:cNvPr id="37" name="Shape 35"/>
          <p:cNvSpPr/>
          <p:nvPr/>
        </p:nvSpPr>
        <p:spPr>
          <a:xfrm>
            <a:off x="571500" y="5410200"/>
            <a:ext cx="38100" cy="590550"/>
          </a:xfrm>
          <a:prstGeom prst="rect">
            <a:avLst/>
          </a:prstGeom>
          <a:solidFill>
            <a:srgbClr val="18B89A"/>
          </a:solidFill>
          <a:ln/>
        </p:spPr>
        <p:txBody>
          <a:bodyPr/>
          <a:lstStyle/>
          <a:p>
            <a:endParaRPr lang="en-IN"/>
          </a:p>
        </p:txBody>
      </p:sp>
      <p:sp>
        <p:nvSpPr>
          <p:cNvPr id="38" name="Text 36"/>
          <p:cNvSpPr/>
          <p:nvPr/>
        </p:nvSpPr>
        <p:spPr>
          <a:xfrm>
            <a:off x="800100" y="5505450"/>
            <a:ext cx="285750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ambria" pitchFamily="34" charset="0"/>
                <a:ea typeface="Cambria" pitchFamily="34" charset="-122"/>
                <a:cs typeface="Cambria" pitchFamily="34" charset="-120"/>
              </a:rPr>
              <a:t>Per-scenario reporting</a:t>
            </a:r>
            <a:endParaRPr lang="en-US" sz="1500" dirty="0"/>
          </a:p>
        </p:txBody>
      </p:sp>
      <p:sp>
        <p:nvSpPr>
          <p:cNvPr id="39" name="Text 37"/>
          <p:cNvSpPr/>
          <p:nvPr/>
        </p:nvSpPr>
        <p:spPr>
          <a:xfrm>
            <a:off x="3810000" y="5486400"/>
            <a:ext cx="7620000" cy="476250"/>
          </a:xfrm>
          <a:prstGeom prst="rect">
            <a:avLst/>
          </a:prstGeom>
          <a:noFill/>
          <a:ln/>
        </p:spPr>
        <p:txBody>
          <a:bodyPr wrap="square" lIns="0" tIns="0" rIns="0" bIns="0" rtlCol="0" anchor="t">
            <a:normAutofit/>
          </a:bodyPr>
          <a:lstStyle/>
          <a:p>
            <a:pPr marL="0" indent="0" algn="l">
              <a:lnSpc>
                <a:spcPct val="100000"/>
              </a:lnSpc>
              <a:buNone/>
            </a:pPr>
            <a:r>
              <a:rPr lang="en-US" sz="1320" dirty="0">
                <a:solidFill>
                  <a:srgbClr val="5B6B7C"/>
                </a:solidFill>
                <a:latin typeface="Calibri" pitchFamily="34" charset="0"/>
                <a:ea typeface="Calibri" pitchFamily="34" charset="-122"/>
                <a:cs typeface="Calibri" pitchFamily="34" charset="-120"/>
              </a:rPr>
              <a:t>Per-scenario recall is the primary metric. Pooled figures move with how many runs of each scenario exist, so they are labelled descriptive only.</a:t>
            </a:r>
            <a:endParaRPr lang="en-US" sz="1320" dirty="0"/>
          </a:p>
        </p:txBody>
      </p:sp>
      <p:sp>
        <p:nvSpPr>
          <p:cNvPr id="40" name="Shape 38"/>
          <p:cNvSpPr/>
          <p:nvPr/>
        </p:nvSpPr>
        <p:spPr>
          <a:xfrm>
            <a:off x="571500" y="6076950"/>
            <a:ext cx="11049000" cy="552450"/>
          </a:xfrm>
          <a:prstGeom prst="roundRect">
            <a:avLst>
              <a:gd name="adj" fmla="val 6621"/>
            </a:avLst>
          </a:prstGeom>
          <a:solidFill>
            <a:srgbClr val="FFF8E8"/>
          </a:solidFill>
          <a:ln w="12700">
            <a:solidFill>
              <a:srgbClr val="C58B18"/>
            </a:solidFill>
            <a:prstDash val="solid"/>
          </a:ln>
        </p:spPr>
        <p:txBody>
          <a:bodyPr/>
          <a:lstStyle/>
          <a:p>
            <a:endParaRPr lang="en-IN"/>
          </a:p>
        </p:txBody>
      </p:sp>
      <p:sp>
        <p:nvSpPr>
          <p:cNvPr id="41" name="Text 39"/>
          <p:cNvSpPr/>
          <p:nvPr/>
        </p:nvSpPr>
        <p:spPr>
          <a:xfrm>
            <a:off x="781050" y="621982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Design limit</a:t>
            </a:r>
            <a:endParaRPr lang="en-US" sz="1600" dirty="0"/>
          </a:p>
        </p:txBody>
      </p:sp>
      <p:sp>
        <p:nvSpPr>
          <p:cNvPr id="42" name="Text 40"/>
          <p:cNvSpPr/>
          <p:nvPr/>
        </p:nvSpPr>
        <p:spPr>
          <a:xfrm>
            <a:off x="2781300" y="6200775"/>
            <a:ext cx="8629650" cy="32385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The three C-series scenarios draw from only four to five distinct randomised parameter values, so twelve replicates are twelve genuine captures but not twelve independent attack designs.</a:t>
            </a:r>
            <a:endParaRPr lang="en-US" sz="13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EXPERIMENTAL INTEGRITY</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Pipeline Audit and Corrective Reruns</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Independent audit of the campaign apparatus, 2026-09-20  |  Defect evidence and corrective actions recorded in AUDIT_AND_CORRECTIONS  |  All affected runs re-executed before any result in this deck was computed</a:t>
            </a:r>
            <a:endParaRPr lang="en-US" sz="1120" dirty="0"/>
          </a:p>
        </p:txBody>
      </p:sp>
      <p:sp>
        <p:nvSpPr>
          <p:cNvPr id="8" name="Text 6"/>
          <p:cNvSpPr/>
          <p:nvPr/>
        </p:nvSpPr>
        <p:spPr>
          <a:xfrm>
            <a:off x="571500" y="1638300"/>
            <a:ext cx="11049000" cy="400050"/>
          </a:xfrm>
          <a:prstGeom prst="rect">
            <a:avLst/>
          </a:prstGeom>
          <a:noFill/>
          <a:ln/>
        </p:spPr>
        <p:txBody>
          <a:bodyPr wrap="square" lIns="0" tIns="0" rIns="0" bIns="0" rtlCol="0" anchor="t">
            <a:normAutofit/>
          </a:bodyPr>
          <a:lstStyle/>
          <a:p>
            <a:pPr marL="0" indent="0" algn="l">
              <a:lnSpc>
                <a:spcPct val="100000"/>
              </a:lnSpc>
              <a:buNone/>
            </a:pPr>
            <a:r>
              <a:rPr lang="en-US" sz="1500" dirty="0">
                <a:solidFill>
                  <a:srgbClr val="5B6B7C"/>
                </a:solidFill>
                <a:latin typeface="Calibri" pitchFamily="34" charset="0"/>
                <a:ea typeface="Calibri" pitchFamily="34" charset="-122"/>
                <a:cs typeface="Calibri" pitchFamily="34" charset="-120"/>
              </a:rPr>
              <a:t>A cross-check audit of the campaign apparatus identified four defects. Two of them had produced invalid data. Every affected run was re-executed, and the results reported later in this deck are computed only from the corrected campaign.</a:t>
            </a:r>
            <a:endParaRPr lang="en-US" sz="1500" dirty="0"/>
          </a:p>
        </p:txBody>
      </p:sp>
      <p:sp>
        <p:nvSpPr>
          <p:cNvPr id="9" name="Shape 7"/>
          <p:cNvSpPr/>
          <p:nvPr/>
        </p:nvSpPr>
        <p:spPr>
          <a:xfrm>
            <a:off x="571500" y="2152650"/>
            <a:ext cx="11049000" cy="914400"/>
          </a:xfrm>
          <a:prstGeom prst="roundRect">
            <a:avLst>
              <a:gd name="adj" fmla="val 4000"/>
            </a:avLst>
          </a:prstGeom>
          <a:solidFill>
            <a:srgbClr val="FFFFFF"/>
          </a:solidFill>
          <a:ln w="12700">
            <a:solidFill>
              <a:srgbClr val="D7E1EA"/>
            </a:solidFill>
            <a:prstDash val="solid"/>
          </a:ln>
        </p:spPr>
        <p:txBody>
          <a:bodyPr/>
          <a:lstStyle/>
          <a:p>
            <a:endParaRPr lang="en-IN"/>
          </a:p>
        </p:txBody>
      </p:sp>
      <p:sp>
        <p:nvSpPr>
          <p:cNvPr id="10" name="Shape 8"/>
          <p:cNvSpPr/>
          <p:nvPr/>
        </p:nvSpPr>
        <p:spPr>
          <a:xfrm>
            <a:off x="571500" y="2152650"/>
            <a:ext cx="47625" cy="914400"/>
          </a:xfrm>
          <a:prstGeom prst="rect">
            <a:avLst/>
          </a:prstGeom>
          <a:solidFill>
            <a:srgbClr val="B3402F"/>
          </a:solidFill>
          <a:ln/>
        </p:spPr>
        <p:txBody>
          <a:bodyPr/>
          <a:lstStyle/>
          <a:p>
            <a:endParaRPr lang="en-IN"/>
          </a:p>
        </p:txBody>
      </p:sp>
      <p:sp>
        <p:nvSpPr>
          <p:cNvPr id="11" name="Text 9"/>
          <p:cNvSpPr/>
          <p:nvPr/>
        </p:nvSpPr>
        <p:spPr>
          <a:xfrm>
            <a:off x="800100" y="2247900"/>
            <a:ext cx="4000500" cy="419100"/>
          </a:xfrm>
          <a:prstGeom prst="rect">
            <a:avLst/>
          </a:prstGeom>
          <a:noFill/>
          <a:ln/>
        </p:spPr>
        <p:txBody>
          <a:bodyPr wrap="square" lIns="0" tIns="0" rIns="0" bIns="0" rtlCol="0" anchor="t">
            <a:normAutofit/>
          </a:bodyPr>
          <a:lstStyle/>
          <a:p>
            <a:pPr marL="0" indent="0" algn="l">
              <a:lnSpc>
                <a:spcPct val="100000"/>
              </a:lnSpc>
              <a:buNone/>
            </a:pPr>
            <a:r>
              <a:rPr lang="en-US" sz="1450" b="1" dirty="0">
                <a:solidFill>
                  <a:srgbClr val="12263A"/>
                </a:solidFill>
                <a:latin typeface="Cambria" pitchFamily="34" charset="0"/>
                <a:ea typeface="Cambria" pitchFamily="34" charset="-122"/>
                <a:cs typeface="Cambria" pitchFamily="34" charset="-120"/>
              </a:rPr>
              <a:t>Thirty-six replicates were three captures copied twelve times</a:t>
            </a:r>
            <a:endParaRPr lang="en-US" sz="1450" dirty="0"/>
          </a:p>
        </p:txBody>
      </p:sp>
      <p:sp>
        <p:nvSpPr>
          <p:cNvPr id="12" name="Text 10"/>
          <p:cNvSpPr/>
          <p:nvPr/>
        </p:nvSpPr>
        <p:spPr>
          <a:xfrm>
            <a:off x="800100" y="2686050"/>
            <a:ext cx="4000500" cy="342900"/>
          </a:xfrm>
          <a:prstGeom prst="rect">
            <a:avLst/>
          </a:prstGeom>
          <a:noFill/>
          <a:ln/>
        </p:spPr>
        <p:txBody>
          <a:bodyPr wrap="square" lIns="0" tIns="0" rIns="0" bIns="0" rtlCol="0" anchor="t">
            <a:normAutofit/>
          </a:bodyPr>
          <a:lstStyle/>
          <a:p>
            <a:pPr marL="0" indent="0" algn="l">
              <a:lnSpc>
                <a:spcPct val="100000"/>
              </a:lnSpc>
              <a:buNone/>
            </a:pPr>
            <a:r>
              <a:rPr lang="en-US" sz="1160" dirty="0">
                <a:solidFill>
                  <a:srgbClr val="5B6B7C"/>
                </a:solidFill>
                <a:latin typeface="Calibri" pitchFamily="34" charset="0"/>
                <a:ea typeface="Calibri" pitchFamily="34" charset="-122"/>
                <a:cs typeface="Calibri" pitchFamily="34" charset="-120"/>
              </a:rPr>
              <a:t>A runner script was created without the execute bit. The resulting exit code 126 was silenced by output redirection, and a stale capture then satisfied the packet-count validity guard.</a:t>
            </a:r>
            <a:endParaRPr lang="en-US" sz="1160" dirty="0"/>
          </a:p>
        </p:txBody>
      </p:sp>
      <p:sp>
        <p:nvSpPr>
          <p:cNvPr id="13" name="Text 11"/>
          <p:cNvSpPr/>
          <p:nvPr/>
        </p:nvSpPr>
        <p:spPr>
          <a:xfrm>
            <a:off x="5048250" y="2247900"/>
            <a:ext cx="5048250" cy="762000"/>
          </a:xfrm>
          <a:prstGeom prst="rect">
            <a:avLst/>
          </a:prstGeom>
          <a:noFill/>
          <a:ln/>
        </p:spPr>
        <p:txBody>
          <a:bodyPr wrap="square" lIns="0" tIns="0" rIns="0" bIns="0" rtlCol="0" anchor="t">
            <a:normAutofit/>
          </a:bodyPr>
          <a:lstStyle/>
          <a:p>
            <a:pPr marL="0" indent="0" algn="l">
              <a:lnSpc>
                <a:spcPct val="100000"/>
              </a:lnSpc>
              <a:buNone/>
            </a:pPr>
            <a:r>
              <a:rPr lang="en-US" sz="1260" dirty="0">
                <a:solidFill>
                  <a:srgbClr val="5B6B7C"/>
                </a:solidFill>
                <a:latin typeface="Calibri" pitchFamily="34" charset="0"/>
                <a:ea typeface="Calibri" pitchFamily="34" charset="-122"/>
                <a:cs typeface="Calibri" pitchFamily="34" charset="-120"/>
              </a:rPr>
              <a:t>Proof: one distinct SHA-256 across twelve supposed replicates, and completion in under one second where a genuine run takes about 48 seconds.</a:t>
            </a:r>
            <a:endParaRPr lang="en-US" sz="1260" dirty="0"/>
          </a:p>
        </p:txBody>
      </p:sp>
      <p:sp>
        <p:nvSpPr>
          <p:cNvPr id="14" name="Shape 12"/>
          <p:cNvSpPr/>
          <p:nvPr/>
        </p:nvSpPr>
        <p:spPr>
          <a:xfrm>
            <a:off x="10287000" y="2476500"/>
            <a:ext cx="1181100" cy="266700"/>
          </a:xfrm>
          <a:prstGeom prst="roundRect">
            <a:avLst>
              <a:gd name="adj" fmla="val 13714"/>
            </a:avLst>
          </a:prstGeom>
          <a:solidFill>
            <a:srgbClr val="EAF2F8"/>
          </a:solidFill>
          <a:ln w="12700">
            <a:solidFill>
              <a:srgbClr val="D7E1EA"/>
            </a:solidFill>
            <a:prstDash val="solid"/>
          </a:ln>
        </p:spPr>
        <p:txBody>
          <a:bodyPr/>
          <a:lstStyle/>
          <a:p>
            <a:endParaRPr lang="en-IN"/>
          </a:p>
        </p:txBody>
      </p:sp>
      <p:sp>
        <p:nvSpPr>
          <p:cNvPr id="15" name="Text 13"/>
          <p:cNvSpPr/>
          <p:nvPr/>
        </p:nvSpPr>
        <p:spPr>
          <a:xfrm>
            <a:off x="10287000" y="2533650"/>
            <a:ext cx="1181100" cy="171450"/>
          </a:xfrm>
          <a:prstGeom prst="rect">
            <a:avLst/>
          </a:prstGeom>
          <a:noFill/>
          <a:ln/>
        </p:spPr>
        <p:txBody>
          <a:bodyPr wrap="square" lIns="0" tIns="0" rIns="0" bIns="0" rtlCol="0" anchor="t">
            <a:normAutofit/>
          </a:bodyPr>
          <a:lstStyle/>
          <a:p>
            <a:pPr marL="0" indent="0" algn="ctr">
              <a:lnSpc>
                <a:spcPct val="100000"/>
              </a:lnSpc>
              <a:buNone/>
            </a:pPr>
            <a:r>
              <a:rPr lang="en-US" sz="1050" b="1" dirty="0">
                <a:solidFill>
                  <a:srgbClr val="1C7293"/>
                </a:solidFill>
                <a:latin typeface="Calibri" pitchFamily="34" charset="0"/>
                <a:ea typeface="Calibri" pitchFamily="34" charset="-122"/>
                <a:cs typeface="Calibri" pitchFamily="34" charset="-120"/>
              </a:rPr>
              <a:t>FIXED · re-run</a:t>
            </a:r>
            <a:endParaRPr lang="en-US" sz="1050" dirty="0"/>
          </a:p>
        </p:txBody>
      </p:sp>
      <p:sp>
        <p:nvSpPr>
          <p:cNvPr id="16" name="Shape 14"/>
          <p:cNvSpPr/>
          <p:nvPr/>
        </p:nvSpPr>
        <p:spPr>
          <a:xfrm>
            <a:off x="571500" y="3162300"/>
            <a:ext cx="11049000" cy="914400"/>
          </a:xfrm>
          <a:prstGeom prst="roundRect">
            <a:avLst>
              <a:gd name="adj" fmla="val 4000"/>
            </a:avLst>
          </a:prstGeom>
          <a:solidFill>
            <a:srgbClr val="FFFFFF"/>
          </a:solidFill>
          <a:ln w="12700">
            <a:solidFill>
              <a:srgbClr val="D7E1EA"/>
            </a:solidFill>
            <a:prstDash val="solid"/>
          </a:ln>
        </p:spPr>
        <p:txBody>
          <a:bodyPr/>
          <a:lstStyle/>
          <a:p>
            <a:endParaRPr lang="en-IN"/>
          </a:p>
        </p:txBody>
      </p:sp>
      <p:sp>
        <p:nvSpPr>
          <p:cNvPr id="17" name="Shape 15"/>
          <p:cNvSpPr/>
          <p:nvPr/>
        </p:nvSpPr>
        <p:spPr>
          <a:xfrm>
            <a:off x="571500" y="3162300"/>
            <a:ext cx="47625" cy="914400"/>
          </a:xfrm>
          <a:prstGeom prst="rect">
            <a:avLst/>
          </a:prstGeom>
          <a:solidFill>
            <a:srgbClr val="B3402F"/>
          </a:solidFill>
          <a:ln/>
        </p:spPr>
        <p:txBody>
          <a:bodyPr/>
          <a:lstStyle/>
          <a:p>
            <a:endParaRPr lang="en-IN"/>
          </a:p>
        </p:txBody>
      </p:sp>
      <p:sp>
        <p:nvSpPr>
          <p:cNvPr id="18" name="Text 16"/>
          <p:cNvSpPr/>
          <p:nvPr/>
        </p:nvSpPr>
        <p:spPr>
          <a:xfrm>
            <a:off x="800100" y="3257550"/>
            <a:ext cx="4000500" cy="419100"/>
          </a:xfrm>
          <a:prstGeom prst="rect">
            <a:avLst/>
          </a:prstGeom>
          <a:noFill/>
          <a:ln/>
        </p:spPr>
        <p:txBody>
          <a:bodyPr wrap="square" lIns="0" tIns="0" rIns="0" bIns="0" rtlCol="0" anchor="t">
            <a:normAutofit/>
          </a:bodyPr>
          <a:lstStyle/>
          <a:p>
            <a:pPr marL="0" indent="0" algn="l">
              <a:lnSpc>
                <a:spcPct val="100000"/>
              </a:lnSpc>
              <a:buNone/>
            </a:pPr>
            <a:r>
              <a:rPr lang="en-US" sz="1450" b="1" dirty="0">
                <a:solidFill>
                  <a:srgbClr val="12263A"/>
                </a:solidFill>
                <a:latin typeface="Cambria" pitchFamily="34" charset="0"/>
                <a:ea typeface="Cambria" pitchFamily="34" charset="-122"/>
                <a:cs typeface="Cambria" pitchFamily="34" charset="-120"/>
              </a:rPr>
              <a:t>A benign scenario never injected anything</a:t>
            </a:r>
            <a:endParaRPr lang="en-US" sz="1450" dirty="0"/>
          </a:p>
        </p:txBody>
      </p:sp>
      <p:sp>
        <p:nvSpPr>
          <p:cNvPr id="19" name="Text 17"/>
          <p:cNvSpPr/>
          <p:nvPr/>
        </p:nvSpPr>
        <p:spPr>
          <a:xfrm>
            <a:off x="800100" y="3695700"/>
            <a:ext cx="4000500" cy="342900"/>
          </a:xfrm>
          <a:prstGeom prst="rect">
            <a:avLst/>
          </a:prstGeom>
          <a:noFill/>
          <a:ln/>
        </p:spPr>
        <p:txBody>
          <a:bodyPr wrap="square" lIns="0" tIns="0" rIns="0" bIns="0" rtlCol="0" anchor="t">
            <a:normAutofit/>
          </a:bodyPr>
          <a:lstStyle/>
          <a:p>
            <a:pPr marL="0" indent="0" algn="l">
              <a:lnSpc>
                <a:spcPct val="100000"/>
              </a:lnSpc>
              <a:buNone/>
            </a:pPr>
            <a:r>
              <a:rPr lang="en-US" sz="1160" dirty="0">
                <a:solidFill>
                  <a:srgbClr val="5B6B7C"/>
                </a:solidFill>
                <a:latin typeface="Calibri" pitchFamily="34" charset="0"/>
                <a:ea typeface="Calibri" pitchFamily="34" charset="-122"/>
                <a:cs typeface="Calibri" pitchFamily="34" charset="-120"/>
              </a:rPr>
              <a:t>This kernel has no sch_netem qdisc, and the failure was swallowed by a shell fallback. B3 congestion was a baseline run carrying a congestion label.</a:t>
            </a:r>
            <a:endParaRPr lang="en-US" sz="1160" dirty="0"/>
          </a:p>
        </p:txBody>
      </p:sp>
      <p:sp>
        <p:nvSpPr>
          <p:cNvPr id="20" name="Text 18"/>
          <p:cNvSpPr/>
          <p:nvPr/>
        </p:nvSpPr>
        <p:spPr>
          <a:xfrm>
            <a:off x="5048250" y="3257550"/>
            <a:ext cx="5048250" cy="762000"/>
          </a:xfrm>
          <a:prstGeom prst="rect">
            <a:avLst/>
          </a:prstGeom>
          <a:noFill/>
          <a:ln/>
        </p:spPr>
        <p:txBody>
          <a:bodyPr wrap="square" lIns="0" tIns="0" rIns="0" bIns="0" rtlCol="0" anchor="t">
            <a:normAutofit/>
          </a:bodyPr>
          <a:lstStyle/>
          <a:p>
            <a:pPr marL="0" indent="0" algn="l">
              <a:lnSpc>
                <a:spcPct val="100000"/>
              </a:lnSpc>
              <a:buNone/>
            </a:pPr>
            <a:r>
              <a:rPr lang="en-US" sz="1260" dirty="0">
                <a:solidFill>
                  <a:srgbClr val="5B6B7C"/>
                </a:solidFill>
                <a:latin typeface="Calibri" pitchFamily="34" charset="0"/>
                <a:ea typeface="Calibri" pitchFamily="34" charset="-122"/>
                <a:cs typeface="Calibri" pitchFamily="34" charset="-120"/>
              </a:rPr>
              <a:t>Proof: B3 packet delay variation was statistically identical to baseline and to the untouched control node. Rebuilt with a tbf bottleneck and competing traffic.</a:t>
            </a:r>
            <a:endParaRPr lang="en-US" sz="1260" dirty="0"/>
          </a:p>
        </p:txBody>
      </p:sp>
      <p:sp>
        <p:nvSpPr>
          <p:cNvPr id="21" name="Shape 19"/>
          <p:cNvSpPr/>
          <p:nvPr/>
        </p:nvSpPr>
        <p:spPr>
          <a:xfrm>
            <a:off x="10287000" y="3486150"/>
            <a:ext cx="1181100" cy="266700"/>
          </a:xfrm>
          <a:prstGeom prst="roundRect">
            <a:avLst>
              <a:gd name="adj" fmla="val 13714"/>
            </a:avLst>
          </a:prstGeom>
          <a:solidFill>
            <a:srgbClr val="EAF2F8"/>
          </a:solidFill>
          <a:ln w="12700">
            <a:solidFill>
              <a:srgbClr val="D7E1EA"/>
            </a:solidFill>
            <a:prstDash val="solid"/>
          </a:ln>
        </p:spPr>
        <p:txBody>
          <a:bodyPr/>
          <a:lstStyle/>
          <a:p>
            <a:endParaRPr lang="en-IN"/>
          </a:p>
        </p:txBody>
      </p:sp>
      <p:sp>
        <p:nvSpPr>
          <p:cNvPr id="22" name="Text 20"/>
          <p:cNvSpPr/>
          <p:nvPr/>
        </p:nvSpPr>
        <p:spPr>
          <a:xfrm>
            <a:off x="10287000" y="3543300"/>
            <a:ext cx="1181100" cy="171450"/>
          </a:xfrm>
          <a:prstGeom prst="rect">
            <a:avLst/>
          </a:prstGeom>
          <a:noFill/>
          <a:ln/>
        </p:spPr>
        <p:txBody>
          <a:bodyPr wrap="square" lIns="0" tIns="0" rIns="0" bIns="0" rtlCol="0" anchor="t">
            <a:normAutofit/>
          </a:bodyPr>
          <a:lstStyle/>
          <a:p>
            <a:pPr marL="0" indent="0" algn="ctr">
              <a:lnSpc>
                <a:spcPct val="100000"/>
              </a:lnSpc>
              <a:buNone/>
            </a:pPr>
            <a:r>
              <a:rPr lang="en-US" sz="1050" b="1" dirty="0">
                <a:solidFill>
                  <a:srgbClr val="1C7293"/>
                </a:solidFill>
                <a:latin typeface="Calibri" pitchFamily="34" charset="0"/>
                <a:ea typeface="Calibri" pitchFamily="34" charset="-122"/>
                <a:cs typeface="Calibri" pitchFamily="34" charset="-120"/>
              </a:rPr>
              <a:t>FIXED · rebuilt</a:t>
            </a:r>
            <a:endParaRPr lang="en-US" sz="1050" dirty="0"/>
          </a:p>
        </p:txBody>
      </p:sp>
      <p:sp>
        <p:nvSpPr>
          <p:cNvPr id="23" name="Shape 21"/>
          <p:cNvSpPr/>
          <p:nvPr/>
        </p:nvSpPr>
        <p:spPr>
          <a:xfrm>
            <a:off x="571500" y="4171950"/>
            <a:ext cx="11049000" cy="914400"/>
          </a:xfrm>
          <a:prstGeom prst="roundRect">
            <a:avLst>
              <a:gd name="adj" fmla="val 4000"/>
            </a:avLst>
          </a:prstGeom>
          <a:solidFill>
            <a:srgbClr val="FFFFFF"/>
          </a:solidFill>
          <a:ln w="12700">
            <a:solidFill>
              <a:srgbClr val="D7E1EA"/>
            </a:solidFill>
            <a:prstDash val="solid"/>
          </a:ln>
        </p:spPr>
        <p:txBody>
          <a:bodyPr/>
          <a:lstStyle/>
          <a:p>
            <a:endParaRPr lang="en-IN"/>
          </a:p>
        </p:txBody>
      </p:sp>
      <p:sp>
        <p:nvSpPr>
          <p:cNvPr id="24" name="Shape 22"/>
          <p:cNvSpPr/>
          <p:nvPr/>
        </p:nvSpPr>
        <p:spPr>
          <a:xfrm>
            <a:off x="571500" y="4171950"/>
            <a:ext cx="47625" cy="914400"/>
          </a:xfrm>
          <a:prstGeom prst="rect">
            <a:avLst/>
          </a:prstGeom>
          <a:solidFill>
            <a:srgbClr val="C58B18"/>
          </a:solidFill>
          <a:ln/>
        </p:spPr>
        <p:txBody>
          <a:bodyPr/>
          <a:lstStyle/>
          <a:p>
            <a:endParaRPr lang="en-IN"/>
          </a:p>
        </p:txBody>
      </p:sp>
      <p:sp>
        <p:nvSpPr>
          <p:cNvPr id="25" name="Text 23"/>
          <p:cNvSpPr/>
          <p:nvPr/>
        </p:nvSpPr>
        <p:spPr>
          <a:xfrm>
            <a:off x="800100" y="4267200"/>
            <a:ext cx="4000500" cy="419100"/>
          </a:xfrm>
          <a:prstGeom prst="rect">
            <a:avLst/>
          </a:prstGeom>
          <a:noFill/>
          <a:ln/>
        </p:spPr>
        <p:txBody>
          <a:bodyPr wrap="square" lIns="0" tIns="0" rIns="0" bIns="0" rtlCol="0" anchor="t">
            <a:normAutofit/>
          </a:bodyPr>
          <a:lstStyle/>
          <a:p>
            <a:pPr marL="0" indent="0" algn="l">
              <a:lnSpc>
                <a:spcPct val="100000"/>
              </a:lnSpc>
              <a:buNone/>
            </a:pPr>
            <a:r>
              <a:rPr lang="en-US" sz="1450" b="1" dirty="0">
                <a:solidFill>
                  <a:srgbClr val="12263A"/>
                </a:solidFill>
                <a:latin typeface="Cambria" pitchFamily="34" charset="0"/>
                <a:ea typeface="Cambria" pitchFamily="34" charset="-122"/>
                <a:cs typeface="Cambria" pitchFamily="34" charset="-120"/>
              </a:rPr>
              <a:t>A detector produced false positives on upstream captures</a:t>
            </a:r>
            <a:endParaRPr lang="en-US" sz="1450" dirty="0"/>
          </a:p>
        </p:txBody>
      </p:sp>
      <p:sp>
        <p:nvSpPr>
          <p:cNvPr id="26" name="Text 24"/>
          <p:cNvSpPr/>
          <p:nvPr/>
        </p:nvSpPr>
        <p:spPr>
          <a:xfrm>
            <a:off x="800100" y="4705350"/>
            <a:ext cx="4000500" cy="342900"/>
          </a:xfrm>
          <a:prstGeom prst="rect">
            <a:avLst/>
          </a:prstGeom>
          <a:noFill/>
          <a:ln/>
        </p:spPr>
        <p:txBody>
          <a:bodyPr wrap="square" lIns="0" tIns="0" rIns="0" bIns="0" rtlCol="0" anchor="t">
            <a:normAutofit/>
          </a:bodyPr>
          <a:lstStyle/>
          <a:p>
            <a:pPr marL="0" indent="0" algn="l">
              <a:lnSpc>
                <a:spcPct val="100000"/>
              </a:lnSpc>
              <a:buNone/>
            </a:pPr>
            <a:r>
              <a:rPr lang="en-US" sz="1160" dirty="0">
                <a:solidFill>
                  <a:srgbClr val="5B6B7C"/>
                </a:solidFill>
                <a:latin typeface="Calibri" pitchFamily="34" charset="0"/>
                <a:ea typeface="Calibri" pitchFamily="34" charset="-122"/>
                <a:cs typeface="Calibri" pitchFamily="34" charset="-120"/>
              </a:rPr>
              <a:t>Rule v2's rate-starvation clause had no minimum-sample or transient guard, so a boundary clock emitting three frames during BMCA start-up read as rate-starved.</a:t>
            </a:r>
            <a:endParaRPr lang="en-US" sz="1160" dirty="0"/>
          </a:p>
        </p:txBody>
      </p:sp>
      <p:sp>
        <p:nvSpPr>
          <p:cNvPr id="27" name="Text 25"/>
          <p:cNvSpPr/>
          <p:nvPr/>
        </p:nvSpPr>
        <p:spPr>
          <a:xfrm>
            <a:off x="5048250" y="4267200"/>
            <a:ext cx="5048250" cy="762000"/>
          </a:xfrm>
          <a:prstGeom prst="rect">
            <a:avLst/>
          </a:prstGeom>
          <a:noFill/>
          <a:ln/>
        </p:spPr>
        <p:txBody>
          <a:bodyPr wrap="square" lIns="0" tIns="0" rIns="0" bIns="0" rtlCol="0" anchor="t">
            <a:normAutofit/>
          </a:bodyPr>
          <a:lstStyle/>
          <a:p>
            <a:pPr marL="0" indent="0" algn="l">
              <a:lnSpc>
                <a:spcPct val="100000"/>
              </a:lnSpc>
              <a:buNone/>
            </a:pPr>
            <a:r>
              <a:rPr lang="en-US" sz="1260" dirty="0">
                <a:solidFill>
                  <a:srgbClr val="5B6B7C"/>
                </a:solidFill>
                <a:latin typeface="Calibri" pitchFamily="34" charset="0"/>
                <a:ea typeface="Calibri" pitchFamily="34" charset="-122"/>
                <a:cs typeface="Calibri" pitchFamily="34" charset="-120"/>
              </a:rPr>
              <a:t>Effect: it turned a benign failover into an ATTACK and destroyed a correct abstention. Rule v3 adds a minimum-frame floor and a persistence requirement.</a:t>
            </a:r>
            <a:endParaRPr lang="en-US" sz="1260" dirty="0"/>
          </a:p>
        </p:txBody>
      </p:sp>
      <p:sp>
        <p:nvSpPr>
          <p:cNvPr id="28" name="Shape 26"/>
          <p:cNvSpPr/>
          <p:nvPr/>
        </p:nvSpPr>
        <p:spPr>
          <a:xfrm>
            <a:off x="10287000" y="4495800"/>
            <a:ext cx="1181100" cy="266700"/>
          </a:xfrm>
          <a:prstGeom prst="roundRect">
            <a:avLst>
              <a:gd name="adj" fmla="val 13714"/>
            </a:avLst>
          </a:prstGeom>
          <a:solidFill>
            <a:srgbClr val="EAF2F8"/>
          </a:solidFill>
          <a:ln w="12700">
            <a:solidFill>
              <a:srgbClr val="D7E1EA"/>
            </a:solidFill>
            <a:prstDash val="solid"/>
          </a:ln>
        </p:spPr>
        <p:txBody>
          <a:bodyPr/>
          <a:lstStyle/>
          <a:p>
            <a:endParaRPr lang="en-IN"/>
          </a:p>
        </p:txBody>
      </p:sp>
      <p:sp>
        <p:nvSpPr>
          <p:cNvPr id="29" name="Text 27"/>
          <p:cNvSpPr/>
          <p:nvPr/>
        </p:nvSpPr>
        <p:spPr>
          <a:xfrm>
            <a:off x="10287000" y="4552950"/>
            <a:ext cx="1181100" cy="171450"/>
          </a:xfrm>
          <a:prstGeom prst="rect">
            <a:avLst/>
          </a:prstGeom>
          <a:noFill/>
          <a:ln/>
        </p:spPr>
        <p:txBody>
          <a:bodyPr wrap="square" lIns="0" tIns="0" rIns="0" bIns="0" rtlCol="0" anchor="t">
            <a:normAutofit/>
          </a:bodyPr>
          <a:lstStyle/>
          <a:p>
            <a:pPr marL="0" indent="0" algn="ctr">
              <a:lnSpc>
                <a:spcPct val="100000"/>
              </a:lnSpc>
              <a:buNone/>
            </a:pPr>
            <a:r>
              <a:rPr lang="en-US" sz="1050" b="1" dirty="0">
                <a:solidFill>
                  <a:srgbClr val="1C7293"/>
                </a:solidFill>
                <a:latin typeface="Calibri" pitchFamily="34" charset="0"/>
                <a:ea typeface="Calibri" pitchFamily="34" charset="-122"/>
                <a:cs typeface="Calibri" pitchFamily="34" charset="-120"/>
              </a:rPr>
              <a:t>FIXED · v3</a:t>
            </a:r>
            <a:endParaRPr lang="en-US" sz="1050" dirty="0"/>
          </a:p>
        </p:txBody>
      </p:sp>
      <p:sp>
        <p:nvSpPr>
          <p:cNvPr id="30" name="Shape 28"/>
          <p:cNvSpPr/>
          <p:nvPr/>
        </p:nvSpPr>
        <p:spPr>
          <a:xfrm>
            <a:off x="571500" y="5181600"/>
            <a:ext cx="11049000" cy="914400"/>
          </a:xfrm>
          <a:prstGeom prst="roundRect">
            <a:avLst>
              <a:gd name="adj" fmla="val 4000"/>
            </a:avLst>
          </a:prstGeom>
          <a:solidFill>
            <a:srgbClr val="FFFFFF"/>
          </a:solidFill>
          <a:ln w="12700">
            <a:solidFill>
              <a:srgbClr val="D7E1EA"/>
            </a:solidFill>
            <a:prstDash val="solid"/>
          </a:ln>
        </p:spPr>
        <p:txBody>
          <a:bodyPr/>
          <a:lstStyle/>
          <a:p>
            <a:endParaRPr lang="en-IN"/>
          </a:p>
        </p:txBody>
      </p:sp>
      <p:sp>
        <p:nvSpPr>
          <p:cNvPr id="31" name="Shape 29"/>
          <p:cNvSpPr/>
          <p:nvPr/>
        </p:nvSpPr>
        <p:spPr>
          <a:xfrm>
            <a:off x="571500" y="5181600"/>
            <a:ext cx="47625" cy="914400"/>
          </a:xfrm>
          <a:prstGeom prst="rect">
            <a:avLst/>
          </a:prstGeom>
          <a:solidFill>
            <a:srgbClr val="C58B18"/>
          </a:solidFill>
          <a:ln/>
        </p:spPr>
        <p:txBody>
          <a:bodyPr/>
          <a:lstStyle/>
          <a:p>
            <a:endParaRPr lang="en-IN"/>
          </a:p>
        </p:txBody>
      </p:sp>
      <p:sp>
        <p:nvSpPr>
          <p:cNvPr id="32" name="Text 30"/>
          <p:cNvSpPr/>
          <p:nvPr/>
        </p:nvSpPr>
        <p:spPr>
          <a:xfrm>
            <a:off x="800100" y="5276850"/>
            <a:ext cx="4000500" cy="419100"/>
          </a:xfrm>
          <a:prstGeom prst="rect">
            <a:avLst/>
          </a:prstGeom>
          <a:noFill/>
          <a:ln/>
        </p:spPr>
        <p:txBody>
          <a:bodyPr wrap="square" lIns="0" tIns="0" rIns="0" bIns="0" rtlCol="0" anchor="t">
            <a:normAutofit/>
          </a:bodyPr>
          <a:lstStyle/>
          <a:p>
            <a:pPr marL="0" indent="0" algn="l">
              <a:lnSpc>
                <a:spcPct val="100000"/>
              </a:lnSpc>
              <a:buNone/>
            </a:pPr>
            <a:r>
              <a:rPr lang="en-US" sz="1450" b="1" dirty="0">
                <a:solidFill>
                  <a:srgbClr val="12263A"/>
                </a:solidFill>
                <a:latin typeface="Cambria" pitchFamily="34" charset="0"/>
                <a:ea typeface="Cambria" pitchFamily="34" charset="-122"/>
                <a:cs typeface="Cambria" pitchFamily="34" charset="-120"/>
              </a:rPr>
              <a:t>The evaluator overstated and under-checked</a:t>
            </a:r>
            <a:endParaRPr lang="en-US" sz="1450" dirty="0"/>
          </a:p>
        </p:txBody>
      </p:sp>
      <p:sp>
        <p:nvSpPr>
          <p:cNvPr id="33" name="Text 31"/>
          <p:cNvSpPr/>
          <p:nvPr/>
        </p:nvSpPr>
        <p:spPr>
          <a:xfrm>
            <a:off x="800100" y="5715000"/>
            <a:ext cx="4000500" cy="342900"/>
          </a:xfrm>
          <a:prstGeom prst="rect">
            <a:avLst/>
          </a:prstGeom>
          <a:noFill/>
          <a:ln/>
        </p:spPr>
        <p:txBody>
          <a:bodyPr wrap="square" lIns="0" tIns="0" rIns="0" bIns="0" rtlCol="0" anchor="t">
            <a:normAutofit/>
          </a:bodyPr>
          <a:lstStyle/>
          <a:p>
            <a:pPr marL="0" indent="0" algn="l">
              <a:lnSpc>
                <a:spcPct val="100000"/>
              </a:lnSpc>
              <a:buNone/>
            </a:pPr>
            <a:r>
              <a:rPr lang="en-US" sz="1160" dirty="0">
                <a:solidFill>
                  <a:srgbClr val="5B6B7C"/>
                </a:solidFill>
                <a:latin typeface="Calibri" pitchFamily="34" charset="0"/>
                <a:ea typeface="Calibri" pitchFamily="34" charset="-122"/>
                <a:cs typeface="Calibri" pitchFamily="34" charset="-120"/>
              </a:rPr>
              <a:t>Pooled metrics moved with run count, additive-only behaviour was asserted by comparing two scalars, abstention was credited on error paths, and attribution scoring was dropped.</a:t>
            </a:r>
            <a:endParaRPr lang="en-US" sz="1160" dirty="0"/>
          </a:p>
        </p:txBody>
      </p:sp>
      <p:sp>
        <p:nvSpPr>
          <p:cNvPr id="34" name="Text 32"/>
          <p:cNvSpPr/>
          <p:nvPr/>
        </p:nvSpPr>
        <p:spPr>
          <a:xfrm>
            <a:off x="5048250" y="5276850"/>
            <a:ext cx="5048250" cy="762000"/>
          </a:xfrm>
          <a:prstGeom prst="rect">
            <a:avLst/>
          </a:prstGeom>
          <a:noFill/>
          <a:ln/>
        </p:spPr>
        <p:txBody>
          <a:bodyPr wrap="square" lIns="0" tIns="0" rIns="0" bIns="0" rtlCol="0" anchor="t">
            <a:normAutofit/>
          </a:bodyPr>
          <a:lstStyle/>
          <a:p>
            <a:pPr marL="0" indent="0" algn="l">
              <a:lnSpc>
                <a:spcPct val="100000"/>
              </a:lnSpc>
              <a:buNone/>
            </a:pPr>
            <a:r>
              <a:rPr lang="en-US" sz="1260" dirty="0">
                <a:solidFill>
                  <a:srgbClr val="5B6B7C"/>
                </a:solidFill>
                <a:latin typeface="Calibri" pitchFamily="34" charset="0"/>
                <a:ea typeface="Calibri" pitchFamily="34" charset="-122"/>
                <a:cs typeface="Calibri" pitchFamily="34" charset="-120"/>
              </a:rPr>
              <a:t>Replaced with a per-scenario evaluator applying macro averages, per-run additive-only verification and an explicit replicate whitelist.</a:t>
            </a:r>
            <a:endParaRPr lang="en-US" sz="1260" dirty="0"/>
          </a:p>
        </p:txBody>
      </p:sp>
      <p:sp>
        <p:nvSpPr>
          <p:cNvPr id="35" name="Shape 33"/>
          <p:cNvSpPr/>
          <p:nvPr/>
        </p:nvSpPr>
        <p:spPr>
          <a:xfrm>
            <a:off x="10287000" y="5505450"/>
            <a:ext cx="1181100" cy="266700"/>
          </a:xfrm>
          <a:prstGeom prst="roundRect">
            <a:avLst>
              <a:gd name="adj" fmla="val 13714"/>
            </a:avLst>
          </a:prstGeom>
          <a:solidFill>
            <a:srgbClr val="EAF2F8"/>
          </a:solidFill>
          <a:ln w="12700">
            <a:solidFill>
              <a:srgbClr val="D7E1EA"/>
            </a:solidFill>
            <a:prstDash val="solid"/>
          </a:ln>
        </p:spPr>
        <p:txBody>
          <a:bodyPr/>
          <a:lstStyle/>
          <a:p>
            <a:endParaRPr lang="en-IN"/>
          </a:p>
        </p:txBody>
      </p:sp>
      <p:sp>
        <p:nvSpPr>
          <p:cNvPr id="36" name="Text 34"/>
          <p:cNvSpPr/>
          <p:nvPr/>
        </p:nvSpPr>
        <p:spPr>
          <a:xfrm>
            <a:off x="10287000" y="5562600"/>
            <a:ext cx="1181100" cy="171450"/>
          </a:xfrm>
          <a:prstGeom prst="rect">
            <a:avLst/>
          </a:prstGeom>
          <a:noFill/>
          <a:ln/>
        </p:spPr>
        <p:txBody>
          <a:bodyPr wrap="square" lIns="0" tIns="0" rIns="0" bIns="0" rtlCol="0" anchor="t">
            <a:normAutofit/>
          </a:bodyPr>
          <a:lstStyle/>
          <a:p>
            <a:pPr marL="0" indent="0" algn="ctr">
              <a:lnSpc>
                <a:spcPct val="100000"/>
              </a:lnSpc>
              <a:buNone/>
            </a:pPr>
            <a:r>
              <a:rPr lang="en-US" sz="1050" b="1" dirty="0">
                <a:solidFill>
                  <a:srgbClr val="1C7293"/>
                </a:solidFill>
                <a:latin typeface="Calibri" pitchFamily="34" charset="0"/>
                <a:ea typeface="Calibri" pitchFamily="34" charset="-122"/>
                <a:cs typeface="Calibri" pitchFamily="34" charset="-120"/>
              </a:rPr>
              <a:t>REPLACED</a:t>
            </a:r>
            <a:endParaRPr lang="en-US" sz="1050" dirty="0"/>
          </a:p>
        </p:txBody>
      </p:sp>
      <p:sp>
        <p:nvSpPr>
          <p:cNvPr id="37" name="Shape 35"/>
          <p:cNvSpPr/>
          <p:nvPr/>
        </p:nvSpPr>
        <p:spPr>
          <a:xfrm>
            <a:off x="571500" y="6229350"/>
            <a:ext cx="11049000" cy="495300"/>
          </a:xfrm>
          <a:prstGeom prst="roundRect">
            <a:avLst>
              <a:gd name="adj" fmla="val 7385"/>
            </a:avLst>
          </a:prstGeom>
          <a:solidFill>
            <a:srgbClr val="0E2440"/>
          </a:solidFill>
          <a:ln w="12700">
            <a:solidFill>
              <a:srgbClr val="0E2440"/>
            </a:solidFill>
            <a:prstDash val="solid"/>
          </a:ln>
        </p:spPr>
        <p:txBody>
          <a:bodyPr/>
          <a:lstStyle/>
          <a:p>
            <a:endParaRPr lang="en-IN"/>
          </a:p>
        </p:txBody>
      </p:sp>
      <p:sp>
        <p:nvSpPr>
          <p:cNvPr id="38" name="Text 36"/>
          <p:cNvSpPr/>
          <p:nvPr/>
        </p:nvSpPr>
        <p:spPr>
          <a:xfrm>
            <a:off x="781050" y="6343650"/>
            <a:ext cx="10629900" cy="28575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FFFFFF"/>
                </a:solidFill>
                <a:latin typeface="Cambria" pitchFamily="34" charset="0"/>
                <a:ea typeface="Cambria" pitchFamily="34" charset="-122"/>
                <a:cs typeface="Cambria" pitchFamily="34" charset="-120"/>
              </a:rPr>
              <a:t>Disclosing defects found in our own pipeline is treated as part of the experimental result. Two of the four had fabricated data; both were corrected and re-executed, and the withdrawn figures are not reported anywhere in this deck.</a:t>
            </a:r>
            <a:endParaRPr lang="en-US" sz="13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CLASSIFICATION RESULTS</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Scenario-Level Classification Results</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168 live runs, 14 scenarios, 12 replicates each  |  Wilson score 95% confidence intervals  |  Expected verdicts pre-registered before execution  |  Source: EVALUATION_V4.json</a:t>
            </a:r>
            <a:endParaRPr lang="en-US" sz="1120" dirty="0"/>
          </a:p>
        </p:txBody>
      </p:sp>
      <p:sp>
        <p:nvSpPr>
          <p:cNvPr id="8" name="Text 6"/>
          <p:cNvSpPr/>
          <p:nvPr/>
        </p:nvSpPr>
        <p:spPr>
          <a:xfrm>
            <a:off x="666750" y="1638300"/>
            <a:ext cx="26670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SCENARIO</a:t>
            </a:r>
            <a:endParaRPr lang="en-US" sz="1200" dirty="0"/>
          </a:p>
        </p:txBody>
      </p:sp>
      <p:sp>
        <p:nvSpPr>
          <p:cNvPr id="9" name="Text 7"/>
          <p:cNvSpPr/>
          <p:nvPr/>
        </p:nvSpPr>
        <p:spPr>
          <a:xfrm>
            <a:off x="3429000" y="1638300"/>
            <a:ext cx="1047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EXPECTED</a:t>
            </a:r>
            <a:endParaRPr lang="en-US" sz="1200" dirty="0"/>
          </a:p>
        </p:txBody>
      </p:sp>
      <p:sp>
        <p:nvSpPr>
          <p:cNvPr id="10" name="Text 8"/>
          <p:cNvSpPr/>
          <p:nvPr/>
        </p:nvSpPr>
        <p:spPr>
          <a:xfrm>
            <a:off x="4667250" y="1638300"/>
            <a:ext cx="2000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PRE-FROZEN BASE RULE</a:t>
            </a:r>
            <a:endParaRPr lang="en-US" sz="1200" dirty="0"/>
          </a:p>
        </p:txBody>
      </p:sp>
      <p:sp>
        <p:nvSpPr>
          <p:cNvPr id="11" name="Text 9"/>
          <p:cNvSpPr/>
          <p:nvPr/>
        </p:nvSpPr>
        <p:spPr>
          <a:xfrm>
            <a:off x="6858000" y="1638300"/>
            <a:ext cx="1809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REVISED RULE v3</a:t>
            </a:r>
            <a:endParaRPr lang="en-US" sz="1200" dirty="0"/>
          </a:p>
        </p:txBody>
      </p:sp>
      <p:sp>
        <p:nvSpPr>
          <p:cNvPr id="12" name="Text 10"/>
          <p:cNvSpPr/>
          <p:nvPr/>
        </p:nvSpPr>
        <p:spPr>
          <a:xfrm>
            <a:off x="8858250" y="1638300"/>
            <a:ext cx="1428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95% CI (v3)</a:t>
            </a:r>
            <a:endParaRPr lang="en-US" sz="1200" dirty="0"/>
          </a:p>
        </p:txBody>
      </p:sp>
      <p:sp>
        <p:nvSpPr>
          <p:cNvPr id="13" name="Text 11"/>
          <p:cNvSpPr/>
          <p:nvPr/>
        </p:nvSpPr>
        <p:spPr>
          <a:xfrm>
            <a:off x="10382250" y="1638300"/>
            <a:ext cx="1143000" cy="228600"/>
          </a:xfrm>
          <a:prstGeom prst="rect">
            <a:avLst/>
          </a:prstGeom>
          <a:noFill/>
          <a:ln/>
        </p:spPr>
        <p:txBody>
          <a:bodyPr wrap="square" lIns="0" tIns="0" rIns="0" bIns="0" rtlCol="0" anchor="t">
            <a:normAutofit/>
          </a:bodyPr>
          <a:lstStyle/>
          <a:p>
            <a:pPr marL="0" indent="0" algn="l">
              <a:lnSpc>
                <a:spcPct val="100000"/>
              </a:lnSpc>
              <a:buNone/>
            </a:pPr>
            <a:endParaRPr lang="en-US" sz="1200" dirty="0"/>
          </a:p>
        </p:txBody>
      </p:sp>
      <p:sp>
        <p:nvSpPr>
          <p:cNvPr id="14" name="Shape 12"/>
          <p:cNvSpPr/>
          <p:nvPr/>
        </p:nvSpPr>
        <p:spPr>
          <a:xfrm>
            <a:off x="571500" y="1895475"/>
            <a:ext cx="11049000" cy="11430"/>
          </a:xfrm>
          <a:prstGeom prst="rect">
            <a:avLst/>
          </a:prstGeom>
          <a:solidFill>
            <a:srgbClr val="D7E1EA"/>
          </a:solidFill>
          <a:ln/>
        </p:spPr>
        <p:txBody>
          <a:bodyPr/>
          <a:lstStyle/>
          <a:p>
            <a:endParaRPr lang="en-IN"/>
          </a:p>
        </p:txBody>
      </p:sp>
      <p:sp>
        <p:nvSpPr>
          <p:cNvPr id="15" name="Text 13"/>
          <p:cNvSpPr/>
          <p:nvPr/>
        </p:nvSpPr>
        <p:spPr>
          <a:xfrm>
            <a:off x="666750" y="1971675"/>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mbria" pitchFamily="34" charset="0"/>
                <a:ea typeface="Cambria" pitchFamily="34" charset="-122"/>
                <a:cs typeface="Cambria" pitchFamily="34" charset="-120"/>
              </a:rPr>
              <a:t>A1 rogue grandmaster</a:t>
            </a:r>
            <a:endParaRPr lang="en-US" sz="1340" dirty="0"/>
          </a:p>
        </p:txBody>
      </p:sp>
      <p:sp>
        <p:nvSpPr>
          <p:cNvPr id="16" name="Text 14"/>
          <p:cNvSpPr/>
          <p:nvPr/>
        </p:nvSpPr>
        <p:spPr>
          <a:xfrm>
            <a:off x="3429000" y="1981200"/>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17" name="Text 15"/>
          <p:cNvSpPr/>
          <p:nvPr/>
        </p:nvSpPr>
        <p:spPr>
          <a:xfrm>
            <a:off x="4667250" y="1971675"/>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12/12</a:t>
            </a:r>
            <a:endParaRPr lang="en-US" sz="1340" dirty="0"/>
          </a:p>
        </p:txBody>
      </p:sp>
      <p:sp>
        <p:nvSpPr>
          <p:cNvPr id="18" name="Text 16"/>
          <p:cNvSpPr/>
          <p:nvPr/>
        </p:nvSpPr>
        <p:spPr>
          <a:xfrm>
            <a:off x="6858000" y="1971675"/>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12/12</a:t>
            </a:r>
            <a:endParaRPr lang="en-US" sz="1340" dirty="0"/>
          </a:p>
        </p:txBody>
      </p:sp>
      <p:sp>
        <p:nvSpPr>
          <p:cNvPr id="19" name="Text 17"/>
          <p:cNvSpPr/>
          <p:nvPr/>
        </p:nvSpPr>
        <p:spPr>
          <a:xfrm>
            <a:off x="8858250" y="1981200"/>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20" name="Text 18"/>
          <p:cNvSpPr/>
          <p:nvPr/>
        </p:nvSpPr>
        <p:spPr>
          <a:xfrm>
            <a:off x="666750" y="2266950"/>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mbria" pitchFamily="34" charset="0"/>
                <a:ea typeface="Cambria" pitchFamily="34" charset="-122"/>
                <a:cs typeface="Cambria" pitchFamily="34" charset="-120"/>
              </a:rPr>
              <a:t>A2 Sync spoofing</a:t>
            </a:r>
            <a:endParaRPr lang="en-US" sz="1340" dirty="0"/>
          </a:p>
        </p:txBody>
      </p:sp>
      <p:sp>
        <p:nvSpPr>
          <p:cNvPr id="21" name="Text 19"/>
          <p:cNvSpPr/>
          <p:nvPr/>
        </p:nvSpPr>
        <p:spPr>
          <a:xfrm>
            <a:off x="3429000" y="2276475"/>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22" name="Text 20"/>
          <p:cNvSpPr/>
          <p:nvPr/>
        </p:nvSpPr>
        <p:spPr>
          <a:xfrm>
            <a:off x="4667250" y="2266950"/>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12/12</a:t>
            </a:r>
            <a:endParaRPr lang="en-US" sz="1340" dirty="0"/>
          </a:p>
        </p:txBody>
      </p:sp>
      <p:sp>
        <p:nvSpPr>
          <p:cNvPr id="23" name="Text 21"/>
          <p:cNvSpPr/>
          <p:nvPr/>
        </p:nvSpPr>
        <p:spPr>
          <a:xfrm>
            <a:off x="6858000" y="2266950"/>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12/12</a:t>
            </a:r>
            <a:endParaRPr lang="en-US" sz="1340" dirty="0"/>
          </a:p>
        </p:txBody>
      </p:sp>
      <p:sp>
        <p:nvSpPr>
          <p:cNvPr id="24" name="Text 22"/>
          <p:cNvSpPr/>
          <p:nvPr/>
        </p:nvSpPr>
        <p:spPr>
          <a:xfrm>
            <a:off x="8858250" y="2276475"/>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25" name="Text 23"/>
          <p:cNvSpPr/>
          <p:nvPr/>
        </p:nvSpPr>
        <p:spPr>
          <a:xfrm>
            <a:off x="666750" y="2562225"/>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mbria" pitchFamily="34" charset="0"/>
                <a:ea typeface="Cambria" pitchFamily="34" charset="-122"/>
                <a:cs typeface="Cambria" pitchFamily="34" charset="-120"/>
              </a:rPr>
              <a:t>A3 replay</a:t>
            </a:r>
            <a:endParaRPr lang="en-US" sz="1340" dirty="0"/>
          </a:p>
        </p:txBody>
      </p:sp>
      <p:sp>
        <p:nvSpPr>
          <p:cNvPr id="26" name="Text 24"/>
          <p:cNvSpPr/>
          <p:nvPr/>
        </p:nvSpPr>
        <p:spPr>
          <a:xfrm>
            <a:off x="3429000" y="2571750"/>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27" name="Text 25"/>
          <p:cNvSpPr/>
          <p:nvPr/>
        </p:nvSpPr>
        <p:spPr>
          <a:xfrm>
            <a:off x="4667250" y="2562225"/>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12/12</a:t>
            </a:r>
            <a:endParaRPr lang="en-US" sz="1340" dirty="0"/>
          </a:p>
        </p:txBody>
      </p:sp>
      <p:sp>
        <p:nvSpPr>
          <p:cNvPr id="28" name="Text 26"/>
          <p:cNvSpPr/>
          <p:nvPr/>
        </p:nvSpPr>
        <p:spPr>
          <a:xfrm>
            <a:off x="6858000" y="2562225"/>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12/12</a:t>
            </a:r>
            <a:endParaRPr lang="en-US" sz="1340" dirty="0"/>
          </a:p>
        </p:txBody>
      </p:sp>
      <p:sp>
        <p:nvSpPr>
          <p:cNvPr id="29" name="Text 27"/>
          <p:cNvSpPr/>
          <p:nvPr/>
        </p:nvSpPr>
        <p:spPr>
          <a:xfrm>
            <a:off x="8858250" y="2571750"/>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30" name="Text 28"/>
          <p:cNvSpPr/>
          <p:nvPr/>
        </p:nvSpPr>
        <p:spPr>
          <a:xfrm>
            <a:off x="666750" y="2857500"/>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mbria" pitchFamily="34" charset="0"/>
                <a:ea typeface="Cambria" pitchFamily="34" charset="-122"/>
                <a:cs typeface="Cambria" pitchFamily="34" charset="-120"/>
              </a:rPr>
              <a:t>A5 DoS flooding</a:t>
            </a:r>
            <a:endParaRPr lang="en-US" sz="1340" dirty="0"/>
          </a:p>
        </p:txBody>
      </p:sp>
      <p:sp>
        <p:nvSpPr>
          <p:cNvPr id="31" name="Text 29"/>
          <p:cNvSpPr/>
          <p:nvPr/>
        </p:nvSpPr>
        <p:spPr>
          <a:xfrm>
            <a:off x="3429000" y="2867025"/>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32" name="Text 30"/>
          <p:cNvSpPr/>
          <p:nvPr/>
        </p:nvSpPr>
        <p:spPr>
          <a:xfrm>
            <a:off x="4667250" y="2857500"/>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12/12</a:t>
            </a:r>
            <a:endParaRPr lang="en-US" sz="1340" dirty="0"/>
          </a:p>
        </p:txBody>
      </p:sp>
      <p:sp>
        <p:nvSpPr>
          <p:cNvPr id="33" name="Text 31"/>
          <p:cNvSpPr/>
          <p:nvPr/>
        </p:nvSpPr>
        <p:spPr>
          <a:xfrm>
            <a:off x="6858000" y="2857500"/>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12/12</a:t>
            </a:r>
            <a:endParaRPr lang="en-US" sz="1340" dirty="0"/>
          </a:p>
        </p:txBody>
      </p:sp>
      <p:sp>
        <p:nvSpPr>
          <p:cNvPr id="34" name="Text 32"/>
          <p:cNvSpPr/>
          <p:nvPr/>
        </p:nvSpPr>
        <p:spPr>
          <a:xfrm>
            <a:off x="8858250" y="2867025"/>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35" name="Text 33"/>
          <p:cNvSpPr/>
          <p:nvPr/>
        </p:nvSpPr>
        <p:spPr>
          <a:xfrm>
            <a:off x="666750" y="3152775"/>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mbria" pitchFamily="34" charset="0"/>
                <a:ea typeface="Cambria" pitchFamily="34" charset="-122"/>
                <a:cs typeface="Cambria" pitchFamily="34" charset="-120"/>
              </a:rPr>
              <a:t>A8 rogue boundary clock</a:t>
            </a:r>
            <a:endParaRPr lang="en-US" sz="1340" dirty="0"/>
          </a:p>
        </p:txBody>
      </p:sp>
      <p:sp>
        <p:nvSpPr>
          <p:cNvPr id="36" name="Text 34"/>
          <p:cNvSpPr/>
          <p:nvPr/>
        </p:nvSpPr>
        <p:spPr>
          <a:xfrm>
            <a:off x="3429000" y="3162300"/>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37" name="Text 35"/>
          <p:cNvSpPr/>
          <p:nvPr/>
        </p:nvSpPr>
        <p:spPr>
          <a:xfrm>
            <a:off x="4667250" y="3152775"/>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12/12</a:t>
            </a:r>
            <a:endParaRPr lang="en-US" sz="1340" dirty="0"/>
          </a:p>
        </p:txBody>
      </p:sp>
      <p:sp>
        <p:nvSpPr>
          <p:cNvPr id="38" name="Text 36"/>
          <p:cNvSpPr/>
          <p:nvPr/>
        </p:nvSpPr>
        <p:spPr>
          <a:xfrm>
            <a:off x="6858000" y="3152775"/>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12/12</a:t>
            </a:r>
            <a:endParaRPr lang="en-US" sz="1340" dirty="0"/>
          </a:p>
        </p:txBody>
      </p:sp>
      <p:sp>
        <p:nvSpPr>
          <p:cNvPr id="39" name="Text 37"/>
          <p:cNvSpPr/>
          <p:nvPr/>
        </p:nvSpPr>
        <p:spPr>
          <a:xfrm>
            <a:off x="8858250" y="3162300"/>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40" name="Shape 38"/>
          <p:cNvSpPr/>
          <p:nvPr/>
        </p:nvSpPr>
        <p:spPr>
          <a:xfrm>
            <a:off x="571500" y="3400425"/>
            <a:ext cx="11049000" cy="285750"/>
          </a:xfrm>
          <a:prstGeom prst="rect">
            <a:avLst/>
          </a:prstGeom>
          <a:solidFill>
            <a:srgbClr val="EAF7F1"/>
          </a:solidFill>
          <a:ln/>
        </p:spPr>
        <p:txBody>
          <a:bodyPr/>
          <a:lstStyle/>
          <a:p>
            <a:endParaRPr lang="en-IN"/>
          </a:p>
        </p:txBody>
      </p:sp>
      <p:sp>
        <p:nvSpPr>
          <p:cNvPr id="41" name="Text 39"/>
          <p:cNvSpPr/>
          <p:nvPr/>
        </p:nvSpPr>
        <p:spPr>
          <a:xfrm>
            <a:off x="666750" y="3448050"/>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C1 selective interception</a:t>
            </a:r>
            <a:endParaRPr lang="en-US" sz="1340" dirty="0"/>
          </a:p>
        </p:txBody>
      </p:sp>
      <p:sp>
        <p:nvSpPr>
          <p:cNvPr id="42" name="Text 40"/>
          <p:cNvSpPr/>
          <p:nvPr/>
        </p:nvSpPr>
        <p:spPr>
          <a:xfrm>
            <a:off x="3429000" y="3457575"/>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43" name="Text 41"/>
          <p:cNvSpPr/>
          <p:nvPr/>
        </p:nvSpPr>
        <p:spPr>
          <a:xfrm>
            <a:off x="4667250" y="3448050"/>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B3402F"/>
                </a:solidFill>
                <a:latin typeface="Calibri" pitchFamily="34" charset="0"/>
                <a:ea typeface="Calibri" pitchFamily="34" charset="-122"/>
                <a:cs typeface="Calibri" pitchFamily="34" charset="-120"/>
              </a:rPr>
              <a:t>0/12</a:t>
            </a:r>
            <a:endParaRPr lang="en-US" sz="1340" dirty="0"/>
          </a:p>
        </p:txBody>
      </p:sp>
      <p:sp>
        <p:nvSpPr>
          <p:cNvPr id="44" name="Text 42"/>
          <p:cNvSpPr/>
          <p:nvPr/>
        </p:nvSpPr>
        <p:spPr>
          <a:xfrm>
            <a:off x="6858000" y="3448050"/>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E8E5A"/>
                </a:solidFill>
                <a:latin typeface="Calibri" pitchFamily="34" charset="0"/>
                <a:ea typeface="Calibri" pitchFamily="34" charset="-122"/>
                <a:cs typeface="Calibri" pitchFamily="34" charset="-120"/>
              </a:rPr>
              <a:t>11/12</a:t>
            </a:r>
            <a:endParaRPr lang="en-US" sz="1340" dirty="0"/>
          </a:p>
        </p:txBody>
      </p:sp>
      <p:sp>
        <p:nvSpPr>
          <p:cNvPr id="45" name="Text 43"/>
          <p:cNvSpPr/>
          <p:nvPr/>
        </p:nvSpPr>
        <p:spPr>
          <a:xfrm>
            <a:off x="8858250" y="3457575"/>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0.646–0.985</a:t>
            </a:r>
            <a:endParaRPr lang="en-US" sz="1200" dirty="0"/>
          </a:p>
        </p:txBody>
      </p:sp>
      <p:sp>
        <p:nvSpPr>
          <p:cNvPr id="46" name="Text 44"/>
          <p:cNvSpPr/>
          <p:nvPr/>
        </p:nvSpPr>
        <p:spPr>
          <a:xfrm>
            <a:off x="10382250" y="3457575"/>
            <a:ext cx="1143000" cy="190500"/>
          </a:xfrm>
          <a:prstGeom prst="rect">
            <a:avLst/>
          </a:prstGeom>
          <a:noFill/>
          <a:ln/>
        </p:spPr>
        <p:txBody>
          <a:bodyPr wrap="square" lIns="0" tIns="0" rIns="0" bIns="0" rtlCol="0" anchor="t">
            <a:normAutofit/>
          </a:bodyPr>
          <a:lstStyle/>
          <a:p>
            <a:pPr marL="0" indent="0" algn="l">
              <a:lnSpc>
                <a:spcPct val="100000"/>
              </a:lnSpc>
              <a:buNone/>
            </a:pPr>
            <a:r>
              <a:rPr lang="en-US" sz="1050" b="1" dirty="0">
                <a:solidFill>
                  <a:srgbClr val="1E8E5A"/>
                </a:solidFill>
                <a:latin typeface="Calibri" pitchFamily="34" charset="0"/>
                <a:ea typeface="Calibri" pitchFamily="34" charset="-122"/>
                <a:cs typeface="Calibri" pitchFamily="34" charset="-120"/>
              </a:rPr>
              <a:t>gap closed</a:t>
            </a:r>
            <a:endParaRPr lang="en-US" sz="1050" dirty="0"/>
          </a:p>
        </p:txBody>
      </p:sp>
      <p:sp>
        <p:nvSpPr>
          <p:cNvPr id="47" name="Shape 45"/>
          <p:cNvSpPr/>
          <p:nvPr/>
        </p:nvSpPr>
        <p:spPr>
          <a:xfrm>
            <a:off x="571500" y="3695700"/>
            <a:ext cx="11049000" cy="285750"/>
          </a:xfrm>
          <a:prstGeom prst="rect">
            <a:avLst/>
          </a:prstGeom>
          <a:solidFill>
            <a:srgbClr val="EAF7F1"/>
          </a:solidFill>
          <a:ln/>
        </p:spPr>
        <p:txBody>
          <a:bodyPr/>
          <a:lstStyle/>
          <a:p>
            <a:endParaRPr lang="en-IN"/>
          </a:p>
        </p:txBody>
      </p:sp>
      <p:sp>
        <p:nvSpPr>
          <p:cNvPr id="48" name="Text 46"/>
          <p:cNvSpPr/>
          <p:nvPr/>
        </p:nvSpPr>
        <p:spPr>
          <a:xfrm>
            <a:off x="666750" y="3743325"/>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C2 malformed frames</a:t>
            </a:r>
            <a:endParaRPr lang="en-US" sz="1340" dirty="0"/>
          </a:p>
        </p:txBody>
      </p:sp>
      <p:sp>
        <p:nvSpPr>
          <p:cNvPr id="49" name="Text 47"/>
          <p:cNvSpPr/>
          <p:nvPr/>
        </p:nvSpPr>
        <p:spPr>
          <a:xfrm>
            <a:off x="3429000" y="3752850"/>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50" name="Text 48"/>
          <p:cNvSpPr/>
          <p:nvPr/>
        </p:nvSpPr>
        <p:spPr>
          <a:xfrm>
            <a:off x="4667250" y="3743325"/>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B3402F"/>
                </a:solidFill>
                <a:latin typeface="Calibri" pitchFamily="34" charset="0"/>
                <a:ea typeface="Calibri" pitchFamily="34" charset="-122"/>
                <a:cs typeface="Calibri" pitchFamily="34" charset="-120"/>
              </a:rPr>
              <a:t>0/12</a:t>
            </a:r>
            <a:endParaRPr lang="en-US" sz="1340" dirty="0"/>
          </a:p>
        </p:txBody>
      </p:sp>
      <p:sp>
        <p:nvSpPr>
          <p:cNvPr id="51" name="Text 49"/>
          <p:cNvSpPr/>
          <p:nvPr/>
        </p:nvSpPr>
        <p:spPr>
          <a:xfrm>
            <a:off x="6858000" y="3743325"/>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E8E5A"/>
                </a:solidFill>
                <a:latin typeface="Calibri" pitchFamily="34" charset="0"/>
                <a:ea typeface="Calibri" pitchFamily="34" charset="-122"/>
                <a:cs typeface="Calibri" pitchFamily="34" charset="-120"/>
              </a:rPr>
              <a:t>12/12</a:t>
            </a:r>
            <a:endParaRPr lang="en-US" sz="1340" dirty="0"/>
          </a:p>
        </p:txBody>
      </p:sp>
      <p:sp>
        <p:nvSpPr>
          <p:cNvPr id="52" name="Text 50"/>
          <p:cNvSpPr/>
          <p:nvPr/>
        </p:nvSpPr>
        <p:spPr>
          <a:xfrm>
            <a:off x="8858250" y="3752850"/>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53" name="Text 51"/>
          <p:cNvSpPr/>
          <p:nvPr/>
        </p:nvSpPr>
        <p:spPr>
          <a:xfrm>
            <a:off x="10382250" y="3752850"/>
            <a:ext cx="1143000" cy="190500"/>
          </a:xfrm>
          <a:prstGeom prst="rect">
            <a:avLst/>
          </a:prstGeom>
          <a:noFill/>
          <a:ln/>
        </p:spPr>
        <p:txBody>
          <a:bodyPr wrap="square" lIns="0" tIns="0" rIns="0" bIns="0" rtlCol="0" anchor="t">
            <a:normAutofit/>
          </a:bodyPr>
          <a:lstStyle/>
          <a:p>
            <a:pPr marL="0" indent="0" algn="l">
              <a:lnSpc>
                <a:spcPct val="100000"/>
              </a:lnSpc>
              <a:buNone/>
            </a:pPr>
            <a:r>
              <a:rPr lang="en-US" sz="1050" b="1" dirty="0">
                <a:solidFill>
                  <a:srgbClr val="1E8E5A"/>
                </a:solidFill>
                <a:latin typeface="Calibri" pitchFamily="34" charset="0"/>
                <a:ea typeface="Calibri" pitchFamily="34" charset="-122"/>
                <a:cs typeface="Calibri" pitchFamily="34" charset="-120"/>
              </a:rPr>
              <a:t>gap closed</a:t>
            </a:r>
            <a:endParaRPr lang="en-US" sz="1050" dirty="0"/>
          </a:p>
        </p:txBody>
      </p:sp>
      <p:sp>
        <p:nvSpPr>
          <p:cNvPr id="54" name="Shape 52"/>
          <p:cNvSpPr/>
          <p:nvPr/>
        </p:nvSpPr>
        <p:spPr>
          <a:xfrm>
            <a:off x="571500" y="3990975"/>
            <a:ext cx="11049000" cy="285750"/>
          </a:xfrm>
          <a:prstGeom prst="rect">
            <a:avLst/>
          </a:prstGeom>
          <a:solidFill>
            <a:srgbClr val="EAF7F1"/>
          </a:solidFill>
          <a:ln/>
        </p:spPr>
        <p:txBody>
          <a:bodyPr/>
          <a:lstStyle/>
          <a:p>
            <a:endParaRPr lang="en-IN"/>
          </a:p>
        </p:txBody>
      </p:sp>
      <p:sp>
        <p:nvSpPr>
          <p:cNvPr id="55" name="Text 53"/>
          <p:cNvSpPr/>
          <p:nvPr/>
        </p:nvSpPr>
        <p:spPr>
          <a:xfrm>
            <a:off x="666750" y="4038600"/>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C3 whole-second abuse</a:t>
            </a:r>
            <a:endParaRPr lang="en-US" sz="1340" dirty="0"/>
          </a:p>
        </p:txBody>
      </p:sp>
      <p:sp>
        <p:nvSpPr>
          <p:cNvPr id="56" name="Text 54"/>
          <p:cNvSpPr/>
          <p:nvPr/>
        </p:nvSpPr>
        <p:spPr>
          <a:xfrm>
            <a:off x="3429000" y="4048125"/>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B3402F"/>
                </a:solidFill>
                <a:latin typeface="Calibri" pitchFamily="34" charset="0"/>
                <a:ea typeface="Calibri" pitchFamily="34" charset="-122"/>
                <a:cs typeface="Calibri" pitchFamily="34" charset="-120"/>
              </a:rPr>
              <a:t>ATTACK</a:t>
            </a:r>
            <a:endParaRPr lang="en-US" sz="1150" dirty="0"/>
          </a:p>
        </p:txBody>
      </p:sp>
      <p:sp>
        <p:nvSpPr>
          <p:cNvPr id="57" name="Text 55"/>
          <p:cNvSpPr/>
          <p:nvPr/>
        </p:nvSpPr>
        <p:spPr>
          <a:xfrm>
            <a:off x="4667250" y="4038600"/>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B3402F"/>
                </a:solidFill>
                <a:latin typeface="Calibri" pitchFamily="34" charset="0"/>
                <a:ea typeface="Calibri" pitchFamily="34" charset="-122"/>
                <a:cs typeface="Calibri" pitchFamily="34" charset="-120"/>
              </a:rPr>
              <a:t>0/12</a:t>
            </a:r>
            <a:endParaRPr lang="en-US" sz="1340" dirty="0"/>
          </a:p>
        </p:txBody>
      </p:sp>
      <p:sp>
        <p:nvSpPr>
          <p:cNvPr id="58" name="Text 56"/>
          <p:cNvSpPr/>
          <p:nvPr/>
        </p:nvSpPr>
        <p:spPr>
          <a:xfrm>
            <a:off x="6858000" y="4038600"/>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E8E5A"/>
                </a:solidFill>
                <a:latin typeface="Calibri" pitchFamily="34" charset="0"/>
                <a:ea typeface="Calibri" pitchFamily="34" charset="-122"/>
                <a:cs typeface="Calibri" pitchFamily="34" charset="-120"/>
              </a:rPr>
              <a:t>12/12</a:t>
            </a:r>
            <a:endParaRPr lang="en-US" sz="1340" dirty="0"/>
          </a:p>
        </p:txBody>
      </p:sp>
      <p:sp>
        <p:nvSpPr>
          <p:cNvPr id="59" name="Text 57"/>
          <p:cNvSpPr/>
          <p:nvPr/>
        </p:nvSpPr>
        <p:spPr>
          <a:xfrm>
            <a:off x="8858250" y="4048125"/>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60" name="Text 58"/>
          <p:cNvSpPr/>
          <p:nvPr/>
        </p:nvSpPr>
        <p:spPr>
          <a:xfrm>
            <a:off x="10382250" y="4048125"/>
            <a:ext cx="1143000" cy="190500"/>
          </a:xfrm>
          <a:prstGeom prst="rect">
            <a:avLst/>
          </a:prstGeom>
          <a:noFill/>
          <a:ln/>
        </p:spPr>
        <p:txBody>
          <a:bodyPr wrap="square" lIns="0" tIns="0" rIns="0" bIns="0" rtlCol="0" anchor="t">
            <a:normAutofit/>
          </a:bodyPr>
          <a:lstStyle/>
          <a:p>
            <a:pPr marL="0" indent="0" algn="l">
              <a:lnSpc>
                <a:spcPct val="100000"/>
              </a:lnSpc>
              <a:buNone/>
            </a:pPr>
            <a:r>
              <a:rPr lang="en-US" sz="1050" b="1" dirty="0">
                <a:solidFill>
                  <a:srgbClr val="1E8E5A"/>
                </a:solidFill>
                <a:latin typeface="Calibri" pitchFamily="34" charset="0"/>
                <a:ea typeface="Calibri" pitchFamily="34" charset="-122"/>
                <a:cs typeface="Calibri" pitchFamily="34" charset="-120"/>
              </a:rPr>
              <a:t>gap closed</a:t>
            </a:r>
            <a:endParaRPr lang="en-US" sz="1050" dirty="0"/>
          </a:p>
        </p:txBody>
      </p:sp>
      <p:sp>
        <p:nvSpPr>
          <p:cNvPr id="61" name="Text 59"/>
          <p:cNvSpPr/>
          <p:nvPr/>
        </p:nvSpPr>
        <p:spPr>
          <a:xfrm>
            <a:off x="666750" y="4333875"/>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mbria" pitchFamily="34" charset="0"/>
                <a:ea typeface="Cambria" pitchFamily="34" charset="-122"/>
                <a:cs typeface="Cambria" pitchFamily="34" charset="-120"/>
              </a:rPr>
              <a:t>baseline</a:t>
            </a:r>
            <a:endParaRPr lang="en-US" sz="1340" dirty="0"/>
          </a:p>
        </p:txBody>
      </p:sp>
      <p:sp>
        <p:nvSpPr>
          <p:cNvPr id="62" name="Text 60"/>
          <p:cNvSpPr/>
          <p:nvPr/>
        </p:nvSpPr>
        <p:spPr>
          <a:xfrm>
            <a:off x="3429000" y="4343400"/>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63" name="Text 61"/>
          <p:cNvSpPr/>
          <p:nvPr/>
        </p:nvSpPr>
        <p:spPr>
          <a:xfrm>
            <a:off x="4667250" y="4333875"/>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12/12</a:t>
            </a:r>
            <a:endParaRPr lang="en-US" sz="1340" dirty="0"/>
          </a:p>
        </p:txBody>
      </p:sp>
      <p:sp>
        <p:nvSpPr>
          <p:cNvPr id="64" name="Text 62"/>
          <p:cNvSpPr/>
          <p:nvPr/>
        </p:nvSpPr>
        <p:spPr>
          <a:xfrm>
            <a:off x="6858000" y="4333875"/>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12/12</a:t>
            </a:r>
            <a:endParaRPr lang="en-US" sz="1340" dirty="0"/>
          </a:p>
        </p:txBody>
      </p:sp>
      <p:sp>
        <p:nvSpPr>
          <p:cNvPr id="65" name="Text 63"/>
          <p:cNvSpPr/>
          <p:nvPr/>
        </p:nvSpPr>
        <p:spPr>
          <a:xfrm>
            <a:off x="8858250" y="4343400"/>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66" name="Text 64"/>
          <p:cNvSpPr/>
          <p:nvPr/>
        </p:nvSpPr>
        <p:spPr>
          <a:xfrm>
            <a:off x="666750" y="4629150"/>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mbria" pitchFamily="34" charset="0"/>
                <a:ea typeface="Cambria" pitchFamily="34" charset="-122"/>
                <a:cs typeface="Cambria" pitchFamily="34" charset="-120"/>
              </a:rPr>
              <a:t>B2 planned GM changeover</a:t>
            </a:r>
            <a:endParaRPr lang="en-US" sz="1340" dirty="0"/>
          </a:p>
        </p:txBody>
      </p:sp>
      <p:sp>
        <p:nvSpPr>
          <p:cNvPr id="67" name="Text 65"/>
          <p:cNvSpPr/>
          <p:nvPr/>
        </p:nvSpPr>
        <p:spPr>
          <a:xfrm>
            <a:off x="3429000" y="4638675"/>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68" name="Text 66"/>
          <p:cNvSpPr/>
          <p:nvPr/>
        </p:nvSpPr>
        <p:spPr>
          <a:xfrm>
            <a:off x="4667250" y="4629150"/>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12/12</a:t>
            </a:r>
            <a:endParaRPr lang="en-US" sz="1340" dirty="0"/>
          </a:p>
        </p:txBody>
      </p:sp>
      <p:sp>
        <p:nvSpPr>
          <p:cNvPr id="69" name="Text 67"/>
          <p:cNvSpPr/>
          <p:nvPr/>
        </p:nvSpPr>
        <p:spPr>
          <a:xfrm>
            <a:off x="6858000" y="4629150"/>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12/12</a:t>
            </a:r>
            <a:endParaRPr lang="en-US" sz="1340" dirty="0"/>
          </a:p>
        </p:txBody>
      </p:sp>
      <p:sp>
        <p:nvSpPr>
          <p:cNvPr id="70" name="Text 68"/>
          <p:cNvSpPr/>
          <p:nvPr/>
        </p:nvSpPr>
        <p:spPr>
          <a:xfrm>
            <a:off x="8858250" y="4638675"/>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71" name="Text 69"/>
          <p:cNvSpPr/>
          <p:nvPr/>
        </p:nvSpPr>
        <p:spPr>
          <a:xfrm>
            <a:off x="666750" y="4924425"/>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B3 congestion</a:t>
            </a:r>
            <a:endParaRPr lang="en-US" sz="1340" dirty="0"/>
          </a:p>
        </p:txBody>
      </p:sp>
      <p:sp>
        <p:nvSpPr>
          <p:cNvPr id="72" name="Text 70"/>
          <p:cNvSpPr/>
          <p:nvPr/>
        </p:nvSpPr>
        <p:spPr>
          <a:xfrm>
            <a:off x="3429000" y="4933950"/>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73" name="Text 71"/>
          <p:cNvSpPr/>
          <p:nvPr/>
        </p:nvSpPr>
        <p:spPr>
          <a:xfrm>
            <a:off x="4667250" y="4924425"/>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11/12</a:t>
            </a:r>
            <a:endParaRPr lang="en-US" sz="1340" dirty="0"/>
          </a:p>
        </p:txBody>
      </p:sp>
      <p:sp>
        <p:nvSpPr>
          <p:cNvPr id="74" name="Text 72"/>
          <p:cNvSpPr/>
          <p:nvPr/>
        </p:nvSpPr>
        <p:spPr>
          <a:xfrm>
            <a:off x="6858000" y="4924425"/>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11/12</a:t>
            </a:r>
            <a:endParaRPr lang="en-US" sz="1340" dirty="0"/>
          </a:p>
        </p:txBody>
      </p:sp>
      <p:sp>
        <p:nvSpPr>
          <p:cNvPr id="75" name="Text 73"/>
          <p:cNvSpPr/>
          <p:nvPr/>
        </p:nvSpPr>
        <p:spPr>
          <a:xfrm>
            <a:off x="8858250" y="4933950"/>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0.646–0.985</a:t>
            </a:r>
            <a:endParaRPr lang="en-US" sz="1200" dirty="0"/>
          </a:p>
        </p:txBody>
      </p:sp>
      <p:sp>
        <p:nvSpPr>
          <p:cNvPr id="76" name="Text 74"/>
          <p:cNvSpPr/>
          <p:nvPr/>
        </p:nvSpPr>
        <p:spPr>
          <a:xfrm>
            <a:off x="10382250" y="4933950"/>
            <a:ext cx="1143000" cy="190500"/>
          </a:xfrm>
          <a:prstGeom prst="rect">
            <a:avLst/>
          </a:prstGeom>
          <a:noFill/>
          <a:ln/>
        </p:spPr>
        <p:txBody>
          <a:bodyPr wrap="square" lIns="0" tIns="0" rIns="0" bIns="0" rtlCol="0" anchor="t">
            <a:normAutofit/>
          </a:bodyPr>
          <a:lstStyle/>
          <a:p>
            <a:pPr marL="0" indent="0" algn="l">
              <a:lnSpc>
                <a:spcPct val="100000"/>
              </a:lnSpc>
              <a:buNone/>
            </a:pPr>
            <a:r>
              <a:rPr lang="en-US" sz="1050" b="1" dirty="0">
                <a:solidFill>
                  <a:srgbClr val="C58B18"/>
                </a:solidFill>
                <a:latin typeface="Calibri" pitchFamily="34" charset="0"/>
                <a:ea typeface="Calibri" pitchFamily="34" charset="-122"/>
                <a:cs typeface="Calibri" pitchFamily="34" charset="-120"/>
              </a:rPr>
              <a:t>1 abstention</a:t>
            </a:r>
            <a:endParaRPr lang="en-US" sz="1050" dirty="0"/>
          </a:p>
        </p:txBody>
      </p:sp>
      <p:sp>
        <p:nvSpPr>
          <p:cNvPr id="77" name="Text 75"/>
          <p:cNvSpPr/>
          <p:nvPr/>
        </p:nvSpPr>
        <p:spPr>
          <a:xfrm>
            <a:off x="666750" y="5219700"/>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mbria" pitchFamily="34" charset="0"/>
                <a:ea typeface="Cambria" pitchFamily="34" charset="-122"/>
                <a:cs typeface="Cambria" pitchFamily="34" charset="-120"/>
              </a:rPr>
              <a:t>B7 topology reconfiguration</a:t>
            </a:r>
            <a:endParaRPr lang="en-US" sz="1340" dirty="0"/>
          </a:p>
        </p:txBody>
      </p:sp>
      <p:sp>
        <p:nvSpPr>
          <p:cNvPr id="78" name="Text 76"/>
          <p:cNvSpPr/>
          <p:nvPr/>
        </p:nvSpPr>
        <p:spPr>
          <a:xfrm>
            <a:off x="3429000" y="5229225"/>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79" name="Text 77"/>
          <p:cNvSpPr/>
          <p:nvPr/>
        </p:nvSpPr>
        <p:spPr>
          <a:xfrm>
            <a:off x="4667250" y="5219700"/>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12/12</a:t>
            </a:r>
            <a:endParaRPr lang="en-US" sz="1340" dirty="0"/>
          </a:p>
        </p:txBody>
      </p:sp>
      <p:sp>
        <p:nvSpPr>
          <p:cNvPr id="80" name="Text 78"/>
          <p:cNvSpPr/>
          <p:nvPr/>
        </p:nvSpPr>
        <p:spPr>
          <a:xfrm>
            <a:off x="6858000" y="5219700"/>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12/12</a:t>
            </a:r>
            <a:endParaRPr lang="en-US" sz="1340" dirty="0"/>
          </a:p>
        </p:txBody>
      </p:sp>
      <p:sp>
        <p:nvSpPr>
          <p:cNvPr id="81" name="Text 79"/>
          <p:cNvSpPr/>
          <p:nvPr/>
        </p:nvSpPr>
        <p:spPr>
          <a:xfrm>
            <a:off x="8858250" y="5229225"/>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82" name="Shape 80"/>
          <p:cNvSpPr/>
          <p:nvPr/>
        </p:nvSpPr>
        <p:spPr>
          <a:xfrm>
            <a:off x="571500" y="5467350"/>
            <a:ext cx="11049000" cy="285750"/>
          </a:xfrm>
          <a:prstGeom prst="rect">
            <a:avLst/>
          </a:prstGeom>
          <a:solidFill>
            <a:srgbClr val="FBEDEA"/>
          </a:solidFill>
          <a:ln/>
        </p:spPr>
        <p:txBody>
          <a:bodyPr/>
          <a:lstStyle/>
          <a:p>
            <a:endParaRPr lang="en-IN"/>
          </a:p>
        </p:txBody>
      </p:sp>
      <p:sp>
        <p:nvSpPr>
          <p:cNvPr id="83" name="Text 81"/>
          <p:cNvSpPr/>
          <p:nvPr/>
        </p:nvSpPr>
        <p:spPr>
          <a:xfrm>
            <a:off x="666750" y="5514975"/>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B_bc_replacement</a:t>
            </a:r>
            <a:endParaRPr lang="en-US" sz="1340" dirty="0"/>
          </a:p>
        </p:txBody>
      </p:sp>
      <p:sp>
        <p:nvSpPr>
          <p:cNvPr id="84" name="Text 82"/>
          <p:cNvSpPr/>
          <p:nvPr/>
        </p:nvSpPr>
        <p:spPr>
          <a:xfrm>
            <a:off x="3429000" y="5524500"/>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E8E5A"/>
                </a:solidFill>
                <a:latin typeface="Calibri" pitchFamily="34" charset="0"/>
                <a:ea typeface="Calibri" pitchFamily="34" charset="-122"/>
                <a:cs typeface="Calibri" pitchFamily="34" charset="-120"/>
              </a:rPr>
              <a:t>BENIGN</a:t>
            </a:r>
            <a:endParaRPr lang="en-US" sz="1150" dirty="0"/>
          </a:p>
        </p:txBody>
      </p:sp>
      <p:sp>
        <p:nvSpPr>
          <p:cNvPr id="85" name="Text 83"/>
          <p:cNvSpPr/>
          <p:nvPr/>
        </p:nvSpPr>
        <p:spPr>
          <a:xfrm>
            <a:off x="4667250" y="5514975"/>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B3402F"/>
                </a:solidFill>
                <a:latin typeface="Calibri" pitchFamily="34" charset="0"/>
                <a:ea typeface="Calibri" pitchFamily="34" charset="-122"/>
                <a:cs typeface="Calibri" pitchFamily="34" charset="-120"/>
              </a:rPr>
              <a:t>0/12</a:t>
            </a:r>
            <a:endParaRPr lang="en-US" sz="1340" dirty="0"/>
          </a:p>
        </p:txBody>
      </p:sp>
      <p:sp>
        <p:nvSpPr>
          <p:cNvPr id="86" name="Text 84"/>
          <p:cNvSpPr/>
          <p:nvPr/>
        </p:nvSpPr>
        <p:spPr>
          <a:xfrm>
            <a:off x="6858000" y="5514975"/>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B3402F"/>
                </a:solidFill>
                <a:latin typeface="Calibri" pitchFamily="34" charset="0"/>
                <a:ea typeface="Calibri" pitchFamily="34" charset="-122"/>
                <a:cs typeface="Calibri" pitchFamily="34" charset="-120"/>
              </a:rPr>
              <a:t>0/12</a:t>
            </a:r>
            <a:endParaRPr lang="en-US" sz="1340" dirty="0"/>
          </a:p>
        </p:txBody>
      </p:sp>
      <p:sp>
        <p:nvSpPr>
          <p:cNvPr id="87" name="Text 85"/>
          <p:cNvSpPr/>
          <p:nvPr/>
        </p:nvSpPr>
        <p:spPr>
          <a:xfrm>
            <a:off x="8858250" y="5524500"/>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0.000–0.242</a:t>
            </a:r>
            <a:endParaRPr lang="en-US" sz="1200" dirty="0"/>
          </a:p>
        </p:txBody>
      </p:sp>
      <p:sp>
        <p:nvSpPr>
          <p:cNvPr id="88" name="Text 86"/>
          <p:cNvSpPr/>
          <p:nvPr/>
        </p:nvSpPr>
        <p:spPr>
          <a:xfrm>
            <a:off x="10382250" y="5524500"/>
            <a:ext cx="1143000" cy="190500"/>
          </a:xfrm>
          <a:prstGeom prst="rect">
            <a:avLst/>
          </a:prstGeom>
          <a:noFill/>
          <a:ln/>
        </p:spPr>
        <p:txBody>
          <a:bodyPr wrap="square" lIns="0" tIns="0" rIns="0" bIns="0" rtlCol="0" anchor="t">
            <a:normAutofit/>
          </a:bodyPr>
          <a:lstStyle/>
          <a:p>
            <a:pPr marL="0" indent="0" algn="l">
              <a:lnSpc>
                <a:spcPct val="100000"/>
              </a:lnSpc>
              <a:buNone/>
            </a:pPr>
            <a:r>
              <a:rPr lang="en-US" sz="1050" b="1" dirty="0">
                <a:solidFill>
                  <a:srgbClr val="B3402F"/>
                </a:solidFill>
                <a:latin typeface="Calibri" pitchFamily="34" charset="0"/>
                <a:ea typeface="Calibri" pitchFamily="34" charset="-122"/>
                <a:cs typeface="Calibri" pitchFamily="34" charset="-120"/>
              </a:rPr>
              <a:t>open failure</a:t>
            </a:r>
            <a:endParaRPr lang="en-US" sz="1050" dirty="0"/>
          </a:p>
        </p:txBody>
      </p:sp>
      <p:sp>
        <p:nvSpPr>
          <p:cNvPr id="89" name="Text 87"/>
          <p:cNvSpPr/>
          <p:nvPr/>
        </p:nvSpPr>
        <p:spPr>
          <a:xfrm>
            <a:off x="666750" y="5810250"/>
            <a:ext cx="2762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mbria" pitchFamily="34" charset="0"/>
                <a:ea typeface="Cambria" pitchFamily="34" charset="-122"/>
                <a:cs typeface="Cambria" pitchFamily="34" charset="-120"/>
              </a:rPr>
              <a:t>B_unplanned_failover</a:t>
            </a:r>
            <a:endParaRPr lang="en-US" sz="1340" dirty="0"/>
          </a:p>
        </p:txBody>
      </p:sp>
      <p:sp>
        <p:nvSpPr>
          <p:cNvPr id="90" name="Text 88"/>
          <p:cNvSpPr/>
          <p:nvPr/>
        </p:nvSpPr>
        <p:spPr>
          <a:xfrm>
            <a:off x="3429000" y="5819775"/>
            <a:ext cx="1047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C58B18"/>
                </a:solidFill>
                <a:latin typeface="Calibri" pitchFamily="34" charset="0"/>
                <a:ea typeface="Calibri" pitchFamily="34" charset="-122"/>
                <a:cs typeface="Calibri" pitchFamily="34" charset="-120"/>
              </a:rPr>
              <a:t>UNKNOWN</a:t>
            </a:r>
            <a:endParaRPr lang="en-US" sz="1150" dirty="0"/>
          </a:p>
        </p:txBody>
      </p:sp>
      <p:sp>
        <p:nvSpPr>
          <p:cNvPr id="91" name="Text 89"/>
          <p:cNvSpPr/>
          <p:nvPr/>
        </p:nvSpPr>
        <p:spPr>
          <a:xfrm>
            <a:off x="4667250" y="5810250"/>
            <a:ext cx="2000250" cy="20955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5B6B7C"/>
                </a:solidFill>
                <a:latin typeface="Calibri" pitchFamily="34" charset="0"/>
                <a:ea typeface="Calibri" pitchFamily="34" charset="-122"/>
                <a:cs typeface="Calibri" pitchFamily="34" charset="-120"/>
              </a:rPr>
              <a:t>12/12</a:t>
            </a:r>
            <a:endParaRPr lang="en-US" sz="1340" dirty="0"/>
          </a:p>
        </p:txBody>
      </p:sp>
      <p:sp>
        <p:nvSpPr>
          <p:cNvPr id="92" name="Text 90"/>
          <p:cNvSpPr/>
          <p:nvPr/>
        </p:nvSpPr>
        <p:spPr>
          <a:xfrm>
            <a:off x="6858000" y="5810250"/>
            <a:ext cx="1809750" cy="20955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libri" pitchFamily="34" charset="0"/>
                <a:ea typeface="Calibri" pitchFamily="34" charset="-122"/>
                <a:cs typeface="Calibri" pitchFamily="34" charset="-120"/>
              </a:rPr>
              <a:t>12/12</a:t>
            </a:r>
            <a:endParaRPr lang="en-US" sz="1340" dirty="0"/>
          </a:p>
        </p:txBody>
      </p:sp>
      <p:sp>
        <p:nvSpPr>
          <p:cNvPr id="93" name="Text 91"/>
          <p:cNvSpPr/>
          <p:nvPr/>
        </p:nvSpPr>
        <p:spPr>
          <a:xfrm>
            <a:off x="8858250" y="5819775"/>
            <a:ext cx="1524000" cy="19050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7C"/>
                </a:solidFill>
                <a:latin typeface="Calibri" pitchFamily="34" charset="0"/>
                <a:ea typeface="Calibri" pitchFamily="34" charset="-122"/>
                <a:cs typeface="Calibri" pitchFamily="34" charset="-120"/>
              </a:rPr>
              <a:t>0.757–1.000</a:t>
            </a:r>
            <a:endParaRPr lang="en-US" sz="1200" dirty="0"/>
          </a:p>
        </p:txBody>
      </p:sp>
      <p:sp>
        <p:nvSpPr>
          <p:cNvPr id="94" name="Shape 92"/>
          <p:cNvSpPr/>
          <p:nvPr/>
        </p:nvSpPr>
        <p:spPr>
          <a:xfrm>
            <a:off x="571500" y="6096000"/>
            <a:ext cx="11049000" cy="533400"/>
          </a:xfrm>
          <a:prstGeom prst="roundRect">
            <a:avLst>
              <a:gd name="adj" fmla="val 6857"/>
            </a:avLst>
          </a:prstGeom>
          <a:solidFill>
            <a:srgbClr val="0E2440"/>
          </a:solidFill>
          <a:ln w="12700">
            <a:solidFill>
              <a:srgbClr val="0E2440"/>
            </a:solidFill>
            <a:prstDash val="solid"/>
          </a:ln>
        </p:spPr>
        <p:txBody>
          <a:bodyPr/>
          <a:lstStyle/>
          <a:p>
            <a:endParaRPr lang="en-IN"/>
          </a:p>
        </p:txBody>
      </p:sp>
      <p:sp>
        <p:nvSpPr>
          <p:cNvPr id="95" name="Text 93"/>
          <p:cNvSpPr/>
          <p:nvPr/>
        </p:nvSpPr>
        <p:spPr>
          <a:xfrm>
            <a:off x="781050" y="6210300"/>
            <a:ext cx="10629900" cy="32385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FFFFFF"/>
                </a:solidFill>
                <a:latin typeface="Cambria" pitchFamily="34" charset="0"/>
                <a:ea typeface="Cambria" pitchFamily="34" charset="-122"/>
                <a:cs typeface="Cambria" pitchFamily="34" charset="-120"/>
              </a:rPr>
              <a:t>Per-scenario recall is the primary metric. Three coverage gaps — interception, malformed frames and whole-second abuse — moved from 0/12 to 11/12, 12/12 and 12/12 with no change in benign performance. One benign scenario remains an open failure.</a:t>
            </a:r>
            <a:endParaRPr lang="en-US" sz="13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CLASSIFICATION RESULTS</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Aggregate Classification Performance</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Macro averages over per-scenario correctness rates, 168 live runs  |  Attack sensitivity over 8 attack scenarios, specificity over 5 benign scenarios, abstention over 1 ambiguous scenario  |  Source: EVALUATION_V4.json</a:t>
            </a:r>
            <a:endParaRPr lang="en-US" sz="1120" dirty="0"/>
          </a:p>
        </p:txBody>
      </p:sp>
      <p:sp>
        <p:nvSpPr>
          <p:cNvPr id="8" name="Shape 6"/>
          <p:cNvSpPr/>
          <p:nvPr/>
        </p:nvSpPr>
        <p:spPr>
          <a:xfrm>
            <a:off x="571500" y="1676400"/>
            <a:ext cx="2600325" cy="1600200"/>
          </a:xfrm>
          <a:prstGeom prst="roundRect">
            <a:avLst>
              <a:gd name="adj" fmla="val 2286"/>
            </a:avLst>
          </a:prstGeom>
          <a:solidFill>
            <a:srgbClr val="FFFFFF"/>
          </a:solidFill>
          <a:ln w="12700">
            <a:solidFill>
              <a:srgbClr val="D7E1EA"/>
            </a:solidFill>
            <a:prstDash val="solid"/>
          </a:ln>
        </p:spPr>
        <p:txBody>
          <a:bodyPr/>
          <a:lstStyle/>
          <a:p>
            <a:endParaRPr lang="en-IN"/>
          </a:p>
        </p:txBody>
      </p:sp>
      <p:sp>
        <p:nvSpPr>
          <p:cNvPr id="9" name="Shape 7"/>
          <p:cNvSpPr/>
          <p:nvPr/>
        </p:nvSpPr>
        <p:spPr>
          <a:xfrm>
            <a:off x="571500" y="1676400"/>
            <a:ext cx="2600325" cy="47625"/>
          </a:xfrm>
          <a:prstGeom prst="rect">
            <a:avLst/>
          </a:prstGeom>
          <a:solidFill>
            <a:srgbClr val="18B89A"/>
          </a:solidFill>
          <a:ln/>
        </p:spPr>
        <p:txBody>
          <a:bodyPr/>
          <a:lstStyle/>
          <a:p>
            <a:endParaRPr lang="en-IN"/>
          </a:p>
        </p:txBody>
      </p:sp>
      <p:sp>
        <p:nvSpPr>
          <p:cNvPr id="10" name="Text 8"/>
          <p:cNvSpPr/>
          <p:nvPr/>
        </p:nvSpPr>
        <p:spPr>
          <a:xfrm>
            <a:off x="571500" y="1866900"/>
            <a:ext cx="2600325" cy="457200"/>
          </a:xfrm>
          <a:prstGeom prst="rect">
            <a:avLst/>
          </a:prstGeom>
          <a:noFill/>
          <a:ln/>
        </p:spPr>
        <p:txBody>
          <a:bodyPr wrap="square" lIns="0" tIns="0" rIns="0" bIns="0" rtlCol="0" anchor="t">
            <a:normAutofit/>
          </a:bodyPr>
          <a:lstStyle/>
          <a:p>
            <a:pPr marL="0" indent="0" algn="ctr">
              <a:lnSpc>
                <a:spcPct val="100000"/>
              </a:lnSpc>
              <a:buNone/>
            </a:pPr>
            <a:r>
              <a:rPr lang="en-US" sz="4400" b="1" dirty="0">
                <a:solidFill>
                  <a:srgbClr val="1C7293"/>
                </a:solidFill>
                <a:latin typeface="Cambria" pitchFamily="34" charset="0"/>
                <a:ea typeface="Cambria" pitchFamily="34" charset="-122"/>
                <a:cs typeface="Cambria" pitchFamily="34" charset="-120"/>
              </a:rPr>
              <a:t>0.990</a:t>
            </a:r>
            <a:endParaRPr lang="en-US" sz="4400" dirty="0"/>
          </a:p>
        </p:txBody>
      </p:sp>
      <p:sp>
        <p:nvSpPr>
          <p:cNvPr id="11" name="Text 9"/>
          <p:cNvSpPr/>
          <p:nvPr/>
        </p:nvSpPr>
        <p:spPr>
          <a:xfrm>
            <a:off x="723900" y="2381250"/>
            <a:ext cx="2295525" cy="228600"/>
          </a:xfrm>
          <a:prstGeom prst="rect">
            <a:avLst/>
          </a:prstGeom>
          <a:noFill/>
          <a:ln/>
        </p:spPr>
        <p:txBody>
          <a:bodyPr wrap="square" lIns="0" tIns="0" rIns="0" bIns="0" rtlCol="0" anchor="t">
            <a:normAutofit/>
          </a:bodyPr>
          <a:lstStyle/>
          <a:p>
            <a:pPr marL="0" indent="0" algn="ctr">
              <a:lnSpc>
                <a:spcPct val="100000"/>
              </a:lnSpc>
              <a:buNone/>
            </a:pPr>
            <a:r>
              <a:rPr lang="en-US" sz="1450" b="1" dirty="0">
                <a:solidFill>
                  <a:srgbClr val="12263A"/>
                </a:solidFill>
                <a:latin typeface="Cambria" pitchFamily="34" charset="0"/>
                <a:ea typeface="Cambria" pitchFamily="34" charset="-122"/>
                <a:cs typeface="Cambria" pitchFamily="34" charset="-120"/>
              </a:rPr>
              <a:t>Macro attack sensitivity</a:t>
            </a:r>
            <a:endParaRPr lang="en-US" sz="1450" dirty="0"/>
          </a:p>
        </p:txBody>
      </p:sp>
      <p:sp>
        <p:nvSpPr>
          <p:cNvPr id="12" name="Text 10"/>
          <p:cNvSpPr/>
          <p:nvPr/>
        </p:nvSpPr>
        <p:spPr>
          <a:xfrm>
            <a:off x="723900" y="2647950"/>
            <a:ext cx="2295525" cy="552450"/>
          </a:xfrm>
          <a:prstGeom prst="rect">
            <a:avLst/>
          </a:prstGeom>
          <a:noFill/>
          <a:ln/>
        </p:spPr>
        <p:txBody>
          <a:bodyPr wrap="square" lIns="0" tIns="0" rIns="0" bIns="0" rtlCol="0" anchor="t">
            <a:normAutofit/>
          </a:bodyPr>
          <a:lstStyle/>
          <a:p>
            <a:pPr marL="0" indent="0" algn="ctr">
              <a:lnSpc>
                <a:spcPct val="100000"/>
              </a:lnSpc>
              <a:buNone/>
            </a:pPr>
            <a:r>
              <a:rPr lang="en-US" sz="1200" dirty="0">
                <a:solidFill>
                  <a:srgbClr val="5B6B7C"/>
                </a:solidFill>
                <a:latin typeface="Calibri" pitchFamily="34" charset="0"/>
                <a:ea typeface="Calibri" pitchFamily="34" charset="-122"/>
                <a:cs typeface="Calibri" pitchFamily="34" charset="-120"/>
              </a:rPr>
              <a:t>revised rule v3 · pre-frozen base rule 0.625 on the same captures</a:t>
            </a:r>
            <a:endParaRPr lang="en-US" sz="1200" dirty="0"/>
          </a:p>
        </p:txBody>
      </p:sp>
      <p:sp>
        <p:nvSpPr>
          <p:cNvPr id="13" name="Shape 11"/>
          <p:cNvSpPr/>
          <p:nvPr/>
        </p:nvSpPr>
        <p:spPr>
          <a:xfrm>
            <a:off x="3362325" y="1676400"/>
            <a:ext cx="2600325" cy="1600200"/>
          </a:xfrm>
          <a:prstGeom prst="roundRect">
            <a:avLst>
              <a:gd name="adj" fmla="val 2286"/>
            </a:avLst>
          </a:prstGeom>
          <a:solidFill>
            <a:srgbClr val="FFFFFF"/>
          </a:solidFill>
          <a:ln w="12700">
            <a:solidFill>
              <a:srgbClr val="D7E1EA"/>
            </a:solidFill>
            <a:prstDash val="solid"/>
          </a:ln>
        </p:spPr>
        <p:txBody>
          <a:bodyPr/>
          <a:lstStyle/>
          <a:p>
            <a:endParaRPr lang="en-IN"/>
          </a:p>
        </p:txBody>
      </p:sp>
      <p:sp>
        <p:nvSpPr>
          <p:cNvPr id="14" name="Shape 12"/>
          <p:cNvSpPr/>
          <p:nvPr/>
        </p:nvSpPr>
        <p:spPr>
          <a:xfrm>
            <a:off x="3362325" y="1676400"/>
            <a:ext cx="2600325" cy="47625"/>
          </a:xfrm>
          <a:prstGeom prst="rect">
            <a:avLst/>
          </a:prstGeom>
          <a:solidFill>
            <a:srgbClr val="18B89A"/>
          </a:solidFill>
          <a:ln/>
        </p:spPr>
        <p:txBody>
          <a:bodyPr/>
          <a:lstStyle/>
          <a:p>
            <a:endParaRPr lang="en-IN"/>
          </a:p>
        </p:txBody>
      </p:sp>
      <p:sp>
        <p:nvSpPr>
          <p:cNvPr id="15" name="Text 13"/>
          <p:cNvSpPr/>
          <p:nvPr/>
        </p:nvSpPr>
        <p:spPr>
          <a:xfrm>
            <a:off x="3362325" y="1866900"/>
            <a:ext cx="2600325" cy="457200"/>
          </a:xfrm>
          <a:prstGeom prst="rect">
            <a:avLst/>
          </a:prstGeom>
          <a:noFill/>
          <a:ln/>
        </p:spPr>
        <p:txBody>
          <a:bodyPr wrap="square" lIns="0" tIns="0" rIns="0" bIns="0" rtlCol="0" anchor="t">
            <a:normAutofit/>
          </a:bodyPr>
          <a:lstStyle/>
          <a:p>
            <a:pPr marL="0" indent="0" algn="ctr">
              <a:lnSpc>
                <a:spcPct val="100000"/>
              </a:lnSpc>
              <a:buNone/>
            </a:pPr>
            <a:r>
              <a:rPr lang="en-US" sz="4400" b="1" dirty="0">
                <a:solidFill>
                  <a:srgbClr val="1C7293"/>
                </a:solidFill>
                <a:latin typeface="Cambria" pitchFamily="34" charset="0"/>
                <a:ea typeface="Cambria" pitchFamily="34" charset="-122"/>
                <a:cs typeface="Cambria" pitchFamily="34" charset="-120"/>
              </a:rPr>
              <a:t>0.783</a:t>
            </a:r>
            <a:endParaRPr lang="en-US" sz="4400" dirty="0"/>
          </a:p>
        </p:txBody>
      </p:sp>
      <p:sp>
        <p:nvSpPr>
          <p:cNvPr id="16" name="Text 14"/>
          <p:cNvSpPr/>
          <p:nvPr/>
        </p:nvSpPr>
        <p:spPr>
          <a:xfrm>
            <a:off x="3514725" y="2381250"/>
            <a:ext cx="2295525" cy="228600"/>
          </a:xfrm>
          <a:prstGeom prst="rect">
            <a:avLst/>
          </a:prstGeom>
          <a:noFill/>
          <a:ln/>
        </p:spPr>
        <p:txBody>
          <a:bodyPr wrap="square" lIns="0" tIns="0" rIns="0" bIns="0" rtlCol="0" anchor="t">
            <a:normAutofit/>
          </a:bodyPr>
          <a:lstStyle/>
          <a:p>
            <a:pPr marL="0" indent="0" algn="ctr">
              <a:lnSpc>
                <a:spcPct val="100000"/>
              </a:lnSpc>
              <a:buNone/>
            </a:pPr>
            <a:r>
              <a:rPr lang="en-US" sz="1450" b="1" dirty="0">
                <a:solidFill>
                  <a:srgbClr val="12263A"/>
                </a:solidFill>
                <a:latin typeface="Cambria" pitchFamily="34" charset="0"/>
                <a:ea typeface="Cambria" pitchFamily="34" charset="-122"/>
                <a:cs typeface="Cambria" pitchFamily="34" charset="-120"/>
              </a:rPr>
              <a:t>Macro benign specificity</a:t>
            </a:r>
            <a:endParaRPr lang="en-US" sz="1450" dirty="0"/>
          </a:p>
        </p:txBody>
      </p:sp>
      <p:sp>
        <p:nvSpPr>
          <p:cNvPr id="17" name="Text 15"/>
          <p:cNvSpPr/>
          <p:nvPr/>
        </p:nvSpPr>
        <p:spPr>
          <a:xfrm>
            <a:off x="3514725" y="2647950"/>
            <a:ext cx="2295525" cy="552450"/>
          </a:xfrm>
          <a:prstGeom prst="rect">
            <a:avLst/>
          </a:prstGeom>
          <a:noFill/>
          <a:ln/>
        </p:spPr>
        <p:txBody>
          <a:bodyPr wrap="square" lIns="0" tIns="0" rIns="0" bIns="0" rtlCol="0" anchor="t">
            <a:normAutofit/>
          </a:bodyPr>
          <a:lstStyle/>
          <a:p>
            <a:pPr marL="0" indent="0" algn="ctr">
              <a:lnSpc>
                <a:spcPct val="100000"/>
              </a:lnSpc>
              <a:buNone/>
            </a:pPr>
            <a:r>
              <a:rPr lang="en-US" sz="1200" dirty="0">
                <a:solidFill>
                  <a:srgbClr val="5B6B7C"/>
                </a:solidFill>
                <a:latin typeface="Calibri" pitchFamily="34" charset="0"/>
                <a:ea typeface="Calibri" pitchFamily="34" charset="-122"/>
                <a:cs typeface="Calibri" pitchFamily="34" charset="-120"/>
              </a:rPr>
              <a:t>identical for both rules, so the revision introduced no regression</a:t>
            </a:r>
            <a:endParaRPr lang="en-US" sz="1200" dirty="0"/>
          </a:p>
        </p:txBody>
      </p:sp>
      <p:sp>
        <p:nvSpPr>
          <p:cNvPr id="18" name="Shape 16"/>
          <p:cNvSpPr/>
          <p:nvPr/>
        </p:nvSpPr>
        <p:spPr>
          <a:xfrm>
            <a:off x="6153150" y="1676400"/>
            <a:ext cx="2600325" cy="1600200"/>
          </a:xfrm>
          <a:prstGeom prst="roundRect">
            <a:avLst>
              <a:gd name="adj" fmla="val 2286"/>
            </a:avLst>
          </a:prstGeom>
          <a:solidFill>
            <a:srgbClr val="FFFFFF"/>
          </a:solidFill>
          <a:ln w="12700">
            <a:solidFill>
              <a:srgbClr val="D7E1EA"/>
            </a:solidFill>
            <a:prstDash val="solid"/>
          </a:ln>
        </p:spPr>
        <p:txBody>
          <a:bodyPr/>
          <a:lstStyle/>
          <a:p>
            <a:endParaRPr lang="en-IN"/>
          </a:p>
        </p:txBody>
      </p:sp>
      <p:sp>
        <p:nvSpPr>
          <p:cNvPr id="19" name="Shape 17"/>
          <p:cNvSpPr/>
          <p:nvPr/>
        </p:nvSpPr>
        <p:spPr>
          <a:xfrm>
            <a:off x="6153150" y="1676400"/>
            <a:ext cx="2600325" cy="47625"/>
          </a:xfrm>
          <a:prstGeom prst="rect">
            <a:avLst/>
          </a:prstGeom>
          <a:solidFill>
            <a:srgbClr val="18B89A"/>
          </a:solidFill>
          <a:ln/>
        </p:spPr>
        <p:txBody>
          <a:bodyPr/>
          <a:lstStyle/>
          <a:p>
            <a:endParaRPr lang="en-IN"/>
          </a:p>
        </p:txBody>
      </p:sp>
      <p:sp>
        <p:nvSpPr>
          <p:cNvPr id="20" name="Text 18"/>
          <p:cNvSpPr/>
          <p:nvPr/>
        </p:nvSpPr>
        <p:spPr>
          <a:xfrm>
            <a:off x="6153150" y="1866900"/>
            <a:ext cx="2600325" cy="457200"/>
          </a:xfrm>
          <a:prstGeom prst="rect">
            <a:avLst/>
          </a:prstGeom>
          <a:noFill/>
          <a:ln/>
        </p:spPr>
        <p:txBody>
          <a:bodyPr wrap="square" lIns="0" tIns="0" rIns="0" bIns="0" rtlCol="0" anchor="t">
            <a:normAutofit/>
          </a:bodyPr>
          <a:lstStyle/>
          <a:p>
            <a:pPr marL="0" indent="0" algn="ctr">
              <a:lnSpc>
                <a:spcPct val="100000"/>
              </a:lnSpc>
              <a:buNone/>
            </a:pPr>
            <a:r>
              <a:rPr lang="en-US" sz="4400" b="1" dirty="0">
                <a:solidFill>
                  <a:srgbClr val="1C7293"/>
                </a:solidFill>
                <a:latin typeface="Cambria" pitchFamily="34" charset="0"/>
                <a:ea typeface="Cambria" pitchFamily="34" charset="-122"/>
                <a:cs typeface="Cambria" pitchFamily="34" charset="-120"/>
              </a:rPr>
              <a:t>1.000</a:t>
            </a:r>
            <a:endParaRPr lang="en-US" sz="4400" dirty="0"/>
          </a:p>
        </p:txBody>
      </p:sp>
      <p:sp>
        <p:nvSpPr>
          <p:cNvPr id="21" name="Text 19"/>
          <p:cNvSpPr/>
          <p:nvPr/>
        </p:nvSpPr>
        <p:spPr>
          <a:xfrm>
            <a:off x="6305550" y="2381250"/>
            <a:ext cx="2295525" cy="228600"/>
          </a:xfrm>
          <a:prstGeom prst="rect">
            <a:avLst/>
          </a:prstGeom>
          <a:noFill/>
          <a:ln/>
        </p:spPr>
        <p:txBody>
          <a:bodyPr wrap="square" lIns="0" tIns="0" rIns="0" bIns="0" rtlCol="0" anchor="t">
            <a:normAutofit/>
          </a:bodyPr>
          <a:lstStyle/>
          <a:p>
            <a:pPr marL="0" indent="0" algn="ctr">
              <a:lnSpc>
                <a:spcPct val="100000"/>
              </a:lnSpc>
              <a:buNone/>
            </a:pPr>
            <a:r>
              <a:rPr lang="en-US" sz="1450" b="1" dirty="0">
                <a:solidFill>
                  <a:srgbClr val="12263A"/>
                </a:solidFill>
                <a:latin typeface="Cambria" pitchFamily="34" charset="0"/>
                <a:ea typeface="Cambria" pitchFamily="34" charset="-122"/>
                <a:cs typeface="Cambria" pitchFamily="34" charset="-120"/>
              </a:rPr>
              <a:t>Abstention correctness</a:t>
            </a:r>
            <a:endParaRPr lang="en-US" sz="1450" dirty="0"/>
          </a:p>
        </p:txBody>
      </p:sp>
      <p:sp>
        <p:nvSpPr>
          <p:cNvPr id="22" name="Text 20"/>
          <p:cNvSpPr/>
          <p:nvPr/>
        </p:nvSpPr>
        <p:spPr>
          <a:xfrm>
            <a:off x="6305550" y="2647950"/>
            <a:ext cx="2295525" cy="552450"/>
          </a:xfrm>
          <a:prstGeom prst="rect">
            <a:avLst/>
          </a:prstGeom>
          <a:noFill/>
          <a:ln/>
        </p:spPr>
        <p:txBody>
          <a:bodyPr wrap="square" lIns="0" tIns="0" rIns="0" bIns="0" rtlCol="0" anchor="t">
            <a:normAutofit/>
          </a:bodyPr>
          <a:lstStyle/>
          <a:p>
            <a:pPr marL="0" indent="0" algn="ctr">
              <a:lnSpc>
                <a:spcPct val="100000"/>
              </a:lnSpc>
              <a:buNone/>
            </a:pPr>
            <a:r>
              <a:rPr lang="en-US" sz="1200" dirty="0">
                <a:solidFill>
                  <a:srgbClr val="5B6B7C"/>
                </a:solidFill>
                <a:latin typeface="Calibri" pitchFamily="34" charset="0"/>
                <a:ea typeface="Calibri" pitchFamily="34" charset="-122"/>
                <a:cs typeface="Calibri" pitchFamily="34" charset="-120"/>
              </a:rPr>
              <a:t>ambiguous unplanned failover returned UNKNOWN on 12 of 12 runs</a:t>
            </a:r>
            <a:endParaRPr lang="en-US" sz="1200" dirty="0"/>
          </a:p>
        </p:txBody>
      </p:sp>
      <p:sp>
        <p:nvSpPr>
          <p:cNvPr id="23" name="Shape 21"/>
          <p:cNvSpPr/>
          <p:nvPr/>
        </p:nvSpPr>
        <p:spPr>
          <a:xfrm>
            <a:off x="8943975" y="1676400"/>
            <a:ext cx="2600325" cy="1600200"/>
          </a:xfrm>
          <a:prstGeom prst="roundRect">
            <a:avLst>
              <a:gd name="adj" fmla="val 2286"/>
            </a:avLst>
          </a:prstGeom>
          <a:solidFill>
            <a:srgbClr val="FFFFFF"/>
          </a:solidFill>
          <a:ln w="12700">
            <a:solidFill>
              <a:srgbClr val="D7E1EA"/>
            </a:solidFill>
            <a:prstDash val="solid"/>
          </a:ln>
        </p:spPr>
        <p:txBody>
          <a:bodyPr/>
          <a:lstStyle/>
          <a:p>
            <a:endParaRPr lang="en-IN"/>
          </a:p>
        </p:txBody>
      </p:sp>
      <p:sp>
        <p:nvSpPr>
          <p:cNvPr id="24" name="Shape 22"/>
          <p:cNvSpPr/>
          <p:nvPr/>
        </p:nvSpPr>
        <p:spPr>
          <a:xfrm>
            <a:off x="8943975" y="1676400"/>
            <a:ext cx="2600325" cy="47625"/>
          </a:xfrm>
          <a:prstGeom prst="rect">
            <a:avLst/>
          </a:prstGeom>
          <a:solidFill>
            <a:srgbClr val="18B89A"/>
          </a:solidFill>
          <a:ln/>
        </p:spPr>
        <p:txBody>
          <a:bodyPr/>
          <a:lstStyle/>
          <a:p>
            <a:endParaRPr lang="en-IN"/>
          </a:p>
        </p:txBody>
      </p:sp>
      <p:sp>
        <p:nvSpPr>
          <p:cNvPr id="25" name="Text 23"/>
          <p:cNvSpPr/>
          <p:nvPr/>
        </p:nvSpPr>
        <p:spPr>
          <a:xfrm>
            <a:off x="8943975" y="1866900"/>
            <a:ext cx="2600325" cy="457200"/>
          </a:xfrm>
          <a:prstGeom prst="rect">
            <a:avLst/>
          </a:prstGeom>
          <a:noFill/>
          <a:ln/>
        </p:spPr>
        <p:txBody>
          <a:bodyPr wrap="square" lIns="0" tIns="0" rIns="0" bIns="0" rtlCol="0" anchor="t">
            <a:normAutofit/>
          </a:bodyPr>
          <a:lstStyle/>
          <a:p>
            <a:pPr marL="0" indent="0" algn="ctr">
              <a:lnSpc>
                <a:spcPct val="100000"/>
              </a:lnSpc>
              <a:buNone/>
            </a:pPr>
            <a:r>
              <a:rPr lang="en-US" sz="4400" b="1" dirty="0">
                <a:solidFill>
                  <a:srgbClr val="1C7293"/>
                </a:solidFill>
                <a:latin typeface="Cambria" pitchFamily="34" charset="0"/>
                <a:ea typeface="Cambria" pitchFamily="34" charset="-122"/>
                <a:cs typeface="Cambria" pitchFamily="34" charset="-120"/>
              </a:rPr>
              <a:t>0.875</a:t>
            </a:r>
            <a:endParaRPr lang="en-US" sz="4400" dirty="0"/>
          </a:p>
        </p:txBody>
      </p:sp>
      <p:sp>
        <p:nvSpPr>
          <p:cNvPr id="26" name="Text 24"/>
          <p:cNvSpPr/>
          <p:nvPr/>
        </p:nvSpPr>
        <p:spPr>
          <a:xfrm>
            <a:off x="9096375" y="2381250"/>
            <a:ext cx="2295525" cy="228600"/>
          </a:xfrm>
          <a:prstGeom prst="rect">
            <a:avLst/>
          </a:prstGeom>
          <a:noFill/>
          <a:ln/>
        </p:spPr>
        <p:txBody>
          <a:bodyPr wrap="square" lIns="0" tIns="0" rIns="0" bIns="0" rtlCol="0" anchor="t">
            <a:normAutofit/>
          </a:bodyPr>
          <a:lstStyle/>
          <a:p>
            <a:pPr marL="0" indent="0" algn="ctr">
              <a:lnSpc>
                <a:spcPct val="100000"/>
              </a:lnSpc>
              <a:buNone/>
            </a:pPr>
            <a:r>
              <a:rPr lang="en-US" sz="1450" b="1" dirty="0">
                <a:solidFill>
                  <a:srgbClr val="12263A"/>
                </a:solidFill>
                <a:latin typeface="Cambria" pitchFamily="34" charset="0"/>
                <a:ea typeface="Cambria" pitchFamily="34" charset="-122"/>
                <a:cs typeface="Cambria" pitchFamily="34" charset="-120"/>
              </a:rPr>
              <a:t>Fault attribution accuracy</a:t>
            </a:r>
            <a:endParaRPr lang="en-US" sz="1450" dirty="0"/>
          </a:p>
        </p:txBody>
      </p:sp>
      <p:sp>
        <p:nvSpPr>
          <p:cNvPr id="27" name="Text 25"/>
          <p:cNvSpPr/>
          <p:nvPr/>
        </p:nvSpPr>
        <p:spPr>
          <a:xfrm>
            <a:off x="9096375" y="2647950"/>
            <a:ext cx="2295525" cy="552450"/>
          </a:xfrm>
          <a:prstGeom prst="rect">
            <a:avLst/>
          </a:prstGeom>
          <a:noFill/>
          <a:ln/>
        </p:spPr>
        <p:txBody>
          <a:bodyPr wrap="square" lIns="0" tIns="0" rIns="0" bIns="0" rtlCol="0" anchor="t">
            <a:normAutofit/>
          </a:bodyPr>
          <a:lstStyle/>
          <a:p>
            <a:pPr marL="0" indent="0" algn="ctr">
              <a:lnSpc>
                <a:spcPct val="100000"/>
              </a:lnSpc>
              <a:buNone/>
            </a:pPr>
            <a:r>
              <a:rPr lang="en-US" sz="1200" dirty="0">
                <a:solidFill>
                  <a:srgbClr val="5B6B7C"/>
                </a:solidFill>
                <a:latin typeface="Calibri" pitchFamily="34" charset="0"/>
                <a:ea typeface="Calibri" pitchFamily="34" charset="-122"/>
                <a:cs typeface="Calibri" pitchFamily="34" charset="-120"/>
              </a:rPr>
              <a:t>84 of 96 attack runs had the specific fault correctly named</a:t>
            </a:r>
            <a:endParaRPr lang="en-US" sz="1200" dirty="0"/>
          </a:p>
        </p:txBody>
      </p:sp>
      <p:sp>
        <p:nvSpPr>
          <p:cNvPr id="28" name="Shape 26"/>
          <p:cNvSpPr/>
          <p:nvPr/>
        </p:nvSpPr>
        <p:spPr>
          <a:xfrm>
            <a:off x="571500" y="3467100"/>
            <a:ext cx="5381625" cy="1581150"/>
          </a:xfrm>
          <a:prstGeom prst="roundRect">
            <a:avLst>
              <a:gd name="adj" fmla="val 2313"/>
            </a:avLst>
          </a:prstGeom>
          <a:solidFill>
            <a:srgbClr val="DDF5EF"/>
          </a:solidFill>
          <a:ln w="12700">
            <a:solidFill>
              <a:srgbClr val="18B89A"/>
            </a:solidFill>
            <a:prstDash val="solid"/>
          </a:ln>
        </p:spPr>
        <p:txBody>
          <a:bodyPr/>
          <a:lstStyle/>
          <a:p>
            <a:endParaRPr lang="en-IN"/>
          </a:p>
        </p:txBody>
      </p:sp>
      <p:sp>
        <p:nvSpPr>
          <p:cNvPr id="29" name="Text 27"/>
          <p:cNvSpPr/>
          <p:nvPr/>
        </p:nvSpPr>
        <p:spPr>
          <a:xfrm>
            <a:off x="800100" y="3619500"/>
            <a:ext cx="38100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0B5547"/>
                </a:solidFill>
                <a:latin typeface="Calibri" pitchFamily="34" charset="0"/>
                <a:ea typeface="Calibri" pitchFamily="34" charset="-122"/>
                <a:cs typeface="Calibri" pitchFamily="34" charset="-120"/>
              </a:rPr>
              <a:t>WHAT IMPROVED</a:t>
            </a:r>
            <a:endParaRPr lang="en-US" sz="1200" dirty="0"/>
          </a:p>
        </p:txBody>
      </p:sp>
      <p:sp>
        <p:nvSpPr>
          <p:cNvPr id="30" name="Text 28"/>
          <p:cNvSpPr/>
          <p:nvPr/>
        </p:nvSpPr>
        <p:spPr>
          <a:xfrm>
            <a:off x="800100" y="3867150"/>
            <a:ext cx="4953000" cy="106680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libri" pitchFamily="34" charset="0"/>
                <a:ea typeface="Calibri" pitchFamily="34" charset="-122"/>
                <a:cs typeface="Calibri" pitchFamily="34" charset="-120"/>
              </a:rPr>
              <a:t>The revised rule closed three coverage gaps on the same captures: selective interception 0/12 to 11/12, malformed frames 0/12 to 12/12, and whole-second abuse 0/12 to 12/12. Benign performance is unchanged, and per-run verification confirms zero regressions — no run that the base rule called ATTACK was downgraded.</a:t>
            </a:r>
            <a:endParaRPr lang="en-US" sz="1340" dirty="0"/>
          </a:p>
        </p:txBody>
      </p:sp>
      <p:sp>
        <p:nvSpPr>
          <p:cNvPr id="31" name="Shape 29"/>
          <p:cNvSpPr/>
          <p:nvPr/>
        </p:nvSpPr>
        <p:spPr>
          <a:xfrm>
            <a:off x="6238875" y="3467100"/>
            <a:ext cx="5381625" cy="1581150"/>
          </a:xfrm>
          <a:prstGeom prst="roundRect">
            <a:avLst>
              <a:gd name="adj" fmla="val 2313"/>
            </a:avLst>
          </a:prstGeom>
          <a:solidFill>
            <a:srgbClr val="FBEDEA"/>
          </a:solidFill>
          <a:ln w="12700">
            <a:solidFill>
              <a:srgbClr val="B3402F"/>
            </a:solidFill>
            <a:prstDash val="solid"/>
          </a:ln>
        </p:spPr>
        <p:txBody>
          <a:bodyPr/>
          <a:lstStyle/>
          <a:p>
            <a:endParaRPr lang="en-IN"/>
          </a:p>
        </p:txBody>
      </p:sp>
      <p:sp>
        <p:nvSpPr>
          <p:cNvPr id="32" name="Text 30"/>
          <p:cNvSpPr/>
          <p:nvPr/>
        </p:nvSpPr>
        <p:spPr>
          <a:xfrm>
            <a:off x="6467475" y="3619500"/>
            <a:ext cx="43815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B3402F"/>
                </a:solidFill>
                <a:latin typeface="Calibri" pitchFamily="34" charset="0"/>
                <a:ea typeface="Calibri" pitchFamily="34" charset="-122"/>
                <a:cs typeface="Calibri" pitchFamily="34" charset="-120"/>
              </a:rPr>
              <a:t>WHY SPECIFICITY IS 0.783 AND NOT 1.000</a:t>
            </a:r>
            <a:endParaRPr lang="en-US" sz="1200" dirty="0"/>
          </a:p>
        </p:txBody>
      </p:sp>
      <p:sp>
        <p:nvSpPr>
          <p:cNvPr id="33" name="Text 31"/>
          <p:cNvSpPr/>
          <p:nvPr/>
        </p:nvSpPr>
        <p:spPr>
          <a:xfrm>
            <a:off x="6467475" y="3867150"/>
            <a:ext cx="4953000" cy="1066800"/>
          </a:xfrm>
          <a:prstGeom prst="rect">
            <a:avLst/>
          </a:prstGeom>
          <a:noFill/>
          <a:ln/>
        </p:spPr>
        <p:txBody>
          <a:bodyPr wrap="square" lIns="0" tIns="0" rIns="0" bIns="0" rtlCol="0" anchor="t">
            <a:normAutofit/>
          </a:bodyPr>
          <a:lstStyle/>
          <a:p>
            <a:pPr marL="0" indent="0" algn="l">
              <a:lnSpc>
                <a:spcPct val="100000"/>
              </a:lnSpc>
              <a:buNone/>
            </a:pPr>
            <a:r>
              <a:rPr lang="en-US" sz="1340" dirty="0">
                <a:solidFill>
                  <a:srgbClr val="12263A"/>
                </a:solidFill>
                <a:latin typeface="Calibri" pitchFamily="34" charset="0"/>
                <a:ea typeface="Calibri" pitchFamily="34" charset="-122"/>
                <a:cs typeface="Calibri" pitchFamily="34" charset="-120"/>
              </a:rPr>
              <a:t>Two benign scenarios miss. B_bc_replacement produces 12 false ATTACK calls and is the dominant cause. B3 congestion contributes one UNKNOWN. Excluding the boundary-clock replacement, benign classification is 47 of 48, or 0.979 — so the loss is one identified systematic gap plus one cautious abstention, not diffuse error.</a:t>
            </a:r>
            <a:endParaRPr lang="en-US" sz="1340" dirty="0"/>
          </a:p>
        </p:txBody>
      </p:sp>
      <p:sp>
        <p:nvSpPr>
          <p:cNvPr id="34" name="Shape 32"/>
          <p:cNvSpPr/>
          <p:nvPr/>
        </p:nvSpPr>
        <p:spPr>
          <a:xfrm>
            <a:off x="571500" y="5200650"/>
            <a:ext cx="11049000" cy="609600"/>
          </a:xfrm>
          <a:prstGeom prst="roundRect">
            <a:avLst>
              <a:gd name="adj" fmla="val 6000"/>
            </a:avLst>
          </a:prstGeom>
          <a:solidFill>
            <a:srgbClr val="FFF8E8"/>
          </a:solidFill>
          <a:ln w="12700">
            <a:solidFill>
              <a:srgbClr val="C58B18"/>
            </a:solidFill>
            <a:prstDash val="solid"/>
          </a:ln>
        </p:spPr>
        <p:txBody>
          <a:bodyPr/>
          <a:lstStyle/>
          <a:p>
            <a:endParaRPr lang="en-IN"/>
          </a:p>
        </p:txBody>
      </p:sp>
      <p:sp>
        <p:nvSpPr>
          <p:cNvPr id="35" name="Text 33"/>
          <p:cNvSpPr/>
          <p:nvPr/>
        </p:nvSpPr>
        <p:spPr>
          <a:xfrm>
            <a:off x="781050" y="534352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Reporting integrity</a:t>
            </a:r>
            <a:endParaRPr lang="en-US" sz="1600" dirty="0"/>
          </a:p>
        </p:txBody>
      </p:sp>
      <p:sp>
        <p:nvSpPr>
          <p:cNvPr id="36" name="Text 34"/>
          <p:cNvSpPr/>
          <p:nvPr/>
        </p:nvSpPr>
        <p:spPr>
          <a:xfrm>
            <a:off x="2781300" y="5324475"/>
            <a:ext cx="8629650" cy="38100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12263A"/>
                </a:solidFill>
                <a:latin typeface="Calibri" pitchFamily="34" charset="0"/>
                <a:ea typeface="Calibri" pitchFamily="34" charset="-122"/>
                <a:cs typeface="Calibri" pitchFamily="34" charset="-120"/>
              </a:rPr>
              <a:t>The 0.990 figure belongs to the post-observation revised rule. The pre-frozen base rule scored 0.625 on the same captures. Both are shown so the improvement is not mistaken for independent pre-registered validation.</a:t>
            </a:r>
            <a:endParaRPr lang="en-US" sz="1220" dirty="0"/>
          </a:p>
        </p:txBody>
      </p:sp>
      <p:sp>
        <p:nvSpPr>
          <p:cNvPr id="37" name="Shape 35"/>
          <p:cNvSpPr/>
          <p:nvPr/>
        </p:nvSpPr>
        <p:spPr>
          <a:xfrm>
            <a:off x="571500" y="5905500"/>
            <a:ext cx="11049000" cy="514350"/>
          </a:xfrm>
          <a:prstGeom prst="roundRect">
            <a:avLst>
              <a:gd name="adj" fmla="val 7111"/>
            </a:avLst>
          </a:prstGeom>
          <a:solidFill>
            <a:srgbClr val="0E2440"/>
          </a:solidFill>
          <a:ln w="12700">
            <a:solidFill>
              <a:srgbClr val="0E2440"/>
            </a:solidFill>
            <a:prstDash val="solid"/>
          </a:ln>
        </p:spPr>
        <p:txBody>
          <a:bodyPr/>
          <a:lstStyle/>
          <a:p>
            <a:endParaRPr lang="en-IN"/>
          </a:p>
        </p:txBody>
      </p:sp>
      <p:sp>
        <p:nvSpPr>
          <p:cNvPr id="38" name="Text 36"/>
          <p:cNvSpPr/>
          <p:nvPr/>
        </p:nvSpPr>
        <p:spPr>
          <a:xfrm>
            <a:off x="781050" y="6019800"/>
            <a:ext cx="10629900" cy="3048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FFFFFF"/>
                </a:solidFill>
                <a:latin typeface="Cambria" pitchFamily="34" charset="0"/>
                <a:ea typeface="Cambria" pitchFamily="34" charset="-122"/>
                <a:cs typeface="Cambria" pitchFamily="34" charset="-120"/>
              </a:rPr>
              <a:t>Headline position: strong attack detection with one identified and explainable benign failure, an honest abstention on the genuinely undecidable case, and the exact fault named on 84 of 96 attack runs.</a:t>
            </a:r>
            <a:endParaRPr lang="en-US" sz="13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RULE-BASED AND ML COMPARISON</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2900" b="1" dirty="0">
                <a:solidFill>
                  <a:srgbClr val="12263A"/>
                </a:solidFill>
                <a:latin typeface="Cambria" pitchFamily="34" charset="0"/>
                <a:ea typeface="Cambria" pitchFamily="34" charset="-122"/>
                <a:cs typeface="Cambria" pitchFamily="34" charset="-120"/>
              </a:rPr>
              <a:t>Rule-Based and Machine-Learning Classification Compared</a:t>
            </a:r>
            <a:endParaRPr lang="en-US" sz="29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Worklet objective 5 requires comparison against traditional fault management  |  Session-disjoint split: trained on replicates 1–8, tested on replicates 9–12 (56 held-out runs)  |  Hyperparameters and split fixed before scoring</a:t>
            </a:r>
            <a:endParaRPr lang="en-US" sz="1120" dirty="0"/>
          </a:p>
        </p:txBody>
      </p:sp>
      <p:sp>
        <p:nvSpPr>
          <p:cNvPr id="8" name="Shape 6"/>
          <p:cNvSpPr/>
          <p:nvPr/>
        </p:nvSpPr>
        <p:spPr>
          <a:xfrm>
            <a:off x="571500" y="1619250"/>
            <a:ext cx="3552825" cy="1390650"/>
          </a:xfrm>
          <a:prstGeom prst="roundRect">
            <a:avLst>
              <a:gd name="adj" fmla="val 2630"/>
            </a:avLst>
          </a:prstGeom>
          <a:solidFill>
            <a:srgbClr val="0E2440"/>
          </a:solidFill>
          <a:ln w="12700">
            <a:solidFill>
              <a:srgbClr val="0E2440"/>
            </a:solidFill>
            <a:prstDash val="solid"/>
          </a:ln>
        </p:spPr>
        <p:txBody>
          <a:bodyPr/>
          <a:lstStyle/>
          <a:p>
            <a:endParaRPr lang="en-IN"/>
          </a:p>
        </p:txBody>
      </p:sp>
      <p:sp>
        <p:nvSpPr>
          <p:cNvPr id="9" name="Text 7"/>
          <p:cNvSpPr/>
          <p:nvPr/>
        </p:nvSpPr>
        <p:spPr>
          <a:xfrm>
            <a:off x="800100" y="1771650"/>
            <a:ext cx="31432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8B89A"/>
                </a:solidFill>
                <a:latin typeface="Calibri" pitchFamily="34" charset="0"/>
                <a:ea typeface="Calibri" pitchFamily="34" charset="-122"/>
                <a:cs typeface="Calibri" pitchFamily="34" charset="-120"/>
              </a:rPr>
              <a:t>ARM A · RULE-BASED</a:t>
            </a:r>
            <a:endParaRPr lang="en-US" sz="1150" dirty="0"/>
          </a:p>
        </p:txBody>
      </p:sp>
      <p:sp>
        <p:nvSpPr>
          <p:cNvPr id="10" name="Text 8"/>
          <p:cNvSpPr/>
          <p:nvPr/>
        </p:nvSpPr>
        <p:spPr>
          <a:xfrm>
            <a:off x="800100" y="1981200"/>
            <a:ext cx="3143250" cy="24765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FFFFFF"/>
                </a:solidFill>
                <a:latin typeface="Cambria" pitchFamily="34" charset="0"/>
                <a:ea typeface="Cambria" pitchFamily="34" charset="-122"/>
                <a:cs typeface="Cambria" pitchFamily="34" charset="-120"/>
              </a:rPr>
              <a:t>Frozen decision rule</a:t>
            </a:r>
            <a:endParaRPr lang="en-US" sz="1800" dirty="0"/>
          </a:p>
        </p:txBody>
      </p:sp>
      <p:sp>
        <p:nvSpPr>
          <p:cNvPr id="11" name="Text 9"/>
          <p:cNvSpPr/>
          <p:nvPr/>
        </p:nvSpPr>
        <p:spPr>
          <a:xfrm>
            <a:off x="800100" y="2266950"/>
            <a:ext cx="3143250" cy="66675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CFD9E5"/>
                </a:solidFill>
                <a:latin typeface="Calibri" pitchFamily="34" charset="0"/>
                <a:ea typeface="Calibri" pitchFamily="34" charset="-122"/>
                <a:cs typeface="Calibri" pitchFamily="34" charset="-120"/>
              </a:rPr>
              <a:t>Inputs: 56 extracted packet fields plus provisioned operator context. No training. SHA-256 frozen before the campaign; v3 is a disclosed post-campaign revision.</a:t>
            </a:r>
            <a:endParaRPr lang="en-US" sz="1240" dirty="0"/>
          </a:p>
        </p:txBody>
      </p:sp>
      <p:sp>
        <p:nvSpPr>
          <p:cNvPr id="12" name="Shape 10"/>
          <p:cNvSpPr/>
          <p:nvPr/>
        </p:nvSpPr>
        <p:spPr>
          <a:xfrm>
            <a:off x="4314825" y="1619250"/>
            <a:ext cx="3552825" cy="1390650"/>
          </a:xfrm>
          <a:prstGeom prst="roundRect">
            <a:avLst>
              <a:gd name="adj" fmla="val 2630"/>
            </a:avLst>
          </a:prstGeom>
          <a:solidFill>
            <a:srgbClr val="EAF2F8"/>
          </a:solidFill>
          <a:ln w="12700">
            <a:solidFill>
              <a:srgbClr val="1C7293"/>
            </a:solidFill>
            <a:prstDash val="solid"/>
          </a:ln>
        </p:spPr>
        <p:txBody>
          <a:bodyPr/>
          <a:lstStyle/>
          <a:p>
            <a:endParaRPr lang="en-IN"/>
          </a:p>
        </p:txBody>
      </p:sp>
      <p:sp>
        <p:nvSpPr>
          <p:cNvPr id="13" name="Text 11"/>
          <p:cNvSpPr/>
          <p:nvPr/>
        </p:nvSpPr>
        <p:spPr>
          <a:xfrm>
            <a:off x="4543425" y="1771650"/>
            <a:ext cx="31432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C7293"/>
                </a:solidFill>
                <a:latin typeface="Calibri" pitchFamily="34" charset="0"/>
                <a:ea typeface="Calibri" pitchFamily="34" charset="-122"/>
                <a:cs typeface="Calibri" pitchFamily="34" charset="-120"/>
              </a:rPr>
              <a:t>ARM B · MACHINE LEARNING</a:t>
            </a:r>
            <a:endParaRPr lang="en-US" sz="1150" dirty="0"/>
          </a:p>
        </p:txBody>
      </p:sp>
      <p:sp>
        <p:nvSpPr>
          <p:cNvPr id="14" name="Text 12"/>
          <p:cNvSpPr/>
          <p:nvPr/>
        </p:nvSpPr>
        <p:spPr>
          <a:xfrm>
            <a:off x="4543425" y="1981200"/>
            <a:ext cx="3143250" cy="24765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2263A"/>
                </a:solidFill>
                <a:latin typeface="Cambria" pitchFamily="34" charset="0"/>
                <a:ea typeface="Cambria" pitchFamily="34" charset="-122"/>
                <a:cs typeface="Cambria" pitchFamily="34" charset="-120"/>
              </a:rPr>
              <a:t>Random Forest + Isolation Forest</a:t>
            </a:r>
            <a:endParaRPr lang="en-US" sz="1800" dirty="0"/>
          </a:p>
        </p:txBody>
      </p:sp>
      <p:sp>
        <p:nvSpPr>
          <p:cNvPr id="15" name="Text 13"/>
          <p:cNvSpPr/>
          <p:nvPr/>
        </p:nvSpPr>
        <p:spPr>
          <a:xfrm>
            <a:off x="4543425" y="2266950"/>
            <a:ext cx="3143250" cy="66675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12263A"/>
                </a:solidFill>
                <a:latin typeface="Calibri" pitchFamily="34" charset="0"/>
                <a:ea typeface="Calibri" pitchFamily="34" charset="-122"/>
                <a:cs typeface="Calibri" pitchFamily="34" charset="-120"/>
              </a:rPr>
              <a:t>90 trees, depth 6, balanced classes, seed 1588, with an Isolation Forest novelty layer for abstention. Inputs: ptp4l servo telemetry only — offset, path delay and delay variation.</a:t>
            </a:r>
            <a:endParaRPr lang="en-US" sz="1240" dirty="0"/>
          </a:p>
        </p:txBody>
      </p:sp>
      <p:sp>
        <p:nvSpPr>
          <p:cNvPr id="16" name="Shape 14"/>
          <p:cNvSpPr/>
          <p:nvPr/>
        </p:nvSpPr>
        <p:spPr>
          <a:xfrm>
            <a:off x="8058150" y="1619250"/>
            <a:ext cx="3562350" cy="1390650"/>
          </a:xfrm>
          <a:prstGeom prst="roundRect">
            <a:avLst>
              <a:gd name="adj" fmla="val 2630"/>
            </a:avLst>
          </a:prstGeom>
          <a:solidFill>
            <a:srgbClr val="FFFFFF"/>
          </a:solidFill>
          <a:ln w="12700">
            <a:solidFill>
              <a:srgbClr val="D7E1EA"/>
            </a:solidFill>
            <a:prstDash val="solid"/>
          </a:ln>
        </p:spPr>
        <p:txBody>
          <a:bodyPr/>
          <a:lstStyle/>
          <a:p>
            <a:endParaRPr lang="en-IN"/>
          </a:p>
        </p:txBody>
      </p:sp>
      <p:sp>
        <p:nvSpPr>
          <p:cNvPr id="17" name="Text 15"/>
          <p:cNvSpPr/>
          <p:nvPr/>
        </p:nvSpPr>
        <p:spPr>
          <a:xfrm>
            <a:off x="8286750" y="1771650"/>
            <a:ext cx="31432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5B6B7C"/>
                </a:solidFill>
                <a:latin typeface="Calibri" pitchFamily="34" charset="0"/>
                <a:ea typeface="Calibri" pitchFamily="34" charset="-122"/>
                <a:cs typeface="Calibri" pitchFamily="34" charset="-120"/>
              </a:rPr>
              <a:t>CONTROL · ALWAYS-BENIGN</a:t>
            </a:r>
            <a:endParaRPr lang="en-US" sz="1150" dirty="0"/>
          </a:p>
        </p:txBody>
      </p:sp>
      <p:sp>
        <p:nvSpPr>
          <p:cNvPr id="18" name="Text 16"/>
          <p:cNvSpPr/>
          <p:nvPr/>
        </p:nvSpPr>
        <p:spPr>
          <a:xfrm>
            <a:off x="8286750" y="1981200"/>
            <a:ext cx="3143250" cy="247650"/>
          </a:xfrm>
          <a:prstGeom prst="rect">
            <a:avLst/>
          </a:prstGeom>
          <a:noFill/>
          <a:ln/>
        </p:spPr>
        <p:txBody>
          <a:bodyPr wrap="square" lIns="0" tIns="0" rIns="0" bIns="0" rtlCol="0" anchor="t">
            <a:normAutofit/>
          </a:bodyPr>
          <a:lstStyle/>
          <a:p>
            <a:pPr marL="0" indent="0" algn="l">
              <a:lnSpc>
                <a:spcPct val="100000"/>
              </a:lnSpc>
              <a:buNone/>
            </a:pPr>
            <a:r>
              <a:rPr lang="en-US" sz="1800" b="1" dirty="0">
                <a:solidFill>
                  <a:srgbClr val="12263A"/>
                </a:solidFill>
                <a:latin typeface="Cambria" pitchFamily="34" charset="0"/>
                <a:ea typeface="Cambria" pitchFamily="34" charset="-122"/>
                <a:cs typeface="Cambria" pitchFamily="34" charset="-120"/>
              </a:rPr>
              <a:t>Constant predictor</a:t>
            </a:r>
            <a:endParaRPr lang="en-US" sz="1800" dirty="0"/>
          </a:p>
        </p:txBody>
      </p:sp>
      <p:sp>
        <p:nvSpPr>
          <p:cNvPr id="19" name="Text 17"/>
          <p:cNvSpPr/>
          <p:nvPr/>
        </p:nvSpPr>
        <p:spPr>
          <a:xfrm>
            <a:off x="8286750" y="2266950"/>
            <a:ext cx="3143250" cy="66675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5B6B7C"/>
                </a:solidFill>
                <a:latin typeface="Calibri" pitchFamily="34" charset="0"/>
                <a:ea typeface="Calibri" pitchFamily="34" charset="-122"/>
                <a:cs typeface="Calibri" pitchFamily="34" charset="-120"/>
              </a:rPr>
              <a:t>Returns BENIGN for every run. Included so that any apparent ML skill can be tested against the trivial baseline rather than assumed.</a:t>
            </a:r>
            <a:endParaRPr lang="en-US" sz="1240" dirty="0"/>
          </a:p>
        </p:txBody>
      </p:sp>
      <p:sp>
        <p:nvSpPr>
          <p:cNvPr id="20" name="Text 18"/>
          <p:cNvSpPr/>
          <p:nvPr/>
        </p:nvSpPr>
        <p:spPr>
          <a:xfrm>
            <a:off x="666750" y="3200400"/>
            <a:ext cx="3143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METRIC ON 56 HELD-OUT RUNS</a:t>
            </a:r>
            <a:endParaRPr lang="en-US" sz="1200" dirty="0"/>
          </a:p>
        </p:txBody>
      </p:sp>
      <p:sp>
        <p:nvSpPr>
          <p:cNvPr id="21" name="Text 19"/>
          <p:cNvSpPr/>
          <p:nvPr/>
        </p:nvSpPr>
        <p:spPr>
          <a:xfrm>
            <a:off x="4095750" y="3200400"/>
            <a:ext cx="1809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ARM A — RULE</a:t>
            </a:r>
            <a:endParaRPr lang="en-US" sz="1200" dirty="0"/>
          </a:p>
        </p:txBody>
      </p:sp>
      <p:sp>
        <p:nvSpPr>
          <p:cNvPr id="22" name="Text 20"/>
          <p:cNvSpPr/>
          <p:nvPr/>
        </p:nvSpPr>
        <p:spPr>
          <a:xfrm>
            <a:off x="6286500" y="3200400"/>
            <a:ext cx="1809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ARM B — ML</a:t>
            </a:r>
            <a:endParaRPr lang="en-US" sz="1200" dirty="0"/>
          </a:p>
        </p:txBody>
      </p:sp>
      <p:sp>
        <p:nvSpPr>
          <p:cNvPr id="23" name="Text 21"/>
          <p:cNvSpPr/>
          <p:nvPr/>
        </p:nvSpPr>
        <p:spPr>
          <a:xfrm>
            <a:off x="8477250" y="3200400"/>
            <a:ext cx="1809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ALWAYS-BENIGN</a:t>
            </a:r>
            <a:endParaRPr lang="en-US" sz="1200" dirty="0"/>
          </a:p>
        </p:txBody>
      </p:sp>
      <p:sp>
        <p:nvSpPr>
          <p:cNvPr id="24" name="Text 22"/>
          <p:cNvSpPr/>
          <p:nvPr/>
        </p:nvSpPr>
        <p:spPr>
          <a:xfrm>
            <a:off x="10382250" y="3200400"/>
            <a:ext cx="1143000" cy="228600"/>
          </a:xfrm>
          <a:prstGeom prst="rect">
            <a:avLst/>
          </a:prstGeom>
          <a:noFill/>
          <a:ln/>
        </p:spPr>
        <p:txBody>
          <a:bodyPr wrap="square" lIns="0" tIns="0" rIns="0" bIns="0" rtlCol="0" anchor="t">
            <a:normAutofit/>
          </a:bodyPr>
          <a:lstStyle/>
          <a:p>
            <a:pPr marL="0" indent="0" algn="l">
              <a:lnSpc>
                <a:spcPct val="100000"/>
              </a:lnSpc>
              <a:buNone/>
            </a:pPr>
            <a:endParaRPr lang="en-US" sz="1200" dirty="0"/>
          </a:p>
        </p:txBody>
      </p:sp>
      <p:sp>
        <p:nvSpPr>
          <p:cNvPr id="25" name="Shape 23"/>
          <p:cNvSpPr/>
          <p:nvPr/>
        </p:nvSpPr>
        <p:spPr>
          <a:xfrm>
            <a:off x="571500" y="3457575"/>
            <a:ext cx="11049000" cy="11430"/>
          </a:xfrm>
          <a:prstGeom prst="rect">
            <a:avLst/>
          </a:prstGeom>
          <a:solidFill>
            <a:srgbClr val="D7E1EA"/>
          </a:solidFill>
          <a:ln/>
        </p:spPr>
        <p:txBody>
          <a:bodyPr/>
          <a:lstStyle/>
          <a:p>
            <a:endParaRPr lang="en-IN"/>
          </a:p>
        </p:txBody>
      </p:sp>
      <p:sp>
        <p:nvSpPr>
          <p:cNvPr id="26" name="Text 24"/>
          <p:cNvSpPr/>
          <p:nvPr/>
        </p:nvSpPr>
        <p:spPr>
          <a:xfrm>
            <a:off x="666750" y="3581400"/>
            <a:ext cx="3238500" cy="209550"/>
          </a:xfrm>
          <a:prstGeom prst="rect">
            <a:avLst/>
          </a:prstGeom>
          <a:noFill/>
          <a:ln/>
        </p:spPr>
        <p:txBody>
          <a:bodyPr wrap="square" lIns="0" tIns="0" rIns="0" bIns="0" rtlCol="0" anchor="t">
            <a:normAutofit/>
          </a:bodyPr>
          <a:lstStyle/>
          <a:p>
            <a:pPr marL="0" indent="0" algn="l">
              <a:lnSpc>
                <a:spcPct val="100000"/>
              </a:lnSpc>
              <a:buNone/>
            </a:pPr>
            <a:r>
              <a:rPr lang="en-US" sz="1360" b="1" dirty="0">
                <a:solidFill>
                  <a:srgbClr val="12263A"/>
                </a:solidFill>
                <a:latin typeface="Cambria" pitchFamily="34" charset="0"/>
                <a:ea typeface="Cambria" pitchFamily="34" charset="-122"/>
                <a:cs typeface="Cambria" pitchFamily="34" charset="-120"/>
              </a:rPr>
              <a:t>Exact accuracy</a:t>
            </a:r>
            <a:endParaRPr lang="en-US" sz="1360" dirty="0"/>
          </a:p>
        </p:txBody>
      </p:sp>
      <p:sp>
        <p:nvSpPr>
          <p:cNvPr id="27" name="Text 25"/>
          <p:cNvSpPr/>
          <p:nvPr/>
        </p:nvSpPr>
        <p:spPr>
          <a:xfrm>
            <a:off x="4095750" y="35814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b="1" dirty="0">
                <a:solidFill>
                  <a:srgbClr val="1E8E5A"/>
                </a:solidFill>
                <a:latin typeface="Calibri" pitchFamily="34" charset="0"/>
                <a:ea typeface="Calibri" pitchFamily="34" charset="-122"/>
                <a:cs typeface="Calibri" pitchFamily="34" charset="-120"/>
              </a:rPr>
              <a:t>51/56  (0.911)</a:t>
            </a:r>
            <a:endParaRPr lang="en-US" sz="1360" dirty="0"/>
          </a:p>
        </p:txBody>
      </p:sp>
      <p:sp>
        <p:nvSpPr>
          <p:cNvPr id="28" name="Text 26"/>
          <p:cNvSpPr/>
          <p:nvPr/>
        </p:nvSpPr>
        <p:spPr>
          <a:xfrm>
            <a:off x="6286500" y="35814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12263A"/>
                </a:solidFill>
                <a:latin typeface="Calibri" pitchFamily="34" charset="0"/>
                <a:ea typeface="Calibri" pitchFamily="34" charset="-122"/>
                <a:cs typeface="Calibri" pitchFamily="34" charset="-120"/>
              </a:rPr>
              <a:t>24/56  (0.429)</a:t>
            </a:r>
            <a:endParaRPr lang="en-US" sz="1360" dirty="0"/>
          </a:p>
        </p:txBody>
      </p:sp>
      <p:sp>
        <p:nvSpPr>
          <p:cNvPr id="29" name="Text 27"/>
          <p:cNvSpPr/>
          <p:nvPr/>
        </p:nvSpPr>
        <p:spPr>
          <a:xfrm>
            <a:off x="8477250" y="35814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5B6B7C"/>
                </a:solidFill>
                <a:latin typeface="Calibri" pitchFamily="34" charset="0"/>
                <a:ea typeface="Calibri" pitchFamily="34" charset="-122"/>
                <a:cs typeface="Calibri" pitchFamily="34" charset="-120"/>
              </a:rPr>
              <a:t>20/56  (0.357)</a:t>
            </a:r>
            <a:endParaRPr lang="en-US" sz="1360" dirty="0"/>
          </a:p>
        </p:txBody>
      </p:sp>
      <p:sp>
        <p:nvSpPr>
          <p:cNvPr id="30" name="Shape 28"/>
          <p:cNvSpPr/>
          <p:nvPr/>
        </p:nvSpPr>
        <p:spPr>
          <a:xfrm>
            <a:off x="571500" y="3829050"/>
            <a:ext cx="11049000" cy="11430"/>
          </a:xfrm>
          <a:prstGeom prst="rect">
            <a:avLst/>
          </a:prstGeom>
          <a:solidFill>
            <a:srgbClr val="D7E1EA"/>
          </a:solidFill>
          <a:ln/>
        </p:spPr>
        <p:txBody>
          <a:bodyPr/>
          <a:lstStyle/>
          <a:p>
            <a:endParaRPr lang="en-IN"/>
          </a:p>
        </p:txBody>
      </p:sp>
      <p:sp>
        <p:nvSpPr>
          <p:cNvPr id="31" name="Text 29"/>
          <p:cNvSpPr/>
          <p:nvPr/>
        </p:nvSpPr>
        <p:spPr>
          <a:xfrm>
            <a:off x="666750" y="3924300"/>
            <a:ext cx="3238500" cy="209550"/>
          </a:xfrm>
          <a:prstGeom prst="rect">
            <a:avLst/>
          </a:prstGeom>
          <a:noFill/>
          <a:ln/>
        </p:spPr>
        <p:txBody>
          <a:bodyPr wrap="square" lIns="0" tIns="0" rIns="0" bIns="0" rtlCol="0" anchor="t">
            <a:normAutofit/>
          </a:bodyPr>
          <a:lstStyle/>
          <a:p>
            <a:pPr marL="0" indent="0" algn="l">
              <a:lnSpc>
                <a:spcPct val="100000"/>
              </a:lnSpc>
              <a:buNone/>
            </a:pPr>
            <a:r>
              <a:rPr lang="en-US" sz="1360" b="1" dirty="0">
                <a:solidFill>
                  <a:srgbClr val="12263A"/>
                </a:solidFill>
                <a:latin typeface="Cambria" pitchFamily="34" charset="0"/>
                <a:ea typeface="Cambria" pitchFamily="34" charset="-122"/>
                <a:cs typeface="Cambria" pitchFamily="34" charset="-120"/>
              </a:rPr>
              <a:t>Attack sensitivity</a:t>
            </a:r>
            <a:endParaRPr lang="en-US" sz="1360" dirty="0"/>
          </a:p>
        </p:txBody>
      </p:sp>
      <p:sp>
        <p:nvSpPr>
          <p:cNvPr id="32" name="Text 30"/>
          <p:cNvSpPr/>
          <p:nvPr/>
        </p:nvSpPr>
        <p:spPr>
          <a:xfrm>
            <a:off x="4095750" y="39243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b="1" dirty="0">
                <a:solidFill>
                  <a:srgbClr val="1E8E5A"/>
                </a:solidFill>
                <a:latin typeface="Calibri" pitchFamily="34" charset="0"/>
                <a:ea typeface="Calibri" pitchFamily="34" charset="-122"/>
                <a:cs typeface="Calibri" pitchFamily="34" charset="-120"/>
              </a:rPr>
              <a:t>0.969  (31/32)</a:t>
            </a:r>
            <a:endParaRPr lang="en-US" sz="1360" dirty="0"/>
          </a:p>
        </p:txBody>
      </p:sp>
      <p:sp>
        <p:nvSpPr>
          <p:cNvPr id="33" name="Text 31"/>
          <p:cNvSpPr/>
          <p:nvPr/>
        </p:nvSpPr>
        <p:spPr>
          <a:xfrm>
            <a:off x="6286500" y="39243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12263A"/>
                </a:solidFill>
                <a:latin typeface="Calibri" pitchFamily="34" charset="0"/>
                <a:ea typeface="Calibri" pitchFamily="34" charset="-122"/>
                <a:cs typeface="Calibri" pitchFamily="34" charset="-120"/>
              </a:rPr>
              <a:t>0.156  (5/32)</a:t>
            </a:r>
            <a:endParaRPr lang="en-US" sz="1360" dirty="0"/>
          </a:p>
        </p:txBody>
      </p:sp>
      <p:sp>
        <p:nvSpPr>
          <p:cNvPr id="34" name="Text 32"/>
          <p:cNvSpPr/>
          <p:nvPr/>
        </p:nvSpPr>
        <p:spPr>
          <a:xfrm>
            <a:off x="8477250" y="39243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5B6B7C"/>
                </a:solidFill>
                <a:latin typeface="Calibri" pitchFamily="34" charset="0"/>
                <a:ea typeface="Calibri" pitchFamily="34" charset="-122"/>
                <a:cs typeface="Calibri" pitchFamily="34" charset="-120"/>
              </a:rPr>
              <a:t>0.000  (0/32)</a:t>
            </a:r>
            <a:endParaRPr lang="en-US" sz="1360" dirty="0"/>
          </a:p>
        </p:txBody>
      </p:sp>
      <p:sp>
        <p:nvSpPr>
          <p:cNvPr id="35" name="Shape 33"/>
          <p:cNvSpPr/>
          <p:nvPr/>
        </p:nvSpPr>
        <p:spPr>
          <a:xfrm>
            <a:off x="571500" y="4171950"/>
            <a:ext cx="11049000" cy="11430"/>
          </a:xfrm>
          <a:prstGeom prst="rect">
            <a:avLst/>
          </a:prstGeom>
          <a:solidFill>
            <a:srgbClr val="D7E1EA"/>
          </a:solidFill>
          <a:ln/>
        </p:spPr>
        <p:txBody>
          <a:bodyPr/>
          <a:lstStyle/>
          <a:p>
            <a:endParaRPr lang="en-IN"/>
          </a:p>
        </p:txBody>
      </p:sp>
      <p:sp>
        <p:nvSpPr>
          <p:cNvPr id="36" name="Text 34"/>
          <p:cNvSpPr/>
          <p:nvPr/>
        </p:nvSpPr>
        <p:spPr>
          <a:xfrm>
            <a:off x="666750" y="4267200"/>
            <a:ext cx="3238500" cy="209550"/>
          </a:xfrm>
          <a:prstGeom prst="rect">
            <a:avLst/>
          </a:prstGeom>
          <a:noFill/>
          <a:ln/>
        </p:spPr>
        <p:txBody>
          <a:bodyPr wrap="square" lIns="0" tIns="0" rIns="0" bIns="0" rtlCol="0" anchor="t">
            <a:normAutofit/>
          </a:bodyPr>
          <a:lstStyle/>
          <a:p>
            <a:pPr marL="0" indent="0" algn="l">
              <a:lnSpc>
                <a:spcPct val="100000"/>
              </a:lnSpc>
              <a:buNone/>
            </a:pPr>
            <a:r>
              <a:rPr lang="en-US" sz="1360" b="1" dirty="0">
                <a:solidFill>
                  <a:srgbClr val="12263A"/>
                </a:solidFill>
                <a:latin typeface="Cambria" pitchFamily="34" charset="0"/>
                <a:ea typeface="Cambria" pitchFamily="34" charset="-122"/>
                <a:cs typeface="Cambria" pitchFamily="34" charset="-120"/>
              </a:rPr>
              <a:t>Benign specificity</a:t>
            </a:r>
            <a:endParaRPr lang="en-US" sz="1360" dirty="0"/>
          </a:p>
        </p:txBody>
      </p:sp>
      <p:sp>
        <p:nvSpPr>
          <p:cNvPr id="37" name="Text 35"/>
          <p:cNvSpPr/>
          <p:nvPr/>
        </p:nvSpPr>
        <p:spPr>
          <a:xfrm>
            <a:off x="4095750" y="42672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b="1" dirty="0">
                <a:solidFill>
                  <a:srgbClr val="1E8E5A"/>
                </a:solidFill>
                <a:latin typeface="Calibri" pitchFamily="34" charset="0"/>
                <a:ea typeface="Calibri" pitchFamily="34" charset="-122"/>
                <a:cs typeface="Calibri" pitchFamily="34" charset="-120"/>
              </a:rPr>
              <a:t>0.800  (16/20)</a:t>
            </a:r>
            <a:endParaRPr lang="en-US" sz="1360" dirty="0"/>
          </a:p>
        </p:txBody>
      </p:sp>
      <p:sp>
        <p:nvSpPr>
          <p:cNvPr id="38" name="Text 36"/>
          <p:cNvSpPr/>
          <p:nvPr/>
        </p:nvSpPr>
        <p:spPr>
          <a:xfrm>
            <a:off x="6286500" y="42672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12263A"/>
                </a:solidFill>
                <a:latin typeface="Calibri" pitchFamily="34" charset="0"/>
                <a:ea typeface="Calibri" pitchFamily="34" charset="-122"/>
                <a:cs typeface="Calibri" pitchFamily="34" charset="-120"/>
              </a:rPr>
              <a:t>0.950  (19/20)</a:t>
            </a:r>
            <a:endParaRPr lang="en-US" sz="1360" dirty="0"/>
          </a:p>
        </p:txBody>
      </p:sp>
      <p:sp>
        <p:nvSpPr>
          <p:cNvPr id="39" name="Text 37"/>
          <p:cNvSpPr/>
          <p:nvPr/>
        </p:nvSpPr>
        <p:spPr>
          <a:xfrm>
            <a:off x="8477250" y="42672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5B6B7C"/>
                </a:solidFill>
                <a:latin typeface="Calibri" pitchFamily="34" charset="0"/>
                <a:ea typeface="Calibri" pitchFamily="34" charset="-122"/>
                <a:cs typeface="Calibri" pitchFamily="34" charset="-120"/>
              </a:rPr>
              <a:t>1.000  (20/20)</a:t>
            </a:r>
            <a:endParaRPr lang="en-US" sz="1360" dirty="0"/>
          </a:p>
        </p:txBody>
      </p:sp>
      <p:sp>
        <p:nvSpPr>
          <p:cNvPr id="40" name="Shape 38"/>
          <p:cNvSpPr/>
          <p:nvPr/>
        </p:nvSpPr>
        <p:spPr>
          <a:xfrm>
            <a:off x="571500" y="4514850"/>
            <a:ext cx="11049000" cy="11430"/>
          </a:xfrm>
          <a:prstGeom prst="rect">
            <a:avLst/>
          </a:prstGeom>
          <a:solidFill>
            <a:srgbClr val="D7E1EA"/>
          </a:solidFill>
          <a:ln/>
        </p:spPr>
        <p:txBody>
          <a:bodyPr/>
          <a:lstStyle/>
          <a:p>
            <a:endParaRPr lang="en-IN"/>
          </a:p>
        </p:txBody>
      </p:sp>
      <p:sp>
        <p:nvSpPr>
          <p:cNvPr id="41" name="Text 39"/>
          <p:cNvSpPr/>
          <p:nvPr/>
        </p:nvSpPr>
        <p:spPr>
          <a:xfrm>
            <a:off x="666750" y="4610100"/>
            <a:ext cx="3238500" cy="209550"/>
          </a:xfrm>
          <a:prstGeom prst="rect">
            <a:avLst/>
          </a:prstGeom>
          <a:noFill/>
          <a:ln/>
        </p:spPr>
        <p:txBody>
          <a:bodyPr wrap="square" lIns="0" tIns="0" rIns="0" bIns="0" rtlCol="0" anchor="t">
            <a:normAutofit/>
          </a:bodyPr>
          <a:lstStyle/>
          <a:p>
            <a:pPr marL="0" indent="0" algn="l">
              <a:lnSpc>
                <a:spcPct val="100000"/>
              </a:lnSpc>
              <a:buNone/>
            </a:pPr>
            <a:r>
              <a:rPr lang="en-US" sz="1360" b="1" dirty="0">
                <a:solidFill>
                  <a:srgbClr val="12263A"/>
                </a:solidFill>
                <a:latin typeface="Cambria" pitchFamily="34" charset="0"/>
                <a:ea typeface="Cambria" pitchFamily="34" charset="-122"/>
                <a:cs typeface="Cambria" pitchFamily="34" charset="-120"/>
              </a:rPr>
              <a:t>Correct abstention</a:t>
            </a:r>
            <a:endParaRPr lang="en-US" sz="1360" dirty="0"/>
          </a:p>
        </p:txBody>
      </p:sp>
      <p:sp>
        <p:nvSpPr>
          <p:cNvPr id="42" name="Text 40"/>
          <p:cNvSpPr/>
          <p:nvPr/>
        </p:nvSpPr>
        <p:spPr>
          <a:xfrm>
            <a:off x="4095750" y="46101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b="1" dirty="0">
                <a:solidFill>
                  <a:srgbClr val="1E8E5A"/>
                </a:solidFill>
                <a:latin typeface="Calibri" pitchFamily="34" charset="0"/>
                <a:ea typeface="Calibri" pitchFamily="34" charset="-122"/>
                <a:cs typeface="Calibri" pitchFamily="34" charset="-120"/>
              </a:rPr>
              <a:t>1.000  (4/4)</a:t>
            </a:r>
            <a:endParaRPr lang="en-US" sz="1360" dirty="0"/>
          </a:p>
        </p:txBody>
      </p:sp>
      <p:sp>
        <p:nvSpPr>
          <p:cNvPr id="43" name="Text 41"/>
          <p:cNvSpPr/>
          <p:nvPr/>
        </p:nvSpPr>
        <p:spPr>
          <a:xfrm>
            <a:off x="6286500" y="46101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12263A"/>
                </a:solidFill>
                <a:latin typeface="Calibri" pitchFamily="34" charset="0"/>
                <a:ea typeface="Calibri" pitchFamily="34" charset="-122"/>
                <a:cs typeface="Calibri" pitchFamily="34" charset="-120"/>
              </a:rPr>
              <a:t>0.000  (0/4)</a:t>
            </a:r>
            <a:endParaRPr lang="en-US" sz="1360" dirty="0"/>
          </a:p>
        </p:txBody>
      </p:sp>
      <p:sp>
        <p:nvSpPr>
          <p:cNvPr id="44" name="Text 42"/>
          <p:cNvSpPr/>
          <p:nvPr/>
        </p:nvSpPr>
        <p:spPr>
          <a:xfrm>
            <a:off x="8477250" y="4610100"/>
            <a:ext cx="1809750" cy="209550"/>
          </a:xfrm>
          <a:prstGeom prst="rect">
            <a:avLst/>
          </a:prstGeom>
          <a:noFill/>
          <a:ln/>
        </p:spPr>
        <p:txBody>
          <a:bodyPr wrap="square" lIns="0" tIns="0" rIns="0" bIns="0" rtlCol="0" anchor="t">
            <a:normAutofit/>
          </a:bodyPr>
          <a:lstStyle/>
          <a:p>
            <a:pPr marL="0" indent="0" algn="l">
              <a:lnSpc>
                <a:spcPct val="100000"/>
              </a:lnSpc>
              <a:buNone/>
            </a:pPr>
            <a:r>
              <a:rPr lang="en-US" sz="1360" dirty="0">
                <a:solidFill>
                  <a:srgbClr val="5B6B7C"/>
                </a:solidFill>
                <a:latin typeface="Calibri" pitchFamily="34" charset="0"/>
                <a:ea typeface="Calibri" pitchFamily="34" charset="-122"/>
                <a:cs typeface="Calibri" pitchFamily="34" charset="-120"/>
              </a:rPr>
              <a:t>0.000  (0/4)</a:t>
            </a:r>
            <a:endParaRPr lang="en-US" sz="1360" dirty="0"/>
          </a:p>
        </p:txBody>
      </p:sp>
      <p:sp>
        <p:nvSpPr>
          <p:cNvPr id="45" name="Shape 43"/>
          <p:cNvSpPr/>
          <p:nvPr/>
        </p:nvSpPr>
        <p:spPr>
          <a:xfrm>
            <a:off x="571500" y="4857750"/>
            <a:ext cx="11049000" cy="11430"/>
          </a:xfrm>
          <a:prstGeom prst="rect">
            <a:avLst/>
          </a:prstGeom>
          <a:solidFill>
            <a:srgbClr val="D7E1EA"/>
          </a:solidFill>
          <a:ln/>
        </p:spPr>
        <p:txBody>
          <a:bodyPr/>
          <a:lstStyle/>
          <a:p>
            <a:endParaRPr lang="en-IN"/>
          </a:p>
        </p:txBody>
      </p:sp>
      <p:sp>
        <p:nvSpPr>
          <p:cNvPr id="46" name="Shape 44"/>
          <p:cNvSpPr/>
          <p:nvPr/>
        </p:nvSpPr>
        <p:spPr>
          <a:xfrm>
            <a:off x="571500" y="4972050"/>
            <a:ext cx="5381625" cy="914400"/>
          </a:xfrm>
          <a:prstGeom prst="roundRect">
            <a:avLst>
              <a:gd name="adj" fmla="val 4000"/>
            </a:avLst>
          </a:prstGeom>
          <a:solidFill>
            <a:srgbClr val="FBEDEA"/>
          </a:solidFill>
          <a:ln w="12700">
            <a:solidFill>
              <a:srgbClr val="B3402F"/>
            </a:solidFill>
            <a:prstDash val="solid"/>
          </a:ln>
        </p:spPr>
        <p:txBody>
          <a:bodyPr/>
          <a:lstStyle/>
          <a:p>
            <a:endParaRPr lang="en-IN"/>
          </a:p>
        </p:txBody>
      </p:sp>
      <p:sp>
        <p:nvSpPr>
          <p:cNvPr id="47" name="Text 45"/>
          <p:cNvSpPr/>
          <p:nvPr/>
        </p:nvSpPr>
        <p:spPr>
          <a:xfrm>
            <a:off x="800100" y="5105400"/>
            <a:ext cx="49530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B3402F"/>
                </a:solidFill>
                <a:latin typeface="Calibri" pitchFamily="34" charset="0"/>
                <a:ea typeface="Calibri" pitchFamily="34" charset="-122"/>
                <a:cs typeface="Calibri" pitchFamily="34" charset="-120"/>
              </a:rPr>
              <a:t>ARM B IS NOT DISTINGUISHABLE FROM THE CONSTANT PREDICTOR</a:t>
            </a:r>
            <a:endParaRPr lang="en-US" sz="1150" dirty="0"/>
          </a:p>
        </p:txBody>
      </p:sp>
      <p:sp>
        <p:nvSpPr>
          <p:cNvPr id="48" name="Text 46"/>
          <p:cNvSpPr/>
          <p:nvPr/>
        </p:nvSpPr>
        <p:spPr>
          <a:xfrm>
            <a:off x="800100" y="5314950"/>
            <a:ext cx="4953000" cy="49530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12263A"/>
                </a:solidFill>
                <a:latin typeface="Calibri" pitchFamily="34" charset="0"/>
                <a:ea typeface="Calibri" pitchFamily="34" charset="-122"/>
                <a:cs typeface="Calibri" pitchFamily="34" charset="-120"/>
              </a:rPr>
              <a:t>ARM B returns BENIGN on 47 of 56 runs and improves on the constant predictor by four runs. A paired exact McNemar test gives p = 0.219, so the difference is not significant at this sample size. Both score 4/4 on the boundary-clock replacement, so that result is not a unique learned capability.</a:t>
            </a:r>
            <a:endParaRPr lang="en-US" sz="1240" dirty="0"/>
          </a:p>
        </p:txBody>
      </p:sp>
      <p:sp>
        <p:nvSpPr>
          <p:cNvPr id="49" name="Shape 47"/>
          <p:cNvSpPr/>
          <p:nvPr/>
        </p:nvSpPr>
        <p:spPr>
          <a:xfrm>
            <a:off x="6238875" y="4972050"/>
            <a:ext cx="5381625" cy="914400"/>
          </a:xfrm>
          <a:prstGeom prst="roundRect">
            <a:avLst>
              <a:gd name="adj" fmla="val 4000"/>
            </a:avLst>
          </a:prstGeom>
          <a:solidFill>
            <a:srgbClr val="DDF5EF"/>
          </a:solidFill>
          <a:ln w="12700">
            <a:solidFill>
              <a:srgbClr val="18B89A"/>
            </a:solidFill>
            <a:prstDash val="solid"/>
          </a:ln>
        </p:spPr>
        <p:txBody>
          <a:bodyPr/>
          <a:lstStyle/>
          <a:p>
            <a:endParaRPr lang="en-IN"/>
          </a:p>
        </p:txBody>
      </p:sp>
      <p:sp>
        <p:nvSpPr>
          <p:cNvPr id="50" name="Text 48"/>
          <p:cNvSpPr/>
          <p:nvPr/>
        </p:nvSpPr>
        <p:spPr>
          <a:xfrm>
            <a:off x="6467475" y="5105400"/>
            <a:ext cx="49530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0B5547"/>
                </a:solidFill>
                <a:latin typeface="Calibri" pitchFamily="34" charset="0"/>
                <a:ea typeface="Calibri" pitchFamily="34" charset="-122"/>
                <a:cs typeface="Calibri" pitchFamily="34" charset="-120"/>
              </a:rPr>
              <a:t>NO MEASURED COMBINATION EXCEEDS THE RULE ARM</a:t>
            </a:r>
            <a:endParaRPr lang="en-US" sz="1150" dirty="0"/>
          </a:p>
        </p:txBody>
      </p:sp>
      <p:sp>
        <p:nvSpPr>
          <p:cNvPr id="51" name="Text 49"/>
          <p:cNvSpPr/>
          <p:nvPr/>
        </p:nvSpPr>
        <p:spPr>
          <a:xfrm>
            <a:off x="6467475" y="5314950"/>
            <a:ext cx="4953000" cy="495300"/>
          </a:xfrm>
          <a:prstGeom prst="rect">
            <a:avLst/>
          </a:prstGeom>
          <a:noFill/>
          <a:ln/>
        </p:spPr>
        <p:txBody>
          <a:bodyPr wrap="square" lIns="0" tIns="0" rIns="0" bIns="0" rtlCol="0" anchor="t">
            <a:normAutofit/>
          </a:bodyPr>
          <a:lstStyle/>
          <a:p>
            <a:pPr marL="0" indent="0" algn="l">
              <a:lnSpc>
                <a:spcPct val="100000"/>
              </a:lnSpc>
              <a:buNone/>
            </a:pPr>
            <a:r>
              <a:rPr lang="en-US" sz="1240" dirty="0">
                <a:solidFill>
                  <a:srgbClr val="12263A"/>
                </a:solidFill>
                <a:latin typeface="Calibri" pitchFamily="34" charset="0"/>
                <a:ea typeface="Calibri" pitchFamily="34" charset="-122"/>
                <a:cs typeface="Calibri" pitchFamily="34" charset="-120"/>
              </a:rPr>
              <a:t>Combining the arms was evaluated rather than assumed. Logical OR reaches 0.893, rule-first with ML fallback 0.839, and consensus-else-abstain 0.429. All fall below ARM A at 0.911, so no combination is recommended on this evidence.</a:t>
            </a:r>
            <a:endParaRPr lang="en-US" sz="1240" dirty="0"/>
          </a:p>
        </p:txBody>
      </p:sp>
      <p:sp>
        <p:nvSpPr>
          <p:cNvPr id="52" name="Shape 50"/>
          <p:cNvSpPr/>
          <p:nvPr/>
        </p:nvSpPr>
        <p:spPr>
          <a:xfrm>
            <a:off x="571500" y="6000750"/>
            <a:ext cx="11049000" cy="628650"/>
          </a:xfrm>
          <a:prstGeom prst="roundRect">
            <a:avLst>
              <a:gd name="adj" fmla="val 5818"/>
            </a:avLst>
          </a:prstGeom>
          <a:solidFill>
            <a:srgbClr val="FFF8E8"/>
          </a:solidFill>
          <a:ln w="12700">
            <a:solidFill>
              <a:srgbClr val="C58B18"/>
            </a:solidFill>
            <a:prstDash val="solid"/>
          </a:ln>
        </p:spPr>
        <p:txBody>
          <a:bodyPr/>
          <a:lstStyle/>
          <a:p>
            <a:endParaRPr lang="en-IN"/>
          </a:p>
        </p:txBody>
      </p:sp>
      <p:sp>
        <p:nvSpPr>
          <p:cNvPr id="53" name="Text 51"/>
          <p:cNvSpPr/>
          <p:nvPr/>
        </p:nvSpPr>
        <p:spPr>
          <a:xfrm>
            <a:off x="781050" y="614362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Scope condition</a:t>
            </a:r>
            <a:endParaRPr lang="en-US" sz="1600" dirty="0"/>
          </a:p>
        </p:txBody>
      </p:sp>
      <p:sp>
        <p:nvSpPr>
          <p:cNvPr id="54" name="Text 52"/>
          <p:cNvSpPr/>
          <p:nvPr/>
        </p:nvSpPr>
        <p:spPr>
          <a:xfrm>
            <a:off x="2781300" y="6124575"/>
            <a:ext cx="8629650" cy="40005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12263A"/>
                </a:solidFill>
                <a:latin typeface="Calibri" pitchFamily="34" charset="0"/>
                <a:ea typeface="Calibri" pitchFamily="34" charset="-122"/>
                <a:cs typeface="Calibri" pitchFamily="34" charset="-120"/>
              </a:rPr>
              <a:t>ARM B operated on 6 of 28 configured features because GNSS, SyncE, oscillator and protocol-legality telemetry do not exist in this testbed. This is a result about the available observability, not a general verdict on machine learning.</a:t>
            </a:r>
            <a:endParaRPr lang="en-US" sz="12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RESULT INTERPRETATION</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200" b="1" dirty="0">
                <a:solidFill>
                  <a:srgbClr val="12263A"/>
                </a:solidFill>
                <a:latin typeface="Cambria" pitchFamily="34" charset="0"/>
                <a:ea typeface="Cambria" pitchFamily="34" charset="-122"/>
                <a:cs typeface="Cambria" pitchFamily="34" charset="-120"/>
              </a:rPr>
              <a:t>Observability Constraints Behind the ML Result</a:t>
            </a:r>
            <a:endParaRPr lang="en-US" sz="32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Feature availability derived from observed linuxptp servo provenance  |  Schema defaults and synthetic parser fields invalidated to NaN before fitting  |  Impurity-based feature importances from the fitted Random Forest</a:t>
            </a:r>
            <a:endParaRPr lang="en-US" sz="1120" dirty="0"/>
          </a:p>
        </p:txBody>
      </p:sp>
      <p:sp>
        <p:nvSpPr>
          <p:cNvPr id="8" name="Text 6"/>
          <p:cNvSpPr/>
          <p:nvPr/>
        </p:nvSpPr>
        <p:spPr>
          <a:xfrm>
            <a:off x="571500" y="1638300"/>
            <a:ext cx="11049000" cy="381000"/>
          </a:xfrm>
          <a:prstGeom prst="rect">
            <a:avLst/>
          </a:prstGeom>
          <a:noFill/>
          <a:ln/>
        </p:spPr>
        <p:txBody>
          <a:bodyPr wrap="square" lIns="0" tIns="0" rIns="0" bIns="0" rtlCol="0" anchor="t">
            <a:normAutofit/>
          </a:bodyPr>
          <a:lstStyle/>
          <a:p>
            <a:pPr marL="0" indent="0" algn="l">
              <a:lnSpc>
                <a:spcPct val="100000"/>
              </a:lnSpc>
              <a:buNone/>
            </a:pPr>
            <a:r>
              <a:rPr lang="en-US" sz="1500" dirty="0">
                <a:solidFill>
                  <a:srgbClr val="5B6B7C"/>
                </a:solidFill>
                <a:latin typeface="Calibri" pitchFamily="34" charset="0"/>
                <a:ea typeface="Calibri" pitchFamily="34" charset="-122"/>
                <a:cs typeface="Calibri" pitchFamily="34" charset="-120"/>
              </a:rPr>
              <a:t>The machine-learning arm underperformed on what this testbed can observe. Three measured constraints bear on the result; an equal-input comparison was not run, so method suitability itself is untested.</a:t>
            </a:r>
            <a:endParaRPr lang="en-US" sz="1500" dirty="0"/>
          </a:p>
        </p:txBody>
      </p:sp>
      <p:sp>
        <p:nvSpPr>
          <p:cNvPr id="9" name="Shape 7"/>
          <p:cNvSpPr/>
          <p:nvPr/>
        </p:nvSpPr>
        <p:spPr>
          <a:xfrm>
            <a:off x="571500" y="2152650"/>
            <a:ext cx="11049000" cy="1047750"/>
          </a:xfrm>
          <a:prstGeom prst="roundRect">
            <a:avLst>
              <a:gd name="adj" fmla="val 3491"/>
            </a:avLst>
          </a:prstGeom>
          <a:solidFill>
            <a:srgbClr val="FFFFFF"/>
          </a:solidFill>
          <a:ln w="12700">
            <a:solidFill>
              <a:srgbClr val="D7E1EA"/>
            </a:solidFill>
            <a:prstDash val="solid"/>
          </a:ln>
        </p:spPr>
        <p:txBody>
          <a:bodyPr/>
          <a:lstStyle/>
          <a:p>
            <a:endParaRPr lang="en-IN"/>
          </a:p>
        </p:txBody>
      </p:sp>
      <p:sp>
        <p:nvSpPr>
          <p:cNvPr id="10" name="Shape 8"/>
          <p:cNvSpPr/>
          <p:nvPr/>
        </p:nvSpPr>
        <p:spPr>
          <a:xfrm>
            <a:off x="571500" y="2152650"/>
            <a:ext cx="47625" cy="1047750"/>
          </a:xfrm>
          <a:prstGeom prst="rect">
            <a:avLst/>
          </a:prstGeom>
          <a:solidFill>
            <a:srgbClr val="1C7293"/>
          </a:solidFill>
          <a:ln/>
        </p:spPr>
        <p:txBody>
          <a:bodyPr/>
          <a:lstStyle/>
          <a:p>
            <a:endParaRPr lang="en-IN"/>
          </a:p>
        </p:txBody>
      </p:sp>
      <p:sp>
        <p:nvSpPr>
          <p:cNvPr id="11" name="Shape 9"/>
          <p:cNvSpPr/>
          <p:nvPr/>
        </p:nvSpPr>
        <p:spPr>
          <a:xfrm>
            <a:off x="838200" y="2457450"/>
            <a:ext cx="400050" cy="400050"/>
          </a:xfrm>
          <a:prstGeom prst="roundRect">
            <a:avLst>
              <a:gd name="adj" fmla="val 9143"/>
            </a:avLst>
          </a:prstGeom>
          <a:solidFill>
            <a:srgbClr val="1C7293"/>
          </a:solidFill>
          <a:ln w="12700">
            <a:solidFill>
              <a:srgbClr val="1C7293"/>
            </a:solidFill>
            <a:prstDash val="solid"/>
          </a:ln>
        </p:spPr>
        <p:txBody>
          <a:bodyPr/>
          <a:lstStyle/>
          <a:p>
            <a:endParaRPr lang="en-IN"/>
          </a:p>
        </p:txBody>
      </p:sp>
      <p:sp>
        <p:nvSpPr>
          <p:cNvPr id="12" name="Text 10"/>
          <p:cNvSpPr/>
          <p:nvPr/>
        </p:nvSpPr>
        <p:spPr>
          <a:xfrm>
            <a:off x="838200" y="2552700"/>
            <a:ext cx="4000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13" name="Text 11"/>
          <p:cNvSpPr/>
          <p:nvPr/>
        </p:nvSpPr>
        <p:spPr>
          <a:xfrm>
            <a:off x="1428750" y="2324100"/>
            <a:ext cx="4572000" cy="4953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12263A"/>
                </a:solidFill>
                <a:latin typeface="Cambria" pitchFamily="34" charset="0"/>
                <a:ea typeface="Cambria" pitchFamily="34" charset="-122"/>
                <a:cs typeface="Cambria" pitchFamily="34" charset="-120"/>
              </a:rPr>
              <a:t>Only 6 of 28 configured features carried data</a:t>
            </a:r>
            <a:endParaRPr lang="en-US" sz="1600" dirty="0"/>
          </a:p>
        </p:txBody>
      </p:sp>
      <p:sp>
        <p:nvSpPr>
          <p:cNvPr id="14" name="Text 12"/>
          <p:cNvSpPr/>
          <p:nvPr/>
        </p:nvSpPr>
        <p:spPr>
          <a:xfrm>
            <a:off x="6191250" y="2305050"/>
            <a:ext cx="52197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GNSS status, SyncE quality, oscillator error and every protocol-legality feature are absent from ptp4l servo logs. The model could key only on offset, path-delay and delay-variation magnitude — and one of the six, holdover rate, had zero importance, so five features carried all the signal.</a:t>
            </a:r>
            <a:endParaRPr lang="en-US" sz="1280" dirty="0"/>
          </a:p>
        </p:txBody>
      </p:sp>
      <p:sp>
        <p:nvSpPr>
          <p:cNvPr id="15" name="Shape 13"/>
          <p:cNvSpPr/>
          <p:nvPr/>
        </p:nvSpPr>
        <p:spPr>
          <a:xfrm>
            <a:off x="571500" y="3295650"/>
            <a:ext cx="11049000" cy="1047750"/>
          </a:xfrm>
          <a:prstGeom prst="roundRect">
            <a:avLst>
              <a:gd name="adj" fmla="val 3491"/>
            </a:avLst>
          </a:prstGeom>
          <a:solidFill>
            <a:srgbClr val="FFFFFF"/>
          </a:solidFill>
          <a:ln w="12700">
            <a:solidFill>
              <a:srgbClr val="D7E1EA"/>
            </a:solidFill>
            <a:prstDash val="solid"/>
          </a:ln>
        </p:spPr>
        <p:txBody>
          <a:bodyPr/>
          <a:lstStyle/>
          <a:p>
            <a:endParaRPr lang="en-IN"/>
          </a:p>
        </p:txBody>
      </p:sp>
      <p:sp>
        <p:nvSpPr>
          <p:cNvPr id="16" name="Shape 14"/>
          <p:cNvSpPr/>
          <p:nvPr/>
        </p:nvSpPr>
        <p:spPr>
          <a:xfrm>
            <a:off x="571500" y="3295650"/>
            <a:ext cx="47625" cy="1047750"/>
          </a:xfrm>
          <a:prstGeom prst="rect">
            <a:avLst/>
          </a:prstGeom>
          <a:solidFill>
            <a:srgbClr val="1C7293"/>
          </a:solidFill>
          <a:ln/>
        </p:spPr>
        <p:txBody>
          <a:bodyPr/>
          <a:lstStyle/>
          <a:p>
            <a:endParaRPr lang="en-IN"/>
          </a:p>
        </p:txBody>
      </p:sp>
      <p:sp>
        <p:nvSpPr>
          <p:cNvPr id="17" name="Shape 15"/>
          <p:cNvSpPr/>
          <p:nvPr/>
        </p:nvSpPr>
        <p:spPr>
          <a:xfrm>
            <a:off x="838200" y="3600450"/>
            <a:ext cx="400050" cy="400050"/>
          </a:xfrm>
          <a:prstGeom prst="roundRect">
            <a:avLst>
              <a:gd name="adj" fmla="val 9143"/>
            </a:avLst>
          </a:prstGeom>
          <a:solidFill>
            <a:srgbClr val="1C7293"/>
          </a:solidFill>
          <a:ln w="12700">
            <a:solidFill>
              <a:srgbClr val="1C7293"/>
            </a:solidFill>
            <a:prstDash val="solid"/>
          </a:ln>
        </p:spPr>
        <p:txBody>
          <a:bodyPr/>
          <a:lstStyle/>
          <a:p>
            <a:endParaRPr lang="en-IN"/>
          </a:p>
        </p:txBody>
      </p:sp>
      <p:sp>
        <p:nvSpPr>
          <p:cNvPr id="18" name="Text 16"/>
          <p:cNvSpPr/>
          <p:nvPr/>
        </p:nvSpPr>
        <p:spPr>
          <a:xfrm>
            <a:off x="838200" y="3695700"/>
            <a:ext cx="4000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9" name="Text 17"/>
          <p:cNvSpPr/>
          <p:nvPr/>
        </p:nvSpPr>
        <p:spPr>
          <a:xfrm>
            <a:off x="1428750" y="3467100"/>
            <a:ext cx="4572000" cy="4953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12263A"/>
                </a:solidFill>
                <a:latin typeface="Cambria" pitchFamily="34" charset="0"/>
                <a:ea typeface="Cambria" pitchFamily="34" charset="-122"/>
                <a:cs typeface="Cambria" pitchFamily="34" charset="-120"/>
              </a:rPr>
              <a:t>Two attacks starve the very telemetry the model needs</a:t>
            </a:r>
            <a:endParaRPr lang="en-US" sz="1600" dirty="0"/>
          </a:p>
        </p:txBody>
      </p:sp>
      <p:sp>
        <p:nvSpPr>
          <p:cNvPr id="20" name="Text 18"/>
          <p:cNvSpPr/>
          <p:nvPr/>
        </p:nvSpPr>
        <p:spPr>
          <a:xfrm>
            <a:off x="6191250" y="3448050"/>
            <a:ext cx="52197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Servo samples average 88.0 per baseline run, falling to 44.5 for selective interception and 28.0 for whole-second abuse. An attack that suppresses timing messages also suppresses the evidence a telemetry-based detector depends on. The rule arm is unaffected because it reads packet legality and rate deficit directly.</a:t>
            </a:r>
            <a:endParaRPr lang="en-US" sz="1280" dirty="0"/>
          </a:p>
        </p:txBody>
      </p:sp>
      <p:sp>
        <p:nvSpPr>
          <p:cNvPr id="21" name="Shape 19"/>
          <p:cNvSpPr/>
          <p:nvPr/>
        </p:nvSpPr>
        <p:spPr>
          <a:xfrm>
            <a:off x="571500" y="4438650"/>
            <a:ext cx="11049000" cy="1047750"/>
          </a:xfrm>
          <a:prstGeom prst="roundRect">
            <a:avLst>
              <a:gd name="adj" fmla="val 3491"/>
            </a:avLst>
          </a:prstGeom>
          <a:solidFill>
            <a:srgbClr val="FFFFFF"/>
          </a:solidFill>
          <a:ln w="12700">
            <a:solidFill>
              <a:srgbClr val="D7E1EA"/>
            </a:solidFill>
            <a:prstDash val="solid"/>
          </a:ln>
        </p:spPr>
        <p:txBody>
          <a:bodyPr/>
          <a:lstStyle/>
          <a:p>
            <a:endParaRPr lang="en-IN"/>
          </a:p>
        </p:txBody>
      </p:sp>
      <p:sp>
        <p:nvSpPr>
          <p:cNvPr id="22" name="Shape 20"/>
          <p:cNvSpPr/>
          <p:nvPr/>
        </p:nvSpPr>
        <p:spPr>
          <a:xfrm>
            <a:off x="571500" y="4438650"/>
            <a:ext cx="47625" cy="1047750"/>
          </a:xfrm>
          <a:prstGeom prst="rect">
            <a:avLst/>
          </a:prstGeom>
          <a:solidFill>
            <a:srgbClr val="1C7293"/>
          </a:solidFill>
          <a:ln/>
        </p:spPr>
        <p:txBody>
          <a:bodyPr/>
          <a:lstStyle/>
          <a:p>
            <a:endParaRPr lang="en-IN"/>
          </a:p>
        </p:txBody>
      </p:sp>
      <p:sp>
        <p:nvSpPr>
          <p:cNvPr id="23" name="Shape 21"/>
          <p:cNvSpPr/>
          <p:nvPr/>
        </p:nvSpPr>
        <p:spPr>
          <a:xfrm>
            <a:off x="838200" y="4743450"/>
            <a:ext cx="400050" cy="400050"/>
          </a:xfrm>
          <a:prstGeom prst="roundRect">
            <a:avLst>
              <a:gd name="adj" fmla="val 9143"/>
            </a:avLst>
          </a:prstGeom>
          <a:solidFill>
            <a:srgbClr val="1C7293"/>
          </a:solidFill>
          <a:ln w="12700">
            <a:solidFill>
              <a:srgbClr val="1C7293"/>
            </a:solidFill>
            <a:prstDash val="solid"/>
          </a:ln>
        </p:spPr>
        <p:txBody>
          <a:bodyPr/>
          <a:lstStyle/>
          <a:p>
            <a:endParaRPr lang="en-IN"/>
          </a:p>
        </p:txBody>
      </p:sp>
      <p:sp>
        <p:nvSpPr>
          <p:cNvPr id="24" name="Text 22"/>
          <p:cNvSpPr/>
          <p:nvPr/>
        </p:nvSpPr>
        <p:spPr>
          <a:xfrm>
            <a:off x="838200" y="4838700"/>
            <a:ext cx="400050" cy="219075"/>
          </a:xfrm>
          <a:prstGeom prst="rect">
            <a:avLst/>
          </a:prstGeom>
          <a:noFill/>
          <a:ln/>
        </p:spPr>
        <p:txBody>
          <a:bodyPr wrap="square" lIns="0" tIns="0" rIns="0" bIns="0" rtlCol="0" anchor="t">
            <a:normAutofit/>
          </a:bodyP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25" name="Text 23"/>
          <p:cNvSpPr/>
          <p:nvPr/>
        </p:nvSpPr>
        <p:spPr>
          <a:xfrm>
            <a:off x="1428750" y="4610100"/>
            <a:ext cx="4572000" cy="4953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12263A"/>
                </a:solidFill>
                <a:latin typeface="Cambria" pitchFamily="34" charset="0"/>
                <a:ea typeface="Cambria" pitchFamily="34" charset="-122"/>
                <a:cs typeface="Cambria" pitchFamily="34" charset="-120"/>
              </a:rPr>
              <a:t>Importances indicate testbed-servo artefact risk</a:t>
            </a:r>
            <a:endParaRPr lang="en-US" sz="1600" dirty="0"/>
          </a:p>
        </p:txBody>
      </p:sp>
      <p:sp>
        <p:nvSpPr>
          <p:cNvPr id="26" name="Text 24"/>
          <p:cNvSpPr/>
          <p:nvPr/>
        </p:nvSpPr>
        <p:spPr>
          <a:xfrm>
            <a:off x="6191250" y="4591050"/>
            <a:ext cx="5219700" cy="800100"/>
          </a:xfrm>
          <a:prstGeom prst="rect">
            <a:avLst/>
          </a:prstGeom>
          <a:noFill/>
          <a:ln/>
        </p:spPr>
        <p:txBody>
          <a:bodyPr wrap="square" lIns="0" tIns="0" rIns="0" bIns="0" rtlCol="0" anchor="t">
            <a:normAutofit/>
          </a:bodyPr>
          <a:lstStyle/>
          <a:p>
            <a:pPr marL="0" indent="0" algn="l">
              <a:lnSpc>
                <a:spcPct val="100000"/>
              </a:lnSpc>
              <a:buNone/>
            </a:pPr>
            <a:r>
              <a:rPr lang="en-US" sz="1280" dirty="0">
                <a:solidFill>
                  <a:srgbClr val="5B6B7C"/>
                </a:solidFill>
                <a:latin typeface="Calibri" pitchFamily="34" charset="0"/>
                <a:ea typeface="Calibri" pitchFamily="34" charset="-122"/>
                <a:cs typeface="Calibri" pitchFamily="34" charset="-120"/>
              </a:rPr>
              <a:t>Ranked importances are offset_abs_max 0.268, path_delay_mean 0.262, offset_std 0.208, pdv_std 0.139 and offset_mean 0.124 — all timing magnitude and dispersion, none protocol semantics. With a single testbed, domain shift cannot be separated from intrinsic class overlap.</a:t>
            </a:r>
            <a:endParaRPr lang="en-US" sz="1280" dirty="0"/>
          </a:p>
        </p:txBody>
      </p:sp>
      <p:sp>
        <p:nvSpPr>
          <p:cNvPr id="27" name="Shape 25"/>
          <p:cNvSpPr/>
          <p:nvPr/>
        </p:nvSpPr>
        <p:spPr>
          <a:xfrm>
            <a:off x="571500" y="5505450"/>
            <a:ext cx="11049000" cy="609600"/>
          </a:xfrm>
          <a:prstGeom prst="roundRect">
            <a:avLst>
              <a:gd name="adj" fmla="val 6000"/>
            </a:avLst>
          </a:prstGeom>
          <a:solidFill>
            <a:srgbClr val="DDF5EF"/>
          </a:solidFill>
          <a:ln w="12700">
            <a:solidFill>
              <a:srgbClr val="18B89A"/>
            </a:solidFill>
            <a:prstDash val="solid"/>
          </a:ln>
        </p:spPr>
        <p:txBody>
          <a:bodyPr/>
          <a:lstStyle/>
          <a:p>
            <a:endParaRPr lang="en-IN"/>
          </a:p>
        </p:txBody>
      </p:sp>
      <p:sp>
        <p:nvSpPr>
          <p:cNvPr id="28" name="Text 26"/>
          <p:cNvSpPr/>
          <p:nvPr/>
        </p:nvSpPr>
        <p:spPr>
          <a:xfrm>
            <a:off x="781050" y="5629275"/>
            <a:ext cx="10629900" cy="38100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0B5547"/>
                </a:solidFill>
                <a:latin typeface="Cambria" pitchFamily="34" charset="0"/>
                <a:ea typeface="Cambria" pitchFamily="34" charset="-122"/>
                <a:cs typeface="Cambria" pitchFamily="34" charset="-120"/>
              </a:rPr>
              <a:t>Evidence-based conclusion: on this telemetry the rule arm is the correct operational choice. Starvation alone does not explain the result — ARM B also fails on attacks where servo telemetry is intact — so feature poverty and class overlap are the primary causes. A fair re-test requires richer management-plane telemetry, not a different classifier.</a:t>
            </a:r>
            <a:endParaRPr lang="en-US" sz="1220" dirty="0"/>
          </a:p>
        </p:txBody>
      </p:sp>
      <p:sp>
        <p:nvSpPr>
          <p:cNvPr id="29" name="Shape 27"/>
          <p:cNvSpPr/>
          <p:nvPr/>
        </p:nvSpPr>
        <p:spPr>
          <a:xfrm>
            <a:off x="571500" y="6229350"/>
            <a:ext cx="11049000" cy="495300"/>
          </a:xfrm>
          <a:prstGeom prst="roundRect">
            <a:avLst>
              <a:gd name="adj" fmla="val 7385"/>
            </a:avLst>
          </a:prstGeom>
          <a:solidFill>
            <a:srgbClr val="0E2440"/>
          </a:solidFill>
          <a:ln w="12700">
            <a:solidFill>
              <a:srgbClr val="0E2440"/>
            </a:solidFill>
            <a:prstDash val="solid"/>
          </a:ln>
        </p:spPr>
        <p:txBody>
          <a:bodyPr/>
          <a:lstStyle/>
          <a:p>
            <a:endParaRPr lang="en-IN"/>
          </a:p>
        </p:txBody>
      </p:sp>
      <p:sp>
        <p:nvSpPr>
          <p:cNvPr id="30" name="Text 28"/>
          <p:cNvSpPr/>
          <p:nvPr/>
        </p:nvSpPr>
        <p:spPr>
          <a:xfrm>
            <a:off x="781050" y="6343650"/>
            <a:ext cx="10629900" cy="28575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FFFFFF"/>
                </a:solidFill>
                <a:latin typeface="Cambria" pitchFamily="34" charset="0"/>
                <a:ea typeface="Cambria" pitchFamily="34" charset="-122"/>
                <a:cs typeface="Cambria" pitchFamily="34" charset="-120"/>
              </a:rPr>
              <a:t>This is an argument for retaining a standards-aware rule layer and for improving observability before granting a learned model authority over recovery. It is not a claim that machine learning is inherently unsuited to S-plane timing security.</a:t>
            </a:r>
            <a:endParaRPr lang="en-US" sz="13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UNRESOLVED CASES</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2900" b="1" dirty="0">
                <a:solidFill>
                  <a:srgbClr val="12263A"/>
                </a:solidFill>
                <a:latin typeface="Cambria" pitchFamily="34" charset="0"/>
                <a:ea typeface="Cambria" pitchFamily="34" charset="-122"/>
                <a:cs typeface="Cambria" pitchFamily="34" charset="-120"/>
              </a:rPr>
              <a:t>Measured Detection Boundary of the Interception Detector</a:t>
            </a:r>
            <a:endParaRPr lang="en-US" sz="29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Rate-starvation clause fires when the delivered message rate falls below half the rate the source itself declares  |  Blackhole fraction drawn per replicate from randparams.py  |  Ratios recomputed from the per-run deep extracts</a:t>
            </a:r>
            <a:endParaRPr lang="en-US" sz="1120" dirty="0"/>
          </a:p>
        </p:txBody>
      </p:sp>
      <p:sp>
        <p:nvSpPr>
          <p:cNvPr id="8" name="Text 6"/>
          <p:cNvSpPr/>
          <p:nvPr/>
        </p:nvSpPr>
        <p:spPr>
          <a:xfrm>
            <a:off x="571500" y="1638300"/>
            <a:ext cx="11049000" cy="228600"/>
          </a:xfrm>
          <a:prstGeom prst="rect">
            <a:avLst/>
          </a:prstGeom>
          <a:noFill/>
          <a:ln/>
        </p:spPr>
        <p:txBody>
          <a:bodyPr wrap="square" lIns="0" tIns="0" rIns="0" bIns="0" rtlCol="0" anchor="t">
            <a:normAutofit/>
          </a:bodyPr>
          <a:lstStyle/>
          <a:p>
            <a:pPr marL="0" indent="0" algn="l">
              <a:lnSpc>
                <a:spcPct val="100000"/>
              </a:lnSpc>
              <a:buNone/>
            </a:pPr>
            <a:r>
              <a:rPr lang="en-US" sz="1500" dirty="0">
                <a:solidFill>
                  <a:srgbClr val="5B6B7C"/>
                </a:solidFill>
                <a:latin typeface="Calibri" pitchFamily="34" charset="0"/>
                <a:ea typeface="Calibri" pitchFamily="34" charset="-122"/>
                <a:cs typeface="Calibri" pitchFamily="34" charset="-120"/>
              </a:rPr>
              <a:t>Selective interception is the one attack scenario that is not detected on every replicate. The miss is precisely located rather than described as residual error.</a:t>
            </a:r>
            <a:endParaRPr lang="en-US" sz="1500" dirty="0"/>
          </a:p>
        </p:txBody>
      </p:sp>
      <p:sp>
        <p:nvSpPr>
          <p:cNvPr id="9" name="Text 7"/>
          <p:cNvSpPr/>
          <p:nvPr/>
        </p:nvSpPr>
        <p:spPr>
          <a:xfrm>
            <a:off x="666750" y="2000250"/>
            <a:ext cx="53340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CONFIGURED BLACKHOLE FRACTION OF THE POST-WARM-UP INJECTION WINDOW</a:t>
            </a:r>
            <a:endParaRPr lang="en-US" sz="1200" dirty="0"/>
          </a:p>
        </p:txBody>
      </p:sp>
      <p:sp>
        <p:nvSpPr>
          <p:cNvPr id="10" name="Text 8"/>
          <p:cNvSpPr/>
          <p:nvPr/>
        </p:nvSpPr>
        <p:spPr>
          <a:xfrm>
            <a:off x="6096000" y="2000250"/>
            <a:ext cx="1333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REPLICATES</a:t>
            </a:r>
            <a:endParaRPr lang="en-US" sz="1200" dirty="0"/>
          </a:p>
        </p:txBody>
      </p:sp>
      <p:sp>
        <p:nvSpPr>
          <p:cNvPr id="11" name="Text 9"/>
          <p:cNvSpPr/>
          <p:nvPr/>
        </p:nvSpPr>
        <p:spPr>
          <a:xfrm>
            <a:off x="7524750" y="2000250"/>
            <a:ext cx="2571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DELIVERED / DECLARED RATE</a:t>
            </a:r>
            <a:endParaRPr lang="en-US" sz="1200" dirty="0"/>
          </a:p>
        </p:txBody>
      </p:sp>
      <p:sp>
        <p:nvSpPr>
          <p:cNvPr id="12" name="Text 10"/>
          <p:cNvSpPr/>
          <p:nvPr/>
        </p:nvSpPr>
        <p:spPr>
          <a:xfrm>
            <a:off x="10191750" y="2000250"/>
            <a:ext cx="1333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OUTCOME</a:t>
            </a:r>
            <a:endParaRPr lang="en-US" sz="1200" dirty="0"/>
          </a:p>
        </p:txBody>
      </p:sp>
      <p:sp>
        <p:nvSpPr>
          <p:cNvPr id="13" name="Shape 11"/>
          <p:cNvSpPr/>
          <p:nvPr/>
        </p:nvSpPr>
        <p:spPr>
          <a:xfrm>
            <a:off x="571500" y="2257425"/>
            <a:ext cx="11049000" cy="11430"/>
          </a:xfrm>
          <a:prstGeom prst="rect">
            <a:avLst/>
          </a:prstGeom>
          <a:solidFill>
            <a:srgbClr val="D7E1EA"/>
          </a:solidFill>
          <a:ln/>
        </p:spPr>
        <p:txBody>
          <a:bodyPr/>
          <a:lstStyle/>
          <a:p>
            <a:endParaRPr lang="en-IN"/>
          </a:p>
        </p:txBody>
      </p:sp>
      <p:sp>
        <p:nvSpPr>
          <p:cNvPr id="14" name="Text 12"/>
          <p:cNvSpPr/>
          <p:nvPr/>
        </p:nvSpPr>
        <p:spPr>
          <a:xfrm>
            <a:off x="666750" y="2362200"/>
            <a:ext cx="1143000" cy="2667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12263A"/>
                </a:solidFill>
                <a:latin typeface="Cambria" pitchFamily="34" charset="0"/>
                <a:ea typeface="Cambria" pitchFamily="34" charset="-122"/>
                <a:cs typeface="Cambria" pitchFamily="34" charset="-120"/>
              </a:rPr>
              <a:t>75 %</a:t>
            </a:r>
            <a:endParaRPr lang="en-US" sz="2000" dirty="0"/>
          </a:p>
        </p:txBody>
      </p:sp>
      <p:sp>
        <p:nvSpPr>
          <p:cNvPr id="15" name="Text 13"/>
          <p:cNvSpPr/>
          <p:nvPr/>
        </p:nvSpPr>
        <p:spPr>
          <a:xfrm>
            <a:off x="6096000" y="2409825"/>
            <a:ext cx="1333500" cy="1905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n = 6</a:t>
            </a:r>
            <a:endParaRPr lang="en-US" sz="1300" dirty="0"/>
          </a:p>
        </p:txBody>
      </p:sp>
      <p:sp>
        <p:nvSpPr>
          <p:cNvPr id="16" name="Text 14"/>
          <p:cNvSpPr/>
          <p:nvPr/>
        </p:nvSpPr>
        <p:spPr>
          <a:xfrm>
            <a:off x="7524750" y="2390775"/>
            <a:ext cx="2571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ourier New" pitchFamily="34" charset="0"/>
                <a:ea typeface="Courier New" pitchFamily="34" charset="-122"/>
                <a:cs typeface="Courier New" pitchFamily="34" charset="-120"/>
              </a:rPr>
              <a:t>0.3665</a:t>
            </a:r>
            <a:endParaRPr lang="en-US" sz="1500" dirty="0"/>
          </a:p>
        </p:txBody>
      </p:sp>
      <p:sp>
        <p:nvSpPr>
          <p:cNvPr id="17" name="Text 15"/>
          <p:cNvSpPr/>
          <p:nvPr/>
        </p:nvSpPr>
        <p:spPr>
          <a:xfrm>
            <a:off x="10191750" y="2400300"/>
            <a:ext cx="1333500" cy="20955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E8E5A"/>
                </a:solidFill>
                <a:latin typeface="Calibri" pitchFamily="34" charset="0"/>
                <a:ea typeface="Calibri" pitchFamily="34" charset="-122"/>
                <a:cs typeface="Calibri" pitchFamily="34" charset="-120"/>
              </a:rPr>
              <a:t>CAUGHT</a:t>
            </a:r>
            <a:endParaRPr lang="en-US" sz="1300" dirty="0"/>
          </a:p>
        </p:txBody>
      </p:sp>
      <p:sp>
        <p:nvSpPr>
          <p:cNvPr id="18" name="Shape 16"/>
          <p:cNvSpPr/>
          <p:nvPr/>
        </p:nvSpPr>
        <p:spPr>
          <a:xfrm>
            <a:off x="571500" y="2743200"/>
            <a:ext cx="11049000" cy="11430"/>
          </a:xfrm>
          <a:prstGeom prst="rect">
            <a:avLst/>
          </a:prstGeom>
          <a:solidFill>
            <a:srgbClr val="D7E1EA"/>
          </a:solidFill>
          <a:ln/>
        </p:spPr>
        <p:txBody>
          <a:bodyPr/>
          <a:lstStyle/>
          <a:p>
            <a:endParaRPr lang="en-IN"/>
          </a:p>
        </p:txBody>
      </p:sp>
      <p:sp>
        <p:nvSpPr>
          <p:cNvPr id="19" name="Text 17"/>
          <p:cNvSpPr/>
          <p:nvPr/>
        </p:nvSpPr>
        <p:spPr>
          <a:xfrm>
            <a:off x="666750" y="2838450"/>
            <a:ext cx="1143000" cy="2667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12263A"/>
                </a:solidFill>
                <a:latin typeface="Cambria" pitchFamily="34" charset="0"/>
                <a:ea typeface="Cambria" pitchFamily="34" charset="-122"/>
                <a:cs typeface="Cambria" pitchFamily="34" charset="-120"/>
              </a:rPr>
              <a:t>70 %</a:t>
            </a:r>
            <a:endParaRPr lang="en-US" sz="2000" dirty="0"/>
          </a:p>
        </p:txBody>
      </p:sp>
      <p:sp>
        <p:nvSpPr>
          <p:cNvPr id="20" name="Text 18"/>
          <p:cNvSpPr/>
          <p:nvPr/>
        </p:nvSpPr>
        <p:spPr>
          <a:xfrm>
            <a:off x="6096000" y="2886075"/>
            <a:ext cx="1333500" cy="1905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n = 3</a:t>
            </a:r>
            <a:endParaRPr lang="en-US" sz="1300" dirty="0"/>
          </a:p>
        </p:txBody>
      </p:sp>
      <p:sp>
        <p:nvSpPr>
          <p:cNvPr id="21" name="Text 19"/>
          <p:cNvSpPr/>
          <p:nvPr/>
        </p:nvSpPr>
        <p:spPr>
          <a:xfrm>
            <a:off x="7524750" y="2867025"/>
            <a:ext cx="2571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ourier New" pitchFamily="34" charset="0"/>
                <a:ea typeface="Courier New" pitchFamily="34" charset="-122"/>
                <a:cs typeface="Courier New" pitchFamily="34" charset="-120"/>
              </a:rPr>
              <a:t>0.4137</a:t>
            </a:r>
            <a:endParaRPr lang="en-US" sz="1500" dirty="0"/>
          </a:p>
        </p:txBody>
      </p:sp>
      <p:sp>
        <p:nvSpPr>
          <p:cNvPr id="22" name="Text 20"/>
          <p:cNvSpPr/>
          <p:nvPr/>
        </p:nvSpPr>
        <p:spPr>
          <a:xfrm>
            <a:off x="10191750" y="2876550"/>
            <a:ext cx="1333500" cy="20955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E8E5A"/>
                </a:solidFill>
                <a:latin typeface="Calibri" pitchFamily="34" charset="0"/>
                <a:ea typeface="Calibri" pitchFamily="34" charset="-122"/>
                <a:cs typeface="Calibri" pitchFamily="34" charset="-120"/>
              </a:rPr>
              <a:t>CAUGHT</a:t>
            </a:r>
            <a:endParaRPr lang="en-US" sz="1300" dirty="0"/>
          </a:p>
        </p:txBody>
      </p:sp>
      <p:sp>
        <p:nvSpPr>
          <p:cNvPr id="23" name="Shape 21"/>
          <p:cNvSpPr/>
          <p:nvPr/>
        </p:nvSpPr>
        <p:spPr>
          <a:xfrm>
            <a:off x="571500" y="3219450"/>
            <a:ext cx="11049000" cy="11430"/>
          </a:xfrm>
          <a:prstGeom prst="rect">
            <a:avLst/>
          </a:prstGeom>
          <a:solidFill>
            <a:srgbClr val="D7E1EA"/>
          </a:solidFill>
          <a:ln/>
        </p:spPr>
        <p:txBody>
          <a:bodyPr/>
          <a:lstStyle/>
          <a:p>
            <a:endParaRPr lang="en-IN"/>
          </a:p>
        </p:txBody>
      </p:sp>
      <p:sp>
        <p:nvSpPr>
          <p:cNvPr id="24" name="Text 22"/>
          <p:cNvSpPr/>
          <p:nvPr/>
        </p:nvSpPr>
        <p:spPr>
          <a:xfrm>
            <a:off x="666750" y="3314700"/>
            <a:ext cx="1143000" cy="2667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12263A"/>
                </a:solidFill>
                <a:latin typeface="Cambria" pitchFamily="34" charset="0"/>
                <a:ea typeface="Cambria" pitchFamily="34" charset="-122"/>
                <a:cs typeface="Cambria" pitchFamily="34" charset="-120"/>
              </a:rPr>
              <a:t>65 %</a:t>
            </a:r>
            <a:endParaRPr lang="en-US" sz="2000" dirty="0"/>
          </a:p>
        </p:txBody>
      </p:sp>
      <p:sp>
        <p:nvSpPr>
          <p:cNvPr id="25" name="Text 23"/>
          <p:cNvSpPr/>
          <p:nvPr/>
        </p:nvSpPr>
        <p:spPr>
          <a:xfrm>
            <a:off x="6096000" y="3362325"/>
            <a:ext cx="1333500" cy="1905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n = 2</a:t>
            </a:r>
            <a:endParaRPr lang="en-US" sz="1300" dirty="0"/>
          </a:p>
        </p:txBody>
      </p:sp>
      <p:sp>
        <p:nvSpPr>
          <p:cNvPr id="26" name="Text 24"/>
          <p:cNvSpPr/>
          <p:nvPr/>
        </p:nvSpPr>
        <p:spPr>
          <a:xfrm>
            <a:off x="7524750" y="3343275"/>
            <a:ext cx="2571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2263A"/>
                </a:solidFill>
                <a:latin typeface="Courier New" pitchFamily="34" charset="0"/>
                <a:ea typeface="Courier New" pitchFamily="34" charset="-122"/>
                <a:cs typeface="Courier New" pitchFamily="34" charset="-120"/>
              </a:rPr>
              <a:t>0.4581 / 0.4619</a:t>
            </a:r>
            <a:endParaRPr lang="en-US" sz="1500" dirty="0"/>
          </a:p>
        </p:txBody>
      </p:sp>
      <p:sp>
        <p:nvSpPr>
          <p:cNvPr id="27" name="Text 25"/>
          <p:cNvSpPr/>
          <p:nvPr/>
        </p:nvSpPr>
        <p:spPr>
          <a:xfrm>
            <a:off x="10191750" y="3352800"/>
            <a:ext cx="1333500" cy="20955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E8E5A"/>
                </a:solidFill>
                <a:latin typeface="Calibri" pitchFamily="34" charset="0"/>
                <a:ea typeface="Calibri" pitchFamily="34" charset="-122"/>
                <a:cs typeface="Calibri" pitchFamily="34" charset="-120"/>
              </a:rPr>
              <a:t>CAUGHT</a:t>
            </a:r>
            <a:endParaRPr lang="en-US" sz="1300" dirty="0"/>
          </a:p>
        </p:txBody>
      </p:sp>
      <p:sp>
        <p:nvSpPr>
          <p:cNvPr id="28" name="Shape 26"/>
          <p:cNvSpPr/>
          <p:nvPr/>
        </p:nvSpPr>
        <p:spPr>
          <a:xfrm>
            <a:off x="571500" y="3695700"/>
            <a:ext cx="11049000" cy="11430"/>
          </a:xfrm>
          <a:prstGeom prst="rect">
            <a:avLst/>
          </a:prstGeom>
          <a:solidFill>
            <a:srgbClr val="D7E1EA"/>
          </a:solidFill>
          <a:ln/>
        </p:spPr>
        <p:txBody>
          <a:bodyPr/>
          <a:lstStyle/>
          <a:p>
            <a:endParaRPr lang="en-IN"/>
          </a:p>
        </p:txBody>
      </p:sp>
      <p:sp>
        <p:nvSpPr>
          <p:cNvPr id="29" name="Shape 27"/>
          <p:cNvSpPr/>
          <p:nvPr/>
        </p:nvSpPr>
        <p:spPr>
          <a:xfrm>
            <a:off x="571500" y="3752850"/>
            <a:ext cx="11049000" cy="438150"/>
          </a:xfrm>
          <a:prstGeom prst="rect">
            <a:avLst/>
          </a:prstGeom>
          <a:solidFill>
            <a:srgbClr val="FBEDEA"/>
          </a:solidFill>
          <a:ln/>
        </p:spPr>
        <p:txBody>
          <a:bodyPr/>
          <a:lstStyle/>
          <a:p>
            <a:endParaRPr lang="en-IN"/>
          </a:p>
        </p:txBody>
      </p:sp>
      <p:sp>
        <p:nvSpPr>
          <p:cNvPr id="30" name="Text 28"/>
          <p:cNvSpPr/>
          <p:nvPr/>
        </p:nvSpPr>
        <p:spPr>
          <a:xfrm>
            <a:off x="666750" y="3790950"/>
            <a:ext cx="1143000" cy="2667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12263A"/>
                </a:solidFill>
                <a:latin typeface="Cambria" pitchFamily="34" charset="0"/>
                <a:ea typeface="Cambria" pitchFamily="34" charset="-122"/>
                <a:cs typeface="Cambria" pitchFamily="34" charset="-120"/>
              </a:rPr>
              <a:t>60 %</a:t>
            </a:r>
            <a:endParaRPr lang="en-US" sz="2000" dirty="0"/>
          </a:p>
        </p:txBody>
      </p:sp>
      <p:sp>
        <p:nvSpPr>
          <p:cNvPr id="31" name="Text 29"/>
          <p:cNvSpPr/>
          <p:nvPr/>
        </p:nvSpPr>
        <p:spPr>
          <a:xfrm>
            <a:off x="6096000" y="3838575"/>
            <a:ext cx="1333500" cy="19050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5B6B7C"/>
                </a:solidFill>
                <a:latin typeface="Calibri" pitchFamily="34" charset="0"/>
                <a:ea typeface="Calibri" pitchFamily="34" charset="-122"/>
                <a:cs typeface="Calibri" pitchFamily="34" charset="-120"/>
              </a:rPr>
              <a:t>n = 1</a:t>
            </a:r>
            <a:endParaRPr lang="en-US" sz="1300" dirty="0"/>
          </a:p>
        </p:txBody>
      </p:sp>
      <p:sp>
        <p:nvSpPr>
          <p:cNvPr id="32" name="Text 30"/>
          <p:cNvSpPr/>
          <p:nvPr/>
        </p:nvSpPr>
        <p:spPr>
          <a:xfrm>
            <a:off x="7524750" y="3819525"/>
            <a:ext cx="2571750" cy="22860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B3402F"/>
                </a:solidFill>
                <a:latin typeface="Courier New" pitchFamily="34" charset="0"/>
                <a:ea typeface="Courier New" pitchFamily="34" charset="-122"/>
                <a:cs typeface="Courier New" pitchFamily="34" charset="-120"/>
              </a:rPr>
              <a:t>0.5049</a:t>
            </a:r>
            <a:endParaRPr lang="en-US" sz="1500" dirty="0"/>
          </a:p>
        </p:txBody>
      </p:sp>
      <p:sp>
        <p:nvSpPr>
          <p:cNvPr id="33" name="Text 31"/>
          <p:cNvSpPr/>
          <p:nvPr/>
        </p:nvSpPr>
        <p:spPr>
          <a:xfrm>
            <a:off x="10191750" y="3829050"/>
            <a:ext cx="1333500" cy="20955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B3402F"/>
                </a:solidFill>
                <a:latin typeface="Calibri" pitchFamily="34" charset="0"/>
                <a:ea typeface="Calibri" pitchFamily="34" charset="-122"/>
                <a:cs typeface="Calibri" pitchFamily="34" charset="-120"/>
              </a:rPr>
              <a:t>MISSED</a:t>
            </a:r>
            <a:endParaRPr lang="en-US" sz="1300" dirty="0"/>
          </a:p>
        </p:txBody>
      </p:sp>
      <p:sp>
        <p:nvSpPr>
          <p:cNvPr id="34" name="Shape 32"/>
          <p:cNvSpPr/>
          <p:nvPr/>
        </p:nvSpPr>
        <p:spPr>
          <a:xfrm>
            <a:off x="571500" y="4171950"/>
            <a:ext cx="11049000" cy="11430"/>
          </a:xfrm>
          <a:prstGeom prst="rect">
            <a:avLst/>
          </a:prstGeom>
          <a:solidFill>
            <a:srgbClr val="D7E1EA"/>
          </a:solidFill>
          <a:ln/>
        </p:spPr>
        <p:txBody>
          <a:bodyPr/>
          <a:lstStyle/>
          <a:p>
            <a:endParaRPr lang="en-IN"/>
          </a:p>
        </p:txBody>
      </p:sp>
      <p:sp>
        <p:nvSpPr>
          <p:cNvPr id="35" name="Shape 33"/>
          <p:cNvSpPr/>
          <p:nvPr/>
        </p:nvSpPr>
        <p:spPr>
          <a:xfrm>
            <a:off x="571500" y="4305300"/>
            <a:ext cx="11049000" cy="514350"/>
          </a:xfrm>
          <a:prstGeom prst="roundRect">
            <a:avLst>
              <a:gd name="adj" fmla="val 7111"/>
            </a:avLst>
          </a:prstGeom>
          <a:solidFill>
            <a:srgbClr val="0E2440"/>
          </a:solidFill>
          <a:ln w="12700">
            <a:solidFill>
              <a:srgbClr val="0E2440"/>
            </a:solidFill>
            <a:prstDash val="solid"/>
          </a:ln>
        </p:spPr>
        <p:txBody>
          <a:bodyPr/>
          <a:lstStyle/>
          <a:p>
            <a:endParaRPr lang="en-IN"/>
          </a:p>
        </p:txBody>
      </p:sp>
      <p:sp>
        <p:nvSpPr>
          <p:cNvPr id="36" name="Text 34"/>
          <p:cNvSpPr/>
          <p:nvPr/>
        </p:nvSpPr>
        <p:spPr>
          <a:xfrm>
            <a:off x="800100" y="4438650"/>
            <a:ext cx="4095750" cy="24765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8B89A"/>
                </a:solidFill>
                <a:latin typeface="Cambria" pitchFamily="34" charset="0"/>
                <a:ea typeface="Cambria" pitchFamily="34" charset="-122"/>
                <a:cs typeface="Cambria" pitchFamily="34" charset="-120"/>
              </a:rPr>
              <a:t>Detection threshold  ·  delivered / declared  &lt;  0.500</a:t>
            </a:r>
            <a:endParaRPr lang="en-US" sz="1500" dirty="0"/>
          </a:p>
        </p:txBody>
      </p:sp>
      <p:sp>
        <p:nvSpPr>
          <p:cNvPr id="37" name="Text 35"/>
          <p:cNvSpPr/>
          <p:nvPr/>
        </p:nvSpPr>
        <p:spPr>
          <a:xfrm>
            <a:off x="5257800" y="4438650"/>
            <a:ext cx="6172200" cy="400050"/>
          </a:xfrm>
          <a:prstGeom prst="rect">
            <a:avLst/>
          </a:prstGeom>
          <a:noFill/>
          <a:ln/>
        </p:spPr>
        <p:txBody>
          <a:bodyPr wrap="square" lIns="0" tIns="0" rIns="0" bIns="0" rtlCol="0" anchor="ctr">
            <a:normAutofit/>
          </a:bodyPr>
          <a:lstStyle/>
          <a:p>
            <a:pPr marL="0" indent="0" algn="l">
              <a:lnSpc>
                <a:spcPct val="100000"/>
              </a:lnSpc>
              <a:buNone/>
            </a:pPr>
            <a:r>
              <a:rPr lang="en-US" sz="1150" dirty="0">
                <a:solidFill>
                  <a:srgbClr val="CFD9E5"/>
                </a:solidFill>
                <a:latin typeface="Calibri" pitchFamily="34" charset="0"/>
                <a:ea typeface="Calibri" pitchFamily="34" charset="-122"/>
                <a:cs typeface="Calibri" pitchFamily="34" charset="-120"/>
              </a:rPr>
              <a:t>At 60 % the ratio is 0.5049 — 0.0049 absolute, or 0.98 % relative, above the threshold. The attack evades by a margin of five parts in a thousand.</a:t>
            </a:r>
            <a:endParaRPr lang="en-US" sz="1280" dirty="0"/>
          </a:p>
        </p:txBody>
      </p:sp>
      <p:sp>
        <p:nvSpPr>
          <p:cNvPr id="38" name="Shape 36"/>
          <p:cNvSpPr/>
          <p:nvPr/>
        </p:nvSpPr>
        <p:spPr>
          <a:xfrm>
            <a:off x="571500" y="4933950"/>
            <a:ext cx="5381625" cy="990600"/>
          </a:xfrm>
          <a:prstGeom prst="roundRect">
            <a:avLst>
              <a:gd name="adj" fmla="val 3692"/>
            </a:avLst>
          </a:prstGeom>
          <a:solidFill>
            <a:srgbClr val="FFFFFF"/>
          </a:solidFill>
          <a:ln w="12700">
            <a:solidFill>
              <a:srgbClr val="D7E1EA"/>
            </a:solidFill>
            <a:prstDash val="solid"/>
          </a:ln>
        </p:spPr>
        <p:txBody>
          <a:bodyPr/>
          <a:lstStyle/>
          <a:p>
            <a:endParaRPr lang="en-IN"/>
          </a:p>
        </p:txBody>
      </p:sp>
      <p:sp>
        <p:nvSpPr>
          <p:cNvPr id="39" name="Text 37"/>
          <p:cNvSpPr/>
          <p:nvPr/>
        </p:nvSpPr>
        <p:spPr>
          <a:xfrm>
            <a:off x="800100" y="5067300"/>
            <a:ext cx="47625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C7293"/>
                </a:solidFill>
                <a:latin typeface="Calibri" pitchFamily="34" charset="0"/>
                <a:ea typeface="Calibri" pitchFamily="34" charset="-122"/>
                <a:cs typeface="Calibri" pitchFamily="34" charset="-120"/>
              </a:rPr>
              <a:t>WHAT WAS MEASURED AND WHAT WAS INTERPOLATED</a:t>
            </a:r>
            <a:endParaRPr lang="en-US" sz="1150" dirty="0"/>
          </a:p>
        </p:txBody>
      </p:sp>
      <p:sp>
        <p:nvSpPr>
          <p:cNvPr id="40" name="Text 38"/>
          <p:cNvSpPr/>
          <p:nvPr/>
        </p:nvSpPr>
        <p:spPr>
          <a:xfrm>
            <a:off x="800100" y="5295900"/>
            <a:ext cx="4953000" cy="590550"/>
          </a:xfrm>
          <a:prstGeom prst="rect">
            <a:avLst/>
          </a:prstGeom>
          <a:noFill/>
          <a:ln/>
        </p:spPr>
        <p:txBody>
          <a:bodyPr wrap="square" lIns="0" tIns="0" rIns="0" bIns="0" rtlCol="0" anchor="t">
            <a:normAutofit fontScale="92500" lnSpcReduction="20000"/>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Measured: 65 % is caught, 60 % is missed. The tested bracket is therefore 60–65 %. Linear interpolation of the delivered-to-declared ratio across that bracket places the crossing at approximately 60.5 %. That crossing is interpolated, not a directly tested point.</a:t>
            </a:r>
            <a:endParaRPr lang="en-US" sz="1280" dirty="0"/>
          </a:p>
        </p:txBody>
      </p:sp>
      <p:sp>
        <p:nvSpPr>
          <p:cNvPr id="41" name="Shape 39"/>
          <p:cNvSpPr/>
          <p:nvPr/>
        </p:nvSpPr>
        <p:spPr>
          <a:xfrm>
            <a:off x="6238875" y="4933950"/>
            <a:ext cx="5381625" cy="990600"/>
          </a:xfrm>
          <a:prstGeom prst="roundRect">
            <a:avLst>
              <a:gd name="adj" fmla="val 3692"/>
            </a:avLst>
          </a:prstGeom>
          <a:solidFill>
            <a:srgbClr val="FFF8E8"/>
          </a:solidFill>
          <a:ln w="12700">
            <a:solidFill>
              <a:srgbClr val="C58B18"/>
            </a:solidFill>
            <a:prstDash val="solid"/>
          </a:ln>
        </p:spPr>
        <p:txBody>
          <a:bodyPr/>
          <a:lstStyle/>
          <a:p>
            <a:endParaRPr lang="en-IN"/>
          </a:p>
        </p:txBody>
      </p:sp>
      <p:sp>
        <p:nvSpPr>
          <p:cNvPr id="42" name="Text 40"/>
          <p:cNvSpPr/>
          <p:nvPr/>
        </p:nvSpPr>
        <p:spPr>
          <a:xfrm>
            <a:off x="6467475" y="5067300"/>
            <a:ext cx="495300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C58B18"/>
                </a:solidFill>
                <a:latin typeface="Calibri" pitchFamily="34" charset="0"/>
                <a:ea typeface="Calibri" pitchFamily="34" charset="-122"/>
                <a:cs typeface="Calibri" pitchFamily="34" charset="-120"/>
              </a:rPr>
              <a:t>WHY THE OBSERVED RATE DEFICIT IS SMALLER THAN THE BLACKHOLE FRACTION</a:t>
            </a:r>
            <a:endParaRPr lang="en-US" sz="1150" dirty="0"/>
          </a:p>
        </p:txBody>
      </p:sp>
      <p:sp>
        <p:nvSpPr>
          <p:cNvPr id="43" name="Text 41"/>
          <p:cNvSpPr/>
          <p:nvPr/>
        </p:nvSpPr>
        <p:spPr>
          <a:xfrm>
            <a:off x="6467474" y="5295900"/>
            <a:ext cx="5057775" cy="590550"/>
          </a:xfrm>
          <a:prstGeom prst="rect">
            <a:avLst/>
          </a:prstGeom>
          <a:noFill/>
          <a:ln/>
        </p:spPr>
        <p:txBody>
          <a:bodyPr wrap="square" lIns="0" tIns="0" rIns="0" bIns="0" rtlCol="0" anchor="t">
            <a:normAutofit fontScale="92500"/>
          </a:bodyPr>
          <a:lstStyle/>
          <a:p>
            <a:pPr marL="0" indent="0" algn="l">
              <a:lnSpc>
                <a:spcPct val="100000"/>
              </a:lnSpc>
              <a:buNone/>
            </a:pPr>
            <a:r>
              <a:rPr lang="en-US" sz="1280" dirty="0">
                <a:solidFill>
                  <a:srgbClr val="12263A"/>
                </a:solidFill>
                <a:latin typeface="Calibri" pitchFamily="34" charset="0"/>
                <a:ea typeface="Calibri" pitchFamily="34" charset="-122"/>
                <a:cs typeface="Calibri" pitchFamily="34" charset="-120"/>
              </a:rPr>
              <a:t>The blackhole covers the stated fraction of the window after an eight-second warm-up, while the measured window also contains that warm-up and the restore tail. A 75 % blackhole therefore yields a ratio of 0.37 rather than 0.25.</a:t>
            </a:r>
            <a:endParaRPr lang="en-US" sz="1280" dirty="0"/>
          </a:p>
        </p:txBody>
      </p:sp>
      <p:sp>
        <p:nvSpPr>
          <p:cNvPr id="44" name="Shape 42"/>
          <p:cNvSpPr/>
          <p:nvPr/>
        </p:nvSpPr>
        <p:spPr>
          <a:xfrm>
            <a:off x="571500" y="6038850"/>
            <a:ext cx="11049000" cy="590550"/>
          </a:xfrm>
          <a:prstGeom prst="roundRect">
            <a:avLst>
              <a:gd name="adj" fmla="val 6194"/>
            </a:avLst>
          </a:prstGeom>
          <a:solidFill>
            <a:srgbClr val="FFF8E8"/>
          </a:solidFill>
          <a:ln w="12700">
            <a:solidFill>
              <a:srgbClr val="C58B18"/>
            </a:solidFill>
            <a:prstDash val="solid"/>
          </a:ln>
        </p:spPr>
        <p:txBody>
          <a:bodyPr/>
          <a:lstStyle/>
          <a:p>
            <a:endParaRPr lang="en-IN"/>
          </a:p>
        </p:txBody>
      </p:sp>
      <p:sp>
        <p:nvSpPr>
          <p:cNvPr id="45" name="Text 43"/>
          <p:cNvSpPr/>
          <p:nvPr/>
        </p:nvSpPr>
        <p:spPr>
          <a:xfrm>
            <a:off x="781050" y="618172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Sampling limit</a:t>
            </a:r>
            <a:endParaRPr lang="en-US" sz="1600" dirty="0"/>
          </a:p>
        </p:txBody>
      </p:sp>
      <p:sp>
        <p:nvSpPr>
          <p:cNvPr id="46" name="Text 44"/>
          <p:cNvSpPr/>
          <p:nvPr/>
        </p:nvSpPr>
        <p:spPr>
          <a:xfrm>
            <a:off x="2781300" y="6162675"/>
            <a:ext cx="8629650" cy="36195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12263A"/>
                </a:solidFill>
                <a:latin typeface="Calibri" pitchFamily="34" charset="0"/>
                <a:ea typeface="Calibri" pitchFamily="34" charset="-122"/>
                <a:cs typeface="Calibri" pitchFamily="34" charset="-120"/>
              </a:rPr>
              <a:t>Levels were drawn at random rather than swept, so replicate counts are uneven and the decisive missed level rests on a single run. The 55 % level offered by the design was never drawn; window arithmetic predicts a ratio near 0.57, which would also have evaded.</a:t>
            </a:r>
            <a:endParaRPr lang="en-US" sz="12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UNRESOLVED CASES</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Experimentally Verified Limitations</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Each limitation is stated with the evidence that established it, the technical reason, and its implication  |  All figures recomputed from the 168-run corrected campaign</a:t>
            </a:r>
            <a:endParaRPr lang="en-US" sz="1120" dirty="0"/>
          </a:p>
        </p:txBody>
      </p:sp>
      <p:sp>
        <p:nvSpPr>
          <p:cNvPr id="8" name="Text 6"/>
          <p:cNvSpPr/>
          <p:nvPr/>
        </p:nvSpPr>
        <p:spPr>
          <a:xfrm>
            <a:off x="666750" y="1657350"/>
            <a:ext cx="285750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OBSERVED LIMITATION</a:t>
            </a:r>
            <a:endParaRPr lang="en-US" sz="1200" dirty="0"/>
          </a:p>
        </p:txBody>
      </p:sp>
      <p:sp>
        <p:nvSpPr>
          <p:cNvPr id="9" name="Text 7"/>
          <p:cNvSpPr/>
          <p:nvPr/>
        </p:nvSpPr>
        <p:spPr>
          <a:xfrm>
            <a:off x="3619500" y="1657350"/>
            <a:ext cx="1238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EVIDENCE</a:t>
            </a:r>
            <a:endParaRPr lang="en-US" sz="1200" dirty="0"/>
          </a:p>
        </p:txBody>
      </p:sp>
      <p:sp>
        <p:nvSpPr>
          <p:cNvPr id="10" name="Text 8"/>
          <p:cNvSpPr/>
          <p:nvPr/>
        </p:nvSpPr>
        <p:spPr>
          <a:xfrm>
            <a:off x="4953000" y="1657350"/>
            <a:ext cx="35242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TECHNICAL REASON</a:t>
            </a:r>
            <a:endParaRPr lang="en-US" sz="1200" dirty="0"/>
          </a:p>
        </p:txBody>
      </p:sp>
      <p:sp>
        <p:nvSpPr>
          <p:cNvPr id="11" name="Text 9"/>
          <p:cNvSpPr/>
          <p:nvPr/>
        </p:nvSpPr>
        <p:spPr>
          <a:xfrm>
            <a:off x="8572500" y="1657350"/>
            <a:ext cx="2952750" cy="2286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C7293"/>
                </a:solidFill>
                <a:latin typeface="Calibri" pitchFamily="34" charset="0"/>
                <a:ea typeface="Calibri" pitchFamily="34" charset="-122"/>
                <a:cs typeface="Calibri" pitchFamily="34" charset="-120"/>
              </a:rPr>
              <a:t>IMPLICATION</a:t>
            </a:r>
            <a:endParaRPr lang="en-US" sz="1200" dirty="0"/>
          </a:p>
        </p:txBody>
      </p:sp>
      <p:sp>
        <p:nvSpPr>
          <p:cNvPr id="12" name="Shape 10"/>
          <p:cNvSpPr/>
          <p:nvPr/>
        </p:nvSpPr>
        <p:spPr>
          <a:xfrm>
            <a:off x="571500" y="1914525"/>
            <a:ext cx="11049000" cy="11430"/>
          </a:xfrm>
          <a:prstGeom prst="rect">
            <a:avLst/>
          </a:prstGeom>
          <a:solidFill>
            <a:srgbClr val="D7E1EA"/>
          </a:solidFill>
          <a:ln/>
        </p:spPr>
        <p:txBody>
          <a:bodyPr/>
          <a:lstStyle/>
          <a:p>
            <a:endParaRPr lang="en-IN"/>
          </a:p>
        </p:txBody>
      </p:sp>
      <p:sp>
        <p:nvSpPr>
          <p:cNvPr id="13" name="Text 11"/>
          <p:cNvSpPr/>
          <p:nvPr/>
        </p:nvSpPr>
        <p:spPr>
          <a:xfrm>
            <a:off x="666750" y="2038350"/>
            <a:ext cx="2857500" cy="60960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Planned boundary-clock replacement is classified as an attack</a:t>
            </a:r>
            <a:endParaRPr lang="en-US" sz="1340" dirty="0"/>
          </a:p>
        </p:txBody>
      </p:sp>
      <p:sp>
        <p:nvSpPr>
          <p:cNvPr id="14" name="Shape 12"/>
          <p:cNvSpPr/>
          <p:nvPr/>
        </p:nvSpPr>
        <p:spPr>
          <a:xfrm>
            <a:off x="3619500" y="2076450"/>
            <a:ext cx="1143000" cy="247650"/>
          </a:xfrm>
          <a:prstGeom prst="roundRect">
            <a:avLst>
              <a:gd name="adj" fmla="val 14769"/>
            </a:avLst>
          </a:prstGeom>
          <a:solidFill>
            <a:srgbClr val="EAF2F8"/>
          </a:solidFill>
          <a:ln w="12700">
            <a:solidFill>
              <a:srgbClr val="D7E1EA"/>
            </a:solidFill>
            <a:prstDash val="solid"/>
          </a:ln>
        </p:spPr>
        <p:txBody>
          <a:bodyPr/>
          <a:lstStyle/>
          <a:p>
            <a:endParaRPr lang="en-IN"/>
          </a:p>
        </p:txBody>
      </p:sp>
      <p:sp>
        <p:nvSpPr>
          <p:cNvPr id="15" name="Text 13"/>
          <p:cNvSpPr/>
          <p:nvPr/>
        </p:nvSpPr>
        <p:spPr>
          <a:xfrm>
            <a:off x="3619500" y="2124075"/>
            <a:ext cx="11430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C7293"/>
                </a:solidFill>
                <a:latin typeface="Calibri" pitchFamily="34" charset="0"/>
                <a:ea typeface="Calibri" pitchFamily="34" charset="-122"/>
                <a:cs typeface="Calibri" pitchFamily="34" charset="-120"/>
              </a:rPr>
              <a:t>0/12 runs</a:t>
            </a:r>
            <a:endParaRPr lang="en-US" sz="1150" dirty="0"/>
          </a:p>
        </p:txBody>
      </p:sp>
      <p:sp>
        <p:nvSpPr>
          <p:cNvPr id="16" name="Text 14"/>
          <p:cNvSpPr/>
          <p:nvPr/>
        </p:nvSpPr>
        <p:spPr>
          <a:xfrm>
            <a:off x="4953000" y="2028825"/>
            <a:ext cx="35242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The replacement identity is provisioned, but the base rule's rogue-BC clause reads only the primary BC identity, and additive-only v3 cannot overturn it.</a:t>
            </a:r>
            <a:endParaRPr lang="en-US" sz="1220" dirty="0"/>
          </a:p>
        </p:txBody>
      </p:sp>
      <p:sp>
        <p:nvSpPr>
          <p:cNvPr id="17" name="Text 15"/>
          <p:cNvSpPr/>
          <p:nvPr/>
        </p:nvSpPr>
        <p:spPr>
          <a:xfrm>
            <a:off x="8572500" y="2028825"/>
            <a:ext cx="29527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12263A"/>
                </a:solidFill>
                <a:latin typeface="Calibri" pitchFamily="34" charset="0"/>
                <a:ea typeface="Calibri" pitchFamily="34" charset="-122"/>
                <a:cs typeface="Calibri" pitchFamily="34" charset="-120"/>
              </a:rPr>
              <a:t>Produces 12 false ATTACK calls and dominates the 0.783 specificity. Excluding it, benign classification is 47/48 = 0.979.</a:t>
            </a:r>
            <a:endParaRPr lang="en-US" sz="1220" dirty="0"/>
          </a:p>
        </p:txBody>
      </p:sp>
      <p:sp>
        <p:nvSpPr>
          <p:cNvPr id="18" name="Shape 16"/>
          <p:cNvSpPr/>
          <p:nvPr/>
        </p:nvSpPr>
        <p:spPr>
          <a:xfrm>
            <a:off x="571500" y="2762250"/>
            <a:ext cx="11049000" cy="11430"/>
          </a:xfrm>
          <a:prstGeom prst="rect">
            <a:avLst/>
          </a:prstGeom>
          <a:solidFill>
            <a:srgbClr val="D7E1EA"/>
          </a:solidFill>
          <a:ln/>
        </p:spPr>
        <p:txBody>
          <a:bodyPr/>
          <a:lstStyle/>
          <a:p>
            <a:endParaRPr lang="en-IN"/>
          </a:p>
        </p:txBody>
      </p:sp>
      <p:sp>
        <p:nvSpPr>
          <p:cNvPr id="19" name="Text 17"/>
          <p:cNvSpPr/>
          <p:nvPr/>
        </p:nvSpPr>
        <p:spPr>
          <a:xfrm>
            <a:off x="666750" y="2857500"/>
            <a:ext cx="2857500" cy="60960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Sustained interception below roughly 60 % evades detection</a:t>
            </a:r>
            <a:endParaRPr lang="en-US" sz="1340" dirty="0"/>
          </a:p>
        </p:txBody>
      </p:sp>
      <p:sp>
        <p:nvSpPr>
          <p:cNvPr id="20" name="Shape 18"/>
          <p:cNvSpPr/>
          <p:nvPr/>
        </p:nvSpPr>
        <p:spPr>
          <a:xfrm>
            <a:off x="3619500" y="2895600"/>
            <a:ext cx="1143000" cy="247650"/>
          </a:xfrm>
          <a:prstGeom prst="roundRect">
            <a:avLst>
              <a:gd name="adj" fmla="val 14769"/>
            </a:avLst>
          </a:prstGeom>
          <a:solidFill>
            <a:srgbClr val="EAF2F8"/>
          </a:solidFill>
          <a:ln w="12700">
            <a:solidFill>
              <a:srgbClr val="D7E1EA"/>
            </a:solidFill>
            <a:prstDash val="solid"/>
          </a:ln>
        </p:spPr>
        <p:txBody>
          <a:bodyPr/>
          <a:lstStyle/>
          <a:p>
            <a:endParaRPr lang="en-IN"/>
          </a:p>
        </p:txBody>
      </p:sp>
      <p:sp>
        <p:nvSpPr>
          <p:cNvPr id="21" name="Text 19"/>
          <p:cNvSpPr/>
          <p:nvPr/>
        </p:nvSpPr>
        <p:spPr>
          <a:xfrm>
            <a:off x="3619500" y="2943225"/>
            <a:ext cx="11430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C7293"/>
                </a:solidFill>
                <a:latin typeface="Calibri" pitchFamily="34" charset="0"/>
                <a:ea typeface="Calibri" pitchFamily="34" charset="-122"/>
                <a:cs typeface="Calibri" pitchFamily="34" charset="-120"/>
              </a:rPr>
              <a:t>1 of 12 C1 runs</a:t>
            </a:r>
            <a:endParaRPr lang="en-US" sz="1150" dirty="0"/>
          </a:p>
        </p:txBody>
      </p:sp>
      <p:sp>
        <p:nvSpPr>
          <p:cNvPr id="22" name="Text 20"/>
          <p:cNvSpPr/>
          <p:nvPr/>
        </p:nvSpPr>
        <p:spPr>
          <a:xfrm>
            <a:off x="4953000" y="2847975"/>
            <a:ext cx="35242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The rate-starvation clause fires below a 0.500 delivered-to-declared ratio; a 60 % blackhole yields 0.5049 and stays above it.</a:t>
            </a:r>
            <a:endParaRPr lang="en-US" sz="1220" dirty="0"/>
          </a:p>
        </p:txBody>
      </p:sp>
      <p:sp>
        <p:nvSpPr>
          <p:cNvPr id="23" name="Text 21"/>
          <p:cNvSpPr/>
          <p:nvPr/>
        </p:nvSpPr>
        <p:spPr>
          <a:xfrm>
            <a:off x="8572500" y="2847975"/>
            <a:ext cx="29527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12263A"/>
                </a:solidFill>
                <a:latin typeface="Calibri" pitchFamily="34" charset="0"/>
                <a:ea typeface="Calibri" pitchFamily="34" charset="-122"/>
                <a:cs typeface="Calibri" pitchFamily="34" charset="-120"/>
              </a:rPr>
              <a:t>An attacker who paces interception under the threshold is not detected by a rate-based clause alone.</a:t>
            </a:r>
            <a:endParaRPr lang="en-US" sz="1220" dirty="0"/>
          </a:p>
        </p:txBody>
      </p:sp>
      <p:sp>
        <p:nvSpPr>
          <p:cNvPr id="24" name="Shape 22"/>
          <p:cNvSpPr/>
          <p:nvPr/>
        </p:nvSpPr>
        <p:spPr>
          <a:xfrm>
            <a:off x="571500" y="3581400"/>
            <a:ext cx="11049000" cy="11430"/>
          </a:xfrm>
          <a:prstGeom prst="rect">
            <a:avLst/>
          </a:prstGeom>
          <a:solidFill>
            <a:srgbClr val="D7E1EA"/>
          </a:solidFill>
          <a:ln/>
        </p:spPr>
        <p:txBody>
          <a:bodyPr/>
          <a:lstStyle/>
          <a:p>
            <a:endParaRPr lang="en-IN"/>
          </a:p>
        </p:txBody>
      </p:sp>
      <p:sp>
        <p:nvSpPr>
          <p:cNvPr id="25" name="Text 23"/>
          <p:cNvSpPr/>
          <p:nvPr/>
        </p:nvSpPr>
        <p:spPr>
          <a:xfrm>
            <a:off x="666750" y="3676650"/>
            <a:ext cx="2857500" cy="60960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Coherent GNSS spoofing is not establishable here</a:t>
            </a:r>
            <a:endParaRPr lang="en-US" sz="1340" dirty="0"/>
          </a:p>
        </p:txBody>
      </p:sp>
      <p:sp>
        <p:nvSpPr>
          <p:cNvPr id="26" name="Shape 24"/>
          <p:cNvSpPr/>
          <p:nvPr/>
        </p:nvSpPr>
        <p:spPr>
          <a:xfrm>
            <a:off x="3619500" y="3714750"/>
            <a:ext cx="1143000" cy="247650"/>
          </a:xfrm>
          <a:prstGeom prst="roundRect">
            <a:avLst>
              <a:gd name="adj" fmla="val 14769"/>
            </a:avLst>
          </a:prstGeom>
          <a:solidFill>
            <a:srgbClr val="EAF2F8"/>
          </a:solidFill>
          <a:ln w="12700">
            <a:solidFill>
              <a:srgbClr val="D7E1EA"/>
            </a:solidFill>
            <a:prstDash val="solid"/>
          </a:ln>
        </p:spPr>
        <p:txBody>
          <a:bodyPr/>
          <a:lstStyle/>
          <a:p>
            <a:endParaRPr lang="en-IN"/>
          </a:p>
        </p:txBody>
      </p:sp>
      <p:sp>
        <p:nvSpPr>
          <p:cNvPr id="27" name="Text 25"/>
          <p:cNvSpPr/>
          <p:nvPr/>
        </p:nvSpPr>
        <p:spPr>
          <a:xfrm>
            <a:off x="3619500" y="3762375"/>
            <a:ext cx="11430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C7293"/>
                </a:solidFill>
                <a:latin typeface="Calibri" pitchFamily="34" charset="0"/>
                <a:ea typeface="Calibri" pitchFamily="34" charset="-122"/>
                <a:cs typeface="Calibri" pitchFamily="34" charset="-120"/>
              </a:rPr>
              <a:t>testbed limit</a:t>
            </a:r>
            <a:endParaRPr lang="en-US" sz="1150" dirty="0"/>
          </a:p>
        </p:txBody>
      </p:sp>
      <p:sp>
        <p:nvSpPr>
          <p:cNvPr id="28" name="Text 26"/>
          <p:cNvSpPr/>
          <p:nvPr/>
        </p:nvSpPr>
        <p:spPr>
          <a:xfrm>
            <a:off x="4953000" y="3667125"/>
            <a:ext cx="35242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Downstream PTP telemetry cannot separate a perfectly-mimicking spoof from a healthy clock; receiver RF observables, multi-antenna geometry or an independent time anchor are required.</a:t>
            </a:r>
            <a:endParaRPr lang="en-US" sz="1220" dirty="0"/>
          </a:p>
        </p:txBody>
      </p:sp>
      <p:sp>
        <p:nvSpPr>
          <p:cNvPr id="29" name="Text 27"/>
          <p:cNvSpPr/>
          <p:nvPr/>
        </p:nvSpPr>
        <p:spPr>
          <a:xfrm>
            <a:off x="8572500" y="3667125"/>
            <a:ext cx="29527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12263A"/>
                </a:solidFill>
                <a:latin typeface="Calibri" pitchFamily="34" charset="0"/>
                <a:ea typeface="Calibri" pitchFamily="34" charset="-122"/>
                <a:cs typeface="Calibri" pitchFamily="34" charset="-120"/>
              </a:rPr>
              <a:t>No claim is made about GNSS spoof detection. The limit is on PTP-layer features, not on software in general.</a:t>
            </a:r>
            <a:endParaRPr lang="en-US" sz="1220" dirty="0"/>
          </a:p>
        </p:txBody>
      </p:sp>
      <p:sp>
        <p:nvSpPr>
          <p:cNvPr id="30" name="Shape 28"/>
          <p:cNvSpPr/>
          <p:nvPr/>
        </p:nvSpPr>
        <p:spPr>
          <a:xfrm>
            <a:off x="571500" y="4400550"/>
            <a:ext cx="11049000" cy="11430"/>
          </a:xfrm>
          <a:prstGeom prst="rect">
            <a:avLst/>
          </a:prstGeom>
          <a:solidFill>
            <a:srgbClr val="D7E1EA"/>
          </a:solidFill>
          <a:ln/>
        </p:spPr>
        <p:txBody>
          <a:bodyPr/>
          <a:lstStyle/>
          <a:p>
            <a:endParaRPr lang="en-IN"/>
          </a:p>
        </p:txBody>
      </p:sp>
      <p:sp>
        <p:nvSpPr>
          <p:cNvPr id="31" name="Text 29"/>
          <p:cNvSpPr/>
          <p:nvPr/>
        </p:nvSpPr>
        <p:spPr>
          <a:xfrm>
            <a:off x="666750" y="4495800"/>
            <a:ext cx="2857500" cy="60960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Held-out evidence is small and partly incomplete</a:t>
            </a:r>
            <a:endParaRPr lang="en-US" sz="1340" dirty="0"/>
          </a:p>
        </p:txBody>
      </p:sp>
      <p:sp>
        <p:nvSpPr>
          <p:cNvPr id="32" name="Shape 30"/>
          <p:cNvSpPr/>
          <p:nvPr/>
        </p:nvSpPr>
        <p:spPr>
          <a:xfrm>
            <a:off x="3619500" y="4533900"/>
            <a:ext cx="1143000" cy="247650"/>
          </a:xfrm>
          <a:prstGeom prst="roundRect">
            <a:avLst>
              <a:gd name="adj" fmla="val 14769"/>
            </a:avLst>
          </a:prstGeom>
          <a:solidFill>
            <a:srgbClr val="EAF2F8"/>
          </a:solidFill>
          <a:ln w="12700">
            <a:solidFill>
              <a:srgbClr val="D7E1EA"/>
            </a:solidFill>
            <a:prstDash val="solid"/>
          </a:ln>
        </p:spPr>
        <p:txBody>
          <a:bodyPr/>
          <a:lstStyle/>
          <a:p>
            <a:endParaRPr lang="en-IN"/>
          </a:p>
        </p:txBody>
      </p:sp>
      <p:sp>
        <p:nvSpPr>
          <p:cNvPr id="33" name="Text 31"/>
          <p:cNvSpPr/>
          <p:nvPr/>
        </p:nvSpPr>
        <p:spPr>
          <a:xfrm>
            <a:off x="3619500" y="4581525"/>
            <a:ext cx="11430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C7293"/>
                </a:solidFill>
                <a:latin typeface="Calibri" pitchFamily="34" charset="0"/>
                <a:ea typeface="Calibri" pitchFamily="34" charset="-122"/>
                <a:cs typeface="Calibri" pitchFamily="34" charset="-120"/>
              </a:rPr>
              <a:t>4 per scenario</a:t>
            </a:r>
            <a:endParaRPr lang="en-US" sz="1150" dirty="0"/>
          </a:p>
        </p:txBody>
      </p:sp>
      <p:sp>
        <p:nvSpPr>
          <p:cNvPr id="34" name="Text 32"/>
          <p:cNvSpPr/>
          <p:nvPr/>
        </p:nvSpPr>
        <p:spPr>
          <a:xfrm>
            <a:off x="4953000" y="4486275"/>
            <a:ext cx="35242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Only four held-out replicates exist per scenario, and pmc management queries returned no data in any run.</a:t>
            </a:r>
            <a:endParaRPr lang="en-US" sz="1220" dirty="0"/>
          </a:p>
        </p:txBody>
      </p:sp>
      <p:sp>
        <p:nvSpPr>
          <p:cNvPr id="35" name="Text 33"/>
          <p:cNvSpPr/>
          <p:nvPr/>
        </p:nvSpPr>
        <p:spPr>
          <a:xfrm>
            <a:off x="8572500" y="4486275"/>
            <a:ext cx="29527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12263A"/>
                </a:solidFill>
                <a:latin typeface="Calibri" pitchFamily="34" charset="0"/>
                <a:ea typeface="Calibri" pitchFamily="34" charset="-122"/>
                <a:cs typeface="Calibri" pitchFamily="34" charset="-120"/>
              </a:rPr>
              <a:t>Confidence intervals are wide by construction, and the ML arm sees 6 of 28 configured features.</a:t>
            </a:r>
            <a:endParaRPr lang="en-US" sz="1220" dirty="0"/>
          </a:p>
        </p:txBody>
      </p:sp>
      <p:sp>
        <p:nvSpPr>
          <p:cNvPr id="36" name="Shape 34"/>
          <p:cNvSpPr/>
          <p:nvPr/>
        </p:nvSpPr>
        <p:spPr>
          <a:xfrm>
            <a:off x="571500" y="5219700"/>
            <a:ext cx="11049000" cy="11430"/>
          </a:xfrm>
          <a:prstGeom prst="rect">
            <a:avLst/>
          </a:prstGeom>
          <a:solidFill>
            <a:srgbClr val="D7E1EA"/>
          </a:solidFill>
          <a:ln/>
        </p:spPr>
        <p:txBody>
          <a:bodyPr/>
          <a:lstStyle/>
          <a:p>
            <a:endParaRPr lang="en-IN"/>
          </a:p>
        </p:txBody>
      </p:sp>
      <p:sp>
        <p:nvSpPr>
          <p:cNvPr id="37" name="Text 35"/>
          <p:cNvSpPr/>
          <p:nvPr/>
        </p:nvSpPr>
        <p:spPr>
          <a:xfrm>
            <a:off x="666750" y="5314950"/>
            <a:ext cx="2857500" cy="609600"/>
          </a:xfrm>
          <a:prstGeom prst="rect">
            <a:avLst/>
          </a:prstGeom>
          <a:noFill/>
          <a:ln/>
        </p:spPr>
        <p:txBody>
          <a:bodyPr wrap="square" lIns="0" tIns="0" rIns="0" bIns="0" rtlCol="0" anchor="t">
            <a:normAutofit/>
          </a:bodyPr>
          <a:lstStyle/>
          <a:p>
            <a:pPr marL="0" indent="0" algn="l">
              <a:lnSpc>
                <a:spcPct val="100000"/>
              </a:lnSpc>
              <a:buNone/>
            </a:pPr>
            <a:r>
              <a:rPr lang="en-US" sz="1340" b="1" dirty="0">
                <a:solidFill>
                  <a:srgbClr val="12263A"/>
                </a:solidFill>
                <a:latin typeface="Cambria" pitchFamily="34" charset="0"/>
                <a:ea typeface="Cambria" pitchFamily="34" charset="-122"/>
                <a:cs typeface="Cambria" pitchFamily="34" charset="-120"/>
              </a:rPr>
              <a:t>Replicate metadata is internally inconsistent</a:t>
            </a:r>
            <a:endParaRPr lang="en-US" sz="1340" dirty="0"/>
          </a:p>
        </p:txBody>
      </p:sp>
      <p:sp>
        <p:nvSpPr>
          <p:cNvPr id="38" name="Shape 36"/>
          <p:cNvSpPr/>
          <p:nvPr/>
        </p:nvSpPr>
        <p:spPr>
          <a:xfrm>
            <a:off x="3619500" y="5353050"/>
            <a:ext cx="1143000" cy="247650"/>
          </a:xfrm>
          <a:prstGeom prst="roundRect">
            <a:avLst>
              <a:gd name="adj" fmla="val 14769"/>
            </a:avLst>
          </a:prstGeom>
          <a:solidFill>
            <a:srgbClr val="EAF2F8"/>
          </a:solidFill>
          <a:ln w="12700">
            <a:solidFill>
              <a:srgbClr val="D7E1EA"/>
            </a:solidFill>
            <a:prstDash val="solid"/>
          </a:ln>
        </p:spPr>
        <p:txBody>
          <a:bodyPr/>
          <a:lstStyle/>
          <a:p>
            <a:endParaRPr lang="en-IN"/>
          </a:p>
        </p:txBody>
      </p:sp>
      <p:sp>
        <p:nvSpPr>
          <p:cNvPr id="39" name="Text 37"/>
          <p:cNvSpPr/>
          <p:nvPr/>
        </p:nvSpPr>
        <p:spPr>
          <a:xfrm>
            <a:off x="3619500" y="5400675"/>
            <a:ext cx="1143000" cy="190500"/>
          </a:xfrm>
          <a:prstGeom prst="rect">
            <a:avLst/>
          </a:prstGeom>
          <a:noFill/>
          <a:ln/>
        </p:spPr>
        <p:txBody>
          <a:bodyPr wrap="square" lIns="0" tIns="0" rIns="0" bIns="0" rtlCol="0" anchor="t">
            <a:normAutofit/>
          </a:bodyPr>
          <a:lstStyle/>
          <a:p>
            <a:pPr marL="0" indent="0" algn="ctr">
              <a:lnSpc>
                <a:spcPct val="100000"/>
              </a:lnSpc>
              <a:buNone/>
            </a:pPr>
            <a:r>
              <a:rPr lang="en-US" sz="1150" b="1" dirty="0">
                <a:solidFill>
                  <a:srgbClr val="1C7293"/>
                </a:solidFill>
                <a:latin typeface="Calibri" pitchFamily="34" charset="0"/>
                <a:ea typeface="Calibri" pitchFamily="34" charset="-122"/>
                <a:cs typeface="Calibri" pitchFamily="34" charset="-120"/>
              </a:rPr>
              <a:t>36 runs</a:t>
            </a:r>
            <a:endParaRPr lang="en-US" sz="1150" dirty="0"/>
          </a:p>
        </p:txBody>
      </p:sp>
      <p:sp>
        <p:nvSpPr>
          <p:cNvPr id="40" name="Text 38"/>
          <p:cNvSpPr/>
          <p:nvPr/>
        </p:nvSpPr>
        <p:spPr>
          <a:xfrm>
            <a:off x="4953000" y="5305425"/>
            <a:ext cx="35242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5B6B7C"/>
                </a:solidFill>
                <a:latin typeface="Calibri" pitchFamily="34" charset="0"/>
                <a:ea typeface="Calibri" pitchFamily="34" charset="-122"/>
                <a:cs typeface="Calibri" pitchFamily="34" charset="-120"/>
              </a:rPr>
              <a:t>Thirty-six C-series context files record replicate 901 rather than their true replicate number.</a:t>
            </a:r>
            <a:endParaRPr lang="en-US" sz="1220" dirty="0"/>
          </a:p>
        </p:txBody>
      </p:sp>
      <p:sp>
        <p:nvSpPr>
          <p:cNvPr id="41" name="Text 39"/>
          <p:cNvSpPr/>
          <p:nvPr/>
        </p:nvSpPr>
        <p:spPr>
          <a:xfrm>
            <a:off x="8572500" y="5305425"/>
            <a:ext cx="2952750" cy="68580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12263A"/>
                </a:solidFill>
                <a:latin typeface="Calibri" pitchFamily="34" charset="0"/>
                <a:ea typeface="Calibri" pitchFamily="34" charset="-122"/>
                <a:cs typeface="Calibri" pitchFamily="34" charset="-120"/>
              </a:rPr>
              <a:t>The evaluation uses the replicate encoded in the directory name. This must be corrected before any fresh validation claim.</a:t>
            </a:r>
            <a:endParaRPr lang="en-US" sz="1220" dirty="0"/>
          </a:p>
        </p:txBody>
      </p:sp>
      <p:sp>
        <p:nvSpPr>
          <p:cNvPr id="42" name="Shape 40"/>
          <p:cNvSpPr/>
          <p:nvPr/>
        </p:nvSpPr>
        <p:spPr>
          <a:xfrm>
            <a:off x="571500" y="6038850"/>
            <a:ext cx="11049000" cy="11430"/>
          </a:xfrm>
          <a:prstGeom prst="rect">
            <a:avLst/>
          </a:prstGeom>
          <a:solidFill>
            <a:srgbClr val="D7E1EA"/>
          </a:solidFill>
          <a:ln/>
        </p:spPr>
        <p:txBody>
          <a:bodyPr/>
          <a:lstStyle/>
          <a:p>
            <a:endParaRPr lang="en-IN"/>
          </a:p>
        </p:txBody>
      </p:sp>
      <p:sp>
        <p:nvSpPr>
          <p:cNvPr id="43" name="Shape 41"/>
          <p:cNvSpPr/>
          <p:nvPr/>
        </p:nvSpPr>
        <p:spPr>
          <a:xfrm>
            <a:off x="571500" y="6096000"/>
            <a:ext cx="11049000" cy="533400"/>
          </a:xfrm>
          <a:prstGeom prst="roundRect">
            <a:avLst>
              <a:gd name="adj" fmla="val 6857"/>
            </a:avLst>
          </a:prstGeom>
          <a:solidFill>
            <a:srgbClr val="0E2440"/>
          </a:solidFill>
          <a:ln w="12700">
            <a:solidFill>
              <a:srgbClr val="0E2440"/>
            </a:solidFill>
            <a:prstDash val="solid"/>
          </a:ln>
        </p:spPr>
        <p:txBody>
          <a:bodyPr/>
          <a:lstStyle/>
          <a:p>
            <a:endParaRPr lang="en-IN"/>
          </a:p>
        </p:txBody>
      </p:sp>
      <p:sp>
        <p:nvSpPr>
          <p:cNvPr id="44" name="Text 42"/>
          <p:cNvSpPr/>
          <p:nvPr/>
        </p:nvSpPr>
        <p:spPr>
          <a:xfrm>
            <a:off x="781050" y="6210300"/>
            <a:ext cx="10629900" cy="32385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FFFFFF"/>
                </a:solidFill>
                <a:latin typeface="Cambria" pitchFamily="34" charset="0"/>
                <a:ea typeface="Cambria" pitchFamily="34" charset="-122"/>
                <a:cs typeface="Cambria" pitchFamily="34" charset="-120"/>
              </a:rPr>
              <a:t>Each limitation is an experimental finding with a located cause, not a residual uncertainty. Four of the five have a defined software or hardware route to resolution, set out on the following slides.</a:t>
            </a:r>
            <a:endParaRPr lang="en-US" sz="132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WORKLET STATUS</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200" b="1" dirty="0">
                <a:solidFill>
                  <a:srgbClr val="12263A"/>
                </a:solidFill>
                <a:latin typeface="Cambria" pitchFamily="34" charset="0"/>
                <a:ea typeface="Cambria" pitchFamily="34" charset="-122"/>
                <a:cs typeface="Cambria" pitchFamily="34" charset="-120"/>
              </a:rPr>
              <a:t>Delivery Status and Objectives Not Yet Addressed</a:t>
            </a:r>
            <a:endParaRPr lang="en-US" sz="32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Status assessed against the original worklet milestone plan  |  Objective numbering follows the worklet definition reproduced on the opening slide</a:t>
            </a:r>
            <a:endParaRPr lang="en-US" sz="1120" dirty="0"/>
          </a:p>
        </p:txBody>
      </p:sp>
      <p:sp>
        <p:nvSpPr>
          <p:cNvPr id="8" name="Shape 6"/>
          <p:cNvSpPr/>
          <p:nvPr/>
        </p:nvSpPr>
        <p:spPr>
          <a:xfrm>
            <a:off x="571500" y="1638300"/>
            <a:ext cx="1047750" cy="228600"/>
          </a:xfrm>
          <a:prstGeom prst="roundRect">
            <a:avLst>
              <a:gd name="adj" fmla="val 16000"/>
            </a:avLst>
          </a:prstGeom>
          <a:solidFill>
            <a:srgbClr val="E3F3EA"/>
          </a:solidFill>
          <a:ln w="12700">
            <a:solidFill>
              <a:srgbClr val="1E8E5A"/>
            </a:solidFill>
            <a:prstDash val="solid"/>
          </a:ln>
        </p:spPr>
        <p:txBody>
          <a:bodyPr/>
          <a:lstStyle/>
          <a:p>
            <a:endParaRPr lang="en-IN"/>
          </a:p>
        </p:txBody>
      </p:sp>
      <p:sp>
        <p:nvSpPr>
          <p:cNvPr id="9" name="Text 7"/>
          <p:cNvSpPr/>
          <p:nvPr/>
        </p:nvSpPr>
        <p:spPr>
          <a:xfrm>
            <a:off x="571500" y="1685925"/>
            <a:ext cx="1047750" cy="152400"/>
          </a:xfrm>
          <a:prstGeom prst="rect">
            <a:avLst/>
          </a:prstGeom>
          <a:noFill/>
          <a:ln/>
        </p:spPr>
        <p:txBody>
          <a:bodyPr wrap="square" lIns="0" tIns="0" rIns="0" bIns="0" rtlCol="0" anchor="t">
            <a:normAutofit/>
          </a:bodyPr>
          <a:lstStyle/>
          <a:p>
            <a:pPr marL="0" indent="0" algn="ctr">
              <a:lnSpc>
                <a:spcPct val="100000"/>
              </a:lnSpc>
              <a:buNone/>
            </a:pPr>
            <a:r>
              <a:rPr lang="en-US" sz="1000" b="1" dirty="0">
                <a:solidFill>
                  <a:srgbClr val="1E8E5A"/>
                </a:solidFill>
                <a:latin typeface="Calibri" pitchFamily="34" charset="0"/>
                <a:ea typeface="Calibri" pitchFamily="34" charset="-122"/>
                <a:cs typeface="Calibri" pitchFamily="34" charset="-120"/>
              </a:rPr>
              <a:t>DONE</a:t>
            </a:r>
            <a:endParaRPr lang="en-US" sz="1000" dirty="0"/>
          </a:p>
        </p:txBody>
      </p:sp>
      <p:sp>
        <p:nvSpPr>
          <p:cNvPr id="10" name="Shape 8"/>
          <p:cNvSpPr/>
          <p:nvPr/>
        </p:nvSpPr>
        <p:spPr>
          <a:xfrm>
            <a:off x="1714500" y="1638300"/>
            <a:ext cx="1047750" cy="228600"/>
          </a:xfrm>
          <a:prstGeom prst="roundRect">
            <a:avLst>
              <a:gd name="adj" fmla="val 16000"/>
            </a:avLst>
          </a:prstGeom>
          <a:solidFill>
            <a:srgbClr val="FFF3D6"/>
          </a:solidFill>
          <a:ln w="12700">
            <a:solidFill>
              <a:srgbClr val="C58B18"/>
            </a:solidFill>
            <a:prstDash val="solid"/>
          </a:ln>
        </p:spPr>
        <p:txBody>
          <a:bodyPr/>
          <a:lstStyle/>
          <a:p>
            <a:endParaRPr lang="en-IN"/>
          </a:p>
        </p:txBody>
      </p:sp>
      <p:sp>
        <p:nvSpPr>
          <p:cNvPr id="11" name="Text 9"/>
          <p:cNvSpPr/>
          <p:nvPr/>
        </p:nvSpPr>
        <p:spPr>
          <a:xfrm>
            <a:off x="1714500" y="1685925"/>
            <a:ext cx="1047750" cy="152400"/>
          </a:xfrm>
          <a:prstGeom prst="rect">
            <a:avLst/>
          </a:prstGeom>
          <a:noFill/>
          <a:ln/>
        </p:spPr>
        <p:txBody>
          <a:bodyPr wrap="square" lIns="0" tIns="0" rIns="0" bIns="0" rtlCol="0" anchor="t">
            <a:normAutofit/>
          </a:bodyPr>
          <a:lstStyle/>
          <a:p>
            <a:pPr marL="0" indent="0" algn="ctr">
              <a:lnSpc>
                <a:spcPct val="100000"/>
              </a:lnSpc>
              <a:buNone/>
            </a:pPr>
            <a:r>
              <a:rPr lang="en-US" sz="1000" b="1" dirty="0">
                <a:solidFill>
                  <a:srgbClr val="C58B18"/>
                </a:solidFill>
                <a:latin typeface="Calibri" pitchFamily="34" charset="0"/>
                <a:ea typeface="Calibri" pitchFamily="34" charset="-122"/>
                <a:cs typeface="Calibri" pitchFamily="34" charset="-120"/>
              </a:rPr>
              <a:t>PARTIAL</a:t>
            </a:r>
            <a:endParaRPr lang="en-US" sz="1000" dirty="0"/>
          </a:p>
        </p:txBody>
      </p:sp>
      <p:sp>
        <p:nvSpPr>
          <p:cNvPr id="12" name="Shape 10"/>
          <p:cNvSpPr/>
          <p:nvPr/>
        </p:nvSpPr>
        <p:spPr>
          <a:xfrm>
            <a:off x="3048000" y="1638300"/>
            <a:ext cx="1047750" cy="228600"/>
          </a:xfrm>
          <a:prstGeom prst="roundRect">
            <a:avLst>
              <a:gd name="adj" fmla="val 16000"/>
            </a:avLst>
          </a:prstGeom>
          <a:solidFill>
            <a:srgbClr val="EEF1F4"/>
          </a:solidFill>
          <a:ln w="12700">
            <a:solidFill>
              <a:srgbClr val="5B6B7C"/>
            </a:solidFill>
            <a:prstDash val="solid"/>
          </a:ln>
        </p:spPr>
        <p:txBody>
          <a:bodyPr/>
          <a:lstStyle/>
          <a:p>
            <a:endParaRPr lang="en-IN"/>
          </a:p>
        </p:txBody>
      </p:sp>
      <p:sp>
        <p:nvSpPr>
          <p:cNvPr id="13" name="Text 11"/>
          <p:cNvSpPr/>
          <p:nvPr/>
        </p:nvSpPr>
        <p:spPr>
          <a:xfrm>
            <a:off x="3048000" y="1685925"/>
            <a:ext cx="1047750" cy="152400"/>
          </a:xfrm>
          <a:prstGeom prst="rect">
            <a:avLst/>
          </a:prstGeom>
          <a:noFill/>
          <a:ln/>
        </p:spPr>
        <p:txBody>
          <a:bodyPr wrap="square" lIns="0" tIns="0" rIns="0" bIns="0" rtlCol="0" anchor="t">
            <a:normAutofit/>
          </a:bodyPr>
          <a:lstStyle/>
          <a:p>
            <a:pPr marL="0" indent="0" algn="ctr">
              <a:lnSpc>
                <a:spcPct val="100000"/>
              </a:lnSpc>
              <a:buNone/>
            </a:pPr>
            <a:r>
              <a:rPr lang="en-US" sz="1000" b="1" dirty="0">
                <a:solidFill>
                  <a:srgbClr val="5B6B7C"/>
                </a:solidFill>
                <a:latin typeface="Calibri" pitchFamily="34" charset="0"/>
                <a:ea typeface="Calibri" pitchFamily="34" charset="-122"/>
                <a:cs typeface="Calibri" pitchFamily="34" charset="-120"/>
              </a:rPr>
              <a:t>NOT STARTED</a:t>
            </a:r>
            <a:endParaRPr lang="en-US" sz="1000" dirty="0"/>
          </a:p>
        </p:txBody>
      </p:sp>
      <p:sp>
        <p:nvSpPr>
          <p:cNvPr id="14" name="Shape 12"/>
          <p:cNvSpPr/>
          <p:nvPr/>
        </p:nvSpPr>
        <p:spPr>
          <a:xfrm>
            <a:off x="571500" y="2000250"/>
            <a:ext cx="6667500" cy="400050"/>
          </a:xfrm>
          <a:prstGeom prst="roundRect">
            <a:avLst>
              <a:gd name="adj" fmla="val 9143"/>
            </a:avLst>
          </a:prstGeom>
          <a:solidFill>
            <a:srgbClr val="FFFFFF"/>
          </a:solidFill>
          <a:ln w="12700">
            <a:solidFill>
              <a:srgbClr val="D7E1EA"/>
            </a:solidFill>
            <a:prstDash val="solid"/>
          </a:ln>
        </p:spPr>
        <p:txBody>
          <a:bodyPr/>
          <a:lstStyle/>
          <a:p>
            <a:endParaRPr lang="en-IN"/>
          </a:p>
        </p:txBody>
      </p:sp>
      <p:sp>
        <p:nvSpPr>
          <p:cNvPr id="15" name="Text 13"/>
          <p:cNvSpPr/>
          <p:nvPr/>
        </p:nvSpPr>
        <p:spPr>
          <a:xfrm>
            <a:off x="704850" y="2105025"/>
            <a:ext cx="51435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mbria" pitchFamily="34" charset="0"/>
                <a:ea typeface="Cambria" pitchFamily="34" charset="-122"/>
                <a:cs typeface="Cambria" pitchFamily="34" charset="-120"/>
              </a:rPr>
              <a:t>M1</a:t>
            </a:r>
            <a:endParaRPr lang="en-US" sz="1300" dirty="0"/>
          </a:p>
        </p:txBody>
      </p:sp>
      <p:sp>
        <p:nvSpPr>
          <p:cNvPr id="16" name="Text 14"/>
          <p:cNvSpPr/>
          <p:nvPr/>
        </p:nvSpPr>
        <p:spPr>
          <a:xfrm>
            <a:off x="1276350" y="2047875"/>
            <a:ext cx="2667000" cy="1905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Problem study and literature survey</a:t>
            </a:r>
            <a:endParaRPr lang="en-US" sz="1320" dirty="0"/>
          </a:p>
        </p:txBody>
      </p:sp>
      <p:sp>
        <p:nvSpPr>
          <p:cNvPr id="17" name="Text 15"/>
          <p:cNvSpPr/>
          <p:nvPr/>
        </p:nvSpPr>
        <p:spPr>
          <a:xfrm>
            <a:off x="1276350" y="2219325"/>
            <a:ext cx="4572000" cy="152400"/>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5B6B7C"/>
                </a:solidFill>
                <a:latin typeface="Calibri" pitchFamily="34" charset="0"/>
                <a:ea typeface="Calibri" pitchFamily="34" charset="-122"/>
                <a:cs typeface="Calibri" pitchFamily="34" charset="-120"/>
              </a:rPr>
              <a:t>Standards baseline, reviewed source set, documented gap</a:t>
            </a:r>
            <a:endParaRPr lang="en-US" sz="1100" dirty="0"/>
          </a:p>
        </p:txBody>
      </p:sp>
      <p:sp>
        <p:nvSpPr>
          <p:cNvPr id="18" name="Shape 16"/>
          <p:cNvSpPr/>
          <p:nvPr/>
        </p:nvSpPr>
        <p:spPr>
          <a:xfrm>
            <a:off x="6096000" y="2085975"/>
            <a:ext cx="1009650" cy="228600"/>
          </a:xfrm>
          <a:prstGeom prst="roundRect">
            <a:avLst>
              <a:gd name="adj" fmla="val 16000"/>
            </a:avLst>
          </a:prstGeom>
          <a:solidFill>
            <a:srgbClr val="E3F3EA"/>
          </a:solidFill>
          <a:ln w="12700">
            <a:solidFill>
              <a:srgbClr val="1E8E5A"/>
            </a:solidFill>
            <a:prstDash val="solid"/>
          </a:ln>
        </p:spPr>
        <p:txBody>
          <a:bodyPr/>
          <a:lstStyle/>
          <a:p>
            <a:endParaRPr lang="en-IN"/>
          </a:p>
        </p:txBody>
      </p:sp>
      <p:sp>
        <p:nvSpPr>
          <p:cNvPr id="19" name="Text 17"/>
          <p:cNvSpPr/>
          <p:nvPr/>
        </p:nvSpPr>
        <p:spPr>
          <a:xfrm>
            <a:off x="6096000" y="2133600"/>
            <a:ext cx="1009650" cy="1524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E8E5A"/>
                </a:solidFill>
                <a:latin typeface="Calibri" pitchFamily="34" charset="0"/>
                <a:ea typeface="Calibri" pitchFamily="34" charset="-122"/>
                <a:cs typeface="Calibri" pitchFamily="34" charset="-120"/>
              </a:rPr>
              <a:t>DONE</a:t>
            </a:r>
            <a:endParaRPr lang="en-US" sz="950" dirty="0"/>
          </a:p>
        </p:txBody>
      </p:sp>
      <p:sp>
        <p:nvSpPr>
          <p:cNvPr id="20" name="Shape 18"/>
          <p:cNvSpPr/>
          <p:nvPr/>
        </p:nvSpPr>
        <p:spPr>
          <a:xfrm>
            <a:off x="571500" y="2457450"/>
            <a:ext cx="6667500" cy="400050"/>
          </a:xfrm>
          <a:prstGeom prst="roundRect">
            <a:avLst>
              <a:gd name="adj" fmla="val 9143"/>
            </a:avLst>
          </a:prstGeom>
          <a:solidFill>
            <a:srgbClr val="FFFFFF"/>
          </a:solidFill>
          <a:ln w="12700">
            <a:solidFill>
              <a:srgbClr val="D7E1EA"/>
            </a:solidFill>
            <a:prstDash val="solid"/>
          </a:ln>
        </p:spPr>
        <p:txBody>
          <a:bodyPr/>
          <a:lstStyle/>
          <a:p>
            <a:endParaRPr lang="en-IN"/>
          </a:p>
        </p:txBody>
      </p:sp>
      <p:sp>
        <p:nvSpPr>
          <p:cNvPr id="21" name="Text 19"/>
          <p:cNvSpPr/>
          <p:nvPr/>
        </p:nvSpPr>
        <p:spPr>
          <a:xfrm>
            <a:off x="704850" y="2562225"/>
            <a:ext cx="51435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mbria" pitchFamily="34" charset="0"/>
                <a:ea typeface="Cambria" pitchFamily="34" charset="-122"/>
                <a:cs typeface="Cambria" pitchFamily="34" charset="-120"/>
              </a:rPr>
              <a:t>M1</a:t>
            </a:r>
            <a:endParaRPr lang="en-US" sz="1300" dirty="0"/>
          </a:p>
        </p:txBody>
      </p:sp>
      <p:sp>
        <p:nvSpPr>
          <p:cNvPr id="22" name="Text 20"/>
          <p:cNvSpPr/>
          <p:nvPr/>
        </p:nvSpPr>
        <p:spPr>
          <a:xfrm>
            <a:off x="1276350" y="2505075"/>
            <a:ext cx="2667000" cy="1905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System architecture design</a:t>
            </a:r>
            <a:endParaRPr lang="en-US" sz="1320" dirty="0"/>
          </a:p>
        </p:txBody>
      </p:sp>
      <p:sp>
        <p:nvSpPr>
          <p:cNvPr id="23" name="Text 21"/>
          <p:cNvSpPr/>
          <p:nvPr/>
        </p:nvSpPr>
        <p:spPr>
          <a:xfrm>
            <a:off x="1276350" y="2676525"/>
            <a:ext cx="4572000" cy="152400"/>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5B6B7C"/>
                </a:solidFill>
                <a:latin typeface="Calibri" pitchFamily="34" charset="0"/>
                <a:ea typeface="Calibri" pitchFamily="34" charset="-122"/>
                <a:cs typeface="Calibri" pitchFamily="34" charset="-120"/>
              </a:rPr>
              <a:t>Data flow defined: capture, extract, decide</a:t>
            </a:r>
            <a:endParaRPr lang="en-US" sz="1100" dirty="0"/>
          </a:p>
        </p:txBody>
      </p:sp>
      <p:sp>
        <p:nvSpPr>
          <p:cNvPr id="24" name="Shape 22"/>
          <p:cNvSpPr/>
          <p:nvPr/>
        </p:nvSpPr>
        <p:spPr>
          <a:xfrm>
            <a:off x="6096000" y="2543175"/>
            <a:ext cx="1009650" cy="228600"/>
          </a:xfrm>
          <a:prstGeom prst="roundRect">
            <a:avLst>
              <a:gd name="adj" fmla="val 16000"/>
            </a:avLst>
          </a:prstGeom>
          <a:solidFill>
            <a:srgbClr val="E3F3EA"/>
          </a:solidFill>
          <a:ln w="12700">
            <a:solidFill>
              <a:srgbClr val="1E8E5A"/>
            </a:solidFill>
            <a:prstDash val="solid"/>
          </a:ln>
        </p:spPr>
        <p:txBody>
          <a:bodyPr/>
          <a:lstStyle/>
          <a:p>
            <a:endParaRPr lang="en-IN"/>
          </a:p>
        </p:txBody>
      </p:sp>
      <p:sp>
        <p:nvSpPr>
          <p:cNvPr id="25" name="Text 23"/>
          <p:cNvSpPr/>
          <p:nvPr/>
        </p:nvSpPr>
        <p:spPr>
          <a:xfrm>
            <a:off x="6096000" y="2590800"/>
            <a:ext cx="1009650" cy="1524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E8E5A"/>
                </a:solidFill>
                <a:latin typeface="Calibri" pitchFamily="34" charset="0"/>
                <a:ea typeface="Calibri" pitchFamily="34" charset="-122"/>
                <a:cs typeface="Calibri" pitchFamily="34" charset="-120"/>
              </a:rPr>
              <a:t>DONE</a:t>
            </a:r>
            <a:endParaRPr lang="en-US" sz="950" dirty="0"/>
          </a:p>
        </p:txBody>
      </p:sp>
      <p:sp>
        <p:nvSpPr>
          <p:cNvPr id="26" name="Shape 24"/>
          <p:cNvSpPr/>
          <p:nvPr/>
        </p:nvSpPr>
        <p:spPr>
          <a:xfrm>
            <a:off x="571500" y="2914650"/>
            <a:ext cx="6667500" cy="400050"/>
          </a:xfrm>
          <a:prstGeom prst="roundRect">
            <a:avLst>
              <a:gd name="adj" fmla="val 9143"/>
            </a:avLst>
          </a:prstGeom>
          <a:solidFill>
            <a:srgbClr val="FFFFFF"/>
          </a:solidFill>
          <a:ln w="12700">
            <a:solidFill>
              <a:srgbClr val="D7E1EA"/>
            </a:solidFill>
            <a:prstDash val="solid"/>
          </a:ln>
        </p:spPr>
        <p:txBody>
          <a:bodyPr/>
          <a:lstStyle/>
          <a:p>
            <a:endParaRPr lang="en-IN"/>
          </a:p>
        </p:txBody>
      </p:sp>
      <p:sp>
        <p:nvSpPr>
          <p:cNvPr id="27" name="Text 25"/>
          <p:cNvSpPr/>
          <p:nvPr/>
        </p:nvSpPr>
        <p:spPr>
          <a:xfrm>
            <a:off x="704850" y="3019425"/>
            <a:ext cx="51435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mbria" pitchFamily="34" charset="0"/>
                <a:ea typeface="Cambria" pitchFamily="34" charset="-122"/>
                <a:cs typeface="Cambria" pitchFamily="34" charset="-120"/>
              </a:rPr>
              <a:t>M2</a:t>
            </a:r>
            <a:endParaRPr lang="en-US" sz="1300" dirty="0"/>
          </a:p>
        </p:txBody>
      </p:sp>
      <p:sp>
        <p:nvSpPr>
          <p:cNvPr id="28" name="Text 26"/>
          <p:cNvSpPr/>
          <p:nvPr/>
        </p:nvSpPr>
        <p:spPr>
          <a:xfrm>
            <a:off x="1276350" y="2962275"/>
            <a:ext cx="2667000" cy="1905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KPI and fault taxonomy</a:t>
            </a:r>
            <a:endParaRPr lang="en-US" sz="1320" dirty="0"/>
          </a:p>
        </p:txBody>
      </p:sp>
      <p:sp>
        <p:nvSpPr>
          <p:cNvPr id="29" name="Text 27"/>
          <p:cNvSpPr/>
          <p:nvPr/>
        </p:nvSpPr>
        <p:spPr>
          <a:xfrm>
            <a:off x="1276350" y="3133725"/>
            <a:ext cx="4572000" cy="152400"/>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5B6B7C"/>
                </a:solidFill>
                <a:latin typeface="Calibri" pitchFamily="34" charset="0"/>
                <a:ea typeface="Calibri" pitchFamily="34" charset="-122"/>
                <a:cs typeface="Calibri" pitchFamily="34" charset="-120"/>
              </a:rPr>
              <a:t>144-parameter × 16-fault matrix; profile configuration traced to standards</a:t>
            </a:r>
            <a:endParaRPr lang="en-US" sz="1100" dirty="0"/>
          </a:p>
        </p:txBody>
      </p:sp>
      <p:sp>
        <p:nvSpPr>
          <p:cNvPr id="30" name="Shape 28"/>
          <p:cNvSpPr/>
          <p:nvPr/>
        </p:nvSpPr>
        <p:spPr>
          <a:xfrm>
            <a:off x="6096000" y="3000375"/>
            <a:ext cx="1009650" cy="228600"/>
          </a:xfrm>
          <a:prstGeom prst="roundRect">
            <a:avLst>
              <a:gd name="adj" fmla="val 16000"/>
            </a:avLst>
          </a:prstGeom>
          <a:solidFill>
            <a:srgbClr val="E3F3EA"/>
          </a:solidFill>
          <a:ln w="12700">
            <a:solidFill>
              <a:srgbClr val="1E8E5A"/>
            </a:solidFill>
            <a:prstDash val="solid"/>
          </a:ln>
        </p:spPr>
        <p:txBody>
          <a:bodyPr/>
          <a:lstStyle/>
          <a:p>
            <a:endParaRPr lang="en-IN"/>
          </a:p>
        </p:txBody>
      </p:sp>
      <p:sp>
        <p:nvSpPr>
          <p:cNvPr id="31" name="Text 29"/>
          <p:cNvSpPr/>
          <p:nvPr/>
        </p:nvSpPr>
        <p:spPr>
          <a:xfrm>
            <a:off x="6096000" y="3048000"/>
            <a:ext cx="1009650" cy="1524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E8E5A"/>
                </a:solidFill>
                <a:latin typeface="Calibri" pitchFamily="34" charset="0"/>
                <a:ea typeface="Calibri" pitchFamily="34" charset="-122"/>
                <a:cs typeface="Calibri" pitchFamily="34" charset="-120"/>
              </a:rPr>
              <a:t>DONE</a:t>
            </a:r>
            <a:endParaRPr lang="en-US" sz="950" dirty="0"/>
          </a:p>
        </p:txBody>
      </p:sp>
      <p:sp>
        <p:nvSpPr>
          <p:cNvPr id="32" name="Shape 30"/>
          <p:cNvSpPr/>
          <p:nvPr/>
        </p:nvSpPr>
        <p:spPr>
          <a:xfrm>
            <a:off x="571500" y="3371850"/>
            <a:ext cx="6667500" cy="400050"/>
          </a:xfrm>
          <a:prstGeom prst="roundRect">
            <a:avLst>
              <a:gd name="adj" fmla="val 9143"/>
            </a:avLst>
          </a:prstGeom>
          <a:solidFill>
            <a:srgbClr val="FFFFFF"/>
          </a:solidFill>
          <a:ln w="12700">
            <a:solidFill>
              <a:srgbClr val="D7E1EA"/>
            </a:solidFill>
            <a:prstDash val="solid"/>
          </a:ln>
        </p:spPr>
        <p:txBody>
          <a:bodyPr/>
          <a:lstStyle/>
          <a:p>
            <a:endParaRPr lang="en-IN"/>
          </a:p>
        </p:txBody>
      </p:sp>
      <p:sp>
        <p:nvSpPr>
          <p:cNvPr id="33" name="Text 31"/>
          <p:cNvSpPr/>
          <p:nvPr/>
        </p:nvSpPr>
        <p:spPr>
          <a:xfrm>
            <a:off x="704850" y="3476625"/>
            <a:ext cx="51435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mbria" pitchFamily="34" charset="0"/>
                <a:ea typeface="Cambria" pitchFamily="34" charset="-122"/>
                <a:cs typeface="Cambria" pitchFamily="34" charset="-120"/>
              </a:rPr>
              <a:t>M3</a:t>
            </a:r>
            <a:endParaRPr lang="en-US" sz="1300" dirty="0"/>
          </a:p>
        </p:txBody>
      </p:sp>
      <p:sp>
        <p:nvSpPr>
          <p:cNvPr id="34" name="Text 32"/>
          <p:cNvSpPr/>
          <p:nvPr/>
        </p:nvSpPr>
        <p:spPr>
          <a:xfrm>
            <a:off x="1276350" y="3419475"/>
            <a:ext cx="2667000" cy="1905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Digital twin and fault injection</a:t>
            </a:r>
            <a:endParaRPr lang="en-US" sz="1320" dirty="0"/>
          </a:p>
        </p:txBody>
      </p:sp>
      <p:sp>
        <p:nvSpPr>
          <p:cNvPr id="35" name="Text 33"/>
          <p:cNvSpPr/>
          <p:nvPr/>
        </p:nvSpPr>
        <p:spPr>
          <a:xfrm>
            <a:off x="1276350" y="3590925"/>
            <a:ext cx="4572000" cy="152400"/>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5B6B7C"/>
                </a:solidFill>
                <a:latin typeface="Calibri" pitchFamily="34" charset="0"/>
                <a:ea typeface="Calibri" pitchFamily="34" charset="-122"/>
                <a:cs typeface="Calibri" pitchFamily="34" charset="-120"/>
              </a:rPr>
              <a:t>Six-node testbed and live injection validated; digital twin not exercised</a:t>
            </a:r>
            <a:endParaRPr lang="en-US" sz="1100" dirty="0"/>
          </a:p>
        </p:txBody>
      </p:sp>
      <p:sp>
        <p:nvSpPr>
          <p:cNvPr id="36" name="Shape 34"/>
          <p:cNvSpPr/>
          <p:nvPr/>
        </p:nvSpPr>
        <p:spPr>
          <a:xfrm>
            <a:off x="6096000" y="3457575"/>
            <a:ext cx="1009650" cy="228600"/>
          </a:xfrm>
          <a:prstGeom prst="roundRect">
            <a:avLst>
              <a:gd name="adj" fmla="val 16000"/>
            </a:avLst>
          </a:prstGeom>
          <a:solidFill>
            <a:srgbClr val="FFF3D6"/>
          </a:solidFill>
          <a:ln w="12700">
            <a:solidFill>
              <a:srgbClr val="C58B18"/>
            </a:solidFill>
            <a:prstDash val="solid"/>
          </a:ln>
        </p:spPr>
        <p:txBody>
          <a:bodyPr/>
          <a:lstStyle/>
          <a:p>
            <a:endParaRPr lang="en-IN"/>
          </a:p>
        </p:txBody>
      </p:sp>
      <p:sp>
        <p:nvSpPr>
          <p:cNvPr id="37" name="Text 35"/>
          <p:cNvSpPr/>
          <p:nvPr/>
        </p:nvSpPr>
        <p:spPr>
          <a:xfrm>
            <a:off x="6096000" y="3505200"/>
            <a:ext cx="1009650" cy="1524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C58B18"/>
                </a:solidFill>
                <a:latin typeface="Calibri" pitchFamily="34" charset="0"/>
                <a:ea typeface="Calibri" pitchFamily="34" charset="-122"/>
                <a:cs typeface="Calibri" pitchFamily="34" charset="-120"/>
              </a:rPr>
              <a:t>PARTIAL</a:t>
            </a:r>
            <a:endParaRPr lang="en-US" sz="950" dirty="0"/>
          </a:p>
        </p:txBody>
      </p:sp>
      <p:sp>
        <p:nvSpPr>
          <p:cNvPr id="38" name="Shape 36"/>
          <p:cNvSpPr/>
          <p:nvPr/>
        </p:nvSpPr>
        <p:spPr>
          <a:xfrm>
            <a:off x="571500" y="3829050"/>
            <a:ext cx="6667500" cy="400050"/>
          </a:xfrm>
          <a:prstGeom prst="roundRect">
            <a:avLst>
              <a:gd name="adj" fmla="val 9143"/>
            </a:avLst>
          </a:prstGeom>
          <a:solidFill>
            <a:srgbClr val="FFFFFF"/>
          </a:solidFill>
          <a:ln w="12700">
            <a:solidFill>
              <a:srgbClr val="D7E1EA"/>
            </a:solidFill>
            <a:prstDash val="solid"/>
          </a:ln>
        </p:spPr>
        <p:txBody>
          <a:bodyPr/>
          <a:lstStyle/>
          <a:p>
            <a:endParaRPr lang="en-IN"/>
          </a:p>
        </p:txBody>
      </p:sp>
      <p:sp>
        <p:nvSpPr>
          <p:cNvPr id="39" name="Text 37"/>
          <p:cNvSpPr/>
          <p:nvPr/>
        </p:nvSpPr>
        <p:spPr>
          <a:xfrm>
            <a:off x="704850" y="3933825"/>
            <a:ext cx="51435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mbria" pitchFamily="34" charset="0"/>
                <a:ea typeface="Cambria" pitchFamily="34" charset="-122"/>
                <a:cs typeface="Cambria" pitchFamily="34" charset="-120"/>
              </a:rPr>
              <a:t>M4</a:t>
            </a:r>
            <a:endParaRPr lang="en-US" sz="1300" dirty="0"/>
          </a:p>
        </p:txBody>
      </p:sp>
      <p:sp>
        <p:nvSpPr>
          <p:cNvPr id="40" name="Text 38"/>
          <p:cNvSpPr/>
          <p:nvPr/>
        </p:nvSpPr>
        <p:spPr>
          <a:xfrm>
            <a:off x="1276350" y="3876675"/>
            <a:ext cx="2667000" cy="1905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AI model development</a:t>
            </a:r>
            <a:endParaRPr lang="en-US" sz="1320" dirty="0"/>
          </a:p>
        </p:txBody>
      </p:sp>
      <p:sp>
        <p:nvSpPr>
          <p:cNvPr id="41" name="Text 39"/>
          <p:cNvSpPr/>
          <p:nvPr/>
        </p:nvSpPr>
        <p:spPr>
          <a:xfrm>
            <a:off x="1276350" y="4048125"/>
            <a:ext cx="4572000" cy="152400"/>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5B6B7C"/>
                </a:solidFill>
                <a:latin typeface="Calibri" pitchFamily="34" charset="0"/>
                <a:ea typeface="Calibri" pitchFamily="34" charset="-122"/>
                <a:cs typeface="Calibri" pitchFamily="34" charset="-120"/>
              </a:rPr>
              <a:t>Random Forest and Isolation Forest evaluated; not usable on available telemetry</a:t>
            </a:r>
            <a:endParaRPr lang="en-US" sz="1100" dirty="0"/>
          </a:p>
        </p:txBody>
      </p:sp>
      <p:sp>
        <p:nvSpPr>
          <p:cNvPr id="42" name="Shape 40"/>
          <p:cNvSpPr/>
          <p:nvPr/>
        </p:nvSpPr>
        <p:spPr>
          <a:xfrm>
            <a:off x="6096000" y="3914775"/>
            <a:ext cx="1009650" cy="228600"/>
          </a:xfrm>
          <a:prstGeom prst="roundRect">
            <a:avLst>
              <a:gd name="adj" fmla="val 16000"/>
            </a:avLst>
          </a:prstGeom>
          <a:solidFill>
            <a:srgbClr val="FFF3D6"/>
          </a:solidFill>
          <a:ln w="12700">
            <a:solidFill>
              <a:srgbClr val="C58B18"/>
            </a:solidFill>
            <a:prstDash val="solid"/>
          </a:ln>
        </p:spPr>
        <p:txBody>
          <a:bodyPr/>
          <a:lstStyle/>
          <a:p>
            <a:endParaRPr lang="en-IN"/>
          </a:p>
        </p:txBody>
      </p:sp>
      <p:sp>
        <p:nvSpPr>
          <p:cNvPr id="43" name="Text 41"/>
          <p:cNvSpPr/>
          <p:nvPr/>
        </p:nvSpPr>
        <p:spPr>
          <a:xfrm>
            <a:off x="6096000" y="3962400"/>
            <a:ext cx="1009650" cy="1524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C58B18"/>
                </a:solidFill>
                <a:latin typeface="Calibri" pitchFamily="34" charset="0"/>
                <a:ea typeface="Calibri" pitchFamily="34" charset="-122"/>
                <a:cs typeface="Calibri" pitchFamily="34" charset="-120"/>
              </a:rPr>
              <a:t>PARTIAL</a:t>
            </a:r>
            <a:endParaRPr lang="en-US" sz="950" dirty="0"/>
          </a:p>
        </p:txBody>
      </p:sp>
      <p:sp>
        <p:nvSpPr>
          <p:cNvPr id="44" name="Shape 42"/>
          <p:cNvSpPr/>
          <p:nvPr/>
        </p:nvSpPr>
        <p:spPr>
          <a:xfrm>
            <a:off x="571500" y="4286250"/>
            <a:ext cx="6667500" cy="400050"/>
          </a:xfrm>
          <a:prstGeom prst="roundRect">
            <a:avLst>
              <a:gd name="adj" fmla="val 9143"/>
            </a:avLst>
          </a:prstGeom>
          <a:solidFill>
            <a:srgbClr val="FFFFFF"/>
          </a:solidFill>
          <a:ln w="12700">
            <a:solidFill>
              <a:srgbClr val="D7E1EA"/>
            </a:solidFill>
            <a:prstDash val="solid"/>
          </a:ln>
        </p:spPr>
        <p:txBody>
          <a:bodyPr/>
          <a:lstStyle/>
          <a:p>
            <a:endParaRPr lang="en-IN"/>
          </a:p>
        </p:txBody>
      </p:sp>
      <p:sp>
        <p:nvSpPr>
          <p:cNvPr id="45" name="Text 43"/>
          <p:cNvSpPr/>
          <p:nvPr/>
        </p:nvSpPr>
        <p:spPr>
          <a:xfrm>
            <a:off x="704850" y="4391025"/>
            <a:ext cx="51435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mbria" pitchFamily="34" charset="0"/>
                <a:ea typeface="Cambria" pitchFamily="34" charset="-122"/>
                <a:cs typeface="Cambria" pitchFamily="34" charset="-120"/>
              </a:rPr>
              <a:t>M5</a:t>
            </a:r>
            <a:endParaRPr lang="en-US" sz="1300" dirty="0"/>
          </a:p>
        </p:txBody>
      </p:sp>
      <p:sp>
        <p:nvSpPr>
          <p:cNvPr id="46" name="Text 44"/>
          <p:cNvSpPr/>
          <p:nvPr/>
        </p:nvSpPr>
        <p:spPr>
          <a:xfrm>
            <a:off x="1276350" y="4333875"/>
            <a:ext cx="2667000" cy="1905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Healing logic integration</a:t>
            </a:r>
            <a:endParaRPr lang="en-US" sz="1320" dirty="0"/>
          </a:p>
        </p:txBody>
      </p:sp>
      <p:sp>
        <p:nvSpPr>
          <p:cNvPr id="47" name="Text 45"/>
          <p:cNvSpPr/>
          <p:nvPr/>
        </p:nvSpPr>
        <p:spPr>
          <a:xfrm>
            <a:off x="1276350" y="4505325"/>
            <a:ext cx="4572000" cy="152400"/>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5B6B7C"/>
                </a:solidFill>
                <a:latin typeface="Calibri" pitchFamily="34" charset="0"/>
                <a:ea typeface="Calibri" pitchFamily="34" charset="-122"/>
                <a:cs typeface="Calibri" pitchFamily="34" charset="-120"/>
              </a:rPr>
              <a:t>Decision engine evaluated; closed-loop healing not validated</a:t>
            </a:r>
            <a:endParaRPr lang="en-US" sz="1100" dirty="0"/>
          </a:p>
        </p:txBody>
      </p:sp>
      <p:sp>
        <p:nvSpPr>
          <p:cNvPr id="48" name="Shape 46"/>
          <p:cNvSpPr/>
          <p:nvPr/>
        </p:nvSpPr>
        <p:spPr>
          <a:xfrm>
            <a:off x="6096000" y="4371975"/>
            <a:ext cx="1009650" cy="228600"/>
          </a:xfrm>
          <a:prstGeom prst="roundRect">
            <a:avLst>
              <a:gd name="adj" fmla="val 16000"/>
            </a:avLst>
          </a:prstGeom>
          <a:solidFill>
            <a:srgbClr val="FFF3D6"/>
          </a:solidFill>
          <a:ln w="12700">
            <a:solidFill>
              <a:srgbClr val="C58B18"/>
            </a:solidFill>
            <a:prstDash val="solid"/>
          </a:ln>
        </p:spPr>
        <p:txBody>
          <a:bodyPr/>
          <a:lstStyle/>
          <a:p>
            <a:endParaRPr lang="en-IN"/>
          </a:p>
        </p:txBody>
      </p:sp>
      <p:sp>
        <p:nvSpPr>
          <p:cNvPr id="49" name="Text 47"/>
          <p:cNvSpPr/>
          <p:nvPr/>
        </p:nvSpPr>
        <p:spPr>
          <a:xfrm>
            <a:off x="6096000" y="4419600"/>
            <a:ext cx="1009650" cy="1524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C58B18"/>
                </a:solidFill>
                <a:latin typeface="Calibri" pitchFamily="34" charset="0"/>
                <a:ea typeface="Calibri" pitchFamily="34" charset="-122"/>
                <a:cs typeface="Calibri" pitchFamily="34" charset="-120"/>
              </a:rPr>
              <a:t>PARTIAL</a:t>
            </a:r>
            <a:endParaRPr lang="en-US" sz="950" dirty="0"/>
          </a:p>
        </p:txBody>
      </p:sp>
      <p:sp>
        <p:nvSpPr>
          <p:cNvPr id="50" name="Shape 48"/>
          <p:cNvSpPr/>
          <p:nvPr/>
        </p:nvSpPr>
        <p:spPr>
          <a:xfrm>
            <a:off x="571500" y="4743450"/>
            <a:ext cx="6667500" cy="400050"/>
          </a:xfrm>
          <a:prstGeom prst="roundRect">
            <a:avLst>
              <a:gd name="adj" fmla="val 9143"/>
            </a:avLst>
          </a:prstGeom>
          <a:solidFill>
            <a:srgbClr val="FFFFFF"/>
          </a:solidFill>
          <a:ln w="12700">
            <a:solidFill>
              <a:srgbClr val="D7E1EA"/>
            </a:solidFill>
            <a:prstDash val="solid"/>
          </a:ln>
        </p:spPr>
        <p:txBody>
          <a:bodyPr/>
          <a:lstStyle/>
          <a:p>
            <a:endParaRPr lang="en-IN"/>
          </a:p>
        </p:txBody>
      </p:sp>
      <p:sp>
        <p:nvSpPr>
          <p:cNvPr id="51" name="Text 49"/>
          <p:cNvSpPr/>
          <p:nvPr/>
        </p:nvSpPr>
        <p:spPr>
          <a:xfrm>
            <a:off x="704850" y="4848225"/>
            <a:ext cx="51435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mbria" pitchFamily="34" charset="0"/>
                <a:ea typeface="Cambria" pitchFamily="34" charset="-122"/>
                <a:cs typeface="Cambria" pitchFamily="34" charset="-120"/>
              </a:rPr>
              <a:t>M6a</a:t>
            </a:r>
            <a:endParaRPr lang="en-US" sz="1300" dirty="0"/>
          </a:p>
        </p:txBody>
      </p:sp>
      <p:sp>
        <p:nvSpPr>
          <p:cNvPr id="52" name="Text 50"/>
          <p:cNvSpPr/>
          <p:nvPr/>
        </p:nvSpPr>
        <p:spPr>
          <a:xfrm>
            <a:off x="1276350" y="4791075"/>
            <a:ext cx="2667000" cy="1905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Testing and evaluation</a:t>
            </a:r>
            <a:endParaRPr lang="en-US" sz="1320" dirty="0"/>
          </a:p>
        </p:txBody>
      </p:sp>
      <p:sp>
        <p:nvSpPr>
          <p:cNvPr id="53" name="Text 51"/>
          <p:cNvSpPr/>
          <p:nvPr/>
        </p:nvSpPr>
        <p:spPr>
          <a:xfrm>
            <a:off x="1276350" y="4962525"/>
            <a:ext cx="4572000" cy="152400"/>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5B6B7C"/>
                </a:solidFill>
                <a:latin typeface="Calibri" pitchFamily="34" charset="0"/>
                <a:ea typeface="Calibri" pitchFamily="34" charset="-122"/>
                <a:cs typeface="Calibri" pitchFamily="34" charset="-120"/>
              </a:rPr>
              <a:t>168-run campaign plus rule-versus-ML comparison</a:t>
            </a:r>
            <a:endParaRPr lang="en-US" sz="1100" dirty="0"/>
          </a:p>
        </p:txBody>
      </p:sp>
      <p:sp>
        <p:nvSpPr>
          <p:cNvPr id="54" name="Shape 52"/>
          <p:cNvSpPr/>
          <p:nvPr/>
        </p:nvSpPr>
        <p:spPr>
          <a:xfrm>
            <a:off x="6096000" y="4829175"/>
            <a:ext cx="1009650" cy="228600"/>
          </a:xfrm>
          <a:prstGeom prst="roundRect">
            <a:avLst>
              <a:gd name="adj" fmla="val 16000"/>
            </a:avLst>
          </a:prstGeom>
          <a:solidFill>
            <a:srgbClr val="E3F3EA"/>
          </a:solidFill>
          <a:ln w="12700">
            <a:solidFill>
              <a:srgbClr val="1E8E5A"/>
            </a:solidFill>
            <a:prstDash val="solid"/>
          </a:ln>
        </p:spPr>
        <p:txBody>
          <a:bodyPr/>
          <a:lstStyle/>
          <a:p>
            <a:endParaRPr lang="en-IN"/>
          </a:p>
        </p:txBody>
      </p:sp>
      <p:sp>
        <p:nvSpPr>
          <p:cNvPr id="55" name="Text 53"/>
          <p:cNvSpPr/>
          <p:nvPr/>
        </p:nvSpPr>
        <p:spPr>
          <a:xfrm>
            <a:off x="6096000" y="4876800"/>
            <a:ext cx="1009650" cy="1524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1E8E5A"/>
                </a:solidFill>
                <a:latin typeface="Calibri" pitchFamily="34" charset="0"/>
                <a:ea typeface="Calibri" pitchFamily="34" charset="-122"/>
                <a:cs typeface="Calibri" pitchFamily="34" charset="-120"/>
              </a:rPr>
              <a:t>DONE</a:t>
            </a:r>
            <a:endParaRPr lang="en-US" sz="950" dirty="0"/>
          </a:p>
        </p:txBody>
      </p:sp>
      <p:sp>
        <p:nvSpPr>
          <p:cNvPr id="56" name="Shape 54"/>
          <p:cNvSpPr/>
          <p:nvPr/>
        </p:nvSpPr>
        <p:spPr>
          <a:xfrm>
            <a:off x="571500" y="5200650"/>
            <a:ext cx="6667500" cy="400050"/>
          </a:xfrm>
          <a:prstGeom prst="roundRect">
            <a:avLst>
              <a:gd name="adj" fmla="val 9143"/>
            </a:avLst>
          </a:prstGeom>
          <a:solidFill>
            <a:srgbClr val="FFFFFF"/>
          </a:solidFill>
          <a:ln w="12700">
            <a:solidFill>
              <a:srgbClr val="D7E1EA"/>
            </a:solidFill>
            <a:prstDash val="solid"/>
          </a:ln>
        </p:spPr>
        <p:txBody>
          <a:bodyPr/>
          <a:lstStyle/>
          <a:p>
            <a:endParaRPr lang="en-IN"/>
          </a:p>
        </p:txBody>
      </p:sp>
      <p:sp>
        <p:nvSpPr>
          <p:cNvPr id="57" name="Text 55"/>
          <p:cNvSpPr/>
          <p:nvPr/>
        </p:nvSpPr>
        <p:spPr>
          <a:xfrm>
            <a:off x="704850" y="5305425"/>
            <a:ext cx="51435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1C7293"/>
                </a:solidFill>
                <a:latin typeface="Cambria" pitchFamily="34" charset="0"/>
                <a:ea typeface="Cambria" pitchFamily="34" charset="-122"/>
                <a:cs typeface="Cambria" pitchFamily="34" charset="-120"/>
              </a:rPr>
              <a:t>M6b</a:t>
            </a:r>
            <a:endParaRPr lang="en-US" sz="1300" dirty="0"/>
          </a:p>
        </p:txBody>
      </p:sp>
      <p:sp>
        <p:nvSpPr>
          <p:cNvPr id="58" name="Text 56"/>
          <p:cNvSpPr/>
          <p:nvPr/>
        </p:nvSpPr>
        <p:spPr>
          <a:xfrm>
            <a:off x="1276350" y="5248275"/>
            <a:ext cx="2667000" cy="19050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12263A"/>
                </a:solidFill>
                <a:latin typeface="Calibri" pitchFamily="34" charset="0"/>
                <a:ea typeface="Calibri" pitchFamily="34" charset="-122"/>
                <a:cs typeface="Calibri" pitchFamily="34" charset="-120"/>
              </a:rPr>
              <a:t>Paper and IP draft</a:t>
            </a:r>
            <a:endParaRPr lang="en-US" sz="1320" dirty="0"/>
          </a:p>
        </p:txBody>
      </p:sp>
      <p:sp>
        <p:nvSpPr>
          <p:cNvPr id="59" name="Text 57"/>
          <p:cNvSpPr/>
          <p:nvPr/>
        </p:nvSpPr>
        <p:spPr>
          <a:xfrm>
            <a:off x="1276350" y="5419725"/>
            <a:ext cx="4572000" cy="152400"/>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5B6B7C"/>
                </a:solidFill>
                <a:latin typeface="Calibri" pitchFamily="34" charset="0"/>
                <a:ea typeface="Calibri" pitchFamily="34" charset="-122"/>
                <a:cs typeface="Calibri" pitchFamily="34" charset="-120"/>
              </a:rPr>
              <a:t>Publication and patent disclosure</a:t>
            </a:r>
            <a:endParaRPr lang="en-US" sz="1100" dirty="0"/>
          </a:p>
        </p:txBody>
      </p:sp>
      <p:sp>
        <p:nvSpPr>
          <p:cNvPr id="60" name="Shape 58"/>
          <p:cNvSpPr/>
          <p:nvPr/>
        </p:nvSpPr>
        <p:spPr>
          <a:xfrm>
            <a:off x="6096000" y="5286375"/>
            <a:ext cx="1009650" cy="228600"/>
          </a:xfrm>
          <a:prstGeom prst="roundRect">
            <a:avLst>
              <a:gd name="adj" fmla="val 16000"/>
            </a:avLst>
          </a:prstGeom>
          <a:solidFill>
            <a:srgbClr val="EEF1F4"/>
          </a:solidFill>
          <a:ln w="12700">
            <a:solidFill>
              <a:srgbClr val="5B6B7C"/>
            </a:solidFill>
            <a:prstDash val="solid"/>
          </a:ln>
        </p:spPr>
        <p:txBody>
          <a:bodyPr/>
          <a:lstStyle/>
          <a:p>
            <a:endParaRPr lang="en-IN"/>
          </a:p>
        </p:txBody>
      </p:sp>
      <p:sp>
        <p:nvSpPr>
          <p:cNvPr id="61" name="Text 59"/>
          <p:cNvSpPr/>
          <p:nvPr/>
        </p:nvSpPr>
        <p:spPr>
          <a:xfrm>
            <a:off x="6096000" y="5334000"/>
            <a:ext cx="1009650" cy="152400"/>
          </a:xfrm>
          <a:prstGeom prst="rect">
            <a:avLst/>
          </a:prstGeom>
          <a:noFill/>
          <a:ln/>
        </p:spPr>
        <p:txBody>
          <a:bodyPr wrap="square" lIns="0" tIns="0" rIns="0" bIns="0" rtlCol="0" anchor="t">
            <a:normAutofit/>
          </a:bodyPr>
          <a:lstStyle/>
          <a:p>
            <a:pPr marL="0" indent="0" algn="ctr">
              <a:lnSpc>
                <a:spcPct val="100000"/>
              </a:lnSpc>
              <a:buNone/>
            </a:pPr>
            <a:r>
              <a:rPr lang="en-US" sz="950" b="1" dirty="0">
                <a:solidFill>
                  <a:srgbClr val="5B6B7C"/>
                </a:solidFill>
                <a:latin typeface="Calibri" pitchFamily="34" charset="0"/>
                <a:ea typeface="Calibri" pitchFamily="34" charset="-122"/>
                <a:cs typeface="Calibri" pitchFamily="34" charset="-120"/>
              </a:rPr>
              <a:t>NOT STARTED</a:t>
            </a:r>
            <a:endParaRPr lang="en-US" sz="950" dirty="0"/>
          </a:p>
        </p:txBody>
      </p:sp>
      <p:sp>
        <p:nvSpPr>
          <p:cNvPr id="62" name="Shape 60"/>
          <p:cNvSpPr/>
          <p:nvPr/>
        </p:nvSpPr>
        <p:spPr>
          <a:xfrm>
            <a:off x="7524750" y="1866900"/>
            <a:ext cx="4095750" cy="3790950"/>
          </a:xfrm>
          <a:prstGeom prst="roundRect">
            <a:avLst>
              <a:gd name="adj" fmla="val 965"/>
            </a:avLst>
          </a:prstGeom>
          <a:solidFill>
            <a:srgbClr val="0E2440"/>
          </a:solidFill>
          <a:ln w="12700">
            <a:solidFill>
              <a:srgbClr val="0E2440"/>
            </a:solidFill>
            <a:prstDash val="solid"/>
          </a:ln>
        </p:spPr>
        <p:txBody>
          <a:bodyPr/>
          <a:lstStyle/>
          <a:p>
            <a:endParaRPr lang="en-IN"/>
          </a:p>
        </p:txBody>
      </p:sp>
      <p:sp>
        <p:nvSpPr>
          <p:cNvPr id="63" name="Text 61"/>
          <p:cNvSpPr/>
          <p:nvPr/>
        </p:nvSpPr>
        <p:spPr>
          <a:xfrm>
            <a:off x="7753350" y="2057400"/>
            <a:ext cx="3714750" cy="19050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C58B18"/>
                </a:solidFill>
                <a:latin typeface="Calibri" pitchFamily="34" charset="0"/>
                <a:ea typeface="Calibri" pitchFamily="34" charset="-122"/>
                <a:cs typeface="Calibri" pitchFamily="34" charset="-120"/>
              </a:rPr>
              <a:t>WORKLET OBJECTIVES NOT YET ADDRESSED</a:t>
            </a:r>
            <a:endParaRPr lang="en-US" sz="1150" dirty="0"/>
          </a:p>
        </p:txBody>
      </p:sp>
      <p:sp>
        <p:nvSpPr>
          <p:cNvPr id="64" name="Text 62"/>
          <p:cNvSpPr/>
          <p:nvPr/>
        </p:nvSpPr>
        <p:spPr>
          <a:xfrm>
            <a:off x="7753350" y="2381250"/>
            <a:ext cx="2286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C58B18"/>
                </a:solidFill>
                <a:latin typeface="Cambria" pitchFamily="34" charset="0"/>
                <a:ea typeface="Cambria" pitchFamily="34" charset="-122"/>
                <a:cs typeface="Cambria" pitchFamily="34" charset="-120"/>
              </a:rPr>
              <a:t>1</a:t>
            </a:r>
            <a:endParaRPr lang="en-US" sz="1300" dirty="0"/>
          </a:p>
        </p:txBody>
      </p:sp>
      <p:sp>
        <p:nvSpPr>
          <p:cNvPr id="65" name="Text 63"/>
          <p:cNvSpPr/>
          <p:nvPr/>
        </p:nvSpPr>
        <p:spPr>
          <a:xfrm>
            <a:off x="8039100" y="2381250"/>
            <a:ext cx="3390900" cy="20955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FFFFFF"/>
                </a:solidFill>
                <a:latin typeface="Cambria" pitchFamily="34" charset="0"/>
                <a:ea typeface="Cambria" pitchFamily="34" charset="-122"/>
                <a:cs typeface="Cambria" pitchFamily="34" charset="-120"/>
              </a:rPr>
              <a:t>Fault prediction</a:t>
            </a:r>
            <a:endParaRPr lang="en-US" sz="1500" dirty="0"/>
          </a:p>
        </p:txBody>
      </p:sp>
      <p:sp>
        <p:nvSpPr>
          <p:cNvPr id="66" name="Text 64"/>
          <p:cNvSpPr/>
          <p:nvPr/>
        </p:nvSpPr>
        <p:spPr>
          <a:xfrm>
            <a:off x="8039100" y="2609850"/>
            <a:ext cx="3390900" cy="55245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CFD9E5"/>
                </a:solidFill>
                <a:latin typeface="Calibri" pitchFamily="34" charset="0"/>
                <a:ea typeface="Calibri" pitchFamily="34" charset="-122"/>
                <a:cs typeface="Calibri" pitchFamily="34" charset="-120"/>
              </a:rPr>
              <a:t>Prediction before service disruption was not attempted in this campaign.</a:t>
            </a:r>
            <a:endParaRPr lang="en-US" sz="1200" dirty="0"/>
          </a:p>
        </p:txBody>
      </p:sp>
      <p:sp>
        <p:nvSpPr>
          <p:cNvPr id="67" name="Text 65"/>
          <p:cNvSpPr/>
          <p:nvPr/>
        </p:nvSpPr>
        <p:spPr>
          <a:xfrm>
            <a:off x="7753350" y="3200400"/>
            <a:ext cx="2286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C58B18"/>
                </a:solidFill>
                <a:latin typeface="Cambria" pitchFamily="34" charset="0"/>
                <a:ea typeface="Cambria" pitchFamily="34" charset="-122"/>
                <a:cs typeface="Cambria" pitchFamily="34" charset="-120"/>
              </a:rPr>
              <a:t>2</a:t>
            </a:r>
            <a:endParaRPr lang="en-US" sz="1300" dirty="0"/>
          </a:p>
        </p:txBody>
      </p:sp>
      <p:sp>
        <p:nvSpPr>
          <p:cNvPr id="68" name="Text 66"/>
          <p:cNvSpPr/>
          <p:nvPr/>
        </p:nvSpPr>
        <p:spPr>
          <a:xfrm>
            <a:off x="8039100" y="3200400"/>
            <a:ext cx="3390900" cy="20955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FFFFFF"/>
                </a:solidFill>
                <a:latin typeface="Cambria" pitchFamily="34" charset="0"/>
                <a:ea typeface="Cambria" pitchFamily="34" charset="-122"/>
                <a:cs typeface="Cambria" pitchFamily="34" charset="-120"/>
              </a:rPr>
              <a:t>Automated corrective action</a:t>
            </a:r>
            <a:endParaRPr lang="en-US" sz="1500" dirty="0"/>
          </a:p>
        </p:txBody>
      </p:sp>
      <p:sp>
        <p:nvSpPr>
          <p:cNvPr id="69" name="Text 67"/>
          <p:cNvSpPr/>
          <p:nvPr/>
        </p:nvSpPr>
        <p:spPr>
          <a:xfrm>
            <a:off x="8039100" y="3429000"/>
            <a:ext cx="3390900" cy="55245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CFD9E5"/>
                </a:solidFill>
                <a:latin typeface="Calibri" pitchFamily="34" charset="0"/>
                <a:ea typeface="Calibri" pitchFamily="34" charset="-122"/>
                <a:cs typeface="Calibri" pitchFamily="34" charset="-120"/>
              </a:rPr>
              <a:t>None in the 168-run campaign; a 13 Sep pilot ran a triggered port failover (5/5 vs 0/5).</a:t>
            </a:r>
            <a:endParaRPr lang="en-US" sz="1200" dirty="0"/>
          </a:p>
        </p:txBody>
      </p:sp>
      <p:sp>
        <p:nvSpPr>
          <p:cNvPr id="70" name="Text 68"/>
          <p:cNvSpPr/>
          <p:nvPr/>
        </p:nvSpPr>
        <p:spPr>
          <a:xfrm>
            <a:off x="7753350" y="4019550"/>
            <a:ext cx="2286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C58B18"/>
                </a:solidFill>
                <a:latin typeface="Cambria" pitchFamily="34" charset="0"/>
                <a:ea typeface="Cambria" pitchFamily="34" charset="-122"/>
                <a:cs typeface="Cambria" pitchFamily="34" charset="-120"/>
              </a:rPr>
              <a:t>3</a:t>
            </a:r>
            <a:endParaRPr lang="en-US" sz="1300" dirty="0"/>
          </a:p>
        </p:txBody>
      </p:sp>
      <p:sp>
        <p:nvSpPr>
          <p:cNvPr id="71" name="Text 69"/>
          <p:cNvSpPr/>
          <p:nvPr/>
        </p:nvSpPr>
        <p:spPr>
          <a:xfrm>
            <a:off x="8039100" y="4019550"/>
            <a:ext cx="3390900" cy="20955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FFFFFF"/>
                </a:solidFill>
                <a:latin typeface="Cambria" pitchFamily="34" charset="0"/>
                <a:ea typeface="Cambria" pitchFamily="34" charset="-122"/>
                <a:cs typeface="Cambria" pitchFamily="34" charset="-120"/>
              </a:rPr>
              <a:t>Digital-twin validation</a:t>
            </a:r>
            <a:endParaRPr lang="en-US" sz="1500" dirty="0"/>
          </a:p>
        </p:txBody>
      </p:sp>
      <p:sp>
        <p:nvSpPr>
          <p:cNvPr id="72" name="Text 70"/>
          <p:cNvSpPr/>
          <p:nvPr/>
        </p:nvSpPr>
        <p:spPr>
          <a:xfrm>
            <a:off x="8039100" y="4248150"/>
            <a:ext cx="3390900" cy="55245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CFD9E5"/>
                </a:solidFill>
                <a:latin typeface="Calibri" pitchFamily="34" charset="0"/>
                <a:ea typeface="Calibri" pitchFamily="34" charset="-122"/>
                <a:cs typeface="Calibri" pitchFamily="34" charset="-120"/>
              </a:rPr>
              <a:t>The digital twin was not exercised; fault injection ran directly on the testbed.</a:t>
            </a:r>
            <a:endParaRPr lang="en-US" sz="1200" dirty="0"/>
          </a:p>
        </p:txBody>
      </p:sp>
      <p:sp>
        <p:nvSpPr>
          <p:cNvPr id="73" name="Text 71"/>
          <p:cNvSpPr/>
          <p:nvPr/>
        </p:nvSpPr>
        <p:spPr>
          <a:xfrm>
            <a:off x="7753350" y="4838700"/>
            <a:ext cx="228600" cy="190500"/>
          </a:xfrm>
          <a:prstGeom prst="rect">
            <a:avLst/>
          </a:prstGeom>
          <a:noFill/>
          <a:ln/>
        </p:spPr>
        <p:txBody>
          <a:bodyPr wrap="square" lIns="0" tIns="0" rIns="0" bIns="0" rtlCol="0" anchor="t">
            <a:normAutofit/>
          </a:bodyPr>
          <a:lstStyle/>
          <a:p>
            <a:pPr marL="0" indent="0" algn="l">
              <a:lnSpc>
                <a:spcPct val="100000"/>
              </a:lnSpc>
              <a:buNone/>
            </a:pPr>
            <a:r>
              <a:rPr lang="en-US" sz="1300" b="1" dirty="0">
                <a:solidFill>
                  <a:srgbClr val="C58B18"/>
                </a:solidFill>
                <a:latin typeface="Cambria" pitchFamily="34" charset="0"/>
                <a:ea typeface="Cambria" pitchFamily="34" charset="-122"/>
                <a:cs typeface="Cambria" pitchFamily="34" charset="-120"/>
              </a:rPr>
              <a:t>4</a:t>
            </a:r>
            <a:endParaRPr lang="en-US" sz="1300" dirty="0"/>
          </a:p>
        </p:txBody>
      </p:sp>
      <p:sp>
        <p:nvSpPr>
          <p:cNvPr id="74" name="Text 72"/>
          <p:cNvSpPr/>
          <p:nvPr/>
        </p:nvSpPr>
        <p:spPr>
          <a:xfrm>
            <a:off x="8039100" y="4838700"/>
            <a:ext cx="3390900" cy="20955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FFFFFF"/>
                </a:solidFill>
                <a:latin typeface="Cambria" pitchFamily="34" charset="0"/>
                <a:ea typeface="Cambria" pitchFamily="34" charset="-122"/>
                <a:cs typeface="Cambria" pitchFamily="34" charset="-120"/>
              </a:rPr>
              <a:t>Outcome metrics</a:t>
            </a:r>
            <a:endParaRPr lang="en-US" sz="1500" dirty="0"/>
          </a:p>
        </p:txBody>
      </p:sp>
      <p:sp>
        <p:nvSpPr>
          <p:cNvPr id="75" name="Text 73"/>
          <p:cNvSpPr/>
          <p:nvPr/>
        </p:nvSpPr>
        <p:spPr>
          <a:xfrm>
            <a:off x="8039100" y="5067300"/>
            <a:ext cx="3390900" cy="55245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CFD9E5"/>
                </a:solidFill>
                <a:latin typeface="Calibri" pitchFamily="34" charset="0"/>
                <a:ea typeface="Calibri" pitchFamily="34" charset="-122"/>
                <a:cs typeface="Calibri" pitchFamily="34" charset="-120"/>
              </a:rPr>
              <a:t>No MTTR, recovery-time, availability or downtime figure was measured on this testbed.</a:t>
            </a:r>
            <a:endParaRPr lang="en-US" sz="1200" dirty="0"/>
          </a:p>
        </p:txBody>
      </p:sp>
      <p:sp>
        <p:nvSpPr>
          <p:cNvPr id="76" name="Shape 74"/>
          <p:cNvSpPr/>
          <p:nvPr/>
        </p:nvSpPr>
        <p:spPr>
          <a:xfrm>
            <a:off x="571500" y="5848350"/>
            <a:ext cx="11049000" cy="628650"/>
          </a:xfrm>
          <a:prstGeom prst="roundRect">
            <a:avLst>
              <a:gd name="adj" fmla="val 5818"/>
            </a:avLst>
          </a:prstGeom>
          <a:solidFill>
            <a:srgbClr val="FFF8E8"/>
          </a:solidFill>
          <a:ln w="12700">
            <a:solidFill>
              <a:srgbClr val="C58B18"/>
            </a:solidFill>
            <a:prstDash val="solid"/>
          </a:ln>
        </p:spPr>
        <p:txBody>
          <a:bodyPr/>
          <a:lstStyle/>
          <a:p>
            <a:endParaRPr lang="en-IN"/>
          </a:p>
        </p:txBody>
      </p:sp>
      <p:sp>
        <p:nvSpPr>
          <p:cNvPr id="77" name="Text 75"/>
          <p:cNvSpPr/>
          <p:nvPr/>
        </p:nvSpPr>
        <p:spPr>
          <a:xfrm>
            <a:off x="781050" y="5991225"/>
            <a:ext cx="1809750" cy="238125"/>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C58B18"/>
                </a:solidFill>
                <a:latin typeface="Cambria" pitchFamily="34" charset="0"/>
                <a:ea typeface="Cambria" pitchFamily="34" charset="-122"/>
                <a:cs typeface="Cambria" pitchFamily="34" charset="-120"/>
              </a:rPr>
              <a:t>Next gate</a:t>
            </a:r>
            <a:endParaRPr lang="en-US" sz="1600" dirty="0"/>
          </a:p>
        </p:txBody>
      </p:sp>
      <p:sp>
        <p:nvSpPr>
          <p:cNvPr id="78" name="Text 76"/>
          <p:cNvSpPr/>
          <p:nvPr/>
        </p:nvSpPr>
        <p:spPr>
          <a:xfrm>
            <a:off x="2781300" y="5972175"/>
            <a:ext cx="8629650" cy="400050"/>
          </a:xfrm>
          <a:prstGeom prst="rect">
            <a:avLst/>
          </a:prstGeom>
          <a:noFill/>
          <a:ln/>
        </p:spPr>
        <p:txBody>
          <a:bodyPr wrap="square" lIns="0" tIns="0" rIns="0" bIns="0" rtlCol="0" anchor="t">
            <a:normAutofit/>
          </a:bodyPr>
          <a:lstStyle/>
          <a:p>
            <a:pPr marL="0" indent="0" algn="l">
              <a:lnSpc>
                <a:spcPct val="100000"/>
              </a:lnSpc>
              <a:buNone/>
            </a:pPr>
            <a:r>
              <a:rPr lang="en-US" sz="1220" b="1" dirty="0">
                <a:solidFill>
                  <a:srgbClr val="12263A"/>
                </a:solidFill>
                <a:latin typeface="Calibri" pitchFamily="34" charset="0"/>
                <a:ea typeface="Calibri" pitchFamily="34" charset="-122"/>
                <a:cs typeface="Calibri" pitchFamily="34" charset="-120"/>
              </a:rPr>
              <a:t>The missing objectives must be executed and their recovery outcomes measured before any self-healing claim is made. The work reported here establishes detection and classification, which is the prerequisite for them.</a:t>
            </a:r>
            <a:endParaRPr lang="en-US" sz="122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209550"/>
            <a:ext cx="11049000" cy="228600"/>
          </a:xfrm>
          <a:prstGeom prst="rect">
            <a:avLst/>
          </a:prstGeom>
          <a:noFill/>
          <a:ln/>
        </p:spPr>
        <p:txBody>
          <a:bodyPr wrap="square" lIns="0" tIns="0" rIns="0" bIns="0" rtlCol="0" anchor="t">
            <a:normAutofit/>
          </a:bodyPr>
          <a:lstStyle/>
          <a:p>
            <a:pPr marL="0" indent="0" algn="l">
              <a:lnSpc>
                <a:spcPct val="100000"/>
              </a:lnSpc>
              <a:buNone/>
            </a:pPr>
            <a:r>
              <a:rPr lang="en-US" sz="1280" b="1" dirty="0">
                <a:solidFill>
                  <a:srgbClr val="1C7293"/>
                </a:solidFill>
                <a:latin typeface="Calibri" pitchFamily="34" charset="0"/>
                <a:ea typeface="Calibri" pitchFamily="34" charset="-122"/>
                <a:cs typeface="Calibri" pitchFamily="34" charset="-120"/>
              </a:rPr>
              <a:t>RESOLUTION PLAN</a:t>
            </a:r>
            <a:endParaRPr lang="en-US" sz="1280" dirty="0"/>
          </a:p>
        </p:txBody>
      </p:sp>
      <p:sp>
        <p:nvSpPr>
          <p:cNvPr id="5" name="Text 3"/>
          <p:cNvSpPr/>
          <p:nvPr/>
        </p:nvSpPr>
        <p:spPr>
          <a:xfrm>
            <a:off x="571500" y="447675"/>
            <a:ext cx="11049000" cy="552450"/>
          </a:xfrm>
          <a:prstGeom prst="rect">
            <a:avLst/>
          </a:prstGeom>
          <a:noFill/>
          <a:ln/>
        </p:spPr>
        <p:txBody>
          <a:bodyPr wrap="square" lIns="0" tIns="0" rIns="0" bIns="0" rtlCol="0" anchor="t">
            <a:normAutofit/>
          </a:bodyPr>
          <a:lstStyle/>
          <a:p>
            <a:pPr marL="0" indent="0" algn="l">
              <a:lnSpc>
                <a:spcPct val="100000"/>
              </a:lnSpc>
              <a:buNone/>
            </a:pPr>
            <a:r>
              <a:rPr lang="en-US" sz="3500" b="1" dirty="0">
                <a:solidFill>
                  <a:srgbClr val="12263A"/>
                </a:solidFill>
                <a:latin typeface="Cambria" pitchFamily="34" charset="0"/>
                <a:ea typeface="Cambria" pitchFamily="34" charset="-122"/>
                <a:cs typeface="Cambria" pitchFamily="34" charset="-120"/>
              </a:rPr>
              <a:t>Remaining Work: Software and Hardware</a:t>
            </a:r>
            <a:endParaRPr lang="en-US" sz="3500" dirty="0"/>
          </a:p>
        </p:txBody>
      </p:sp>
      <p:sp>
        <p:nvSpPr>
          <p:cNvPr id="6" name="Shape 4"/>
          <p:cNvSpPr/>
          <p:nvPr/>
        </p:nvSpPr>
        <p:spPr>
          <a:xfrm>
            <a:off x="571500" y="1057275"/>
            <a:ext cx="11049000" cy="438150"/>
          </a:xfrm>
          <a:prstGeom prst="roundRect">
            <a:avLst>
              <a:gd name="adj" fmla="val 8348"/>
            </a:avLst>
          </a:prstGeom>
          <a:solidFill>
            <a:srgbClr val="EAF2F8"/>
          </a:solidFill>
          <a:ln w="12700">
            <a:solidFill>
              <a:srgbClr val="D7E1EA"/>
            </a:solidFill>
            <a:prstDash val="solid"/>
          </a:ln>
        </p:spPr>
        <p:txBody>
          <a:bodyPr/>
          <a:lstStyle/>
          <a:p>
            <a:endParaRPr lang="en-IN"/>
          </a:p>
        </p:txBody>
      </p:sp>
      <p:sp>
        <p:nvSpPr>
          <p:cNvPr id="7" name="Text 5"/>
          <p:cNvSpPr/>
          <p:nvPr/>
        </p:nvSpPr>
        <p:spPr>
          <a:xfrm>
            <a:off x="723900" y="1123950"/>
            <a:ext cx="10744200" cy="323850"/>
          </a:xfrm>
          <a:prstGeom prst="rect">
            <a:avLst/>
          </a:prstGeom>
          <a:noFill/>
          <a:ln/>
        </p:spPr>
        <p:txBody>
          <a:bodyPr wrap="square" lIns="0" tIns="0" rIns="0" bIns="0" rtlCol="0" anchor="t">
            <a:normAutofit/>
          </a:bodyPr>
          <a:lstStyle/>
          <a:p>
            <a:pPr marL="0" indent="0" algn="l">
              <a:lnSpc>
                <a:spcPct val="102000"/>
              </a:lnSpc>
              <a:buNone/>
            </a:pPr>
            <a:r>
              <a:rPr lang="en-US" sz="1120" dirty="0">
                <a:solidFill>
                  <a:srgbClr val="5B6B7C"/>
                </a:solidFill>
                <a:latin typeface="Calibri" pitchFamily="34" charset="0"/>
                <a:ea typeface="Calibri" pitchFamily="34" charset="-122"/>
                <a:cs typeface="Calibri" pitchFamily="34" charset="-120"/>
              </a:rPr>
              <a:t>Software items are actionable on the existing testbed  |  Hardware items require equipment not present in a software-only environment  |  Each item maps to a limitation stated on the preceding slides</a:t>
            </a:r>
            <a:endParaRPr lang="en-US" sz="1120" dirty="0"/>
          </a:p>
        </p:txBody>
      </p:sp>
      <p:sp>
        <p:nvSpPr>
          <p:cNvPr id="8" name="Shape 6"/>
          <p:cNvSpPr/>
          <p:nvPr/>
        </p:nvSpPr>
        <p:spPr>
          <a:xfrm>
            <a:off x="571500" y="1638300"/>
            <a:ext cx="5381625" cy="400050"/>
          </a:xfrm>
          <a:prstGeom prst="roundRect">
            <a:avLst>
              <a:gd name="adj" fmla="val 9143"/>
            </a:avLst>
          </a:prstGeom>
          <a:solidFill>
            <a:srgbClr val="0E2440"/>
          </a:solidFill>
          <a:ln w="12700">
            <a:solidFill>
              <a:srgbClr val="0E2440"/>
            </a:solidFill>
            <a:prstDash val="solid"/>
          </a:ln>
        </p:spPr>
        <p:txBody>
          <a:bodyPr/>
          <a:lstStyle/>
          <a:p>
            <a:endParaRPr lang="en-IN"/>
          </a:p>
        </p:txBody>
      </p:sp>
      <p:sp>
        <p:nvSpPr>
          <p:cNvPr id="9" name="Text 7"/>
          <p:cNvSpPr/>
          <p:nvPr/>
        </p:nvSpPr>
        <p:spPr>
          <a:xfrm>
            <a:off x="800100" y="1752600"/>
            <a:ext cx="47625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18B89A"/>
                </a:solidFill>
                <a:latin typeface="Calibri" pitchFamily="34" charset="0"/>
                <a:ea typeface="Calibri" pitchFamily="34" charset="-122"/>
                <a:cs typeface="Calibri" pitchFamily="34" charset="-120"/>
              </a:rPr>
              <a:t>SOFTWARE — ACTIONABLE IMMEDIATELY</a:t>
            </a:r>
            <a:endParaRPr lang="en-US" sz="1200" dirty="0"/>
          </a:p>
        </p:txBody>
      </p:sp>
      <p:sp>
        <p:nvSpPr>
          <p:cNvPr id="10" name="Shape 8"/>
          <p:cNvSpPr/>
          <p:nvPr/>
        </p:nvSpPr>
        <p:spPr>
          <a:xfrm>
            <a:off x="571500" y="2133600"/>
            <a:ext cx="5381625" cy="762000"/>
          </a:xfrm>
          <a:prstGeom prst="roundRect">
            <a:avLst>
              <a:gd name="adj" fmla="val 4800"/>
            </a:avLst>
          </a:prstGeom>
          <a:solidFill>
            <a:srgbClr val="FFFFFF"/>
          </a:solidFill>
          <a:ln w="12700">
            <a:solidFill>
              <a:srgbClr val="D7E1EA"/>
            </a:solidFill>
            <a:prstDash val="solid"/>
          </a:ln>
        </p:spPr>
        <p:txBody>
          <a:bodyPr/>
          <a:lstStyle/>
          <a:p>
            <a:endParaRPr lang="en-IN"/>
          </a:p>
        </p:txBody>
      </p:sp>
      <p:sp>
        <p:nvSpPr>
          <p:cNvPr id="11" name="Shape 9"/>
          <p:cNvSpPr/>
          <p:nvPr/>
        </p:nvSpPr>
        <p:spPr>
          <a:xfrm>
            <a:off x="571500" y="2133600"/>
            <a:ext cx="38100" cy="762000"/>
          </a:xfrm>
          <a:prstGeom prst="rect">
            <a:avLst/>
          </a:prstGeom>
          <a:solidFill>
            <a:srgbClr val="18B89A"/>
          </a:solidFill>
          <a:ln/>
        </p:spPr>
        <p:txBody>
          <a:bodyPr/>
          <a:lstStyle/>
          <a:p>
            <a:endParaRPr lang="en-IN"/>
          </a:p>
        </p:txBody>
      </p:sp>
      <p:sp>
        <p:nvSpPr>
          <p:cNvPr id="12" name="Text 10"/>
          <p:cNvSpPr/>
          <p:nvPr/>
        </p:nvSpPr>
        <p:spPr>
          <a:xfrm>
            <a:off x="800100" y="2228850"/>
            <a:ext cx="476250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Rogue-BC clause fix</a:t>
            </a:r>
            <a:endParaRPr lang="en-US" sz="1400" dirty="0"/>
          </a:p>
        </p:txBody>
      </p:sp>
      <p:sp>
        <p:nvSpPr>
          <p:cNvPr id="13" name="Text 11"/>
          <p:cNvSpPr/>
          <p:nvPr/>
        </p:nvSpPr>
        <p:spPr>
          <a:xfrm>
            <a:off x="800100" y="2457450"/>
            <a:ext cx="4953000" cy="400050"/>
          </a:xfrm>
          <a:prstGeom prst="rect">
            <a:avLst/>
          </a:prstGeom>
          <a:noFill/>
          <a:ln/>
        </p:spPr>
        <p:txBody>
          <a:bodyPr wrap="square" lIns="0" tIns="0" rIns="0" bIns="0" rtlCol="0" anchor="t">
            <a:normAutofit fontScale="85000" lnSpcReduction="20000"/>
          </a:bodyPr>
          <a:lstStyle/>
          <a:p>
            <a:pPr marL="0" indent="0" algn="l">
              <a:lnSpc>
                <a:spcPct val="100000"/>
              </a:lnSpc>
              <a:buNone/>
            </a:pPr>
            <a:r>
              <a:rPr lang="en-US" sz="1180" dirty="0">
                <a:solidFill>
                  <a:srgbClr val="5B6B7C"/>
                </a:solidFill>
                <a:latin typeface="Calibri" pitchFamily="34" charset="0"/>
                <a:ea typeface="Calibri" pitchFamily="34" charset="-122"/>
                <a:cs typeface="Calibri" pitchFamily="34" charset="-120"/>
              </a:rPr>
              <a:t>Make the base rule's rogue-BC clause read the already-provisioned replacement identity, then re-freeze and re-run. Expected to raise specificity toward 0.979.</a:t>
            </a:r>
            <a:endParaRPr lang="en-US" sz="1180" dirty="0"/>
          </a:p>
        </p:txBody>
      </p:sp>
      <p:sp>
        <p:nvSpPr>
          <p:cNvPr id="14" name="Shape 12"/>
          <p:cNvSpPr/>
          <p:nvPr/>
        </p:nvSpPr>
        <p:spPr>
          <a:xfrm>
            <a:off x="571500" y="2952750"/>
            <a:ext cx="5381625" cy="762000"/>
          </a:xfrm>
          <a:prstGeom prst="roundRect">
            <a:avLst>
              <a:gd name="adj" fmla="val 4800"/>
            </a:avLst>
          </a:prstGeom>
          <a:solidFill>
            <a:srgbClr val="FFFFFF"/>
          </a:solidFill>
          <a:ln w="12700">
            <a:solidFill>
              <a:srgbClr val="D7E1EA"/>
            </a:solidFill>
            <a:prstDash val="solid"/>
          </a:ln>
        </p:spPr>
        <p:txBody>
          <a:bodyPr/>
          <a:lstStyle/>
          <a:p>
            <a:endParaRPr lang="en-IN"/>
          </a:p>
        </p:txBody>
      </p:sp>
      <p:sp>
        <p:nvSpPr>
          <p:cNvPr id="15" name="Shape 13"/>
          <p:cNvSpPr/>
          <p:nvPr/>
        </p:nvSpPr>
        <p:spPr>
          <a:xfrm>
            <a:off x="571500" y="2952750"/>
            <a:ext cx="38100" cy="762000"/>
          </a:xfrm>
          <a:prstGeom prst="rect">
            <a:avLst/>
          </a:prstGeom>
          <a:solidFill>
            <a:srgbClr val="18B89A"/>
          </a:solidFill>
          <a:ln/>
        </p:spPr>
        <p:txBody>
          <a:bodyPr/>
          <a:lstStyle/>
          <a:p>
            <a:endParaRPr lang="en-IN"/>
          </a:p>
        </p:txBody>
      </p:sp>
      <p:sp>
        <p:nvSpPr>
          <p:cNvPr id="16" name="Text 14"/>
          <p:cNvSpPr/>
          <p:nvPr/>
        </p:nvSpPr>
        <p:spPr>
          <a:xfrm>
            <a:off x="800100" y="3048000"/>
            <a:ext cx="476250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Finer interception sweep</a:t>
            </a:r>
            <a:endParaRPr lang="en-US" sz="1400" dirty="0"/>
          </a:p>
        </p:txBody>
      </p:sp>
      <p:sp>
        <p:nvSpPr>
          <p:cNvPr id="17" name="Text 15"/>
          <p:cNvSpPr/>
          <p:nvPr/>
        </p:nvSpPr>
        <p:spPr>
          <a:xfrm>
            <a:off x="800100" y="3276600"/>
            <a:ext cx="4953000" cy="400050"/>
          </a:xfrm>
          <a:prstGeom prst="rect">
            <a:avLst/>
          </a:prstGeom>
          <a:noFill/>
          <a:ln/>
        </p:spPr>
        <p:txBody>
          <a:bodyPr wrap="square" lIns="0" tIns="0" rIns="0" bIns="0" rtlCol="0" anchor="t">
            <a:normAutofit/>
          </a:bodyPr>
          <a:lstStyle/>
          <a:p>
            <a:pPr marL="0" indent="0" algn="l">
              <a:lnSpc>
                <a:spcPct val="100000"/>
              </a:lnSpc>
              <a:buNone/>
            </a:pPr>
            <a:r>
              <a:rPr lang="en-US" sz="1180" dirty="0">
                <a:solidFill>
                  <a:srgbClr val="5B6B7C"/>
                </a:solidFill>
                <a:latin typeface="Calibri" pitchFamily="34" charset="0"/>
                <a:ea typeface="Calibri" pitchFamily="34" charset="-122"/>
                <a:cs typeface="Calibri" pitchFamily="34" charset="-120"/>
              </a:rPr>
              <a:t>Test levels between 55 % and 65 % as a sweep rather than a random draw, to replace the interpolated 60.5 % crossing with a measured one.</a:t>
            </a:r>
            <a:endParaRPr lang="en-US" sz="1180" dirty="0"/>
          </a:p>
        </p:txBody>
      </p:sp>
      <p:sp>
        <p:nvSpPr>
          <p:cNvPr id="18" name="Shape 16"/>
          <p:cNvSpPr/>
          <p:nvPr/>
        </p:nvSpPr>
        <p:spPr>
          <a:xfrm>
            <a:off x="571500" y="3771900"/>
            <a:ext cx="5381625" cy="762000"/>
          </a:xfrm>
          <a:prstGeom prst="roundRect">
            <a:avLst>
              <a:gd name="adj" fmla="val 4800"/>
            </a:avLst>
          </a:prstGeom>
          <a:solidFill>
            <a:srgbClr val="FFFFFF"/>
          </a:solidFill>
          <a:ln w="12700">
            <a:solidFill>
              <a:srgbClr val="D7E1EA"/>
            </a:solidFill>
            <a:prstDash val="solid"/>
          </a:ln>
        </p:spPr>
        <p:txBody>
          <a:bodyPr/>
          <a:lstStyle/>
          <a:p>
            <a:endParaRPr lang="en-IN"/>
          </a:p>
        </p:txBody>
      </p:sp>
      <p:sp>
        <p:nvSpPr>
          <p:cNvPr id="19" name="Shape 17"/>
          <p:cNvSpPr/>
          <p:nvPr/>
        </p:nvSpPr>
        <p:spPr>
          <a:xfrm>
            <a:off x="571500" y="3771900"/>
            <a:ext cx="38100" cy="762000"/>
          </a:xfrm>
          <a:prstGeom prst="rect">
            <a:avLst/>
          </a:prstGeom>
          <a:solidFill>
            <a:srgbClr val="18B89A"/>
          </a:solidFill>
          <a:ln/>
        </p:spPr>
        <p:txBody>
          <a:bodyPr/>
          <a:lstStyle/>
          <a:p>
            <a:endParaRPr lang="en-IN"/>
          </a:p>
        </p:txBody>
      </p:sp>
      <p:sp>
        <p:nvSpPr>
          <p:cNvPr id="20" name="Text 18"/>
          <p:cNvSpPr/>
          <p:nvPr/>
        </p:nvSpPr>
        <p:spPr>
          <a:xfrm>
            <a:off x="800100" y="3867150"/>
            <a:ext cx="476250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Continuity-based detection</a:t>
            </a:r>
            <a:endParaRPr lang="en-US" sz="1400" dirty="0"/>
          </a:p>
        </p:txBody>
      </p:sp>
      <p:sp>
        <p:nvSpPr>
          <p:cNvPr id="21" name="Text 19"/>
          <p:cNvSpPr/>
          <p:nvPr/>
        </p:nvSpPr>
        <p:spPr>
          <a:xfrm>
            <a:off x="800100" y="4095750"/>
            <a:ext cx="4953000" cy="400050"/>
          </a:xfrm>
          <a:prstGeom prst="rect">
            <a:avLst/>
          </a:prstGeom>
          <a:noFill/>
          <a:ln/>
        </p:spPr>
        <p:txBody>
          <a:bodyPr wrap="square" lIns="0" tIns="0" rIns="0" bIns="0" rtlCol="0" anchor="t">
            <a:normAutofit/>
          </a:bodyPr>
          <a:lstStyle/>
          <a:p>
            <a:pPr marL="0" indent="0" algn="l">
              <a:lnSpc>
                <a:spcPct val="100000"/>
              </a:lnSpc>
              <a:buNone/>
            </a:pPr>
            <a:r>
              <a:rPr lang="en-US" sz="1180" dirty="0">
                <a:solidFill>
                  <a:srgbClr val="5B6B7C"/>
                </a:solidFill>
                <a:latin typeface="Calibri" pitchFamily="34" charset="0"/>
                <a:ea typeface="Calibri" pitchFamily="34" charset="-122"/>
                <a:cs typeface="Calibri" pitchFamily="34" charset="-120"/>
              </a:rPr>
              <a:t>Add a clause that tracks message-arrival continuity alongside average rate, so that paced or bursty interception below the rate threshold is still detected.</a:t>
            </a:r>
            <a:endParaRPr lang="en-US" sz="1180" dirty="0"/>
          </a:p>
        </p:txBody>
      </p:sp>
      <p:sp>
        <p:nvSpPr>
          <p:cNvPr id="22" name="Shape 20"/>
          <p:cNvSpPr/>
          <p:nvPr/>
        </p:nvSpPr>
        <p:spPr>
          <a:xfrm>
            <a:off x="571500" y="4581719"/>
            <a:ext cx="5381625" cy="762000"/>
          </a:xfrm>
          <a:prstGeom prst="roundRect">
            <a:avLst>
              <a:gd name="adj" fmla="val 4800"/>
            </a:avLst>
          </a:prstGeom>
          <a:solidFill>
            <a:srgbClr val="FFFFFF"/>
          </a:solidFill>
          <a:ln w="12700">
            <a:solidFill>
              <a:srgbClr val="D7E1EA"/>
            </a:solidFill>
            <a:prstDash val="solid"/>
          </a:ln>
        </p:spPr>
        <p:txBody>
          <a:bodyPr/>
          <a:lstStyle/>
          <a:p>
            <a:endParaRPr lang="en-IN"/>
          </a:p>
        </p:txBody>
      </p:sp>
      <p:sp>
        <p:nvSpPr>
          <p:cNvPr id="23" name="Shape 21"/>
          <p:cNvSpPr/>
          <p:nvPr/>
        </p:nvSpPr>
        <p:spPr>
          <a:xfrm>
            <a:off x="571500" y="4591050"/>
            <a:ext cx="38100" cy="762000"/>
          </a:xfrm>
          <a:prstGeom prst="rect">
            <a:avLst/>
          </a:prstGeom>
          <a:solidFill>
            <a:srgbClr val="18B89A"/>
          </a:solidFill>
          <a:ln/>
        </p:spPr>
        <p:txBody>
          <a:bodyPr/>
          <a:lstStyle/>
          <a:p>
            <a:endParaRPr lang="en-IN"/>
          </a:p>
        </p:txBody>
      </p:sp>
      <p:sp>
        <p:nvSpPr>
          <p:cNvPr id="24" name="Text 22"/>
          <p:cNvSpPr/>
          <p:nvPr/>
        </p:nvSpPr>
        <p:spPr>
          <a:xfrm>
            <a:off x="800100" y="4686300"/>
            <a:ext cx="476250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Richer telemetry for the ML arm</a:t>
            </a:r>
            <a:endParaRPr lang="en-US" sz="1400" dirty="0"/>
          </a:p>
        </p:txBody>
      </p:sp>
      <p:sp>
        <p:nvSpPr>
          <p:cNvPr id="25" name="Text 23"/>
          <p:cNvSpPr/>
          <p:nvPr/>
        </p:nvSpPr>
        <p:spPr>
          <a:xfrm>
            <a:off x="800100" y="4914900"/>
            <a:ext cx="4953000" cy="400050"/>
          </a:xfrm>
          <a:prstGeom prst="rect">
            <a:avLst/>
          </a:prstGeom>
          <a:noFill/>
          <a:ln/>
        </p:spPr>
        <p:txBody>
          <a:bodyPr wrap="square" lIns="0" tIns="0" rIns="0" bIns="0" rtlCol="0" anchor="t">
            <a:normAutofit/>
          </a:bodyPr>
          <a:lstStyle/>
          <a:p>
            <a:pPr marL="0" indent="0" algn="l">
              <a:lnSpc>
                <a:spcPct val="100000"/>
              </a:lnSpc>
              <a:buNone/>
            </a:pPr>
            <a:r>
              <a:rPr lang="en-US" sz="1180" dirty="0">
                <a:solidFill>
                  <a:srgbClr val="5B6B7C"/>
                </a:solidFill>
                <a:latin typeface="Calibri" pitchFamily="34" charset="0"/>
                <a:ea typeface="Calibri" pitchFamily="34" charset="-122"/>
                <a:cs typeface="Calibri" pitchFamily="34" charset="-120"/>
              </a:rPr>
              <a:t>Supply management-plane telemetry in addition to servo logs and repeat the comparison, so the ML arm is evaluated on adequate observability.</a:t>
            </a:r>
            <a:endParaRPr lang="en-US" sz="1180" dirty="0"/>
          </a:p>
        </p:txBody>
      </p:sp>
      <p:sp>
        <p:nvSpPr>
          <p:cNvPr id="26" name="Shape 24"/>
          <p:cNvSpPr/>
          <p:nvPr/>
        </p:nvSpPr>
        <p:spPr>
          <a:xfrm>
            <a:off x="571500" y="5410200"/>
            <a:ext cx="5381625" cy="762000"/>
          </a:xfrm>
          <a:prstGeom prst="roundRect">
            <a:avLst>
              <a:gd name="adj" fmla="val 4800"/>
            </a:avLst>
          </a:prstGeom>
          <a:solidFill>
            <a:srgbClr val="FFFFFF"/>
          </a:solidFill>
          <a:ln w="12700">
            <a:solidFill>
              <a:srgbClr val="D7E1EA"/>
            </a:solidFill>
            <a:prstDash val="solid"/>
          </a:ln>
        </p:spPr>
        <p:txBody>
          <a:bodyPr/>
          <a:lstStyle/>
          <a:p>
            <a:endParaRPr lang="en-IN"/>
          </a:p>
        </p:txBody>
      </p:sp>
      <p:sp>
        <p:nvSpPr>
          <p:cNvPr id="27" name="Shape 25"/>
          <p:cNvSpPr/>
          <p:nvPr/>
        </p:nvSpPr>
        <p:spPr>
          <a:xfrm>
            <a:off x="571500" y="5410200"/>
            <a:ext cx="38100" cy="762000"/>
          </a:xfrm>
          <a:prstGeom prst="rect">
            <a:avLst/>
          </a:prstGeom>
          <a:solidFill>
            <a:srgbClr val="18B89A"/>
          </a:solidFill>
          <a:ln/>
        </p:spPr>
        <p:txBody>
          <a:bodyPr/>
          <a:lstStyle/>
          <a:p>
            <a:endParaRPr lang="en-IN"/>
          </a:p>
        </p:txBody>
      </p:sp>
      <p:sp>
        <p:nvSpPr>
          <p:cNvPr id="28" name="Text 26"/>
          <p:cNvSpPr/>
          <p:nvPr/>
        </p:nvSpPr>
        <p:spPr>
          <a:xfrm>
            <a:off x="800100" y="5505450"/>
            <a:ext cx="476250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Metadata and re-freeze</a:t>
            </a:r>
            <a:endParaRPr lang="en-US" sz="1400" dirty="0"/>
          </a:p>
        </p:txBody>
      </p:sp>
      <p:sp>
        <p:nvSpPr>
          <p:cNvPr id="29" name="Text 27"/>
          <p:cNvSpPr/>
          <p:nvPr/>
        </p:nvSpPr>
        <p:spPr>
          <a:xfrm>
            <a:off x="800100" y="5734050"/>
            <a:ext cx="4953000" cy="400050"/>
          </a:xfrm>
          <a:prstGeom prst="rect">
            <a:avLst/>
          </a:prstGeom>
          <a:noFill/>
          <a:ln/>
        </p:spPr>
        <p:txBody>
          <a:bodyPr wrap="square" lIns="0" tIns="0" rIns="0" bIns="0" rtlCol="0" anchor="t">
            <a:normAutofit/>
          </a:bodyPr>
          <a:lstStyle/>
          <a:p>
            <a:pPr marL="0" indent="0" algn="l">
              <a:lnSpc>
                <a:spcPct val="100000"/>
              </a:lnSpc>
              <a:buNone/>
            </a:pPr>
            <a:r>
              <a:rPr lang="en-US" sz="1180" dirty="0">
                <a:solidFill>
                  <a:srgbClr val="5B6B7C"/>
                </a:solidFill>
                <a:latin typeface="Calibri" pitchFamily="34" charset="0"/>
                <a:ea typeface="Calibri" pitchFamily="34" charset="-122"/>
                <a:cs typeface="Calibri" pitchFamily="34" charset="-120"/>
              </a:rPr>
              <a:t>Correct the 36 inconsistent replicate identifiers, re-hash the revised rule, and re-run the campaign for an independently pre-registered result.</a:t>
            </a:r>
            <a:endParaRPr lang="en-US" sz="1180" dirty="0"/>
          </a:p>
        </p:txBody>
      </p:sp>
      <p:sp>
        <p:nvSpPr>
          <p:cNvPr id="30" name="Shape 28"/>
          <p:cNvSpPr/>
          <p:nvPr/>
        </p:nvSpPr>
        <p:spPr>
          <a:xfrm>
            <a:off x="6238875" y="1638300"/>
            <a:ext cx="5381625" cy="400050"/>
          </a:xfrm>
          <a:prstGeom prst="roundRect">
            <a:avLst>
              <a:gd name="adj" fmla="val 9143"/>
            </a:avLst>
          </a:prstGeom>
          <a:solidFill>
            <a:srgbClr val="0E2440"/>
          </a:solidFill>
          <a:ln w="12700">
            <a:solidFill>
              <a:srgbClr val="0E2440"/>
            </a:solidFill>
            <a:prstDash val="solid"/>
          </a:ln>
        </p:spPr>
        <p:txBody>
          <a:bodyPr/>
          <a:lstStyle/>
          <a:p>
            <a:endParaRPr lang="en-IN"/>
          </a:p>
        </p:txBody>
      </p:sp>
      <p:sp>
        <p:nvSpPr>
          <p:cNvPr id="31" name="Text 29"/>
          <p:cNvSpPr/>
          <p:nvPr/>
        </p:nvSpPr>
        <p:spPr>
          <a:xfrm>
            <a:off x="6467475" y="1752600"/>
            <a:ext cx="4762500" cy="190500"/>
          </a:xfrm>
          <a:prstGeom prst="rect">
            <a:avLst/>
          </a:prstGeom>
          <a:noFill/>
          <a:ln/>
        </p:spPr>
        <p:txBody>
          <a:bodyPr wrap="square" lIns="0" tIns="0" rIns="0" bIns="0" rtlCol="0" anchor="t">
            <a:normAutofit/>
          </a:bodyPr>
          <a:lstStyle/>
          <a:p>
            <a:pPr marL="0" indent="0" algn="l">
              <a:lnSpc>
                <a:spcPct val="100000"/>
              </a:lnSpc>
              <a:buNone/>
            </a:pPr>
            <a:r>
              <a:rPr lang="en-US" sz="1200" b="1" dirty="0">
                <a:solidFill>
                  <a:srgbClr val="C58B18"/>
                </a:solidFill>
                <a:latin typeface="Calibri" pitchFamily="34" charset="0"/>
                <a:ea typeface="Calibri" pitchFamily="34" charset="-122"/>
                <a:cs typeface="Calibri" pitchFamily="34" charset="-120"/>
              </a:rPr>
              <a:t>HARDWARE — REQUIRES EQUIPMENT</a:t>
            </a:r>
            <a:endParaRPr lang="en-US" sz="1200" dirty="0"/>
          </a:p>
        </p:txBody>
      </p:sp>
      <p:sp>
        <p:nvSpPr>
          <p:cNvPr id="32" name="Shape 30"/>
          <p:cNvSpPr/>
          <p:nvPr/>
        </p:nvSpPr>
        <p:spPr>
          <a:xfrm>
            <a:off x="6238875" y="2133600"/>
            <a:ext cx="5381625" cy="971550"/>
          </a:xfrm>
          <a:prstGeom prst="roundRect">
            <a:avLst>
              <a:gd name="adj" fmla="val 3765"/>
            </a:avLst>
          </a:prstGeom>
          <a:solidFill>
            <a:srgbClr val="FFFFFF"/>
          </a:solidFill>
          <a:ln w="12700">
            <a:solidFill>
              <a:srgbClr val="D7E1EA"/>
            </a:solidFill>
            <a:prstDash val="solid"/>
          </a:ln>
        </p:spPr>
        <p:txBody>
          <a:bodyPr/>
          <a:lstStyle/>
          <a:p>
            <a:endParaRPr lang="en-IN"/>
          </a:p>
        </p:txBody>
      </p:sp>
      <p:sp>
        <p:nvSpPr>
          <p:cNvPr id="33" name="Shape 31"/>
          <p:cNvSpPr/>
          <p:nvPr/>
        </p:nvSpPr>
        <p:spPr>
          <a:xfrm>
            <a:off x="6238875" y="2133600"/>
            <a:ext cx="38100" cy="971550"/>
          </a:xfrm>
          <a:prstGeom prst="rect">
            <a:avLst/>
          </a:prstGeom>
          <a:solidFill>
            <a:srgbClr val="C58B18"/>
          </a:solidFill>
          <a:ln/>
        </p:spPr>
        <p:txBody>
          <a:bodyPr/>
          <a:lstStyle/>
          <a:p>
            <a:endParaRPr lang="en-IN"/>
          </a:p>
        </p:txBody>
      </p:sp>
      <p:sp>
        <p:nvSpPr>
          <p:cNvPr id="34" name="Text 32"/>
          <p:cNvSpPr/>
          <p:nvPr/>
        </p:nvSpPr>
        <p:spPr>
          <a:xfrm>
            <a:off x="6467475" y="2247900"/>
            <a:ext cx="476250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GNSS receiver</a:t>
            </a:r>
            <a:endParaRPr lang="en-US" sz="1400" dirty="0"/>
          </a:p>
        </p:txBody>
      </p:sp>
      <p:sp>
        <p:nvSpPr>
          <p:cNvPr id="35" name="Text 33"/>
          <p:cNvSpPr/>
          <p:nvPr/>
        </p:nvSpPr>
        <p:spPr>
          <a:xfrm>
            <a:off x="6467475" y="2476500"/>
            <a:ext cx="4953000" cy="552450"/>
          </a:xfrm>
          <a:prstGeom prst="rect">
            <a:avLst/>
          </a:prstGeom>
          <a:noFill/>
          <a:ln/>
        </p:spPr>
        <p:txBody>
          <a:bodyPr wrap="square" lIns="0" tIns="0" rIns="0" bIns="0" rtlCol="0" anchor="t">
            <a:normAutofit/>
          </a:bodyPr>
          <a:lstStyle/>
          <a:p>
            <a:pPr marL="0" indent="0" algn="l">
              <a:lnSpc>
                <a:spcPct val="100000"/>
              </a:lnSpc>
              <a:buNone/>
            </a:pPr>
            <a:r>
              <a:rPr lang="en-US" sz="1180" dirty="0">
                <a:solidFill>
                  <a:srgbClr val="5B6B7C"/>
                </a:solidFill>
                <a:latin typeface="Calibri" pitchFamily="34" charset="0"/>
                <a:ea typeface="Calibri" pitchFamily="34" charset="-122"/>
                <a:cs typeface="Calibri" pitchFamily="34" charset="-120"/>
              </a:rPr>
              <a:t>Unlocks GNSS spoofing (A6), GNSS jamming (A7) and genuine holdover (B1) — three of the five currently unreachable classes.</a:t>
            </a:r>
            <a:endParaRPr lang="en-US" sz="1180" dirty="0"/>
          </a:p>
        </p:txBody>
      </p:sp>
      <p:sp>
        <p:nvSpPr>
          <p:cNvPr id="36" name="Shape 34"/>
          <p:cNvSpPr/>
          <p:nvPr/>
        </p:nvSpPr>
        <p:spPr>
          <a:xfrm>
            <a:off x="6238875" y="3162300"/>
            <a:ext cx="5381625" cy="971550"/>
          </a:xfrm>
          <a:prstGeom prst="roundRect">
            <a:avLst>
              <a:gd name="adj" fmla="val 3765"/>
            </a:avLst>
          </a:prstGeom>
          <a:solidFill>
            <a:srgbClr val="FFFFFF"/>
          </a:solidFill>
          <a:ln w="12700">
            <a:solidFill>
              <a:srgbClr val="D7E1EA"/>
            </a:solidFill>
            <a:prstDash val="solid"/>
          </a:ln>
        </p:spPr>
        <p:txBody>
          <a:bodyPr/>
          <a:lstStyle/>
          <a:p>
            <a:endParaRPr lang="en-IN"/>
          </a:p>
        </p:txBody>
      </p:sp>
      <p:sp>
        <p:nvSpPr>
          <p:cNvPr id="37" name="Shape 35"/>
          <p:cNvSpPr/>
          <p:nvPr/>
        </p:nvSpPr>
        <p:spPr>
          <a:xfrm>
            <a:off x="6238875" y="3162300"/>
            <a:ext cx="38100" cy="971550"/>
          </a:xfrm>
          <a:prstGeom prst="rect">
            <a:avLst/>
          </a:prstGeom>
          <a:solidFill>
            <a:srgbClr val="C58B18"/>
          </a:solidFill>
          <a:ln/>
        </p:spPr>
        <p:txBody>
          <a:bodyPr/>
          <a:lstStyle/>
          <a:p>
            <a:endParaRPr lang="en-IN"/>
          </a:p>
        </p:txBody>
      </p:sp>
      <p:sp>
        <p:nvSpPr>
          <p:cNvPr id="38" name="Text 36"/>
          <p:cNvSpPr/>
          <p:nvPr/>
        </p:nvSpPr>
        <p:spPr>
          <a:xfrm>
            <a:off x="6467475" y="3276600"/>
            <a:ext cx="476250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Second physical machine</a:t>
            </a:r>
            <a:endParaRPr lang="en-US" sz="1400" dirty="0"/>
          </a:p>
        </p:txBody>
      </p:sp>
      <p:sp>
        <p:nvSpPr>
          <p:cNvPr id="39" name="Text 37"/>
          <p:cNvSpPr/>
          <p:nvPr/>
        </p:nvSpPr>
        <p:spPr>
          <a:xfrm>
            <a:off x="6467475" y="3505200"/>
            <a:ext cx="4953000" cy="552450"/>
          </a:xfrm>
          <a:prstGeom prst="rect">
            <a:avLst/>
          </a:prstGeom>
          <a:noFill/>
          <a:ln/>
        </p:spPr>
        <p:txBody>
          <a:bodyPr wrap="square" lIns="0" tIns="0" rIns="0" bIns="0" rtlCol="0" anchor="t">
            <a:normAutofit/>
          </a:bodyPr>
          <a:lstStyle/>
          <a:p>
            <a:pPr marL="0" indent="0" algn="l">
              <a:lnSpc>
                <a:spcPct val="100000"/>
              </a:lnSpc>
              <a:buNone/>
            </a:pPr>
            <a:r>
              <a:rPr lang="en-US" sz="1180" dirty="0">
                <a:solidFill>
                  <a:srgbClr val="5B6B7C"/>
                </a:solidFill>
                <a:latin typeface="Calibri" pitchFamily="34" charset="0"/>
                <a:ea typeface="Calibri" pitchFamily="34" charset="-122"/>
                <a:cs typeface="Calibri" pitchFamily="34" charset="-120"/>
              </a:rPr>
              <a:t>Provides a second independent oscillator, making oscillator drift (B6) reproducible. Clocks in one host cannot genuinely drift apart.</a:t>
            </a:r>
            <a:endParaRPr lang="en-US" sz="1180" dirty="0"/>
          </a:p>
        </p:txBody>
      </p:sp>
      <p:sp>
        <p:nvSpPr>
          <p:cNvPr id="40" name="Shape 38"/>
          <p:cNvSpPr/>
          <p:nvPr/>
        </p:nvSpPr>
        <p:spPr>
          <a:xfrm>
            <a:off x="6238875" y="4191000"/>
            <a:ext cx="5381625" cy="971550"/>
          </a:xfrm>
          <a:prstGeom prst="roundRect">
            <a:avLst>
              <a:gd name="adj" fmla="val 3765"/>
            </a:avLst>
          </a:prstGeom>
          <a:solidFill>
            <a:srgbClr val="FFFFFF"/>
          </a:solidFill>
          <a:ln w="12700">
            <a:solidFill>
              <a:srgbClr val="D7E1EA"/>
            </a:solidFill>
            <a:prstDash val="solid"/>
          </a:ln>
        </p:spPr>
        <p:txBody>
          <a:bodyPr/>
          <a:lstStyle/>
          <a:p>
            <a:endParaRPr lang="en-IN"/>
          </a:p>
        </p:txBody>
      </p:sp>
      <p:sp>
        <p:nvSpPr>
          <p:cNvPr id="41" name="Shape 39"/>
          <p:cNvSpPr/>
          <p:nvPr/>
        </p:nvSpPr>
        <p:spPr>
          <a:xfrm>
            <a:off x="6238875" y="4191000"/>
            <a:ext cx="38100" cy="971550"/>
          </a:xfrm>
          <a:prstGeom prst="rect">
            <a:avLst/>
          </a:prstGeom>
          <a:solidFill>
            <a:srgbClr val="C58B18"/>
          </a:solidFill>
          <a:ln/>
        </p:spPr>
        <p:txBody>
          <a:bodyPr/>
          <a:lstStyle/>
          <a:p>
            <a:endParaRPr lang="en-IN"/>
          </a:p>
        </p:txBody>
      </p:sp>
      <p:sp>
        <p:nvSpPr>
          <p:cNvPr id="42" name="Text 40"/>
          <p:cNvSpPr/>
          <p:nvPr/>
        </p:nvSpPr>
        <p:spPr>
          <a:xfrm>
            <a:off x="6467475" y="4305300"/>
            <a:ext cx="476250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Hardware-timestamping NIC</a:t>
            </a:r>
            <a:endParaRPr lang="en-US" sz="1400" dirty="0"/>
          </a:p>
        </p:txBody>
      </p:sp>
      <p:sp>
        <p:nvSpPr>
          <p:cNvPr id="43" name="Text 41"/>
          <p:cNvSpPr/>
          <p:nvPr/>
        </p:nvSpPr>
        <p:spPr>
          <a:xfrm>
            <a:off x="6467475" y="4533900"/>
            <a:ext cx="4953000" cy="552450"/>
          </a:xfrm>
          <a:prstGeom prst="rect">
            <a:avLst/>
          </a:prstGeom>
          <a:noFill/>
          <a:ln/>
        </p:spPr>
        <p:txBody>
          <a:bodyPr wrap="square" lIns="0" tIns="0" rIns="0" bIns="0" rtlCol="0" anchor="t">
            <a:normAutofit/>
          </a:bodyPr>
          <a:lstStyle/>
          <a:p>
            <a:pPr marL="0" indent="0" algn="l">
              <a:lnSpc>
                <a:spcPct val="100000"/>
              </a:lnSpc>
              <a:buNone/>
            </a:pPr>
            <a:r>
              <a:rPr lang="en-US" sz="1180" dirty="0">
                <a:solidFill>
                  <a:srgbClr val="5B6B7C"/>
                </a:solidFill>
                <a:latin typeface="Calibri" pitchFamily="34" charset="0"/>
                <a:ea typeface="Calibri" pitchFamily="34" charset="-122"/>
                <a:cs typeface="Calibri" pitchFamily="34" charset="-120"/>
              </a:rPr>
              <a:t>Replaces microsecond-scale software timestamping with nanosecond-scale hardware timestamping, enabling credible physical-impact measurement for the delay attack (A4) and static asymmetry (B5).</a:t>
            </a:r>
            <a:endParaRPr lang="en-US" sz="1180" dirty="0"/>
          </a:p>
        </p:txBody>
      </p:sp>
      <p:sp>
        <p:nvSpPr>
          <p:cNvPr id="44" name="Shape 42"/>
          <p:cNvSpPr/>
          <p:nvPr/>
        </p:nvSpPr>
        <p:spPr>
          <a:xfrm>
            <a:off x="6238875" y="5219700"/>
            <a:ext cx="5381625" cy="971550"/>
          </a:xfrm>
          <a:prstGeom prst="roundRect">
            <a:avLst>
              <a:gd name="adj" fmla="val 3765"/>
            </a:avLst>
          </a:prstGeom>
          <a:solidFill>
            <a:srgbClr val="FFFFFF"/>
          </a:solidFill>
          <a:ln w="12700">
            <a:solidFill>
              <a:srgbClr val="D7E1EA"/>
            </a:solidFill>
            <a:prstDash val="solid"/>
          </a:ln>
        </p:spPr>
        <p:txBody>
          <a:bodyPr/>
          <a:lstStyle/>
          <a:p>
            <a:endParaRPr lang="en-IN"/>
          </a:p>
        </p:txBody>
      </p:sp>
      <p:sp>
        <p:nvSpPr>
          <p:cNvPr id="45" name="Shape 43"/>
          <p:cNvSpPr/>
          <p:nvPr/>
        </p:nvSpPr>
        <p:spPr>
          <a:xfrm>
            <a:off x="6238875" y="5219700"/>
            <a:ext cx="38100" cy="971550"/>
          </a:xfrm>
          <a:prstGeom prst="rect">
            <a:avLst/>
          </a:prstGeom>
          <a:solidFill>
            <a:srgbClr val="C58B18"/>
          </a:solidFill>
          <a:ln/>
        </p:spPr>
        <p:txBody>
          <a:bodyPr/>
          <a:lstStyle/>
          <a:p>
            <a:endParaRPr lang="en-IN"/>
          </a:p>
        </p:txBody>
      </p:sp>
      <p:sp>
        <p:nvSpPr>
          <p:cNvPr id="46" name="Text 44"/>
          <p:cNvSpPr/>
          <p:nvPr/>
        </p:nvSpPr>
        <p:spPr>
          <a:xfrm>
            <a:off x="6467475" y="5334000"/>
            <a:ext cx="476250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2263A"/>
                </a:solidFill>
                <a:latin typeface="Cambria" pitchFamily="34" charset="0"/>
                <a:ea typeface="Cambria" pitchFamily="34" charset="-122"/>
                <a:cs typeface="Cambria" pitchFamily="34" charset="-120"/>
              </a:rPr>
              <a:t>SyncE-capable PHY</a:t>
            </a:r>
            <a:endParaRPr lang="en-US" sz="1400" dirty="0"/>
          </a:p>
        </p:txBody>
      </p:sp>
      <p:sp>
        <p:nvSpPr>
          <p:cNvPr id="47" name="Text 45"/>
          <p:cNvSpPr/>
          <p:nvPr/>
        </p:nvSpPr>
        <p:spPr>
          <a:xfrm>
            <a:off x="6467475" y="5562600"/>
            <a:ext cx="4953000" cy="552450"/>
          </a:xfrm>
          <a:prstGeom prst="rect">
            <a:avLst/>
          </a:prstGeom>
          <a:noFill/>
          <a:ln/>
        </p:spPr>
        <p:txBody>
          <a:bodyPr wrap="square" lIns="0" tIns="0" rIns="0" bIns="0" rtlCol="0" anchor="t">
            <a:normAutofit/>
          </a:bodyPr>
          <a:lstStyle/>
          <a:p>
            <a:pPr marL="0" indent="0" algn="l">
              <a:lnSpc>
                <a:spcPct val="100000"/>
              </a:lnSpc>
              <a:buNone/>
            </a:pPr>
            <a:r>
              <a:rPr lang="en-US" sz="1180" dirty="0">
                <a:solidFill>
                  <a:srgbClr val="5B6B7C"/>
                </a:solidFill>
                <a:latin typeface="Calibri" pitchFamily="34" charset="0"/>
                <a:ea typeface="Calibri" pitchFamily="34" charset="-122"/>
                <a:cs typeface="Calibri" pitchFamily="34" charset="-120"/>
              </a:rPr>
              <a:t>Unlocks SyncE and EEC degradation (B4). SyncE is a physical-layer function and veth interfaces have no PHY, so ESMC quality signalling cannot exist in this testbed.</a:t>
            </a:r>
            <a:endParaRPr lang="en-US" sz="1180" dirty="0"/>
          </a:p>
        </p:txBody>
      </p:sp>
      <p:sp>
        <p:nvSpPr>
          <p:cNvPr id="48" name="Shape 46"/>
          <p:cNvSpPr/>
          <p:nvPr/>
        </p:nvSpPr>
        <p:spPr>
          <a:xfrm>
            <a:off x="571500" y="6229350"/>
            <a:ext cx="11049000" cy="533400"/>
          </a:xfrm>
          <a:prstGeom prst="roundRect">
            <a:avLst>
              <a:gd name="adj" fmla="val 6857"/>
            </a:avLst>
          </a:prstGeom>
          <a:solidFill>
            <a:srgbClr val="0E2440"/>
          </a:solidFill>
          <a:ln w="12700">
            <a:solidFill>
              <a:srgbClr val="0E2440"/>
            </a:solidFill>
            <a:prstDash val="solid"/>
          </a:ln>
        </p:spPr>
        <p:txBody>
          <a:bodyPr/>
          <a:lstStyle/>
          <a:p>
            <a:endParaRPr lang="en-IN"/>
          </a:p>
        </p:txBody>
      </p:sp>
      <p:sp>
        <p:nvSpPr>
          <p:cNvPr id="49" name="Text 47"/>
          <p:cNvSpPr/>
          <p:nvPr/>
        </p:nvSpPr>
        <p:spPr>
          <a:xfrm>
            <a:off x="781050" y="6343650"/>
            <a:ext cx="10629900" cy="323850"/>
          </a:xfrm>
          <a:prstGeom prst="rect">
            <a:avLst/>
          </a:prstGeom>
          <a:noFill/>
          <a:ln/>
        </p:spPr>
        <p:txBody>
          <a:bodyPr wrap="square" lIns="0" tIns="0" rIns="0" bIns="0" rtlCol="0" anchor="t">
            <a:normAutofit/>
          </a:bodyPr>
          <a:lstStyle/>
          <a:p>
            <a:pPr marL="0" indent="0" algn="l">
              <a:lnSpc>
                <a:spcPct val="100000"/>
              </a:lnSpc>
              <a:buNone/>
            </a:pPr>
            <a:r>
              <a:rPr lang="en-US" sz="1320" b="1" dirty="0">
                <a:solidFill>
                  <a:srgbClr val="FFFFFF"/>
                </a:solidFill>
                <a:latin typeface="Cambria" pitchFamily="34" charset="0"/>
                <a:ea typeface="Cambria" pitchFamily="34" charset="-122"/>
                <a:cs typeface="Cambria" pitchFamily="34" charset="-120"/>
              </a:rPr>
              <a:t>Five of sixteen catalogued classes require hardware; three more have software detection logic but need hardware for credible physical-impact measurement. The software items above are unblocked and can begin on the existing testbed.</a:t>
            </a:r>
            <a:endParaRPr lang="en-US" sz="132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E2440"/>
          </a:solidFill>
          <a:ln/>
        </p:spPr>
        <p:txBody>
          <a:bodyPr/>
          <a:lstStyle/>
          <a:p>
            <a:endParaRPr lang="en-IN"/>
          </a:p>
        </p:txBody>
      </p:sp>
      <p:sp>
        <p:nvSpPr>
          <p:cNvPr id="3" name="Shape 1"/>
          <p:cNvSpPr/>
          <p:nvPr/>
        </p:nvSpPr>
        <p:spPr>
          <a:xfrm>
            <a:off x="0" y="0"/>
            <a:ext cx="12192000" cy="114300"/>
          </a:xfrm>
          <a:prstGeom prst="rect">
            <a:avLst/>
          </a:prstGeom>
          <a:solidFill>
            <a:srgbClr val="18B89A"/>
          </a:solidFill>
          <a:ln/>
        </p:spPr>
        <p:txBody>
          <a:bodyPr/>
          <a:lstStyle/>
          <a:p>
            <a:endParaRPr lang="en-IN"/>
          </a:p>
        </p:txBody>
      </p:sp>
      <p:sp>
        <p:nvSpPr>
          <p:cNvPr id="4" name="Text 2"/>
          <p:cNvSpPr/>
          <p:nvPr/>
        </p:nvSpPr>
        <p:spPr>
          <a:xfrm>
            <a:off x="571500" y="381000"/>
            <a:ext cx="5715000" cy="209550"/>
          </a:xfrm>
          <a:prstGeom prst="rect">
            <a:avLst/>
          </a:prstGeom>
          <a:noFill/>
          <a:ln/>
        </p:spPr>
        <p:txBody>
          <a:bodyPr wrap="square" lIns="0" tIns="0" rIns="0" bIns="0" rtlCol="0" anchor="t">
            <a:normAutofit/>
          </a:bodyPr>
          <a:lstStyle/>
          <a:p>
            <a:pPr marL="0" indent="0" algn="l">
              <a:lnSpc>
                <a:spcPct val="100000"/>
              </a:lnSpc>
              <a:buNone/>
            </a:pPr>
            <a:r>
              <a:rPr lang="en-US" sz="1250" b="1" dirty="0">
                <a:solidFill>
                  <a:srgbClr val="18B89A"/>
                </a:solidFill>
                <a:latin typeface="Calibri" pitchFamily="34" charset="0"/>
                <a:ea typeface="Calibri" pitchFamily="34" charset="-122"/>
                <a:cs typeface="Calibri" pitchFamily="34" charset="-120"/>
              </a:rPr>
              <a:t>TECHNICAL SUMMARY</a:t>
            </a:r>
            <a:endParaRPr lang="en-US" sz="1250" dirty="0"/>
          </a:p>
        </p:txBody>
      </p:sp>
      <p:sp>
        <p:nvSpPr>
          <p:cNvPr id="5" name="Text 3"/>
          <p:cNvSpPr/>
          <p:nvPr/>
        </p:nvSpPr>
        <p:spPr>
          <a:xfrm>
            <a:off x="571500" y="628650"/>
            <a:ext cx="10477500" cy="457200"/>
          </a:xfrm>
          <a:prstGeom prst="rect">
            <a:avLst/>
          </a:prstGeom>
          <a:noFill/>
          <a:ln/>
        </p:spPr>
        <p:txBody>
          <a:bodyPr wrap="square" lIns="0" tIns="0" rIns="0" bIns="0" rtlCol="0" anchor="t">
            <a:normAutofit/>
          </a:bodyPr>
          <a:lstStyle/>
          <a:p>
            <a:pPr marL="0" indent="0" algn="l">
              <a:lnSpc>
                <a:spcPct val="100000"/>
              </a:lnSpc>
              <a:buNone/>
            </a:pPr>
            <a:r>
              <a:rPr lang="en-US" sz="3400" b="1" dirty="0">
                <a:solidFill>
                  <a:srgbClr val="FFFFFF"/>
                </a:solidFill>
                <a:latin typeface="Cambria" pitchFamily="34" charset="0"/>
                <a:ea typeface="Cambria" pitchFamily="34" charset="-122"/>
                <a:cs typeface="Cambria" pitchFamily="34" charset="-120"/>
              </a:rPr>
              <a:t>Open Fronthaul S-Plane Timing Security</a:t>
            </a:r>
            <a:endParaRPr lang="en-US" sz="3400" dirty="0"/>
          </a:p>
        </p:txBody>
      </p:sp>
      <p:sp>
        <p:nvSpPr>
          <p:cNvPr id="6" name="Shape 4"/>
          <p:cNvSpPr/>
          <p:nvPr/>
        </p:nvSpPr>
        <p:spPr>
          <a:xfrm>
            <a:off x="571500" y="1295400"/>
            <a:ext cx="5334000" cy="1066800"/>
          </a:xfrm>
          <a:prstGeom prst="roundRect">
            <a:avLst>
              <a:gd name="adj" fmla="val 3429"/>
            </a:avLst>
          </a:prstGeom>
          <a:solidFill>
            <a:srgbClr val="16314B"/>
          </a:solidFill>
          <a:ln w="12700">
            <a:solidFill>
              <a:srgbClr val="27455E"/>
            </a:solidFill>
            <a:prstDash val="solid"/>
          </a:ln>
        </p:spPr>
        <p:txBody>
          <a:bodyPr/>
          <a:lstStyle/>
          <a:p>
            <a:endParaRPr lang="en-IN"/>
          </a:p>
        </p:txBody>
      </p:sp>
      <p:sp>
        <p:nvSpPr>
          <p:cNvPr id="7" name="Text 5"/>
          <p:cNvSpPr/>
          <p:nvPr/>
        </p:nvSpPr>
        <p:spPr>
          <a:xfrm>
            <a:off x="742950" y="1409700"/>
            <a:ext cx="2857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8B89A"/>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1066800" y="1390650"/>
            <a:ext cx="4667250" cy="2286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Scope investigated</a:t>
            </a:r>
            <a:endParaRPr lang="en-US" sz="1600" dirty="0"/>
          </a:p>
        </p:txBody>
      </p:sp>
      <p:sp>
        <p:nvSpPr>
          <p:cNvPr id="9" name="Text 7"/>
          <p:cNvSpPr/>
          <p:nvPr/>
        </p:nvSpPr>
        <p:spPr>
          <a:xfrm>
            <a:off x="1066800" y="1657350"/>
            <a:ext cx="4705350" cy="6286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CFD9E5"/>
                </a:solidFill>
                <a:latin typeface="Calibri" pitchFamily="34" charset="0"/>
                <a:ea typeface="Calibri" pitchFamily="34" charset="-122"/>
                <a:cs typeface="Calibri" pitchFamily="34" charset="-120"/>
              </a:rPr>
              <a:t>Discrimination of malicious timing behaviour from benign timing faults on the Open Fronthaul S-plane, between O-DU and O-RU.</a:t>
            </a:r>
            <a:endParaRPr lang="en-US" sz="1220" dirty="0"/>
          </a:p>
        </p:txBody>
      </p:sp>
      <p:sp>
        <p:nvSpPr>
          <p:cNvPr id="10" name="Shape 8"/>
          <p:cNvSpPr/>
          <p:nvPr/>
        </p:nvSpPr>
        <p:spPr>
          <a:xfrm>
            <a:off x="571500" y="2438400"/>
            <a:ext cx="5334000" cy="1066800"/>
          </a:xfrm>
          <a:prstGeom prst="roundRect">
            <a:avLst>
              <a:gd name="adj" fmla="val 3429"/>
            </a:avLst>
          </a:prstGeom>
          <a:solidFill>
            <a:srgbClr val="16314B"/>
          </a:solidFill>
          <a:ln w="12700">
            <a:solidFill>
              <a:srgbClr val="27455E"/>
            </a:solidFill>
            <a:prstDash val="solid"/>
          </a:ln>
        </p:spPr>
        <p:txBody>
          <a:bodyPr/>
          <a:lstStyle/>
          <a:p>
            <a:endParaRPr lang="en-IN"/>
          </a:p>
        </p:txBody>
      </p:sp>
      <p:sp>
        <p:nvSpPr>
          <p:cNvPr id="11" name="Text 9"/>
          <p:cNvSpPr/>
          <p:nvPr/>
        </p:nvSpPr>
        <p:spPr>
          <a:xfrm>
            <a:off x="742950" y="2552700"/>
            <a:ext cx="2857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8B89A"/>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1066800" y="2533650"/>
            <a:ext cx="4667250" cy="2286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Implementation</a:t>
            </a:r>
            <a:endParaRPr lang="en-US" sz="1600" dirty="0"/>
          </a:p>
        </p:txBody>
      </p:sp>
      <p:sp>
        <p:nvSpPr>
          <p:cNvPr id="13" name="Text 11"/>
          <p:cNvSpPr/>
          <p:nvPr/>
        </p:nvSpPr>
        <p:spPr>
          <a:xfrm>
            <a:off x="1066800" y="2800350"/>
            <a:ext cx="4705350" cy="6286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CFD9E5"/>
                </a:solidFill>
                <a:latin typeface="Calibri" pitchFamily="34" charset="0"/>
                <a:ea typeface="Calibri" pitchFamily="34" charset="-122"/>
                <a:cs typeface="Calibri" pitchFamily="34" charset="-120"/>
              </a:rPr>
              <a:t>Six linuxptp 4.0 daemons under the ITU-T G.8275.1 telecom profile across two bridged segments, with faults produced on the live packet path.</a:t>
            </a:r>
            <a:endParaRPr lang="en-US" sz="1220" dirty="0"/>
          </a:p>
        </p:txBody>
      </p:sp>
      <p:sp>
        <p:nvSpPr>
          <p:cNvPr id="14" name="Shape 12"/>
          <p:cNvSpPr/>
          <p:nvPr/>
        </p:nvSpPr>
        <p:spPr>
          <a:xfrm>
            <a:off x="571500" y="3581400"/>
            <a:ext cx="5334000" cy="1066800"/>
          </a:xfrm>
          <a:prstGeom prst="roundRect">
            <a:avLst>
              <a:gd name="adj" fmla="val 3429"/>
            </a:avLst>
          </a:prstGeom>
          <a:solidFill>
            <a:srgbClr val="16314B"/>
          </a:solidFill>
          <a:ln w="12700">
            <a:solidFill>
              <a:srgbClr val="27455E"/>
            </a:solidFill>
            <a:prstDash val="solid"/>
          </a:ln>
        </p:spPr>
        <p:txBody>
          <a:bodyPr/>
          <a:lstStyle/>
          <a:p>
            <a:endParaRPr lang="en-IN"/>
          </a:p>
        </p:txBody>
      </p:sp>
      <p:sp>
        <p:nvSpPr>
          <p:cNvPr id="15" name="Text 13"/>
          <p:cNvSpPr/>
          <p:nvPr/>
        </p:nvSpPr>
        <p:spPr>
          <a:xfrm>
            <a:off x="742950" y="3695700"/>
            <a:ext cx="2857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8B89A"/>
                </a:solidFill>
                <a:latin typeface="Cambria" pitchFamily="34" charset="0"/>
                <a:ea typeface="Cambria" pitchFamily="34" charset="-122"/>
                <a:cs typeface="Cambria" pitchFamily="34" charset="-120"/>
              </a:rPr>
              <a:t>3</a:t>
            </a:r>
            <a:endParaRPr lang="en-US" sz="1400" dirty="0"/>
          </a:p>
        </p:txBody>
      </p:sp>
      <p:sp>
        <p:nvSpPr>
          <p:cNvPr id="16" name="Text 14"/>
          <p:cNvSpPr/>
          <p:nvPr/>
        </p:nvSpPr>
        <p:spPr>
          <a:xfrm>
            <a:off x="1066800" y="3676650"/>
            <a:ext cx="4667250" cy="2286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Dataset produced</a:t>
            </a:r>
            <a:endParaRPr lang="en-US" sz="1600" dirty="0"/>
          </a:p>
        </p:txBody>
      </p:sp>
      <p:sp>
        <p:nvSpPr>
          <p:cNvPr id="17" name="Text 15"/>
          <p:cNvSpPr/>
          <p:nvPr/>
        </p:nvSpPr>
        <p:spPr>
          <a:xfrm>
            <a:off x="1066800" y="3943350"/>
            <a:ext cx="4705350" cy="6286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CFD9E5"/>
                </a:solidFill>
                <a:latin typeface="Calibri" pitchFamily="34" charset="0"/>
                <a:ea typeface="Calibri" pitchFamily="34" charset="-122"/>
                <a:cs typeface="Calibri" pitchFamily="34" charset="-120"/>
              </a:rPr>
              <a:t>168 live runs across 14 scenarios at 12 randomised replicates each; 1,451,909 packet records extracted at 56 fields per packet, with unobservable fields recorded EMPTY.</a:t>
            </a:r>
            <a:endParaRPr lang="en-US" sz="1220" dirty="0"/>
          </a:p>
        </p:txBody>
      </p:sp>
      <p:sp>
        <p:nvSpPr>
          <p:cNvPr id="18" name="Shape 16"/>
          <p:cNvSpPr/>
          <p:nvPr/>
        </p:nvSpPr>
        <p:spPr>
          <a:xfrm>
            <a:off x="571500" y="4724400"/>
            <a:ext cx="5334000" cy="1066800"/>
          </a:xfrm>
          <a:prstGeom prst="roundRect">
            <a:avLst>
              <a:gd name="adj" fmla="val 3429"/>
            </a:avLst>
          </a:prstGeom>
          <a:solidFill>
            <a:srgbClr val="16314B"/>
          </a:solidFill>
          <a:ln w="12700">
            <a:solidFill>
              <a:srgbClr val="27455E"/>
            </a:solidFill>
            <a:prstDash val="solid"/>
          </a:ln>
        </p:spPr>
        <p:txBody>
          <a:bodyPr/>
          <a:lstStyle/>
          <a:p>
            <a:endParaRPr lang="en-IN"/>
          </a:p>
        </p:txBody>
      </p:sp>
      <p:sp>
        <p:nvSpPr>
          <p:cNvPr id="19" name="Text 17"/>
          <p:cNvSpPr/>
          <p:nvPr/>
        </p:nvSpPr>
        <p:spPr>
          <a:xfrm>
            <a:off x="742950" y="4838700"/>
            <a:ext cx="2857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8B89A"/>
                </a:solidFill>
                <a:latin typeface="Cambria" pitchFamily="34" charset="0"/>
                <a:ea typeface="Cambria" pitchFamily="34" charset="-122"/>
                <a:cs typeface="Cambria" pitchFamily="34" charset="-120"/>
              </a:rPr>
              <a:t>4</a:t>
            </a:r>
            <a:endParaRPr lang="en-US" sz="1400" dirty="0"/>
          </a:p>
        </p:txBody>
      </p:sp>
      <p:sp>
        <p:nvSpPr>
          <p:cNvPr id="20" name="Text 18"/>
          <p:cNvSpPr/>
          <p:nvPr/>
        </p:nvSpPr>
        <p:spPr>
          <a:xfrm>
            <a:off x="1066800" y="4819650"/>
            <a:ext cx="4667250" cy="2286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Taxonomy evaluated</a:t>
            </a:r>
            <a:endParaRPr lang="en-US" sz="1600" dirty="0"/>
          </a:p>
        </p:txBody>
      </p:sp>
      <p:sp>
        <p:nvSpPr>
          <p:cNvPr id="21" name="Text 19"/>
          <p:cNvSpPr/>
          <p:nvPr/>
        </p:nvSpPr>
        <p:spPr>
          <a:xfrm>
            <a:off x="1066800" y="5086350"/>
            <a:ext cx="4705350" cy="6286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CFD9E5"/>
                </a:solidFill>
                <a:latin typeface="Calibri" pitchFamily="34" charset="0"/>
                <a:ea typeface="Calibri" pitchFamily="34" charset="-122"/>
                <a:cs typeface="Calibri" pitchFamily="34" charset="-120"/>
              </a:rPr>
              <a:t>Eight attack scenarios, five benign scenarios and one deliberately ambiguous case, drawn from a sixteen-class catalogue of which eight were executable in software.</a:t>
            </a:r>
            <a:endParaRPr lang="en-US" sz="1220" dirty="0"/>
          </a:p>
        </p:txBody>
      </p:sp>
      <p:sp>
        <p:nvSpPr>
          <p:cNvPr id="22" name="Shape 20"/>
          <p:cNvSpPr/>
          <p:nvPr/>
        </p:nvSpPr>
        <p:spPr>
          <a:xfrm>
            <a:off x="6286500" y="1295400"/>
            <a:ext cx="5334000" cy="1066800"/>
          </a:xfrm>
          <a:prstGeom prst="roundRect">
            <a:avLst>
              <a:gd name="adj" fmla="val 3429"/>
            </a:avLst>
          </a:prstGeom>
          <a:solidFill>
            <a:srgbClr val="16314B"/>
          </a:solidFill>
          <a:ln w="12700">
            <a:solidFill>
              <a:srgbClr val="27455E"/>
            </a:solidFill>
            <a:prstDash val="solid"/>
          </a:ln>
        </p:spPr>
        <p:txBody>
          <a:bodyPr/>
          <a:lstStyle/>
          <a:p>
            <a:endParaRPr lang="en-IN"/>
          </a:p>
        </p:txBody>
      </p:sp>
      <p:sp>
        <p:nvSpPr>
          <p:cNvPr id="23" name="Text 21"/>
          <p:cNvSpPr/>
          <p:nvPr/>
        </p:nvSpPr>
        <p:spPr>
          <a:xfrm>
            <a:off x="6457950" y="1409700"/>
            <a:ext cx="2857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8B89A"/>
                </a:solidFill>
                <a:latin typeface="Cambria" pitchFamily="34" charset="0"/>
                <a:ea typeface="Cambria" pitchFamily="34" charset="-122"/>
                <a:cs typeface="Cambria" pitchFamily="34" charset="-120"/>
              </a:rPr>
              <a:t>5</a:t>
            </a:r>
            <a:endParaRPr lang="en-US" sz="1400" dirty="0"/>
          </a:p>
        </p:txBody>
      </p:sp>
      <p:sp>
        <p:nvSpPr>
          <p:cNvPr id="24" name="Text 22"/>
          <p:cNvSpPr/>
          <p:nvPr/>
        </p:nvSpPr>
        <p:spPr>
          <a:xfrm>
            <a:off x="6781800" y="1390650"/>
            <a:ext cx="4667250" cy="2286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Classification performance</a:t>
            </a:r>
            <a:endParaRPr lang="en-US" sz="1600" dirty="0"/>
          </a:p>
        </p:txBody>
      </p:sp>
      <p:sp>
        <p:nvSpPr>
          <p:cNvPr id="25" name="Text 23"/>
          <p:cNvSpPr/>
          <p:nvPr/>
        </p:nvSpPr>
        <p:spPr>
          <a:xfrm>
            <a:off x="6781800" y="1657350"/>
            <a:ext cx="4705350" cy="6286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CFD9E5"/>
                </a:solidFill>
                <a:latin typeface="Calibri" pitchFamily="34" charset="0"/>
                <a:ea typeface="Calibri" pitchFamily="34" charset="-122"/>
                <a:cs typeface="Calibri" pitchFamily="34" charset="-120"/>
              </a:rPr>
              <a:t>Macro attack sensitivity 0.990 for the revised rule against 0.625 pre-frozen; specificity 0.783, or 0.979 excluding the identified benign failure; abstention 12/12; attribution 0.875.</a:t>
            </a:r>
            <a:endParaRPr lang="en-US" sz="1220" dirty="0"/>
          </a:p>
        </p:txBody>
      </p:sp>
      <p:sp>
        <p:nvSpPr>
          <p:cNvPr id="26" name="Shape 24"/>
          <p:cNvSpPr/>
          <p:nvPr/>
        </p:nvSpPr>
        <p:spPr>
          <a:xfrm>
            <a:off x="6286500" y="2438400"/>
            <a:ext cx="5334000" cy="1066800"/>
          </a:xfrm>
          <a:prstGeom prst="roundRect">
            <a:avLst>
              <a:gd name="adj" fmla="val 3429"/>
            </a:avLst>
          </a:prstGeom>
          <a:solidFill>
            <a:srgbClr val="16314B"/>
          </a:solidFill>
          <a:ln w="12700">
            <a:solidFill>
              <a:srgbClr val="27455E"/>
            </a:solidFill>
            <a:prstDash val="solid"/>
          </a:ln>
        </p:spPr>
        <p:txBody>
          <a:bodyPr/>
          <a:lstStyle/>
          <a:p>
            <a:endParaRPr lang="en-IN"/>
          </a:p>
        </p:txBody>
      </p:sp>
      <p:sp>
        <p:nvSpPr>
          <p:cNvPr id="27" name="Text 25"/>
          <p:cNvSpPr/>
          <p:nvPr/>
        </p:nvSpPr>
        <p:spPr>
          <a:xfrm>
            <a:off x="6457950" y="2552700"/>
            <a:ext cx="2857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8B89A"/>
                </a:solidFill>
                <a:latin typeface="Cambria" pitchFamily="34" charset="0"/>
                <a:ea typeface="Cambria" pitchFamily="34" charset="-122"/>
                <a:cs typeface="Cambria" pitchFamily="34" charset="-120"/>
              </a:rPr>
              <a:t>6</a:t>
            </a:r>
            <a:endParaRPr lang="en-US" sz="1400" dirty="0"/>
          </a:p>
        </p:txBody>
      </p:sp>
      <p:sp>
        <p:nvSpPr>
          <p:cNvPr id="28" name="Text 26"/>
          <p:cNvSpPr/>
          <p:nvPr/>
        </p:nvSpPr>
        <p:spPr>
          <a:xfrm>
            <a:off x="6781800" y="2533650"/>
            <a:ext cx="4667250" cy="2286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Comparison outcome</a:t>
            </a:r>
            <a:endParaRPr lang="en-US" sz="1600" dirty="0"/>
          </a:p>
        </p:txBody>
      </p:sp>
      <p:sp>
        <p:nvSpPr>
          <p:cNvPr id="29" name="Text 27"/>
          <p:cNvSpPr/>
          <p:nvPr/>
        </p:nvSpPr>
        <p:spPr>
          <a:xfrm>
            <a:off x="6781800" y="2800350"/>
            <a:ext cx="4705350" cy="6286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CFD9E5"/>
                </a:solidFill>
                <a:latin typeface="Calibri" pitchFamily="34" charset="0"/>
                <a:ea typeface="Calibri" pitchFamily="34" charset="-122"/>
                <a:cs typeface="Calibri" pitchFamily="34" charset="-120"/>
              </a:rPr>
              <a:t>On 56 held-out runs the rule arm reached 0.911 against 0.429 for the ML arm and 0.357 for a constant predictor; the ML arm is not statistically distinguishable from that control on the available telemetry.</a:t>
            </a:r>
            <a:endParaRPr lang="en-US" sz="1220" dirty="0"/>
          </a:p>
        </p:txBody>
      </p:sp>
      <p:sp>
        <p:nvSpPr>
          <p:cNvPr id="30" name="Shape 28"/>
          <p:cNvSpPr/>
          <p:nvPr/>
        </p:nvSpPr>
        <p:spPr>
          <a:xfrm>
            <a:off x="6286500" y="3581400"/>
            <a:ext cx="5334000" cy="1066800"/>
          </a:xfrm>
          <a:prstGeom prst="roundRect">
            <a:avLst>
              <a:gd name="adj" fmla="val 3429"/>
            </a:avLst>
          </a:prstGeom>
          <a:solidFill>
            <a:srgbClr val="16314B"/>
          </a:solidFill>
          <a:ln w="12700">
            <a:solidFill>
              <a:srgbClr val="27455E"/>
            </a:solidFill>
            <a:prstDash val="solid"/>
          </a:ln>
        </p:spPr>
        <p:txBody>
          <a:bodyPr/>
          <a:lstStyle/>
          <a:p>
            <a:endParaRPr lang="en-IN"/>
          </a:p>
        </p:txBody>
      </p:sp>
      <p:sp>
        <p:nvSpPr>
          <p:cNvPr id="31" name="Text 29"/>
          <p:cNvSpPr/>
          <p:nvPr/>
        </p:nvSpPr>
        <p:spPr>
          <a:xfrm>
            <a:off x="6457950" y="3695700"/>
            <a:ext cx="2857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8B89A"/>
                </a:solidFill>
                <a:latin typeface="Cambria" pitchFamily="34" charset="0"/>
                <a:ea typeface="Cambria" pitchFamily="34" charset="-122"/>
                <a:cs typeface="Cambria" pitchFamily="34" charset="-120"/>
              </a:rPr>
              <a:t>7</a:t>
            </a:r>
            <a:endParaRPr lang="en-US" sz="1400" dirty="0"/>
          </a:p>
        </p:txBody>
      </p:sp>
      <p:sp>
        <p:nvSpPr>
          <p:cNvPr id="32" name="Text 30"/>
          <p:cNvSpPr/>
          <p:nvPr/>
        </p:nvSpPr>
        <p:spPr>
          <a:xfrm>
            <a:off x="6781800" y="3676650"/>
            <a:ext cx="4667250" cy="2286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Limits identified</a:t>
            </a:r>
            <a:endParaRPr lang="en-US" sz="1600" dirty="0"/>
          </a:p>
        </p:txBody>
      </p:sp>
      <p:sp>
        <p:nvSpPr>
          <p:cNvPr id="33" name="Text 31"/>
          <p:cNvSpPr/>
          <p:nvPr/>
        </p:nvSpPr>
        <p:spPr>
          <a:xfrm>
            <a:off x="6781800" y="3943350"/>
            <a:ext cx="4705350" cy="6286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CFD9E5"/>
                </a:solidFill>
                <a:latin typeface="Calibri" pitchFamily="34" charset="0"/>
                <a:ea typeface="Calibri" pitchFamily="34" charset="-122"/>
                <a:cs typeface="Calibri" pitchFamily="34" charset="-120"/>
              </a:rPr>
              <a:t>One systematic benign failure with a defined fix, an interception evasion band near 60 %, and five fault classes requiring hardware.</a:t>
            </a:r>
            <a:endParaRPr lang="en-US" sz="1220" dirty="0"/>
          </a:p>
        </p:txBody>
      </p:sp>
      <p:sp>
        <p:nvSpPr>
          <p:cNvPr id="34" name="Shape 32"/>
          <p:cNvSpPr/>
          <p:nvPr/>
        </p:nvSpPr>
        <p:spPr>
          <a:xfrm>
            <a:off x="6286500" y="4724400"/>
            <a:ext cx="5334000" cy="1066800"/>
          </a:xfrm>
          <a:prstGeom prst="roundRect">
            <a:avLst>
              <a:gd name="adj" fmla="val 3429"/>
            </a:avLst>
          </a:prstGeom>
          <a:solidFill>
            <a:srgbClr val="16314B"/>
          </a:solidFill>
          <a:ln w="12700">
            <a:solidFill>
              <a:srgbClr val="27455E"/>
            </a:solidFill>
            <a:prstDash val="solid"/>
          </a:ln>
        </p:spPr>
        <p:txBody>
          <a:bodyPr/>
          <a:lstStyle/>
          <a:p>
            <a:endParaRPr lang="en-IN"/>
          </a:p>
        </p:txBody>
      </p:sp>
      <p:sp>
        <p:nvSpPr>
          <p:cNvPr id="35" name="Text 33"/>
          <p:cNvSpPr/>
          <p:nvPr/>
        </p:nvSpPr>
        <p:spPr>
          <a:xfrm>
            <a:off x="6457950" y="4838700"/>
            <a:ext cx="285750" cy="20955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8B89A"/>
                </a:solidFill>
                <a:latin typeface="Cambria" pitchFamily="34" charset="0"/>
                <a:ea typeface="Cambria" pitchFamily="34" charset="-122"/>
                <a:cs typeface="Cambria" pitchFamily="34" charset="-120"/>
              </a:rPr>
              <a:t>8</a:t>
            </a:r>
            <a:endParaRPr lang="en-US" sz="1400" dirty="0"/>
          </a:p>
        </p:txBody>
      </p:sp>
      <p:sp>
        <p:nvSpPr>
          <p:cNvPr id="36" name="Text 34"/>
          <p:cNvSpPr/>
          <p:nvPr/>
        </p:nvSpPr>
        <p:spPr>
          <a:xfrm>
            <a:off x="6781800" y="4819650"/>
            <a:ext cx="4667250" cy="228600"/>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FFFFFF"/>
                </a:solidFill>
                <a:latin typeface="Cambria" pitchFamily="34" charset="0"/>
                <a:ea typeface="Cambria" pitchFamily="34" charset="-122"/>
                <a:cs typeface="Cambria" pitchFamily="34" charset="-120"/>
              </a:rPr>
              <a:t>Immediate next steps</a:t>
            </a:r>
            <a:endParaRPr lang="en-US" sz="1600" dirty="0"/>
          </a:p>
        </p:txBody>
      </p:sp>
      <p:sp>
        <p:nvSpPr>
          <p:cNvPr id="37" name="Text 35"/>
          <p:cNvSpPr/>
          <p:nvPr/>
        </p:nvSpPr>
        <p:spPr>
          <a:xfrm>
            <a:off x="6781800" y="5086350"/>
            <a:ext cx="4705350" cy="628650"/>
          </a:xfrm>
          <a:prstGeom prst="rect">
            <a:avLst/>
          </a:prstGeom>
          <a:noFill/>
          <a:ln/>
        </p:spPr>
        <p:txBody>
          <a:bodyPr wrap="square" lIns="0" tIns="0" rIns="0" bIns="0" rtlCol="0" anchor="t">
            <a:normAutofit/>
          </a:bodyPr>
          <a:lstStyle/>
          <a:p>
            <a:pPr marL="0" indent="0" algn="l">
              <a:lnSpc>
                <a:spcPct val="100000"/>
              </a:lnSpc>
              <a:buNone/>
            </a:pPr>
            <a:r>
              <a:rPr lang="en-US" sz="1220" dirty="0">
                <a:solidFill>
                  <a:srgbClr val="CFD9E5"/>
                </a:solidFill>
                <a:latin typeface="Calibri" pitchFamily="34" charset="0"/>
                <a:ea typeface="Calibri" pitchFamily="34" charset="-122"/>
                <a:cs typeface="Calibri" pitchFamily="34" charset="-120"/>
              </a:rPr>
              <a:t>Extend the provisioned-replacement context and re-freeze; sweep interception levels; add continuity-based detection; re-run the ML arm with management-plane telemetry.</a:t>
            </a:r>
            <a:endParaRPr lang="en-US" sz="1220" dirty="0"/>
          </a:p>
        </p:txBody>
      </p:sp>
      <p:sp>
        <p:nvSpPr>
          <p:cNvPr id="38" name="Shape 36"/>
          <p:cNvSpPr/>
          <p:nvPr/>
        </p:nvSpPr>
        <p:spPr>
          <a:xfrm>
            <a:off x="571500" y="5905500"/>
            <a:ext cx="11049000" cy="14288"/>
          </a:xfrm>
          <a:prstGeom prst="rect">
            <a:avLst/>
          </a:prstGeom>
          <a:solidFill>
            <a:srgbClr val="27455E"/>
          </a:solidFill>
          <a:ln/>
        </p:spPr>
        <p:txBody>
          <a:bodyPr/>
          <a:lstStyle/>
          <a:p>
            <a:endParaRPr lang="en-IN"/>
          </a:p>
        </p:txBody>
      </p:sp>
      <p:sp>
        <p:nvSpPr>
          <p:cNvPr id="39" name="Text 37"/>
          <p:cNvSpPr/>
          <p:nvPr/>
        </p:nvSpPr>
        <p:spPr>
          <a:xfrm>
            <a:off x="571500" y="6038850"/>
            <a:ext cx="3810000" cy="381000"/>
          </a:xfrm>
          <a:prstGeom prst="rect">
            <a:avLst/>
          </a:prstGeom>
          <a:noFill/>
          <a:ln/>
        </p:spPr>
        <p:txBody>
          <a:bodyPr wrap="square" lIns="0" tIns="0" rIns="0" bIns="0" rtlCol="0" anchor="t">
            <a:normAutofit/>
          </a:bodyPr>
          <a:lstStyle/>
          <a:p>
            <a:pPr marL="0" indent="0" algn="l">
              <a:lnSpc>
                <a:spcPct val="100000"/>
              </a:lnSpc>
              <a:buNone/>
            </a:pPr>
            <a:r>
              <a:rPr lang="en-US" sz="2800" b="1" dirty="0">
                <a:solidFill>
                  <a:srgbClr val="18B89A"/>
                </a:solidFill>
                <a:latin typeface="Cambria" pitchFamily="34" charset="0"/>
                <a:ea typeface="Cambria" pitchFamily="34" charset="-122"/>
                <a:cs typeface="Cambria" pitchFamily="34" charset="-120"/>
              </a:rPr>
              <a:t>Thank you</a:t>
            </a:r>
            <a:endParaRPr lang="en-US" sz="2800" dirty="0"/>
          </a:p>
        </p:txBody>
      </p:sp>
      <p:sp>
        <p:nvSpPr>
          <p:cNvPr id="40" name="Text 38"/>
          <p:cNvSpPr/>
          <p:nvPr/>
        </p:nvSpPr>
        <p:spPr>
          <a:xfrm>
            <a:off x="5334000" y="6134100"/>
            <a:ext cx="6286500" cy="228600"/>
          </a:xfrm>
          <a:prstGeom prst="rect">
            <a:avLst/>
          </a:prstGeom>
          <a:noFill/>
          <a:ln/>
        </p:spPr>
        <p:txBody>
          <a:bodyPr wrap="square" lIns="0" tIns="0" rIns="0" bIns="0" rtlCol="0" anchor="t">
            <a:normAutofit/>
          </a:bodyPr>
          <a:lstStyle/>
          <a:p>
            <a:pPr marL="0" indent="0" algn="r">
              <a:lnSpc>
                <a:spcPct val="100000"/>
              </a:lnSpc>
              <a:buNone/>
            </a:pPr>
            <a:r>
              <a:rPr lang="en-US" sz="1350" dirty="0">
                <a:solidFill>
                  <a:srgbClr val="CFD9E5"/>
                </a:solidFill>
                <a:latin typeface="Calibri" pitchFamily="34" charset="0"/>
                <a:ea typeface="Calibri" pitchFamily="34" charset="-122"/>
                <a:cs typeface="Calibri" pitchFamily="34" charset="-120"/>
              </a:rPr>
              <a:t>Tanmaya Kumar  ·  Raghu Ram K  ·  Munipalle Jaswanth Kumar</a:t>
            </a:r>
            <a:endParaRPr lang="en-US" sz="1350" dirty="0"/>
          </a:p>
        </p:txBody>
      </p:sp>
      <p:sp>
        <p:nvSpPr>
          <p:cNvPr id="41" name="Text 39"/>
          <p:cNvSpPr/>
          <p:nvPr/>
        </p:nvSpPr>
        <p:spPr>
          <a:xfrm>
            <a:off x="4572000" y="6362700"/>
            <a:ext cx="7048500" cy="190500"/>
          </a:xfrm>
          <a:prstGeom prst="rect">
            <a:avLst/>
          </a:prstGeom>
          <a:noFill/>
          <a:ln/>
        </p:spPr>
        <p:txBody>
          <a:bodyPr wrap="square" lIns="0" tIns="0" rIns="0" bIns="0" rtlCol="0" anchor="t">
            <a:normAutofit/>
          </a:bodyPr>
          <a:lstStyle/>
          <a:p>
            <a:pPr marL="0" indent="0" algn="r">
              <a:lnSpc>
                <a:spcPct val="100000"/>
              </a:lnSpc>
              <a:buNone/>
            </a:pPr>
            <a:r>
              <a:rPr lang="en-US" sz="1100" dirty="0">
                <a:solidFill>
                  <a:srgbClr val="CFD9E5"/>
                </a:solidFill>
                <a:latin typeface="Calibri" pitchFamily="34" charset="0"/>
                <a:ea typeface="Calibri" pitchFamily="34" charset="-122"/>
                <a:cs typeface="Calibri" pitchFamily="34" charset="-120"/>
              </a:rPr>
              <a:t>Status: S-plane detection and classification evaluated. Prediction, digital twin and automated healing not yet executed.</a:t>
            </a:r>
            <a:endParaRPr lang="en-US" sz="11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8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10312"/>
            <a:ext cx="11045952" cy="228600"/>
          </a:xfrm>
          <a:prstGeom prst="rect">
            <a:avLst/>
          </a:prstGeom>
          <a:noFill/>
        </p:spPr>
        <p:txBody>
          <a:bodyPr wrap="square" lIns="18288" rIns="18288" tIns="9144" bIns="9144" anchor="t">
            <a:spAutoFit/>
          </a:bodyPr>
          <a:lstStyle/>
          <a:p>
            <a:pPr algn="l"/>
            <a:r>
              <a:rPr sz="1280" b="1" i="0">
                <a:solidFill>
                  <a:srgbClr val="1C7293"/>
                </a:solidFill>
                <a:latin typeface="Calibri"/>
              </a:rPr>
              <a:t>REVIEW RESPONSE</a:t>
            </a:r>
          </a:p>
        </p:txBody>
      </p:sp>
      <p:sp>
        <p:nvSpPr>
          <p:cNvPr id="5" name="TextBox 4"/>
          <p:cNvSpPr txBox="1"/>
          <p:nvPr/>
        </p:nvSpPr>
        <p:spPr>
          <a:xfrm>
            <a:off x="566928" y="448056"/>
            <a:ext cx="11045952" cy="548640"/>
          </a:xfrm>
          <a:prstGeom prst="rect">
            <a:avLst/>
          </a:prstGeom>
          <a:noFill/>
        </p:spPr>
        <p:txBody>
          <a:bodyPr wrap="square" lIns="18288" rIns="18288" tIns="9144" bIns="9144" anchor="t">
            <a:spAutoFit/>
          </a:bodyPr>
          <a:lstStyle/>
          <a:p>
            <a:pPr algn="l"/>
            <a:r>
              <a:rPr sz="3300" b="1" i="0">
                <a:solidFill>
                  <a:srgbClr val="12263A"/>
                </a:solidFill>
                <a:latin typeface="Cambria"/>
              </a:rPr>
              <a:t>Reviewer Questions and Where Each Is Answered</a:t>
            </a:r>
          </a:p>
        </p:txBody>
      </p:sp>
      <p:sp>
        <p:nvSpPr>
          <p:cNvPr id="6" name="Rounded Rectangle 5"/>
          <p:cNvSpPr/>
          <p:nvPr/>
        </p:nvSpPr>
        <p:spPr>
          <a:xfrm>
            <a:off x="566928" y="1060704"/>
            <a:ext cx="11045952" cy="438912"/>
          </a:xfrm>
          <a:prstGeom prst="roundRect">
            <a:avLst>
              <a:gd name="adj" fmla="val 8000"/>
            </a:avLst>
          </a:prstGeom>
          <a:solidFill>
            <a:srgbClr val="EAF2F8"/>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1097280"/>
            <a:ext cx="10744200" cy="384048"/>
          </a:xfrm>
          <a:prstGeom prst="rect">
            <a:avLst/>
          </a:prstGeom>
          <a:noFill/>
        </p:spPr>
        <p:txBody>
          <a:bodyPr wrap="square" lIns="18288" rIns="18288" tIns="9144" bIns="9144" anchor="ctr">
            <a:spAutoFit/>
          </a:bodyPr>
          <a:lstStyle/>
          <a:p>
            <a:pPr algn="l"/>
            <a:r>
              <a:rPr sz="1019" b="0" i="0">
                <a:solidFill>
                  <a:srgbClr val="5B6B7C"/>
                </a:solidFill>
                <a:latin typeface="Calibri"/>
              </a:rPr>
              <a:t>Questions transcribed from the reviewer's handwritten notes on the PRISM review presentation  |  Every new slide carries numbered references [n] listed at the end of the deck</a:t>
            </a:r>
          </a:p>
        </p:txBody>
      </p:sp>
      <p:sp>
        <p:nvSpPr>
          <p:cNvPr id="8" name="TextBox 7"/>
          <p:cNvSpPr txBox="1"/>
          <p:nvPr/>
        </p:nvSpPr>
        <p:spPr>
          <a:xfrm>
            <a:off x="667512" y="1664208"/>
            <a:ext cx="6858000" cy="228600"/>
          </a:xfrm>
          <a:prstGeom prst="rect">
            <a:avLst/>
          </a:prstGeom>
          <a:noFill/>
        </p:spPr>
        <p:txBody>
          <a:bodyPr wrap="square" lIns="18288" rIns="18288" tIns="9144" bIns="9144" anchor="t">
            <a:spAutoFit/>
          </a:bodyPr>
          <a:lstStyle/>
          <a:p>
            <a:pPr algn="l"/>
            <a:r>
              <a:rPr sz="1150" b="1" i="0">
                <a:solidFill>
                  <a:srgbClr val="1C7293"/>
                </a:solidFill>
                <a:latin typeface="Calibri"/>
              </a:rPr>
              <a:t>REVIEWER QUESTION</a:t>
            </a:r>
          </a:p>
        </p:txBody>
      </p:sp>
      <p:sp>
        <p:nvSpPr>
          <p:cNvPr id="9" name="TextBox 8"/>
          <p:cNvSpPr txBox="1"/>
          <p:nvPr/>
        </p:nvSpPr>
        <p:spPr>
          <a:xfrm>
            <a:off x="7635240" y="1664208"/>
            <a:ext cx="3977639" cy="228600"/>
          </a:xfrm>
          <a:prstGeom prst="rect">
            <a:avLst/>
          </a:prstGeom>
          <a:noFill/>
        </p:spPr>
        <p:txBody>
          <a:bodyPr wrap="square" lIns="18288" rIns="18288" tIns="9144" bIns="9144" anchor="t">
            <a:spAutoFit/>
          </a:bodyPr>
          <a:lstStyle/>
          <a:p>
            <a:pPr algn="l"/>
            <a:r>
              <a:rPr sz="1150" b="1" i="0">
                <a:solidFill>
                  <a:srgbClr val="1C7293"/>
                </a:solidFill>
                <a:latin typeface="Calibri"/>
              </a:rPr>
              <a:t>ANSWERED ON</a:t>
            </a:r>
          </a:p>
        </p:txBody>
      </p:sp>
      <p:sp>
        <p:nvSpPr>
          <p:cNvPr id="10" name="Rectangle 9"/>
          <p:cNvSpPr/>
          <p:nvPr/>
        </p:nvSpPr>
        <p:spPr>
          <a:xfrm>
            <a:off x="566928" y="1938528"/>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975104"/>
            <a:ext cx="6858000" cy="420624"/>
          </a:xfrm>
          <a:prstGeom prst="rect">
            <a:avLst/>
          </a:prstGeom>
          <a:noFill/>
        </p:spPr>
        <p:txBody>
          <a:bodyPr wrap="square" lIns="18288" rIns="18288" tIns="9144" bIns="9144" anchor="t">
            <a:spAutoFit/>
          </a:bodyPr>
          <a:lstStyle/>
          <a:p>
            <a:pPr algn="l"/>
            <a:r>
              <a:rPr sz="1300" b="1" i="0">
                <a:solidFill>
                  <a:srgbClr val="12263A"/>
                </a:solidFill>
                <a:latin typeface="Calibri"/>
              </a:rPr>
              <a:t>What kind of attack, by whom, and how? Who does these attacks? Source of attack?</a:t>
            </a:r>
          </a:p>
        </p:txBody>
      </p:sp>
      <p:sp>
        <p:nvSpPr>
          <p:cNvPr id="12" name="TextBox 11"/>
          <p:cNvSpPr txBox="1"/>
          <p:nvPr/>
        </p:nvSpPr>
        <p:spPr>
          <a:xfrm>
            <a:off x="7635240" y="1975104"/>
            <a:ext cx="3977639" cy="420624"/>
          </a:xfrm>
          <a:prstGeom prst="rect">
            <a:avLst/>
          </a:prstGeom>
          <a:noFill/>
        </p:spPr>
        <p:txBody>
          <a:bodyPr wrap="square" lIns="18288" rIns="18288" tIns="9144" bIns="9144" anchor="t">
            <a:spAutoFit/>
          </a:bodyPr>
          <a:lstStyle/>
          <a:p>
            <a:pPr algn="l"/>
            <a:r>
              <a:rPr sz="1300" b="0" i="0">
                <a:solidFill>
                  <a:srgbClr val="12263A"/>
                </a:solidFill>
                <a:latin typeface="Calibri"/>
              </a:rPr>
              <a:t>Threat model and entry points: slides 9, 10</a:t>
            </a:r>
          </a:p>
        </p:txBody>
      </p:sp>
      <p:sp>
        <p:nvSpPr>
          <p:cNvPr id="13" name="Rectangle 12"/>
          <p:cNvSpPr/>
          <p:nvPr/>
        </p:nvSpPr>
        <p:spPr>
          <a:xfrm>
            <a:off x="566928" y="2395728"/>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2432304"/>
            <a:ext cx="6858000" cy="420624"/>
          </a:xfrm>
          <a:prstGeom prst="rect">
            <a:avLst/>
          </a:prstGeom>
          <a:noFill/>
        </p:spPr>
        <p:txBody>
          <a:bodyPr wrap="square" lIns="18288" rIns="18288" tIns="9144" bIns="9144" anchor="t">
            <a:spAutoFit/>
          </a:bodyPr>
          <a:lstStyle/>
          <a:p>
            <a:pPr algn="l"/>
            <a:r>
              <a:rPr sz="1300" b="1" i="0">
                <a:solidFill>
                  <a:srgbClr val="12263A"/>
                </a:solidFill>
                <a:latin typeface="Calibri"/>
              </a:rPr>
              <a:t>Were the 8 attacks existing or made up? Where were they referred from? Citations?</a:t>
            </a:r>
          </a:p>
        </p:txBody>
      </p:sp>
      <p:sp>
        <p:nvSpPr>
          <p:cNvPr id="15" name="TextBox 14"/>
          <p:cNvSpPr txBox="1"/>
          <p:nvPr/>
        </p:nvSpPr>
        <p:spPr>
          <a:xfrm>
            <a:off x="7635240" y="2432304"/>
            <a:ext cx="3977639" cy="420624"/>
          </a:xfrm>
          <a:prstGeom prst="rect">
            <a:avLst/>
          </a:prstGeom>
          <a:noFill/>
        </p:spPr>
        <p:txBody>
          <a:bodyPr wrap="square" lIns="18288" rIns="18288" tIns="9144" bIns="9144" anchor="t">
            <a:spAutoFit/>
          </a:bodyPr>
          <a:lstStyle/>
          <a:p>
            <a:pPr algn="l"/>
            <a:r>
              <a:rPr sz="1300" b="0" i="0">
                <a:solidFill>
                  <a:srgbClr val="12263A"/>
                </a:solidFill>
                <a:latin typeface="Calibri"/>
              </a:rPr>
              <a:t>Attack provenance: slide 11; references: slide 42</a:t>
            </a:r>
          </a:p>
        </p:txBody>
      </p:sp>
      <p:sp>
        <p:nvSpPr>
          <p:cNvPr id="16" name="Rectangle 15"/>
          <p:cNvSpPr/>
          <p:nvPr/>
        </p:nvSpPr>
        <p:spPr>
          <a:xfrm>
            <a:off x="566928" y="2852928"/>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2889504"/>
            <a:ext cx="6858000" cy="420624"/>
          </a:xfrm>
          <a:prstGeom prst="rect">
            <a:avLst/>
          </a:prstGeom>
          <a:noFill/>
        </p:spPr>
        <p:txBody>
          <a:bodyPr wrap="square" lIns="18288" rIns="18288" tIns="9144" bIns="9144" anchor="t">
            <a:spAutoFit/>
          </a:bodyPr>
          <a:lstStyle/>
          <a:p>
            <a:pPr algn="l"/>
            <a:r>
              <a:rPr sz="1300" b="1" i="0">
                <a:solidFill>
                  <a:srgbClr val="12263A"/>
                </a:solidFill>
                <a:latin typeface="Calibri"/>
              </a:rPr>
              <a:t>What are the impacts? Which module will these attacks affect?</a:t>
            </a:r>
          </a:p>
        </p:txBody>
      </p:sp>
      <p:sp>
        <p:nvSpPr>
          <p:cNvPr id="18" name="TextBox 17"/>
          <p:cNvSpPr txBox="1"/>
          <p:nvPr/>
        </p:nvSpPr>
        <p:spPr>
          <a:xfrm>
            <a:off x="7635240" y="2889504"/>
            <a:ext cx="3977639" cy="420624"/>
          </a:xfrm>
          <a:prstGeom prst="rect">
            <a:avLst/>
          </a:prstGeom>
          <a:noFill/>
        </p:spPr>
        <p:txBody>
          <a:bodyPr wrap="square" lIns="18288" rIns="18288" tIns="9144" bIns="9144" anchor="t">
            <a:spAutoFit/>
          </a:bodyPr>
          <a:lstStyle/>
          <a:p>
            <a:pPr algn="l"/>
            <a:r>
              <a:rPr sz="1300" b="0" i="0">
                <a:solidFill>
                  <a:srgbClr val="12263A"/>
                </a:solidFill>
                <a:latin typeface="Calibri"/>
              </a:rPr>
              <a:t>Impact and affected component: slide 12</a:t>
            </a:r>
          </a:p>
        </p:txBody>
      </p:sp>
      <p:sp>
        <p:nvSpPr>
          <p:cNvPr id="19" name="Rectangle 18"/>
          <p:cNvSpPr/>
          <p:nvPr/>
        </p:nvSpPr>
        <p:spPr>
          <a:xfrm>
            <a:off x="566928" y="3310128"/>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 y="3346704"/>
            <a:ext cx="6858000" cy="420624"/>
          </a:xfrm>
          <a:prstGeom prst="rect">
            <a:avLst/>
          </a:prstGeom>
          <a:noFill/>
        </p:spPr>
        <p:txBody>
          <a:bodyPr wrap="square" lIns="18288" rIns="18288" tIns="9144" bIns="9144" anchor="t">
            <a:spAutoFit/>
          </a:bodyPr>
          <a:lstStyle/>
          <a:p>
            <a:pPr algn="l"/>
            <a:r>
              <a:rPr sz="1300" b="1" i="0">
                <a:solidFill>
                  <a:srgbClr val="12263A"/>
                </a:solidFill>
                <a:latin typeface="Calibri"/>
              </a:rPr>
              <a:t>Explain the DU layers and the architecture</a:t>
            </a:r>
          </a:p>
        </p:txBody>
      </p:sp>
      <p:sp>
        <p:nvSpPr>
          <p:cNvPr id="21" name="TextBox 20"/>
          <p:cNvSpPr txBox="1"/>
          <p:nvPr/>
        </p:nvSpPr>
        <p:spPr>
          <a:xfrm>
            <a:off x="7635240" y="3346704"/>
            <a:ext cx="3977639" cy="420624"/>
          </a:xfrm>
          <a:prstGeom prst="rect">
            <a:avLst/>
          </a:prstGeom>
          <a:noFill/>
        </p:spPr>
        <p:txBody>
          <a:bodyPr wrap="square" lIns="18288" rIns="18288" tIns="9144" bIns="9144" anchor="t">
            <a:spAutoFit/>
          </a:bodyPr>
          <a:lstStyle/>
          <a:p>
            <a:pPr algn="l"/>
            <a:r>
              <a:rPr sz="1300" b="0" i="0">
                <a:solidFill>
                  <a:srgbClr val="12263A"/>
                </a:solidFill>
                <a:latin typeface="Calibri"/>
              </a:rPr>
              <a:t>Functional split and timing configurations: slides 5, 6</a:t>
            </a:r>
          </a:p>
        </p:txBody>
      </p:sp>
      <p:sp>
        <p:nvSpPr>
          <p:cNvPr id="22" name="Rectangle 21"/>
          <p:cNvSpPr/>
          <p:nvPr/>
        </p:nvSpPr>
        <p:spPr>
          <a:xfrm>
            <a:off x="566928" y="3767328"/>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3803904"/>
            <a:ext cx="6858000" cy="420624"/>
          </a:xfrm>
          <a:prstGeom prst="rect">
            <a:avLst/>
          </a:prstGeom>
          <a:noFill/>
        </p:spPr>
        <p:txBody>
          <a:bodyPr wrap="square" lIns="18288" rIns="18288" tIns="9144" bIns="9144" anchor="t">
            <a:spAutoFit/>
          </a:bodyPr>
          <a:lstStyle/>
          <a:p>
            <a:pPr algn="l"/>
            <a:r>
              <a:rPr sz="1300" b="1" i="0">
                <a:solidFill>
                  <a:srgbClr val="12263A"/>
                </a:solidFill>
                <a:latin typeface="Calibri"/>
              </a:rPr>
              <a:t>Does it only work on O-RAN, or on other architectures?</a:t>
            </a:r>
          </a:p>
        </p:txBody>
      </p:sp>
      <p:sp>
        <p:nvSpPr>
          <p:cNvPr id="24" name="TextBox 23"/>
          <p:cNvSpPr txBox="1"/>
          <p:nvPr/>
        </p:nvSpPr>
        <p:spPr>
          <a:xfrm>
            <a:off x="7635240" y="3803904"/>
            <a:ext cx="3977639" cy="420624"/>
          </a:xfrm>
          <a:prstGeom prst="rect">
            <a:avLst/>
          </a:prstGeom>
          <a:noFill/>
        </p:spPr>
        <p:txBody>
          <a:bodyPr wrap="square" lIns="18288" rIns="18288" tIns="9144" bIns="9144" anchor="t">
            <a:spAutoFit/>
          </a:bodyPr>
          <a:lstStyle/>
          <a:p>
            <a:pPr algn="l"/>
            <a:r>
              <a:rPr sz="1300" b="0" i="0">
                <a:solidFill>
                  <a:srgbClr val="12263A"/>
                </a:solidFill>
                <a:latin typeface="Calibri"/>
              </a:rPr>
              <a:t>Applicability: slide 40</a:t>
            </a:r>
          </a:p>
        </p:txBody>
      </p:sp>
      <p:sp>
        <p:nvSpPr>
          <p:cNvPr id="25" name="Rectangle 24"/>
          <p:cNvSpPr/>
          <p:nvPr/>
        </p:nvSpPr>
        <p:spPr>
          <a:xfrm>
            <a:off x="566928" y="4224528"/>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261104"/>
            <a:ext cx="6858000" cy="420624"/>
          </a:xfrm>
          <a:prstGeom prst="rect">
            <a:avLst/>
          </a:prstGeom>
          <a:noFill/>
        </p:spPr>
        <p:txBody>
          <a:bodyPr wrap="square" lIns="18288" rIns="18288" tIns="9144" bIns="9144" anchor="t">
            <a:spAutoFit/>
          </a:bodyPr>
          <a:lstStyle/>
          <a:p>
            <a:pPr algn="l"/>
            <a:r>
              <a:rPr sz="1300" b="1" i="0">
                <a:solidFill>
                  <a:srgbClr val="12263A"/>
                </a:solidFill>
                <a:latin typeface="Calibri"/>
              </a:rPr>
              <a:t>From which model did we get the KPIs?</a:t>
            </a:r>
          </a:p>
        </p:txBody>
      </p:sp>
      <p:sp>
        <p:nvSpPr>
          <p:cNvPr id="27" name="TextBox 26"/>
          <p:cNvSpPr txBox="1"/>
          <p:nvPr/>
        </p:nvSpPr>
        <p:spPr>
          <a:xfrm>
            <a:off x="7635240" y="4261104"/>
            <a:ext cx="3977639" cy="420624"/>
          </a:xfrm>
          <a:prstGeom prst="rect">
            <a:avLst/>
          </a:prstGeom>
          <a:noFill/>
        </p:spPr>
        <p:txBody>
          <a:bodyPr wrap="square" lIns="18288" rIns="18288" tIns="9144" bIns="9144" anchor="t">
            <a:spAutoFit/>
          </a:bodyPr>
          <a:lstStyle/>
          <a:p>
            <a:pPr algn="l"/>
            <a:r>
              <a:rPr sz="1300" b="0" i="0">
                <a:solidFill>
                  <a:srgbClr val="12263A"/>
                </a:solidFill>
                <a:latin typeface="Calibri"/>
              </a:rPr>
              <a:t>KPI sources: slide 20</a:t>
            </a:r>
          </a:p>
        </p:txBody>
      </p:sp>
      <p:sp>
        <p:nvSpPr>
          <p:cNvPr id="28" name="Rectangle 27"/>
          <p:cNvSpPr/>
          <p:nvPr/>
        </p:nvSpPr>
        <p:spPr>
          <a:xfrm>
            <a:off x="566928" y="4681728"/>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4718304"/>
            <a:ext cx="6858000" cy="420624"/>
          </a:xfrm>
          <a:prstGeom prst="rect">
            <a:avLst/>
          </a:prstGeom>
          <a:noFill/>
        </p:spPr>
        <p:txBody>
          <a:bodyPr wrap="square" lIns="18288" rIns="18288" tIns="9144" bIns="9144" anchor="t">
            <a:spAutoFit/>
          </a:bodyPr>
          <a:lstStyle/>
          <a:p>
            <a:pPr algn="l"/>
            <a:r>
              <a:rPr sz="1300" b="1" i="0">
                <a:solidFill>
                  <a:srgbClr val="12263A"/>
                </a:solidFill>
                <a:latin typeface="Calibri"/>
              </a:rPr>
              <a:t>Where did we get the dataset?</a:t>
            </a:r>
          </a:p>
        </p:txBody>
      </p:sp>
      <p:sp>
        <p:nvSpPr>
          <p:cNvPr id="30" name="TextBox 29"/>
          <p:cNvSpPr txBox="1"/>
          <p:nvPr/>
        </p:nvSpPr>
        <p:spPr>
          <a:xfrm>
            <a:off x="7635240" y="4718304"/>
            <a:ext cx="3977639" cy="420624"/>
          </a:xfrm>
          <a:prstGeom prst="rect">
            <a:avLst/>
          </a:prstGeom>
          <a:noFill/>
        </p:spPr>
        <p:txBody>
          <a:bodyPr wrap="square" lIns="18288" rIns="18288" tIns="9144" bIns="9144" anchor="t">
            <a:spAutoFit/>
          </a:bodyPr>
          <a:lstStyle/>
          <a:p>
            <a:pPr algn="l"/>
            <a:r>
              <a:rPr sz="1300" b="0" i="0">
                <a:solidFill>
                  <a:srgbClr val="12263A"/>
                </a:solidFill>
                <a:latin typeface="Calibri"/>
              </a:rPr>
              <a:t>Dataset provenance: slide 23</a:t>
            </a:r>
          </a:p>
        </p:txBody>
      </p:sp>
      <p:sp>
        <p:nvSpPr>
          <p:cNvPr id="31" name="Rectangle 30"/>
          <p:cNvSpPr/>
          <p:nvPr/>
        </p:nvSpPr>
        <p:spPr>
          <a:xfrm>
            <a:off x="566928" y="5138928"/>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7512" y="5175504"/>
            <a:ext cx="6858000" cy="420624"/>
          </a:xfrm>
          <a:prstGeom prst="rect">
            <a:avLst/>
          </a:prstGeom>
          <a:noFill/>
        </p:spPr>
        <p:txBody>
          <a:bodyPr wrap="square" lIns="18288" rIns="18288" tIns="9144" bIns="9144" anchor="t">
            <a:spAutoFit/>
          </a:bodyPr>
          <a:lstStyle/>
          <a:p>
            <a:pPr algn="l"/>
            <a:r>
              <a:rPr sz="1300" b="1" i="0">
                <a:solidFill>
                  <a:srgbClr val="12263A"/>
                </a:solidFill>
                <a:latin typeface="Calibri"/>
              </a:rPr>
              <a:t>Classify the KPIs so that we can proceed with recovery</a:t>
            </a:r>
          </a:p>
        </p:txBody>
      </p:sp>
      <p:sp>
        <p:nvSpPr>
          <p:cNvPr id="33" name="TextBox 32"/>
          <p:cNvSpPr txBox="1"/>
          <p:nvPr/>
        </p:nvSpPr>
        <p:spPr>
          <a:xfrm>
            <a:off x="7635240" y="5175504"/>
            <a:ext cx="3977639" cy="420624"/>
          </a:xfrm>
          <a:prstGeom prst="rect">
            <a:avLst/>
          </a:prstGeom>
          <a:noFill/>
        </p:spPr>
        <p:txBody>
          <a:bodyPr wrap="square" lIns="18288" rIns="18288" tIns="9144" bIns="9144" anchor="t">
            <a:spAutoFit/>
          </a:bodyPr>
          <a:lstStyle/>
          <a:p>
            <a:pPr algn="l"/>
            <a:r>
              <a:rPr sz="1300" b="0" i="0">
                <a:solidFill>
                  <a:srgbClr val="12263A"/>
                </a:solidFill>
                <a:latin typeface="Calibri"/>
              </a:rPr>
              <a:t>KPI classification for recovery: slide 21</a:t>
            </a:r>
          </a:p>
        </p:txBody>
      </p:sp>
      <p:sp>
        <p:nvSpPr>
          <p:cNvPr id="34" name="Rectangle 33"/>
          <p:cNvSpPr/>
          <p:nvPr/>
        </p:nvSpPr>
        <p:spPr>
          <a:xfrm>
            <a:off x="566928" y="5596128"/>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66928" y="5779008"/>
            <a:ext cx="11045952" cy="713232"/>
          </a:xfrm>
          <a:prstGeom prst="roundRect">
            <a:avLst>
              <a:gd name="adj" fmla="val 8000"/>
            </a:avLst>
          </a:prstGeom>
          <a:solidFill>
            <a:srgbClr val="FFF8E8"/>
          </a:solidFill>
          <a:ln w="12700">
            <a:solidFill>
              <a:srgbClr val="C58B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5852160"/>
            <a:ext cx="2103120" cy="566928"/>
          </a:xfrm>
          <a:prstGeom prst="rect">
            <a:avLst/>
          </a:prstGeom>
          <a:noFill/>
        </p:spPr>
        <p:txBody>
          <a:bodyPr wrap="square" lIns="18288" rIns="18288" tIns="9144" bIns="9144" anchor="ctr">
            <a:spAutoFit/>
          </a:bodyPr>
          <a:lstStyle/>
          <a:p>
            <a:pPr algn="l"/>
            <a:r>
              <a:rPr sz="1400" b="1" i="0">
                <a:solidFill>
                  <a:srgbClr val="C58B18"/>
                </a:solidFill>
                <a:latin typeface="Cambria"/>
              </a:rPr>
              <a:t>ALSO CHANGED</a:t>
            </a:r>
          </a:p>
        </p:txBody>
      </p:sp>
      <p:sp>
        <p:nvSpPr>
          <p:cNvPr id="37" name="TextBox 36"/>
          <p:cNvSpPr txBox="1"/>
          <p:nvPr/>
        </p:nvSpPr>
        <p:spPr>
          <a:xfrm>
            <a:off x="2834640" y="5833872"/>
            <a:ext cx="8595360" cy="603504"/>
          </a:xfrm>
          <a:prstGeom prst="rect">
            <a:avLst/>
          </a:prstGeom>
          <a:noFill/>
        </p:spPr>
        <p:txBody>
          <a:bodyPr wrap="square" lIns="18288" rIns="18288" tIns="9144" bIns="9144" anchor="ctr">
            <a:spAutoFit/>
          </a:bodyPr>
          <a:lstStyle/>
          <a:p>
            <a:pPr algn="l"/>
            <a:r>
              <a:rPr sz="1200" b="1" i="0">
                <a:solidFill>
                  <a:srgbClr val="12263A"/>
                </a:solidFill>
                <a:latin typeface="Calibri"/>
              </a:rPr>
              <a:t>Presentation: answers are placed where each question arises. Corrections to v7 are listed in the speaker notes of this slide.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8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10312"/>
            <a:ext cx="11045952" cy="228600"/>
          </a:xfrm>
          <a:prstGeom prst="rect">
            <a:avLst/>
          </a:prstGeom>
          <a:noFill/>
        </p:spPr>
        <p:txBody>
          <a:bodyPr wrap="square" lIns="18288" rIns="18288" tIns="9144" bIns="9144" anchor="t">
            <a:spAutoFit/>
          </a:bodyPr>
          <a:lstStyle/>
          <a:p>
            <a:pPr algn="l"/>
            <a:r>
              <a:rPr sz="1280" b="1" i="0">
                <a:solidFill>
                  <a:srgbClr val="1C7293"/>
                </a:solidFill>
                <a:latin typeface="Calibri"/>
              </a:rPr>
              <a:t>SYSTEM ARCHITECTURE · PROTOCOL LAYERS</a:t>
            </a:r>
          </a:p>
        </p:txBody>
      </p:sp>
      <p:sp>
        <p:nvSpPr>
          <p:cNvPr id="5" name="TextBox 4"/>
          <p:cNvSpPr txBox="1"/>
          <p:nvPr/>
        </p:nvSpPr>
        <p:spPr>
          <a:xfrm>
            <a:off x="566928" y="448056"/>
            <a:ext cx="11045952" cy="548640"/>
          </a:xfrm>
          <a:prstGeom prst="rect">
            <a:avLst/>
          </a:prstGeom>
          <a:noFill/>
        </p:spPr>
        <p:txBody>
          <a:bodyPr wrap="square" lIns="18288" rIns="18288" tIns="9144" bIns="9144" anchor="t">
            <a:spAutoFit/>
          </a:bodyPr>
          <a:lstStyle/>
          <a:p>
            <a:pPr algn="l"/>
            <a:r>
              <a:rPr sz="3300" b="1" i="0">
                <a:solidFill>
                  <a:srgbClr val="12263A"/>
                </a:solidFill>
                <a:latin typeface="Cambria"/>
              </a:rPr>
              <a:t>O-RAN Functional Split: What the O-DU and O-RU Host</a:t>
            </a:r>
          </a:p>
        </p:txBody>
      </p:sp>
      <p:sp>
        <p:nvSpPr>
          <p:cNvPr id="6" name="Rounded Rectangle 5"/>
          <p:cNvSpPr/>
          <p:nvPr/>
        </p:nvSpPr>
        <p:spPr>
          <a:xfrm>
            <a:off x="566928" y="1060704"/>
            <a:ext cx="11045952" cy="438912"/>
          </a:xfrm>
          <a:prstGeom prst="roundRect">
            <a:avLst>
              <a:gd name="adj" fmla="val 8000"/>
            </a:avLst>
          </a:prstGeom>
          <a:solidFill>
            <a:srgbClr val="EAF2F8"/>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1097280"/>
            <a:ext cx="10744200" cy="384048"/>
          </a:xfrm>
          <a:prstGeom prst="rect">
            <a:avLst/>
          </a:prstGeom>
          <a:noFill/>
        </p:spPr>
        <p:txBody>
          <a:bodyPr wrap="square" lIns="18288" rIns="18288" tIns="9144" bIns="9144" anchor="ctr">
            <a:spAutoFit/>
          </a:bodyPr>
          <a:lstStyle/>
          <a:p>
            <a:pPr algn="l"/>
            <a:r>
              <a:rPr sz="1019" b="0" i="0">
                <a:solidFill>
                  <a:srgbClr val="5B6B7C"/>
                </a:solidFill>
                <a:latin typeface="Calibri"/>
              </a:rPr>
              <a:t>ETSI TS 103 982 V8.0.0 (2024-01), O-RAN Architecture Description, clauses 3.1, 6.3.3–6.3.6, 6.4.7 [4]  |  3GPP TS 38.401 NG-RAN architecture [11]</a:t>
            </a:r>
          </a:p>
        </p:txBody>
      </p:sp>
      <p:sp>
        <p:nvSpPr>
          <p:cNvPr id="8" name="Rounded Rectangle 7"/>
          <p:cNvSpPr/>
          <p:nvPr/>
        </p:nvSpPr>
        <p:spPr>
          <a:xfrm>
            <a:off x="685800" y="1783080"/>
            <a:ext cx="2286000" cy="2743200"/>
          </a:xfrm>
          <a:prstGeom prst="roundRect">
            <a:avLst>
              <a:gd name="adj" fmla="val 8000"/>
            </a:avLst>
          </a:prstGeom>
          <a:solidFill>
            <a:srgbClr val="FFFFFF"/>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874519"/>
            <a:ext cx="2011680" cy="320040"/>
          </a:xfrm>
          <a:prstGeom prst="rect">
            <a:avLst/>
          </a:prstGeom>
          <a:noFill/>
        </p:spPr>
        <p:txBody>
          <a:bodyPr wrap="square" lIns="18288" rIns="18288" tIns="9144" bIns="9144" anchor="t">
            <a:spAutoFit/>
          </a:bodyPr>
          <a:lstStyle/>
          <a:p>
            <a:pPr algn="l"/>
            <a:r>
              <a:rPr sz="1900" b="1" i="0">
                <a:solidFill>
                  <a:srgbClr val="12263A"/>
                </a:solidFill>
                <a:latin typeface="Cambria"/>
              </a:rPr>
              <a:t>O-CU-CP</a:t>
            </a:r>
          </a:p>
        </p:txBody>
      </p:sp>
      <p:sp>
        <p:nvSpPr>
          <p:cNvPr id="10" name="TextBox 9"/>
          <p:cNvSpPr txBox="1"/>
          <p:nvPr/>
        </p:nvSpPr>
        <p:spPr>
          <a:xfrm>
            <a:off x="822960" y="2212848"/>
            <a:ext cx="2011680" cy="228600"/>
          </a:xfrm>
          <a:prstGeom prst="rect">
            <a:avLst/>
          </a:prstGeom>
          <a:noFill/>
        </p:spPr>
        <p:txBody>
          <a:bodyPr wrap="square" lIns="18288" rIns="18288" tIns="9144" bIns="9144" anchor="t">
            <a:spAutoFit/>
          </a:bodyPr>
          <a:lstStyle/>
          <a:p>
            <a:pPr algn="l"/>
            <a:r>
              <a:rPr sz="1050" b="0" i="0">
                <a:solidFill>
                  <a:srgbClr val="5B6B7C"/>
                </a:solidFill>
                <a:latin typeface="Calibri"/>
              </a:rPr>
              <a:t>central unit · control plane</a:t>
            </a:r>
          </a:p>
        </p:txBody>
      </p:sp>
      <p:sp>
        <p:nvSpPr>
          <p:cNvPr id="11" name="Rounded Rectangle 10"/>
          <p:cNvSpPr/>
          <p:nvPr/>
        </p:nvSpPr>
        <p:spPr>
          <a:xfrm>
            <a:off x="822960" y="2560320"/>
            <a:ext cx="2011680" cy="457200"/>
          </a:xfrm>
          <a:prstGeom prst="roundRect">
            <a:avLst>
              <a:gd name="adj" fmla="val 8000"/>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560320"/>
            <a:ext cx="1874519" cy="457200"/>
          </a:xfrm>
          <a:prstGeom prst="rect">
            <a:avLst/>
          </a:prstGeom>
          <a:noFill/>
        </p:spPr>
        <p:txBody>
          <a:bodyPr wrap="square" lIns="18288" rIns="18288" tIns="9144" bIns="9144" anchor="ctr">
            <a:spAutoFit/>
          </a:bodyPr>
          <a:lstStyle/>
          <a:p>
            <a:pPr algn="l"/>
            <a:r>
              <a:rPr sz="1200" b="1" i="0">
                <a:solidFill>
                  <a:srgbClr val="12263A"/>
                </a:solidFill>
                <a:latin typeface="Calibri"/>
              </a:rPr>
              <a:t>RRC</a:t>
            </a:r>
          </a:p>
        </p:txBody>
      </p:sp>
      <p:sp>
        <p:nvSpPr>
          <p:cNvPr id="13" name="Rounded Rectangle 12"/>
          <p:cNvSpPr/>
          <p:nvPr/>
        </p:nvSpPr>
        <p:spPr>
          <a:xfrm>
            <a:off x="822960" y="3108960"/>
            <a:ext cx="2011680" cy="457200"/>
          </a:xfrm>
          <a:prstGeom prst="roundRect">
            <a:avLst>
              <a:gd name="adj" fmla="val 8000"/>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3108960"/>
            <a:ext cx="1874519" cy="457200"/>
          </a:xfrm>
          <a:prstGeom prst="rect">
            <a:avLst/>
          </a:prstGeom>
          <a:noFill/>
        </p:spPr>
        <p:txBody>
          <a:bodyPr wrap="square" lIns="18288" rIns="18288" tIns="9144" bIns="9144" anchor="ctr">
            <a:spAutoFit/>
          </a:bodyPr>
          <a:lstStyle/>
          <a:p>
            <a:pPr algn="l"/>
            <a:r>
              <a:rPr sz="1200" b="1" i="0">
                <a:solidFill>
                  <a:srgbClr val="12263A"/>
                </a:solidFill>
                <a:latin typeface="Calibri"/>
              </a:rPr>
              <a:t>PDCP (control plane)</a:t>
            </a:r>
          </a:p>
        </p:txBody>
      </p:sp>
      <p:sp>
        <p:nvSpPr>
          <p:cNvPr id="15" name="Rounded Rectangle 14"/>
          <p:cNvSpPr/>
          <p:nvPr/>
        </p:nvSpPr>
        <p:spPr>
          <a:xfrm>
            <a:off x="3566160" y="1783080"/>
            <a:ext cx="2286000" cy="2743200"/>
          </a:xfrm>
          <a:prstGeom prst="roundRect">
            <a:avLst>
              <a:gd name="adj" fmla="val 8000"/>
            </a:avLst>
          </a:prstGeom>
          <a:solidFill>
            <a:srgbClr val="FFFFFF"/>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03320" y="1874519"/>
            <a:ext cx="2011680" cy="320040"/>
          </a:xfrm>
          <a:prstGeom prst="rect">
            <a:avLst/>
          </a:prstGeom>
          <a:noFill/>
        </p:spPr>
        <p:txBody>
          <a:bodyPr wrap="square" lIns="18288" rIns="18288" tIns="9144" bIns="9144" anchor="t">
            <a:spAutoFit/>
          </a:bodyPr>
          <a:lstStyle/>
          <a:p>
            <a:pPr algn="l"/>
            <a:r>
              <a:rPr sz="1900" b="1" i="0">
                <a:solidFill>
                  <a:srgbClr val="12263A"/>
                </a:solidFill>
                <a:latin typeface="Cambria"/>
              </a:rPr>
              <a:t>O-CU-UP</a:t>
            </a:r>
          </a:p>
        </p:txBody>
      </p:sp>
      <p:sp>
        <p:nvSpPr>
          <p:cNvPr id="17" name="TextBox 16"/>
          <p:cNvSpPr txBox="1"/>
          <p:nvPr/>
        </p:nvSpPr>
        <p:spPr>
          <a:xfrm>
            <a:off x="3703320" y="2212848"/>
            <a:ext cx="2011680" cy="228600"/>
          </a:xfrm>
          <a:prstGeom prst="rect">
            <a:avLst/>
          </a:prstGeom>
          <a:noFill/>
        </p:spPr>
        <p:txBody>
          <a:bodyPr wrap="square" lIns="18288" rIns="18288" tIns="9144" bIns="9144" anchor="t">
            <a:spAutoFit/>
          </a:bodyPr>
          <a:lstStyle/>
          <a:p>
            <a:pPr algn="l"/>
            <a:r>
              <a:rPr sz="1050" b="0" i="0">
                <a:solidFill>
                  <a:srgbClr val="5B6B7C"/>
                </a:solidFill>
                <a:latin typeface="Calibri"/>
              </a:rPr>
              <a:t>central unit · user plane</a:t>
            </a:r>
          </a:p>
        </p:txBody>
      </p:sp>
      <p:sp>
        <p:nvSpPr>
          <p:cNvPr id="18" name="Rounded Rectangle 17"/>
          <p:cNvSpPr/>
          <p:nvPr/>
        </p:nvSpPr>
        <p:spPr>
          <a:xfrm>
            <a:off x="3703320" y="2560320"/>
            <a:ext cx="2011680" cy="457200"/>
          </a:xfrm>
          <a:prstGeom prst="roundRect">
            <a:avLst>
              <a:gd name="adj" fmla="val 8000"/>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67328" y="2560320"/>
            <a:ext cx="1874519" cy="457200"/>
          </a:xfrm>
          <a:prstGeom prst="rect">
            <a:avLst/>
          </a:prstGeom>
          <a:noFill/>
        </p:spPr>
        <p:txBody>
          <a:bodyPr wrap="square" lIns="18288" rIns="18288" tIns="9144" bIns="9144" anchor="ctr">
            <a:spAutoFit/>
          </a:bodyPr>
          <a:lstStyle/>
          <a:p>
            <a:pPr algn="l"/>
            <a:r>
              <a:rPr sz="1200" b="1" i="0">
                <a:solidFill>
                  <a:srgbClr val="12263A"/>
                </a:solidFill>
                <a:latin typeface="Calibri"/>
              </a:rPr>
              <a:t>SDAP</a:t>
            </a:r>
          </a:p>
        </p:txBody>
      </p:sp>
      <p:sp>
        <p:nvSpPr>
          <p:cNvPr id="20" name="Rounded Rectangle 19"/>
          <p:cNvSpPr/>
          <p:nvPr/>
        </p:nvSpPr>
        <p:spPr>
          <a:xfrm>
            <a:off x="3703320" y="3108960"/>
            <a:ext cx="2011680" cy="457200"/>
          </a:xfrm>
          <a:prstGeom prst="roundRect">
            <a:avLst>
              <a:gd name="adj" fmla="val 8000"/>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67328" y="3108960"/>
            <a:ext cx="1874519" cy="457200"/>
          </a:xfrm>
          <a:prstGeom prst="rect">
            <a:avLst/>
          </a:prstGeom>
          <a:noFill/>
        </p:spPr>
        <p:txBody>
          <a:bodyPr wrap="square" lIns="18288" rIns="18288" tIns="9144" bIns="9144" anchor="ctr">
            <a:spAutoFit/>
          </a:bodyPr>
          <a:lstStyle/>
          <a:p>
            <a:pPr algn="l"/>
            <a:r>
              <a:rPr sz="1200" b="1" i="0">
                <a:solidFill>
                  <a:srgbClr val="12263A"/>
                </a:solidFill>
                <a:latin typeface="Calibri"/>
              </a:rPr>
              <a:t>PDCP (user plane)</a:t>
            </a:r>
          </a:p>
        </p:txBody>
      </p:sp>
      <p:sp>
        <p:nvSpPr>
          <p:cNvPr id="22" name="Rounded Rectangle 21"/>
          <p:cNvSpPr/>
          <p:nvPr/>
        </p:nvSpPr>
        <p:spPr>
          <a:xfrm>
            <a:off x="6446520" y="1783080"/>
            <a:ext cx="2286000" cy="2743200"/>
          </a:xfrm>
          <a:prstGeom prst="roundRect">
            <a:avLst>
              <a:gd name="adj" fmla="val 8000"/>
            </a:avLst>
          </a:prstGeom>
          <a:solidFill>
            <a:srgbClr val="FFFFFF"/>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1874519"/>
            <a:ext cx="2011680" cy="320040"/>
          </a:xfrm>
          <a:prstGeom prst="rect">
            <a:avLst/>
          </a:prstGeom>
          <a:noFill/>
        </p:spPr>
        <p:txBody>
          <a:bodyPr wrap="square" lIns="18288" rIns="18288" tIns="9144" bIns="9144" anchor="t">
            <a:spAutoFit/>
          </a:bodyPr>
          <a:lstStyle/>
          <a:p>
            <a:pPr algn="l"/>
            <a:r>
              <a:rPr sz="1900" b="1" i="0">
                <a:solidFill>
                  <a:srgbClr val="12263A"/>
                </a:solidFill>
                <a:latin typeface="Cambria"/>
              </a:rPr>
              <a:t>O-DU</a:t>
            </a:r>
          </a:p>
        </p:txBody>
      </p:sp>
      <p:sp>
        <p:nvSpPr>
          <p:cNvPr id="24" name="TextBox 23"/>
          <p:cNvSpPr txBox="1"/>
          <p:nvPr/>
        </p:nvSpPr>
        <p:spPr>
          <a:xfrm>
            <a:off x="6583680" y="2212848"/>
            <a:ext cx="2011680" cy="228600"/>
          </a:xfrm>
          <a:prstGeom prst="rect">
            <a:avLst/>
          </a:prstGeom>
          <a:noFill/>
        </p:spPr>
        <p:txBody>
          <a:bodyPr wrap="square" lIns="18288" rIns="18288" tIns="9144" bIns="9144" anchor="t">
            <a:spAutoFit/>
          </a:bodyPr>
          <a:lstStyle/>
          <a:p>
            <a:pPr algn="l"/>
            <a:r>
              <a:rPr sz="1050" b="0" i="0">
                <a:solidFill>
                  <a:srgbClr val="5B6B7C"/>
                </a:solidFill>
                <a:latin typeface="Calibri"/>
              </a:rPr>
              <a:t>distributed unit</a:t>
            </a:r>
          </a:p>
        </p:txBody>
      </p:sp>
      <p:sp>
        <p:nvSpPr>
          <p:cNvPr id="25" name="Rounded Rectangle 24"/>
          <p:cNvSpPr/>
          <p:nvPr/>
        </p:nvSpPr>
        <p:spPr>
          <a:xfrm>
            <a:off x="6583680" y="2560320"/>
            <a:ext cx="2011680" cy="457200"/>
          </a:xfrm>
          <a:prstGeom prst="roundRect">
            <a:avLst>
              <a:gd name="adj" fmla="val 8000"/>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47688" y="2560320"/>
            <a:ext cx="1874519" cy="457200"/>
          </a:xfrm>
          <a:prstGeom prst="rect">
            <a:avLst/>
          </a:prstGeom>
          <a:noFill/>
        </p:spPr>
        <p:txBody>
          <a:bodyPr wrap="square" lIns="18288" rIns="18288" tIns="9144" bIns="9144" anchor="ctr">
            <a:spAutoFit/>
          </a:bodyPr>
          <a:lstStyle/>
          <a:p>
            <a:pPr algn="l"/>
            <a:r>
              <a:rPr sz="1200" b="1" i="0">
                <a:solidFill>
                  <a:srgbClr val="12263A"/>
                </a:solidFill>
                <a:latin typeface="Calibri"/>
              </a:rPr>
              <a:t>RLC</a:t>
            </a:r>
          </a:p>
        </p:txBody>
      </p:sp>
      <p:sp>
        <p:nvSpPr>
          <p:cNvPr id="27" name="Rounded Rectangle 26"/>
          <p:cNvSpPr/>
          <p:nvPr/>
        </p:nvSpPr>
        <p:spPr>
          <a:xfrm>
            <a:off x="6583680" y="3108960"/>
            <a:ext cx="2011680" cy="457200"/>
          </a:xfrm>
          <a:prstGeom prst="roundRect">
            <a:avLst>
              <a:gd name="adj" fmla="val 8000"/>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47688" y="3108960"/>
            <a:ext cx="1874519" cy="457200"/>
          </a:xfrm>
          <a:prstGeom prst="rect">
            <a:avLst/>
          </a:prstGeom>
          <a:noFill/>
        </p:spPr>
        <p:txBody>
          <a:bodyPr wrap="square" lIns="18288" rIns="18288" tIns="9144" bIns="9144" anchor="ctr">
            <a:spAutoFit/>
          </a:bodyPr>
          <a:lstStyle/>
          <a:p>
            <a:pPr algn="l"/>
            <a:r>
              <a:rPr sz="1200" b="1" i="0">
                <a:solidFill>
                  <a:srgbClr val="12263A"/>
                </a:solidFill>
                <a:latin typeface="Calibri"/>
              </a:rPr>
              <a:t>MAC</a:t>
            </a:r>
          </a:p>
        </p:txBody>
      </p:sp>
      <p:sp>
        <p:nvSpPr>
          <p:cNvPr id="29" name="Rounded Rectangle 28"/>
          <p:cNvSpPr/>
          <p:nvPr/>
        </p:nvSpPr>
        <p:spPr>
          <a:xfrm>
            <a:off x="6583680" y="3657600"/>
            <a:ext cx="2011680" cy="457200"/>
          </a:xfrm>
          <a:prstGeom prst="roundRect">
            <a:avLst>
              <a:gd name="adj" fmla="val 8000"/>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47688" y="3657600"/>
            <a:ext cx="1874519" cy="457200"/>
          </a:xfrm>
          <a:prstGeom prst="rect">
            <a:avLst/>
          </a:prstGeom>
          <a:noFill/>
        </p:spPr>
        <p:txBody>
          <a:bodyPr wrap="square" lIns="18288" rIns="18288" tIns="9144" bIns="9144" anchor="ctr">
            <a:spAutoFit/>
          </a:bodyPr>
          <a:lstStyle/>
          <a:p>
            <a:pPr algn="l"/>
            <a:r>
              <a:rPr sz="1200" b="1" i="0">
                <a:solidFill>
                  <a:srgbClr val="12263A"/>
                </a:solidFill>
                <a:latin typeface="Calibri"/>
              </a:rPr>
              <a:t>High-PHY</a:t>
            </a:r>
          </a:p>
        </p:txBody>
      </p:sp>
      <p:sp>
        <p:nvSpPr>
          <p:cNvPr id="31" name="Rounded Rectangle 30"/>
          <p:cNvSpPr/>
          <p:nvPr/>
        </p:nvSpPr>
        <p:spPr>
          <a:xfrm>
            <a:off x="9326880" y="1783080"/>
            <a:ext cx="2286000" cy="2743200"/>
          </a:xfrm>
          <a:prstGeom prst="roundRect">
            <a:avLst>
              <a:gd name="adj" fmla="val 8000"/>
            </a:avLst>
          </a:prstGeom>
          <a:solidFill>
            <a:srgbClr val="FFFFFF"/>
          </a:solidFill>
          <a:ln w="28575">
            <a:solidFill>
              <a:srgbClr val="18B8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64040" y="1874519"/>
            <a:ext cx="2011680" cy="320040"/>
          </a:xfrm>
          <a:prstGeom prst="rect">
            <a:avLst/>
          </a:prstGeom>
          <a:noFill/>
        </p:spPr>
        <p:txBody>
          <a:bodyPr wrap="square" lIns="18288" rIns="18288" tIns="9144" bIns="9144" anchor="t">
            <a:spAutoFit/>
          </a:bodyPr>
          <a:lstStyle/>
          <a:p>
            <a:pPr algn="l"/>
            <a:r>
              <a:rPr sz="1900" b="1" i="0">
                <a:solidFill>
                  <a:srgbClr val="12263A"/>
                </a:solidFill>
                <a:latin typeface="Cambria"/>
              </a:rPr>
              <a:t>O-RU</a:t>
            </a:r>
          </a:p>
        </p:txBody>
      </p:sp>
      <p:sp>
        <p:nvSpPr>
          <p:cNvPr id="33" name="TextBox 32"/>
          <p:cNvSpPr txBox="1"/>
          <p:nvPr/>
        </p:nvSpPr>
        <p:spPr>
          <a:xfrm>
            <a:off x="9464040" y="2212848"/>
            <a:ext cx="2011680" cy="228600"/>
          </a:xfrm>
          <a:prstGeom prst="rect">
            <a:avLst/>
          </a:prstGeom>
          <a:noFill/>
        </p:spPr>
        <p:txBody>
          <a:bodyPr wrap="square" lIns="18288" rIns="18288" tIns="9144" bIns="9144" anchor="t">
            <a:spAutoFit/>
          </a:bodyPr>
          <a:lstStyle/>
          <a:p>
            <a:pPr algn="l"/>
            <a:r>
              <a:rPr sz="1050" b="0" i="0">
                <a:solidFill>
                  <a:srgbClr val="5B6B7C"/>
                </a:solidFill>
                <a:latin typeface="Calibri"/>
              </a:rPr>
              <a:t>radio unit · physical node</a:t>
            </a:r>
          </a:p>
        </p:txBody>
      </p:sp>
      <p:sp>
        <p:nvSpPr>
          <p:cNvPr id="34" name="Rounded Rectangle 33"/>
          <p:cNvSpPr/>
          <p:nvPr/>
        </p:nvSpPr>
        <p:spPr>
          <a:xfrm>
            <a:off x="9464040" y="2560320"/>
            <a:ext cx="2011680" cy="457200"/>
          </a:xfrm>
          <a:prstGeom prst="roundRect">
            <a:avLst>
              <a:gd name="adj" fmla="val 8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28048" y="2560320"/>
            <a:ext cx="1874519" cy="457200"/>
          </a:xfrm>
          <a:prstGeom prst="rect">
            <a:avLst/>
          </a:prstGeom>
          <a:noFill/>
        </p:spPr>
        <p:txBody>
          <a:bodyPr wrap="square" lIns="18288" rIns="18288" tIns="9144" bIns="9144" anchor="ctr">
            <a:spAutoFit/>
          </a:bodyPr>
          <a:lstStyle/>
          <a:p>
            <a:pPr algn="l"/>
            <a:r>
              <a:rPr sz="1200" b="1" i="0">
                <a:solidFill>
                  <a:srgbClr val="FFFFFF"/>
                </a:solidFill>
                <a:latin typeface="Calibri"/>
              </a:rPr>
              <a:t>Low-PHY  (FFT / iFFT, PRACH extraction)</a:t>
            </a:r>
          </a:p>
        </p:txBody>
      </p:sp>
      <p:sp>
        <p:nvSpPr>
          <p:cNvPr id="36" name="Rounded Rectangle 35"/>
          <p:cNvSpPr/>
          <p:nvPr/>
        </p:nvSpPr>
        <p:spPr>
          <a:xfrm>
            <a:off x="9464040" y="3108960"/>
            <a:ext cx="2011680" cy="457200"/>
          </a:xfrm>
          <a:prstGeom prst="roundRect">
            <a:avLst>
              <a:gd name="adj" fmla="val 8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528048" y="3108960"/>
            <a:ext cx="1874519" cy="457200"/>
          </a:xfrm>
          <a:prstGeom prst="rect">
            <a:avLst/>
          </a:prstGeom>
          <a:noFill/>
        </p:spPr>
        <p:txBody>
          <a:bodyPr wrap="square" lIns="18288" rIns="18288" tIns="9144" bIns="9144" anchor="ctr">
            <a:spAutoFit/>
          </a:bodyPr>
          <a:lstStyle/>
          <a:p>
            <a:pPr algn="l"/>
            <a:r>
              <a:rPr sz="1200" b="1" i="0">
                <a:solidFill>
                  <a:srgbClr val="FFFFFF"/>
                </a:solidFill>
                <a:latin typeface="Calibri"/>
              </a:rPr>
              <a:t>RF processing</a:t>
            </a:r>
          </a:p>
        </p:txBody>
      </p:sp>
      <p:sp>
        <p:nvSpPr>
          <p:cNvPr id="38" name="Rectangle 37"/>
          <p:cNvSpPr/>
          <p:nvPr/>
        </p:nvSpPr>
        <p:spPr>
          <a:xfrm>
            <a:off x="2971800" y="3063240"/>
            <a:ext cx="594360" cy="36576"/>
          </a:xfrm>
          <a:prstGeom prst="rect">
            <a:avLst/>
          </a:prstGeom>
          <a:solidFill>
            <a:srgbClr val="18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26080" y="3154680"/>
            <a:ext cx="685800" cy="457200"/>
          </a:xfrm>
          <a:prstGeom prst="rect">
            <a:avLst/>
          </a:prstGeom>
          <a:noFill/>
        </p:spPr>
        <p:txBody>
          <a:bodyPr wrap="square" lIns="18288" rIns="18288" tIns="9144" bIns="9144" anchor="t">
            <a:spAutoFit/>
          </a:bodyPr>
          <a:lstStyle/>
          <a:p>
            <a:pPr algn="ctr"/>
            <a:r>
              <a:rPr sz="950" b="1" i="0">
                <a:solidFill>
                  <a:srgbClr val="1C7293"/>
                </a:solidFill>
                <a:latin typeface="Calibri"/>
              </a:rPr>
              <a:t>E1</a:t>
            </a:r>
          </a:p>
        </p:txBody>
      </p:sp>
      <p:sp>
        <p:nvSpPr>
          <p:cNvPr id="40" name="Rectangle 39"/>
          <p:cNvSpPr/>
          <p:nvPr/>
        </p:nvSpPr>
        <p:spPr>
          <a:xfrm>
            <a:off x="5852160" y="3063240"/>
            <a:ext cx="594360" cy="36576"/>
          </a:xfrm>
          <a:prstGeom prst="rect">
            <a:avLst/>
          </a:prstGeom>
          <a:solidFill>
            <a:srgbClr val="18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06440" y="3154680"/>
            <a:ext cx="685800" cy="457200"/>
          </a:xfrm>
          <a:prstGeom prst="rect">
            <a:avLst/>
          </a:prstGeom>
          <a:noFill/>
        </p:spPr>
        <p:txBody>
          <a:bodyPr wrap="square" lIns="18288" rIns="18288" tIns="9144" bIns="9144" anchor="t">
            <a:spAutoFit/>
          </a:bodyPr>
          <a:lstStyle/>
          <a:p>
            <a:pPr algn="ctr"/>
            <a:r>
              <a:rPr sz="950" b="1" i="0">
                <a:solidFill>
                  <a:srgbClr val="1C7293"/>
                </a:solidFill>
                <a:latin typeface="Calibri"/>
              </a:rPr>
              <a:t>F1</a:t>
            </a:r>
          </a:p>
        </p:txBody>
      </p:sp>
      <p:sp>
        <p:nvSpPr>
          <p:cNvPr id="42" name="Rectangle 41"/>
          <p:cNvSpPr/>
          <p:nvPr/>
        </p:nvSpPr>
        <p:spPr>
          <a:xfrm>
            <a:off x="8732520" y="3063240"/>
            <a:ext cx="594360" cy="36576"/>
          </a:xfrm>
          <a:prstGeom prst="rect">
            <a:avLst/>
          </a:prstGeom>
          <a:solidFill>
            <a:srgbClr val="18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0" y="3154680"/>
            <a:ext cx="685800" cy="457200"/>
          </a:xfrm>
          <a:prstGeom prst="rect">
            <a:avLst/>
          </a:prstGeom>
          <a:noFill/>
        </p:spPr>
        <p:txBody>
          <a:bodyPr wrap="square" lIns="18288" rIns="18288" tIns="9144" bIns="9144" anchor="t">
            <a:spAutoFit/>
          </a:bodyPr>
          <a:lstStyle/>
          <a:p>
            <a:pPr algn="ctr"/>
            <a:r>
              <a:rPr sz="950" b="1" i="0">
                <a:solidFill>
                  <a:srgbClr val="1C7293"/>
                </a:solidFill>
                <a:latin typeface="Calibri"/>
              </a:rPr>
              <a:t>Open FH
7-2x</a:t>
            </a:r>
          </a:p>
        </p:txBody>
      </p:sp>
      <p:sp>
        <p:nvSpPr>
          <p:cNvPr id="44" name="TextBox 43"/>
          <p:cNvSpPr txBox="1"/>
          <p:nvPr/>
        </p:nvSpPr>
        <p:spPr>
          <a:xfrm>
            <a:off x="685800" y="4645152"/>
            <a:ext cx="5486400" cy="274320"/>
          </a:xfrm>
          <a:prstGeom prst="rect">
            <a:avLst/>
          </a:prstGeom>
          <a:noFill/>
        </p:spPr>
        <p:txBody>
          <a:bodyPr wrap="square" lIns="18288" rIns="18288" tIns="9144" bIns="9144" anchor="t">
            <a:spAutoFit/>
          </a:bodyPr>
          <a:lstStyle/>
          <a:p>
            <a:pPr algn="l"/>
            <a:r>
              <a:rPr sz="1150" b="1" i="0">
                <a:solidFill>
                  <a:srgbClr val="1C7293"/>
                </a:solidFill>
                <a:latin typeface="Calibri"/>
              </a:rPr>
              <a:t>OPEN FRONTHAUL PLANES  (TS 103 982 cl. 6.4.7)</a:t>
            </a:r>
          </a:p>
        </p:txBody>
      </p:sp>
      <p:sp>
        <p:nvSpPr>
          <p:cNvPr id="45" name="Rounded Rectangle 44"/>
          <p:cNvSpPr/>
          <p:nvPr/>
        </p:nvSpPr>
        <p:spPr>
          <a:xfrm>
            <a:off x="685800" y="4937760"/>
            <a:ext cx="1417320" cy="384048"/>
          </a:xfrm>
          <a:prstGeom prst="roundRect">
            <a:avLst>
              <a:gd name="adj" fmla="val 8000"/>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4937760"/>
            <a:ext cx="1234440" cy="384048"/>
          </a:xfrm>
          <a:prstGeom prst="rect">
            <a:avLst/>
          </a:prstGeom>
          <a:noFill/>
        </p:spPr>
        <p:txBody>
          <a:bodyPr wrap="square" lIns="18288" rIns="18288" tIns="9144" bIns="9144" anchor="ctr">
            <a:spAutoFit/>
          </a:bodyPr>
          <a:lstStyle/>
          <a:p>
            <a:pPr algn="l"/>
            <a:r>
              <a:rPr sz="1150" b="1" i="0">
                <a:solidFill>
                  <a:srgbClr val="12263A"/>
                </a:solidFill>
                <a:latin typeface="Calibri"/>
              </a:rPr>
              <a:t>C-Plane · Control</a:t>
            </a:r>
          </a:p>
        </p:txBody>
      </p:sp>
      <p:sp>
        <p:nvSpPr>
          <p:cNvPr id="47" name="Rounded Rectangle 46"/>
          <p:cNvSpPr/>
          <p:nvPr/>
        </p:nvSpPr>
        <p:spPr>
          <a:xfrm>
            <a:off x="2240280" y="4937760"/>
            <a:ext cx="1325880" cy="384048"/>
          </a:xfrm>
          <a:prstGeom prst="roundRect">
            <a:avLst>
              <a:gd name="adj" fmla="val 8000"/>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31720" y="4937760"/>
            <a:ext cx="1143000" cy="384048"/>
          </a:xfrm>
          <a:prstGeom prst="rect">
            <a:avLst/>
          </a:prstGeom>
          <a:noFill/>
        </p:spPr>
        <p:txBody>
          <a:bodyPr wrap="square" lIns="18288" rIns="18288" tIns="9144" bIns="9144" anchor="ctr">
            <a:spAutoFit/>
          </a:bodyPr>
          <a:lstStyle/>
          <a:p>
            <a:pPr algn="l"/>
            <a:r>
              <a:rPr sz="1150" b="1" i="0">
                <a:solidFill>
                  <a:srgbClr val="12263A"/>
                </a:solidFill>
                <a:latin typeface="Calibri"/>
              </a:rPr>
              <a:t>U-Plane · User</a:t>
            </a:r>
          </a:p>
        </p:txBody>
      </p:sp>
      <p:sp>
        <p:nvSpPr>
          <p:cNvPr id="49" name="Rounded Rectangle 48"/>
          <p:cNvSpPr/>
          <p:nvPr/>
        </p:nvSpPr>
        <p:spPr>
          <a:xfrm>
            <a:off x="3703320" y="4937760"/>
            <a:ext cx="3017520" cy="384048"/>
          </a:xfrm>
          <a:prstGeom prst="roundRect">
            <a:avLst>
              <a:gd name="adj" fmla="val 8000"/>
            </a:avLst>
          </a:prstGeom>
          <a:solidFill>
            <a:srgbClr val="18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794759" y="4937760"/>
            <a:ext cx="2834639" cy="384048"/>
          </a:xfrm>
          <a:prstGeom prst="rect">
            <a:avLst/>
          </a:prstGeom>
          <a:noFill/>
        </p:spPr>
        <p:txBody>
          <a:bodyPr wrap="square" lIns="18288" rIns="18288" tIns="9144" bIns="9144" anchor="ctr">
            <a:spAutoFit/>
          </a:bodyPr>
          <a:lstStyle/>
          <a:p>
            <a:pPr algn="l"/>
            <a:r>
              <a:rPr sz="1150" b="1" i="0">
                <a:solidFill>
                  <a:srgbClr val="FFFFFF"/>
                </a:solidFill>
                <a:latin typeface="Calibri"/>
              </a:rPr>
              <a:t>S-Plane · Synchronization — this project</a:t>
            </a:r>
          </a:p>
        </p:txBody>
      </p:sp>
      <p:sp>
        <p:nvSpPr>
          <p:cNvPr id="51" name="Rounded Rectangle 50"/>
          <p:cNvSpPr/>
          <p:nvPr/>
        </p:nvSpPr>
        <p:spPr>
          <a:xfrm>
            <a:off x="6858000" y="4937760"/>
            <a:ext cx="1965960" cy="384048"/>
          </a:xfrm>
          <a:prstGeom prst="roundRect">
            <a:avLst>
              <a:gd name="adj" fmla="val 8000"/>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949440" y="4937760"/>
            <a:ext cx="1783080" cy="384048"/>
          </a:xfrm>
          <a:prstGeom prst="rect">
            <a:avLst/>
          </a:prstGeom>
          <a:noFill/>
        </p:spPr>
        <p:txBody>
          <a:bodyPr wrap="square" lIns="18288" rIns="18288" tIns="9144" bIns="9144" anchor="ctr">
            <a:spAutoFit/>
          </a:bodyPr>
          <a:lstStyle/>
          <a:p>
            <a:pPr algn="l"/>
            <a:r>
              <a:rPr sz="1150" b="1" i="0">
                <a:solidFill>
                  <a:srgbClr val="12263A"/>
                </a:solidFill>
                <a:latin typeface="Calibri"/>
              </a:rPr>
              <a:t>M-Plane · Management</a:t>
            </a:r>
          </a:p>
        </p:txBody>
      </p:sp>
      <p:sp>
        <p:nvSpPr>
          <p:cNvPr id="53" name="TextBox 52"/>
          <p:cNvSpPr txBox="1"/>
          <p:nvPr/>
        </p:nvSpPr>
        <p:spPr>
          <a:xfrm>
            <a:off x="9098280" y="4645152"/>
            <a:ext cx="2514600" cy="731520"/>
          </a:xfrm>
          <a:prstGeom prst="rect">
            <a:avLst/>
          </a:prstGeom>
          <a:noFill/>
        </p:spPr>
        <p:txBody>
          <a:bodyPr wrap="square" lIns="18288" rIns="18288" tIns="9144" bIns="9144" anchor="t">
            <a:spAutoFit/>
          </a:bodyPr>
          <a:lstStyle/>
          <a:p>
            <a:pPr algn="l"/>
            <a:r>
              <a:rPr sz="1050" b="0" i="0">
                <a:solidFill>
                  <a:srgbClr val="5B6B7C"/>
                </a:solidFill>
                <a:latin typeface="Calibri"/>
              </a:rPr>
              <a:t>E2 terminates at O-CU-CP, O-CU-UP and O-DU, not at the O-RU (cl. 6.3.3–6.3.6).</a:t>
            </a:r>
          </a:p>
        </p:txBody>
      </p:sp>
      <p:sp>
        <p:nvSpPr>
          <p:cNvPr id="54" name="Rounded Rectangle 53"/>
          <p:cNvSpPr/>
          <p:nvPr/>
        </p:nvSpPr>
        <p:spPr>
          <a:xfrm>
            <a:off x="566928" y="5559552"/>
            <a:ext cx="11045952" cy="868680"/>
          </a:xfrm>
          <a:prstGeom prst="roundRect">
            <a:avLst>
              <a:gd name="adj" fmla="val 8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7240" y="5632704"/>
            <a:ext cx="2103120" cy="722375"/>
          </a:xfrm>
          <a:prstGeom prst="rect">
            <a:avLst/>
          </a:prstGeom>
          <a:noFill/>
        </p:spPr>
        <p:txBody>
          <a:bodyPr wrap="square" lIns="18288" rIns="18288" tIns="9144" bIns="9144" anchor="ctr">
            <a:spAutoFit/>
          </a:bodyPr>
          <a:lstStyle/>
          <a:p>
            <a:pPr algn="l"/>
            <a:r>
              <a:rPr sz="1200" b="1" i="0">
                <a:solidFill>
                  <a:srgbClr val="18B89A"/>
                </a:solidFill>
                <a:latin typeface="Calibri"/>
              </a:rPr>
              <a:t>WHY THE O-RU</a:t>
            </a:r>
          </a:p>
        </p:txBody>
      </p:sp>
      <p:sp>
        <p:nvSpPr>
          <p:cNvPr id="56" name="TextBox 55"/>
          <p:cNvSpPr txBox="1"/>
          <p:nvPr/>
        </p:nvSpPr>
        <p:spPr>
          <a:xfrm>
            <a:off x="2834640" y="5614416"/>
            <a:ext cx="8595360" cy="758952"/>
          </a:xfrm>
          <a:prstGeom prst="rect">
            <a:avLst/>
          </a:prstGeom>
          <a:noFill/>
        </p:spPr>
        <p:txBody>
          <a:bodyPr wrap="square" lIns="18288" rIns="18288" tIns="9144" bIns="9144" anchor="ctr">
            <a:spAutoFit/>
          </a:bodyPr>
          <a:lstStyle/>
          <a:p>
            <a:pPr algn="l"/>
            <a:r>
              <a:rPr sz="1300" b="1" i="0">
                <a:solidFill>
                  <a:srgbClr val="FFFFFF"/>
                </a:solidFill>
                <a:latin typeface="Calibri"/>
              </a:rPr>
              <a:t>Radio requirements are measured at the base-station antenna [8][9]; in O-RAN the antenna side is the O-RU (Low-PHY + RF). The S-plane is how the O-RU receives time, so it is where this project works.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8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10312"/>
            <a:ext cx="11045952" cy="228600"/>
          </a:xfrm>
          <a:prstGeom prst="rect">
            <a:avLst/>
          </a:prstGeom>
          <a:noFill/>
        </p:spPr>
        <p:txBody>
          <a:bodyPr wrap="square" lIns="18288" rIns="18288" tIns="9144" bIns="9144" anchor="t">
            <a:spAutoFit/>
          </a:bodyPr>
          <a:lstStyle/>
          <a:p>
            <a:pPr algn="l"/>
            <a:r>
              <a:rPr sz="1280" b="1" i="0">
                <a:solidFill>
                  <a:srgbClr val="1C7293"/>
                </a:solidFill>
                <a:latin typeface="Calibri"/>
              </a:rPr>
              <a:t>SYSTEM ARCHITECTURE · TIMING DISTRIBUTION</a:t>
            </a:r>
          </a:p>
        </p:txBody>
      </p:sp>
      <p:sp>
        <p:nvSpPr>
          <p:cNvPr id="5" name="TextBox 4"/>
          <p:cNvSpPr txBox="1"/>
          <p:nvPr/>
        </p:nvSpPr>
        <p:spPr>
          <a:xfrm>
            <a:off x="566928" y="448056"/>
            <a:ext cx="11045952" cy="548640"/>
          </a:xfrm>
          <a:prstGeom prst="rect">
            <a:avLst/>
          </a:prstGeom>
          <a:noFill/>
        </p:spPr>
        <p:txBody>
          <a:bodyPr wrap="square" lIns="18288" rIns="18288" tIns="9144" bIns="9144" anchor="t">
            <a:spAutoFit/>
          </a:bodyPr>
          <a:lstStyle/>
          <a:p>
            <a:pPr algn="l"/>
            <a:r>
              <a:rPr sz="3300" b="1" i="0">
                <a:solidFill>
                  <a:srgbClr val="12263A"/>
                </a:solidFill>
                <a:latin typeface="Cambria"/>
              </a:rPr>
              <a:t>How the O-RU Receives Time: LLS-C1 to LLS-C4</a:t>
            </a:r>
          </a:p>
        </p:txBody>
      </p:sp>
      <p:sp>
        <p:nvSpPr>
          <p:cNvPr id="6" name="Rounded Rectangle 5"/>
          <p:cNvSpPr/>
          <p:nvPr/>
        </p:nvSpPr>
        <p:spPr>
          <a:xfrm>
            <a:off x="566928" y="1060704"/>
            <a:ext cx="11045952" cy="438912"/>
          </a:xfrm>
          <a:prstGeom prst="roundRect">
            <a:avLst>
              <a:gd name="adj" fmla="val 8000"/>
            </a:avLst>
          </a:prstGeom>
          <a:solidFill>
            <a:srgbClr val="EAF2F8"/>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1097280"/>
            <a:ext cx="10744200" cy="384048"/>
          </a:xfrm>
          <a:prstGeom prst="rect">
            <a:avLst/>
          </a:prstGeom>
          <a:noFill/>
        </p:spPr>
        <p:txBody>
          <a:bodyPr wrap="square" lIns="18288" rIns="18288" tIns="9144" bIns="9144" anchor="ctr">
            <a:spAutoFit/>
          </a:bodyPr>
          <a:lstStyle/>
          <a:p>
            <a:pPr algn="l"/>
            <a:r>
              <a:rPr sz="1019" b="0" i="0">
                <a:solidFill>
                  <a:srgbClr val="5B6B7C"/>
                </a:solidFill>
                <a:latin typeface="Calibri"/>
              </a:rPr>
              <a:t>O-RAN.WG4.CUS.0 v06.00 synchronization configurations, as quoted in G. Armstrong, "O-RAN Fundamentals", ATIS WSTS 2023 [7]  |  Exposure column reasoned from [1], [2], [10], [12]</a:t>
            </a:r>
          </a:p>
        </p:txBody>
      </p:sp>
      <p:sp>
        <p:nvSpPr>
          <p:cNvPr id="8" name="TextBox 7"/>
          <p:cNvSpPr txBox="1"/>
          <p:nvPr/>
        </p:nvSpPr>
        <p:spPr>
          <a:xfrm>
            <a:off x="667512" y="1664208"/>
            <a:ext cx="1234440" cy="228600"/>
          </a:xfrm>
          <a:prstGeom prst="rect">
            <a:avLst/>
          </a:prstGeom>
          <a:noFill/>
        </p:spPr>
        <p:txBody>
          <a:bodyPr wrap="square" lIns="18288" rIns="18288" tIns="9144" bIns="9144" anchor="t">
            <a:spAutoFit/>
          </a:bodyPr>
          <a:lstStyle/>
          <a:p>
            <a:pPr algn="l"/>
            <a:r>
              <a:rPr sz="1150" b="1" i="0">
                <a:solidFill>
                  <a:srgbClr val="1C7293"/>
                </a:solidFill>
                <a:latin typeface="Calibri"/>
              </a:rPr>
              <a:t>CONFIG</a:t>
            </a:r>
          </a:p>
        </p:txBody>
      </p:sp>
      <p:sp>
        <p:nvSpPr>
          <p:cNvPr id="9" name="TextBox 8"/>
          <p:cNvSpPr txBox="1"/>
          <p:nvPr/>
        </p:nvSpPr>
        <p:spPr>
          <a:xfrm>
            <a:off x="2011680" y="1664208"/>
            <a:ext cx="5120640" cy="228600"/>
          </a:xfrm>
          <a:prstGeom prst="rect">
            <a:avLst/>
          </a:prstGeom>
          <a:noFill/>
        </p:spPr>
        <p:txBody>
          <a:bodyPr wrap="square" lIns="18288" rIns="18288" tIns="9144" bIns="9144" anchor="t">
            <a:spAutoFit/>
          </a:bodyPr>
          <a:lstStyle/>
          <a:p>
            <a:pPr algn="l"/>
            <a:r>
              <a:rPr sz="1150" b="1" i="0">
                <a:solidFill>
                  <a:srgbClr val="1C7293"/>
                </a:solidFill>
                <a:latin typeface="Calibri"/>
              </a:rPr>
              <a:t>DEFINITION (O-RAN.WG4.CUS.0, AS QUOTED IN [7])</a:t>
            </a:r>
          </a:p>
        </p:txBody>
      </p:sp>
      <p:sp>
        <p:nvSpPr>
          <p:cNvPr id="10" name="TextBox 9"/>
          <p:cNvSpPr txBox="1"/>
          <p:nvPr/>
        </p:nvSpPr>
        <p:spPr>
          <a:xfrm>
            <a:off x="7315200" y="1664208"/>
            <a:ext cx="4206240" cy="228600"/>
          </a:xfrm>
          <a:prstGeom prst="rect">
            <a:avLst/>
          </a:prstGeom>
          <a:noFill/>
        </p:spPr>
        <p:txBody>
          <a:bodyPr wrap="square" lIns="18288" rIns="18288" tIns="9144" bIns="9144" anchor="t">
            <a:spAutoFit/>
          </a:bodyPr>
          <a:lstStyle/>
          <a:p>
            <a:pPr algn="l"/>
            <a:r>
              <a:rPr sz="1150" b="1" i="0">
                <a:solidFill>
                  <a:srgbClr val="1C7293"/>
                </a:solidFill>
                <a:latin typeface="Calibri"/>
              </a:rPr>
              <a:t>WHERE AN ATTACKER CAN ACT</a:t>
            </a:r>
          </a:p>
        </p:txBody>
      </p:sp>
      <p:sp>
        <p:nvSpPr>
          <p:cNvPr id="11" name="Rectangle 10"/>
          <p:cNvSpPr/>
          <p:nvPr/>
        </p:nvSpPr>
        <p:spPr>
          <a:xfrm>
            <a:off x="566928" y="1938528"/>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2002536"/>
            <a:ext cx="1234440" cy="768096"/>
          </a:xfrm>
          <a:prstGeom prst="rect">
            <a:avLst/>
          </a:prstGeom>
          <a:noFill/>
        </p:spPr>
        <p:txBody>
          <a:bodyPr wrap="square" lIns="18288" rIns="18288" tIns="9144" bIns="9144" anchor="t">
            <a:spAutoFit/>
          </a:bodyPr>
          <a:lstStyle/>
          <a:p>
            <a:pPr algn="l"/>
            <a:r>
              <a:rPr sz="1600" b="1" i="0">
                <a:solidFill>
                  <a:srgbClr val="12263A"/>
                </a:solidFill>
                <a:latin typeface="Cambria"/>
              </a:rPr>
              <a:t>LLS-C1</a:t>
            </a:r>
          </a:p>
        </p:txBody>
      </p:sp>
      <p:sp>
        <p:nvSpPr>
          <p:cNvPr id="13" name="TextBox 12"/>
          <p:cNvSpPr txBox="1"/>
          <p:nvPr/>
        </p:nvSpPr>
        <p:spPr>
          <a:xfrm>
            <a:off x="2011680" y="2002536"/>
            <a:ext cx="5120640" cy="768096"/>
          </a:xfrm>
          <a:prstGeom prst="rect">
            <a:avLst/>
          </a:prstGeom>
          <a:noFill/>
        </p:spPr>
        <p:txBody>
          <a:bodyPr wrap="square" lIns="18288" rIns="18288" tIns="9144" bIns="9144" anchor="t">
            <a:spAutoFit/>
          </a:bodyPr>
          <a:lstStyle/>
          <a:p>
            <a:pPr algn="l"/>
            <a:r>
              <a:rPr sz="1250" b="0" i="0">
                <a:solidFill>
                  <a:srgbClr val="5B6B7C"/>
                </a:solidFill>
                <a:latin typeface="Calibri"/>
              </a:rPr>
              <a:t>O-DU is part of the synchronization chain. Network timing is distributed from O-DU to O-RU via a direct connection between O-DU site and O-RU site.</a:t>
            </a:r>
          </a:p>
        </p:txBody>
      </p:sp>
      <p:sp>
        <p:nvSpPr>
          <p:cNvPr id="14" name="TextBox 13"/>
          <p:cNvSpPr txBox="1"/>
          <p:nvPr/>
        </p:nvSpPr>
        <p:spPr>
          <a:xfrm>
            <a:off x="7315200" y="2002536"/>
            <a:ext cx="4206240" cy="768096"/>
          </a:xfrm>
          <a:prstGeom prst="rect">
            <a:avLst/>
          </a:prstGeom>
          <a:noFill/>
        </p:spPr>
        <p:txBody>
          <a:bodyPr wrap="square" lIns="18288" rIns="18288" tIns="9144" bIns="9144" anchor="t">
            <a:spAutoFit/>
          </a:bodyPr>
          <a:lstStyle/>
          <a:p>
            <a:pPr algn="l"/>
            <a:r>
              <a:rPr sz="1250" b="0" i="0">
                <a:solidFill>
                  <a:srgbClr val="12263A"/>
                </a:solidFill>
                <a:latin typeface="Calibri"/>
              </a:rPr>
              <a:t>A compromised O-DU or the O-DU–O-RU link controls the O-RU's time (T-FRHAUL-01 [2]).</a:t>
            </a:r>
          </a:p>
        </p:txBody>
      </p:sp>
      <p:sp>
        <p:nvSpPr>
          <p:cNvPr id="15" name="Rectangle 14"/>
          <p:cNvSpPr/>
          <p:nvPr/>
        </p:nvSpPr>
        <p:spPr>
          <a:xfrm>
            <a:off x="566928" y="2770632"/>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2834639"/>
            <a:ext cx="1234440" cy="768096"/>
          </a:xfrm>
          <a:prstGeom prst="rect">
            <a:avLst/>
          </a:prstGeom>
          <a:noFill/>
        </p:spPr>
        <p:txBody>
          <a:bodyPr wrap="square" lIns="18288" rIns="18288" tIns="9144" bIns="9144" anchor="t">
            <a:spAutoFit/>
          </a:bodyPr>
          <a:lstStyle/>
          <a:p>
            <a:pPr algn="l"/>
            <a:r>
              <a:rPr sz="1600" b="1" i="0">
                <a:solidFill>
                  <a:srgbClr val="12263A"/>
                </a:solidFill>
                <a:latin typeface="Cambria"/>
              </a:rPr>
              <a:t>LLS-C2</a:t>
            </a:r>
          </a:p>
        </p:txBody>
      </p:sp>
      <p:sp>
        <p:nvSpPr>
          <p:cNvPr id="17" name="TextBox 16"/>
          <p:cNvSpPr txBox="1"/>
          <p:nvPr/>
        </p:nvSpPr>
        <p:spPr>
          <a:xfrm>
            <a:off x="2011680" y="2834639"/>
            <a:ext cx="5120640" cy="768096"/>
          </a:xfrm>
          <a:prstGeom prst="rect">
            <a:avLst/>
          </a:prstGeom>
          <a:noFill/>
        </p:spPr>
        <p:txBody>
          <a:bodyPr wrap="square" lIns="18288" rIns="18288" tIns="9144" bIns="9144" anchor="t">
            <a:spAutoFit/>
          </a:bodyPr>
          <a:lstStyle/>
          <a:p>
            <a:pPr algn="l"/>
            <a:r>
              <a:rPr sz="1250" b="0" i="0">
                <a:solidFill>
                  <a:srgbClr val="5B6B7C"/>
                </a:solidFill>
                <a:latin typeface="Calibri"/>
              </a:rPr>
              <a:t>O-DU is part of the synchronization chain. Timing goes from O-DU to O-RU; one or more Ethernet switches are allowed in the fronthaul network.</a:t>
            </a:r>
          </a:p>
        </p:txBody>
      </p:sp>
      <p:sp>
        <p:nvSpPr>
          <p:cNvPr id="18" name="TextBox 17"/>
          <p:cNvSpPr txBox="1"/>
          <p:nvPr/>
        </p:nvSpPr>
        <p:spPr>
          <a:xfrm>
            <a:off x="7315200" y="2834639"/>
            <a:ext cx="4206240" cy="768096"/>
          </a:xfrm>
          <a:prstGeom prst="rect">
            <a:avLst/>
          </a:prstGeom>
          <a:noFill/>
        </p:spPr>
        <p:txBody>
          <a:bodyPr wrap="square" lIns="18288" rIns="18288" tIns="9144" bIns="9144" anchor="t">
            <a:spAutoFit/>
          </a:bodyPr>
          <a:lstStyle/>
          <a:p>
            <a:pPr algn="l"/>
            <a:r>
              <a:rPr sz="1250" b="0" i="0">
                <a:solidFill>
                  <a:srgbClr val="12263A"/>
                </a:solidFill>
                <a:latin typeface="Calibri"/>
              </a:rPr>
              <a:t>As C1, plus any device on the switched fronthaul can inject or intercept PTP [10, sec. 4].</a:t>
            </a:r>
          </a:p>
        </p:txBody>
      </p:sp>
      <p:sp>
        <p:nvSpPr>
          <p:cNvPr id="19" name="Rectangle 18"/>
          <p:cNvSpPr/>
          <p:nvPr/>
        </p:nvSpPr>
        <p:spPr>
          <a:xfrm>
            <a:off x="566928" y="3602735"/>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 y="3666744"/>
            <a:ext cx="1234440" cy="768096"/>
          </a:xfrm>
          <a:prstGeom prst="rect">
            <a:avLst/>
          </a:prstGeom>
          <a:noFill/>
        </p:spPr>
        <p:txBody>
          <a:bodyPr wrap="square" lIns="18288" rIns="18288" tIns="9144" bIns="9144" anchor="t">
            <a:spAutoFit/>
          </a:bodyPr>
          <a:lstStyle/>
          <a:p>
            <a:pPr algn="l"/>
            <a:r>
              <a:rPr sz="1600" b="1" i="0">
                <a:solidFill>
                  <a:srgbClr val="12263A"/>
                </a:solidFill>
                <a:latin typeface="Cambria"/>
              </a:rPr>
              <a:t>LLS-C3</a:t>
            </a:r>
          </a:p>
        </p:txBody>
      </p:sp>
      <p:sp>
        <p:nvSpPr>
          <p:cNvPr id="21" name="TextBox 20"/>
          <p:cNvSpPr txBox="1"/>
          <p:nvPr/>
        </p:nvSpPr>
        <p:spPr>
          <a:xfrm>
            <a:off x="2011680" y="3666744"/>
            <a:ext cx="5120640" cy="768096"/>
          </a:xfrm>
          <a:prstGeom prst="rect">
            <a:avLst/>
          </a:prstGeom>
          <a:noFill/>
        </p:spPr>
        <p:txBody>
          <a:bodyPr wrap="square" lIns="18288" rIns="18288" tIns="9144" bIns="9144" anchor="t">
            <a:spAutoFit/>
          </a:bodyPr>
          <a:lstStyle/>
          <a:p>
            <a:pPr algn="l"/>
            <a:r>
              <a:rPr sz="1250" b="0" i="0">
                <a:solidFill>
                  <a:srgbClr val="5B6B7C"/>
                </a:solidFill>
                <a:latin typeface="Calibri"/>
              </a:rPr>
              <a:t>O-DU is not part of the synchronization chain. Timing is distributed from PRTC/T-GM to O-RU, typically from central or aggregation sites.</a:t>
            </a:r>
          </a:p>
        </p:txBody>
      </p:sp>
      <p:sp>
        <p:nvSpPr>
          <p:cNvPr id="22" name="TextBox 21"/>
          <p:cNvSpPr txBox="1"/>
          <p:nvPr/>
        </p:nvSpPr>
        <p:spPr>
          <a:xfrm>
            <a:off x="7315200" y="3666744"/>
            <a:ext cx="4206240" cy="768096"/>
          </a:xfrm>
          <a:prstGeom prst="rect">
            <a:avLst/>
          </a:prstGeom>
          <a:noFill/>
        </p:spPr>
        <p:txBody>
          <a:bodyPr wrap="square" lIns="18288" rIns="18288" tIns="9144" bIns="9144" anchor="t">
            <a:spAutoFit/>
          </a:bodyPr>
          <a:lstStyle/>
          <a:p>
            <a:pPr algn="l"/>
            <a:r>
              <a:rPr sz="1250" b="0" i="0">
                <a:solidFill>
                  <a:srgbClr val="12263A"/>
                </a:solidFill>
                <a:latin typeface="Calibri"/>
              </a:rPr>
              <a:t>Grandmaster, boundary clocks and switches on the path are all exposed. TIMESAFE's production test used LLS-C3 [10].</a:t>
            </a:r>
          </a:p>
        </p:txBody>
      </p:sp>
      <p:sp>
        <p:nvSpPr>
          <p:cNvPr id="23" name="Rectangle 22"/>
          <p:cNvSpPr/>
          <p:nvPr/>
        </p:nvSpPr>
        <p:spPr>
          <a:xfrm>
            <a:off x="566928" y="4434840"/>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 y="4498848"/>
            <a:ext cx="1234440" cy="768096"/>
          </a:xfrm>
          <a:prstGeom prst="rect">
            <a:avLst/>
          </a:prstGeom>
          <a:noFill/>
        </p:spPr>
        <p:txBody>
          <a:bodyPr wrap="square" lIns="18288" rIns="18288" tIns="9144" bIns="9144" anchor="t">
            <a:spAutoFit/>
          </a:bodyPr>
          <a:lstStyle/>
          <a:p>
            <a:pPr algn="l"/>
            <a:r>
              <a:rPr sz="1600" b="1" i="0">
                <a:solidFill>
                  <a:srgbClr val="12263A"/>
                </a:solidFill>
                <a:latin typeface="Cambria"/>
              </a:rPr>
              <a:t>LLS-C4</a:t>
            </a:r>
          </a:p>
        </p:txBody>
      </p:sp>
      <p:sp>
        <p:nvSpPr>
          <p:cNvPr id="25" name="TextBox 24"/>
          <p:cNvSpPr txBox="1"/>
          <p:nvPr/>
        </p:nvSpPr>
        <p:spPr>
          <a:xfrm>
            <a:off x="2011680" y="4498848"/>
            <a:ext cx="5120640" cy="768096"/>
          </a:xfrm>
          <a:prstGeom prst="rect">
            <a:avLst/>
          </a:prstGeom>
          <a:noFill/>
        </p:spPr>
        <p:txBody>
          <a:bodyPr wrap="square" lIns="18288" rIns="18288" tIns="9144" bIns="9144" anchor="t">
            <a:spAutoFit/>
          </a:bodyPr>
          <a:lstStyle/>
          <a:p>
            <a:pPr algn="l"/>
            <a:r>
              <a:rPr sz="1250" b="0" i="0">
                <a:solidFill>
                  <a:srgbClr val="5B6B7C"/>
                </a:solidFill>
                <a:latin typeface="Calibri"/>
              </a:rPr>
              <a:t>Synchronization reference provided to the O-RU with no involvement of the transport network, typically a local GNSS receiver.</a:t>
            </a:r>
          </a:p>
        </p:txBody>
      </p:sp>
      <p:sp>
        <p:nvSpPr>
          <p:cNvPr id="26" name="TextBox 25"/>
          <p:cNvSpPr txBox="1"/>
          <p:nvPr/>
        </p:nvSpPr>
        <p:spPr>
          <a:xfrm>
            <a:off x="7315200" y="4498848"/>
            <a:ext cx="4206240" cy="768096"/>
          </a:xfrm>
          <a:prstGeom prst="rect">
            <a:avLst/>
          </a:prstGeom>
          <a:noFill/>
        </p:spPr>
        <p:txBody>
          <a:bodyPr wrap="square" lIns="18288" rIns="18288" tIns="9144" bIns="9144" anchor="t">
            <a:spAutoFit/>
          </a:bodyPr>
          <a:lstStyle/>
          <a:p>
            <a:pPr algn="l"/>
            <a:r>
              <a:rPr sz="1250" b="0" i="0">
                <a:solidFill>
                  <a:srgbClr val="12263A"/>
                </a:solidFill>
                <a:latin typeface="Calibri"/>
              </a:rPr>
              <a:t>No PTP exposure; GNSS jamming or spoofing instead (RFC 7384 sec. 3.2.10 [1]; BSI [12]).</a:t>
            </a:r>
          </a:p>
        </p:txBody>
      </p:sp>
      <p:sp>
        <p:nvSpPr>
          <p:cNvPr id="27" name="Rectangle 26"/>
          <p:cNvSpPr/>
          <p:nvPr/>
        </p:nvSpPr>
        <p:spPr>
          <a:xfrm>
            <a:off x="566928" y="5266944"/>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66928" y="5605272"/>
            <a:ext cx="11045952" cy="868680"/>
          </a:xfrm>
          <a:prstGeom prst="roundRect">
            <a:avLst>
              <a:gd name="adj" fmla="val 8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678424"/>
            <a:ext cx="2103120" cy="722375"/>
          </a:xfrm>
          <a:prstGeom prst="rect">
            <a:avLst/>
          </a:prstGeom>
          <a:noFill/>
        </p:spPr>
        <p:txBody>
          <a:bodyPr wrap="square" lIns="18288" rIns="18288" tIns="9144" bIns="9144" anchor="ctr">
            <a:spAutoFit/>
          </a:bodyPr>
          <a:lstStyle/>
          <a:p>
            <a:pPr algn="l"/>
            <a:r>
              <a:rPr sz="1200" b="1" i="0">
                <a:solidFill>
                  <a:srgbClr val="18B89A"/>
                </a:solidFill>
                <a:latin typeface="Calibri"/>
              </a:rPr>
              <a:t>OUR TESTBED</a:t>
            </a:r>
          </a:p>
        </p:txBody>
      </p:sp>
      <p:sp>
        <p:nvSpPr>
          <p:cNvPr id="30" name="TextBox 29"/>
          <p:cNvSpPr txBox="1"/>
          <p:nvPr/>
        </p:nvSpPr>
        <p:spPr>
          <a:xfrm>
            <a:off x="2834640" y="5660136"/>
            <a:ext cx="8595360" cy="758952"/>
          </a:xfrm>
          <a:prstGeom prst="rect">
            <a:avLst/>
          </a:prstGeom>
          <a:noFill/>
        </p:spPr>
        <p:txBody>
          <a:bodyPr wrap="square" lIns="18288" rIns="18288" tIns="9144" bIns="9144" anchor="ctr">
            <a:spAutoFit/>
          </a:bodyPr>
          <a:lstStyle/>
          <a:p>
            <a:pPr algn="l"/>
            <a:r>
              <a:rPr sz="1300" b="1" i="0">
                <a:solidFill>
                  <a:srgbClr val="FFFFFF"/>
                </a:solidFill>
                <a:latin typeface="Calibri"/>
              </a:rPr>
              <a:t>Grandmaster → boundary clock → three radio units over bridged segments, with no O-DU in the timing chain: the LLS-C3 structure. The O-DU itself is not emulated.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8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10312"/>
            <a:ext cx="11045952" cy="228600"/>
          </a:xfrm>
          <a:prstGeom prst="rect">
            <a:avLst/>
          </a:prstGeom>
          <a:noFill/>
        </p:spPr>
        <p:txBody>
          <a:bodyPr wrap="square" lIns="18288" rIns="18288" tIns="9144" bIns="9144" anchor="t">
            <a:spAutoFit/>
          </a:bodyPr>
          <a:lstStyle/>
          <a:p>
            <a:pPr algn="l"/>
            <a:r>
              <a:rPr sz="1280" b="1" i="0">
                <a:solidFill>
                  <a:srgbClr val="1C7293"/>
                </a:solidFill>
                <a:latin typeface="Calibri"/>
              </a:rPr>
              <a:t>THREAT MODEL · WHO ATTACKS</a:t>
            </a:r>
          </a:p>
        </p:txBody>
      </p:sp>
      <p:sp>
        <p:nvSpPr>
          <p:cNvPr id="5" name="TextBox 4"/>
          <p:cNvSpPr txBox="1"/>
          <p:nvPr/>
        </p:nvSpPr>
        <p:spPr>
          <a:xfrm>
            <a:off x="566928" y="448056"/>
            <a:ext cx="11045952" cy="548640"/>
          </a:xfrm>
          <a:prstGeom prst="rect">
            <a:avLst/>
          </a:prstGeom>
          <a:noFill/>
        </p:spPr>
        <p:txBody>
          <a:bodyPr wrap="square" lIns="18288" rIns="18288" tIns="9144" bIns="9144" anchor="t">
            <a:spAutoFit/>
          </a:bodyPr>
          <a:lstStyle/>
          <a:p>
            <a:pPr algn="l"/>
            <a:r>
              <a:rPr sz="3300" b="1" i="0">
                <a:solidFill>
                  <a:srgbClr val="12263A"/>
                </a:solidFill>
                <a:latin typeface="Cambria"/>
              </a:rPr>
              <a:t>Who Attacks the S-Plane: Agents and Classes</a:t>
            </a:r>
          </a:p>
        </p:txBody>
      </p:sp>
      <p:sp>
        <p:nvSpPr>
          <p:cNvPr id="6" name="Rounded Rectangle 5"/>
          <p:cNvSpPr/>
          <p:nvPr/>
        </p:nvSpPr>
        <p:spPr>
          <a:xfrm>
            <a:off x="566928" y="1060704"/>
            <a:ext cx="11045952" cy="438912"/>
          </a:xfrm>
          <a:prstGeom prst="roundRect">
            <a:avLst>
              <a:gd name="adj" fmla="val 8000"/>
            </a:avLst>
          </a:prstGeom>
          <a:solidFill>
            <a:srgbClr val="EAF2F8"/>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1097280"/>
            <a:ext cx="10744200" cy="384048"/>
          </a:xfrm>
          <a:prstGeom prst="rect">
            <a:avLst/>
          </a:prstGeom>
          <a:noFill/>
        </p:spPr>
        <p:txBody>
          <a:bodyPr wrap="square" lIns="18288" rIns="18288" tIns="9144" bIns="9144" anchor="ctr">
            <a:spAutoFit/>
          </a:bodyPr>
          <a:lstStyle/>
          <a:p>
            <a:pPr algn="l"/>
            <a:r>
              <a:rPr sz="1019" b="0" i="0">
                <a:solidFill>
                  <a:srgbClr val="5B6B7C"/>
                </a:solidFill>
                <a:latin typeface="Calibri"/>
              </a:rPr>
              <a:t>ETSI TR 104 106 V3.0.0 (2025-06) clause 7.2 threat agents and clause 7.4.1.2 [2]  |  IETF RFC 7384 (2014) clause 3.1 threat model [1]  |  TIMESAFE, ACM TOPS 2025, section 4 [10]</a:t>
            </a:r>
          </a:p>
        </p:txBody>
      </p:sp>
      <p:sp>
        <p:nvSpPr>
          <p:cNvPr id="8" name="TextBox 7"/>
          <p:cNvSpPr txBox="1"/>
          <p:nvPr/>
        </p:nvSpPr>
        <p:spPr>
          <a:xfrm>
            <a:off x="667512" y="1664208"/>
            <a:ext cx="5120640" cy="228600"/>
          </a:xfrm>
          <a:prstGeom prst="rect">
            <a:avLst/>
          </a:prstGeom>
          <a:noFill/>
        </p:spPr>
        <p:txBody>
          <a:bodyPr wrap="square" lIns="18288" rIns="18288" tIns="9144" bIns="9144" anchor="t">
            <a:spAutoFit/>
          </a:bodyPr>
          <a:lstStyle/>
          <a:p>
            <a:pPr algn="l"/>
            <a:r>
              <a:rPr sz="1150" b="1" i="0">
                <a:solidFill>
                  <a:srgbClr val="1C7293"/>
                </a:solidFill>
                <a:latin typeface="Calibri"/>
              </a:rPr>
              <a:t>THREAT AGENTS  (ETSI TR 104 106, CL. 7.2)</a:t>
            </a:r>
          </a:p>
        </p:txBody>
      </p:sp>
      <p:sp>
        <p:nvSpPr>
          <p:cNvPr id="9" name="TextBox 8"/>
          <p:cNvSpPr txBox="1"/>
          <p:nvPr/>
        </p:nvSpPr>
        <p:spPr>
          <a:xfrm>
            <a:off x="667512" y="1965960"/>
            <a:ext cx="1691640" cy="384048"/>
          </a:xfrm>
          <a:prstGeom prst="rect">
            <a:avLst/>
          </a:prstGeom>
          <a:noFill/>
        </p:spPr>
        <p:txBody>
          <a:bodyPr wrap="square" lIns="18288" rIns="18288" tIns="9144" bIns="9144" anchor="t">
            <a:spAutoFit/>
          </a:bodyPr>
          <a:lstStyle/>
          <a:p>
            <a:pPr algn="l"/>
            <a:r>
              <a:rPr sz="1350" b="1" i="0">
                <a:solidFill>
                  <a:srgbClr val="12263A"/>
                </a:solidFill>
                <a:latin typeface="Cambria"/>
              </a:rPr>
              <a:t>Insiders</a:t>
            </a:r>
          </a:p>
        </p:txBody>
      </p:sp>
      <p:sp>
        <p:nvSpPr>
          <p:cNvPr id="10" name="TextBox 9"/>
          <p:cNvSpPr txBox="1"/>
          <p:nvPr/>
        </p:nvSpPr>
        <p:spPr>
          <a:xfrm>
            <a:off x="2377440" y="1993391"/>
            <a:ext cx="3429000" cy="384048"/>
          </a:xfrm>
          <a:prstGeom prst="rect">
            <a:avLst/>
          </a:prstGeom>
          <a:noFill/>
        </p:spPr>
        <p:txBody>
          <a:bodyPr wrap="square" lIns="18288" rIns="18288" tIns="9144" bIns="9144" anchor="t">
            <a:spAutoFit/>
          </a:bodyPr>
          <a:lstStyle/>
          <a:p>
            <a:pPr algn="l"/>
            <a:r>
              <a:rPr sz="1150" b="0" i="0">
                <a:solidFill>
                  <a:srgbClr val="5B6B7C"/>
                </a:solidFill>
                <a:latin typeface="Calibri"/>
              </a:rPr>
              <a:t>malicious attack by a person with authorized access</a:t>
            </a:r>
          </a:p>
        </p:txBody>
      </p:sp>
      <p:sp>
        <p:nvSpPr>
          <p:cNvPr id="11" name="TextBox 10"/>
          <p:cNvSpPr txBox="1"/>
          <p:nvPr/>
        </p:nvSpPr>
        <p:spPr>
          <a:xfrm>
            <a:off x="667512" y="2395728"/>
            <a:ext cx="1691640" cy="384048"/>
          </a:xfrm>
          <a:prstGeom prst="rect">
            <a:avLst/>
          </a:prstGeom>
          <a:noFill/>
        </p:spPr>
        <p:txBody>
          <a:bodyPr wrap="square" lIns="18288" rIns="18288" tIns="9144" bIns="9144" anchor="t">
            <a:spAutoFit/>
          </a:bodyPr>
          <a:lstStyle/>
          <a:p>
            <a:pPr algn="l"/>
            <a:r>
              <a:rPr sz="1350" b="1" i="0">
                <a:solidFill>
                  <a:srgbClr val="12263A"/>
                </a:solidFill>
                <a:latin typeface="Cambria"/>
              </a:rPr>
              <a:t>Nation-state</a:t>
            </a:r>
          </a:p>
        </p:txBody>
      </p:sp>
      <p:sp>
        <p:nvSpPr>
          <p:cNvPr id="12" name="TextBox 11"/>
          <p:cNvSpPr txBox="1"/>
          <p:nvPr/>
        </p:nvSpPr>
        <p:spPr>
          <a:xfrm>
            <a:off x="2377440" y="2423160"/>
            <a:ext cx="3429000" cy="384048"/>
          </a:xfrm>
          <a:prstGeom prst="rect">
            <a:avLst/>
          </a:prstGeom>
          <a:noFill/>
        </p:spPr>
        <p:txBody>
          <a:bodyPr wrap="square" lIns="18288" rIns="18288" tIns="9144" bIns="9144" anchor="t">
            <a:spAutoFit/>
          </a:bodyPr>
          <a:lstStyle/>
          <a:p>
            <a:pPr algn="l"/>
            <a:r>
              <a:rPr sz="1150" b="0" i="0">
                <a:solidFill>
                  <a:srgbClr val="5B6B7C"/>
                </a:solidFill>
                <a:latin typeface="Calibri"/>
              </a:rPr>
              <a:t>aggressively target and gain persistent access to networks</a:t>
            </a:r>
          </a:p>
        </p:txBody>
      </p:sp>
      <p:sp>
        <p:nvSpPr>
          <p:cNvPr id="13" name="TextBox 12"/>
          <p:cNvSpPr txBox="1"/>
          <p:nvPr/>
        </p:nvSpPr>
        <p:spPr>
          <a:xfrm>
            <a:off x="667512" y="2825496"/>
            <a:ext cx="1691640" cy="384048"/>
          </a:xfrm>
          <a:prstGeom prst="rect">
            <a:avLst/>
          </a:prstGeom>
          <a:noFill/>
        </p:spPr>
        <p:txBody>
          <a:bodyPr wrap="square" lIns="18288" rIns="18288" tIns="9144" bIns="9144" anchor="t">
            <a:spAutoFit/>
          </a:bodyPr>
          <a:lstStyle/>
          <a:p>
            <a:pPr algn="l"/>
            <a:r>
              <a:rPr sz="1350" b="1" i="0">
                <a:solidFill>
                  <a:srgbClr val="12263A"/>
                </a:solidFill>
                <a:latin typeface="Cambria"/>
              </a:rPr>
              <a:t>Cyber-criminals</a:t>
            </a:r>
          </a:p>
        </p:txBody>
      </p:sp>
      <p:sp>
        <p:nvSpPr>
          <p:cNvPr id="14" name="TextBox 13"/>
          <p:cNvSpPr txBox="1"/>
          <p:nvPr/>
        </p:nvSpPr>
        <p:spPr>
          <a:xfrm>
            <a:off x="2377440" y="2852927"/>
            <a:ext cx="3429000" cy="384048"/>
          </a:xfrm>
          <a:prstGeom prst="rect">
            <a:avLst/>
          </a:prstGeom>
          <a:noFill/>
        </p:spPr>
        <p:txBody>
          <a:bodyPr wrap="square" lIns="18288" rIns="18288" tIns="9144" bIns="9144" anchor="t">
            <a:spAutoFit/>
          </a:bodyPr>
          <a:lstStyle/>
          <a:p>
            <a:pPr algn="l"/>
            <a:r>
              <a:rPr sz="1150" b="0" i="0">
                <a:solidFill>
                  <a:srgbClr val="5B6B7C"/>
                </a:solidFill>
                <a:latin typeface="Calibri"/>
              </a:rPr>
              <a:t>individuals who commit cybercrimes</a:t>
            </a:r>
          </a:p>
        </p:txBody>
      </p:sp>
      <p:sp>
        <p:nvSpPr>
          <p:cNvPr id="15" name="TextBox 14"/>
          <p:cNvSpPr txBox="1"/>
          <p:nvPr/>
        </p:nvSpPr>
        <p:spPr>
          <a:xfrm>
            <a:off x="667512" y="3255263"/>
            <a:ext cx="1691640" cy="384048"/>
          </a:xfrm>
          <a:prstGeom prst="rect">
            <a:avLst/>
          </a:prstGeom>
          <a:noFill/>
        </p:spPr>
        <p:txBody>
          <a:bodyPr wrap="square" lIns="18288" rIns="18288" tIns="9144" bIns="9144" anchor="t">
            <a:spAutoFit/>
          </a:bodyPr>
          <a:lstStyle/>
          <a:p>
            <a:pPr algn="l"/>
            <a:r>
              <a:rPr sz="1350" b="1" i="0">
                <a:solidFill>
                  <a:srgbClr val="12263A"/>
                </a:solidFill>
                <a:latin typeface="Cambria"/>
              </a:rPr>
              <a:t>Hacktivists</a:t>
            </a:r>
          </a:p>
        </p:txBody>
      </p:sp>
      <p:sp>
        <p:nvSpPr>
          <p:cNvPr id="16" name="TextBox 15"/>
          <p:cNvSpPr txBox="1"/>
          <p:nvPr/>
        </p:nvSpPr>
        <p:spPr>
          <a:xfrm>
            <a:off x="2377440" y="3282695"/>
            <a:ext cx="3429000" cy="384048"/>
          </a:xfrm>
          <a:prstGeom prst="rect">
            <a:avLst/>
          </a:prstGeom>
          <a:noFill/>
        </p:spPr>
        <p:txBody>
          <a:bodyPr wrap="square" lIns="18288" rIns="18288" tIns="9144" bIns="9144" anchor="t">
            <a:spAutoFit/>
          </a:bodyPr>
          <a:lstStyle/>
          <a:p>
            <a:pPr algn="l"/>
            <a:r>
              <a:rPr sz="1150" b="0" i="0">
                <a:solidFill>
                  <a:srgbClr val="5B6B7C"/>
                </a:solidFill>
                <a:latin typeface="Calibri"/>
              </a:rPr>
              <a:t>cyber-attacks for political or social gains</a:t>
            </a:r>
          </a:p>
        </p:txBody>
      </p:sp>
      <p:sp>
        <p:nvSpPr>
          <p:cNvPr id="17" name="TextBox 16"/>
          <p:cNvSpPr txBox="1"/>
          <p:nvPr/>
        </p:nvSpPr>
        <p:spPr>
          <a:xfrm>
            <a:off x="667512" y="3685031"/>
            <a:ext cx="1691640" cy="384048"/>
          </a:xfrm>
          <a:prstGeom prst="rect">
            <a:avLst/>
          </a:prstGeom>
          <a:noFill/>
        </p:spPr>
        <p:txBody>
          <a:bodyPr wrap="square" lIns="18288" rIns="18288" tIns="9144" bIns="9144" anchor="t">
            <a:spAutoFit/>
          </a:bodyPr>
          <a:lstStyle/>
          <a:p>
            <a:pPr algn="l"/>
            <a:r>
              <a:rPr sz="1350" b="1" i="0">
                <a:solidFill>
                  <a:srgbClr val="12263A"/>
                </a:solidFill>
                <a:latin typeface="Cambria"/>
              </a:rPr>
              <a:t>Cyber-terrorists</a:t>
            </a:r>
          </a:p>
        </p:txBody>
      </p:sp>
      <p:sp>
        <p:nvSpPr>
          <p:cNvPr id="18" name="TextBox 17"/>
          <p:cNvSpPr txBox="1"/>
          <p:nvPr/>
        </p:nvSpPr>
        <p:spPr>
          <a:xfrm>
            <a:off x="2377440" y="3712463"/>
            <a:ext cx="3429000" cy="384048"/>
          </a:xfrm>
          <a:prstGeom prst="rect">
            <a:avLst/>
          </a:prstGeom>
          <a:noFill/>
        </p:spPr>
        <p:txBody>
          <a:bodyPr wrap="square" lIns="18288" rIns="18288" tIns="9144" bIns="9144" anchor="t">
            <a:spAutoFit/>
          </a:bodyPr>
          <a:lstStyle/>
          <a:p>
            <a:pPr algn="l"/>
            <a:r>
              <a:rPr sz="1150" b="0" i="0">
                <a:solidFill>
                  <a:srgbClr val="5B6B7C"/>
                </a:solidFill>
                <a:latin typeface="Calibri"/>
              </a:rPr>
              <a:t>target O-RAN infrastructure through violence</a:t>
            </a:r>
          </a:p>
        </p:txBody>
      </p:sp>
      <p:sp>
        <p:nvSpPr>
          <p:cNvPr id="19" name="TextBox 18"/>
          <p:cNvSpPr txBox="1"/>
          <p:nvPr/>
        </p:nvSpPr>
        <p:spPr>
          <a:xfrm>
            <a:off x="667512" y="4114799"/>
            <a:ext cx="1691640" cy="384048"/>
          </a:xfrm>
          <a:prstGeom prst="rect">
            <a:avLst/>
          </a:prstGeom>
          <a:noFill/>
        </p:spPr>
        <p:txBody>
          <a:bodyPr wrap="square" lIns="18288" rIns="18288" tIns="9144" bIns="9144" anchor="t">
            <a:spAutoFit/>
          </a:bodyPr>
          <a:lstStyle/>
          <a:p>
            <a:pPr algn="l"/>
            <a:r>
              <a:rPr sz="1350" b="1" i="0">
                <a:solidFill>
                  <a:srgbClr val="12263A"/>
                </a:solidFill>
                <a:latin typeface="Cambria"/>
              </a:rPr>
              <a:t>Script kiddies</a:t>
            </a:r>
          </a:p>
        </p:txBody>
      </p:sp>
      <p:sp>
        <p:nvSpPr>
          <p:cNvPr id="20" name="TextBox 19"/>
          <p:cNvSpPr txBox="1"/>
          <p:nvPr/>
        </p:nvSpPr>
        <p:spPr>
          <a:xfrm>
            <a:off x="2377440" y="4142231"/>
            <a:ext cx="3429000" cy="384048"/>
          </a:xfrm>
          <a:prstGeom prst="rect">
            <a:avLst/>
          </a:prstGeom>
          <a:noFill/>
        </p:spPr>
        <p:txBody>
          <a:bodyPr wrap="square" lIns="18288" rIns="18288" tIns="9144" bIns="9144" anchor="t">
            <a:spAutoFit/>
          </a:bodyPr>
          <a:lstStyle/>
          <a:p>
            <a:pPr algn="l"/>
            <a:r>
              <a:rPr sz="1150" b="0" i="0">
                <a:solidFill>
                  <a:srgbClr val="5B6B7C"/>
                </a:solidFill>
                <a:latin typeface="Calibri"/>
              </a:rPr>
              <a:t>actors without deep technical expertise</a:t>
            </a:r>
          </a:p>
        </p:txBody>
      </p:sp>
      <p:sp>
        <p:nvSpPr>
          <p:cNvPr id="21" name="Rectangle 20"/>
          <p:cNvSpPr/>
          <p:nvPr/>
        </p:nvSpPr>
        <p:spPr>
          <a:xfrm>
            <a:off x="5989320" y="1664208"/>
            <a:ext cx="10972" cy="3657600"/>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1664208"/>
            <a:ext cx="5394960" cy="228600"/>
          </a:xfrm>
          <a:prstGeom prst="rect">
            <a:avLst/>
          </a:prstGeom>
          <a:noFill/>
        </p:spPr>
        <p:txBody>
          <a:bodyPr wrap="square" lIns="18288" rIns="18288" tIns="9144" bIns="9144" anchor="t">
            <a:spAutoFit/>
          </a:bodyPr>
          <a:lstStyle/>
          <a:p>
            <a:pPr algn="l"/>
            <a:r>
              <a:rPr sz="1150" b="1" i="0">
                <a:solidFill>
                  <a:srgbClr val="1C7293"/>
                </a:solidFill>
                <a:latin typeface="Calibri"/>
              </a:rPr>
              <a:t>ATTACKER CLASSES BY ACCESS AND POSITION  (RFC 7384, CL. 3.1)</a:t>
            </a:r>
          </a:p>
        </p:txBody>
      </p:sp>
      <p:sp>
        <p:nvSpPr>
          <p:cNvPr id="23" name="Rounded Rectangle 22"/>
          <p:cNvSpPr/>
          <p:nvPr/>
        </p:nvSpPr>
        <p:spPr>
          <a:xfrm>
            <a:off x="6217920" y="1965960"/>
            <a:ext cx="5394960" cy="457200"/>
          </a:xfrm>
          <a:prstGeom prst="roundRect">
            <a:avLst>
              <a:gd name="adj" fmla="val 8000"/>
            </a:avLst>
          </a:prstGeom>
          <a:solidFill>
            <a:srgbClr val="FFFFFF"/>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1965960"/>
            <a:ext cx="1783080" cy="457200"/>
          </a:xfrm>
          <a:prstGeom prst="rect">
            <a:avLst/>
          </a:prstGeom>
          <a:noFill/>
        </p:spPr>
        <p:txBody>
          <a:bodyPr wrap="square" lIns="18288" rIns="18288" tIns="9144" bIns="9144" anchor="ctr">
            <a:spAutoFit/>
          </a:bodyPr>
          <a:lstStyle/>
          <a:p>
            <a:pPr algn="l"/>
            <a:r>
              <a:rPr sz="1300" b="1" i="0">
                <a:solidFill>
                  <a:srgbClr val="12263A"/>
                </a:solidFill>
                <a:latin typeface="Cambria"/>
              </a:rPr>
              <a:t>Internal</a:t>
            </a:r>
          </a:p>
        </p:txBody>
      </p:sp>
      <p:sp>
        <p:nvSpPr>
          <p:cNvPr id="25" name="TextBox 24"/>
          <p:cNvSpPr txBox="1"/>
          <p:nvPr/>
        </p:nvSpPr>
        <p:spPr>
          <a:xfrm>
            <a:off x="8138160" y="1965960"/>
            <a:ext cx="3383280" cy="457200"/>
          </a:xfrm>
          <a:prstGeom prst="rect">
            <a:avLst/>
          </a:prstGeom>
          <a:noFill/>
        </p:spPr>
        <p:txBody>
          <a:bodyPr wrap="square" lIns="18288" rIns="18288" tIns="9144" bIns="9144" anchor="ctr">
            <a:spAutoFit/>
          </a:bodyPr>
          <a:lstStyle/>
          <a:p>
            <a:pPr algn="l"/>
            <a:r>
              <a:rPr sz="1100" b="0" i="0">
                <a:solidFill>
                  <a:srgbClr val="5B6B7C"/>
                </a:solidFill>
                <a:latin typeface="Calibri"/>
              </a:rPr>
              <a:t>has access to a trusted segment of the network, or holds the keys</a:t>
            </a:r>
          </a:p>
        </p:txBody>
      </p:sp>
      <p:sp>
        <p:nvSpPr>
          <p:cNvPr id="26" name="Rounded Rectangle 25"/>
          <p:cNvSpPr/>
          <p:nvPr/>
        </p:nvSpPr>
        <p:spPr>
          <a:xfrm>
            <a:off x="6217920" y="2496312"/>
            <a:ext cx="5394960" cy="457200"/>
          </a:xfrm>
          <a:prstGeom prst="roundRect">
            <a:avLst>
              <a:gd name="adj" fmla="val 8000"/>
            </a:avLst>
          </a:prstGeom>
          <a:solidFill>
            <a:srgbClr val="FFFFFF"/>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2496312"/>
            <a:ext cx="1783080" cy="457200"/>
          </a:xfrm>
          <a:prstGeom prst="rect">
            <a:avLst/>
          </a:prstGeom>
          <a:noFill/>
        </p:spPr>
        <p:txBody>
          <a:bodyPr wrap="square" lIns="18288" rIns="18288" tIns="9144" bIns="9144" anchor="ctr">
            <a:spAutoFit/>
          </a:bodyPr>
          <a:lstStyle/>
          <a:p>
            <a:pPr algn="l"/>
            <a:r>
              <a:rPr sz="1300" b="1" i="0">
                <a:solidFill>
                  <a:srgbClr val="12263A"/>
                </a:solidFill>
                <a:latin typeface="Cambria"/>
              </a:rPr>
              <a:t>External</a:t>
            </a:r>
          </a:p>
        </p:txBody>
      </p:sp>
      <p:sp>
        <p:nvSpPr>
          <p:cNvPr id="28" name="TextBox 27"/>
          <p:cNvSpPr txBox="1"/>
          <p:nvPr/>
        </p:nvSpPr>
        <p:spPr>
          <a:xfrm>
            <a:off x="8138160" y="2496312"/>
            <a:ext cx="3383280" cy="457200"/>
          </a:xfrm>
          <a:prstGeom prst="rect">
            <a:avLst/>
          </a:prstGeom>
          <a:noFill/>
        </p:spPr>
        <p:txBody>
          <a:bodyPr wrap="square" lIns="18288" rIns="18288" tIns="9144" bIns="9144" anchor="ctr">
            <a:spAutoFit/>
          </a:bodyPr>
          <a:lstStyle/>
          <a:p>
            <a:pPr algn="l"/>
            <a:r>
              <a:rPr sz="1100" b="0" i="0">
                <a:solidFill>
                  <a:srgbClr val="5B6B7C"/>
                </a:solidFill>
                <a:latin typeface="Calibri"/>
              </a:rPr>
              <a:t>no keys; sees only encrypted or authenticated traffic</a:t>
            </a:r>
          </a:p>
        </p:txBody>
      </p:sp>
      <p:sp>
        <p:nvSpPr>
          <p:cNvPr id="29" name="Rounded Rectangle 28"/>
          <p:cNvSpPr/>
          <p:nvPr/>
        </p:nvSpPr>
        <p:spPr>
          <a:xfrm>
            <a:off x="6217920" y="3026664"/>
            <a:ext cx="5394960" cy="457200"/>
          </a:xfrm>
          <a:prstGeom prst="roundRect">
            <a:avLst>
              <a:gd name="adj" fmla="val 8000"/>
            </a:avLst>
          </a:prstGeom>
          <a:solidFill>
            <a:srgbClr val="FFFFFF"/>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80" y="3026664"/>
            <a:ext cx="1783080" cy="457200"/>
          </a:xfrm>
          <a:prstGeom prst="rect">
            <a:avLst/>
          </a:prstGeom>
          <a:noFill/>
        </p:spPr>
        <p:txBody>
          <a:bodyPr wrap="square" lIns="18288" rIns="18288" tIns="9144" bIns="9144" anchor="ctr">
            <a:spAutoFit/>
          </a:bodyPr>
          <a:lstStyle/>
          <a:p>
            <a:pPr algn="l"/>
            <a:r>
              <a:rPr sz="1300" b="1" i="0">
                <a:solidFill>
                  <a:srgbClr val="12263A"/>
                </a:solidFill>
                <a:latin typeface="Cambria"/>
              </a:rPr>
              <a:t>Man-in-the-middle</a:t>
            </a:r>
          </a:p>
        </p:txBody>
      </p:sp>
      <p:sp>
        <p:nvSpPr>
          <p:cNvPr id="31" name="TextBox 30"/>
          <p:cNvSpPr txBox="1"/>
          <p:nvPr/>
        </p:nvSpPr>
        <p:spPr>
          <a:xfrm>
            <a:off x="8138160" y="3026664"/>
            <a:ext cx="3383280" cy="457200"/>
          </a:xfrm>
          <a:prstGeom prst="rect">
            <a:avLst/>
          </a:prstGeom>
          <a:noFill/>
        </p:spPr>
        <p:txBody>
          <a:bodyPr wrap="square" lIns="18288" rIns="18288" tIns="9144" bIns="9144" anchor="ctr">
            <a:spAutoFit/>
          </a:bodyPr>
          <a:lstStyle/>
          <a:p>
            <a:pPr algn="l"/>
            <a:r>
              <a:rPr sz="1100" b="0" i="0">
                <a:solidFill>
                  <a:srgbClr val="5B6B7C"/>
                </a:solidFill>
                <a:latin typeface="Calibri"/>
              </a:rPr>
              <a:t>positioned to intercept and modify in-flight packets</a:t>
            </a:r>
          </a:p>
        </p:txBody>
      </p:sp>
      <p:sp>
        <p:nvSpPr>
          <p:cNvPr id="32" name="Rounded Rectangle 31"/>
          <p:cNvSpPr/>
          <p:nvPr/>
        </p:nvSpPr>
        <p:spPr>
          <a:xfrm>
            <a:off x="6217920" y="3557016"/>
            <a:ext cx="5394960" cy="457200"/>
          </a:xfrm>
          <a:prstGeom prst="roundRect">
            <a:avLst>
              <a:gd name="adj" fmla="val 8000"/>
            </a:avLst>
          </a:prstGeom>
          <a:solidFill>
            <a:srgbClr val="FFFFFF"/>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3557016"/>
            <a:ext cx="1783080" cy="457200"/>
          </a:xfrm>
          <a:prstGeom prst="rect">
            <a:avLst/>
          </a:prstGeom>
          <a:noFill/>
        </p:spPr>
        <p:txBody>
          <a:bodyPr wrap="square" lIns="18288" rIns="18288" tIns="9144" bIns="9144" anchor="ctr">
            <a:spAutoFit/>
          </a:bodyPr>
          <a:lstStyle/>
          <a:p>
            <a:pPr algn="l"/>
            <a:r>
              <a:rPr sz="1300" b="1" i="0">
                <a:solidFill>
                  <a:srgbClr val="12263A"/>
                </a:solidFill>
                <a:latin typeface="Cambria"/>
              </a:rPr>
              <a:t>Injector</a:t>
            </a:r>
          </a:p>
        </p:txBody>
      </p:sp>
      <p:sp>
        <p:nvSpPr>
          <p:cNvPr id="34" name="TextBox 33"/>
          <p:cNvSpPr txBox="1"/>
          <p:nvPr/>
        </p:nvSpPr>
        <p:spPr>
          <a:xfrm>
            <a:off x="8138160" y="3557016"/>
            <a:ext cx="3383280" cy="457200"/>
          </a:xfrm>
          <a:prstGeom prst="rect">
            <a:avLst/>
          </a:prstGeom>
          <a:noFill/>
        </p:spPr>
        <p:txBody>
          <a:bodyPr wrap="square" lIns="18288" rIns="18288" tIns="9144" bIns="9144" anchor="ctr">
            <a:spAutoFit/>
          </a:bodyPr>
          <a:lstStyle/>
          <a:p>
            <a:pPr algn="l"/>
            <a:r>
              <a:rPr sz="1100" b="0" i="0">
                <a:solidFill>
                  <a:srgbClr val="5B6B7C"/>
                </a:solidFill>
                <a:latin typeface="Calibri"/>
              </a:rPr>
              <a:t>not in-path; attacks by generating protocol packets</a:t>
            </a:r>
          </a:p>
        </p:txBody>
      </p:sp>
      <p:sp>
        <p:nvSpPr>
          <p:cNvPr id="35" name="TextBox 34"/>
          <p:cNvSpPr txBox="1"/>
          <p:nvPr/>
        </p:nvSpPr>
        <p:spPr>
          <a:xfrm>
            <a:off x="6217920" y="4114800"/>
            <a:ext cx="5394960" cy="228600"/>
          </a:xfrm>
          <a:prstGeom prst="rect">
            <a:avLst/>
          </a:prstGeom>
          <a:noFill/>
        </p:spPr>
        <p:txBody>
          <a:bodyPr wrap="square" lIns="18288" rIns="18288" tIns="9144" bIns="9144" anchor="t">
            <a:spAutoFit/>
          </a:bodyPr>
          <a:lstStyle/>
          <a:p>
            <a:pPr algn="l"/>
            <a:r>
              <a:rPr sz="1150" b="1" i="0">
                <a:solidFill>
                  <a:srgbClr val="1C7293"/>
                </a:solidFill>
                <a:latin typeface="Calibri"/>
              </a:rPr>
              <a:t>HOW THEY GET ON THE FRONTHAUL  ([10] sec. 4; [2] T-FRHAUL-02)</a:t>
            </a:r>
          </a:p>
        </p:txBody>
      </p:sp>
      <p:sp>
        <p:nvSpPr>
          <p:cNvPr id="36" name="TextBox 35"/>
          <p:cNvSpPr txBox="1"/>
          <p:nvPr/>
        </p:nvSpPr>
        <p:spPr>
          <a:xfrm>
            <a:off x="6217920" y="4389120"/>
            <a:ext cx="5394960" cy="960120"/>
          </a:xfrm>
          <a:prstGeom prst="rect">
            <a:avLst/>
          </a:prstGeom>
          <a:noFill/>
        </p:spPr>
        <p:txBody>
          <a:bodyPr wrap="square" lIns="18288" rIns="18288" tIns="9144" bIns="9144" anchor="t">
            <a:spAutoFit/>
          </a:bodyPr>
          <a:lstStyle/>
          <a:p>
            <a:pPr algn="l"/>
            <a:r>
              <a:rPr sz="1150" b="0" i="0">
                <a:solidFill>
                  <a:srgbClr val="12263A"/>
                </a:solidFill>
                <a:latin typeface="Calibri"/>
              </a:rPr>
              <a:t>• Remote access widened by multi-vendor, disaggregated equipment</a:t>
            </a:r>
          </a:p>
          <a:p>
            <a:pPr algn="l"/>
            <a:r>
              <a:rPr sz="1150" b="0" i="0">
                <a:solidFill>
                  <a:srgbClr val="12263A"/>
                </a:solidFill>
                <a:latin typeface="Calibri"/>
              </a:rPr>
              <a:t>• Physical access to edge cell sites hosting O-RU / O-DU</a:t>
            </a:r>
          </a:p>
          <a:p>
            <a:pPr algn="l"/>
            <a:r>
              <a:rPr sz="1150" b="0" i="0">
                <a:solidFill>
                  <a:srgbClr val="12263A"/>
                </a:solidFill>
                <a:latin typeface="Calibri"/>
              </a:rPr>
              <a:t>• Supply-chain backdoors in DU or RU equipment</a:t>
            </a:r>
          </a:p>
          <a:p>
            <a:pPr algn="l"/>
            <a:r>
              <a:rPr sz="1150" b="0" i="0">
                <a:solidFill>
                  <a:srgbClr val="12263A"/>
                </a:solidFill>
                <a:latin typeface="Calibri"/>
              </a:rPr>
              <a:t>• Unauthorized access to the Open Fronthaul Ethernet interface</a:t>
            </a:r>
          </a:p>
        </p:txBody>
      </p:sp>
      <p:sp>
        <p:nvSpPr>
          <p:cNvPr id="37" name="Rounded Rectangle 36"/>
          <p:cNvSpPr/>
          <p:nvPr/>
        </p:nvSpPr>
        <p:spPr>
          <a:xfrm>
            <a:off x="566928" y="5486400"/>
            <a:ext cx="11045952" cy="960120"/>
          </a:xfrm>
          <a:prstGeom prst="roundRect">
            <a:avLst>
              <a:gd name="adj" fmla="val 8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5559552"/>
            <a:ext cx="2103120" cy="813816"/>
          </a:xfrm>
          <a:prstGeom prst="rect">
            <a:avLst/>
          </a:prstGeom>
          <a:noFill/>
        </p:spPr>
        <p:txBody>
          <a:bodyPr wrap="square" lIns="18288" rIns="18288" tIns="9144" bIns="9144" anchor="ctr">
            <a:spAutoFit/>
          </a:bodyPr>
          <a:lstStyle/>
          <a:p>
            <a:pPr algn="l"/>
            <a:r>
              <a:rPr sz="1200" b="1" i="0">
                <a:solidFill>
                  <a:srgbClr val="18B89A"/>
                </a:solidFill>
                <a:latin typeface="Calibri"/>
              </a:rPr>
              <a:t>ANSWER: WHO</a:t>
            </a:r>
          </a:p>
        </p:txBody>
      </p:sp>
      <p:sp>
        <p:nvSpPr>
          <p:cNvPr id="39" name="TextBox 38"/>
          <p:cNvSpPr txBox="1"/>
          <p:nvPr/>
        </p:nvSpPr>
        <p:spPr>
          <a:xfrm>
            <a:off x="2834640" y="5541264"/>
            <a:ext cx="8595360" cy="850392"/>
          </a:xfrm>
          <a:prstGeom prst="rect">
            <a:avLst/>
          </a:prstGeom>
          <a:noFill/>
        </p:spPr>
        <p:txBody>
          <a:bodyPr wrap="square" lIns="18288" rIns="18288" tIns="9144" bIns="9144" anchor="ctr">
            <a:spAutoFit/>
          </a:bodyPr>
          <a:lstStyle/>
          <a:p>
            <a:pPr algn="l"/>
            <a:r>
              <a:rPr sz="1220" b="1" i="0">
                <a:solidFill>
                  <a:srgbClr val="FFFFFF"/>
                </a:solidFill>
                <a:latin typeface="Calibri"/>
              </a:rPr>
              <a:t>The standards name attackers by capability and position, not by identity. Six of our eight attacks fall in RFC 7384 rows that require an internal attacker; interception (C1) can also be done by an external man-in-the-middle.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8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10312"/>
            <a:ext cx="11045952" cy="228600"/>
          </a:xfrm>
          <a:prstGeom prst="rect">
            <a:avLst/>
          </a:prstGeom>
          <a:noFill/>
        </p:spPr>
        <p:txBody>
          <a:bodyPr wrap="square" lIns="18288" rIns="18288" tIns="9144" bIns="9144" anchor="t">
            <a:spAutoFit/>
          </a:bodyPr>
          <a:lstStyle/>
          <a:p>
            <a:pPr algn="l"/>
            <a:r>
              <a:rPr sz="1280" b="1" i="0">
                <a:solidFill>
                  <a:srgbClr val="1C7293"/>
                </a:solidFill>
                <a:latin typeface="Calibri"/>
              </a:rPr>
              <a:t>THREAT MODEL · WHERE AND HOW</a:t>
            </a:r>
          </a:p>
        </p:txBody>
      </p:sp>
      <p:sp>
        <p:nvSpPr>
          <p:cNvPr id="5" name="TextBox 4"/>
          <p:cNvSpPr txBox="1"/>
          <p:nvPr/>
        </p:nvSpPr>
        <p:spPr>
          <a:xfrm>
            <a:off x="566928" y="448056"/>
            <a:ext cx="11045952" cy="548640"/>
          </a:xfrm>
          <a:prstGeom prst="rect">
            <a:avLst/>
          </a:prstGeom>
          <a:noFill/>
        </p:spPr>
        <p:txBody>
          <a:bodyPr wrap="square" lIns="18288" rIns="18288" tIns="9144" bIns="9144" anchor="t">
            <a:spAutoFit/>
          </a:bodyPr>
          <a:lstStyle/>
          <a:p>
            <a:pPr algn="l"/>
            <a:r>
              <a:rPr sz="3300" b="1" i="0">
                <a:solidFill>
                  <a:srgbClr val="12263A"/>
                </a:solidFill>
                <a:latin typeface="Cambria"/>
              </a:rPr>
              <a:t>Attack Entry Points on the Testbed Timing Path</a:t>
            </a:r>
          </a:p>
        </p:txBody>
      </p:sp>
      <p:sp>
        <p:nvSpPr>
          <p:cNvPr id="6" name="Rounded Rectangle 5"/>
          <p:cNvSpPr/>
          <p:nvPr/>
        </p:nvSpPr>
        <p:spPr>
          <a:xfrm>
            <a:off x="566928" y="1060704"/>
            <a:ext cx="11045952" cy="438912"/>
          </a:xfrm>
          <a:prstGeom prst="roundRect">
            <a:avLst>
              <a:gd name="adj" fmla="val 8000"/>
            </a:avLst>
          </a:prstGeom>
          <a:solidFill>
            <a:srgbClr val="EAF2F8"/>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1097280"/>
            <a:ext cx="10744200" cy="384048"/>
          </a:xfrm>
          <a:prstGeom prst="rect">
            <a:avLst/>
          </a:prstGeom>
          <a:noFill/>
        </p:spPr>
        <p:txBody>
          <a:bodyPr wrap="square" lIns="18288" rIns="18288" tIns="9144" bIns="9144" anchor="ctr">
            <a:spAutoFit/>
          </a:bodyPr>
          <a:lstStyle/>
          <a:p>
            <a:pPr algn="l"/>
            <a:r>
              <a:rPr sz="1019" b="0" i="0">
                <a:solidFill>
                  <a:srgbClr val="5B6B7C"/>
                </a:solidFill>
                <a:latin typeface="Calibri"/>
              </a:rPr>
              <a:t>Positions and tools read from the campaign scripts run/scenarios.sh and run/run_gap.sh in splane_campaign_CORRECTED_2026-09-20.tgz  |  Attacker classes per RFC 7384 cl. 3.1 [1]</a:t>
            </a:r>
          </a:p>
        </p:txBody>
      </p:sp>
      <p:sp>
        <p:nvSpPr>
          <p:cNvPr id="8" name="Rounded Rectangle 7"/>
          <p:cNvSpPr/>
          <p:nvPr/>
        </p:nvSpPr>
        <p:spPr>
          <a:xfrm>
            <a:off x="685800" y="1874519"/>
            <a:ext cx="1234440" cy="594360"/>
          </a:xfrm>
          <a:prstGeom prst="roundRect">
            <a:avLst>
              <a:gd name="adj" fmla="val 8000"/>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11095"/>
            <a:ext cx="1234440" cy="274320"/>
          </a:xfrm>
          <a:prstGeom prst="rect">
            <a:avLst/>
          </a:prstGeom>
          <a:noFill/>
        </p:spPr>
        <p:txBody>
          <a:bodyPr wrap="square" lIns="18288" rIns="18288" tIns="9144" bIns="9144" anchor="t">
            <a:spAutoFit/>
          </a:bodyPr>
          <a:lstStyle/>
          <a:p>
            <a:pPr algn="ctr"/>
            <a:r>
              <a:rPr sz="1400" b="1" i="0">
                <a:solidFill>
                  <a:srgbClr val="12263A"/>
                </a:solidFill>
                <a:latin typeface="Cambria"/>
              </a:rPr>
              <a:t>GM-A</a:t>
            </a:r>
          </a:p>
        </p:txBody>
      </p:sp>
      <p:sp>
        <p:nvSpPr>
          <p:cNvPr id="10" name="TextBox 9"/>
          <p:cNvSpPr txBox="1"/>
          <p:nvPr/>
        </p:nvSpPr>
        <p:spPr>
          <a:xfrm>
            <a:off x="685800" y="2176272"/>
            <a:ext cx="1234440" cy="228600"/>
          </a:xfrm>
          <a:prstGeom prst="rect">
            <a:avLst/>
          </a:prstGeom>
          <a:noFill/>
        </p:spPr>
        <p:txBody>
          <a:bodyPr wrap="square" lIns="18288" rIns="18288" tIns="9144" bIns="9144" anchor="t">
            <a:spAutoFit/>
          </a:bodyPr>
          <a:lstStyle/>
          <a:p>
            <a:pPr algn="ctr"/>
            <a:r>
              <a:rPr sz="950" b="0" i="0">
                <a:solidFill>
                  <a:srgbClr val="5B6B7C"/>
                </a:solidFill>
                <a:latin typeface="Calibri"/>
              </a:rPr>
              <a:t>grandmaster</a:t>
            </a:r>
          </a:p>
        </p:txBody>
      </p:sp>
      <p:sp>
        <p:nvSpPr>
          <p:cNvPr id="11" name="Rounded Rectangle 10"/>
          <p:cNvSpPr/>
          <p:nvPr/>
        </p:nvSpPr>
        <p:spPr>
          <a:xfrm>
            <a:off x="685800" y="2743200"/>
            <a:ext cx="1234440" cy="594360"/>
          </a:xfrm>
          <a:prstGeom prst="roundRect">
            <a:avLst>
              <a:gd name="adj" fmla="val 8000"/>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779776"/>
            <a:ext cx="1234440" cy="274320"/>
          </a:xfrm>
          <a:prstGeom prst="rect">
            <a:avLst/>
          </a:prstGeom>
          <a:noFill/>
        </p:spPr>
        <p:txBody>
          <a:bodyPr wrap="square" lIns="18288" rIns="18288" tIns="9144" bIns="9144" anchor="t">
            <a:spAutoFit/>
          </a:bodyPr>
          <a:lstStyle/>
          <a:p>
            <a:pPr algn="ctr"/>
            <a:r>
              <a:rPr sz="1400" b="1" i="0">
                <a:solidFill>
                  <a:srgbClr val="12263A"/>
                </a:solidFill>
                <a:latin typeface="Cambria"/>
              </a:rPr>
              <a:t>GM-B</a:t>
            </a:r>
          </a:p>
        </p:txBody>
      </p:sp>
      <p:sp>
        <p:nvSpPr>
          <p:cNvPr id="13" name="TextBox 12"/>
          <p:cNvSpPr txBox="1"/>
          <p:nvPr/>
        </p:nvSpPr>
        <p:spPr>
          <a:xfrm>
            <a:off x="685800" y="3044952"/>
            <a:ext cx="1234440" cy="228600"/>
          </a:xfrm>
          <a:prstGeom prst="rect">
            <a:avLst/>
          </a:prstGeom>
          <a:noFill/>
        </p:spPr>
        <p:txBody>
          <a:bodyPr wrap="square" lIns="18288" rIns="18288" tIns="9144" bIns="9144" anchor="t">
            <a:spAutoFit/>
          </a:bodyPr>
          <a:lstStyle/>
          <a:p>
            <a:pPr algn="ctr"/>
            <a:r>
              <a:rPr sz="950" b="0" i="0">
                <a:solidFill>
                  <a:srgbClr val="5B6B7C"/>
                </a:solidFill>
                <a:latin typeface="Calibri"/>
              </a:rPr>
              <a:t>backup GM</a:t>
            </a:r>
          </a:p>
        </p:txBody>
      </p:sp>
      <p:sp>
        <p:nvSpPr>
          <p:cNvPr id="14" name="Rectangle 13"/>
          <p:cNvSpPr/>
          <p:nvPr/>
        </p:nvSpPr>
        <p:spPr>
          <a:xfrm>
            <a:off x="2103120" y="1783080"/>
            <a:ext cx="201168" cy="2423160"/>
          </a:xfrm>
          <a:prstGeom prst="rect">
            <a:avLst/>
          </a:prstGeom>
          <a:solidFill>
            <a:srgbClr val="18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75104" y="4224528"/>
            <a:ext cx="457200" cy="228600"/>
          </a:xfrm>
          <a:prstGeom prst="rect">
            <a:avLst/>
          </a:prstGeom>
          <a:noFill/>
        </p:spPr>
        <p:txBody>
          <a:bodyPr wrap="square" lIns="18288" rIns="18288" tIns="9144" bIns="9144" anchor="t">
            <a:spAutoFit/>
          </a:bodyPr>
          <a:lstStyle/>
          <a:p>
            <a:pPr algn="ctr"/>
            <a:r>
              <a:rPr sz="950" b="1" i="0">
                <a:solidFill>
                  <a:srgbClr val="1C7293"/>
                </a:solidFill>
                <a:latin typeface="Calibri"/>
              </a:rPr>
              <a:t>brUP</a:t>
            </a:r>
          </a:p>
        </p:txBody>
      </p:sp>
      <p:sp>
        <p:nvSpPr>
          <p:cNvPr id="16" name="Rounded Rectangle 15"/>
          <p:cNvSpPr/>
          <p:nvPr/>
        </p:nvSpPr>
        <p:spPr>
          <a:xfrm>
            <a:off x="2514600" y="2606040"/>
            <a:ext cx="1234440" cy="594360"/>
          </a:xfrm>
          <a:prstGeom prst="roundRect">
            <a:avLst>
              <a:gd name="adj" fmla="val 8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14600" y="2642616"/>
            <a:ext cx="1234440" cy="274320"/>
          </a:xfrm>
          <a:prstGeom prst="rect">
            <a:avLst/>
          </a:prstGeom>
          <a:noFill/>
        </p:spPr>
        <p:txBody>
          <a:bodyPr wrap="square" lIns="18288" rIns="18288" tIns="9144" bIns="9144" anchor="t">
            <a:spAutoFit/>
          </a:bodyPr>
          <a:lstStyle/>
          <a:p>
            <a:pPr algn="ctr"/>
            <a:r>
              <a:rPr sz="1400" b="1" i="0">
                <a:solidFill>
                  <a:srgbClr val="FFFFFF"/>
                </a:solidFill>
                <a:latin typeface="Cambria"/>
              </a:rPr>
              <a:t>BC</a:t>
            </a:r>
          </a:p>
        </p:txBody>
      </p:sp>
      <p:sp>
        <p:nvSpPr>
          <p:cNvPr id="18" name="TextBox 17"/>
          <p:cNvSpPr txBox="1"/>
          <p:nvPr/>
        </p:nvSpPr>
        <p:spPr>
          <a:xfrm>
            <a:off x="2514600" y="2907792"/>
            <a:ext cx="1234440" cy="228600"/>
          </a:xfrm>
          <a:prstGeom prst="rect">
            <a:avLst/>
          </a:prstGeom>
          <a:noFill/>
        </p:spPr>
        <p:txBody>
          <a:bodyPr wrap="square" lIns="18288" rIns="18288" tIns="9144" bIns="9144" anchor="t">
            <a:spAutoFit/>
          </a:bodyPr>
          <a:lstStyle/>
          <a:p>
            <a:pPr algn="ctr"/>
            <a:r>
              <a:rPr sz="950" b="0" i="0">
                <a:solidFill>
                  <a:srgbClr val="FFFFFF"/>
                </a:solidFill>
                <a:latin typeface="Calibri"/>
              </a:rPr>
              <a:t>boundary clock</a:t>
            </a:r>
          </a:p>
        </p:txBody>
      </p:sp>
      <p:sp>
        <p:nvSpPr>
          <p:cNvPr id="19" name="Rectangle 18"/>
          <p:cNvSpPr/>
          <p:nvPr/>
        </p:nvSpPr>
        <p:spPr>
          <a:xfrm>
            <a:off x="3931920" y="1783080"/>
            <a:ext cx="201168" cy="2423160"/>
          </a:xfrm>
          <a:prstGeom prst="rect">
            <a:avLst/>
          </a:prstGeom>
          <a:solidFill>
            <a:srgbClr val="18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03904" y="4224528"/>
            <a:ext cx="457200" cy="228600"/>
          </a:xfrm>
          <a:prstGeom prst="rect">
            <a:avLst/>
          </a:prstGeom>
          <a:noFill/>
        </p:spPr>
        <p:txBody>
          <a:bodyPr wrap="square" lIns="18288" rIns="18288" tIns="9144" bIns="9144" anchor="t">
            <a:spAutoFit/>
          </a:bodyPr>
          <a:lstStyle/>
          <a:p>
            <a:pPr algn="ctr"/>
            <a:r>
              <a:rPr sz="950" b="1" i="0">
                <a:solidFill>
                  <a:srgbClr val="1C7293"/>
                </a:solidFill>
                <a:latin typeface="Calibri"/>
              </a:rPr>
              <a:t>brDN</a:t>
            </a:r>
          </a:p>
        </p:txBody>
      </p:sp>
      <p:sp>
        <p:nvSpPr>
          <p:cNvPr id="21" name="Rounded Rectangle 20"/>
          <p:cNvSpPr/>
          <p:nvPr/>
        </p:nvSpPr>
        <p:spPr>
          <a:xfrm>
            <a:off x="4343400" y="1783080"/>
            <a:ext cx="1188720" cy="594360"/>
          </a:xfrm>
          <a:prstGeom prst="roundRect">
            <a:avLst>
              <a:gd name="adj" fmla="val 8000"/>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3400" y="1819656"/>
            <a:ext cx="1188720" cy="274320"/>
          </a:xfrm>
          <a:prstGeom prst="rect">
            <a:avLst/>
          </a:prstGeom>
          <a:noFill/>
        </p:spPr>
        <p:txBody>
          <a:bodyPr wrap="square" lIns="18288" rIns="18288" tIns="9144" bIns="9144" anchor="t">
            <a:spAutoFit/>
          </a:bodyPr>
          <a:lstStyle/>
          <a:p>
            <a:pPr algn="ctr"/>
            <a:r>
              <a:rPr sz="1400" b="1" i="0">
                <a:solidFill>
                  <a:srgbClr val="12263A"/>
                </a:solidFill>
                <a:latin typeface="Cambria"/>
              </a:rPr>
              <a:t>RU1</a:t>
            </a:r>
          </a:p>
        </p:txBody>
      </p:sp>
      <p:sp>
        <p:nvSpPr>
          <p:cNvPr id="23" name="TextBox 22"/>
          <p:cNvSpPr txBox="1"/>
          <p:nvPr/>
        </p:nvSpPr>
        <p:spPr>
          <a:xfrm>
            <a:off x="4343400" y="2084831"/>
            <a:ext cx="1188720" cy="228600"/>
          </a:xfrm>
          <a:prstGeom prst="rect">
            <a:avLst/>
          </a:prstGeom>
          <a:noFill/>
        </p:spPr>
        <p:txBody>
          <a:bodyPr wrap="square" lIns="18288" rIns="18288" tIns="9144" bIns="9144" anchor="t">
            <a:spAutoFit/>
          </a:bodyPr>
          <a:lstStyle/>
          <a:p>
            <a:pPr algn="ctr"/>
            <a:r>
              <a:rPr sz="950" b="0" i="0">
                <a:solidFill>
                  <a:srgbClr val="5B6B7C"/>
                </a:solidFill>
                <a:latin typeface="Calibri"/>
              </a:rPr>
              <a:t>radio unit</a:t>
            </a:r>
          </a:p>
        </p:txBody>
      </p:sp>
      <p:sp>
        <p:nvSpPr>
          <p:cNvPr id="24" name="Rounded Rectangle 23"/>
          <p:cNvSpPr/>
          <p:nvPr/>
        </p:nvSpPr>
        <p:spPr>
          <a:xfrm>
            <a:off x="4343400" y="2606040"/>
            <a:ext cx="1188720" cy="594360"/>
          </a:xfrm>
          <a:prstGeom prst="roundRect">
            <a:avLst>
              <a:gd name="adj" fmla="val 8000"/>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43400" y="2642616"/>
            <a:ext cx="1188720" cy="274320"/>
          </a:xfrm>
          <a:prstGeom prst="rect">
            <a:avLst/>
          </a:prstGeom>
          <a:noFill/>
        </p:spPr>
        <p:txBody>
          <a:bodyPr wrap="square" lIns="18288" rIns="18288" tIns="9144" bIns="9144" anchor="t">
            <a:spAutoFit/>
          </a:bodyPr>
          <a:lstStyle/>
          <a:p>
            <a:pPr algn="ctr"/>
            <a:r>
              <a:rPr sz="1400" b="1" i="0">
                <a:solidFill>
                  <a:srgbClr val="12263A"/>
                </a:solidFill>
                <a:latin typeface="Cambria"/>
              </a:rPr>
              <a:t>RU2</a:t>
            </a:r>
          </a:p>
        </p:txBody>
      </p:sp>
      <p:sp>
        <p:nvSpPr>
          <p:cNvPr id="26" name="TextBox 25"/>
          <p:cNvSpPr txBox="1"/>
          <p:nvPr/>
        </p:nvSpPr>
        <p:spPr>
          <a:xfrm>
            <a:off x="4343400" y="2907792"/>
            <a:ext cx="1188720" cy="228600"/>
          </a:xfrm>
          <a:prstGeom prst="rect">
            <a:avLst/>
          </a:prstGeom>
          <a:noFill/>
        </p:spPr>
        <p:txBody>
          <a:bodyPr wrap="square" lIns="18288" rIns="18288" tIns="9144" bIns="9144" anchor="t">
            <a:spAutoFit/>
          </a:bodyPr>
          <a:lstStyle/>
          <a:p>
            <a:pPr algn="ctr"/>
            <a:r>
              <a:rPr sz="950" b="0" i="0">
                <a:solidFill>
                  <a:srgbClr val="5B6B7C"/>
                </a:solidFill>
                <a:latin typeface="Calibri"/>
              </a:rPr>
              <a:t>radio unit</a:t>
            </a:r>
          </a:p>
        </p:txBody>
      </p:sp>
      <p:sp>
        <p:nvSpPr>
          <p:cNvPr id="27" name="Rounded Rectangle 26"/>
          <p:cNvSpPr/>
          <p:nvPr/>
        </p:nvSpPr>
        <p:spPr>
          <a:xfrm>
            <a:off x="4343400" y="3429000"/>
            <a:ext cx="1188720" cy="594360"/>
          </a:xfrm>
          <a:prstGeom prst="roundRect">
            <a:avLst>
              <a:gd name="adj" fmla="val 8000"/>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43400" y="3465576"/>
            <a:ext cx="1188720" cy="274320"/>
          </a:xfrm>
          <a:prstGeom prst="rect">
            <a:avLst/>
          </a:prstGeom>
          <a:noFill/>
        </p:spPr>
        <p:txBody>
          <a:bodyPr wrap="square" lIns="18288" rIns="18288" tIns="9144" bIns="9144" anchor="t">
            <a:spAutoFit/>
          </a:bodyPr>
          <a:lstStyle/>
          <a:p>
            <a:pPr algn="ctr"/>
            <a:r>
              <a:rPr sz="1400" b="1" i="0">
                <a:solidFill>
                  <a:srgbClr val="12263A"/>
                </a:solidFill>
                <a:latin typeface="Cambria"/>
              </a:rPr>
              <a:t>RU3</a:t>
            </a:r>
          </a:p>
        </p:txBody>
      </p:sp>
      <p:sp>
        <p:nvSpPr>
          <p:cNvPr id="29" name="TextBox 28"/>
          <p:cNvSpPr txBox="1"/>
          <p:nvPr/>
        </p:nvSpPr>
        <p:spPr>
          <a:xfrm>
            <a:off x="4343400" y="3730752"/>
            <a:ext cx="1188720" cy="228600"/>
          </a:xfrm>
          <a:prstGeom prst="rect">
            <a:avLst/>
          </a:prstGeom>
          <a:noFill/>
        </p:spPr>
        <p:txBody>
          <a:bodyPr wrap="square" lIns="18288" rIns="18288" tIns="9144" bIns="9144" anchor="t">
            <a:spAutoFit/>
          </a:bodyPr>
          <a:lstStyle/>
          <a:p>
            <a:pPr algn="ctr"/>
            <a:r>
              <a:rPr sz="950" b="0" i="0">
                <a:solidFill>
                  <a:srgbClr val="5B6B7C"/>
                </a:solidFill>
                <a:latin typeface="Calibri"/>
              </a:rPr>
              <a:t>radio unit</a:t>
            </a:r>
          </a:p>
        </p:txBody>
      </p:sp>
      <p:sp>
        <p:nvSpPr>
          <p:cNvPr id="30" name="Rounded Rectangle 29"/>
          <p:cNvSpPr/>
          <p:nvPr/>
        </p:nvSpPr>
        <p:spPr>
          <a:xfrm>
            <a:off x="2395728" y="1810512"/>
            <a:ext cx="1463040" cy="502920"/>
          </a:xfrm>
          <a:prstGeom prst="roundRect">
            <a:avLst>
              <a:gd name="adj" fmla="val 8000"/>
            </a:avLst>
          </a:prstGeom>
          <a:solidFill>
            <a:srgbClr val="FBECE9"/>
          </a:solidFill>
          <a:ln w="19050">
            <a:solidFill>
              <a:srgbClr val="B3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50592" y="1810512"/>
            <a:ext cx="274320" cy="502920"/>
          </a:xfrm>
          <a:prstGeom prst="rect">
            <a:avLst/>
          </a:prstGeom>
          <a:noFill/>
        </p:spPr>
        <p:txBody>
          <a:bodyPr wrap="square" lIns="18288" rIns="18288" tIns="9144" bIns="9144" anchor="ctr">
            <a:spAutoFit/>
          </a:bodyPr>
          <a:lstStyle/>
          <a:p>
            <a:pPr algn="l"/>
            <a:r>
              <a:rPr sz="1600" b="1" i="0">
                <a:solidFill>
                  <a:srgbClr val="B3402F"/>
                </a:solidFill>
                <a:latin typeface="Cambria"/>
              </a:rPr>
              <a:t>3</a:t>
            </a:r>
          </a:p>
        </p:txBody>
      </p:sp>
      <p:sp>
        <p:nvSpPr>
          <p:cNvPr id="32" name="TextBox 31"/>
          <p:cNvSpPr txBox="1"/>
          <p:nvPr/>
        </p:nvSpPr>
        <p:spPr>
          <a:xfrm>
            <a:off x="2724912" y="1810512"/>
            <a:ext cx="1078992" cy="502920"/>
          </a:xfrm>
          <a:prstGeom prst="rect">
            <a:avLst/>
          </a:prstGeom>
          <a:noFill/>
        </p:spPr>
        <p:txBody>
          <a:bodyPr wrap="square" lIns="18288" rIns="18288" tIns="9144" bIns="9144" anchor="ctr">
            <a:spAutoFit/>
          </a:bodyPr>
          <a:lstStyle/>
          <a:p>
            <a:pPr algn="l"/>
            <a:r>
              <a:rPr sz="1000" b="1" i="0">
                <a:solidFill>
                  <a:srgbClr val="B3402F"/>
                </a:solidFill>
                <a:latin typeface="Calibri"/>
              </a:rPr>
              <a:t>In-path at BC port</a:t>
            </a:r>
          </a:p>
        </p:txBody>
      </p:sp>
      <p:sp>
        <p:nvSpPr>
          <p:cNvPr id="33" name="Rounded Rectangle 32"/>
          <p:cNvSpPr/>
          <p:nvPr/>
        </p:nvSpPr>
        <p:spPr>
          <a:xfrm>
            <a:off x="2395728" y="3401568"/>
            <a:ext cx="1463040" cy="502920"/>
          </a:xfrm>
          <a:prstGeom prst="roundRect">
            <a:avLst>
              <a:gd name="adj" fmla="val 8000"/>
            </a:avLst>
          </a:prstGeom>
          <a:solidFill>
            <a:srgbClr val="FBECE9"/>
          </a:solidFill>
          <a:ln w="19050">
            <a:solidFill>
              <a:srgbClr val="B3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450592" y="3401568"/>
            <a:ext cx="274320" cy="502920"/>
          </a:xfrm>
          <a:prstGeom prst="rect">
            <a:avLst/>
          </a:prstGeom>
          <a:noFill/>
        </p:spPr>
        <p:txBody>
          <a:bodyPr wrap="square" lIns="18288" rIns="18288" tIns="9144" bIns="9144" anchor="ctr">
            <a:spAutoFit/>
          </a:bodyPr>
          <a:lstStyle/>
          <a:p>
            <a:pPr algn="l"/>
            <a:r>
              <a:rPr sz="1600" b="1" i="0">
                <a:solidFill>
                  <a:srgbClr val="B3402F"/>
                </a:solidFill>
                <a:latin typeface="Cambria"/>
              </a:rPr>
              <a:t>2</a:t>
            </a:r>
          </a:p>
        </p:txBody>
      </p:sp>
      <p:sp>
        <p:nvSpPr>
          <p:cNvPr id="35" name="TextBox 34"/>
          <p:cNvSpPr txBox="1"/>
          <p:nvPr/>
        </p:nvSpPr>
        <p:spPr>
          <a:xfrm>
            <a:off x="2724912" y="3401568"/>
            <a:ext cx="1078992" cy="502920"/>
          </a:xfrm>
          <a:prstGeom prst="rect">
            <a:avLst/>
          </a:prstGeom>
          <a:noFill/>
        </p:spPr>
        <p:txBody>
          <a:bodyPr wrap="square" lIns="18288" rIns="18288" tIns="9144" bIns="9144" anchor="ctr">
            <a:spAutoFit/>
          </a:bodyPr>
          <a:lstStyle/>
          <a:p>
            <a:pPr algn="l"/>
            <a:r>
              <a:rPr sz="1000" b="1" i="0">
                <a:solidFill>
                  <a:srgbClr val="B3402F"/>
                </a:solidFill>
                <a:latin typeface="Calibri"/>
              </a:rPr>
              <a:t>Device across both bridges</a:t>
            </a:r>
          </a:p>
        </p:txBody>
      </p:sp>
      <p:sp>
        <p:nvSpPr>
          <p:cNvPr id="36" name="Rounded Rectangle 35"/>
          <p:cNvSpPr/>
          <p:nvPr/>
        </p:nvSpPr>
        <p:spPr>
          <a:xfrm>
            <a:off x="4023360" y="4526280"/>
            <a:ext cx="1600200" cy="502920"/>
          </a:xfrm>
          <a:prstGeom prst="roundRect">
            <a:avLst>
              <a:gd name="adj" fmla="val 8000"/>
            </a:avLst>
          </a:prstGeom>
          <a:solidFill>
            <a:srgbClr val="FBECE9"/>
          </a:solidFill>
          <a:ln w="19050">
            <a:solidFill>
              <a:srgbClr val="B3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78224" y="4526280"/>
            <a:ext cx="274320" cy="502920"/>
          </a:xfrm>
          <a:prstGeom prst="rect">
            <a:avLst/>
          </a:prstGeom>
          <a:noFill/>
        </p:spPr>
        <p:txBody>
          <a:bodyPr wrap="square" lIns="18288" rIns="18288" tIns="9144" bIns="9144" anchor="ctr">
            <a:spAutoFit/>
          </a:bodyPr>
          <a:lstStyle/>
          <a:p>
            <a:pPr algn="l"/>
            <a:r>
              <a:rPr sz="1600" b="1" i="0">
                <a:solidFill>
                  <a:srgbClr val="B3402F"/>
                </a:solidFill>
                <a:latin typeface="Cambria"/>
              </a:rPr>
              <a:t>1</a:t>
            </a:r>
          </a:p>
        </p:txBody>
      </p:sp>
      <p:sp>
        <p:nvSpPr>
          <p:cNvPr id="38" name="TextBox 37"/>
          <p:cNvSpPr txBox="1"/>
          <p:nvPr/>
        </p:nvSpPr>
        <p:spPr>
          <a:xfrm>
            <a:off x="4352544" y="4526280"/>
            <a:ext cx="1216152" cy="502920"/>
          </a:xfrm>
          <a:prstGeom prst="rect">
            <a:avLst/>
          </a:prstGeom>
          <a:noFill/>
        </p:spPr>
        <p:txBody>
          <a:bodyPr wrap="square" lIns="18288" rIns="18288" tIns="9144" bIns="9144" anchor="ctr">
            <a:spAutoFit/>
          </a:bodyPr>
          <a:lstStyle/>
          <a:p>
            <a:pPr algn="l"/>
            <a:r>
              <a:rPr sz="1000" b="1" i="0">
                <a:solidFill>
                  <a:srgbClr val="B3402F"/>
                </a:solidFill>
                <a:latin typeface="Calibri"/>
              </a:rPr>
              <a:t>Injector on RU segment</a:t>
            </a:r>
          </a:p>
        </p:txBody>
      </p:sp>
      <p:sp>
        <p:nvSpPr>
          <p:cNvPr id="39" name="TextBox 38"/>
          <p:cNvSpPr txBox="1"/>
          <p:nvPr/>
        </p:nvSpPr>
        <p:spPr>
          <a:xfrm>
            <a:off x="5897880" y="1664208"/>
            <a:ext cx="411480" cy="228600"/>
          </a:xfrm>
          <a:prstGeom prst="rect">
            <a:avLst/>
          </a:prstGeom>
          <a:noFill/>
        </p:spPr>
        <p:txBody>
          <a:bodyPr wrap="square" lIns="18288" rIns="18288" tIns="9144" bIns="9144" anchor="t">
            <a:spAutoFit/>
          </a:bodyPr>
          <a:lstStyle/>
          <a:p>
            <a:pPr algn="l"/>
            <a:r>
              <a:rPr sz="1150" b="1" i="0">
                <a:solidFill>
                  <a:srgbClr val="1C7293"/>
                </a:solidFill>
                <a:latin typeface="Calibri"/>
              </a:rPr>
              <a:t>#</a:t>
            </a:r>
          </a:p>
        </p:txBody>
      </p:sp>
      <p:sp>
        <p:nvSpPr>
          <p:cNvPr id="40" name="TextBox 39"/>
          <p:cNvSpPr txBox="1"/>
          <p:nvPr/>
        </p:nvSpPr>
        <p:spPr>
          <a:xfrm>
            <a:off x="6355080" y="1664208"/>
            <a:ext cx="1371600" cy="228600"/>
          </a:xfrm>
          <a:prstGeom prst="rect">
            <a:avLst/>
          </a:prstGeom>
          <a:noFill/>
        </p:spPr>
        <p:txBody>
          <a:bodyPr wrap="square" lIns="18288" rIns="18288" tIns="9144" bIns="9144" anchor="t">
            <a:spAutoFit/>
          </a:bodyPr>
          <a:lstStyle/>
          <a:p>
            <a:pPr algn="l"/>
            <a:r>
              <a:rPr sz="1150" b="1" i="0">
                <a:solidFill>
                  <a:srgbClr val="1C7293"/>
                </a:solidFill>
                <a:latin typeface="Calibri"/>
              </a:rPr>
              <a:t>SCENARIOS</a:t>
            </a:r>
          </a:p>
        </p:txBody>
      </p:sp>
      <p:sp>
        <p:nvSpPr>
          <p:cNvPr id="41" name="TextBox 40"/>
          <p:cNvSpPr txBox="1"/>
          <p:nvPr/>
        </p:nvSpPr>
        <p:spPr>
          <a:xfrm>
            <a:off x="7772400" y="1664208"/>
            <a:ext cx="3840480" cy="228600"/>
          </a:xfrm>
          <a:prstGeom prst="rect">
            <a:avLst/>
          </a:prstGeom>
          <a:noFill/>
        </p:spPr>
        <p:txBody>
          <a:bodyPr wrap="square" lIns="18288" rIns="18288" tIns="9144" bIns="9144" anchor="t">
            <a:spAutoFit/>
          </a:bodyPr>
          <a:lstStyle/>
          <a:p>
            <a:pPr algn="l"/>
            <a:r>
              <a:rPr sz="1150" b="1" i="0">
                <a:solidFill>
                  <a:srgbClr val="1C7293"/>
                </a:solidFill>
                <a:latin typeface="Calibri"/>
              </a:rPr>
              <a:t>HOW IT WAS LAUNCHED</a:t>
            </a:r>
          </a:p>
        </p:txBody>
      </p:sp>
      <p:sp>
        <p:nvSpPr>
          <p:cNvPr id="42" name="Rectangle 41"/>
          <p:cNvSpPr/>
          <p:nvPr/>
        </p:nvSpPr>
        <p:spPr>
          <a:xfrm>
            <a:off x="5897880" y="1938528"/>
            <a:ext cx="5715000"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97880" y="2002536"/>
            <a:ext cx="411480" cy="1143000"/>
          </a:xfrm>
          <a:prstGeom prst="rect">
            <a:avLst/>
          </a:prstGeom>
          <a:noFill/>
        </p:spPr>
        <p:txBody>
          <a:bodyPr wrap="square" lIns="18288" rIns="18288" tIns="9144" bIns="9144" anchor="t">
            <a:spAutoFit/>
          </a:bodyPr>
          <a:lstStyle/>
          <a:p>
            <a:pPr algn="l"/>
            <a:r>
              <a:rPr sz="1500" b="1" i="0">
                <a:solidFill>
                  <a:srgbClr val="12263A"/>
                </a:solidFill>
                <a:latin typeface="Cambria"/>
              </a:rPr>
              <a:t>1</a:t>
            </a:r>
          </a:p>
        </p:txBody>
      </p:sp>
      <p:sp>
        <p:nvSpPr>
          <p:cNvPr id="44" name="TextBox 43"/>
          <p:cNvSpPr txBox="1"/>
          <p:nvPr/>
        </p:nvSpPr>
        <p:spPr>
          <a:xfrm>
            <a:off x="6355080" y="2002536"/>
            <a:ext cx="1371600" cy="1143000"/>
          </a:xfrm>
          <a:prstGeom prst="rect">
            <a:avLst/>
          </a:prstGeom>
          <a:noFill/>
        </p:spPr>
        <p:txBody>
          <a:bodyPr wrap="square" lIns="18288" rIns="18288" tIns="9144" bIns="9144" anchor="t">
            <a:spAutoFit/>
          </a:bodyPr>
          <a:lstStyle/>
          <a:p>
            <a:pPr algn="l"/>
            <a:r>
              <a:rPr sz="1100" b="0" i="0">
                <a:solidFill>
                  <a:srgbClr val="5B6B7C"/>
                </a:solidFill>
                <a:latin typeface="Calibri"/>
              </a:rPr>
              <a:t>A1, A2, A3, A5, C2, C3</a:t>
            </a:r>
          </a:p>
        </p:txBody>
      </p:sp>
      <p:sp>
        <p:nvSpPr>
          <p:cNvPr id="45" name="TextBox 44"/>
          <p:cNvSpPr txBox="1"/>
          <p:nvPr/>
        </p:nvSpPr>
        <p:spPr>
          <a:xfrm>
            <a:off x="7772400" y="2002536"/>
            <a:ext cx="3840480" cy="1143000"/>
          </a:xfrm>
          <a:prstGeom prst="rect">
            <a:avLst/>
          </a:prstGeom>
          <a:noFill/>
        </p:spPr>
        <p:txBody>
          <a:bodyPr wrap="square" lIns="18288" rIns="18288" tIns="9144" bIns="9144" anchor="t">
            <a:spAutoFit/>
          </a:bodyPr>
          <a:lstStyle/>
          <a:p>
            <a:pPr algn="l"/>
            <a:r>
              <a:rPr sz="1100" b="0" i="0">
                <a:solidFill>
                  <a:srgbClr val="12263A"/>
                </a:solidFill>
                <a:latin typeface="Calibri"/>
              </a:rPr>
              <a:t>Device on the RU-side fronthaul segment (the ru3 namespace, or an added namespace on brDN). A1: second ptp4l with off-allow-list identity; A2, A5, C2, C3: Scapy-built frames; A3: tcpdump capture, then tcpreplay.</a:t>
            </a:r>
          </a:p>
        </p:txBody>
      </p:sp>
      <p:sp>
        <p:nvSpPr>
          <p:cNvPr id="46" name="Rectangle 45"/>
          <p:cNvSpPr/>
          <p:nvPr/>
        </p:nvSpPr>
        <p:spPr>
          <a:xfrm>
            <a:off x="5897880" y="3145536"/>
            <a:ext cx="5715000"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897880" y="3209544"/>
            <a:ext cx="411480" cy="749808"/>
          </a:xfrm>
          <a:prstGeom prst="rect">
            <a:avLst/>
          </a:prstGeom>
          <a:noFill/>
        </p:spPr>
        <p:txBody>
          <a:bodyPr wrap="square" lIns="18288" rIns="18288" tIns="9144" bIns="9144" anchor="t">
            <a:spAutoFit/>
          </a:bodyPr>
          <a:lstStyle/>
          <a:p>
            <a:pPr algn="l"/>
            <a:r>
              <a:rPr sz="1500" b="1" i="0">
                <a:solidFill>
                  <a:srgbClr val="12263A"/>
                </a:solidFill>
                <a:latin typeface="Cambria"/>
              </a:rPr>
              <a:t>2</a:t>
            </a:r>
          </a:p>
        </p:txBody>
      </p:sp>
      <p:sp>
        <p:nvSpPr>
          <p:cNvPr id="48" name="TextBox 47"/>
          <p:cNvSpPr txBox="1"/>
          <p:nvPr/>
        </p:nvSpPr>
        <p:spPr>
          <a:xfrm>
            <a:off x="6355080" y="3209544"/>
            <a:ext cx="1371600" cy="749808"/>
          </a:xfrm>
          <a:prstGeom prst="rect">
            <a:avLst/>
          </a:prstGeom>
          <a:noFill/>
        </p:spPr>
        <p:txBody>
          <a:bodyPr wrap="square" lIns="18288" rIns="18288" tIns="9144" bIns="9144" anchor="t">
            <a:spAutoFit/>
          </a:bodyPr>
          <a:lstStyle/>
          <a:p>
            <a:pPr algn="l"/>
            <a:r>
              <a:rPr sz="1100" b="0" i="0">
                <a:solidFill>
                  <a:srgbClr val="5B6B7C"/>
                </a:solidFill>
                <a:latin typeface="Calibri"/>
              </a:rPr>
              <a:t>A8</a:t>
            </a:r>
          </a:p>
        </p:txBody>
      </p:sp>
      <p:sp>
        <p:nvSpPr>
          <p:cNvPr id="49" name="TextBox 48"/>
          <p:cNvSpPr txBox="1"/>
          <p:nvPr/>
        </p:nvSpPr>
        <p:spPr>
          <a:xfrm>
            <a:off x="7772400" y="3209544"/>
            <a:ext cx="3840480" cy="749808"/>
          </a:xfrm>
          <a:prstGeom prst="rect">
            <a:avLst/>
          </a:prstGeom>
          <a:noFill/>
        </p:spPr>
        <p:txBody>
          <a:bodyPr wrap="square" lIns="18288" rIns="18288" tIns="9144" bIns="9144" anchor="t">
            <a:spAutoFit/>
          </a:bodyPr>
          <a:lstStyle/>
          <a:p>
            <a:pPr algn="l"/>
            <a:r>
              <a:rPr sz="1100" b="0" i="0">
                <a:solidFill>
                  <a:srgbClr val="12263A"/>
                </a:solidFill>
                <a:latin typeface="Calibri"/>
              </a:rPr>
              <a:t>Two-port ptp4l bridging brUP and brDN that slaves to the real GM and re-advertises downstream with stepsRemoved incremented.</a:t>
            </a:r>
          </a:p>
        </p:txBody>
      </p:sp>
      <p:sp>
        <p:nvSpPr>
          <p:cNvPr id="50" name="Rectangle 49"/>
          <p:cNvSpPr/>
          <p:nvPr/>
        </p:nvSpPr>
        <p:spPr>
          <a:xfrm>
            <a:off x="5897880" y="3959352"/>
            <a:ext cx="5715000"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897880" y="4023360"/>
            <a:ext cx="411480" cy="749808"/>
          </a:xfrm>
          <a:prstGeom prst="rect">
            <a:avLst/>
          </a:prstGeom>
          <a:noFill/>
        </p:spPr>
        <p:txBody>
          <a:bodyPr wrap="square" lIns="18288" rIns="18288" tIns="9144" bIns="9144" anchor="t">
            <a:spAutoFit/>
          </a:bodyPr>
          <a:lstStyle/>
          <a:p>
            <a:pPr algn="l"/>
            <a:r>
              <a:rPr sz="1500" b="1" i="0">
                <a:solidFill>
                  <a:srgbClr val="12263A"/>
                </a:solidFill>
                <a:latin typeface="Cambria"/>
              </a:rPr>
              <a:t>3</a:t>
            </a:r>
          </a:p>
        </p:txBody>
      </p:sp>
      <p:sp>
        <p:nvSpPr>
          <p:cNvPr id="52" name="TextBox 51"/>
          <p:cNvSpPr txBox="1"/>
          <p:nvPr/>
        </p:nvSpPr>
        <p:spPr>
          <a:xfrm>
            <a:off x="6355080" y="4023360"/>
            <a:ext cx="1371600" cy="749808"/>
          </a:xfrm>
          <a:prstGeom prst="rect">
            <a:avLst/>
          </a:prstGeom>
          <a:noFill/>
        </p:spPr>
        <p:txBody>
          <a:bodyPr wrap="square" lIns="18288" rIns="18288" tIns="9144" bIns="9144" anchor="t">
            <a:spAutoFit/>
          </a:bodyPr>
          <a:lstStyle/>
          <a:p>
            <a:pPr algn="l"/>
            <a:r>
              <a:rPr sz="1100" b="0" i="0">
                <a:solidFill>
                  <a:srgbClr val="5B6B7C"/>
                </a:solidFill>
                <a:latin typeface="Calibri"/>
              </a:rPr>
              <a:t>C1</a:t>
            </a:r>
          </a:p>
        </p:txBody>
      </p:sp>
      <p:sp>
        <p:nvSpPr>
          <p:cNvPr id="53" name="TextBox 52"/>
          <p:cNvSpPr txBox="1"/>
          <p:nvPr/>
        </p:nvSpPr>
        <p:spPr>
          <a:xfrm>
            <a:off x="7772400" y="4023360"/>
            <a:ext cx="3840480" cy="749808"/>
          </a:xfrm>
          <a:prstGeom prst="rect">
            <a:avLst/>
          </a:prstGeom>
          <a:noFill/>
        </p:spPr>
        <p:txBody>
          <a:bodyPr wrap="square" lIns="18288" rIns="18288" tIns="9144" bIns="9144" anchor="t">
            <a:spAutoFit/>
          </a:bodyPr>
          <a:lstStyle/>
          <a:p>
            <a:pPr algn="l"/>
            <a:r>
              <a:rPr sz="1100" b="0" i="0">
                <a:solidFill>
                  <a:srgbClr val="12263A"/>
                </a:solidFill>
                <a:latin typeface="Calibri"/>
              </a:rPr>
              <a:t>Boundary clock's downstream port set down for 60–75 % of the injection window (as drawn): every frame is removed, not just selected message types.</a:t>
            </a:r>
          </a:p>
        </p:txBody>
      </p:sp>
      <p:sp>
        <p:nvSpPr>
          <p:cNvPr id="54" name="Rectangle 53"/>
          <p:cNvSpPr/>
          <p:nvPr/>
        </p:nvSpPr>
        <p:spPr>
          <a:xfrm>
            <a:off x="5897880" y="4773168"/>
            <a:ext cx="5715000"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897880" y="4855464"/>
            <a:ext cx="5715000" cy="502920"/>
          </a:xfrm>
          <a:prstGeom prst="rect">
            <a:avLst/>
          </a:prstGeom>
          <a:noFill/>
        </p:spPr>
        <p:txBody>
          <a:bodyPr wrap="square" lIns="18288" rIns="18288" tIns="9144" bIns="9144" anchor="t">
            <a:spAutoFit/>
          </a:bodyPr>
          <a:lstStyle/>
          <a:p>
            <a:pPr algn="l"/>
            <a:r>
              <a:rPr sz="1050" b="1" i="0">
                <a:solidFill>
                  <a:srgbClr val="1C7293"/>
                </a:solidFill>
                <a:latin typeface="Calibri"/>
              </a:rPr>
              <a:t>RFC 7384 position: 1 = internal injector · 2 = internal man-in-the-middle (rogue master) · 3 = man-in-the-middle (internal or external)</a:t>
            </a:r>
          </a:p>
        </p:txBody>
      </p:sp>
      <p:sp>
        <p:nvSpPr>
          <p:cNvPr id="56" name="Rounded Rectangle 55"/>
          <p:cNvSpPr/>
          <p:nvPr/>
        </p:nvSpPr>
        <p:spPr>
          <a:xfrm>
            <a:off x="566928" y="5532120"/>
            <a:ext cx="11045952" cy="914400"/>
          </a:xfrm>
          <a:prstGeom prst="roundRect">
            <a:avLst>
              <a:gd name="adj" fmla="val 8000"/>
            </a:avLst>
          </a:prstGeom>
          <a:solidFill>
            <a:srgbClr val="FFF8E8"/>
          </a:solidFill>
          <a:ln w="12700">
            <a:solidFill>
              <a:srgbClr val="C58B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7240" y="5605272"/>
            <a:ext cx="2103120" cy="768096"/>
          </a:xfrm>
          <a:prstGeom prst="rect">
            <a:avLst/>
          </a:prstGeom>
          <a:noFill/>
        </p:spPr>
        <p:txBody>
          <a:bodyPr wrap="square" lIns="18288" rIns="18288" tIns="9144" bIns="9144" anchor="ctr">
            <a:spAutoFit/>
          </a:bodyPr>
          <a:lstStyle/>
          <a:p>
            <a:pPr algn="l"/>
            <a:r>
              <a:rPr sz="1400" b="1" i="0">
                <a:solidFill>
                  <a:srgbClr val="C58B18"/>
                </a:solidFill>
                <a:latin typeface="Cambria"/>
              </a:rPr>
              <a:t>SCOPE</a:t>
            </a:r>
          </a:p>
        </p:txBody>
      </p:sp>
      <p:sp>
        <p:nvSpPr>
          <p:cNvPr id="58" name="TextBox 57"/>
          <p:cNvSpPr txBox="1"/>
          <p:nvPr/>
        </p:nvSpPr>
        <p:spPr>
          <a:xfrm>
            <a:off x="2834640" y="5586983"/>
            <a:ext cx="8595360" cy="804672"/>
          </a:xfrm>
          <a:prstGeom prst="rect">
            <a:avLst/>
          </a:prstGeom>
          <a:noFill/>
        </p:spPr>
        <p:txBody>
          <a:bodyPr wrap="square" lIns="18288" rIns="18288" tIns="9144" bIns="9144" anchor="ctr">
            <a:spAutoFit/>
          </a:bodyPr>
          <a:lstStyle/>
          <a:p>
            <a:pPr algn="l"/>
            <a:r>
              <a:rPr sz="1220" b="1" i="0">
                <a:solidFill>
                  <a:srgbClr val="12263A"/>
                </a:solidFill>
                <a:latin typeface="Calibri"/>
              </a:rPr>
              <a:t>All attackers are Linux network namespaces on one host; no real network or host clock was touched. Real-world access paths are those on the threat-model slide.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8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10312"/>
            <a:ext cx="11045952" cy="228600"/>
          </a:xfrm>
          <a:prstGeom prst="rect">
            <a:avLst/>
          </a:prstGeom>
          <a:noFill/>
        </p:spPr>
        <p:txBody>
          <a:bodyPr wrap="square" lIns="18288" rIns="18288" tIns="9144" bIns="9144" anchor="t">
            <a:spAutoFit/>
          </a:bodyPr>
          <a:lstStyle/>
          <a:p>
            <a:pPr algn="l"/>
            <a:r>
              <a:rPr sz="1280" b="1" i="0">
                <a:solidFill>
                  <a:srgbClr val="1C7293"/>
                </a:solidFill>
                <a:latin typeface="Calibri"/>
              </a:rPr>
              <a:t>THREAT MODEL · PROVENANCE</a:t>
            </a:r>
          </a:p>
        </p:txBody>
      </p:sp>
      <p:sp>
        <p:nvSpPr>
          <p:cNvPr id="5" name="TextBox 4"/>
          <p:cNvSpPr txBox="1"/>
          <p:nvPr/>
        </p:nvSpPr>
        <p:spPr>
          <a:xfrm>
            <a:off x="566928" y="448056"/>
            <a:ext cx="11045952" cy="548640"/>
          </a:xfrm>
          <a:prstGeom prst="rect">
            <a:avLst/>
          </a:prstGeom>
          <a:noFill/>
        </p:spPr>
        <p:txBody>
          <a:bodyPr wrap="square" lIns="18288" rIns="18288" tIns="9144" bIns="9144" anchor="t">
            <a:spAutoFit/>
          </a:bodyPr>
          <a:lstStyle/>
          <a:p>
            <a:pPr algn="l"/>
            <a:r>
              <a:rPr sz="3300" b="1" i="0">
                <a:solidFill>
                  <a:srgbClr val="12263A"/>
                </a:solidFill>
                <a:latin typeface="Cambria"/>
              </a:rPr>
              <a:t>Where Each of the Eight Attacks Comes From</a:t>
            </a:r>
          </a:p>
        </p:txBody>
      </p:sp>
      <p:sp>
        <p:nvSpPr>
          <p:cNvPr id="6" name="Rounded Rectangle 5"/>
          <p:cNvSpPr/>
          <p:nvPr/>
        </p:nvSpPr>
        <p:spPr>
          <a:xfrm>
            <a:off x="566928" y="1060704"/>
            <a:ext cx="11045952" cy="438912"/>
          </a:xfrm>
          <a:prstGeom prst="roundRect">
            <a:avLst>
              <a:gd name="adj" fmla="val 8000"/>
            </a:avLst>
          </a:prstGeom>
          <a:solidFill>
            <a:srgbClr val="EAF2F8"/>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1097280"/>
            <a:ext cx="10744200" cy="384048"/>
          </a:xfrm>
          <a:prstGeom prst="rect">
            <a:avLst/>
          </a:prstGeom>
          <a:noFill/>
        </p:spPr>
        <p:txBody>
          <a:bodyPr wrap="square" lIns="18288" rIns="18288" tIns="9144" bIns="9144" anchor="ctr">
            <a:spAutoFit/>
          </a:bodyPr>
          <a:lstStyle/>
          <a:p>
            <a:pPr algn="l"/>
            <a:r>
              <a:rPr sz="1019" b="0" i="0">
                <a:solidFill>
                  <a:srgbClr val="5B6B7C"/>
                </a:solidFill>
                <a:latin typeface="Calibri"/>
              </a:rPr>
              <a:t>IETF RFC 7384 cl. 3.2 [1]  |  ETSI TR 104 106 V3.0.0 T-SPLANE-01…04 [2]  |  ETSI TS 104 105 V7.0.0 O-RAN Security Test Specifications [3]  |  TIMESAFE sec. 4.1 [10]</a:t>
            </a:r>
          </a:p>
        </p:txBody>
      </p:sp>
      <p:sp>
        <p:nvSpPr>
          <p:cNvPr id="8" name="TextBox 7"/>
          <p:cNvSpPr txBox="1"/>
          <p:nvPr/>
        </p:nvSpPr>
        <p:spPr>
          <a:xfrm>
            <a:off x="667512" y="1664208"/>
            <a:ext cx="502920" cy="228600"/>
          </a:xfrm>
          <a:prstGeom prst="rect">
            <a:avLst/>
          </a:prstGeom>
          <a:noFill/>
        </p:spPr>
        <p:txBody>
          <a:bodyPr wrap="square" lIns="18288" rIns="18288" tIns="9144" bIns="9144" anchor="t">
            <a:spAutoFit/>
          </a:bodyPr>
          <a:lstStyle/>
          <a:p>
            <a:pPr algn="l"/>
            <a:r>
              <a:rPr sz="1150" b="1" i="0">
                <a:solidFill>
                  <a:srgbClr val="1C7293"/>
                </a:solidFill>
                <a:latin typeface="Calibri"/>
              </a:rPr>
              <a:t>ID</a:t>
            </a:r>
          </a:p>
        </p:txBody>
      </p:sp>
      <p:sp>
        <p:nvSpPr>
          <p:cNvPr id="9" name="TextBox 8"/>
          <p:cNvSpPr txBox="1"/>
          <p:nvPr/>
        </p:nvSpPr>
        <p:spPr>
          <a:xfrm>
            <a:off x="1207008" y="1664208"/>
            <a:ext cx="1965960" cy="228600"/>
          </a:xfrm>
          <a:prstGeom prst="rect">
            <a:avLst/>
          </a:prstGeom>
          <a:noFill/>
        </p:spPr>
        <p:txBody>
          <a:bodyPr wrap="square" lIns="18288" rIns="18288" tIns="9144" bIns="9144" anchor="t">
            <a:spAutoFit/>
          </a:bodyPr>
          <a:lstStyle/>
          <a:p>
            <a:pPr algn="l"/>
            <a:r>
              <a:rPr sz="1150" b="1" i="0">
                <a:solidFill>
                  <a:srgbClr val="1C7293"/>
                </a:solidFill>
                <a:latin typeface="Calibri"/>
              </a:rPr>
              <a:t>ATTACK</a:t>
            </a:r>
          </a:p>
        </p:txBody>
      </p:sp>
      <p:sp>
        <p:nvSpPr>
          <p:cNvPr id="10" name="TextBox 9"/>
          <p:cNvSpPr txBox="1"/>
          <p:nvPr/>
        </p:nvSpPr>
        <p:spPr>
          <a:xfrm>
            <a:off x="3246120" y="1664208"/>
            <a:ext cx="3291840" cy="228600"/>
          </a:xfrm>
          <a:prstGeom prst="rect">
            <a:avLst/>
          </a:prstGeom>
          <a:noFill/>
        </p:spPr>
        <p:txBody>
          <a:bodyPr wrap="square" lIns="18288" rIns="18288" tIns="9144" bIns="9144" anchor="t">
            <a:spAutoFit/>
          </a:bodyPr>
          <a:lstStyle/>
          <a:p>
            <a:pPr algn="l"/>
            <a:r>
              <a:rPr sz="1150" b="1" i="0">
                <a:solidFill>
                  <a:srgbClr val="1C7293"/>
                </a:solidFill>
                <a:latin typeface="Calibri"/>
              </a:rPr>
              <a:t>PUBLISHED THREAT</a:t>
            </a:r>
          </a:p>
        </p:txBody>
      </p:sp>
      <p:sp>
        <p:nvSpPr>
          <p:cNvPr id="11" name="TextBox 10"/>
          <p:cNvSpPr txBox="1"/>
          <p:nvPr/>
        </p:nvSpPr>
        <p:spPr>
          <a:xfrm>
            <a:off x="6629400" y="1664208"/>
            <a:ext cx="2468880" cy="228600"/>
          </a:xfrm>
          <a:prstGeom prst="rect">
            <a:avLst/>
          </a:prstGeom>
          <a:noFill/>
        </p:spPr>
        <p:txBody>
          <a:bodyPr wrap="square" lIns="18288" rIns="18288" tIns="9144" bIns="9144" anchor="t">
            <a:spAutoFit/>
          </a:bodyPr>
          <a:lstStyle/>
          <a:p>
            <a:pPr algn="l"/>
            <a:r>
              <a:rPr sz="1150" b="1" i="0">
                <a:solidFill>
                  <a:srgbClr val="1C7293"/>
                </a:solidFill>
                <a:latin typeface="Calibri"/>
              </a:rPr>
              <a:t>PUBLISHED TEST OR STUDY</a:t>
            </a:r>
          </a:p>
        </p:txBody>
      </p:sp>
      <p:sp>
        <p:nvSpPr>
          <p:cNvPr id="12" name="TextBox 11"/>
          <p:cNvSpPr txBox="1"/>
          <p:nvPr/>
        </p:nvSpPr>
        <p:spPr>
          <a:xfrm>
            <a:off x="9189720" y="1664208"/>
            <a:ext cx="2423160" cy="228600"/>
          </a:xfrm>
          <a:prstGeom prst="rect">
            <a:avLst/>
          </a:prstGeom>
          <a:noFill/>
        </p:spPr>
        <p:txBody>
          <a:bodyPr wrap="square" lIns="18288" rIns="18288" tIns="9144" bIns="9144" anchor="t">
            <a:spAutoFit/>
          </a:bodyPr>
          <a:lstStyle/>
          <a:p>
            <a:pPr algn="l"/>
            <a:r>
              <a:rPr sz="1150" b="1" i="0">
                <a:solidFill>
                  <a:srgbClr val="1C7293"/>
                </a:solidFill>
                <a:latin typeface="Calibri"/>
              </a:rPr>
              <a:t>WHAT WE CHOSE</a:t>
            </a:r>
          </a:p>
        </p:txBody>
      </p:sp>
      <p:sp>
        <p:nvSpPr>
          <p:cNvPr id="13" name="Rectangle 12"/>
          <p:cNvSpPr/>
          <p:nvPr/>
        </p:nvSpPr>
        <p:spPr>
          <a:xfrm>
            <a:off x="566928" y="1938528"/>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1970532"/>
            <a:ext cx="502920" cy="429768"/>
          </a:xfrm>
          <a:prstGeom prst="rect">
            <a:avLst/>
          </a:prstGeom>
          <a:noFill/>
        </p:spPr>
        <p:txBody>
          <a:bodyPr wrap="square" lIns="18288" rIns="18288" tIns="9144" bIns="9144" anchor="t">
            <a:spAutoFit/>
          </a:bodyPr>
          <a:lstStyle/>
          <a:p>
            <a:pPr algn="l"/>
            <a:r>
              <a:rPr sz="1350" b="1" i="0">
                <a:solidFill>
                  <a:srgbClr val="12263A"/>
                </a:solidFill>
                <a:latin typeface="Cambria"/>
              </a:rPr>
              <a:t>A1</a:t>
            </a:r>
          </a:p>
        </p:txBody>
      </p:sp>
      <p:sp>
        <p:nvSpPr>
          <p:cNvPr id="15" name="TextBox 14"/>
          <p:cNvSpPr txBox="1"/>
          <p:nvPr/>
        </p:nvSpPr>
        <p:spPr>
          <a:xfrm>
            <a:off x="1207008" y="1970532"/>
            <a:ext cx="1965960" cy="429768"/>
          </a:xfrm>
          <a:prstGeom prst="rect">
            <a:avLst/>
          </a:prstGeom>
          <a:noFill/>
        </p:spPr>
        <p:txBody>
          <a:bodyPr wrap="square" lIns="18288" rIns="18288" tIns="9144" bIns="9144" anchor="t">
            <a:spAutoFit/>
          </a:bodyPr>
          <a:lstStyle/>
          <a:p>
            <a:pPr algn="l"/>
            <a:r>
              <a:rPr sz="1050" b="0" i="0">
                <a:solidFill>
                  <a:srgbClr val="12263A"/>
                </a:solidFill>
                <a:latin typeface="Calibri"/>
              </a:rPr>
              <a:t>Rogue grandmaster</a:t>
            </a:r>
          </a:p>
        </p:txBody>
      </p:sp>
      <p:sp>
        <p:nvSpPr>
          <p:cNvPr id="16" name="TextBox 15"/>
          <p:cNvSpPr txBox="1"/>
          <p:nvPr/>
        </p:nvSpPr>
        <p:spPr>
          <a:xfrm>
            <a:off x="3246120" y="1970532"/>
            <a:ext cx="3291840" cy="429768"/>
          </a:xfrm>
          <a:prstGeom prst="rect">
            <a:avLst/>
          </a:prstGeom>
          <a:noFill/>
        </p:spPr>
        <p:txBody>
          <a:bodyPr wrap="square" lIns="18288" rIns="18288" tIns="9144" bIns="9144" anchor="t">
            <a:spAutoFit/>
          </a:bodyPr>
          <a:lstStyle/>
          <a:p>
            <a:pPr algn="l"/>
            <a:r>
              <a:rPr sz="1050" b="0" i="0">
                <a:solidFill>
                  <a:srgbClr val="5B6B7C"/>
                </a:solidFill>
                <a:latin typeface="Calibri"/>
              </a:rPr>
              <a:t>RFC 7384 §3.2.4 rogue master; T-SPLANE-03</a:t>
            </a:r>
          </a:p>
        </p:txBody>
      </p:sp>
      <p:sp>
        <p:nvSpPr>
          <p:cNvPr id="17" name="TextBox 16"/>
          <p:cNvSpPr txBox="1"/>
          <p:nvPr/>
        </p:nvSpPr>
        <p:spPr>
          <a:xfrm>
            <a:off x="6629400" y="1970532"/>
            <a:ext cx="2468880" cy="429768"/>
          </a:xfrm>
          <a:prstGeom prst="rect">
            <a:avLst/>
          </a:prstGeom>
          <a:noFill/>
        </p:spPr>
        <p:txBody>
          <a:bodyPr wrap="square" lIns="18288" rIns="18288" tIns="9144" bIns="9144" anchor="t">
            <a:spAutoFit/>
          </a:bodyPr>
          <a:lstStyle/>
          <a:p>
            <a:pPr algn="l"/>
            <a:r>
              <a:rPr sz="1050" b="0" i="0">
                <a:solidFill>
                  <a:srgbClr val="5B6B7C"/>
                </a:solidFill>
                <a:latin typeface="Calibri"/>
              </a:rPr>
              <a:t>TS 104 105 §11.1.5.2.2 Rogue PTP Instance; TIMESAFE spoofing</a:t>
            </a:r>
          </a:p>
        </p:txBody>
      </p:sp>
      <p:sp>
        <p:nvSpPr>
          <p:cNvPr id="18" name="TextBox 17"/>
          <p:cNvSpPr txBox="1"/>
          <p:nvPr/>
        </p:nvSpPr>
        <p:spPr>
          <a:xfrm>
            <a:off x="9189720" y="1970532"/>
            <a:ext cx="2423160" cy="429768"/>
          </a:xfrm>
          <a:prstGeom prst="rect">
            <a:avLst/>
          </a:prstGeom>
          <a:noFill/>
        </p:spPr>
        <p:txBody>
          <a:bodyPr wrap="square" lIns="18288" rIns="18288" tIns="9144" bIns="9144" anchor="t">
            <a:spAutoFit/>
          </a:bodyPr>
          <a:lstStyle/>
          <a:p>
            <a:pPr algn="l"/>
            <a:r>
              <a:rPr sz="1050" b="0" i="0">
                <a:solidFill>
                  <a:srgbClr val="12263A"/>
                </a:solidFill>
                <a:latin typeface="Calibri"/>
              </a:rPr>
              <a:t>Randomised identity, priority2, clockClass</a:t>
            </a:r>
          </a:p>
        </p:txBody>
      </p:sp>
      <p:sp>
        <p:nvSpPr>
          <p:cNvPr id="19" name="Rectangle 18"/>
          <p:cNvSpPr/>
          <p:nvPr/>
        </p:nvSpPr>
        <p:spPr>
          <a:xfrm>
            <a:off x="566928" y="2400300"/>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 y="2432304"/>
            <a:ext cx="502920" cy="429768"/>
          </a:xfrm>
          <a:prstGeom prst="rect">
            <a:avLst/>
          </a:prstGeom>
          <a:noFill/>
        </p:spPr>
        <p:txBody>
          <a:bodyPr wrap="square" lIns="18288" rIns="18288" tIns="9144" bIns="9144" anchor="t">
            <a:spAutoFit/>
          </a:bodyPr>
          <a:lstStyle/>
          <a:p>
            <a:pPr algn="l"/>
            <a:r>
              <a:rPr sz="1350" b="1" i="0">
                <a:solidFill>
                  <a:srgbClr val="12263A"/>
                </a:solidFill>
                <a:latin typeface="Cambria"/>
              </a:rPr>
              <a:t>A2</a:t>
            </a:r>
          </a:p>
        </p:txBody>
      </p:sp>
      <p:sp>
        <p:nvSpPr>
          <p:cNvPr id="21" name="TextBox 20"/>
          <p:cNvSpPr txBox="1"/>
          <p:nvPr/>
        </p:nvSpPr>
        <p:spPr>
          <a:xfrm>
            <a:off x="1207008" y="2432304"/>
            <a:ext cx="1965960" cy="429768"/>
          </a:xfrm>
          <a:prstGeom prst="rect">
            <a:avLst/>
          </a:prstGeom>
          <a:noFill/>
        </p:spPr>
        <p:txBody>
          <a:bodyPr wrap="square" lIns="18288" rIns="18288" tIns="9144" bIns="9144" anchor="t">
            <a:spAutoFit/>
          </a:bodyPr>
          <a:lstStyle/>
          <a:p>
            <a:pPr algn="l"/>
            <a:r>
              <a:rPr sz="1050" b="0" i="0">
                <a:solidFill>
                  <a:srgbClr val="12263A"/>
                </a:solidFill>
                <a:latin typeface="Calibri"/>
              </a:rPr>
              <a:t>Sync / Follow_Up spoofing</a:t>
            </a:r>
          </a:p>
        </p:txBody>
      </p:sp>
      <p:sp>
        <p:nvSpPr>
          <p:cNvPr id="22" name="TextBox 21"/>
          <p:cNvSpPr txBox="1"/>
          <p:nvPr/>
        </p:nvSpPr>
        <p:spPr>
          <a:xfrm>
            <a:off x="3246120" y="2432304"/>
            <a:ext cx="3291840" cy="429768"/>
          </a:xfrm>
          <a:prstGeom prst="rect">
            <a:avLst/>
          </a:prstGeom>
          <a:noFill/>
        </p:spPr>
        <p:txBody>
          <a:bodyPr wrap="square" lIns="18288" rIns="18288" tIns="9144" bIns="9144" anchor="t">
            <a:spAutoFit/>
          </a:bodyPr>
          <a:lstStyle/>
          <a:p>
            <a:pPr algn="l"/>
            <a:r>
              <a:rPr sz="1050" b="0" i="0">
                <a:solidFill>
                  <a:srgbClr val="5B6B7C"/>
                </a:solidFill>
                <a:latin typeface="Calibri"/>
              </a:rPr>
              <a:t>RFC 7384 §3.2.2 spoofing</a:t>
            </a:r>
          </a:p>
        </p:txBody>
      </p:sp>
      <p:sp>
        <p:nvSpPr>
          <p:cNvPr id="23" name="TextBox 22"/>
          <p:cNvSpPr txBox="1"/>
          <p:nvPr/>
        </p:nvSpPr>
        <p:spPr>
          <a:xfrm>
            <a:off x="6629400" y="2432304"/>
            <a:ext cx="2468880" cy="429768"/>
          </a:xfrm>
          <a:prstGeom prst="rect">
            <a:avLst/>
          </a:prstGeom>
          <a:noFill/>
        </p:spPr>
        <p:txBody>
          <a:bodyPr wrap="square" lIns="18288" rIns="18288" tIns="9144" bIns="9144" anchor="t">
            <a:spAutoFit/>
          </a:bodyPr>
          <a:lstStyle/>
          <a:p>
            <a:pPr algn="l"/>
            <a:r>
              <a:rPr sz="1050" b="0" i="0">
                <a:solidFill>
                  <a:srgbClr val="5B6B7C"/>
                </a:solidFill>
                <a:latin typeface="Calibri"/>
              </a:rPr>
              <a:t>No ETSI test of this exact form</a:t>
            </a:r>
          </a:p>
        </p:txBody>
      </p:sp>
      <p:sp>
        <p:nvSpPr>
          <p:cNvPr id="24" name="TextBox 23"/>
          <p:cNvSpPr txBox="1"/>
          <p:nvPr/>
        </p:nvSpPr>
        <p:spPr>
          <a:xfrm>
            <a:off x="9189720" y="2432304"/>
            <a:ext cx="2423160" cy="429768"/>
          </a:xfrm>
          <a:prstGeom prst="rect">
            <a:avLst/>
          </a:prstGeom>
          <a:noFill/>
        </p:spPr>
        <p:txBody>
          <a:bodyPr wrap="square" lIns="18288" rIns="18288" tIns="9144" bIns="9144" anchor="t">
            <a:spAutoFit/>
          </a:bodyPr>
          <a:lstStyle/>
          <a:p>
            <a:pPr algn="l"/>
            <a:r>
              <a:rPr sz="1050" b="0" i="0">
                <a:solidFill>
                  <a:srgbClr val="12263A"/>
                </a:solidFill>
                <a:latin typeface="Calibri"/>
              </a:rPr>
              <a:t>Off-allow-list source, bursts, no Announce</a:t>
            </a:r>
          </a:p>
        </p:txBody>
      </p:sp>
      <p:sp>
        <p:nvSpPr>
          <p:cNvPr id="25" name="Rectangle 24"/>
          <p:cNvSpPr/>
          <p:nvPr/>
        </p:nvSpPr>
        <p:spPr>
          <a:xfrm>
            <a:off x="566928" y="2862072"/>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2894076"/>
            <a:ext cx="502920" cy="429768"/>
          </a:xfrm>
          <a:prstGeom prst="rect">
            <a:avLst/>
          </a:prstGeom>
          <a:noFill/>
        </p:spPr>
        <p:txBody>
          <a:bodyPr wrap="square" lIns="18288" rIns="18288" tIns="9144" bIns="9144" anchor="t">
            <a:spAutoFit/>
          </a:bodyPr>
          <a:lstStyle/>
          <a:p>
            <a:pPr algn="l"/>
            <a:r>
              <a:rPr sz="1350" b="1" i="0">
                <a:solidFill>
                  <a:srgbClr val="12263A"/>
                </a:solidFill>
                <a:latin typeface="Cambria"/>
              </a:rPr>
              <a:t>A3</a:t>
            </a:r>
          </a:p>
        </p:txBody>
      </p:sp>
      <p:sp>
        <p:nvSpPr>
          <p:cNvPr id="27" name="TextBox 26"/>
          <p:cNvSpPr txBox="1"/>
          <p:nvPr/>
        </p:nvSpPr>
        <p:spPr>
          <a:xfrm>
            <a:off x="1207008" y="2894076"/>
            <a:ext cx="1965960" cy="429768"/>
          </a:xfrm>
          <a:prstGeom prst="rect">
            <a:avLst/>
          </a:prstGeom>
          <a:noFill/>
        </p:spPr>
        <p:txBody>
          <a:bodyPr wrap="square" lIns="18288" rIns="18288" tIns="9144" bIns="9144" anchor="t">
            <a:spAutoFit/>
          </a:bodyPr>
          <a:lstStyle/>
          <a:p>
            <a:pPr algn="l"/>
            <a:r>
              <a:rPr sz="1050" b="0" i="0">
                <a:solidFill>
                  <a:srgbClr val="12263A"/>
                </a:solidFill>
                <a:latin typeface="Calibri"/>
              </a:rPr>
              <a:t>Replay</a:t>
            </a:r>
          </a:p>
        </p:txBody>
      </p:sp>
      <p:sp>
        <p:nvSpPr>
          <p:cNvPr id="28" name="TextBox 27"/>
          <p:cNvSpPr txBox="1"/>
          <p:nvPr/>
        </p:nvSpPr>
        <p:spPr>
          <a:xfrm>
            <a:off x="3246120" y="2894076"/>
            <a:ext cx="3291840" cy="429768"/>
          </a:xfrm>
          <a:prstGeom prst="rect">
            <a:avLst/>
          </a:prstGeom>
          <a:noFill/>
        </p:spPr>
        <p:txBody>
          <a:bodyPr wrap="square" lIns="18288" rIns="18288" tIns="9144" bIns="9144" anchor="t">
            <a:spAutoFit/>
          </a:bodyPr>
          <a:lstStyle/>
          <a:p>
            <a:pPr algn="l"/>
            <a:r>
              <a:rPr sz="1050" b="0" i="0">
                <a:solidFill>
                  <a:srgbClr val="5B6B7C"/>
                </a:solidFill>
                <a:latin typeface="Calibri"/>
              </a:rPr>
              <a:t>RFC 7384 §3.2.3 replay</a:t>
            </a:r>
          </a:p>
        </p:txBody>
      </p:sp>
      <p:sp>
        <p:nvSpPr>
          <p:cNvPr id="29" name="TextBox 28"/>
          <p:cNvSpPr txBox="1"/>
          <p:nvPr/>
        </p:nvSpPr>
        <p:spPr>
          <a:xfrm>
            <a:off x="6629400" y="2894076"/>
            <a:ext cx="2468880" cy="429768"/>
          </a:xfrm>
          <a:prstGeom prst="rect">
            <a:avLst/>
          </a:prstGeom>
          <a:noFill/>
        </p:spPr>
        <p:txBody>
          <a:bodyPr wrap="square" lIns="18288" rIns="18288" tIns="9144" bIns="9144" anchor="t">
            <a:spAutoFit/>
          </a:bodyPr>
          <a:lstStyle/>
          <a:p>
            <a:pPr algn="l"/>
            <a:r>
              <a:rPr sz="1050" b="0" i="0">
                <a:solidFill>
                  <a:srgbClr val="5B6B7C"/>
                </a:solidFill>
                <a:latin typeface="Calibri"/>
              </a:rPr>
              <a:t>TIMESAFE replay attack</a:t>
            </a:r>
          </a:p>
        </p:txBody>
      </p:sp>
      <p:sp>
        <p:nvSpPr>
          <p:cNvPr id="30" name="TextBox 29"/>
          <p:cNvSpPr txBox="1"/>
          <p:nvPr/>
        </p:nvSpPr>
        <p:spPr>
          <a:xfrm>
            <a:off x="9189720" y="2894076"/>
            <a:ext cx="2423160" cy="429768"/>
          </a:xfrm>
          <a:prstGeom prst="rect">
            <a:avLst/>
          </a:prstGeom>
          <a:noFill/>
        </p:spPr>
        <p:txBody>
          <a:bodyPr wrap="square" lIns="18288" rIns="18288" tIns="9144" bIns="9144" anchor="t">
            <a:spAutoFit/>
          </a:bodyPr>
          <a:lstStyle/>
          <a:p>
            <a:pPr algn="l"/>
            <a:r>
              <a:rPr sz="1050" b="0" i="0">
                <a:solidFill>
                  <a:srgbClr val="12263A"/>
                </a:solidFill>
                <a:latin typeface="Calibri"/>
              </a:rPr>
              <a:t>Live capture replayed with tcpreplay</a:t>
            </a:r>
          </a:p>
        </p:txBody>
      </p:sp>
      <p:sp>
        <p:nvSpPr>
          <p:cNvPr id="31" name="Rectangle 30"/>
          <p:cNvSpPr/>
          <p:nvPr/>
        </p:nvSpPr>
        <p:spPr>
          <a:xfrm>
            <a:off x="566928" y="3323844"/>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7512" y="3355848"/>
            <a:ext cx="502920" cy="429768"/>
          </a:xfrm>
          <a:prstGeom prst="rect">
            <a:avLst/>
          </a:prstGeom>
          <a:noFill/>
        </p:spPr>
        <p:txBody>
          <a:bodyPr wrap="square" lIns="18288" rIns="18288" tIns="9144" bIns="9144" anchor="t">
            <a:spAutoFit/>
          </a:bodyPr>
          <a:lstStyle/>
          <a:p>
            <a:pPr algn="l"/>
            <a:r>
              <a:rPr sz="1350" b="1" i="0">
                <a:solidFill>
                  <a:srgbClr val="12263A"/>
                </a:solidFill>
                <a:latin typeface="Cambria"/>
              </a:rPr>
              <a:t>A5</a:t>
            </a:r>
          </a:p>
        </p:txBody>
      </p:sp>
      <p:sp>
        <p:nvSpPr>
          <p:cNvPr id="33" name="TextBox 32"/>
          <p:cNvSpPr txBox="1"/>
          <p:nvPr/>
        </p:nvSpPr>
        <p:spPr>
          <a:xfrm>
            <a:off x="1207008" y="3355848"/>
            <a:ext cx="1965960" cy="429768"/>
          </a:xfrm>
          <a:prstGeom prst="rect">
            <a:avLst/>
          </a:prstGeom>
          <a:noFill/>
        </p:spPr>
        <p:txBody>
          <a:bodyPr wrap="square" lIns="18288" rIns="18288" tIns="9144" bIns="9144" anchor="t">
            <a:spAutoFit/>
          </a:bodyPr>
          <a:lstStyle/>
          <a:p>
            <a:pPr algn="l"/>
            <a:r>
              <a:rPr sz="1050" b="0" i="0">
                <a:solidFill>
                  <a:srgbClr val="12263A"/>
                </a:solidFill>
                <a:latin typeface="Calibri"/>
              </a:rPr>
              <a:t>DoS / PTP flooding</a:t>
            </a:r>
          </a:p>
        </p:txBody>
      </p:sp>
      <p:sp>
        <p:nvSpPr>
          <p:cNvPr id="34" name="TextBox 33"/>
          <p:cNvSpPr txBox="1"/>
          <p:nvPr/>
        </p:nvSpPr>
        <p:spPr>
          <a:xfrm>
            <a:off x="3246120" y="3355848"/>
            <a:ext cx="3291840" cy="429768"/>
          </a:xfrm>
          <a:prstGeom prst="rect">
            <a:avLst/>
          </a:prstGeom>
          <a:noFill/>
        </p:spPr>
        <p:txBody>
          <a:bodyPr wrap="square" lIns="18288" rIns="18288" tIns="9144" bIns="9144" anchor="t">
            <a:spAutoFit/>
          </a:bodyPr>
          <a:lstStyle/>
          <a:p>
            <a:pPr algn="l"/>
            <a:r>
              <a:rPr sz="1050" b="0" i="0">
                <a:solidFill>
                  <a:srgbClr val="5B6B7C"/>
                </a:solidFill>
                <a:latin typeface="Calibri"/>
              </a:rPr>
              <a:t>RFC 7384 §3.2.9 time-protocol DoS; T-SPLANE-01</a:t>
            </a:r>
          </a:p>
        </p:txBody>
      </p:sp>
      <p:sp>
        <p:nvSpPr>
          <p:cNvPr id="35" name="TextBox 34"/>
          <p:cNvSpPr txBox="1"/>
          <p:nvPr/>
        </p:nvSpPr>
        <p:spPr>
          <a:xfrm>
            <a:off x="6629400" y="3355848"/>
            <a:ext cx="2468880" cy="429768"/>
          </a:xfrm>
          <a:prstGeom prst="rect">
            <a:avLst/>
          </a:prstGeom>
          <a:noFill/>
        </p:spPr>
        <p:txBody>
          <a:bodyPr wrap="square" lIns="18288" rIns="18288" tIns="9144" bIns="9144" anchor="t">
            <a:spAutoFit/>
          </a:bodyPr>
          <a:lstStyle/>
          <a:p>
            <a:pPr algn="l"/>
            <a:r>
              <a:rPr sz="1050" b="0" i="0">
                <a:solidFill>
                  <a:srgbClr val="5B6B7C"/>
                </a:solidFill>
                <a:latin typeface="Calibri"/>
              </a:rPr>
              <a:t>TS 104 105 §11.1.5.1.1, §24.2.1.1</a:t>
            </a:r>
          </a:p>
        </p:txBody>
      </p:sp>
      <p:sp>
        <p:nvSpPr>
          <p:cNvPr id="36" name="TextBox 35"/>
          <p:cNvSpPr txBox="1"/>
          <p:nvPr/>
        </p:nvSpPr>
        <p:spPr>
          <a:xfrm>
            <a:off x="9189720" y="3355848"/>
            <a:ext cx="2423160" cy="429768"/>
          </a:xfrm>
          <a:prstGeom prst="rect">
            <a:avLst/>
          </a:prstGeom>
          <a:noFill/>
        </p:spPr>
        <p:txBody>
          <a:bodyPr wrap="square" lIns="18288" rIns="18288" tIns="9144" bIns="9144" anchor="t">
            <a:spAutoFit/>
          </a:bodyPr>
          <a:lstStyle/>
          <a:p>
            <a:pPr algn="l"/>
            <a:r>
              <a:rPr sz="1050" b="0" i="0">
                <a:solidFill>
                  <a:srgbClr val="12263A"/>
                </a:solidFill>
                <a:latin typeface="Calibri"/>
              </a:rPr>
              <a:t>Burst size and gap randomised</a:t>
            </a:r>
          </a:p>
        </p:txBody>
      </p:sp>
      <p:sp>
        <p:nvSpPr>
          <p:cNvPr id="37" name="Rectangle 36"/>
          <p:cNvSpPr/>
          <p:nvPr/>
        </p:nvSpPr>
        <p:spPr>
          <a:xfrm>
            <a:off x="566928" y="3785615"/>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7512" y="3817620"/>
            <a:ext cx="502920" cy="429768"/>
          </a:xfrm>
          <a:prstGeom prst="rect">
            <a:avLst/>
          </a:prstGeom>
          <a:noFill/>
        </p:spPr>
        <p:txBody>
          <a:bodyPr wrap="square" lIns="18288" rIns="18288" tIns="9144" bIns="9144" anchor="t">
            <a:spAutoFit/>
          </a:bodyPr>
          <a:lstStyle/>
          <a:p>
            <a:pPr algn="l"/>
            <a:r>
              <a:rPr sz="1350" b="1" i="0">
                <a:solidFill>
                  <a:srgbClr val="12263A"/>
                </a:solidFill>
                <a:latin typeface="Cambria"/>
              </a:rPr>
              <a:t>A8</a:t>
            </a:r>
          </a:p>
        </p:txBody>
      </p:sp>
      <p:sp>
        <p:nvSpPr>
          <p:cNvPr id="39" name="TextBox 38"/>
          <p:cNvSpPr txBox="1"/>
          <p:nvPr/>
        </p:nvSpPr>
        <p:spPr>
          <a:xfrm>
            <a:off x="1207008" y="3817620"/>
            <a:ext cx="1965960" cy="429768"/>
          </a:xfrm>
          <a:prstGeom prst="rect">
            <a:avLst/>
          </a:prstGeom>
          <a:noFill/>
        </p:spPr>
        <p:txBody>
          <a:bodyPr wrap="square" lIns="18288" rIns="18288" tIns="9144" bIns="9144" anchor="t">
            <a:spAutoFit/>
          </a:bodyPr>
          <a:lstStyle/>
          <a:p>
            <a:pPr algn="l"/>
            <a:r>
              <a:rPr sz="1050" b="0" i="0">
                <a:solidFill>
                  <a:srgbClr val="12263A"/>
                </a:solidFill>
                <a:latin typeface="Calibri"/>
              </a:rPr>
              <a:t>Rogue boundary clock</a:t>
            </a:r>
          </a:p>
        </p:txBody>
      </p:sp>
      <p:sp>
        <p:nvSpPr>
          <p:cNvPr id="40" name="TextBox 39"/>
          <p:cNvSpPr txBox="1"/>
          <p:nvPr/>
        </p:nvSpPr>
        <p:spPr>
          <a:xfrm>
            <a:off x="3246120" y="3817620"/>
            <a:ext cx="3291840" cy="429768"/>
          </a:xfrm>
          <a:prstGeom prst="rect">
            <a:avLst/>
          </a:prstGeom>
          <a:noFill/>
        </p:spPr>
        <p:txBody>
          <a:bodyPr wrap="square" lIns="18288" rIns="18288" tIns="9144" bIns="9144" anchor="t">
            <a:spAutoFit/>
          </a:bodyPr>
          <a:lstStyle/>
          <a:p>
            <a:pPr algn="l"/>
            <a:r>
              <a:rPr sz="1050" b="0" i="0">
                <a:solidFill>
                  <a:srgbClr val="5B6B7C"/>
                </a:solidFill>
                <a:latin typeface="Calibri"/>
              </a:rPr>
              <a:t>RFC 7384 §3.2.4 rogue master, in MITM position</a:t>
            </a:r>
          </a:p>
        </p:txBody>
      </p:sp>
      <p:sp>
        <p:nvSpPr>
          <p:cNvPr id="41" name="TextBox 40"/>
          <p:cNvSpPr txBox="1"/>
          <p:nvPr/>
        </p:nvSpPr>
        <p:spPr>
          <a:xfrm>
            <a:off x="6629400" y="3817620"/>
            <a:ext cx="2468880" cy="429768"/>
          </a:xfrm>
          <a:prstGeom prst="rect">
            <a:avLst/>
          </a:prstGeom>
          <a:noFill/>
        </p:spPr>
        <p:txBody>
          <a:bodyPr wrap="square" lIns="18288" rIns="18288" tIns="9144" bIns="9144" anchor="t">
            <a:spAutoFit/>
          </a:bodyPr>
          <a:lstStyle/>
          <a:p>
            <a:pPr algn="l"/>
            <a:r>
              <a:rPr sz="1050" b="0" i="0">
                <a:solidFill>
                  <a:srgbClr val="5B6B7C"/>
                </a:solidFill>
                <a:latin typeface="Calibri"/>
              </a:rPr>
              <a:t>Adapted: no TS 104 105 test places the rogue as a relay</a:t>
            </a:r>
          </a:p>
        </p:txBody>
      </p:sp>
      <p:sp>
        <p:nvSpPr>
          <p:cNvPr id="42" name="TextBox 41"/>
          <p:cNvSpPr txBox="1"/>
          <p:nvPr/>
        </p:nvSpPr>
        <p:spPr>
          <a:xfrm>
            <a:off x="9189720" y="3817620"/>
            <a:ext cx="2423160" cy="429768"/>
          </a:xfrm>
          <a:prstGeom prst="rect">
            <a:avLst/>
          </a:prstGeom>
          <a:noFill/>
        </p:spPr>
        <p:txBody>
          <a:bodyPr wrap="square" lIns="18288" rIns="18288" tIns="9144" bIns="9144" anchor="t">
            <a:spAutoFit/>
          </a:bodyPr>
          <a:lstStyle/>
          <a:p>
            <a:pPr algn="l"/>
            <a:r>
              <a:rPr sz="1050" b="0" i="0">
                <a:solidFill>
                  <a:srgbClr val="12263A"/>
                </a:solidFill>
                <a:latin typeface="Calibri"/>
              </a:rPr>
              <a:t>Relays the real GM, stepsRemoved +1</a:t>
            </a:r>
          </a:p>
        </p:txBody>
      </p:sp>
      <p:sp>
        <p:nvSpPr>
          <p:cNvPr id="43" name="Rectangle 42"/>
          <p:cNvSpPr/>
          <p:nvPr/>
        </p:nvSpPr>
        <p:spPr>
          <a:xfrm>
            <a:off x="566928" y="4247388"/>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7512" y="4279392"/>
            <a:ext cx="502920" cy="429768"/>
          </a:xfrm>
          <a:prstGeom prst="rect">
            <a:avLst/>
          </a:prstGeom>
          <a:noFill/>
        </p:spPr>
        <p:txBody>
          <a:bodyPr wrap="square" lIns="18288" rIns="18288" tIns="9144" bIns="9144" anchor="t">
            <a:spAutoFit/>
          </a:bodyPr>
          <a:lstStyle/>
          <a:p>
            <a:pPr algn="l"/>
            <a:r>
              <a:rPr sz="1350" b="1" i="0">
                <a:solidFill>
                  <a:srgbClr val="12263A"/>
                </a:solidFill>
                <a:latin typeface="Cambria"/>
              </a:rPr>
              <a:t>C1</a:t>
            </a:r>
          </a:p>
        </p:txBody>
      </p:sp>
      <p:sp>
        <p:nvSpPr>
          <p:cNvPr id="45" name="TextBox 44"/>
          <p:cNvSpPr txBox="1"/>
          <p:nvPr/>
        </p:nvSpPr>
        <p:spPr>
          <a:xfrm>
            <a:off x="1207008" y="4279392"/>
            <a:ext cx="1965960" cy="429768"/>
          </a:xfrm>
          <a:prstGeom prst="rect">
            <a:avLst/>
          </a:prstGeom>
          <a:noFill/>
        </p:spPr>
        <p:txBody>
          <a:bodyPr wrap="square" lIns="18288" rIns="18288" tIns="9144" bIns="9144" anchor="t">
            <a:spAutoFit/>
          </a:bodyPr>
          <a:lstStyle/>
          <a:p>
            <a:pPr algn="l"/>
            <a:r>
              <a:rPr sz="1050" b="0" i="0">
                <a:solidFill>
                  <a:srgbClr val="12263A"/>
                </a:solidFill>
                <a:latin typeface="Calibri"/>
              </a:rPr>
              <a:t>Interception and removal</a:t>
            </a:r>
          </a:p>
        </p:txBody>
      </p:sp>
      <p:sp>
        <p:nvSpPr>
          <p:cNvPr id="46" name="TextBox 45"/>
          <p:cNvSpPr txBox="1"/>
          <p:nvPr/>
        </p:nvSpPr>
        <p:spPr>
          <a:xfrm>
            <a:off x="3246120" y="4279392"/>
            <a:ext cx="3291840" cy="429768"/>
          </a:xfrm>
          <a:prstGeom prst="rect">
            <a:avLst/>
          </a:prstGeom>
          <a:noFill/>
        </p:spPr>
        <p:txBody>
          <a:bodyPr wrap="square" lIns="18288" rIns="18288" tIns="9144" bIns="9144" anchor="t">
            <a:spAutoFit/>
          </a:bodyPr>
          <a:lstStyle/>
          <a:p>
            <a:pPr algn="l"/>
            <a:r>
              <a:rPr sz="1050" b="0" i="0">
                <a:solidFill>
                  <a:srgbClr val="5B6B7C"/>
                </a:solidFill>
                <a:latin typeface="Calibri"/>
              </a:rPr>
              <a:t>RFC 7384 §3.2.5; T-SPLANE-04</a:t>
            </a:r>
          </a:p>
        </p:txBody>
      </p:sp>
      <p:sp>
        <p:nvSpPr>
          <p:cNvPr id="47" name="TextBox 46"/>
          <p:cNvSpPr txBox="1"/>
          <p:nvPr/>
        </p:nvSpPr>
        <p:spPr>
          <a:xfrm>
            <a:off x="6629400" y="4279392"/>
            <a:ext cx="2468880" cy="429768"/>
          </a:xfrm>
          <a:prstGeom prst="rect">
            <a:avLst/>
          </a:prstGeom>
          <a:noFill/>
        </p:spPr>
        <p:txBody>
          <a:bodyPr wrap="square" lIns="18288" rIns="18288" tIns="9144" bIns="9144" anchor="t">
            <a:spAutoFit/>
          </a:bodyPr>
          <a:lstStyle/>
          <a:p>
            <a:pPr algn="l"/>
            <a:r>
              <a:rPr sz="1050" b="0" i="0">
                <a:solidFill>
                  <a:srgbClr val="5B6B7C"/>
                </a:solidFill>
                <a:latin typeface="Calibri"/>
              </a:rPr>
              <a:t>TS 104 105 §11.1.5.3.1</a:t>
            </a:r>
          </a:p>
        </p:txBody>
      </p:sp>
      <p:sp>
        <p:nvSpPr>
          <p:cNvPr id="48" name="TextBox 47"/>
          <p:cNvSpPr txBox="1"/>
          <p:nvPr/>
        </p:nvSpPr>
        <p:spPr>
          <a:xfrm>
            <a:off x="9189720" y="4279392"/>
            <a:ext cx="2423160" cy="429768"/>
          </a:xfrm>
          <a:prstGeom prst="rect">
            <a:avLst/>
          </a:prstGeom>
          <a:noFill/>
        </p:spPr>
        <p:txBody>
          <a:bodyPr wrap="square" lIns="18288" rIns="18288" tIns="9144" bIns="9144" anchor="t">
            <a:spAutoFit/>
          </a:bodyPr>
          <a:lstStyle/>
          <a:p>
            <a:pPr algn="l"/>
            <a:r>
              <a:rPr sz="1050" b="0" i="0">
                <a:solidFill>
                  <a:srgbClr val="12263A"/>
                </a:solidFill>
                <a:latin typeface="Calibri"/>
              </a:rPr>
              <a:t>Realised as a port blackhole (all frames)</a:t>
            </a:r>
          </a:p>
        </p:txBody>
      </p:sp>
      <p:sp>
        <p:nvSpPr>
          <p:cNvPr id="49" name="Rectangle 48"/>
          <p:cNvSpPr/>
          <p:nvPr/>
        </p:nvSpPr>
        <p:spPr>
          <a:xfrm>
            <a:off x="566928" y="4709159"/>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67512" y="4741164"/>
            <a:ext cx="502920" cy="429768"/>
          </a:xfrm>
          <a:prstGeom prst="rect">
            <a:avLst/>
          </a:prstGeom>
          <a:noFill/>
        </p:spPr>
        <p:txBody>
          <a:bodyPr wrap="square" lIns="18288" rIns="18288" tIns="9144" bIns="9144" anchor="t">
            <a:spAutoFit/>
          </a:bodyPr>
          <a:lstStyle/>
          <a:p>
            <a:pPr algn="l"/>
            <a:r>
              <a:rPr sz="1350" b="1" i="0">
                <a:solidFill>
                  <a:srgbClr val="12263A"/>
                </a:solidFill>
                <a:latin typeface="Cambria"/>
              </a:rPr>
              <a:t>C2</a:t>
            </a:r>
          </a:p>
        </p:txBody>
      </p:sp>
      <p:sp>
        <p:nvSpPr>
          <p:cNvPr id="51" name="TextBox 50"/>
          <p:cNvSpPr txBox="1"/>
          <p:nvPr/>
        </p:nvSpPr>
        <p:spPr>
          <a:xfrm>
            <a:off x="1207008" y="4741164"/>
            <a:ext cx="1965960" cy="429768"/>
          </a:xfrm>
          <a:prstGeom prst="rect">
            <a:avLst/>
          </a:prstGeom>
          <a:noFill/>
        </p:spPr>
        <p:txBody>
          <a:bodyPr wrap="square" lIns="18288" rIns="18288" tIns="9144" bIns="9144" anchor="t">
            <a:spAutoFit/>
          </a:bodyPr>
          <a:lstStyle/>
          <a:p>
            <a:pPr algn="l"/>
            <a:r>
              <a:rPr sz="1050" b="0" i="0">
                <a:solidFill>
                  <a:srgbClr val="12263A"/>
                </a:solidFill>
                <a:latin typeface="Calibri"/>
              </a:rPr>
              <a:t>Malformed frames</a:t>
            </a:r>
          </a:p>
        </p:txBody>
      </p:sp>
      <p:sp>
        <p:nvSpPr>
          <p:cNvPr id="52" name="TextBox 51"/>
          <p:cNvSpPr txBox="1"/>
          <p:nvPr/>
        </p:nvSpPr>
        <p:spPr>
          <a:xfrm>
            <a:off x="3246120" y="4741164"/>
            <a:ext cx="3291840" cy="429768"/>
          </a:xfrm>
          <a:prstGeom prst="rect">
            <a:avLst/>
          </a:prstGeom>
          <a:noFill/>
        </p:spPr>
        <p:txBody>
          <a:bodyPr wrap="square" lIns="18288" rIns="18288" tIns="9144" bIns="9144" anchor="t">
            <a:spAutoFit/>
          </a:bodyPr>
          <a:lstStyle/>
          <a:p>
            <a:pPr algn="l"/>
            <a:r>
              <a:rPr sz="1050" b="0" i="0">
                <a:solidFill>
                  <a:srgbClr val="5B6B7C"/>
                </a:solidFill>
                <a:latin typeface="Calibri"/>
              </a:rPr>
              <a:t>RFC 7384 §3.2.11 exploiting vulnerabilities</a:t>
            </a:r>
          </a:p>
        </p:txBody>
      </p:sp>
      <p:sp>
        <p:nvSpPr>
          <p:cNvPr id="53" name="TextBox 52"/>
          <p:cNvSpPr txBox="1"/>
          <p:nvPr/>
        </p:nvSpPr>
        <p:spPr>
          <a:xfrm>
            <a:off x="6629400" y="4741164"/>
            <a:ext cx="2468880" cy="429768"/>
          </a:xfrm>
          <a:prstGeom prst="rect">
            <a:avLst/>
          </a:prstGeom>
          <a:noFill/>
        </p:spPr>
        <p:txBody>
          <a:bodyPr wrap="square" lIns="18288" rIns="18288" tIns="9144" bIns="9144" anchor="t">
            <a:spAutoFit/>
          </a:bodyPr>
          <a:lstStyle/>
          <a:p>
            <a:pPr algn="l"/>
            <a:r>
              <a:rPr sz="1050" b="0" i="0">
                <a:solidFill>
                  <a:srgbClr val="5B6B7C"/>
                </a:solidFill>
                <a:latin typeface="Calibri"/>
              </a:rPr>
              <a:t>TS 104 105 §24.2.1.2 S-Plane PTP Unexpected Input</a:t>
            </a:r>
          </a:p>
        </p:txBody>
      </p:sp>
      <p:sp>
        <p:nvSpPr>
          <p:cNvPr id="54" name="TextBox 53"/>
          <p:cNvSpPr txBox="1"/>
          <p:nvPr/>
        </p:nvSpPr>
        <p:spPr>
          <a:xfrm>
            <a:off x="9189720" y="4741164"/>
            <a:ext cx="2423160" cy="429768"/>
          </a:xfrm>
          <a:prstGeom prst="rect">
            <a:avLst/>
          </a:prstGeom>
          <a:noFill/>
        </p:spPr>
        <p:txBody>
          <a:bodyPr wrap="square" lIns="18288" rIns="18288" tIns="9144" bIns="9144" anchor="t">
            <a:spAutoFit/>
          </a:bodyPr>
          <a:lstStyle/>
          <a:p>
            <a:pPr algn="l"/>
            <a:r>
              <a:rPr sz="1050" b="0" i="0">
                <a:solidFill>
                  <a:srgbClr val="12263A"/>
                </a:solidFill>
                <a:latin typeface="Calibri"/>
              </a:rPr>
              <a:t>versionPTP 3, reserved type, short length</a:t>
            </a:r>
          </a:p>
        </p:txBody>
      </p:sp>
      <p:sp>
        <p:nvSpPr>
          <p:cNvPr id="55" name="Rectangle 54"/>
          <p:cNvSpPr/>
          <p:nvPr/>
        </p:nvSpPr>
        <p:spPr>
          <a:xfrm>
            <a:off x="566928" y="5170931"/>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67512" y="5202936"/>
            <a:ext cx="502920" cy="429768"/>
          </a:xfrm>
          <a:prstGeom prst="rect">
            <a:avLst/>
          </a:prstGeom>
          <a:noFill/>
        </p:spPr>
        <p:txBody>
          <a:bodyPr wrap="square" lIns="18288" rIns="18288" tIns="9144" bIns="9144" anchor="t">
            <a:spAutoFit/>
          </a:bodyPr>
          <a:lstStyle/>
          <a:p>
            <a:pPr algn="l"/>
            <a:r>
              <a:rPr sz="1350" b="1" i="0">
                <a:solidFill>
                  <a:srgbClr val="12263A"/>
                </a:solidFill>
                <a:latin typeface="Cambria"/>
              </a:rPr>
              <a:t>C3</a:t>
            </a:r>
          </a:p>
        </p:txBody>
      </p:sp>
      <p:sp>
        <p:nvSpPr>
          <p:cNvPr id="57" name="TextBox 56"/>
          <p:cNvSpPr txBox="1"/>
          <p:nvPr/>
        </p:nvSpPr>
        <p:spPr>
          <a:xfrm>
            <a:off x="1207008" y="5202936"/>
            <a:ext cx="1965960" cy="429768"/>
          </a:xfrm>
          <a:prstGeom prst="rect">
            <a:avLst/>
          </a:prstGeom>
          <a:noFill/>
        </p:spPr>
        <p:txBody>
          <a:bodyPr wrap="square" lIns="18288" rIns="18288" tIns="9144" bIns="9144" anchor="t">
            <a:spAutoFit/>
          </a:bodyPr>
          <a:lstStyle/>
          <a:p>
            <a:pPr algn="l"/>
            <a:r>
              <a:rPr sz="1050" b="0" i="0">
                <a:solidFill>
                  <a:srgbClr val="12263A"/>
                </a:solidFill>
                <a:latin typeface="Calibri"/>
              </a:rPr>
              <a:t>Whole-second field abuse</a:t>
            </a:r>
          </a:p>
        </p:txBody>
      </p:sp>
      <p:sp>
        <p:nvSpPr>
          <p:cNvPr id="58" name="TextBox 57"/>
          <p:cNvSpPr txBox="1"/>
          <p:nvPr/>
        </p:nvSpPr>
        <p:spPr>
          <a:xfrm>
            <a:off x="3246120" y="5202936"/>
            <a:ext cx="3291840" cy="429768"/>
          </a:xfrm>
          <a:prstGeom prst="rect">
            <a:avLst/>
          </a:prstGeom>
          <a:noFill/>
        </p:spPr>
        <p:txBody>
          <a:bodyPr wrap="square" lIns="18288" rIns="18288" tIns="9144" bIns="9144" anchor="t">
            <a:spAutoFit/>
          </a:bodyPr>
          <a:lstStyle/>
          <a:p>
            <a:pPr algn="l"/>
            <a:r>
              <a:rPr sz="1050" b="0" i="0">
                <a:solidFill>
                  <a:srgbClr val="5B6B7C"/>
                </a:solidFill>
                <a:latin typeface="Calibri"/>
              </a:rPr>
              <a:t>RFC 7384 §3.2.2 spoofing (false time)</a:t>
            </a:r>
          </a:p>
        </p:txBody>
      </p:sp>
      <p:sp>
        <p:nvSpPr>
          <p:cNvPr id="59" name="TextBox 58"/>
          <p:cNvSpPr txBox="1"/>
          <p:nvPr/>
        </p:nvSpPr>
        <p:spPr>
          <a:xfrm>
            <a:off x="6629400" y="5202936"/>
            <a:ext cx="2468880" cy="429768"/>
          </a:xfrm>
          <a:prstGeom prst="rect">
            <a:avLst/>
          </a:prstGeom>
          <a:noFill/>
        </p:spPr>
        <p:txBody>
          <a:bodyPr wrap="square" lIns="18288" rIns="18288" tIns="9144" bIns="9144" anchor="t">
            <a:spAutoFit/>
          </a:bodyPr>
          <a:lstStyle/>
          <a:p>
            <a:pPr algn="l"/>
            <a:r>
              <a:rPr sz="1050" b="0" i="0">
                <a:solidFill>
                  <a:srgbClr val="5B6B7C"/>
                </a:solidFill>
                <a:latin typeface="Calibri"/>
              </a:rPr>
              <a:t>None found; fields per IEEE 1588-2019 §8.2.4</a:t>
            </a:r>
          </a:p>
        </p:txBody>
      </p:sp>
      <p:sp>
        <p:nvSpPr>
          <p:cNvPr id="60" name="TextBox 59"/>
          <p:cNvSpPr txBox="1"/>
          <p:nvPr/>
        </p:nvSpPr>
        <p:spPr>
          <a:xfrm>
            <a:off x="9189720" y="5202936"/>
            <a:ext cx="2423160" cy="429768"/>
          </a:xfrm>
          <a:prstGeom prst="rect">
            <a:avLst/>
          </a:prstGeom>
          <a:noFill/>
        </p:spPr>
        <p:txBody>
          <a:bodyPr wrap="square" lIns="18288" rIns="18288" tIns="9144" bIns="9144" anchor="t">
            <a:spAutoFit/>
          </a:bodyPr>
          <a:lstStyle/>
          <a:p>
            <a:pPr algn="l"/>
            <a:r>
              <a:rPr sz="1050" b="0" i="0">
                <a:solidFill>
                  <a:srgbClr val="12263A"/>
                </a:solidFill>
                <a:latin typeface="Calibri"/>
              </a:rPr>
              <a:t>Our construction: leap61 set, UTC offset 0</a:t>
            </a:r>
          </a:p>
        </p:txBody>
      </p:sp>
      <p:sp>
        <p:nvSpPr>
          <p:cNvPr id="61" name="Rectangle 60"/>
          <p:cNvSpPr/>
          <p:nvPr/>
        </p:nvSpPr>
        <p:spPr>
          <a:xfrm>
            <a:off x="566928" y="5632703"/>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566928" y="5833872"/>
            <a:ext cx="11045952" cy="749808"/>
          </a:xfrm>
          <a:prstGeom prst="roundRect">
            <a:avLst>
              <a:gd name="adj" fmla="val 8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77240" y="5907024"/>
            <a:ext cx="2103120" cy="603503"/>
          </a:xfrm>
          <a:prstGeom prst="rect">
            <a:avLst/>
          </a:prstGeom>
          <a:noFill/>
        </p:spPr>
        <p:txBody>
          <a:bodyPr wrap="square" lIns="18288" rIns="18288" tIns="9144" bIns="9144" anchor="ctr">
            <a:spAutoFit/>
          </a:bodyPr>
          <a:lstStyle/>
          <a:p>
            <a:pPr algn="l"/>
            <a:r>
              <a:rPr sz="1200" b="1" i="0">
                <a:solidFill>
                  <a:srgbClr val="18B89A"/>
                </a:solidFill>
                <a:latin typeface="Calibri"/>
              </a:rPr>
              <a:t>ANSWER</a:t>
            </a:r>
          </a:p>
        </p:txBody>
      </p:sp>
      <p:sp>
        <p:nvSpPr>
          <p:cNvPr id="64" name="TextBox 63"/>
          <p:cNvSpPr txBox="1"/>
          <p:nvPr/>
        </p:nvSpPr>
        <p:spPr>
          <a:xfrm>
            <a:off x="2834640" y="5888736"/>
            <a:ext cx="8595360" cy="640080"/>
          </a:xfrm>
          <a:prstGeom prst="rect">
            <a:avLst/>
          </a:prstGeom>
          <a:noFill/>
        </p:spPr>
        <p:txBody>
          <a:bodyPr wrap="square" lIns="18288" rIns="18288" tIns="9144" bIns="9144" anchor="ctr">
            <a:spAutoFit/>
          </a:bodyPr>
          <a:lstStyle/>
          <a:p>
            <a:pPr algn="l"/>
            <a:r>
              <a:rPr sz="1240" b="1" i="0">
                <a:solidFill>
                  <a:srgbClr val="FFFFFF"/>
                </a:solidFill>
                <a:latin typeface="Calibri"/>
              </a:rPr>
              <a:t>None of the eight threat classes was invented. Seven follow a published threat or test; C3 is our own instance of the RFC 7384 spoofing class, with no published test of that exact form.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8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10312"/>
            <a:ext cx="11045952" cy="228600"/>
          </a:xfrm>
          <a:prstGeom prst="rect">
            <a:avLst/>
          </a:prstGeom>
          <a:noFill/>
        </p:spPr>
        <p:txBody>
          <a:bodyPr wrap="square" lIns="18288" rIns="18288" tIns="9144" bIns="9144" anchor="t">
            <a:spAutoFit/>
          </a:bodyPr>
          <a:lstStyle/>
          <a:p>
            <a:pPr algn="l"/>
            <a:r>
              <a:rPr sz="1280" b="1" i="0">
                <a:solidFill>
                  <a:srgbClr val="1C7293"/>
                </a:solidFill>
                <a:latin typeface="Calibri"/>
              </a:rPr>
              <a:t>THREAT MODEL · IMPACT</a:t>
            </a:r>
          </a:p>
        </p:txBody>
      </p:sp>
      <p:sp>
        <p:nvSpPr>
          <p:cNvPr id="5" name="TextBox 4"/>
          <p:cNvSpPr txBox="1"/>
          <p:nvPr/>
        </p:nvSpPr>
        <p:spPr>
          <a:xfrm>
            <a:off x="566928" y="448056"/>
            <a:ext cx="11045952" cy="548640"/>
          </a:xfrm>
          <a:prstGeom prst="rect">
            <a:avLst/>
          </a:prstGeom>
          <a:noFill/>
        </p:spPr>
        <p:txBody>
          <a:bodyPr wrap="square" lIns="18288" rIns="18288" tIns="9144" bIns="9144" anchor="t">
            <a:spAutoFit/>
          </a:bodyPr>
          <a:lstStyle/>
          <a:p>
            <a:pPr algn="l"/>
            <a:r>
              <a:rPr sz="3300" b="1" i="0">
                <a:solidFill>
                  <a:srgbClr val="12263A"/>
                </a:solidFill>
                <a:latin typeface="Cambria"/>
              </a:rPr>
              <a:t>Which Component Each Attack Affects, and What Happens</a:t>
            </a:r>
          </a:p>
        </p:txBody>
      </p:sp>
      <p:sp>
        <p:nvSpPr>
          <p:cNvPr id="6" name="Rounded Rectangle 5"/>
          <p:cNvSpPr/>
          <p:nvPr/>
        </p:nvSpPr>
        <p:spPr>
          <a:xfrm>
            <a:off x="566928" y="1060704"/>
            <a:ext cx="11045952" cy="438912"/>
          </a:xfrm>
          <a:prstGeom prst="roundRect">
            <a:avLst>
              <a:gd name="adj" fmla="val 8000"/>
            </a:avLst>
          </a:prstGeom>
          <a:solidFill>
            <a:srgbClr val="EAF2F8"/>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1097280"/>
            <a:ext cx="10744200" cy="384048"/>
          </a:xfrm>
          <a:prstGeom prst="rect">
            <a:avLst/>
          </a:prstGeom>
          <a:noFill/>
        </p:spPr>
        <p:txBody>
          <a:bodyPr wrap="square" lIns="18288" rIns="18288" tIns="9144" bIns="9144" anchor="ctr">
            <a:spAutoFit/>
          </a:bodyPr>
          <a:lstStyle/>
          <a:p>
            <a:pPr algn="l"/>
            <a:r>
              <a:rPr sz="1019" b="0" i="0">
                <a:solidFill>
                  <a:srgbClr val="5B6B7C"/>
                </a:solidFill>
                <a:latin typeface="Calibri"/>
              </a:rPr>
              <a:t>Measured: ptp4l logs of RU1–RU3, 12 replicates per scenario (36 RU logs each), extracted_168run_ptp4l_logs  |  Impact classes: RFC 7384 Table 1 [1]; ETSI T-SPLANE impacts [2]; TIMESAFE [10]</a:t>
            </a:r>
          </a:p>
        </p:txBody>
      </p:sp>
      <p:sp>
        <p:nvSpPr>
          <p:cNvPr id="8" name="TextBox 7"/>
          <p:cNvSpPr txBox="1"/>
          <p:nvPr/>
        </p:nvSpPr>
        <p:spPr>
          <a:xfrm>
            <a:off x="667512" y="1664208"/>
            <a:ext cx="502920" cy="228600"/>
          </a:xfrm>
          <a:prstGeom prst="rect">
            <a:avLst/>
          </a:prstGeom>
          <a:noFill/>
        </p:spPr>
        <p:txBody>
          <a:bodyPr wrap="square" lIns="18288" rIns="18288" tIns="9144" bIns="9144" anchor="t">
            <a:spAutoFit/>
          </a:bodyPr>
          <a:lstStyle/>
          <a:p>
            <a:pPr algn="l"/>
            <a:r>
              <a:rPr sz="1150" b="1" i="0">
                <a:solidFill>
                  <a:srgbClr val="1C7293"/>
                </a:solidFill>
                <a:latin typeface="Calibri"/>
              </a:rPr>
              <a:t>ID</a:t>
            </a:r>
          </a:p>
        </p:txBody>
      </p:sp>
      <p:sp>
        <p:nvSpPr>
          <p:cNvPr id="9" name="TextBox 8"/>
          <p:cNvSpPr txBox="1"/>
          <p:nvPr/>
        </p:nvSpPr>
        <p:spPr>
          <a:xfrm>
            <a:off x="1207008" y="1664208"/>
            <a:ext cx="2377440" cy="228600"/>
          </a:xfrm>
          <a:prstGeom prst="rect">
            <a:avLst/>
          </a:prstGeom>
          <a:noFill/>
        </p:spPr>
        <p:txBody>
          <a:bodyPr wrap="square" lIns="18288" rIns="18288" tIns="9144" bIns="9144" anchor="t">
            <a:spAutoFit/>
          </a:bodyPr>
          <a:lstStyle/>
          <a:p>
            <a:pPr algn="l"/>
            <a:r>
              <a:rPr sz="1150" b="1" i="0">
                <a:solidFill>
                  <a:srgbClr val="1C7293"/>
                </a:solidFill>
                <a:latin typeface="Calibri"/>
              </a:rPr>
              <a:t>AFFECTED COMPONENT</a:t>
            </a:r>
          </a:p>
        </p:txBody>
      </p:sp>
      <p:sp>
        <p:nvSpPr>
          <p:cNvPr id="10" name="TextBox 9"/>
          <p:cNvSpPr txBox="1"/>
          <p:nvPr/>
        </p:nvSpPr>
        <p:spPr>
          <a:xfrm>
            <a:off x="3657600" y="1664208"/>
            <a:ext cx="1600200" cy="228600"/>
          </a:xfrm>
          <a:prstGeom prst="rect">
            <a:avLst/>
          </a:prstGeom>
          <a:noFill/>
        </p:spPr>
        <p:txBody>
          <a:bodyPr wrap="square" lIns="18288" rIns="18288" tIns="9144" bIns="9144" anchor="t">
            <a:spAutoFit/>
          </a:bodyPr>
          <a:lstStyle/>
          <a:p>
            <a:pPr algn="l"/>
            <a:r>
              <a:rPr sz="1150" b="1" i="0">
                <a:solidFill>
                  <a:srgbClr val="1C7293"/>
                </a:solidFill>
                <a:latin typeface="Calibri"/>
              </a:rPr>
              <a:t>IMPACT CLASS</a:t>
            </a:r>
          </a:p>
        </p:txBody>
      </p:sp>
      <p:sp>
        <p:nvSpPr>
          <p:cNvPr id="11" name="TextBox 10"/>
          <p:cNvSpPr txBox="1"/>
          <p:nvPr/>
        </p:nvSpPr>
        <p:spPr>
          <a:xfrm>
            <a:off x="5349240" y="1664208"/>
            <a:ext cx="3246120" cy="228600"/>
          </a:xfrm>
          <a:prstGeom prst="rect">
            <a:avLst/>
          </a:prstGeom>
          <a:noFill/>
        </p:spPr>
        <p:txBody>
          <a:bodyPr wrap="square" lIns="18288" rIns="18288" tIns="9144" bIns="9144" anchor="t">
            <a:spAutoFit/>
          </a:bodyPr>
          <a:lstStyle/>
          <a:p>
            <a:pPr algn="l"/>
            <a:r>
              <a:rPr sz="1150" b="1" i="0">
                <a:solidFill>
                  <a:srgbClr val="1C7293"/>
                </a:solidFill>
                <a:latin typeface="Calibri"/>
              </a:rPr>
              <a:t>MEASURED IN OUR RUNS</a:t>
            </a:r>
          </a:p>
        </p:txBody>
      </p:sp>
      <p:sp>
        <p:nvSpPr>
          <p:cNvPr id="12" name="TextBox 11"/>
          <p:cNvSpPr txBox="1"/>
          <p:nvPr/>
        </p:nvSpPr>
        <p:spPr>
          <a:xfrm>
            <a:off x="8686800" y="1664208"/>
            <a:ext cx="2926080" cy="228600"/>
          </a:xfrm>
          <a:prstGeom prst="rect">
            <a:avLst/>
          </a:prstGeom>
          <a:noFill/>
        </p:spPr>
        <p:txBody>
          <a:bodyPr wrap="square" lIns="18288" rIns="18288" tIns="9144" bIns="9144" anchor="t">
            <a:spAutoFit/>
          </a:bodyPr>
          <a:lstStyle/>
          <a:p>
            <a:pPr algn="l"/>
            <a:r>
              <a:rPr sz="1150" b="1" i="0">
                <a:solidFill>
                  <a:srgbClr val="1C7293"/>
                </a:solidFill>
                <a:latin typeface="Calibri"/>
              </a:rPr>
              <a:t>REPORTED IN LITERATURE</a:t>
            </a:r>
          </a:p>
        </p:txBody>
      </p:sp>
      <p:sp>
        <p:nvSpPr>
          <p:cNvPr id="13" name="Rectangle 12"/>
          <p:cNvSpPr/>
          <p:nvPr/>
        </p:nvSpPr>
        <p:spPr>
          <a:xfrm>
            <a:off x="566928" y="1938528"/>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1975104"/>
            <a:ext cx="502920" cy="548640"/>
          </a:xfrm>
          <a:prstGeom prst="rect">
            <a:avLst/>
          </a:prstGeom>
          <a:noFill/>
        </p:spPr>
        <p:txBody>
          <a:bodyPr wrap="square" lIns="18288" rIns="18288" tIns="9144" bIns="9144" anchor="t">
            <a:spAutoFit/>
          </a:bodyPr>
          <a:lstStyle/>
          <a:p>
            <a:pPr algn="l"/>
            <a:r>
              <a:rPr sz="1350" b="1" i="0">
                <a:solidFill>
                  <a:srgbClr val="12263A"/>
                </a:solidFill>
                <a:latin typeface="Cambria"/>
              </a:rPr>
              <a:t>A1</a:t>
            </a:r>
          </a:p>
        </p:txBody>
      </p:sp>
      <p:sp>
        <p:nvSpPr>
          <p:cNvPr id="15" name="TextBox 14"/>
          <p:cNvSpPr txBox="1"/>
          <p:nvPr/>
        </p:nvSpPr>
        <p:spPr>
          <a:xfrm>
            <a:off x="1207008" y="1975104"/>
            <a:ext cx="2377440" cy="548640"/>
          </a:xfrm>
          <a:prstGeom prst="rect">
            <a:avLst/>
          </a:prstGeom>
          <a:noFill/>
        </p:spPr>
        <p:txBody>
          <a:bodyPr wrap="square" lIns="18288" rIns="18288" tIns="9144" bIns="9144" anchor="t">
            <a:spAutoFit/>
          </a:bodyPr>
          <a:lstStyle/>
          <a:p>
            <a:pPr algn="l"/>
            <a:r>
              <a:rPr sz="1080" b="0" i="0">
                <a:solidFill>
                  <a:srgbClr val="12263A"/>
                </a:solidFill>
                <a:latin typeface="Calibri"/>
              </a:rPr>
              <a:t>All RU slave clocks on the segment</a:t>
            </a:r>
          </a:p>
        </p:txBody>
      </p:sp>
      <p:sp>
        <p:nvSpPr>
          <p:cNvPr id="16" name="TextBox 15"/>
          <p:cNvSpPr txBox="1"/>
          <p:nvPr/>
        </p:nvSpPr>
        <p:spPr>
          <a:xfrm>
            <a:off x="3657600" y="1975104"/>
            <a:ext cx="1600200" cy="548640"/>
          </a:xfrm>
          <a:prstGeom prst="rect">
            <a:avLst/>
          </a:prstGeom>
          <a:noFill/>
        </p:spPr>
        <p:txBody>
          <a:bodyPr wrap="square" lIns="18288" rIns="18288" tIns="9144" bIns="9144" anchor="t">
            <a:spAutoFit/>
          </a:bodyPr>
          <a:lstStyle/>
          <a:p>
            <a:pPr algn="l"/>
            <a:r>
              <a:rPr sz="1080" b="0" i="0">
                <a:solidFill>
                  <a:srgbClr val="5B6B7C"/>
                </a:solidFill>
                <a:latin typeface="Calibri"/>
              </a:rPr>
              <a:t>False time</a:t>
            </a:r>
          </a:p>
        </p:txBody>
      </p:sp>
      <p:sp>
        <p:nvSpPr>
          <p:cNvPr id="17" name="TextBox 16"/>
          <p:cNvSpPr txBox="1"/>
          <p:nvPr/>
        </p:nvSpPr>
        <p:spPr>
          <a:xfrm>
            <a:off x="5349240" y="1975104"/>
            <a:ext cx="3246120" cy="548640"/>
          </a:xfrm>
          <a:prstGeom prst="rect">
            <a:avLst/>
          </a:prstGeom>
          <a:noFill/>
        </p:spPr>
        <p:txBody>
          <a:bodyPr wrap="square" lIns="18288" rIns="18288" tIns="9144" bIns="9144" anchor="t">
            <a:spAutoFit/>
          </a:bodyPr>
          <a:lstStyle/>
          <a:p>
            <a:pPr algn="l"/>
            <a:r>
              <a:rPr sz="1080" b="0" i="0">
                <a:solidFill>
                  <a:srgbClr val="12263A"/>
                </a:solidFill>
                <a:latin typeface="Calibri"/>
              </a:rPr>
              <a:t>36/36 RU logs selected the rogue as best master</a:t>
            </a:r>
          </a:p>
        </p:txBody>
      </p:sp>
      <p:sp>
        <p:nvSpPr>
          <p:cNvPr id="18" name="TextBox 17"/>
          <p:cNvSpPr txBox="1"/>
          <p:nvPr/>
        </p:nvSpPr>
        <p:spPr>
          <a:xfrm>
            <a:off x="8686800" y="1975104"/>
            <a:ext cx="2926080" cy="548640"/>
          </a:xfrm>
          <a:prstGeom prst="rect">
            <a:avLst/>
          </a:prstGeom>
          <a:noFill/>
        </p:spPr>
        <p:txBody>
          <a:bodyPr wrap="square" lIns="18288" rIns="18288" tIns="9144" bIns="9144" anchor="t">
            <a:spAutoFit/>
          </a:bodyPr>
          <a:lstStyle/>
          <a:p>
            <a:pPr algn="l"/>
            <a:r>
              <a:rPr sz="1080" b="0" i="0">
                <a:solidFill>
                  <a:srgbClr val="5B6B7C"/>
                </a:solidFill>
                <a:latin typeface="Calibri"/>
              </a:rPr>
              <a:t>TIMESAFE: O-RU crash ≈2 s after spoofing, cell drop, manual reboot</a:t>
            </a:r>
          </a:p>
        </p:txBody>
      </p:sp>
      <p:sp>
        <p:nvSpPr>
          <p:cNvPr id="19" name="Rectangle 18"/>
          <p:cNvSpPr/>
          <p:nvPr/>
        </p:nvSpPr>
        <p:spPr>
          <a:xfrm>
            <a:off x="566928" y="2523744"/>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 y="2560320"/>
            <a:ext cx="502920" cy="457200"/>
          </a:xfrm>
          <a:prstGeom prst="rect">
            <a:avLst/>
          </a:prstGeom>
          <a:noFill/>
        </p:spPr>
        <p:txBody>
          <a:bodyPr wrap="square" lIns="18288" rIns="18288" tIns="9144" bIns="9144" anchor="t">
            <a:spAutoFit/>
          </a:bodyPr>
          <a:lstStyle/>
          <a:p>
            <a:pPr algn="l"/>
            <a:r>
              <a:rPr sz="1350" b="1" i="0">
                <a:solidFill>
                  <a:srgbClr val="12263A"/>
                </a:solidFill>
                <a:latin typeface="Cambria"/>
              </a:rPr>
              <a:t>A8</a:t>
            </a:r>
          </a:p>
        </p:txBody>
      </p:sp>
      <p:sp>
        <p:nvSpPr>
          <p:cNvPr id="21" name="TextBox 20"/>
          <p:cNvSpPr txBox="1"/>
          <p:nvPr/>
        </p:nvSpPr>
        <p:spPr>
          <a:xfrm>
            <a:off x="1207008" y="2560320"/>
            <a:ext cx="2377440" cy="457200"/>
          </a:xfrm>
          <a:prstGeom prst="rect">
            <a:avLst/>
          </a:prstGeom>
          <a:noFill/>
        </p:spPr>
        <p:txBody>
          <a:bodyPr wrap="square" lIns="18288" rIns="18288" tIns="9144" bIns="9144" anchor="t">
            <a:spAutoFit/>
          </a:bodyPr>
          <a:lstStyle/>
          <a:p>
            <a:pPr algn="l"/>
            <a:r>
              <a:rPr sz="1080" b="0" i="0">
                <a:solidFill>
                  <a:srgbClr val="12263A"/>
                </a:solidFill>
                <a:latin typeface="Calibri"/>
              </a:rPr>
              <a:t>All RUs behind the inserted clock</a:t>
            </a:r>
          </a:p>
        </p:txBody>
      </p:sp>
      <p:sp>
        <p:nvSpPr>
          <p:cNvPr id="22" name="TextBox 21"/>
          <p:cNvSpPr txBox="1"/>
          <p:nvPr/>
        </p:nvSpPr>
        <p:spPr>
          <a:xfrm>
            <a:off x="3657600" y="2560320"/>
            <a:ext cx="1600200" cy="457200"/>
          </a:xfrm>
          <a:prstGeom prst="rect">
            <a:avLst/>
          </a:prstGeom>
          <a:noFill/>
        </p:spPr>
        <p:txBody>
          <a:bodyPr wrap="square" lIns="18288" rIns="18288" tIns="9144" bIns="9144" anchor="t">
            <a:spAutoFit/>
          </a:bodyPr>
          <a:lstStyle/>
          <a:p>
            <a:pPr algn="l"/>
            <a:r>
              <a:rPr sz="1080" b="0" i="0">
                <a:solidFill>
                  <a:srgbClr val="5B6B7C"/>
                </a:solidFill>
                <a:latin typeface="Calibri"/>
              </a:rPr>
              <a:t>False time</a:t>
            </a:r>
          </a:p>
        </p:txBody>
      </p:sp>
      <p:sp>
        <p:nvSpPr>
          <p:cNvPr id="23" name="TextBox 22"/>
          <p:cNvSpPr txBox="1"/>
          <p:nvPr/>
        </p:nvSpPr>
        <p:spPr>
          <a:xfrm>
            <a:off x="5349240" y="2560320"/>
            <a:ext cx="3246120" cy="457200"/>
          </a:xfrm>
          <a:prstGeom prst="rect">
            <a:avLst/>
          </a:prstGeom>
          <a:noFill/>
        </p:spPr>
        <p:txBody>
          <a:bodyPr wrap="square" lIns="18288" rIns="18288" tIns="9144" bIns="9144" anchor="t">
            <a:spAutoFit/>
          </a:bodyPr>
          <a:lstStyle/>
          <a:p>
            <a:pPr algn="l"/>
            <a:r>
              <a:rPr sz="1080" b="0" i="0">
                <a:solidFill>
                  <a:srgbClr val="12263A"/>
                </a:solidFill>
                <a:latin typeface="Calibri"/>
              </a:rPr>
              <a:t>36/36 RU logs recorded the rogue BC as a foreign master; parent unchanged (5/5 pmc runs, 5 Oct)</a:t>
            </a:r>
          </a:p>
        </p:txBody>
      </p:sp>
      <p:sp>
        <p:nvSpPr>
          <p:cNvPr id="24" name="TextBox 23"/>
          <p:cNvSpPr txBox="1"/>
          <p:nvPr/>
        </p:nvSpPr>
        <p:spPr>
          <a:xfrm>
            <a:off x="8686800" y="2560320"/>
            <a:ext cx="2926080" cy="457200"/>
          </a:xfrm>
          <a:prstGeom prst="rect">
            <a:avLst/>
          </a:prstGeom>
          <a:noFill/>
        </p:spPr>
        <p:txBody>
          <a:bodyPr wrap="square" lIns="18288" rIns="18288" tIns="9144" bIns="9144" anchor="t">
            <a:spAutoFit/>
          </a:bodyPr>
          <a:lstStyle/>
          <a:p>
            <a:pPr algn="l"/>
            <a:r>
              <a:rPr sz="1080" b="0" i="0">
                <a:solidFill>
                  <a:srgbClr val="5B6B7C"/>
                </a:solidFill>
                <a:latin typeface="Calibri"/>
              </a:rPr>
              <a:t>T-SPLANE-03: slaves given inaccurate time</a:t>
            </a:r>
          </a:p>
        </p:txBody>
      </p:sp>
      <p:sp>
        <p:nvSpPr>
          <p:cNvPr id="25" name="Rectangle 24"/>
          <p:cNvSpPr/>
          <p:nvPr/>
        </p:nvSpPr>
        <p:spPr>
          <a:xfrm>
            <a:off x="566928" y="3017520"/>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3054096"/>
            <a:ext cx="502920" cy="548640"/>
          </a:xfrm>
          <a:prstGeom prst="rect">
            <a:avLst/>
          </a:prstGeom>
          <a:noFill/>
        </p:spPr>
        <p:txBody>
          <a:bodyPr wrap="square" lIns="18288" rIns="18288" tIns="9144" bIns="9144" anchor="t">
            <a:spAutoFit/>
          </a:bodyPr>
          <a:lstStyle/>
          <a:p>
            <a:pPr algn="l"/>
            <a:r>
              <a:rPr sz="1350" b="1" i="0">
                <a:solidFill>
                  <a:srgbClr val="12263A"/>
                </a:solidFill>
                <a:latin typeface="Cambria"/>
              </a:rPr>
              <a:t>C1</a:t>
            </a:r>
          </a:p>
        </p:txBody>
      </p:sp>
      <p:sp>
        <p:nvSpPr>
          <p:cNvPr id="27" name="TextBox 26"/>
          <p:cNvSpPr txBox="1"/>
          <p:nvPr/>
        </p:nvSpPr>
        <p:spPr>
          <a:xfrm>
            <a:off x="1207008" y="3054096"/>
            <a:ext cx="2377440" cy="548640"/>
          </a:xfrm>
          <a:prstGeom prst="rect">
            <a:avLst/>
          </a:prstGeom>
          <a:noFill/>
        </p:spPr>
        <p:txBody>
          <a:bodyPr wrap="square" lIns="18288" rIns="18288" tIns="9144" bIns="9144" anchor="t">
            <a:spAutoFit/>
          </a:bodyPr>
          <a:lstStyle/>
          <a:p>
            <a:pPr algn="l"/>
            <a:r>
              <a:rPr sz="1080" b="0" i="0">
                <a:solidFill>
                  <a:srgbClr val="12263A"/>
                </a:solidFill>
                <a:latin typeface="Calibri"/>
              </a:rPr>
              <a:t>RUs downstream of the BC port</a:t>
            </a:r>
          </a:p>
        </p:txBody>
      </p:sp>
      <p:sp>
        <p:nvSpPr>
          <p:cNvPr id="28" name="TextBox 27"/>
          <p:cNvSpPr txBox="1"/>
          <p:nvPr/>
        </p:nvSpPr>
        <p:spPr>
          <a:xfrm>
            <a:off x="3657600" y="3054096"/>
            <a:ext cx="1600200" cy="548640"/>
          </a:xfrm>
          <a:prstGeom prst="rect">
            <a:avLst/>
          </a:prstGeom>
          <a:noFill/>
        </p:spPr>
        <p:txBody>
          <a:bodyPr wrap="square" lIns="18288" rIns="18288" tIns="9144" bIns="9144" anchor="t">
            <a:spAutoFit/>
          </a:bodyPr>
          <a:lstStyle/>
          <a:p>
            <a:pPr algn="l"/>
            <a:r>
              <a:rPr sz="1080" b="0" i="0">
                <a:solidFill>
                  <a:srgbClr val="5B6B7C"/>
                </a:solidFill>
                <a:latin typeface="Calibri"/>
              </a:rPr>
              <a:t>Accuracy loss, DoS</a:t>
            </a:r>
          </a:p>
        </p:txBody>
      </p:sp>
      <p:sp>
        <p:nvSpPr>
          <p:cNvPr id="29" name="TextBox 28"/>
          <p:cNvSpPr txBox="1"/>
          <p:nvPr/>
        </p:nvSpPr>
        <p:spPr>
          <a:xfrm>
            <a:off x="5349240" y="3054096"/>
            <a:ext cx="3246120" cy="548640"/>
          </a:xfrm>
          <a:prstGeom prst="rect">
            <a:avLst/>
          </a:prstGeom>
          <a:noFill/>
        </p:spPr>
        <p:txBody>
          <a:bodyPr wrap="square" lIns="18288" rIns="18288" tIns="9144" bIns="9144" anchor="t">
            <a:spAutoFit/>
          </a:bodyPr>
          <a:lstStyle/>
          <a:p>
            <a:pPr algn="l"/>
            <a:r>
              <a:rPr sz="1080" b="0" i="0">
                <a:solidFill>
                  <a:srgbClr val="12263A"/>
                </a:solidFill>
                <a:latin typeface="Calibri"/>
              </a:rPr>
              <a:t>36/36 RU ports lost master on Announce timeout; servo reports 7.8 vs 22 per log</a:t>
            </a:r>
          </a:p>
        </p:txBody>
      </p:sp>
      <p:sp>
        <p:nvSpPr>
          <p:cNvPr id="30" name="TextBox 29"/>
          <p:cNvSpPr txBox="1"/>
          <p:nvPr/>
        </p:nvSpPr>
        <p:spPr>
          <a:xfrm>
            <a:off x="8686800" y="3054096"/>
            <a:ext cx="2926080" cy="548640"/>
          </a:xfrm>
          <a:prstGeom prst="rect">
            <a:avLst/>
          </a:prstGeom>
          <a:noFill/>
        </p:spPr>
        <p:txBody>
          <a:bodyPr wrap="square" lIns="18288" rIns="18288" tIns="9144" bIns="9144" anchor="t">
            <a:spAutoFit/>
          </a:bodyPr>
          <a:lstStyle/>
          <a:p>
            <a:pPr algn="l"/>
            <a:r>
              <a:rPr sz="1080" b="0" i="0">
                <a:solidFill>
                  <a:srgbClr val="5B6B7C"/>
                </a:solidFill>
                <a:latin typeface="Calibri"/>
              </a:rPr>
              <a:t>T-SPLANE-04: degradation or free-running</a:t>
            </a:r>
          </a:p>
        </p:txBody>
      </p:sp>
      <p:sp>
        <p:nvSpPr>
          <p:cNvPr id="31" name="Rectangle 30"/>
          <p:cNvSpPr/>
          <p:nvPr/>
        </p:nvSpPr>
        <p:spPr>
          <a:xfrm>
            <a:off x="566928" y="3602736"/>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7512" y="3639312"/>
            <a:ext cx="502920" cy="457200"/>
          </a:xfrm>
          <a:prstGeom prst="rect">
            <a:avLst/>
          </a:prstGeom>
          <a:noFill/>
        </p:spPr>
        <p:txBody>
          <a:bodyPr wrap="square" lIns="18288" rIns="18288" tIns="9144" bIns="9144" anchor="t">
            <a:spAutoFit/>
          </a:bodyPr>
          <a:lstStyle/>
          <a:p>
            <a:pPr algn="l"/>
            <a:r>
              <a:rPr sz="1350" b="1" i="0">
                <a:solidFill>
                  <a:srgbClr val="12263A"/>
                </a:solidFill>
                <a:latin typeface="Cambria"/>
              </a:rPr>
              <a:t>C3</a:t>
            </a:r>
          </a:p>
        </p:txBody>
      </p:sp>
      <p:sp>
        <p:nvSpPr>
          <p:cNvPr id="33" name="TextBox 32"/>
          <p:cNvSpPr txBox="1"/>
          <p:nvPr/>
        </p:nvSpPr>
        <p:spPr>
          <a:xfrm>
            <a:off x="1207008" y="3639312"/>
            <a:ext cx="2377440" cy="457200"/>
          </a:xfrm>
          <a:prstGeom prst="rect">
            <a:avLst/>
          </a:prstGeom>
          <a:noFill/>
        </p:spPr>
        <p:txBody>
          <a:bodyPr wrap="square" lIns="18288" rIns="18288" tIns="9144" bIns="9144" anchor="t">
            <a:spAutoFit/>
          </a:bodyPr>
          <a:lstStyle/>
          <a:p>
            <a:pPr algn="l"/>
            <a:r>
              <a:rPr sz="1080" b="0" i="0">
                <a:solidFill>
                  <a:srgbClr val="12263A"/>
                </a:solidFill>
                <a:latin typeface="Calibri"/>
              </a:rPr>
              <a:t>RU parent and time properties</a:t>
            </a:r>
          </a:p>
        </p:txBody>
      </p:sp>
      <p:sp>
        <p:nvSpPr>
          <p:cNvPr id="34" name="TextBox 33"/>
          <p:cNvSpPr txBox="1"/>
          <p:nvPr/>
        </p:nvSpPr>
        <p:spPr>
          <a:xfrm>
            <a:off x="3657600" y="3639312"/>
            <a:ext cx="1600200" cy="457200"/>
          </a:xfrm>
          <a:prstGeom prst="rect">
            <a:avLst/>
          </a:prstGeom>
          <a:noFill/>
        </p:spPr>
        <p:txBody>
          <a:bodyPr wrap="square" lIns="18288" rIns="18288" tIns="9144" bIns="9144" anchor="t">
            <a:spAutoFit/>
          </a:bodyPr>
          <a:lstStyle/>
          <a:p>
            <a:pPr algn="l"/>
            <a:r>
              <a:rPr sz="1080" b="0" i="0">
                <a:solidFill>
                  <a:srgbClr val="5B6B7C"/>
                </a:solidFill>
                <a:latin typeface="Calibri"/>
              </a:rPr>
              <a:t>False time</a:t>
            </a:r>
          </a:p>
        </p:txBody>
      </p:sp>
      <p:sp>
        <p:nvSpPr>
          <p:cNvPr id="35" name="TextBox 34"/>
          <p:cNvSpPr txBox="1"/>
          <p:nvPr/>
        </p:nvSpPr>
        <p:spPr>
          <a:xfrm>
            <a:off x="5349240" y="3639312"/>
            <a:ext cx="3246120" cy="457200"/>
          </a:xfrm>
          <a:prstGeom prst="rect">
            <a:avLst/>
          </a:prstGeom>
          <a:noFill/>
        </p:spPr>
        <p:txBody>
          <a:bodyPr wrap="square" lIns="18288" rIns="18288" tIns="9144" bIns="9144" anchor="t">
            <a:spAutoFit/>
          </a:bodyPr>
          <a:lstStyle/>
          <a:p>
            <a:pPr algn="l"/>
            <a:r>
              <a:rPr sz="1080" b="0" i="0">
                <a:solidFill>
                  <a:srgbClr val="12263A"/>
                </a:solidFill>
                <a:latin typeface="Calibri"/>
              </a:rPr>
              <a:t>RUs re-parented to the forger under GM-A's identity (5/5 pmc runs, 5 Oct); servo reports 3.0 vs 22 per log</a:t>
            </a:r>
          </a:p>
        </p:txBody>
      </p:sp>
      <p:sp>
        <p:nvSpPr>
          <p:cNvPr id="36" name="TextBox 35"/>
          <p:cNvSpPr txBox="1"/>
          <p:nvPr/>
        </p:nvSpPr>
        <p:spPr>
          <a:xfrm>
            <a:off x="8686800" y="3639312"/>
            <a:ext cx="2926080" cy="457200"/>
          </a:xfrm>
          <a:prstGeom prst="rect">
            <a:avLst/>
          </a:prstGeom>
          <a:noFill/>
        </p:spPr>
        <p:txBody>
          <a:bodyPr wrap="square" lIns="18288" rIns="18288" tIns="9144" bIns="9144" anchor="t">
            <a:spAutoFit/>
          </a:bodyPr>
          <a:lstStyle/>
          <a:p>
            <a:pPr algn="l"/>
            <a:r>
              <a:rPr sz="1080" b="0" i="0">
                <a:solidFill>
                  <a:srgbClr val="5B6B7C"/>
                </a:solidFill>
                <a:latin typeface="Calibri"/>
              </a:rPr>
              <a:t>Spoofing class: false time</a:t>
            </a:r>
          </a:p>
        </p:txBody>
      </p:sp>
      <p:sp>
        <p:nvSpPr>
          <p:cNvPr id="37" name="Rectangle 36"/>
          <p:cNvSpPr/>
          <p:nvPr/>
        </p:nvSpPr>
        <p:spPr>
          <a:xfrm>
            <a:off x="566928" y="4096512"/>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7512" y="4133088"/>
            <a:ext cx="502920" cy="548640"/>
          </a:xfrm>
          <a:prstGeom prst="rect">
            <a:avLst/>
          </a:prstGeom>
          <a:noFill/>
        </p:spPr>
        <p:txBody>
          <a:bodyPr wrap="square" lIns="18288" rIns="18288" tIns="9144" bIns="9144" anchor="t">
            <a:spAutoFit/>
          </a:bodyPr>
          <a:lstStyle/>
          <a:p>
            <a:pPr algn="l"/>
            <a:r>
              <a:rPr sz="1350" b="1" i="0">
                <a:solidFill>
                  <a:srgbClr val="12263A"/>
                </a:solidFill>
                <a:latin typeface="Cambria"/>
              </a:rPr>
              <a:t>A2 A3 A5 C2</a:t>
            </a:r>
          </a:p>
        </p:txBody>
      </p:sp>
      <p:sp>
        <p:nvSpPr>
          <p:cNvPr id="39" name="TextBox 38"/>
          <p:cNvSpPr txBox="1"/>
          <p:nvPr/>
        </p:nvSpPr>
        <p:spPr>
          <a:xfrm>
            <a:off x="1207008" y="4133088"/>
            <a:ext cx="2377440" cy="548640"/>
          </a:xfrm>
          <a:prstGeom prst="rect">
            <a:avLst/>
          </a:prstGeom>
          <a:noFill/>
        </p:spPr>
        <p:txBody>
          <a:bodyPr wrap="square" lIns="18288" rIns="18288" tIns="9144" bIns="9144" anchor="t">
            <a:spAutoFit/>
          </a:bodyPr>
          <a:lstStyle/>
          <a:p>
            <a:pPr algn="l"/>
            <a:r>
              <a:rPr sz="1080" b="0" i="0">
                <a:solidFill>
                  <a:srgbClr val="12263A"/>
                </a:solidFill>
                <a:latin typeface="Calibri"/>
              </a:rPr>
              <a:t>RU receive path</a:t>
            </a:r>
          </a:p>
        </p:txBody>
      </p:sp>
      <p:sp>
        <p:nvSpPr>
          <p:cNvPr id="40" name="TextBox 39"/>
          <p:cNvSpPr txBox="1"/>
          <p:nvPr/>
        </p:nvSpPr>
        <p:spPr>
          <a:xfrm>
            <a:off x="3657600" y="4133088"/>
            <a:ext cx="1600200" cy="548640"/>
          </a:xfrm>
          <a:prstGeom prst="rect">
            <a:avLst/>
          </a:prstGeom>
          <a:noFill/>
        </p:spPr>
        <p:txBody>
          <a:bodyPr wrap="square" lIns="18288" rIns="18288" tIns="9144" bIns="9144" anchor="t">
            <a:spAutoFit/>
          </a:bodyPr>
          <a:lstStyle/>
          <a:p>
            <a:pPr algn="l"/>
            <a:r>
              <a:rPr sz="1080" b="0" i="0">
                <a:solidFill>
                  <a:srgbClr val="5B6B7C"/>
                </a:solidFill>
                <a:latin typeface="Calibri"/>
              </a:rPr>
              <a:t>False time / DoS</a:t>
            </a:r>
          </a:p>
        </p:txBody>
      </p:sp>
      <p:sp>
        <p:nvSpPr>
          <p:cNvPr id="41" name="TextBox 40"/>
          <p:cNvSpPr txBox="1"/>
          <p:nvPr/>
        </p:nvSpPr>
        <p:spPr>
          <a:xfrm>
            <a:off x="5349240" y="4133088"/>
            <a:ext cx="3246120" cy="548640"/>
          </a:xfrm>
          <a:prstGeom prst="rect">
            <a:avLst/>
          </a:prstGeom>
          <a:noFill/>
        </p:spPr>
        <p:txBody>
          <a:bodyPr wrap="square" lIns="18288" rIns="18288" tIns="9144" bIns="9144" anchor="t">
            <a:spAutoFit/>
          </a:bodyPr>
          <a:lstStyle/>
          <a:p>
            <a:pPr algn="l"/>
            <a:r>
              <a:rPr sz="1080" b="0" i="0">
                <a:solidFill>
                  <a:srgbClr val="12263A"/>
                </a:solidFill>
                <a:latin typeface="Calibri"/>
              </a:rPr>
              <a:t>No master change in any RU log or pmc run; visible only in packet evidence</a:t>
            </a:r>
          </a:p>
        </p:txBody>
      </p:sp>
      <p:sp>
        <p:nvSpPr>
          <p:cNvPr id="42" name="TextBox 41"/>
          <p:cNvSpPr txBox="1"/>
          <p:nvPr/>
        </p:nvSpPr>
        <p:spPr>
          <a:xfrm>
            <a:off x="8686800" y="4133088"/>
            <a:ext cx="2926080" cy="548640"/>
          </a:xfrm>
          <a:prstGeom prst="rect">
            <a:avLst/>
          </a:prstGeom>
          <a:noFill/>
        </p:spPr>
        <p:txBody>
          <a:bodyPr wrap="square" lIns="18288" rIns="18288" tIns="9144" bIns="9144" anchor="t">
            <a:spAutoFit/>
          </a:bodyPr>
          <a:lstStyle/>
          <a:p>
            <a:pPr algn="l"/>
            <a:r>
              <a:rPr sz="1080" b="0" i="0">
                <a:solidFill>
                  <a:srgbClr val="5B6B7C"/>
                </a:solidFill>
                <a:latin typeface="Calibri"/>
              </a:rPr>
              <a:t>A5: T-SPLANE-01 clock service interrupted; A3: TIMESAFE replay</a:t>
            </a:r>
          </a:p>
        </p:txBody>
      </p:sp>
      <p:sp>
        <p:nvSpPr>
          <p:cNvPr id="43" name="Rectangle 42"/>
          <p:cNvSpPr/>
          <p:nvPr/>
        </p:nvSpPr>
        <p:spPr>
          <a:xfrm>
            <a:off x="566928" y="4681728"/>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66928" y="4764024"/>
            <a:ext cx="11045952" cy="502920"/>
          </a:xfrm>
          <a:prstGeom prst="roundRect">
            <a:avLst>
              <a:gd name="adj" fmla="val 8000"/>
            </a:avLst>
          </a:prstGeom>
          <a:solidFill>
            <a:srgbClr val="FFFFFF"/>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4764024"/>
            <a:ext cx="10789920" cy="502920"/>
          </a:xfrm>
          <a:prstGeom prst="rect">
            <a:avLst/>
          </a:prstGeom>
          <a:noFill/>
        </p:spPr>
        <p:txBody>
          <a:bodyPr wrap="square" lIns="18288" rIns="18288" tIns="9144" bIns="9144" anchor="ctr">
            <a:spAutoFit/>
          </a:bodyPr>
          <a:lstStyle/>
          <a:p>
            <a:pPr algn="l"/>
            <a:r>
              <a:rPr sz="1100" b="1" i="0">
                <a:solidFill>
                  <a:srgbClr val="12263A"/>
                </a:solidFill>
                <a:latin typeface="Calibri"/>
              </a:rPr>
              <a:t>Service limits at stake:  </a:t>
            </a:r>
            <a:r>
              <a:rPr sz="1100" b="0" i="0">
                <a:solidFill>
                  <a:srgbClr val="5B6B7C"/>
                </a:solidFill>
                <a:latin typeface="Calibri"/>
              </a:rPr>
              <a:t>TDD cell phase sync better than 3 µs (3GPP TS 38.133 [8]) · TAE ≤ 65 ns for MIMO, ≤ 260 ns intra-band contiguous CA (3GPP TS 38.104 §9.6.3.2 [9])</a:t>
            </a:r>
          </a:p>
        </p:txBody>
      </p:sp>
      <p:sp>
        <p:nvSpPr>
          <p:cNvPr id="46" name="Rounded Rectangle 45"/>
          <p:cNvSpPr/>
          <p:nvPr/>
        </p:nvSpPr>
        <p:spPr>
          <a:xfrm>
            <a:off x="566928" y="5833872"/>
            <a:ext cx="11045952" cy="749808"/>
          </a:xfrm>
          <a:prstGeom prst="roundRect">
            <a:avLst>
              <a:gd name="adj" fmla="val 8000"/>
            </a:avLst>
          </a:prstGeom>
          <a:solidFill>
            <a:srgbClr val="FFF8E8"/>
          </a:solidFill>
          <a:ln w="12700">
            <a:solidFill>
              <a:srgbClr val="C58B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7240" y="5907024"/>
            <a:ext cx="2103120" cy="603503"/>
          </a:xfrm>
          <a:prstGeom prst="rect">
            <a:avLst/>
          </a:prstGeom>
          <a:noFill/>
        </p:spPr>
        <p:txBody>
          <a:bodyPr wrap="square" lIns="18288" rIns="18288" tIns="9144" bIns="9144" anchor="ctr">
            <a:spAutoFit/>
          </a:bodyPr>
          <a:lstStyle/>
          <a:p>
            <a:pPr algn="l"/>
            <a:r>
              <a:rPr sz="1400" b="1" i="0">
                <a:solidFill>
                  <a:srgbClr val="C58B18"/>
                </a:solidFill>
                <a:latin typeface="Cambria"/>
              </a:rPr>
              <a:t>LIMIT</a:t>
            </a:r>
          </a:p>
        </p:txBody>
      </p:sp>
      <p:sp>
        <p:nvSpPr>
          <p:cNvPr id="48" name="TextBox 47"/>
          <p:cNvSpPr txBox="1"/>
          <p:nvPr/>
        </p:nvSpPr>
        <p:spPr>
          <a:xfrm>
            <a:off x="2834640" y="5888736"/>
            <a:ext cx="8595360" cy="640080"/>
          </a:xfrm>
          <a:prstGeom prst="rect">
            <a:avLst/>
          </a:prstGeom>
          <a:noFill/>
        </p:spPr>
        <p:txBody>
          <a:bodyPr wrap="square" lIns="18288" rIns="18288" tIns="9144" bIns="9144" anchor="ctr">
            <a:spAutoFit/>
          </a:bodyPr>
          <a:lstStyle/>
          <a:p>
            <a:pPr algn="l"/>
            <a:r>
              <a:rPr sz="1220" b="1" i="0">
                <a:solidFill>
                  <a:srgbClr val="12263A"/>
                </a:solidFill>
                <a:latin typeface="Calibri"/>
              </a:rPr>
              <a:t>Every daemon ran with free_running 1: offsets were measured, never steered. Measured impact is protocol-level; time-error and service impact come from the cited literature.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8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10312"/>
            <a:ext cx="11045952" cy="228600"/>
          </a:xfrm>
          <a:prstGeom prst="rect">
            <a:avLst/>
          </a:prstGeom>
          <a:noFill/>
        </p:spPr>
        <p:txBody>
          <a:bodyPr wrap="square" lIns="18288" rIns="18288" tIns="9144" bIns="9144" anchor="t">
            <a:spAutoFit/>
          </a:bodyPr>
          <a:lstStyle/>
          <a:p>
            <a:pPr algn="l"/>
            <a:r>
              <a:rPr sz="1280" b="1" i="0">
                <a:solidFill>
                  <a:srgbClr val="1C7293"/>
                </a:solidFill>
                <a:latin typeface="Calibri"/>
              </a:rPr>
              <a:t>KPI SOURCES</a:t>
            </a:r>
          </a:p>
        </p:txBody>
      </p:sp>
      <p:sp>
        <p:nvSpPr>
          <p:cNvPr id="5" name="TextBox 4"/>
          <p:cNvSpPr txBox="1"/>
          <p:nvPr/>
        </p:nvSpPr>
        <p:spPr>
          <a:xfrm>
            <a:off x="566928" y="448056"/>
            <a:ext cx="11045952" cy="548640"/>
          </a:xfrm>
          <a:prstGeom prst="rect">
            <a:avLst/>
          </a:prstGeom>
          <a:noFill/>
        </p:spPr>
        <p:txBody>
          <a:bodyPr wrap="square" lIns="18288" rIns="18288" tIns="9144" bIns="9144" anchor="t">
            <a:spAutoFit/>
          </a:bodyPr>
          <a:lstStyle/>
          <a:p>
            <a:pPr algn="l"/>
            <a:r>
              <a:rPr sz="3300" b="1" i="0">
                <a:solidFill>
                  <a:srgbClr val="12263A"/>
                </a:solidFill>
                <a:latin typeface="Cambria"/>
              </a:rPr>
              <a:t>KPIs Are Measured From the Protocol, Not a Model</a:t>
            </a:r>
          </a:p>
        </p:txBody>
      </p:sp>
      <p:sp>
        <p:nvSpPr>
          <p:cNvPr id="6" name="Rounded Rectangle 5"/>
          <p:cNvSpPr/>
          <p:nvPr/>
        </p:nvSpPr>
        <p:spPr>
          <a:xfrm>
            <a:off x="566928" y="1060704"/>
            <a:ext cx="11045952" cy="438912"/>
          </a:xfrm>
          <a:prstGeom prst="roundRect">
            <a:avLst>
              <a:gd name="adj" fmla="val 8000"/>
            </a:avLst>
          </a:prstGeom>
          <a:solidFill>
            <a:srgbClr val="EAF2F8"/>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1097280"/>
            <a:ext cx="10744200" cy="384048"/>
          </a:xfrm>
          <a:prstGeom prst="rect">
            <a:avLst/>
          </a:prstGeom>
          <a:noFill/>
        </p:spPr>
        <p:txBody>
          <a:bodyPr wrap="square" lIns="18288" rIns="18288" tIns="9144" bIns="9144" anchor="ctr">
            <a:spAutoFit/>
          </a:bodyPr>
          <a:lstStyle/>
          <a:p>
            <a:pPr algn="l"/>
            <a:r>
              <a:rPr sz="1019" b="0" i="0">
                <a:solidFill>
                  <a:srgbClr val="5B6B7C"/>
                </a:solidFill>
                <a:latin typeface="Calibri"/>
              </a:rPr>
              <a:t>IEEE 1588-2019 message formats and data sets [5]  |  linuxptp ptp4l and pmc [14]  |  Extractor ptp_deep_extract.py; logs extracted_168run_ptp4l_logs; pmc_log.sh</a:t>
            </a:r>
          </a:p>
        </p:txBody>
      </p:sp>
      <p:sp>
        <p:nvSpPr>
          <p:cNvPr id="8" name="Rounded Rectangle 7"/>
          <p:cNvSpPr/>
          <p:nvPr/>
        </p:nvSpPr>
        <p:spPr>
          <a:xfrm>
            <a:off x="667512" y="1691640"/>
            <a:ext cx="2651760" cy="3520440"/>
          </a:xfrm>
          <a:prstGeom prst="roundRect">
            <a:avLst>
              <a:gd name="adj" fmla="val 8000"/>
            </a:avLst>
          </a:prstGeom>
          <a:solidFill>
            <a:srgbClr val="FFFFFF"/>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3" y="1783080"/>
            <a:ext cx="548640" cy="320040"/>
          </a:xfrm>
          <a:prstGeom prst="rect">
            <a:avLst/>
          </a:prstGeom>
          <a:noFill/>
        </p:spPr>
        <p:txBody>
          <a:bodyPr wrap="square" lIns="18288" rIns="18288" tIns="9144" bIns="9144" anchor="t">
            <a:spAutoFit/>
          </a:bodyPr>
          <a:lstStyle/>
          <a:p>
            <a:pPr algn="l"/>
            <a:r>
              <a:rPr sz="1700" b="1" i="0">
                <a:solidFill>
                  <a:srgbClr val="1C7293"/>
                </a:solidFill>
                <a:latin typeface="Cambria"/>
              </a:rPr>
              <a:t>01</a:t>
            </a:r>
          </a:p>
        </p:txBody>
      </p:sp>
      <p:sp>
        <p:nvSpPr>
          <p:cNvPr id="10" name="TextBox 9"/>
          <p:cNvSpPr txBox="1"/>
          <p:nvPr/>
        </p:nvSpPr>
        <p:spPr>
          <a:xfrm>
            <a:off x="832103" y="2121408"/>
            <a:ext cx="2377440" cy="320040"/>
          </a:xfrm>
          <a:prstGeom prst="rect">
            <a:avLst/>
          </a:prstGeom>
          <a:noFill/>
        </p:spPr>
        <p:txBody>
          <a:bodyPr wrap="square" lIns="18288" rIns="18288" tIns="9144" bIns="9144" anchor="t">
            <a:spAutoFit/>
          </a:bodyPr>
          <a:lstStyle/>
          <a:p>
            <a:pPr algn="l"/>
            <a:r>
              <a:rPr sz="1700" b="1" i="0">
                <a:solidFill>
                  <a:srgbClr val="12263A"/>
                </a:solidFill>
                <a:latin typeface="Cambria"/>
              </a:rPr>
              <a:t>Wire capture</a:t>
            </a:r>
          </a:p>
        </p:txBody>
      </p:sp>
      <p:sp>
        <p:nvSpPr>
          <p:cNvPr id="11" name="TextBox 10"/>
          <p:cNvSpPr txBox="1"/>
          <p:nvPr/>
        </p:nvSpPr>
        <p:spPr>
          <a:xfrm>
            <a:off x="832103" y="2487168"/>
            <a:ext cx="2377440" cy="502920"/>
          </a:xfrm>
          <a:prstGeom prst="rect">
            <a:avLst/>
          </a:prstGeom>
          <a:noFill/>
        </p:spPr>
        <p:txBody>
          <a:bodyPr wrap="square" lIns="18288" rIns="18288" tIns="9144" bIns="9144" anchor="t">
            <a:spAutoFit/>
          </a:bodyPr>
          <a:lstStyle/>
          <a:p>
            <a:pPr algn="l"/>
            <a:r>
              <a:rPr sz="1050" b="1" i="0">
                <a:solidFill>
                  <a:srgbClr val="1C7293"/>
                </a:solidFill>
                <a:latin typeface="Calibri"/>
              </a:rPr>
              <a:t>tcpdump on brUP / brDN → ptp_deep_extract.py</a:t>
            </a:r>
          </a:p>
        </p:txBody>
      </p:sp>
      <p:sp>
        <p:nvSpPr>
          <p:cNvPr id="12" name="TextBox 11"/>
          <p:cNvSpPr txBox="1"/>
          <p:nvPr/>
        </p:nvSpPr>
        <p:spPr>
          <a:xfrm>
            <a:off x="832103" y="3017520"/>
            <a:ext cx="2377440" cy="1463040"/>
          </a:xfrm>
          <a:prstGeom prst="rect">
            <a:avLst/>
          </a:prstGeom>
          <a:noFill/>
        </p:spPr>
        <p:txBody>
          <a:bodyPr wrap="square" lIns="18288" rIns="18288" tIns="9144" bIns="9144" anchor="t">
            <a:spAutoFit/>
          </a:bodyPr>
          <a:lstStyle/>
          <a:p>
            <a:pPr algn="l"/>
            <a:r>
              <a:rPr sz="1120" b="0" i="0">
                <a:solidFill>
                  <a:srgbClr val="5B6B7C"/>
                </a:solidFill>
                <a:latin typeface="Calibri"/>
              </a:rPr>
              <a:t>56 fields per PTP message: header, flags, correctionField, sourcePortIdentity, sequenceId, Announce data set, G.8275.1 conformance flags</a:t>
            </a:r>
          </a:p>
        </p:txBody>
      </p:sp>
      <p:sp>
        <p:nvSpPr>
          <p:cNvPr id="13" name="Rounded Rectangle 12"/>
          <p:cNvSpPr/>
          <p:nvPr/>
        </p:nvSpPr>
        <p:spPr>
          <a:xfrm>
            <a:off x="804672" y="4617720"/>
            <a:ext cx="2377440" cy="438912"/>
          </a:xfrm>
          <a:prstGeom prst="roundRect">
            <a:avLst>
              <a:gd name="adj" fmla="val 8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617720"/>
            <a:ext cx="2286000" cy="438912"/>
          </a:xfrm>
          <a:prstGeom prst="rect">
            <a:avLst/>
          </a:prstGeom>
          <a:noFill/>
        </p:spPr>
        <p:txBody>
          <a:bodyPr wrap="square" lIns="18288" rIns="18288" tIns="9144" bIns="9144" anchor="ctr">
            <a:spAutoFit/>
          </a:bodyPr>
          <a:lstStyle/>
          <a:p>
            <a:pPr algn="l"/>
            <a:r>
              <a:rPr sz="1050" b="1" i="0">
                <a:solidFill>
                  <a:srgbClr val="1E8E5A"/>
                </a:solidFill>
                <a:latin typeface="Calibri"/>
              </a:rPr>
              <a:t>Used by the rule (ARM A)</a:t>
            </a:r>
          </a:p>
        </p:txBody>
      </p:sp>
      <p:sp>
        <p:nvSpPr>
          <p:cNvPr id="15" name="Rounded Rectangle 14"/>
          <p:cNvSpPr/>
          <p:nvPr/>
        </p:nvSpPr>
        <p:spPr>
          <a:xfrm>
            <a:off x="3456432" y="1691640"/>
            <a:ext cx="2651760" cy="3520440"/>
          </a:xfrm>
          <a:prstGeom prst="roundRect">
            <a:avLst>
              <a:gd name="adj" fmla="val 8000"/>
            </a:avLst>
          </a:prstGeom>
          <a:solidFill>
            <a:srgbClr val="FFFFFF"/>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783080"/>
            <a:ext cx="548640" cy="320040"/>
          </a:xfrm>
          <a:prstGeom prst="rect">
            <a:avLst/>
          </a:prstGeom>
          <a:noFill/>
        </p:spPr>
        <p:txBody>
          <a:bodyPr wrap="square" lIns="18288" rIns="18288" tIns="9144" bIns="9144" anchor="t">
            <a:spAutoFit/>
          </a:bodyPr>
          <a:lstStyle/>
          <a:p>
            <a:pPr algn="l"/>
            <a:r>
              <a:rPr sz="1700" b="1" i="0">
                <a:solidFill>
                  <a:srgbClr val="1C7293"/>
                </a:solidFill>
                <a:latin typeface="Cambria"/>
              </a:rPr>
              <a:t>02</a:t>
            </a:r>
          </a:p>
        </p:txBody>
      </p:sp>
      <p:sp>
        <p:nvSpPr>
          <p:cNvPr id="17" name="TextBox 16"/>
          <p:cNvSpPr txBox="1"/>
          <p:nvPr/>
        </p:nvSpPr>
        <p:spPr>
          <a:xfrm>
            <a:off x="3621024" y="2121408"/>
            <a:ext cx="2377440" cy="320040"/>
          </a:xfrm>
          <a:prstGeom prst="rect">
            <a:avLst/>
          </a:prstGeom>
          <a:noFill/>
        </p:spPr>
        <p:txBody>
          <a:bodyPr wrap="square" lIns="18288" rIns="18288" tIns="9144" bIns="9144" anchor="t">
            <a:spAutoFit/>
          </a:bodyPr>
          <a:lstStyle/>
          <a:p>
            <a:pPr algn="l"/>
            <a:r>
              <a:rPr sz="1700" b="1" i="0">
                <a:solidFill>
                  <a:srgbClr val="12263A"/>
                </a:solidFill>
                <a:latin typeface="Cambria"/>
              </a:rPr>
              <a:t>Daemon servo log</a:t>
            </a:r>
          </a:p>
        </p:txBody>
      </p:sp>
      <p:sp>
        <p:nvSpPr>
          <p:cNvPr id="18" name="TextBox 17"/>
          <p:cNvSpPr txBox="1"/>
          <p:nvPr/>
        </p:nvSpPr>
        <p:spPr>
          <a:xfrm>
            <a:off x="3621024" y="2487168"/>
            <a:ext cx="2377440" cy="502920"/>
          </a:xfrm>
          <a:prstGeom prst="rect">
            <a:avLst/>
          </a:prstGeom>
          <a:noFill/>
        </p:spPr>
        <p:txBody>
          <a:bodyPr wrap="square" lIns="18288" rIns="18288" tIns="9144" bIns="9144" anchor="t">
            <a:spAutoFit/>
          </a:bodyPr>
          <a:lstStyle/>
          <a:p>
            <a:pPr algn="l"/>
            <a:r>
              <a:rPr sz="1050" b="1" i="0">
                <a:solidFill>
                  <a:srgbClr val="1C7293"/>
                </a:solidFill>
                <a:latin typeface="Calibri"/>
              </a:rPr>
              <a:t>ptp4l -m output on each node</a:t>
            </a:r>
          </a:p>
        </p:txBody>
      </p:sp>
      <p:sp>
        <p:nvSpPr>
          <p:cNvPr id="19" name="TextBox 18"/>
          <p:cNvSpPr txBox="1"/>
          <p:nvPr/>
        </p:nvSpPr>
        <p:spPr>
          <a:xfrm>
            <a:off x="3621024" y="3017520"/>
            <a:ext cx="2377440" cy="1463040"/>
          </a:xfrm>
          <a:prstGeom prst="rect">
            <a:avLst/>
          </a:prstGeom>
          <a:noFill/>
        </p:spPr>
        <p:txBody>
          <a:bodyPr wrap="square" lIns="18288" rIns="18288" tIns="9144" bIns="9144" anchor="t">
            <a:spAutoFit/>
          </a:bodyPr>
          <a:lstStyle/>
          <a:p>
            <a:pPr algn="l"/>
            <a:r>
              <a:rPr sz="1120" b="0" i="0">
                <a:solidFill>
                  <a:srgbClr val="5B6B7C"/>
                </a:solidFill>
                <a:latin typeface="Calibri"/>
              </a:rPr>
              <a:t>master offset (ns), servo state, frequency adjustment (ppb), path delay (ns), port-state transitions</a:t>
            </a:r>
          </a:p>
        </p:txBody>
      </p:sp>
      <p:sp>
        <p:nvSpPr>
          <p:cNvPr id="20" name="Rounded Rectangle 19"/>
          <p:cNvSpPr/>
          <p:nvPr/>
        </p:nvSpPr>
        <p:spPr>
          <a:xfrm>
            <a:off x="3593591" y="4617720"/>
            <a:ext cx="2377440" cy="438912"/>
          </a:xfrm>
          <a:prstGeom prst="roundRect">
            <a:avLst>
              <a:gd name="adj" fmla="val 8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0" y="4617720"/>
            <a:ext cx="2286000" cy="438912"/>
          </a:xfrm>
          <a:prstGeom prst="rect">
            <a:avLst/>
          </a:prstGeom>
          <a:noFill/>
        </p:spPr>
        <p:txBody>
          <a:bodyPr wrap="square" lIns="18288" rIns="18288" tIns="9144" bIns="9144" anchor="ctr">
            <a:spAutoFit/>
          </a:bodyPr>
          <a:lstStyle/>
          <a:p>
            <a:pPr algn="l"/>
            <a:r>
              <a:rPr sz="1050" b="1" i="0">
                <a:solidFill>
                  <a:srgbClr val="1E8E5A"/>
                </a:solidFill>
                <a:latin typeface="Calibri"/>
              </a:rPr>
              <a:t>Used by the ML model (ARM B)</a:t>
            </a:r>
          </a:p>
        </p:txBody>
      </p:sp>
      <p:sp>
        <p:nvSpPr>
          <p:cNvPr id="22" name="Rounded Rectangle 21"/>
          <p:cNvSpPr/>
          <p:nvPr/>
        </p:nvSpPr>
        <p:spPr>
          <a:xfrm>
            <a:off x="6245352" y="1691640"/>
            <a:ext cx="2651760" cy="3520440"/>
          </a:xfrm>
          <a:prstGeom prst="roundRect">
            <a:avLst>
              <a:gd name="adj" fmla="val 8000"/>
            </a:avLst>
          </a:prstGeom>
          <a:solidFill>
            <a:srgbClr val="FFFFFF"/>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1783080"/>
            <a:ext cx="548640" cy="320040"/>
          </a:xfrm>
          <a:prstGeom prst="rect">
            <a:avLst/>
          </a:prstGeom>
          <a:noFill/>
        </p:spPr>
        <p:txBody>
          <a:bodyPr wrap="square" lIns="18288" rIns="18288" tIns="9144" bIns="9144" anchor="t">
            <a:spAutoFit/>
          </a:bodyPr>
          <a:lstStyle/>
          <a:p>
            <a:pPr algn="l"/>
            <a:r>
              <a:rPr sz="1700" b="1" i="0">
                <a:solidFill>
                  <a:srgbClr val="1C7293"/>
                </a:solidFill>
                <a:latin typeface="Cambria"/>
              </a:rPr>
              <a:t>03</a:t>
            </a:r>
          </a:p>
        </p:txBody>
      </p:sp>
      <p:sp>
        <p:nvSpPr>
          <p:cNvPr id="24" name="TextBox 23"/>
          <p:cNvSpPr txBox="1"/>
          <p:nvPr/>
        </p:nvSpPr>
        <p:spPr>
          <a:xfrm>
            <a:off x="6409944" y="2121408"/>
            <a:ext cx="2377440" cy="320040"/>
          </a:xfrm>
          <a:prstGeom prst="rect">
            <a:avLst/>
          </a:prstGeom>
          <a:noFill/>
        </p:spPr>
        <p:txBody>
          <a:bodyPr wrap="square" lIns="18288" rIns="18288" tIns="9144" bIns="9144" anchor="t">
            <a:spAutoFit/>
          </a:bodyPr>
          <a:lstStyle/>
          <a:p>
            <a:pPr algn="l"/>
            <a:r>
              <a:rPr sz="1700" b="1" i="0">
                <a:solidFill>
                  <a:srgbClr val="12263A"/>
                </a:solidFill>
                <a:latin typeface="Cambria"/>
              </a:rPr>
              <a:t>Management queries</a:t>
            </a:r>
          </a:p>
        </p:txBody>
      </p:sp>
      <p:sp>
        <p:nvSpPr>
          <p:cNvPr id="25" name="TextBox 24"/>
          <p:cNvSpPr txBox="1"/>
          <p:nvPr/>
        </p:nvSpPr>
        <p:spPr>
          <a:xfrm>
            <a:off x="6409944" y="2487168"/>
            <a:ext cx="2377440" cy="502920"/>
          </a:xfrm>
          <a:prstGeom prst="rect">
            <a:avLst/>
          </a:prstGeom>
          <a:noFill/>
        </p:spPr>
        <p:txBody>
          <a:bodyPr wrap="square" lIns="18288" rIns="18288" tIns="9144" bIns="9144" anchor="t">
            <a:spAutoFit/>
          </a:bodyPr>
          <a:lstStyle/>
          <a:p>
            <a:pPr algn="l"/>
            <a:r>
              <a:rPr sz="1050" b="1" i="0">
                <a:solidFill>
                  <a:srgbClr val="1C7293"/>
                </a:solidFill>
                <a:latin typeface="Calibri"/>
              </a:rPr>
              <a:t>pmc GET on 7 data sets per node, every second</a:t>
            </a:r>
          </a:p>
        </p:txBody>
      </p:sp>
      <p:sp>
        <p:nvSpPr>
          <p:cNvPr id="26" name="TextBox 25"/>
          <p:cNvSpPr txBox="1"/>
          <p:nvPr/>
        </p:nvSpPr>
        <p:spPr>
          <a:xfrm>
            <a:off x="6409944" y="3017520"/>
            <a:ext cx="2377440" cy="1463040"/>
          </a:xfrm>
          <a:prstGeom prst="rect">
            <a:avLst/>
          </a:prstGeom>
          <a:noFill/>
        </p:spPr>
        <p:txBody>
          <a:bodyPr wrap="square" lIns="18288" rIns="18288" tIns="9144" bIns="9144" anchor="t">
            <a:spAutoFit/>
          </a:bodyPr>
          <a:lstStyle/>
          <a:p>
            <a:pPr algn="l"/>
            <a:r>
              <a:rPr sz="1120" b="0" i="0">
                <a:solidFill>
                  <a:srgbClr val="5B6B7C"/>
                </a:solidFill>
                <a:latin typeface="Calibri"/>
              </a:rPr>
              <a:t>Intended: CURRENT, PARENT, TIME_PROPERTIES, PORT data sets and port statistics</a:t>
            </a:r>
          </a:p>
        </p:txBody>
      </p:sp>
      <p:sp>
        <p:nvSpPr>
          <p:cNvPr id="27" name="Rounded Rectangle 26"/>
          <p:cNvSpPr/>
          <p:nvPr/>
        </p:nvSpPr>
        <p:spPr>
          <a:xfrm>
            <a:off x="6382512" y="4617720"/>
            <a:ext cx="2377440" cy="438912"/>
          </a:xfrm>
          <a:prstGeom prst="roundRect">
            <a:avLst>
              <a:gd name="adj" fmla="val 8000"/>
            </a:avLst>
          </a:prstGeom>
          <a:solidFill>
            <a:srgbClr val="FB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4617720"/>
            <a:ext cx="2286000" cy="438912"/>
          </a:xfrm>
          <a:prstGeom prst="rect">
            <a:avLst/>
          </a:prstGeom>
          <a:noFill/>
        </p:spPr>
        <p:txBody>
          <a:bodyPr wrap="square" lIns="18288" rIns="18288" tIns="9144" bIns="9144" anchor="ctr">
            <a:spAutoFit/>
          </a:bodyPr>
          <a:lstStyle/>
          <a:p>
            <a:pPr algn="l"/>
            <a:r>
              <a:rPr sz="1050" b="1" i="0">
                <a:solidFill>
                  <a:srgbClr val="B3402F"/>
                </a:solidFill>
                <a:latin typeface="Calibri"/>
              </a:rPr>
              <a:t>Returned no data in any run</a:t>
            </a:r>
          </a:p>
        </p:txBody>
      </p:sp>
      <p:sp>
        <p:nvSpPr>
          <p:cNvPr id="29" name="Rounded Rectangle 28"/>
          <p:cNvSpPr/>
          <p:nvPr/>
        </p:nvSpPr>
        <p:spPr>
          <a:xfrm>
            <a:off x="9034272" y="1691640"/>
            <a:ext cx="2651760" cy="3520440"/>
          </a:xfrm>
          <a:prstGeom prst="roundRect">
            <a:avLst>
              <a:gd name="adj" fmla="val 8000"/>
            </a:avLst>
          </a:prstGeom>
          <a:solidFill>
            <a:srgbClr val="FFFFFF"/>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98863" y="1783080"/>
            <a:ext cx="548640" cy="320040"/>
          </a:xfrm>
          <a:prstGeom prst="rect">
            <a:avLst/>
          </a:prstGeom>
          <a:noFill/>
        </p:spPr>
        <p:txBody>
          <a:bodyPr wrap="square" lIns="18288" rIns="18288" tIns="9144" bIns="9144" anchor="t">
            <a:spAutoFit/>
          </a:bodyPr>
          <a:lstStyle/>
          <a:p>
            <a:pPr algn="l"/>
            <a:r>
              <a:rPr sz="1700" b="1" i="0">
                <a:solidFill>
                  <a:srgbClr val="1C7293"/>
                </a:solidFill>
                <a:latin typeface="Cambria"/>
              </a:rPr>
              <a:t>04</a:t>
            </a:r>
          </a:p>
        </p:txBody>
      </p:sp>
      <p:sp>
        <p:nvSpPr>
          <p:cNvPr id="31" name="TextBox 30"/>
          <p:cNvSpPr txBox="1"/>
          <p:nvPr/>
        </p:nvSpPr>
        <p:spPr>
          <a:xfrm>
            <a:off x="9198863" y="2121408"/>
            <a:ext cx="2377440" cy="320040"/>
          </a:xfrm>
          <a:prstGeom prst="rect">
            <a:avLst/>
          </a:prstGeom>
          <a:noFill/>
        </p:spPr>
        <p:txBody>
          <a:bodyPr wrap="square" lIns="18288" rIns="18288" tIns="9144" bIns="9144" anchor="t">
            <a:spAutoFit/>
          </a:bodyPr>
          <a:lstStyle/>
          <a:p>
            <a:pPr algn="l"/>
            <a:r>
              <a:rPr sz="1700" b="1" i="0">
                <a:solidFill>
                  <a:srgbClr val="12263A"/>
                </a:solidFill>
                <a:latin typeface="Cambria"/>
              </a:rPr>
              <a:t>Operator context</a:t>
            </a:r>
          </a:p>
        </p:txBody>
      </p:sp>
      <p:sp>
        <p:nvSpPr>
          <p:cNvPr id="32" name="TextBox 31"/>
          <p:cNvSpPr txBox="1"/>
          <p:nvPr/>
        </p:nvSpPr>
        <p:spPr>
          <a:xfrm>
            <a:off x="9198863" y="2487168"/>
            <a:ext cx="2377440" cy="502920"/>
          </a:xfrm>
          <a:prstGeom prst="rect">
            <a:avLst/>
          </a:prstGeom>
          <a:noFill/>
        </p:spPr>
        <p:txBody>
          <a:bodyPr wrap="square" lIns="18288" rIns="18288" tIns="9144" bIns="9144" anchor="t">
            <a:spAutoFit/>
          </a:bodyPr>
          <a:lstStyle/>
          <a:p>
            <a:pPr algn="l"/>
            <a:r>
              <a:rPr sz="1050" b="1" i="0">
                <a:solidFill>
                  <a:srgbClr val="1C7293"/>
                </a:solidFill>
                <a:latin typeface="Calibri"/>
              </a:rPr>
              <a:t>context.json written per run</a:t>
            </a:r>
          </a:p>
        </p:txBody>
      </p:sp>
      <p:sp>
        <p:nvSpPr>
          <p:cNvPr id="33" name="TextBox 32"/>
          <p:cNvSpPr txBox="1"/>
          <p:nvPr/>
        </p:nvSpPr>
        <p:spPr>
          <a:xfrm>
            <a:off x="9198863" y="3017520"/>
            <a:ext cx="2377440" cy="1463040"/>
          </a:xfrm>
          <a:prstGeom prst="rect">
            <a:avLst/>
          </a:prstGeom>
          <a:noFill/>
        </p:spPr>
        <p:txBody>
          <a:bodyPr wrap="square" lIns="18288" rIns="18288" tIns="9144" bIns="9144" anchor="t">
            <a:spAutoFit/>
          </a:bodyPr>
          <a:lstStyle/>
          <a:p>
            <a:pPr algn="l"/>
            <a:r>
              <a:rPr sz="1120" b="0" i="0">
                <a:solidFill>
                  <a:srgbClr val="5B6B7C"/>
                </a:solidFill>
                <a:latin typeface="Calibri"/>
              </a:rPr>
              <a:t>Provisioned allow-list, expected boundary clock, maintenance-window state, ground-truth label</a:t>
            </a:r>
          </a:p>
        </p:txBody>
      </p:sp>
      <p:sp>
        <p:nvSpPr>
          <p:cNvPr id="34" name="Rounded Rectangle 33"/>
          <p:cNvSpPr/>
          <p:nvPr/>
        </p:nvSpPr>
        <p:spPr>
          <a:xfrm>
            <a:off x="9171432" y="4617720"/>
            <a:ext cx="2377440" cy="438912"/>
          </a:xfrm>
          <a:prstGeom prst="roundRect">
            <a:avLst>
              <a:gd name="adj" fmla="val 8000"/>
            </a:avLst>
          </a:prstGeom>
          <a:solidFill>
            <a:srgbClr val="FFF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35440" y="4617720"/>
            <a:ext cx="2286000" cy="438912"/>
          </a:xfrm>
          <a:prstGeom prst="rect">
            <a:avLst/>
          </a:prstGeom>
          <a:noFill/>
        </p:spPr>
        <p:txBody>
          <a:bodyPr wrap="square" lIns="18288" rIns="18288" tIns="9144" bIns="9144" anchor="ctr">
            <a:spAutoFit/>
          </a:bodyPr>
          <a:lstStyle/>
          <a:p>
            <a:pPr algn="l"/>
            <a:r>
              <a:rPr sz="1050" b="1" i="0">
                <a:solidFill>
                  <a:srgbClr val="C58B18"/>
                </a:solidFill>
                <a:latin typeface="Calibri"/>
              </a:rPr>
              <a:t>Configuration, not measurement</a:t>
            </a:r>
          </a:p>
        </p:txBody>
      </p:sp>
      <p:sp>
        <p:nvSpPr>
          <p:cNvPr id="36" name="TextBox 35"/>
          <p:cNvSpPr txBox="1"/>
          <p:nvPr/>
        </p:nvSpPr>
        <p:spPr>
          <a:xfrm>
            <a:off x="667512" y="5321808"/>
            <a:ext cx="10972800" cy="411480"/>
          </a:xfrm>
          <a:prstGeom prst="rect">
            <a:avLst/>
          </a:prstGeom>
          <a:noFill/>
        </p:spPr>
        <p:txBody>
          <a:bodyPr wrap="square" lIns="18288" rIns="18288" tIns="9144" bIns="9144" anchor="t">
            <a:spAutoFit/>
          </a:bodyPr>
          <a:lstStyle/>
          <a:p>
            <a:pPr algn="l"/>
            <a:r>
              <a:rPr sz="1100" b="1" i="0">
                <a:solidFill>
                  <a:srgbClr val="12263A"/>
                </a:solidFill>
                <a:latin typeface="Calibri"/>
              </a:rPr>
              <a:t>Example servo line, baseline run 1, RU1:  </a:t>
            </a:r>
            <a:r>
              <a:rPr sz="1100" b="0" i="0">
                <a:solidFill>
                  <a:srgbClr val="12263A"/>
                </a:solidFill>
                <a:latin typeface="Courier New"/>
              </a:rPr>
              <a:t>ptp4l[517.414]: master offset 1191 s0 freq -1547 path delay 5313</a:t>
            </a:r>
          </a:p>
        </p:txBody>
      </p:sp>
      <p:sp>
        <p:nvSpPr>
          <p:cNvPr id="37" name="Rounded Rectangle 36"/>
          <p:cNvSpPr/>
          <p:nvPr/>
        </p:nvSpPr>
        <p:spPr>
          <a:xfrm>
            <a:off x="566928" y="5833872"/>
            <a:ext cx="11045952" cy="749808"/>
          </a:xfrm>
          <a:prstGeom prst="roundRect">
            <a:avLst>
              <a:gd name="adj" fmla="val 8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5907024"/>
            <a:ext cx="2103120" cy="603503"/>
          </a:xfrm>
          <a:prstGeom prst="rect">
            <a:avLst/>
          </a:prstGeom>
          <a:noFill/>
        </p:spPr>
        <p:txBody>
          <a:bodyPr wrap="square" lIns="18288" rIns="18288" tIns="9144" bIns="9144" anchor="ctr">
            <a:spAutoFit/>
          </a:bodyPr>
          <a:lstStyle/>
          <a:p>
            <a:pPr algn="l"/>
            <a:r>
              <a:rPr sz="1200" b="1" i="0">
                <a:solidFill>
                  <a:srgbClr val="18B89A"/>
                </a:solidFill>
                <a:latin typeface="Calibri"/>
              </a:rPr>
              <a:t>ANSWER</a:t>
            </a:r>
          </a:p>
        </p:txBody>
      </p:sp>
      <p:sp>
        <p:nvSpPr>
          <p:cNvPr id="39" name="TextBox 38"/>
          <p:cNvSpPr txBox="1"/>
          <p:nvPr/>
        </p:nvSpPr>
        <p:spPr>
          <a:xfrm>
            <a:off x="2834640" y="5888736"/>
            <a:ext cx="8595360" cy="640080"/>
          </a:xfrm>
          <a:prstGeom prst="rect">
            <a:avLst/>
          </a:prstGeom>
          <a:noFill/>
        </p:spPr>
        <p:txBody>
          <a:bodyPr wrap="square" lIns="18288" rIns="18288" tIns="9144" bIns="9144" anchor="ctr">
            <a:spAutoFit/>
          </a:bodyPr>
          <a:lstStyle/>
          <a:p>
            <a:pPr algn="l"/>
            <a:r>
              <a:rPr sz="1240" b="1" i="0">
                <a:solidFill>
                  <a:srgbClr val="FFFFFF"/>
                </a:solidFill>
                <a:latin typeface="Calibri"/>
              </a:rPr>
              <a:t>No model generates the KPIs. They are read from PTP itself, defined by IEEE 1588-2019 and ITU-T G.8275.1. The ML model consumes six servo-derived features; it does not produce KPIs.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8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10312"/>
            <a:ext cx="11045952" cy="228600"/>
          </a:xfrm>
          <a:prstGeom prst="rect">
            <a:avLst/>
          </a:prstGeom>
          <a:noFill/>
        </p:spPr>
        <p:txBody>
          <a:bodyPr wrap="square" lIns="18288" rIns="18288" tIns="9144" bIns="9144" anchor="t">
            <a:spAutoFit/>
          </a:bodyPr>
          <a:lstStyle/>
          <a:p>
            <a:pPr algn="l"/>
            <a:r>
              <a:rPr sz="1280" b="1" i="0">
                <a:solidFill>
                  <a:srgbClr val="1C7293"/>
                </a:solidFill>
                <a:latin typeface="Calibri"/>
              </a:rPr>
              <a:t>KPI CLASSIFICATION FOR RECOVERY</a:t>
            </a:r>
          </a:p>
        </p:txBody>
      </p:sp>
      <p:sp>
        <p:nvSpPr>
          <p:cNvPr id="5" name="TextBox 4"/>
          <p:cNvSpPr txBox="1"/>
          <p:nvPr/>
        </p:nvSpPr>
        <p:spPr>
          <a:xfrm>
            <a:off x="566928" y="448056"/>
            <a:ext cx="11045952" cy="548640"/>
          </a:xfrm>
          <a:prstGeom prst="rect">
            <a:avLst/>
          </a:prstGeom>
          <a:noFill/>
        </p:spPr>
        <p:txBody>
          <a:bodyPr wrap="square" lIns="18288" rIns="18288" tIns="9144" bIns="9144" anchor="t">
            <a:spAutoFit/>
          </a:bodyPr>
          <a:lstStyle/>
          <a:p>
            <a:pPr algn="l"/>
            <a:r>
              <a:rPr sz="3300" b="1" i="0">
                <a:solidFill>
                  <a:srgbClr val="12263A"/>
                </a:solidFill>
                <a:latin typeface="Cambria"/>
              </a:rPr>
              <a:t>KPI Classes and the Recovery Decision Each One Drives</a:t>
            </a:r>
          </a:p>
        </p:txBody>
      </p:sp>
      <p:sp>
        <p:nvSpPr>
          <p:cNvPr id="6" name="Rounded Rectangle 5"/>
          <p:cNvSpPr/>
          <p:nvPr/>
        </p:nvSpPr>
        <p:spPr>
          <a:xfrm>
            <a:off x="566928" y="1060704"/>
            <a:ext cx="11045952" cy="438912"/>
          </a:xfrm>
          <a:prstGeom prst="roundRect">
            <a:avLst>
              <a:gd name="adj" fmla="val 8000"/>
            </a:avLst>
          </a:prstGeom>
          <a:solidFill>
            <a:srgbClr val="EAF2F8"/>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1097280"/>
            <a:ext cx="10744200" cy="384048"/>
          </a:xfrm>
          <a:prstGeom prst="rect">
            <a:avLst/>
          </a:prstGeom>
          <a:noFill/>
        </p:spPr>
        <p:txBody>
          <a:bodyPr wrap="square" lIns="18288" rIns="18288" tIns="9144" bIns="9144" anchor="ctr">
            <a:spAutoFit/>
          </a:bodyPr>
          <a:lstStyle/>
          <a:p>
            <a:pPr algn="l"/>
            <a:r>
              <a:rPr sz="1019" b="0" i="0">
                <a:solidFill>
                  <a:srgbClr val="5B6B7C"/>
                </a:solidFill>
                <a:latin typeface="Calibri"/>
              </a:rPr>
              <a:t>Classes derived from the clause order of run/decision_rule.py (base) and run/decision_rule_v3.py  |  Field legality per IEEE 1588-2019 [5] and ITU-T G.8275.1 [6]  |  Response labels as defined on the classification-method slide</a:t>
            </a:r>
          </a:p>
        </p:txBody>
      </p:sp>
      <p:sp>
        <p:nvSpPr>
          <p:cNvPr id="8" name="TextBox 7"/>
          <p:cNvSpPr txBox="1"/>
          <p:nvPr/>
        </p:nvSpPr>
        <p:spPr>
          <a:xfrm>
            <a:off x="667512" y="1664208"/>
            <a:ext cx="1828800" cy="228600"/>
          </a:xfrm>
          <a:prstGeom prst="rect">
            <a:avLst/>
          </a:prstGeom>
          <a:noFill/>
        </p:spPr>
        <p:txBody>
          <a:bodyPr wrap="square" lIns="18288" rIns="18288" tIns="9144" bIns="9144" anchor="t">
            <a:spAutoFit/>
          </a:bodyPr>
          <a:lstStyle/>
          <a:p>
            <a:pPr algn="l"/>
            <a:r>
              <a:rPr sz="1150" b="1" i="0">
                <a:solidFill>
                  <a:srgbClr val="1C7293"/>
                </a:solidFill>
                <a:latin typeface="Calibri"/>
              </a:rPr>
              <a:t>KPI CLASS</a:t>
            </a:r>
          </a:p>
        </p:txBody>
      </p:sp>
      <p:sp>
        <p:nvSpPr>
          <p:cNvPr id="9" name="TextBox 8"/>
          <p:cNvSpPr txBox="1"/>
          <p:nvPr/>
        </p:nvSpPr>
        <p:spPr>
          <a:xfrm>
            <a:off x="2560320" y="1664208"/>
            <a:ext cx="3611880" cy="228600"/>
          </a:xfrm>
          <a:prstGeom prst="rect">
            <a:avLst/>
          </a:prstGeom>
          <a:noFill/>
        </p:spPr>
        <p:txBody>
          <a:bodyPr wrap="square" lIns="18288" rIns="18288" tIns="9144" bIns="9144" anchor="t">
            <a:spAutoFit/>
          </a:bodyPr>
          <a:lstStyle/>
          <a:p>
            <a:pPr algn="l"/>
            <a:r>
              <a:rPr sz="1150" b="1" i="0">
                <a:solidFill>
                  <a:srgbClr val="1C7293"/>
                </a:solidFill>
                <a:latin typeface="Calibri"/>
              </a:rPr>
              <a:t>KPIs (FIELD, LOG OR CONTEXT-KEY NAMES)</a:t>
            </a:r>
          </a:p>
        </p:txBody>
      </p:sp>
      <p:sp>
        <p:nvSpPr>
          <p:cNvPr id="10" name="TextBox 9"/>
          <p:cNvSpPr txBox="1"/>
          <p:nvPr/>
        </p:nvSpPr>
        <p:spPr>
          <a:xfrm>
            <a:off x="6263640" y="1664208"/>
            <a:ext cx="2514600" cy="228600"/>
          </a:xfrm>
          <a:prstGeom prst="rect">
            <a:avLst/>
          </a:prstGeom>
          <a:noFill/>
        </p:spPr>
        <p:txBody>
          <a:bodyPr wrap="square" lIns="18288" rIns="18288" tIns="9144" bIns="9144" anchor="t">
            <a:spAutoFit/>
          </a:bodyPr>
          <a:lstStyle/>
          <a:p>
            <a:pPr algn="l"/>
            <a:r>
              <a:rPr sz="1150" b="1" i="0">
                <a:solidFill>
                  <a:srgbClr val="1C7293"/>
                </a:solidFill>
                <a:latin typeface="Calibri"/>
              </a:rPr>
              <a:t>WHAT IT REVEALS</a:t>
            </a:r>
          </a:p>
        </p:txBody>
      </p:sp>
      <p:sp>
        <p:nvSpPr>
          <p:cNvPr id="11" name="TextBox 10"/>
          <p:cNvSpPr txBox="1"/>
          <p:nvPr/>
        </p:nvSpPr>
        <p:spPr>
          <a:xfrm>
            <a:off x="8869680" y="1664208"/>
            <a:ext cx="2743200" cy="228600"/>
          </a:xfrm>
          <a:prstGeom prst="rect">
            <a:avLst/>
          </a:prstGeom>
          <a:noFill/>
        </p:spPr>
        <p:txBody>
          <a:bodyPr wrap="square" lIns="18288" rIns="18288" tIns="9144" bIns="9144" anchor="t">
            <a:spAutoFit/>
          </a:bodyPr>
          <a:lstStyle/>
          <a:p>
            <a:pPr algn="l"/>
            <a:r>
              <a:rPr sz="1150" b="1" i="0">
                <a:solidFill>
                  <a:srgbClr val="1C7293"/>
                </a:solidFill>
                <a:latin typeface="Calibri"/>
              </a:rPr>
              <a:t>RECOVERY DECISION</a:t>
            </a:r>
          </a:p>
        </p:txBody>
      </p:sp>
      <p:sp>
        <p:nvSpPr>
          <p:cNvPr id="12" name="Rectangle 11"/>
          <p:cNvSpPr/>
          <p:nvPr/>
        </p:nvSpPr>
        <p:spPr>
          <a:xfrm>
            <a:off x="566928" y="1938528"/>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1970532"/>
            <a:ext cx="1828800" cy="603504"/>
          </a:xfrm>
          <a:prstGeom prst="rect">
            <a:avLst/>
          </a:prstGeom>
          <a:noFill/>
        </p:spPr>
        <p:txBody>
          <a:bodyPr wrap="square" lIns="18288" rIns="18288" tIns="9144" bIns="9144" anchor="t">
            <a:spAutoFit/>
          </a:bodyPr>
          <a:lstStyle/>
          <a:p>
            <a:pPr algn="l"/>
            <a:r>
              <a:rPr sz="1300" b="1" i="0">
                <a:solidFill>
                  <a:srgbClr val="12263A"/>
                </a:solidFill>
                <a:latin typeface="Cambria"/>
              </a:rPr>
              <a:t>Protocol legality</a:t>
            </a:r>
          </a:p>
        </p:txBody>
      </p:sp>
      <p:sp>
        <p:nvSpPr>
          <p:cNvPr id="14" name="TextBox 13"/>
          <p:cNvSpPr txBox="1"/>
          <p:nvPr/>
        </p:nvSpPr>
        <p:spPr>
          <a:xfrm>
            <a:off x="2560320" y="1970532"/>
            <a:ext cx="3611880" cy="603504"/>
          </a:xfrm>
          <a:prstGeom prst="rect">
            <a:avLst/>
          </a:prstGeom>
          <a:noFill/>
        </p:spPr>
        <p:txBody>
          <a:bodyPr wrap="square" lIns="18288" rIns="18288" tIns="9144" bIns="9144" anchor="t">
            <a:spAutoFit/>
          </a:bodyPr>
          <a:lstStyle/>
          <a:p>
            <a:pPr algn="l"/>
            <a:r>
              <a:rPr sz="1050" b="0" i="0">
                <a:solidFill>
                  <a:srgbClr val="5B6B7C"/>
                </a:solidFill>
                <a:latin typeface="Calibri"/>
              </a:rPr>
              <a:t>version_ptp, message_type_raw, message_length, clock_class_legal, g87251_domain_ok, g87251_mcast_ok, g87251_priority1_ok, steps_removed ≥ 255, flag_alternateMaster</a:t>
            </a:r>
          </a:p>
        </p:txBody>
      </p:sp>
      <p:sp>
        <p:nvSpPr>
          <p:cNvPr id="15" name="TextBox 14"/>
          <p:cNvSpPr txBox="1"/>
          <p:nvPr/>
        </p:nvSpPr>
        <p:spPr>
          <a:xfrm>
            <a:off x="6263640" y="1970532"/>
            <a:ext cx="2514600" cy="603504"/>
          </a:xfrm>
          <a:prstGeom prst="rect">
            <a:avLst/>
          </a:prstGeom>
          <a:noFill/>
        </p:spPr>
        <p:txBody>
          <a:bodyPr wrap="square" lIns="18288" rIns="18288" tIns="9144" bIns="9144" anchor="t">
            <a:spAutoFit/>
          </a:bodyPr>
          <a:lstStyle/>
          <a:p>
            <a:pPr algn="l"/>
            <a:r>
              <a:rPr sz="1050" b="0" i="0">
                <a:solidFill>
                  <a:srgbClr val="5B6B7C"/>
                </a:solidFill>
                <a:latin typeface="Calibri"/>
              </a:rPr>
              <a:t>Structurally illegal traffic (C2; illegal Announce)</a:t>
            </a:r>
          </a:p>
        </p:txBody>
      </p:sp>
      <p:sp>
        <p:nvSpPr>
          <p:cNvPr id="16" name="TextBox 15"/>
          <p:cNvSpPr txBox="1"/>
          <p:nvPr/>
        </p:nvSpPr>
        <p:spPr>
          <a:xfrm>
            <a:off x="8869680" y="1970532"/>
            <a:ext cx="2743200" cy="603504"/>
          </a:xfrm>
          <a:prstGeom prst="rect">
            <a:avLst/>
          </a:prstGeom>
          <a:noFill/>
        </p:spPr>
        <p:txBody>
          <a:bodyPr wrap="square" lIns="18288" rIns="18288" tIns="9144" bIns="9144" anchor="t">
            <a:spAutoFit/>
          </a:bodyPr>
          <a:lstStyle/>
          <a:p>
            <a:pPr algn="l"/>
            <a:r>
              <a:rPr sz="1050" b="0" i="0">
                <a:solidFill>
                  <a:srgbClr val="12263A"/>
                </a:solidFill>
                <a:latin typeface="Calibri"/>
              </a:rPr>
              <a:t>ATTACK → ISOLATE source</a:t>
            </a:r>
          </a:p>
        </p:txBody>
      </p:sp>
      <p:sp>
        <p:nvSpPr>
          <p:cNvPr id="17" name="Rectangle 16"/>
          <p:cNvSpPr/>
          <p:nvPr/>
        </p:nvSpPr>
        <p:spPr>
          <a:xfrm>
            <a:off x="566928" y="2574036"/>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606040"/>
            <a:ext cx="1828800" cy="457200"/>
          </a:xfrm>
          <a:prstGeom prst="rect">
            <a:avLst/>
          </a:prstGeom>
          <a:noFill/>
        </p:spPr>
        <p:txBody>
          <a:bodyPr wrap="square" lIns="18288" rIns="18288" tIns="9144" bIns="9144" anchor="t">
            <a:spAutoFit/>
          </a:bodyPr>
          <a:lstStyle/>
          <a:p>
            <a:pPr algn="l"/>
            <a:r>
              <a:rPr sz="1300" b="1" i="0">
                <a:solidFill>
                  <a:srgbClr val="12263A"/>
                </a:solidFill>
                <a:latin typeface="Cambria"/>
              </a:rPr>
              <a:t>Identity and topology</a:t>
            </a:r>
          </a:p>
        </p:txBody>
      </p:sp>
      <p:sp>
        <p:nvSpPr>
          <p:cNvPr id="19" name="TextBox 18"/>
          <p:cNvSpPr txBox="1"/>
          <p:nvPr/>
        </p:nvSpPr>
        <p:spPr>
          <a:xfrm>
            <a:off x="2560320" y="2606040"/>
            <a:ext cx="3611880" cy="457200"/>
          </a:xfrm>
          <a:prstGeom prst="rect">
            <a:avLst/>
          </a:prstGeom>
          <a:noFill/>
        </p:spPr>
        <p:txBody>
          <a:bodyPr wrap="square" lIns="18288" rIns="18288" tIns="9144" bIns="9144" anchor="t">
            <a:spAutoFit/>
          </a:bodyPr>
          <a:lstStyle/>
          <a:p>
            <a:pPr algn="l"/>
            <a:r>
              <a:rPr sz="1050" b="0" i="0">
                <a:solidFill>
                  <a:srgbClr val="5B6B7C"/>
                </a:solidFill>
                <a:latin typeface="Calibri"/>
              </a:rPr>
              <a:t>source_clock_identity, gm_clock_identity, gm_priority2, gm_clock_class, steps_removed vs provisioned inventory</a:t>
            </a:r>
          </a:p>
        </p:txBody>
      </p:sp>
      <p:sp>
        <p:nvSpPr>
          <p:cNvPr id="20" name="TextBox 19"/>
          <p:cNvSpPr txBox="1"/>
          <p:nvPr/>
        </p:nvSpPr>
        <p:spPr>
          <a:xfrm>
            <a:off x="6263640" y="2606040"/>
            <a:ext cx="2514600" cy="457200"/>
          </a:xfrm>
          <a:prstGeom prst="rect">
            <a:avLst/>
          </a:prstGeom>
          <a:noFill/>
        </p:spPr>
        <p:txBody>
          <a:bodyPr wrap="square" lIns="18288" rIns="18288" tIns="9144" bIns="9144" anchor="t">
            <a:spAutoFit/>
          </a:bodyPr>
          <a:lstStyle/>
          <a:p>
            <a:pPr algn="l"/>
            <a:r>
              <a:rPr sz="1050" b="0" i="0">
                <a:solidFill>
                  <a:srgbClr val="5B6B7C"/>
                </a:solidFill>
                <a:latin typeface="Calibri"/>
              </a:rPr>
              <a:t>Rogue GM (A1), rogue BC (A8), unknown sender (A2)</a:t>
            </a:r>
          </a:p>
        </p:txBody>
      </p:sp>
      <p:sp>
        <p:nvSpPr>
          <p:cNvPr id="21" name="TextBox 20"/>
          <p:cNvSpPr txBox="1"/>
          <p:nvPr/>
        </p:nvSpPr>
        <p:spPr>
          <a:xfrm>
            <a:off x="8869680" y="2606040"/>
            <a:ext cx="2743200" cy="457200"/>
          </a:xfrm>
          <a:prstGeom prst="rect">
            <a:avLst/>
          </a:prstGeom>
          <a:noFill/>
        </p:spPr>
        <p:txBody>
          <a:bodyPr wrap="square" lIns="18288" rIns="18288" tIns="9144" bIns="9144" anchor="t">
            <a:spAutoFit/>
          </a:bodyPr>
          <a:lstStyle/>
          <a:p>
            <a:pPr algn="l"/>
            <a:r>
              <a:rPr sz="1050" b="0" i="0">
                <a:solidFill>
                  <a:srgbClr val="12263A"/>
                </a:solidFill>
                <a:latin typeface="Calibri"/>
              </a:rPr>
              <a:t>ATTACK → ISOLATE source</a:t>
            </a:r>
          </a:p>
        </p:txBody>
      </p:sp>
      <p:sp>
        <p:nvSpPr>
          <p:cNvPr id="22" name="Rectangle 21"/>
          <p:cNvSpPr/>
          <p:nvPr/>
        </p:nvSpPr>
        <p:spPr>
          <a:xfrm>
            <a:off x="566928" y="3063240"/>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3095244"/>
            <a:ext cx="1828800" cy="457200"/>
          </a:xfrm>
          <a:prstGeom prst="rect">
            <a:avLst/>
          </a:prstGeom>
          <a:noFill/>
        </p:spPr>
        <p:txBody>
          <a:bodyPr wrap="square" lIns="18288" rIns="18288" tIns="9144" bIns="9144" anchor="t">
            <a:spAutoFit/>
          </a:bodyPr>
          <a:lstStyle/>
          <a:p>
            <a:pPr algn="l"/>
            <a:r>
              <a:rPr sz="1300" b="1" i="0">
                <a:solidFill>
                  <a:srgbClr val="12263A"/>
                </a:solidFill>
                <a:latin typeface="Cambria"/>
              </a:rPr>
              <a:t>Continuity and rate</a:t>
            </a:r>
          </a:p>
        </p:txBody>
      </p:sp>
      <p:sp>
        <p:nvSpPr>
          <p:cNvPr id="24" name="TextBox 23"/>
          <p:cNvSpPr txBox="1"/>
          <p:nvPr/>
        </p:nvSpPr>
        <p:spPr>
          <a:xfrm>
            <a:off x="2560320" y="3095244"/>
            <a:ext cx="3611880" cy="457200"/>
          </a:xfrm>
          <a:prstGeom prst="rect">
            <a:avLst/>
          </a:prstGeom>
          <a:noFill/>
        </p:spPr>
        <p:txBody>
          <a:bodyPr wrap="square" lIns="18288" rIns="18288" tIns="9144" bIns="9144" anchor="t">
            <a:spAutoFit/>
          </a:bodyPr>
          <a:lstStyle/>
          <a:p>
            <a:pPr algn="l"/>
            <a:r>
              <a:rPr sz="1050" b="0" i="0">
                <a:solidFill>
                  <a:srgbClr val="5B6B7C"/>
                </a:solidFill>
                <a:latin typeface="Calibri"/>
              </a:rPr>
              <a:t>sequence_id regressions; delivered message rate vs the rate declared in log_message_interval</a:t>
            </a:r>
          </a:p>
        </p:txBody>
      </p:sp>
      <p:sp>
        <p:nvSpPr>
          <p:cNvPr id="25" name="TextBox 24"/>
          <p:cNvSpPr txBox="1"/>
          <p:nvPr/>
        </p:nvSpPr>
        <p:spPr>
          <a:xfrm>
            <a:off x="6263640" y="3095244"/>
            <a:ext cx="2514600" cy="457200"/>
          </a:xfrm>
          <a:prstGeom prst="rect">
            <a:avLst/>
          </a:prstGeom>
          <a:noFill/>
        </p:spPr>
        <p:txBody>
          <a:bodyPr wrap="square" lIns="18288" rIns="18288" tIns="9144" bIns="9144" anchor="t">
            <a:spAutoFit/>
          </a:bodyPr>
          <a:lstStyle/>
          <a:p>
            <a:pPr algn="l"/>
            <a:r>
              <a:rPr sz="1050" b="0" i="0">
                <a:solidFill>
                  <a:srgbClr val="5B6B7C"/>
                </a:solidFill>
                <a:latin typeface="Calibri"/>
              </a:rPr>
              <a:t>Replay (A3), flooding (A5), removal (C1)</a:t>
            </a:r>
          </a:p>
        </p:txBody>
      </p:sp>
      <p:sp>
        <p:nvSpPr>
          <p:cNvPr id="26" name="TextBox 25"/>
          <p:cNvSpPr txBox="1"/>
          <p:nvPr/>
        </p:nvSpPr>
        <p:spPr>
          <a:xfrm>
            <a:off x="8869680" y="3095244"/>
            <a:ext cx="2743200" cy="457200"/>
          </a:xfrm>
          <a:prstGeom prst="rect">
            <a:avLst/>
          </a:prstGeom>
          <a:noFill/>
        </p:spPr>
        <p:txBody>
          <a:bodyPr wrap="square" lIns="18288" rIns="18288" tIns="9144" bIns="9144" anchor="t">
            <a:spAutoFit/>
          </a:bodyPr>
          <a:lstStyle/>
          <a:p>
            <a:pPr algn="l"/>
            <a:r>
              <a:rPr sz="1050" b="0" i="0">
                <a:solidFill>
                  <a:srgbClr val="12263A"/>
                </a:solidFill>
                <a:latin typeface="Calibri"/>
              </a:rPr>
              <a:t>ATTACK → ISOLATE source</a:t>
            </a:r>
          </a:p>
        </p:txBody>
      </p:sp>
      <p:sp>
        <p:nvSpPr>
          <p:cNvPr id="27" name="Rectangle 26"/>
          <p:cNvSpPr/>
          <p:nvPr/>
        </p:nvSpPr>
        <p:spPr>
          <a:xfrm>
            <a:off x="566928" y="3552444"/>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 y="3584448"/>
            <a:ext cx="1828800" cy="457200"/>
          </a:xfrm>
          <a:prstGeom prst="rect">
            <a:avLst/>
          </a:prstGeom>
          <a:noFill/>
        </p:spPr>
        <p:txBody>
          <a:bodyPr wrap="square" lIns="18288" rIns="18288" tIns="9144" bIns="9144" anchor="t">
            <a:spAutoFit/>
          </a:bodyPr>
          <a:lstStyle/>
          <a:p>
            <a:pPr algn="l"/>
            <a:r>
              <a:rPr sz="1300" b="1" i="0">
                <a:solidFill>
                  <a:srgbClr val="12263A"/>
                </a:solidFill>
                <a:latin typeface="Cambria"/>
              </a:rPr>
              <a:t>Time properties</a:t>
            </a:r>
          </a:p>
        </p:txBody>
      </p:sp>
      <p:sp>
        <p:nvSpPr>
          <p:cNvPr id="29" name="TextBox 28"/>
          <p:cNvSpPr txBox="1"/>
          <p:nvPr/>
        </p:nvSpPr>
        <p:spPr>
          <a:xfrm>
            <a:off x="2560320" y="3584448"/>
            <a:ext cx="3611880" cy="457200"/>
          </a:xfrm>
          <a:prstGeom prst="rect">
            <a:avLst/>
          </a:prstGeom>
          <a:noFill/>
        </p:spPr>
        <p:txBody>
          <a:bodyPr wrap="square" lIns="18288" rIns="18288" tIns="9144" bIns="9144" anchor="t">
            <a:spAutoFit/>
          </a:bodyPr>
          <a:lstStyle/>
          <a:p>
            <a:pPr algn="l"/>
            <a:r>
              <a:rPr sz="1050" b="0" i="0">
                <a:solidFill>
                  <a:srgbClr val="5B6B7C"/>
                </a:solidFill>
                <a:latin typeface="Calibri"/>
              </a:rPr>
              <a:t>flag_leap61 / leap59, current_utc_offset, flag_currentUtcOffsetValid, flag_timeTraceable</a:t>
            </a:r>
          </a:p>
        </p:txBody>
      </p:sp>
      <p:sp>
        <p:nvSpPr>
          <p:cNvPr id="30" name="TextBox 29"/>
          <p:cNvSpPr txBox="1"/>
          <p:nvPr/>
        </p:nvSpPr>
        <p:spPr>
          <a:xfrm>
            <a:off x="6263640" y="3584448"/>
            <a:ext cx="2514600" cy="457200"/>
          </a:xfrm>
          <a:prstGeom prst="rect">
            <a:avLst/>
          </a:prstGeom>
          <a:noFill/>
        </p:spPr>
        <p:txBody>
          <a:bodyPr wrap="square" lIns="18288" rIns="18288" tIns="9144" bIns="9144" anchor="t">
            <a:spAutoFit/>
          </a:bodyPr>
          <a:lstStyle/>
          <a:p>
            <a:pPr algn="l"/>
            <a:r>
              <a:rPr sz="1050" b="0" i="0">
                <a:solidFill>
                  <a:srgbClr val="5B6B7C"/>
                </a:solidFill>
                <a:latin typeface="Calibri"/>
              </a:rPr>
              <a:t>Whole-second abuse (C3)</a:t>
            </a:r>
          </a:p>
        </p:txBody>
      </p:sp>
      <p:sp>
        <p:nvSpPr>
          <p:cNvPr id="31" name="TextBox 30"/>
          <p:cNvSpPr txBox="1"/>
          <p:nvPr/>
        </p:nvSpPr>
        <p:spPr>
          <a:xfrm>
            <a:off x="8869680" y="3584448"/>
            <a:ext cx="2743200" cy="457200"/>
          </a:xfrm>
          <a:prstGeom prst="rect">
            <a:avLst/>
          </a:prstGeom>
          <a:noFill/>
        </p:spPr>
        <p:txBody>
          <a:bodyPr wrap="square" lIns="18288" rIns="18288" tIns="9144" bIns="9144" anchor="t">
            <a:spAutoFit/>
          </a:bodyPr>
          <a:lstStyle/>
          <a:p>
            <a:pPr algn="l"/>
            <a:r>
              <a:rPr sz="1050" b="0" i="0">
                <a:solidFill>
                  <a:srgbClr val="12263A"/>
                </a:solidFill>
                <a:latin typeface="Calibri"/>
              </a:rPr>
              <a:t>ATTACK → ISOLATE source</a:t>
            </a:r>
          </a:p>
        </p:txBody>
      </p:sp>
      <p:sp>
        <p:nvSpPr>
          <p:cNvPr id="32" name="Rectangle 31"/>
          <p:cNvSpPr/>
          <p:nvPr/>
        </p:nvSpPr>
        <p:spPr>
          <a:xfrm>
            <a:off x="566928" y="4041648"/>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512" y="4073652"/>
            <a:ext cx="1828800" cy="457200"/>
          </a:xfrm>
          <a:prstGeom prst="rect">
            <a:avLst/>
          </a:prstGeom>
          <a:noFill/>
        </p:spPr>
        <p:txBody>
          <a:bodyPr wrap="square" lIns="18288" rIns="18288" tIns="9144" bIns="9144" anchor="t">
            <a:spAutoFit/>
          </a:bodyPr>
          <a:lstStyle/>
          <a:p>
            <a:pPr algn="l"/>
            <a:r>
              <a:rPr sz="1300" b="1" i="0">
                <a:solidFill>
                  <a:srgbClr val="12263A"/>
                </a:solidFill>
                <a:latin typeface="Cambria"/>
              </a:rPr>
              <a:t>Operator context</a:t>
            </a:r>
          </a:p>
        </p:txBody>
      </p:sp>
      <p:sp>
        <p:nvSpPr>
          <p:cNvPr id="34" name="TextBox 33"/>
          <p:cNvSpPr txBox="1"/>
          <p:nvPr/>
        </p:nvSpPr>
        <p:spPr>
          <a:xfrm>
            <a:off x="2560320" y="4073652"/>
            <a:ext cx="3611880" cy="457200"/>
          </a:xfrm>
          <a:prstGeom prst="rect">
            <a:avLst/>
          </a:prstGeom>
          <a:noFill/>
        </p:spPr>
        <p:txBody>
          <a:bodyPr wrap="square" lIns="18288" rIns="18288" tIns="9144" bIns="9144" anchor="t">
            <a:spAutoFit/>
          </a:bodyPr>
          <a:lstStyle/>
          <a:p>
            <a:pPr algn="l"/>
            <a:r>
              <a:rPr sz="1050" b="0" i="0">
                <a:solidFill>
                  <a:srgbClr val="5B6B7C"/>
                </a:solidFill>
                <a:latin typeface="Calibri"/>
              </a:rPr>
              <a:t>context.json: gm_allowlist, expected_bc_identity, maintenance_window_open</a:t>
            </a:r>
          </a:p>
        </p:txBody>
      </p:sp>
      <p:sp>
        <p:nvSpPr>
          <p:cNvPr id="35" name="TextBox 34"/>
          <p:cNvSpPr txBox="1"/>
          <p:nvPr/>
        </p:nvSpPr>
        <p:spPr>
          <a:xfrm>
            <a:off x="6263640" y="4073652"/>
            <a:ext cx="2514600" cy="457200"/>
          </a:xfrm>
          <a:prstGeom prst="rect">
            <a:avLst/>
          </a:prstGeom>
          <a:noFill/>
        </p:spPr>
        <p:txBody>
          <a:bodyPr wrap="square" lIns="18288" rIns="18288" tIns="9144" bIns="9144" anchor="t">
            <a:spAutoFit/>
          </a:bodyPr>
          <a:lstStyle/>
          <a:p>
            <a:pPr algn="l"/>
            <a:r>
              <a:rPr sz="1050" b="0" i="0">
                <a:solidFill>
                  <a:srgbClr val="5B6B7C"/>
                </a:solidFill>
                <a:latin typeface="Calibri"/>
              </a:rPr>
              <a:t>Planned vs unplanned change (B2, B7, B_unplanned)</a:t>
            </a:r>
          </a:p>
        </p:txBody>
      </p:sp>
      <p:sp>
        <p:nvSpPr>
          <p:cNvPr id="36" name="TextBox 35"/>
          <p:cNvSpPr txBox="1"/>
          <p:nvPr/>
        </p:nvSpPr>
        <p:spPr>
          <a:xfrm>
            <a:off x="8869680" y="4073652"/>
            <a:ext cx="2743200" cy="457200"/>
          </a:xfrm>
          <a:prstGeom prst="rect">
            <a:avLst/>
          </a:prstGeom>
          <a:noFill/>
        </p:spPr>
        <p:txBody>
          <a:bodyPr wrap="square" lIns="18288" rIns="18288" tIns="9144" bIns="9144" anchor="t">
            <a:spAutoFit/>
          </a:bodyPr>
          <a:lstStyle/>
          <a:p>
            <a:pPr algn="l"/>
            <a:r>
              <a:rPr sz="1050" b="0" i="0">
                <a:solidFill>
                  <a:srgbClr val="12263A"/>
                </a:solidFill>
                <a:latin typeface="Calibri"/>
              </a:rPr>
              <a:t>BENIGN → TOLERATE / HOLDOVER · UNKNOWN → ESCALATE</a:t>
            </a:r>
          </a:p>
        </p:txBody>
      </p:sp>
      <p:sp>
        <p:nvSpPr>
          <p:cNvPr id="37" name="Rectangle 36"/>
          <p:cNvSpPr/>
          <p:nvPr/>
        </p:nvSpPr>
        <p:spPr>
          <a:xfrm>
            <a:off x="566928" y="4530852"/>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7512" y="4562856"/>
            <a:ext cx="1828800" cy="411480"/>
          </a:xfrm>
          <a:prstGeom prst="rect">
            <a:avLst/>
          </a:prstGeom>
          <a:noFill/>
        </p:spPr>
        <p:txBody>
          <a:bodyPr wrap="square" lIns="18288" rIns="18288" tIns="9144" bIns="9144" anchor="t">
            <a:spAutoFit/>
          </a:bodyPr>
          <a:lstStyle/>
          <a:p>
            <a:pPr algn="l"/>
            <a:r>
              <a:rPr sz="1300" b="1" i="0">
                <a:solidFill>
                  <a:srgbClr val="12263A"/>
                </a:solidFill>
                <a:latin typeface="Cambria"/>
              </a:rPr>
              <a:t>Timing quality</a:t>
            </a:r>
          </a:p>
        </p:txBody>
      </p:sp>
      <p:sp>
        <p:nvSpPr>
          <p:cNvPr id="39" name="TextBox 38"/>
          <p:cNvSpPr txBox="1"/>
          <p:nvPr/>
        </p:nvSpPr>
        <p:spPr>
          <a:xfrm>
            <a:off x="2560320" y="4562856"/>
            <a:ext cx="3611880" cy="411480"/>
          </a:xfrm>
          <a:prstGeom prst="rect">
            <a:avLst/>
          </a:prstGeom>
          <a:noFill/>
        </p:spPr>
        <p:txBody>
          <a:bodyPr wrap="square" lIns="18288" rIns="18288" tIns="9144" bIns="9144" anchor="t">
            <a:spAutoFit/>
          </a:bodyPr>
          <a:lstStyle/>
          <a:p>
            <a:pPr algn="l"/>
            <a:r>
              <a:rPr sz="1050" b="0" i="0">
                <a:solidFill>
                  <a:srgbClr val="5B6B7C"/>
                </a:solidFill>
                <a:latin typeface="Calibri"/>
              </a:rPr>
              <a:t>ptp4l servo log: master offset, path delay; derived offset_std, pdv_std</a:t>
            </a:r>
          </a:p>
        </p:txBody>
      </p:sp>
      <p:sp>
        <p:nvSpPr>
          <p:cNvPr id="40" name="TextBox 39"/>
          <p:cNvSpPr txBox="1"/>
          <p:nvPr/>
        </p:nvSpPr>
        <p:spPr>
          <a:xfrm>
            <a:off x="6263640" y="4562856"/>
            <a:ext cx="2514600" cy="411480"/>
          </a:xfrm>
          <a:prstGeom prst="rect">
            <a:avLst/>
          </a:prstGeom>
          <a:noFill/>
        </p:spPr>
        <p:txBody>
          <a:bodyPr wrap="square" lIns="18288" rIns="18288" tIns="9144" bIns="9144" anchor="t">
            <a:spAutoFit/>
          </a:bodyPr>
          <a:lstStyle/>
          <a:p>
            <a:pPr algn="l"/>
            <a:r>
              <a:rPr sz="1050" b="0" i="0">
                <a:solidFill>
                  <a:srgbClr val="5B6B7C"/>
                </a:solidFill>
                <a:latin typeface="Calibri"/>
              </a:rPr>
              <a:t>Degradation magnitude; not used for the verdict</a:t>
            </a:r>
          </a:p>
        </p:txBody>
      </p:sp>
      <p:sp>
        <p:nvSpPr>
          <p:cNvPr id="41" name="TextBox 40"/>
          <p:cNvSpPr txBox="1"/>
          <p:nvPr/>
        </p:nvSpPr>
        <p:spPr>
          <a:xfrm>
            <a:off x="8869680" y="4562856"/>
            <a:ext cx="2743200" cy="411480"/>
          </a:xfrm>
          <a:prstGeom prst="rect">
            <a:avLst/>
          </a:prstGeom>
          <a:noFill/>
        </p:spPr>
        <p:txBody>
          <a:bodyPr wrap="square" lIns="18288" rIns="18288" tIns="9144" bIns="9144" anchor="t">
            <a:spAutoFit/>
          </a:bodyPr>
          <a:lstStyle/>
          <a:p>
            <a:pPr algn="l"/>
            <a:r>
              <a:rPr sz="1050" b="0" i="0">
                <a:solidFill>
                  <a:srgbClr val="12263A"/>
                </a:solidFill>
                <a:latin typeface="Calibri"/>
              </a:rPr>
              <a:t>Severity input only</a:t>
            </a:r>
          </a:p>
        </p:txBody>
      </p:sp>
      <p:sp>
        <p:nvSpPr>
          <p:cNvPr id="42" name="Rectangle 41"/>
          <p:cNvSpPr/>
          <p:nvPr/>
        </p:nvSpPr>
        <p:spPr>
          <a:xfrm>
            <a:off x="566928" y="4974336"/>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7512" y="5006340"/>
            <a:ext cx="1828800" cy="365760"/>
          </a:xfrm>
          <a:prstGeom prst="rect">
            <a:avLst/>
          </a:prstGeom>
          <a:noFill/>
        </p:spPr>
        <p:txBody>
          <a:bodyPr wrap="square" lIns="18288" rIns="18288" tIns="9144" bIns="9144" anchor="t">
            <a:spAutoFit/>
          </a:bodyPr>
          <a:lstStyle/>
          <a:p>
            <a:pPr algn="l"/>
            <a:r>
              <a:rPr sz="1300" b="1" i="0">
                <a:solidFill>
                  <a:srgbClr val="12263A"/>
                </a:solidFill>
                <a:latin typeface="Cambria"/>
              </a:rPr>
              <a:t>Not observable here</a:t>
            </a:r>
          </a:p>
        </p:txBody>
      </p:sp>
      <p:sp>
        <p:nvSpPr>
          <p:cNvPr id="44" name="TextBox 43"/>
          <p:cNvSpPr txBox="1"/>
          <p:nvPr/>
        </p:nvSpPr>
        <p:spPr>
          <a:xfrm>
            <a:off x="2560320" y="5006340"/>
            <a:ext cx="3611880" cy="365760"/>
          </a:xfrm>
          <a:prstGeom prst="rect">
            <a:avLst/>
          </a:prstGeom>
          <a:noFill/>
        </p:spPr>
        <p:txBody>
          <a:bodyPr wrap="square" lIns="18288" rIns="18288" tIns="9144" bIns="9144" anchor="t">
            <a:spAutoFit/>
          </a:bodyPr>
          <a:lstStyle/>
          <a:p>
            <a:pPr algn="l"/>
            <a:r>
              <a:rPr sz="1050" b="0" i="0">
                <a:solidFill>
                  <a:srgbClr val="5B6B7C"/>
                </a:solidFill>
                <a:latin typeface="Calibri"/>
              </a:rPr>
              <a:t>GNSS status, SyncE quality level, oscillator error</a:t>
            </a:r>
          </a:p>
        </p:txBody>
      </p:sp>
      <p:sp>
        <p:nvSpPr>
          <p:cNvPr id="45" name="TextBox 44"/>
          <p:cNvSpPr txBox="1"/>
          <p:nvPr/>
        </p:nvSpPr>
        <p:spPr>
          <a:xfrm>
            <a:off x="6263640" y="5006340"/>
            <a:ext cx="2514600" cy="365760"/>
          </a:xfrm>
          <a:prstGeom prst="rect">
            <a:avLst/>
          </a:prstGeom>
          <a:noFill/>
        </p:spPr>
        <p:txBody>
          <a:bodyPr wrap="square" lIns="18288" rIns="18288" tIns="9144" bIns="9144" anchor="t">
            <a:spAutoFit/>
          </a:bodyPr>
          <a:lstStyle/>
          <a:p>
            <a:pPr algn="l"/>
            <a:r>
              <a:rPr sz="1050" b="0" i="0">
                <a:solidFill>
                  <a:srgbClr val="5B6B7C"/>
                </a:solidFill>
                <a:latin typeface="Calibri"/>
              </a:rPr>
              <a:t>Needed for A6, A7, B1, B4, B6</a:t>
            </a:r>
          </a:p>
        </p:txBody>
      </p:sp>
      <p:sp>
        <p:nvSpPr>
          <p:cNvPr id="46" name="TextBox 45"/>
          <p:cNvSpPr txBox="1"/>
          <p:nvPr/>
        </p:nvSpPr>
        <p:spPr>
          <a:xfrm>
            <a:off x="8869680" y="5006340"/>
            <a:ext cx="2743200" cy="365760"/>
          </a:xfrm>
          <a:prstGeom prst="rect">
            <a:avLst/>
          </a:prstGeom>
          <a:noFill/>
        </p:spPr>
        <p:txBody>
          <a:bodyPr wrap="square" lIns="18288" rIns="18288" tIns="9144" bIns="9144" anchor="t">
            <a:spAutoFit/>
          </a:bodyPr>
          <a:lstStyle/>
          <a:p>
            <a:pPr algn="l"/>
            <a:r>
              <a:rPr sz="1050" b="0" i="0">
                <a:solidFill>
                  <a:srgbClr val="12263A"/>
                </a:solidFill>
                <a:latin typeface="Calibri"/>
              </a:rPr>
              <a:t>Requires hardware</a:t>
            </a:r>
          </a:p>
        </p:txBody>
      </p:sp>
      <p:sp>
        <p:nvSpPr>
          <p:cNvPr id="47" name="Rectangle 46"/>
          <p:cNvSpPr/>
          <p:nvPr/>
        </p:nvSpPr>
        <p:spPr>
          <a:xfrm>
            <a:off x="566928" y="5372100"/>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566928" y="5852160"/>
            <a:ext cx="11045952" cy="731520"/>
          </a:xfrm>
          <a:prstGeom prst="roundRect">
            <a:avLst>
              <a:gd name="adj" fmla="val 8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7240" y="5925312"/>
            <a:ext cx="2103120" cy="585216"/>
          </a:xfrm>
          <a:prstGeom prst="rect">
            <a:avLst/>
          </a:prstGeom>
          <a:noFill/>
        </p:spPr>
        <p:txBody>
          <a:bodyPr wrap="square" lIns="18288" rIns="18288" tIns="9144" bIns="9144" anchor="ctr">
            <a:spAutoFit/>
          </a:bodyPr>
          <a:lstStyle/>
          <a:p>
            <a:pPr algn="l"/>
            <a:r>
              <a:rPr sz="1200" b="1" i="0">
                <a:solidFill>
                  <a:srgbClr val="18B89A"/>
                </a:solidFill>
                <a:latin typeface="Calibri"/>
              </a:rPr>
              <a:t>READING ORDER</a:t>
            </a:r>
          </a:p>
        </p:txBody>
      </p:sp>
      <p:sp>
        <p:nvSpPr>
          <p:cNvPr id="50" name="TextBox 49"/>
          <p:cNvSpPr txBox="1"/>
          <p:nvPr/>
        </p:nvSpPr>
        <p:spPr>
          <a:xfrm>
            <a:off x="2834640" y="5907024"/>
            <a:ext cx="8595360" cy="621792"/>
          </a:xfrm>
          <a:prstGeom prst="rect">
            <a:avLst/>
          </a:prstGeom>
          <a:noFill/>
        </p:spPr>
        <p:txBody>
          <a:bodyPr wrap="square" lIns="18288" rIns="18288" tIns="9144" bIns="9144" anchor="ctr">
            <a:spAutoFit/>
          </a:bodyPr>
          <a:lstStyle/>
          <a:p>
            <a:pPr algn="l"/>
            <a:r>
              <a:rPr sz="1180" b="1" i="0">
                <a:solidFill>
                  <a:srgbClr val="FFFFFF"/>
                </a:solidFill>
                <a:latin typeface="Calibri"/>
              </a:rPr>
              <a:t>Legality, identity, continuity and time-property KPIs decide ATTACK; context separates planned from unplanned changes; timing quality grades severity. Actions are recommended, not executed, in the campaign.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8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10312"/>
            <a:ext cx="11045952" cy="228600"/>
          </a:xfrm>
          <a:prstGeom prst="rect">
            <a:avLst/>
          </a:prstGeom>
          <a:noFill/>
        </p:spPr>
        <p:txBody>
          <a:bodyPr wrap="square" lIns="18288" rIns="18288" tIns="9144" bIns="9144" anchor="t">
            <a:spAutoFit/>
          </a:bodyPr>
          <a:lstStyle/>
          <a:p>
            <a:pPr algn="l"/>
            <a:r>
              <a:rPr sz="1280" b="1" i="0">
                <a:solidFill>
                  <a:srgbClr val="1C7293"/>
                </a:solidFill>
                <a:latin typeface="Calibri"/>
              </a:rPr>
              <a:t>DATASET PROVENANCE</a:t>
            </a:r>
          </a:p>
        </p:txBody>
      </p:sp>
      <p:sp>
        <p:nvSpPr>
          <p:cNvPr id="5" name="TextBox 4"/>
          <p:cNvSpPr txBox="1"/>
          <p:nvPr/>
        </p:nvSpPr>
        <p:spPr>
          <a:xfrm>
            <a:off x="566928" y="448056"/>
            <a:ext cx="11045952" cy="548640"/>
          </a:xfrm>
          <a:prstGeom prst="rect">
            <a:avLst/>
          </a:prstGeom>
          <a:noFill/>
        </p:spPr>
        <p:txBody>
          <a:bodyPr wrap="square" lIns="18288" rIns="18288" tIns="9144" bIns="9144" anchor="t">
            <a:spAutoFit/>
          </a:bodyPr>
          <a:lstStyle/>
          <a:p>
            <a:pPr algn="l"/>
            <a:r>
              <a:rPr sz="3300" b="1" i="0">
                <a:solidFill>
                  <a:srgbClr val="12263A"/>
                </a:solidFill>
                <a:latin typeface="Cambria"/>
              </a:rPr>
              <a:t>Where Every Dataset Came From and How It Is Used</a:t>
            </a:r>
          </a:p>
        </p:txBody>
      </p:sp>
      <p:sp>
        <p:nvSpPr>
          <p:cNvPr id="6" name="Rounded Rectangle 5"/>
          <p:cNvSpPr/>
          <p:nvPr/>
        </p:nvSpPr>
        <p:spPr>
          <a:xfrm>
            <a:off x="566928" y="1060704"/>
            <a:ext cx="11045952" cy="438912"/>
          </a:xfrm>
          <a:prstGeom prst="roundRect">
            <a:avLst>
              <a:gd name="adj" fmla="val 8000"/>
            </a:avLst>
          </a:prstGeom>
          <a:solidFill>
            <a:srgbClr val="EAF2F8"/>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1097280"/>
            <a:ext cx="10744200" cy="384048"/>
          </a:xfrm>
          <a:prstGeom prst="rect">
            <a:avLst/>
          </a:prstGeom>
          <a:noFill/>
        </p:spPr>
        <p:txBody>
          <a:bodyPr wrap="square" lIns="18288" rIns="18288" tIns="9144" bIns="9144" anchor="ctr">
            <a:spAutoFit/>
          </a:bodyPr>
          <a:lstStyle/>
          <a:p>
            <a:pPr algn="l"/>
            <a:r>
              <a:rPr sz="1019" b="0" i="0">
                <a:solidFill>
                  <a:srgbClr val="5B6B7C"/>
                </a:solidFill>
                <a:latin typeface="Calibri"/>
              </a:rPr>
              <a:t>dataset/README.md (classification of 16 Sep)  |  TIMESAFE data repository github.com/genesys-neu/s-plane_security [10]  |  outputs/empirical_software_network_pilot_v1/START_HERE_FINAL.md</a:t>
            </a:r>
          </a:p>
        </p:txBody>
      </p:sp>
      <p:sp>
        <p:nvSpPr>
          <p:cNvPr id="8" name="TextBox 7"/>
          <p:cNvSpPr txBox="1"/>
          <p:nvPr/>
        </p:nvSpPr>
        <p:spPr>
          <a:xfrm>
            <a:off x="667512" y="1664208"/>
            <a:ext cx="2148840" cy="228600"/>
          </a:xfrm>
          <a:prstGeom prst="rect">
            <a:avLst/>
          </a:prstGeom>
          <a:noFill/>
        </p:spPr>
        <p:txBody>
          <a:bodyPr wrap="square" lIns="18288" rIns="18288" tIns="9144" bIns="9144" anchor="t">
            <a:spAutoFit/>
          </a:bodyPr>
          <a:lstStyle/>
          <a:p>
            <a:pPr algn="l"/>
            <a:r>
              <a:rPr sz="1150" b="1" i="0">
                <a:solidFill>
                  <a:srgbClr val="1C7293"/>
                </a:solidFill>
                <a:latin typeface="Calibri"/>
              </a:rPr>
              <a:t>DATASET</a:t>
            </a:r>
          </a:p>
        </p:txBody>
      </p:sp>
      <p:sp>
        <p:nvSpPr>
          <p:cNvPr id="9" name="TextBox 8"/>
          <p:cNvSpPr txBox="1"/>
          <p:nvPr/>
        </p:nvSpPr>
        <p:spPr>
          <a:xfrm>
            <a:off x="2880360" y="1664208"/>
            <a:ext cx="3703320" cy="228600"/>
          </a:xfrm>
          <a:prstGeom prst="rect">
            <a:avLst/>
          </a:prstGeom>
          <a:noFill/>
        </p:spPr>
        <p:txBody>
          <a:bodyPr wrap="square" lIns="18288" rIns="18288" tIns="9144" bIns="9144" anchor="t">
            <a:spAutoFit/>
          </a:bodyPr>
          <a:lstStyle/>
          <a:p>
            <a:pPr algn="l"/>
            <a:r>
              <a:rPr sz="1150" b="1" i="0">
                <a:solidFill>
                  <a:srgbClr val="1C7293"/>
                </a:solidFill>
                <a:latin typeface="Calibri"/>
              </a:rPr>
              <a:t>ORIGIN</a:t>
            </a:r>
          </a:p>
        </p:txBody>
      </p:sp>
      <p:sp>
        <p:nvSpPr>
          <p:cNvPr id="10" name="TextBox 9"/>
          <p:cNvSpPr txBox="1"/>
          <p:nvPr/>
        </p:nvSpPr>
        <p:spPr>
          <a:xfrm>
            <a:off x="6675120" y="1664208"/>
            <a:ext cx="2788920" cy="228600"/>
          </a:xfrm>
          <a:prstGeom prst="rect">
            <a:avLst/>
          </a:prstGeom>
          <a:noFill/>
        </p:spPr>
        <p:txBody>
          <a:bodyPr wrap="square" lIns="18288" rIns="18288" tIns="9144" bIns="9144" anchor="t">
            <a:spAutoFit/>
          </a:bodyPr>
          <a:lstStyle/>
          <a:p>
            <a:pPr algn="l"/>
            <a:r>
              <a:rPr sz="1150" b="1" i="0">
                <a:solidFill>
                  <a:srgbClr val="1C7293"/>
                </a:solidFill>
                <a:latin typeface="Calibri"/>
              </a:rPr>
              <a:t>USED FOR</a:t>
            </a:r>
          </a:p>
        </p:txBody>
      </p:sp>
      <p:sp>
        <p:nvSpPr>
          <p:cNvPr id="11" name="TextBox 10"/>
          <p:cNvSpPr txBox="1"/>
          <p:nvPr/>
        </p:nvSpPr>
        <p:spPr>
          <a:xfrm>
            <a:off x="9555480" y="1664208"/>
            <a:ext cx="2057400" cy="228600"/>
          </a:xfrm>
          <a:prstGeom prst="rect">
            <a:avLst/>
          </a:prstGeom>
          <a:noFill/>
        </p:spPr>
        <p:txBody>
          <a:bodyPr wrap="square" lIns="18288" rIns="18288" tIns="9144" bIns="9144" anchor="t">
            <a:spAutoFit/>
          </a:bodyPr>
          <a:lstStyle/>
          <a:p>
            <a:pPr algn="l"/>
            <a:r>
              <a:rPr sz="1150" b="1" i="0">
                <a:solidFill>
                  <a:srgbClr val="1C7293"/>
                </a:solidFill>
                <a:latin typeface="Calibri"/>
              </a:rPr>
              <a:t>STATUS</a:t>
            </a:r>
          </a:p>
        </p:txBody>
      </p:sp>
      <p:sp>
        <p:nvSpPr>
          <p:cNvPr id="12" name="Rectangle 11"/>
          <p:cNvSpPr/>
          <p:nvPr/>
        </p:nvSpPr>
        <p:spPr>
          <a:xfrm>
            <a:off x="566928" y="1938528"/>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1984248"/>
            <a:ext cx="2148840" cy="786384"/>
          </a:xfrm>
          <a:prstGeom prst="rect">
            <a:avLst/>
          </a:prstGeom>
          <a:noFill/>
        </p:spPr>
        <p:txBody>
          <a:bodyPr wrap="square" lIns="18288" rIns="18288" tIns="9144" bIns="9144" anchor="t">
            <a:spAutoFit/>
          </a:bodyPr>
          <a:lstStyle/>
          <a:p>
            <a:pPr algn="l"/>
            <a:r>
              <a:rPr sz="1500" b="1" i="0">
                <a:solidFill>
                  <a:srgbClr val="12263A"/>
                </a:solidFill>
                <a:latin typeface="Cambria"/>
              </a:rPr>
              <a:t>168-run campaign</a:t>
            </a:r>
          </a:p>
        </p:txBody>
      </p:sp>
      <p:sp>
        <p:nvSpPr>
          <p:cNvPr id="14" name="TextBox 13"/>
          <p:cNvSpPr txBox="1"/>
          <p:nvPr/>
        </p:nvSpPr>
        <p:spPr>
          <a:xfrm>
            <a:off x="2880360" y="1984248"/>
            <a:ext cx="3703320" cy="786384"/>
          </a:xfrm>
          <a:prstGeom prst="rect">
            <a:avLst/>
          </a:prstGeom>
          <a:noFill/>
        </p:spPr>
        <p:txBody>
          <a:bodyPr wrap="square" lIns="18288" rIns="18288" tIns="9144" bIns="9144" anchor="t">
            <a:spAutoFit/>
          </a:bodyPr>
          <a:lstStyle/>
          <a:p>
            <a:pPr algn="l"/>
            <a:r>
              <a:rPr sz="1200" b="0" i="0">
                <a:solidFill>
                  <a:srgbClr val="5B6B7C"/>
                </a:solidFill>
                <a:latin typeface="Calibri"/>
              </a:rPr>
              <a:t>Generated by this team on the software testbed (six linuxptp 4.0 daemons, G.8275.1), 20 Sep 2026. Archive sha256 6149b4fb…, 1,096 files, 1,451,909 packet records.</a:t>
            </a:r>
          </a:p>
        </p:txBody>
      </p:sp>
      <p:sp>
        <p:nvSpPr>
          <p:cNvPr id="15" name="TextBox 14"/>
          <p:cNvSpPr txBox="1"/>
          <p:nvPr/>
        </p:nvSpPr>
        <p:spPr>
          <a:xfrm>
            <a:off x="6675120" y="1984248"/>
            <a:ext cx="2788920" cy="786384"/>
          </a:xfrm>
          <a:prstGeom prst="rect">
            <a:avLst/>
          </a:prstGeom>
          <a:noFill/>
        </p:spPr>
        <p:txBody>
          <a:bodyPr wrap="square" lIns="18288" rIns="18288" tIns="9144" bIns="9144" anchor="t">
            <a:spAutoFit/>
          </a:bodyPr>
          <a:lstStyle/>
          <a:p>
            <a:pPr algn="l"/>
            <a:r>
              <a:rPr sz="1200" b="0" i="0">
                <a:solidFill>
                  <a:srgbClr val="12263A"/>
                </a:solidFill>
                <a:latin typeface="Calibri"/>
              </a:rPr>
              <a:t>Every result in this deck</a:t>
            </a:r>
          </a:p>
        </p:txBody>
      </p:sp>
      <p:sp>
        <p:nvSpPr>
          <p:cNvPr id="16" name="TextBox 15"/>
          <p:cNvSpPr txBox="1"/>
          <p:nvPr/>
        </p:nvSpPr>
        <p:spPr>
          <a:xfrm>
            <a:off x="9555480" y="1984248"/>
            <a:ext cx="2057400" cy="786384"/>
          </a:xfrm>
          <a:prstGeom prst="rect">
            <a:avLst/>
          </a:prstGeom>
          <a:noFill/>
        </p:spPr>
        <p:txBody>
          <a:bodyPr wrap="square" lIns="18288" rIns="18288" tIns="9144" bIns="9144" anchor="t">
            <a:spAutoFit/>
          </a:bodyPr>
          <a:lstStyle/>
          <a:p>
            <a:pPr algn="l"/>
            <a:r>
              <a:rPr sz="1200" b="0" i="0">
                <a:solidFill>
                  <a:srgbClr val="1C7293"/>
                </a:solidFill>
                <a:latin typeface="Calibri"/>
              </a:rPr>
              <a:t>PRIMARY EVIDENCE</a:t>
            </a:r>
          </a:p>
        </p:txBody>
      </p:sp>
      <p:sp>
        <p:nvSpPr>
          <p:cNvPr id="17" name="Rectangle 16"/>
          <p:cNvSpPr/>
          <p:nvPr/>
        </p:nvSpPr>
        <p:spPr>
          <a:xfrm>
            <a:off x="566928" y="2770632"/>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816351"/>
            <a:ext cx="2148840" cy="603504"/>
          </a:xfrm>
          <a:prstGeom prst="rect">
            <a:avLst/>
          </a:prstGeom>
          <a:noFill/>
        </p:spPr>
        <p:txBody>
          <a:bodyPr wrap="square" lIns="18288" rIns="18288" tIns="9144" bIns="9144" anchor="t">
            <a:spAutoFit/>
          </a:bodyPr>
          <a:lstStyle/>
          <a:p>
            <a:pPr algn="l"/>
            <a:r>
              <a:rPr sz="1500" b="1" i="0">
                <a:solidFill>
                  <a:srgbClr val="12263A"/>
                </a:solidFill>
                <a:latin typeface="Cambria"/>
              </a:rPr>
              <a:t>Testbed configs</a:t>
            </a:r>
          </a:p>
        </p:txBody>
      </p:sp>
      <p:sp>
        <p:nvSpPr>
          <p:cNvPr id="19" name="TextBox 18"/>
          <p:cNvSpPr txBox="1"/>
          <p:nvPr/>
        </p:nvSpPr>
        <p:spPr>
          <a:xfrm>
            <a:off x="2880360" y="2816351"/>
            <a:ext cx="3703320" cy="603504"/>
          </a:xfrm>
          <a:prstGeom prst="rect">
            <a:avLst/>
          </a:prstGeom>
          <a:noFill/>
        </p:spPr>
        <p:txBody>
          <a:bodyPr wrap="square" lIns="18288" rIns="18288" tIns="9144" bIns="9144" anchor="t">
            <a:spAutoFit/>
          </a:bodyPr>
          <a:lstStyle/>
          <a:p>
            <a:pPr algn="l"/>
            <a:r>
              <a:rPr sz="1200" b="0" i="0">
                <a:solidFill>
                  <a:srgbClr val="5B6B7C"/>
                </a:solidFill>
                <a:latin typeface="Calibri"/>
              </a:rPr>
              <a:t>cfg/*.cfg for all nodes in g87251_testbed_v2.tgz (17 Sep); not inside the corrected campaign archive.</a:t>
            </a:r>
          </a:p>
        </p:txBody>
      </p:sp>
      <p:sp>
        <p:nvSpPr>
          <p:cNvPr id="20" name="TextBox 19"/>
          <p:cNvSpPr txBox="1"/>
          <p:nvPr/>
        </p:nvSpPr>
        <p:spPr>
          <a:xfrm>
            <a:off x="6675120" y="2816351"/>
            <a:ext cx="2788920" cy="603504"/>
          </a:xfrm>
          <a:prstGeom prst="rect">
            <a:avLst/>
          </a:prstGeom>
          <a:noFill/>
        </p:spPr>
        <p:txBody>
          <a:bodyPr wrap="square" lIns="18288" rIns="18288" tIns="9144" bIns="9144" anchor="t">
            <a:spAutoFit/>
          </a:bodyPr>
          <a:lstStyle/>
          <a:p>
            <a:pPr algn="l"/>
            <a:r>
              <a:rPr sz="1200" b="0" i="0">
                <a:solidFill>
                  <a:srgbClr val="12263A"/>
                </a:solidFill>
                <a:latin typeface="Calibri"/>
              </a:rPr>
              <a:t>Configuration provenance</a:t>
            </a:r>
          </a:p>
        </p:txBody>
      </p:sp>
      <p:sp>
        <p:nvSpPr>
          <p:cNvPr id="21" name="TextBox 20"/>
          <p:cNvSpPr txBox="1"/>
          <p:nvPr/>
        </p:nvSpPr>
        <p:spPr>
          <a:xfrm>
            <a:off x="9555480" y="2816351"/>
            <a:ext cx="2057400" cy="603504"/>
          </a:xfrm>
          <a:prstGeom prst="rect">
            <a:avLst/>
          </a:prstGeom>
          <a:noFill/>
        </p:spPr>
        <p:txBody>
          <a:bodyPr wrap="square" lIns="18288" rIns="18288" tIns="9144" bIns="9144" anchor="t">
            <a:spAutoFit/>
          </a:bodyPr>
          <a:lstStyle/>
          <a:p>
            <a:pPr algn="l"/>
            <a:r>
              <a:rPr sz="1200" b="0" i="0">
                <a:solidFill>
                  <a:srgbClr val="1C7293"/>
                </a:solidFill>
                <a:latin typeface="Calibri"/>
              </a:rPr>
              <a:t>REFERENCE</a:t>
            </a:r>
          </a:p>
        </p:txBody>
      </p:sp>
      <p:sp>
        <p:nvSpPr>
          <p:cNvPr id="22" name="Rectangle 21"/>
          <p:cNvSpPr/>
          <p:nvPr/>
        </p:nvSpPr>
        <p:spPr>
          <a:xfrm>
            <a:off x="566928" y="3419856"/>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3465575"/>
            <a:ext cx="2148840" cy="786384"/>
          </a:xfrm>
          <a:prstGeom prst="rect">
            <a:avLst/>
          </a:prstGeom>
          <a:noFill/>
        </p:spPr>
        <p:txBody>
          <a:bodyPr wrap="square" lIns="18288" rIns="18288" tIns="9144" bIns="9144" anchor="t">
            <a:spAutoFit/>
          </a:bodyPr>
          <a:lstStyle/>
          <a:p>
            <a:pPr algn="l"/>
            <a:r>
              <a:rPr sz="1500" b="1" i="0">
                <a:solidFill>
                  <a:srgbClr val="12263A"/>
                </a:solidFill>
                <a:latin typeface="Cambria"/>
              </a:rPr>
              <a:t>TIMESAFE captures</a:t>
            </a:r>
          </a:p>
        </p:txBody>
      </p:sp>
      <p:sp>
        <p:nvSpPr>
          <p:cNvPr id="24" name="TextBox 23"/>
          <p:cNvSpPr txBox="1"/>
          <p:nvPr/>
        </p:nvSpPr>
        <p:spPr>
          <a:xfrm>
            <a:off x="2880360" y="3465575"/>
            <a:ext cx="3703320" cy="786384"/>
          </a:xfrm>
          <a:prstGeom prst="rect">
            <a:avLst/>
          </a:prstGeom>
          <a:noFill/>
        </p:spPr>
        <p:txBody>
          <a:bodyPr wrap="square" lIns="18288" rIns="18288" tIns="9144" bIns="9144" anchor="t">
            <a:spAutoFit/>
          </a:bodyPr>
          <a:lstStyle/>
          <a:p>
            <a:pPr algn="l"/>
            <a:r>
              <a:rPr sz="1200" b="0" i="0">
                <a:solidFill>
                  <a:srgbClr val="5B6B7C"/>
                </a:solidFill>
                <a:latin typeface="Calibri"/>
              </a:rPr>
              <a:t>Public data of Groen et al., real hardware: Foxconn O-RU, NVIDIA Aerial DU, Dell S5248F-ON switch, Qulsar QG-2 grandmaster [10].</a:t>
            </a:r>
          </a:p>
        </p:txBody>
      </p:sp>
      <p:sp>
        <p:nvSpPr>
          <p:cNvPr id="25" name="TextBox 24"/>
          <p:cNvSpPr txBox="1"/>
          <p:nvPr/>
        </p:nvSpPr>
        <p:spPr>
          <a:xfrm>
            <a:off x="6675120" y="3465575"/>
            <a:ext cx="2788920" cy="786384"/>
          </a:xfrm>
          <a:prstGeom prst="rect">
            <a:avLst/>
          </a:prstGeom>
          <a:noFill/>
        </p:spPr>
        <p:txBody>
          <a:bodyPr wrap="square" lIns="18288" rIns="18288" tIns="9144" bIns="9144" anchor="t">
            <a:spAutoFit/>
          </a:bodyPr>
          <a:lstStyle/>
          <a:p>
            <a:pPr algn="l"/>
            <a:r>
              <a:rPr sz="1200" b="0" i="0">
                <a:solidFill>
                  <a:srgbClr val="12263A"/>
                </a:solidFill>
                <a:latin typeface="Calibri"/>
              </a:rPr>
              <a:t>August model work; profile cross-check</a:t>
            </a:r>
          </a:p>
        </p:txBody>
      </p:sp>
      <p:sp>
        <p:nvSpPr>
          <p:cNvPr id="26" name="TextBox 25"/>
          <p:cNvSpPr txBox="1"/>
          <p:nvPr/>
        </p:nvSpPr>
        <p:spPr>
          <a:xfrm>
            <a:off x="9555480" y="3465575"/>
            <a:ext cx="2057400" cy="786384"/>
          </a:xfrm>
          <a:prstGeom prst="rect">
            <a:avLst/>
          </a:prstGeom>
          <a:noFill/>
        </p:spPr>
        <p:txBody>
          <a:bodyPr wrap="square" lIns="18288" rIns="18288" tIns="9144" bIns="9144" anchor="t">
            <a:spAutoFit/>
          </a:bodyPr>
          <a:lstStyle/>
          <a:p>
            <a:pPr algn="l"/>
            <a:r>
              <a:rPr sz="1200" b="0" i="0">
                <a:solidFill>
                  <a:srgbClr val="1C7293"/>
                </a:solidFill>
                <a:latin typeface="Calibri"/>
              </a:rPr>
              <a:t>REFERENCE ONLY</a:t>
            </a:r>
          </a:p>
        </p:txBody>
      </p:sp>
      <p:sp>
        <p:nvSpPr>
          <p:cNvPr id="27" name="Rectangle 26"/>
          <p:cNvSpPr/>
          <p:nvPr/>
        </p:nvSpPr>
        <p:spPr>
          <a:xfrm>
            <a:off x="566928" y="4251959"/>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 y="4297679"/>
            <a:ext cx="2148840" cy="603504"/>
          </a:xfrm>
          <a:prstGeom prst="rect">
            <a:avLst/>
          </a:prstGeom>
          <a:noFill/>
        </p:spPr>
        <p:txBody>
          <a:bodyPr wrap="square" lIns="18288" rIns="18288" tIns="9144" bIns="9144" anchor="t">
            <a:spAutoFit/>
          </a:bodyPr>
          <a:lstStyle/>
          <a:p>
            <a:pPr algn="l"/>
            <a:r>
              <a:rPr sz="1500" b="1" i="0">
                <a:solidFill>
                  <a:srgbClr val="12263A"/>
                </a:solidFill>
                <a:latin typeface="Cambria"/>
              </a:rPr>
              <a:t>13 Sep pilot</a:t>
            </a:r>
          </a:p>
        </p:txBody>
      </p:sp>
      <p:sp>
        <p:nvSpPr>
          <p:cNvPr id="29" name="TextBox 28"/>
          <p:cNvSpPr txBox="1"/>
          <p:nvPr/>
        </p:nvSpPr>
        <p:spPr>
          <a:xfrm>
            <a:off x="2880360" y="4297679"/>
            <a:ext cx="3703320" cy="603504"/>
          </a:xfrm>
          <a:prstGeom prst="rect">
            <a:avLst/>
          </a:prstGeom>
          <a:noFill/>
        </p:spPr>
        <p:txBody>
          <a:bodyPr wrap="square" lIns="18288" rIns="18288" tIns="9144" bIns="9144" anchor="t">
            <a:spAutoFit/>
          </a:bodyPr>
          <a:lstStyle/>
          <a:p>
            <a:pPr algn="l"/>
            <a:r>
              <a:rPr sz="1200" b="0" i="0">
                <a:solidFill>
                  <a:srgbClr val="5B6B7C"/>
                </a:solidFill>
                <a:latin typeface="Calibri"/>
              </a:rPr>
              <a:t>Second software testbed: 25 S14 runs, 232,403 packets; S11 closed-loop trial; S15 validation not established.</a:t>
            </a:r>
          </a:p>
        </p:txBody>
      </p:sp>
      <p:sp>
        <p:nvSpPr>
          <p:cNvPr id="30" name="TextBox 29"/>
          <p:cNvSpPr txBox="1"/>
          <p:nvPr/>
        </p:nvSpPr>
        <p:spPr>
          <a:xfrm>
            <a:off x="6675120" y="4297679"/>
            <a:ext cx="2788920" cy="603504"/>
          </a:xfrm>
          <a:prstGeom prst="rect">
            <a:avLst/>
          </a:prstGeom>
          <a:noFill/>
        </p:spPr>
        <p:txBody>
          <a:bodyPr wrap="square" lIns="18288" rIns="18288" tIns="9144" bIns="9144" anchor="t">
            <a:spAutoFit/>
          </a:bodyPr>
          <a:lstStyle/>
          <a:p>
            <a:pPr algn="l"/>
            <a:r>
              <a:rPr sz="1200" b="0" i="0">
                <a:solidFill>
                  <a:srgbClr val="12263A"/>
                </a:solidFill>
                <a:latin typeface="Calibri"/>
              </a:rPr>
              <a:t>Closed-loop feasibility</a:t>
            </a:r>
          </a:p>
        </p:txBody>
      </p:sp>
      <p:sp>
        <p:nvSpPr>
          <p:cNvPr id="31" name="TextBox 30"/>
          <p:cNvSpPr txBox="1"/>
          <p:nvPr/>
        </p:nvSpPr>
        <p:spPr>
          <a:xfrm>
            <a:off x="9555480" y="4297679"/>
            <a:ext cx="2057400" cy="603504"/>
          </a:xfrm>
          <a:prstGeom prst="rect">
            <a:avLst/>
          </a:prstGeom>
          <a:noFill/>
        </p:spPr>
        <p:txBody>
          <a:bodyPr wrap="square" lIns="18288" rIns="18288" tIns="9144" bIns="9144" anchor="t">
            <a:spAutoFit/>
          </a:bodyPr>
          <a:lstStyle/>
          <a:p>
            <a:pPr algn="l"/>
            <a:r>
              <a:rPr sz="1200" b="0" i="0">
                <a:solidFill>
                  <a:srgbClr val="1C7293"/>
                </a:solidFill>
                <a:latin typeface="Calibri"/>
              </a:rPr>
              <a:t>DEVELOPMENT DATA</a:t>
            </a:r>
          </a:p>
        </p:txBody>
      </p:sp>
      <p:sp>
        <p:nvSpPr>
          <p:cNvPr id="32" name="Rectangle 31"/>
          <p:cNvSpPr/>
          <p:nvPr/>
        </p:nvSpPr>
        <p:spPr>
          <a:xfrm>
            <a:off x="566928" y="4901183"/>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512" y="4946903"/>
            <a:ext cx="2148840" cy="548640"/>
          </a:xfrm>
          <a:prstGeom prst="rect">
            <a:avLst/>
          </a:prstGeom>
          <a:noFill/>
        </p:spPr>
        <p:txBody>
          <a:bodyPr wrap="square" lIns="18288" rIns="18288" tIns="9144" bIns="9144" anchor="t">
            <a:spAutoFit/>
          </a:bodyPr>
          <a:lstStyle/>
          <a:p>
            <a:pPr algn="l"/>
            <a:r>
              <a:rPr sz="1500" b="1" i="0">
                <a:solidFill>
                  <a:srgbClr val="12263A"/>
                </a:solidFill>
                <a:latin typeface="Cambria"/>
              </a:rPr>
              <a:t>Simulator output</a:t>
            </a:r>
          </a:p>
        </p:txBody>
      </p:sp>
      <p:sp>
        <p:nvSpPr>
          <p:cNvPr id="34" name="TextBox 33"/>
          <p:cNvSpPr txBox="1"/>
          <p:nvPr/>
        </p:nvSpPr>
        <p:spPr>
          <a:xfrm>
            <a:off x="2880360" y="4946903"/>
            <a:ext cx="3703320" cy="548640"/>
          </a:xfrm>
          <a:prstGeom prst="rect">
            <a:avLst/>
          </a:prstGeom>
          <a:noFill/>
        </p:spPr>
        <p:txBody>
          <a:bodyPr wrap="square" lIns="18288" rIns="18288" tIns="9144" bIns="9144" anchor="t">
            <a:spAutoFit/>
          </a:bodyPr>
          <a:lstStyle/>
          <a:p>
            <a:pPr algn="l"/>
            <a:r>
              <a:rPr sz="1200" b="0" i="0">
                <a:solidFill>
                  <a:srgbClr val="5B6B7C"/>
                </a:solidFill>
                <a:latin typeface="Calibri"/>
              </a:rPr>
              <a:t>Synthetic physics-simulator rows; quarantined in dataset/illegitimate.</a:t>
            </a:r>
          </a:p>
        </p:txBody>
      </p:sp>
      <p:sp>
        <p:nvSpPr>
          <p:cNvPr id="35" name="TextBox 34"/>
          <p:cNvSpPr txBox="1"/>
          <p:nvPr/>
        </p:nvSpPr>
        <p:spPr>
          <a:xfrm>
            <a:off x="6675120" y="4946903"/>
            <a:ext cx="2788920" cy="548640"/>
          </a:xfrm>
          <a:prstGeom prst="rect">
            <a:avLst/>
          </a:prstGeom>
          <a:noFill/>
        </p:spPr>
        <p:txBody>
          <a:bodyPr wrap="square" lIns="18288" rIns="18288" tIns="9144" bIns="9144" anchor="t">
            <a:spAutoFit/>
          </a:bodyPr>
          <a:lstStyle/>
          <a:p>
            <a:pPr algn="l"/>
            <a:r>
              <a:rPr sz="1200" b="0" i="0">
                <a:solidFill>
                  <a:srgbClr val="12263A"/>
                </a:solidFill>
                <a:latin typeface="Calibri"/>
              </a:rPr>
              <a:t>Software testing only</a:t>
            </a:r>
          </a:p>
        </p:txBody>
      </p:sp>
      <p:sp>
        <p:nvSpPr>
          <p:cNvPr id="36" name="TextBox 35"/>
          <p:cNvSpPr txBox="1"/>
          <p:nvPr/>
        </p:nvSpPr>
        <p:spPr>
          <a:xfrm>
            <a:off x="9555480" y="4946903"/>
            <a:ext cx="2057400" cy="548640"/>
          </a:xfrm>
          <a:prstGeom prst="rect">
            <a:avLst/>
          </a:prstGeom>
          <a:noFill/>
        </p:spPr>
        <p:txBody>
          <a:bodyPr wrap="square" lIns="18288" rIns="18288" tIns="9144" bIns="9144" anchor="t">
            <a:spAutoFit/>
          </a:bodyPr>
          <a:lstStyle/>
          <a:p>
            <a:pPr algn="l"/>
            <a:r>
              <a:rPr sz="1200" b="0" i="0">
                <a:solidFill>
                  <a:srgbClr val="1C7293"/>
                </a:solidFill>
                <a:latin typeface="Calibri"/>
              </a:rPr>
              <a:t>NOT EVIDENCE</a:t>
            </a:r>
          </a:p>
        </p:txBody>
      </p:sp>
      <p:sp>
        <p:nvSpPr>
          <p:cNvPr id="37" name="Rectangle 36"/>
          <p:cNvSpPr/>
          <p:nvPr/>
        </p:nvSpPr>
        <p:spPr>
          <a:xfrm>
            <a:off x="566928" y="5495543"/>
            <a:ext cx="11045952" cy="10972"/>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66928" y="5833872"/>
            <a:ext cx="11045952" cy="749808"/>
          </a:xfrm>
          <a:prstGeom prst="roundRect">
            <a:avLst>
              <a:gd name="adj" fmla="val 8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907024"/>
            <a:ext cx="2103120" cy="603503"/>
          </a:xfrm>
          <a:prstGeom prst="rect">
            <a:avLst/>
          </a:prstGeom>
          <a:noFill/>
        </p:spPr>
        <p:txBody>
          <a:bodyPr wrap="square" lIns="18288" rIns="18288" tIns="9144" bIns="9144" anchor="ctr">
            <a:spAutoFit/>
          </a:bodyPr>
          <a:lstStyle/>
          <a:p>
            <a:pPr algn="l"/>
            <a:r>
              <a:rPr sz="1200" b="1" i="0">
                <a:solidFill>
                  <a:srgbClr val="18B89A"/>
                </a:solidFill>
                <a:latin typeface="Calibri"/>
              </a:rPr>
              <a:t>ANSWER</a:t>
            </a:r>
          </a:p>
        </p:txBody>
      </p:sp>
      <p:sp>
        <p:nvSpPr>
          <p:cNvPr id="40" name="TextBox 39"/>
          <p:cNvSpPr txBox="1"/>
          <p:nvPr/>
        </p:nvSpPr>
        <p:spPr>
          <a:xfrm>
            <a:off x="2834640" y="5888736"/>
            <a:ext cx="8595360" cy="640080"/>
          </a:xfrm>
          <a:prstGeom prst="rect">
            <a:avLst/>
          </a:prstGeom>
          <a:noFill/>
        </p:spPr>
        <p:txBody>
          <a:bodyPr wrap="square" lIns="18288" rIns="18288" tIns="9144" bIns="9144" anchor="ctr">
            <a:spAutoFit/>
          </a:bodyPr>
          <a:lstStyle/>
          <a:p>
            <a:pPr algn="l"/>
            <a:r>
              <a:rPr sz="1240" b="1" i="0">
                <a:solidFill>
                  <a:srgbClr val="FFFFFF"/>
                </a:solidFill>
                <a:latin typeface="Calibri"/>
              </a:rPr>
              <a:t>The evaluated dataset was generated by us on a reproducible testbed. The only external data, TIMESAFE, is public and cited; August results that used it were withdrawn on 17 Sep.</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8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10312"/>
            <a:ext cx="11045952" cy="228600"/>
          </a:xfrm>
          <a:prstGeom prst="rect">
            <a:avLst/>
          </a:prstGeom>
          <a:noFill/>
        </p:spPr>
        <p:txBody>
          <a:bodyPr wrap="square" lIns="18288" rIns="18288" tIns="9144" bIns="9144" anchor="t">
            <a:spAutoFit/>
          </a:bodyPr>
          <a:lstStyle/>
          <a:p>
            <a:pPr algn="l"/>
            <a:r>
              <a:rPr sz="1280" b="1" i="0">
                <a:solidFill>
                  <a:srgbClr val="1C7293"/>
                </a:solidFill>
                <a:latin typeface="Calibri"/>
              </a:rPr>
              <a:t>APPLICABILITY</a:t>
            </a:r>
          </a:p>
        </p:txBody>
      </p:sp>
      <p:sp>
        <p:nvSpPr>
          <p:cNvPr id="5" name="TextBox 4"/>
          <p:cNvSpPr txBox="1"/>
          <p:nvPr/>
        </p:nvSpPr>
        <p:spPr>
          <a:xfrm>
            <a:off x="566928" y="448056"/>
            <a:ext cx="11045952" cy="548640"/>
          </a:xfrm>
          <a:prstGeom prst="rect">
            <a:avLst/>
          </a:prstGeom>
          <a:noFill/>
        </p:spPr>
        <p:txBody>
          <a:bodyPr wrap="square" lIns="18288" rIns="18288" tIns="9144" bIns="9144" anchor="t">
            <a:spAutoFit/>
          </a:bodyPr>
          <a:lstStyle/>
          <a:p>
            <a:pPr algn="l"/>
            <a:r>
              <a:rPr sz="3300" b="1" i="0">
                <a:solidFill>
                  <a:srgbClr val="12263A"/>
                </a:solidFill>
                <a:latin typeface="Cambria"/>
              </a:rPr>
              <a:t>Does the Method Work Only for O-RAN?</a:t>
            </a:r>
          </a:p>
        </p:txBody>
      </p:sp>
      <p:sp>
        <p:nvSpPr>
          <p:cNvPr id="6" name="Rounded Rectangle 5"/>
          <p:cNvSpPr/>
          <p:nvPr/>
        </p:nvSpPr>
        <p:spPr>
          <a:xfrm>
            <a:off x="566928" y="1060704"/>
            <a:ext cx="11045952" cy="438912"/>
          </a:xfrm>
          <a:prstGeom prst="roundRect">
            <a:avLst>
              <a:gd name="adj" fmla="val 8000"/>
            </a:avLst>
          </a:prstGeom>
          <a:solidFill>
            <a:srgbClr val="EAF2F8"/>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1097280"/>
            <a:ext cx="10744200" cy="384048"/>
          </a:xfrm>
          <a:prstGeom prst="rect">
            <a:avLst/>
          </a:prstGeom>
          <a:noFill/>
        </p:spPr>
        <p:txBody>
          <a:bodyPr wrap="square" lIns="18288" rIns="18288" tIns="9144" bIns="9144" anchor="ctr">
            <a:spAutoFit/>
          </a:bodyPr>
          <a:lstStyle/>
          <a:p>
            <a:pPr algn="l"/>
            <a:r>
              <a:rPr sz="1019" b="0" i="0">
                <a:solidFill>
                  <a:srgbClr val="5B6B7C"/>
                </a:solidFill>
                <a:latin typeface="Calibri"/>
              </a:rPr>
              <a:t>IEEE 1588 PTP profiles list, IEEE SA [13]  |  IETF RFC 7384 scope: time protocols, focusing on PTP and NTP [1]  |  Tested in this project: ITU-T G.8275.1 only [6]</a:t>
            </a:r>
          </a:p>
        </p:txBody>
      </p:sp>
      <p:sp>
        <p:nvSpPr>
          <p:cNvPr id="8" name="TextBox 7"/>
          <p:cNvSpPr txBox="1"/>
          <p:nvPr/>
        </p:nvSpPr>
        <p:spPr>
          <a:xfrm>
            <a:off x="667512" y="1664208"/>
            <a:ext cx="5120640" cy="228600"/>
          </a:xfrm>
          <a:prstGeom prst="rect">
            <a:avLst/>
          </a:prstGeom>
          <a:noFill/>
        </p:spPr>
        <p:txBody>
          <a:bodyPr wrap="square" lIns="18288" rIns="18288" tIns="9144" bIns="9144" anchor="t">
            <a:spAutoFit/>
          </a:bodyPr>
          <a:lstStyle/>
          <a:p>
            <a:pPr algn="l"/>
            <a:r>
              <a:rPr sz="1150" b="1" i="0">
                <a:solidFill>
                  <a:srgbClr val="1C7293"/>
                </a:solidFill>
                <a:latin typeface="Calibri"/>
              </a:rPr>
              <a:t>OTHER NETWORKS THAT RUN PTP  (IEEE 1588 PROFILES [13])</a:t>
            </a:r>
          </a:p>
        </p:txBody>
      </p:sp>
      <p:sp>
        <p:nvSpPr>
          <p:cNvPr id="9" name="TextBox 8"/>
          <p:cNvSpPr txBox="1"/>
          <p:nvPr/>
        </p:nvSpPr>
        <p:spPr>
          <a:xfrm>
            <a:off x="667512" y="1965960"/>
            <a:ext cx="2057400" cy="457200"/>
          </a:xfrm>
          <a:prstGeom prst="rect">
            <a:avLst/>
          </a:prstGeom>
          <a:noFill/>
        </p:spPr>
        <p:txBody>
          <a:bodyPr wrap="square" lIns="18288" rIns="18288" tIns="9144" bIns="9144" anchor="t">
            <a:spAutoFit/>
          </a:bodyPr>
          <a:lstStyle/>
          <a:p>
            <a:pPr algn="l"/>
            <a:r>
              <a:rPr sz="1300" b="1" i="0">
                <a:solidFill>
                  <a:srgbClr val="12263A"/>
                </a:solidFill>
                <a:latin typeface="Cambria"/>
              </a:rPr>
              <a:t>Telecom</a:t>
            </a:r>
          </a:p>
        </p:txBody>
      </p:sp>
      <p:sp>
        <p:nvSpPr>
          <p:cNvPr id="10" name="TextBox 9"/>
          <p:cNvSpPr txBox="1"/>
          <p:nvPr/>
        </p:nvSpPr>
        <p:spPr>
          <a:xfrm>
            <a:off x="2743200" y="1984248"/>
            <a:ext cx="3017520" cy="502920"/>
          </a:xfrm>
          <a:prstGeom prst="rect">
            <a:avLst/>
          </a:prstGeom>
          <a:noFill/>
        </p:spPr>
        <p:txBody>
          <a:bodyPr wrap="square" lIns="18288" rIns="18288" tIns="9144" bIns="9144" anchor="t">
            <a:spAutoFit/>
          </a:bodyPr>
          <a:lstStyle/>
          <a:p>
            <a:pPr algn="l"/>
            <a:r>
              <a:rPr sz="1100" b="0" i="0">
                <a:solidFill>
                  <a:srgbClr val="5B6B7C"/>
                </a:solidFill>
                <a:latin typeface="Calibri"/>
              </a:rPr>
              <a:t>ITU-T frequency profile; phase/time with full and partial timing support</a:t>
            </a:r>
          </a:p>
        </p:txBody>
      </p:sp>
      <p:sp>
        <p:nvSpPr>
          <p:cNvPr id="11" name="TextBox 10"/>
          <p:cNvSpPr txBox="1"/>
          <p:nvPr/>
        </p:nvSpPr>
        <p:spPr>
          <a:xfrm>
            <a:off x="667512" y="2569464"/>
            <a:ext cx="2057400" cy="457200"/>
          </a:xfrm>
          <a:prstGeom prst="rect">
            <a:avLst/>
          </a:prstGeom>
          <a:noFill/>
        </p:spPr>
        <p:txBody>
          <a:bodyPr wrap="square" lIns="18288" rIns="18288" tIns="9144" bIns="9144" anchor="t">
            <a:spAutoFit/>
          </a:bodyPr>
          <a:lstStyle/>
          <a:p>
            <a:pPr algn="l"/>
            <a:r>
              <a:rPr sz="1300" b="1" i="0">
                <a:solidFill>
                  <a:srgbClr val="12263A"/>
                </a:solidFill>
                <a:latin typeface="Cambria"/>
              </a:rPr>
              <a:t>Power</a:t>
            </a:r>
          </a:p>
        </p:txBody>
      </p:sp>
      <p:sp>
        <p:nvSpPr>
          <p:cNvPr id="12" name="TextBox 11"/>
          <p:cNvSpPr txBox="1"/>
          <p:nvPr/>
        </p:nvSpPr>
        <p:spPr>
          <a:xfrm>
            <a:off x="2743200" y="2587752"/>
            <a:ext cx="3017520" cy="502920"/>
          </a:xfrm>
          <a:prstGeom prst="rect">
            <a:avLst/>
          </a:prstGeom>
          <a:noFill/>
        </p:spPr>
        <p:txBody>
          <a:bodyPr wrap="square" lIns="18288" rIns="18288" tIns="9144" bIns="9144" anchor="t">
            <a:spAutoFit/>
          </a:bodyPr>
          <a:lstStyle/>
          <a:p>
            <a:pPr algn="l"/>
            <a:r>
              <a:rPr sz="1100" b="0" i="0">
                <a:solidFill>
                  <a:srgbClr val="5B6B7C"/>
                </a:solidFill>
                <a:latin typeface="Calibri"/>
              </a:rPr>
              <a:t>IEEE C37.238; IEC utility-automation profiles</a:t>
            </a:r>
          </a:p>
        </p:txBody>
      </p:sp>
      <p:sp>
        <p:nvSpPr>
          <p:cNvPr id="13" name="TextBox 12"/>
          <p:cNvSpPr txBox="1"/>
          <p:nvPr/>
        </p:nvSpPr>
        <p:spPr>
          <a:xfrm>
            <a:off x="667512" y="3172968"/>
            <a:ext cx="2057400" cy="457200"/>
          </a:xfrm>
          <a:prstGeom prst="rect">
            <a:avLst/>
          </a:prstGeom>
          <a:noFill/>
        </p:spPr>
        <p:txBody>
          <a:bodyPr wrap="square" lIns="18288" rIns="18288" tIns="9144" bIns="9144" anchor="t">
            <a:spAutoFit/>
          </a:bodyPr>
          <a:lstStyle/>
          <a:p>
            <a:pPr algn="l"/>
            <a:r>
              <a:rPr sz="1300" b="1" i="0">
                <a:solidFill>
                  <a:srgbClr val="12263A"/>
                </a:solidFill>
                <a:latin typeface="Cambria"/>
              </a:rPr>
              <a:t>Broadcast and audio</a:t>
            </a:r>
          </a:p>
        </p:txBody>
      </p:sp>
      <p:sp>
        <p:nvSpPr>
          <p:cNvPr id="14" name="TextBox 13"/>
          <p:cNvSpPr txBox="1"/>
          <p:nvPr/>
        </p:nvSpPr>
        <p:spPr>
          <a:xfrm>
            <a:off x="2743200" y="3191256"/>
            <a:ext cx="3017520" cy="502920"/>
          </a:xfrm>
          <a:prstGeom prst="rect">
            <a:avLst/>
          </a:prstGeom>
          <a:noFill/>
        </p:spPr>
        <p:txBody>
          <a:bodyPr wrap="square" lIns="18288" rIns="18288" tIns="9144" bIns="9144" anchor="t">
            <a:spAutoFit/>
          </a:bodyPr>
          <a:lstStyle/>
          <a:p>
            <a:pPr algn="l"/>
            <a:r>
              <a:rPr sz="1100" b="0" i="0">
                <a:solidFill>
                  <a:srgbClr val="5B6B7C"/>
                </a:solidFill>
                <a:latin typeface="Calibri"/>
              </a:rPr>
              <a:t>SMPTE broadcast profile; AES67 media profile</a:t>
            </a:r>
          </a:p>
        </p:txBody>
      </p:sp>
      <p:sp>
        <p:nvSpPr>
          <p:cNvPr id="15" name="TextBox 14"/>
          <p:cNvSpPr txBox="1"/>
          <p:nvPr/>
        </p:nvSpPr>
        <p:spPr>
          <a:xfrm>
            <a:off x="667512" y="3776472"/>
            <a:ext cx="2057400" cy="457200"/>
          </a:xfrm>
          <a:prstGeom prst="rect">
            <a:avLst/>
          </a:prstGeom>
          <a:noFill/>
        </p:spPr>
        <p:txBody>
          <a:bodyPr wrap="square" lIns="18288" rIns="18288" tIns="9144" bIns="9144" anchor="t">
            <a:spAutoFit/>
          </a:bodyPr>
          <a:lstStyle/>
          <a:p>
            <a:pPr algn="l"/>
            <a:r>
              <a:rPr sz="1300" b="1" i="0">
                <a:solidFill>
                  <a:srgbClr val="12263A"/>
                </a:solidFill>
                <a:latin typeface="Cambria"/>
              </a:rPr>
              <a:t>A/V, industry, automotive</a:t>
            </a:r>
          </a:p>
        </p:txBody>
      </p:sp>
      <p:sp>
        <p:nvSpPr>
          <p:cNvPr id="16" name="TextBox 15"/>
          <p:cNvSpPr txBox="1"/>
          <p:nvPr/>
        </p:nvSpPr>
        <p:spPr>
          <a:xfrm>
            <a:off x="2743200" y="3794759"/>
            <a:ext cx="3017520" cy="502920"/>
          </a:xfrm>
          <a:prstGeom prst="rect">
            <a:avLst/>
          </a:prstGeom>
          <a:noFill/>
        </p:spPr>
        <p:txBody>
          <a:bodyPr wrap="square" lIns="18288" rIns="18288" tIns="9144" bIns="9144" anchor="t">
            <a:spAutoFit/>
          </a:bodyPr>
          <a:lstStyle/>
          <a:p>
            <a:pPr algn="l"/>
            <a:r>
              <a:rPr sz="1100" b="0" i="0">
                <a:solidFill>
                  <a:srgbClr val="5B6B7C"/>
                </a:solidFill>
                <a:latin typeface="Calibri"/>
              </a:rPr>
              <a:t>IEEE Std 802.1AS; Avnu; AUTOSAR</a:t>
            </a:r>
          </a:p>
        </p:txBody>
      </p:sp>
      <p:sp>
        <p:nvSpPr>
          <p:cNvPr id="17" name="TextBox 16"/>
          <p:cNvSpPr txBox="1"/>
          <p:nvPr/>
        </p:nvSpPr>
        <p:spPr>
          <a:xfrm>
            <a:off x="667512" y="4379976"/>
            <a:ext cx="2057400" cy="457200"/>
          </a:xfrm>
          <a:prstGeom prst="rect">
            <a:avLst/>
          </a:prstGeom>
          <a:noFill/>
        </p:spPr>
        <p:txBody>
          <a:bodyPr wrap="square" lIns="18288" rIns="18288" tIns="9144" bIns="9144" anchor="t">
            <a:spAutoFit/>
          </a:bodyPr>
          <a:lstStyle/>
          <a:p>
            <a:pPr algn="l"/>
            <a:r>
              <a:rPr sz="1300" b="1" i="0">
                <a:solidFill>
                  <a:srgbClr val="12263A"/>
                </a:solidFill>
                <a:latin typeface="Cambria"/>
              </a:rPr>
              <a:t>Enterprise, test</a:t>
            </a:r>
          </a:p>
        </p:txBody>
      </p:sp>
      <p:sp>
        <p:nvSpPr>
          <p:cNvPr id="18" name="TextBox 17"/>
          <p:cNvSpPr txBox="1"/>
          <p:nvPr/>
        </p:nvSpPr>
        <p:spPr>
          <a:xfrm>
            <a:off x="2743200" y="4398264"/>
            <a:ext cx="3017520" cy="502920"/>
          </a:xfrm>
          <a:prstGeom prst="rect">
            <a:avLst/>
          </a:prstGeom>
          <a:noFill/>
        </p:spPr>
        <p:txBody>
          <a:bodyPr wrap="square" lIns="18288" rIns="18288" tIns="9144" bIns="9144" anchor="t">
            <a:spAutoFit/>
          </a:bodyPr>
          <a:lstStyle/>
          <a:p>
            <a:pPr algn="l"/>
            <a:r>
              <a:rPr sz="1100" b="0" i="0">
                <a:solidFill>
                  <a:srgbClr val="5B6B7C"/>
                </a:solidFill>
                <a:latin typeface="Calibri"/>
              </a:rPr>
              <a:t>IETF enterprise profile; LXI; GigE Vision</a:t>
            </a:r>
          </a:p>
        </p:txBody>
      </p:sp>
      <p:sp>
        <p:nvSpPr>
          <p:cNvPr id="19" name="Rectangle 18"/>
          <p:cNvSpPr/>
          <p:nvPr/>
        </p:nvSpPr>
        <p:spPr>
          <a:xfrm>
            <a:off x="5989320" y="1664208"/>
            <a:ext cx="10972" cy="3931920"/>
          </a:xfrm>
          <a:prstGeom prst="rect">
            <a:avLst/>
          </a:prstGeom>
          <a:solidFill>
            <a:srgbClr val="D7E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7920" y="1664208"/>
            <a:ext cx="5394960" cy="1188720"/>
          </a:xfrm>
          <a:prstGeom prst="roundRect">
            <a:avLst>
              <a:gd name="adj" fmla="val 8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1755648"/>
            <a:ext cx="5029200" cy="256032"/>
          </a:xfrm>
          <a:prstGeom prst="rect">
            <a:avLst/>
          </a:prstGeom>
          <a:noFill/>
        </p:spPr>
        <p:txBody>
          <a:bodyPr wrap="square" lIns="18288" rIns="18288" tIns="9144" bIns="9144" anchor="t">
            <a:spAutoFit/>
          </a:bodyPr>
          <a:lstStyle/>
          <a:p>
            <a:pPr algn="l"/>
            <a:r>
              <a:rPr sz="1150" b="1" i="0">
                <a:solidFill>
                  <a:srgbClr val="1E8E5A"/>
                </a:solidFill>
                <a:latin typeface="Calibri"/>
              </a:rPr>
              <a:t>TRANSFERS AS IS</a:t>
            </a:r>
          </a:p>
        </p:txBody>
      </p:sp>
      <p:sp>
        <p:nvSpPr>
          <p:cNvPr id="22" name="TextBox 21"/>
          <p:cNvSpPr txBox="1"/>
          <p:nvPr/>
        </p:nvSpPr>
        <p:spPr>
          <a:xfrm>
            <a:off x="6400800" y="2048256"/>
            <a:ext cx="5074920" cy="777240"/>
          </a:xfrm>
          <a:prstGeom prst="rect">
            <a:avLst/>
          </a:prstGeom>
          <a:noFill/>
        </p:spPr>
        <p:txBody>
          <a:bodyPr wrap="square" lIns="18288" rIns="18288" tIns="9144" bIns="9144" anchor="t">
            <a:spAutoFit/>
          </a:bodyPr>
          <a:lstStyle/>
          <a:p>
            <a:pPr algn="l"/>
            <a:r>
              <a:rPr sz="1150" b="0" i="0">
                <a:solidFill>
                  <a:srgbClr val="12263A"/>
                </a:solidFill>
                <a:latin typeface="Calibri"/>
              </a:rPr>
              <a:t>IEEE 1588 message legality, sequenceId continuity, delivered vs declared rate, identity allow-list and maintenance context. The RFC 7384 threat list covers PTP generally.</a:t>
            </a:r>
          </a:p>
        </p:txBody>
      </p:sp>
      <p:sp>
        <p:nvSpPr>
          <p:cNvPr id="23" name="Rounded Rectangle 22"/>
          <p:cNvSpPr/>
          <p:nvPr/>
        </p:nvSpPr>
        <p:spPr>
          <a:xfrm>
            <a:off x="6217920" y="2990088"/>
            <a:ext cx="5394960" cy="1188720"/>
          </a:xfrm>
          <a:prstGeom prst="roundRect">
            <a:avLst>
              <a:gd name="adj" fmla="val 8000"/>
            </a:avLst>
          </a:prstGeom>
          <a:solidFill>
            <a:srgbClr val="FFF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081528"/>
            <a:ext cx="5029200" cy="256032"/>
          </a:xfrm>
          <a:prstGeom prst="rect">
            <a:avLst/>
          </a:prstGeom>
          <a:noFill/>
        </p:spPr>
        <p:txBody>
          <a:bodyPr wrap="square" lIns="18288" rIns="18288" tIns="9144" bIns="9144" anchor="t">
            <a:spAutoFit/>
          </a:bodyPr>
          <a:lstStyle/>
          <a:p>
            <a:pPr algn="l"/>
            <a:r>
              <a:rPr sz="1150" b="1" i="0">
                <a:solidFill>
                  <a:srgbClr val="C58B18"/>
                </a:solidFill>
                <a:latin typeface="Calibri"/>
              </a:rPr>
              <a:t>MUST BE RE-DERIVED PER PROFILE</a:t>
            </a:r>
          </a:p>
        </p:txBody>
      </p:sp>
      <p:sp>
        <p:nvSpPr>
          <p:cNvPr id="25" name="TextBox 24"/>
          <p:cNvSpPr txBox="1"/>
          <p:nvPr/>
        </p:nvSpPr>
        <p:spPr>
          <a:xfrm>
            <a:off x="6400800" y="3374136"/>
            <a:ext cx="5074920" cy="777240"/>
          </a:xfrm>
          <a:prstGeom prst="rect">
            <a:avLst/>
          </a:prstGeom>
          <a:noFill/>
        </p:spPr>
        <p:txBody>
          <a:bodyPr wrap="square" lIns="18288" rIns="18288" tIns="9144" bIns="9144" anchor="t">
            <a:spAutoFit/>
          </a:bodyPr>
          <a:lstStyle/>
          <a:p>
            <a:pPr algn="l"/>
            <a:r>
              <a:rPr sz="1150" b="0" i="0">
                <a:solidFill>
                  <a:srgbClr val="12263A"/>
                </a:solidFill>
                <a:latin typeface="Calibri"/>
              </a:rPr>
              <a:t>G.8275.1 constants: domain 24–43, priority1 128, Sync 16/s, Announce 8/s, alternate BMCA, L2 multicast addressing.</a:t>
            </a:r>
          </a:p>
        </p:txBody>
      </p:sp>
      <p:sp>
        <p:nvSpPr>
          <p:cNvPr id="26" name="Rounded Rectangle 25"/>
          <p:cNvSpPr/>
          <p:nvPr/>
        </p:nvSpPr>
        <p:spPr>
          <a:xfrm>
            <a:off x="6217920" y="4315968"/>
            <a:ext cx="5394960" cy="1188720"/>
          </a:xfrm>
          <a:prstGeom prst="roundRect">
            <a:avLst>
              <a:gd name="adj" fmla="val 8000"/>
            </a:avLst>
          </a:prstGeom>
          <a:solidFill>
            <a:srgbClr val="FB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4407407"/>
            <a:ext cx="5029200" cy="256032"/>
          </a:xfrm>
          <a:prstGeom prst="rect">
            <a:avLst/>
          </a:prstGeom>
          <a:noFill/>
        </p:spPr>
        <p:txBody>
          <a:bodyPr wrap="square" lIns="18288" rIns="18288" tIns="9144" bIns="9144" anchor="t">
            <a:spAutoFit/>
          </a:bodyPr>
          <a:lstStyle/>
          <a:p>
            <a:pPr algn="l"/>
            <a:r>
              <a:rPr sz="1150" b="1" i="0">
                <a:solidFill>
                  <a:srgbClr val="B3402F"/>
                </a:solidFill>
                <a:latin typeface="Calibri"/>
              </a:rPr>
              <a:t>NOT DEMONSTRATED</a:t>
            </a:r>
          </a:p>
        </p:txBody>
      </p:sp>
      <p:sp>
        <p:nvSpPr>
          <p:cNvPr id="28" name="TextBox 27"/>
          <p:cNvSpPr txBox="1"/>
          <p:nvPr/>
        </p:nvSpPr>
        <p:spPr>
          <a:xfrm>
            <a:off x="6400800" y="4700016"/>
            <a:ext cx="5074920" cy="777240"/>
          </a:xfrm>
          <a:prstGeom prst="rect">
            <a:avLst/>
          </a:prstGeom>
          <a:noFill/>
        </p:spPr>
        <p:txBody>
          <a:bodyPr wrap="square" lIns="18288" rIns="18288" tIns="9144" bIns="9144" anchor="t">
            <a:spAutoFit/>
          </a:bodyPr>
          <a:lstStyle/>
          <a:p>
            <a:pPr algn="l"/>
            <a:r>
              <a:rPr sz="1150" b="0" i="0">
                <a:solidFill>
                  <a:srgbClr val="12263A"/>
                </a:solidFill>
                <a:latin typeface="Calibri"/>
              </a:rPr>
              <a:t>Any profile other than G.8275.1; hardware timestamping; non-O-RAN deployments.</a:t>
            </a:r>
          </a:p>
        </p:txBody>
      </p:sp>
      <p:sp>
        <p:nvSpPr>
          <p:cNvPr id="29" name="Rounded Rectangle 28"/>
          <p:cNvSpPr/>
          <p:nvPr/>
        </p:nvSpPr>
        <p:spPr>
          <a:xfrm>
            <a:off x="566928" y="5833872"/>
            <a:ext cx="11045952" cy="749808"/>
          </a:xfrm>
          <a:prstGeom prst="roundRect">
            <a:avLst>
              <a:gd name="adj" fmla="val 8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907024"/>
            <a:ext cx="2103120" cy="603503"/>
          </a:xfrm>
          <a:prstGeom prst="rect">
            <a:avLst/>
          </a:prstGeom>
          <a:noFill/>
        </p:spPr>
        <p:txBody>
          <a:bodyPr wrap="square" lIns="18288" rIns="18288" tIns="9144" bIns="9144" anchor="ctr">
            <a:spAutoFit/>
          </a:bodyPr>
          <a:lstStyle/>
          <a:p>
            <a:pPr algn="l"/>
            <a:r>
              <a:rPr sz="1200" b="1" i="0">
                <a:solidFill>
                  <a:srgbClr val="18B89A"/>
                </a:solidFill>
                <a:latin typeface="Calibri"/>
              </a:rPr>
              <a:t>ANSWER</a:t>
            </a:r>
          </a:p>
        </p:txBody>
      </p:sp>
      <p:sp>
        <p:nvSpPr>
          <p:cNvPr id="31" name="TextBox 30"/>
          <p:cNvSpPr txBox="1"/>
          <p:nvPr/>
        </p:nvSpPr>
        <p:spPr>
          <a:xfrm>
            <a:off x="2834640" y="5888736"/>
            <a:ext cx="8595360" cy="640080"/>
          </a:xfrm>
          <a:prstGeom prst="rect">
            <a:avLst/>
          </a:prstGeom>
          <a:noFill/>
        </p:spPr>
        <p:txBody>
          <a:bodyPr wrap="square" lIns="18288" rIns="18288" tIns="9144" bIns="9144" anchor="ctr">
            <a:spAutoFit/>
          </a:bodyPr>
          <a:lstStyle/>
          <a:p>
            <a:pPr algn="l"/>
            <a:r>
              <a:rPr sz="1240" b="1" i="0">
                <a:solidFill>
                  <a:srgbClr val="FFFFFF"/>
                </a:solidFill>
                <a:latin typeface="Calibri"/>
              </a:rPr>
              <a:t>The checks belong to PTP, not to O-RAN, so the method is portable by design after re-deriving profile constants. It has been demonstrated only on the G.8275.1 telecom profile.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8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10312"/>
            <a:ext cx="11045952" cy="228600"/>
          </a:xfrm>
          <a:prstGeom prst="rect">
            <a:avLst/>
          </a:prstGeom>
          <a:noFill/>
        </p:spPr>
        <p:txBody>
          <a:bodyPr wrap="square" lIns="18288" rIns="18288" tIns="9144" bIns="9144" anchor="t">
            <a:spAutoFit/>
          </a:bodyPr>
          <a:lstStyle/>
          <a:p>
            <a:pPr algn="l"/>
            <a:r>
              <a:rPr sz="1280" b="1" i="0">
                <a:solidFill>
                  <a:srgbClr val="1C7293"/>
                </a:solidFill>
                <a:latin typeface="Calibri"/>
              </a:rPr>
              <a:t>REFERENCES</a:t>
            </a:r>
          </a:p>
        </p:txBody>
      </p:sp>
      <p:sp>
        <p:nvSpPr>
          <p:cNvPr id="5" name="TextBox 4"/>
          <p:cNvSpPr txBox="1"/>
          <p:nvPr/>
        </p:nvSpPr>
        <p:spPr>
          <a:xfrm>
            <a:off x="566928" y="448056"/>
            <a:ext cx="11045952" cy="548640"/>
          </a:xfrm>
          <a:prstGeom prst="rect">
            <a:avLst/>
          </a:prstGeom>
          <a:noFill/>
        </p:spPr>
        <p:txBody>
          <a:bodyPr wrap="square" lIns="18288" rIns="18288" tIns="9144" bIns="9144" anchor="t">
            <a:spAutoFit/>
          </a:bodyPr>
          <a:lstStyle/>
          <a:p>
            <a:pPr algn="l"/>
            <a:r>
              <a:rPr sz="3300" b="1" i="0">
                <a:solidFill>
                  <a:srgbClr val="12263A"/>
                </a:solidFill>
                <a:latin typeface="Cambria"/>
              </a:rPr>
              <a:t>References for the Review-Response Slides</a:t>
            </a:r>
          </a:p>
        </p:txBody>
      </p:sp>
      <p:sp>
        <p:nvSpPr>
          <p:cNvPr id="6" name="Rounded Rectangle 5"/>
          <p:cNvSpPr/>
          <p:nvPr/>
        </p:nvSpPr>
        <p:spPr>
          <a:xfrm>
            <a:off x="566928" y="1060704"/>
            <a:ext cx="11045952" cy="438912"/>
          </a:xfrm>
          <a:prstGeom prst="roundRect">
            <a:avLst>
              <a:gd name="adj" fmla="val 8000"/>
            </a:avLst>
          </a:prstGeom>
          <a:solidFill>
            <a:srgbClr val="EAF2F8"/>
          </a:solidFill>
          <a:ln w="12700">
            <a:solidFill>
              <a:srgbClr val="D7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1097280"/>
            <a:ext cx="10744200" cy="384048"/>
          </a:xfrm>
          <a:prstGeom prst="rect">
            <a:avLst/>
          </a:prstGeom>
          <a:noFill/>
        </p:spPr>
        <p:txBody>
          <a:bodyPr wrap="square" lIns="18288" rIns="18288" tIns="9144" bIns="9144" anchor="ctr">
            <a:spAutoFit/>
          </a:bodyPr>
          <a:lstStyle/>
          <a:p>
            <a:pPr algn="l"/>
            <a:r>
              <a:rPr sz="1019" b="0" i="0">
                <a:solidFill>
                  <a:srgbClr val="5B6B7C"/>
                </a:solidFill>
                <a:latin typeface="Calibri"/>
              </a:rPr>
              <a:t>Numbered as cited on the new slides  |  Sources of the original slides remain on those slides  |  Verified on 3 October 2026</a:t>
            </a:r>
          </a:p>
        </p:txBody>
      </p:sp>
      <p:sp>
        <p:nvSpPr>
          <p:cNvPr id="8" name="TextBox 7"/>
          <p:cNvSpPr txBox="1"/>
          <p:nvPr/>
        </p:nvSpPr>
        <p:spPr>
          <a:xfrm>
            <a:off x="667512" y="1691640"/>
            <a:ext cx="5349240" cy="4480560"/>
          </a:xfrm>
          <a:prstGeom prst="rect">
            <a:avLst/>
          </a:prstGeom>
          <a:noFill/>
        </p:spPr>
        <p:txBody>
          <a:bodyPr wrap="square" lIns="18288" rIns="18288" tIns="9144" bIns="9144" anchor="t">
            <a:spAutoFit/>
          </a:bodyPr>
          <a:lstStyle/>
          <a:p>
            <a:pPr algn="l">
              <a:spcAft>
                <a:spcPts val="1000"/>
              </a:spcAft>
            </a:pPr>
            <a:r>
              <a:rPr sz="1250" b="0" i="0">
                <a:solidFill>
                  <a:srgbClr val="12263A"/>
                </a:solidFill>
                <a:latin typeface="Calibri"/>
              </a:rPr>
              <a:t>[1] T. Mizrahi, "Security Requirements of Time Protocols in Packet Switched Networks," IETF RFC 7384 (Informational), Oct. 2014.</a:t>
            </a:r>
          </a:p>
          <a:p>
            <a:pPr algn="l">
              <a:spcAft>
                <a:spcPts val="1000"/>
              </a:spcAft>
            </a:pPr>
            <a:r>
              <a:rPr sz="1250" b="0" i="0">
                <a:solidFill>
                  <a:srgbClr val="12263A"/>
                </a:solidFill>
                <a:latin typeface="Calibri"/>
              </a:rPr>
              <a:t>[2] ETSI TR 104 106 V3.0.0 (2025-06), O-RAN Security Threat Modeling and Risk Assessment (O-RAN WG11).</a:t>
            </a:r>
          </a:p>
          <a:p>
            <a:pPr algn="l">
              <a:spcAft>
                <a:spcPts val="1000"/>
              </a:spcAft>
            </a:pPr>
            <a:r>
              <a:rPr sz="1250" b="0" i="0">
                <a:solidFill>
                  <a:srgbClr val="12263A"/>
                </a:solidFill>
                <a:latin typeface="Calibri"/>
              </a:rPr>
              <a:t>[3] ETSI TS 104 105 V7.0.0 (2025-06), O-RAN Security Test Specifications.</a:t>
            </a:r>
          </a:p>
          <a:p>
            <a:pPr algn="l">
              <a:spcAft>
                <a:spcPts val="1000"/>
              </a:spcAft>
            </a:pPr>
            <a:r>
              <a:rPr sz="1250" b="0" i="0">
                <a:solidFill>
                  <a:srgbClr val="12263A"/>
                </a:solidFill>
                <a:latin typeface="Calibri"/>
              </a:rPr>
              <a:t>[4] ETSI TS 103 982 V8.0.0 (2024-01), O-RAN Architecture Description.</a:t>
            </a:r>
          </a:p>
          <a:p>
            <a:pPr algn="l">
              <a:spcAft>
                <a:spcPts val="1000"/>
              </a:spcAft>
            </a:pPr>
            <a:r>
              <a:rPr sz="1250" b="0" i="0">
                <a:solidFill>
                  <a:srgbClr val="12263A"/>
                </a:solidFill>
                <a:latin typeface="Calibri"/>
              </a:rPr>
              <a:t>[5] IEEE Std 1588-2019, Precision Clock Synchronization Protocol for Networked Measurement and Control Systems.</a:t>
            </a:r>
          </a:p>
          <a:p>
            <a:pPr algn="l">
              <a:spcAft>
                <a:spcPts val="1000"/>
              </a:spcAft>
            </a:pPr>
            <a:r>
              <a:rPr sz="1250" b="0" i="0">
                <a:solidFill>
                  <a:srgbClr val="12263A"/>
                </a:solidFill>
                <a:latin typeface="Calibri"/>
              </a:rPr>
              <a:t>[6] ITU-T G.8275.1, Precision time protocol telecom profile for phase/time synchronization with full timing support from the network.</a:t>
            </a:r>
          </a:p>
          <a:p>
            <a:pPr algn="l">
              <a:spcAft>
                <a:spcPts val="1000"/>
              </a:spcAft>
            </a:pPr>
            <a:r>
              <a:rPr sz="1250" b="0" i="0">
                <a:solidFill>
                  <a:srgbClr val="12263A"/>
                </a:solidFill>
                <a:latin typeface="Calibri"/>
              </a:rPr>
              <a:t>[7] G. Armstrong, "O-RAN Fundamentals," ATIS WSTS 2023, quoting O-RAN.WG4.CUS.0 v06.00.</a:t>
            </a:r>
          </a:p>
          <a:p>
            <a:pPr algn="l">
              <a:spcAft>
                <a:spcPts val="1000"/>
              </a:spcAft>
            </a:pPr>
            <a:r>
              <a:rPr sz="1250" b="0" i="0">
                <a:solidFill>
                  <a:srgbClr val="12263A"/>
                </a:solidFill>
                <a:latin typeface="Calibri"/>
              </a:rPr>
              <a:t>[8] S. Ruffini, "Sync for 5G: What Is Needed," ATIS 2018, quoting 3GPP TS 38.133 cell phase synchronization accuracy.</a:t>
            </a:r>
          </a:p>
        </p:txBody>
      </p:sp>
      <p:sp>
        <p:nvSpPr>
          <p:cNvPr id="9" name="TextBox 8"/>
          <p:cNvSpPr txBox="1"/>
          <p:nvPr/>
        </p:nvSpPr>
        <p:spPr>
          <a:xfrm>
            <a:off x="6263640" y="1691640"/>
            <a:ext cx="5349240" cy="4480560"/>
          </a:xfrm>
          <a:prstGeom prst="rect">
            <a:avLst/>
          </a:prstGeom>
          <a:noFill/>
        </p:spPr>
        <p:txBody>
          <a:bodyPr wrap="square" lIns="18288" rIns="18288" tIns="9144" bIns="9144" anchor="t">
            <a:spAutoFit/>
          </a:bodyPr>
          <a:lstStyle/>
          <a:p>
            <a:pPr algn="l">
              <a:spcAft>
                <a:spcPts val="1000"/>
              </a:spcAft>
            </a:pPr>
            <a:r>
              <a:rPr sz="1250" b="0" i="0">
                <a:solidFill>
                  <a:srgbClr val="12263A"/>
                </a:solidFill>
                <a:latin typeface="Calibri"/>
              </a:rPr>
              <a:t>[9] 3GPP TS 38.104 Rel-19, NR Base Station radio transmission and reception, clause 9.6.3.2 Time alignment error.</a:t>
            </a:r>
          </a:p>
          <a:p>
            <a:pPr algn="l">
              <a:spcAft>
                <a:spcPts val="1000"/>
              </a:spcAft>
            </a:pPr>
            <a:r>
              <a:rPr sz="1250" b="0" i="0">
                <a:solidFill>
                  <a:srgbClr val="12263A"/>
                </a:solidFill>
                <a:latin typeface="Calibri"/>
              </a:rPr>
              <a:t>[10] J. Groen et al., "TIMESAFE: Timing Interruption Monitoring and Security Assessment for Fronthaul Environments," ACM TOPS 28(5), 2025, doi:10.1145/3775060 (arXiv 2412.13049v3); data: github.com/genesys-neu/s-plane_security.</a:t>
            </a:r>
          </a:p>
          <a:p>
            <a:pPr algn="l">
              <a:spcAft>
                <a:spcPts val="1000"/>
              </a:spcAft>
            </a:pPr>
            <a:r>
              <a:rPr sz="1250" b="0" i="0">
                <a:solidFill>
                  <a:srgbClr val="12263A"/>
                </a:solidFill>
                <a:latin typeface="Calibri"/>
              </a:rPr>
              <a:t>[11] ETSI TS 138 401 (3GPP TS 38.401) Rel-18, NG-RAN Architecture description.</a:t>
            </a:r>
          </a:p>
          <a:p>
            <a:pPr algn="l">
              <a:spcAft>
                <a:spcPts val="1000"/>
              </a:spcAft>
            </a:pPr>
            <a:r>
              <a:rPr sz="1250" b="0" i="0">
                <a:solidFill>
                  <a:srgbClr val="12263A"/>
                </a:solidFill>
                <a:latin typeface="Calibri"/>
              </a:rPr>
              <a:t>[12] BSI (Federal Office for Information Security), 5G Risk Analysis: Radio Access Network, v1.0, 20 Feb 2025.</a:t>
            </a:r>
          </a:p>
          <a:p>
            <a:pPr algn="l">
              <a:spcAft>
                <a:spcPts val="1000"/>
              </a:spcAft>
            </a:pPr>
            <a:r>
              <a:rPr sz="1250" b="0" i="0">
                <a:solidFill>
                  <a:srgbClr val="12263A"/>
                </a:solidFill>
                <a:latin typeface="Calibri"/>
              </a:rPr>
              <a:t>[13] IEEE SA, IEEE 1588 PTP profiles list, sagroups.ieee.org/1588/ptp-profiles.</a:t>
            </a:r>
          </a:p>
          <a:p>
            <a:pPr algn="l">
              <a:spcAft>
                <a:spcPts val="1000"/>
              </a:spcAft>
            </a:pPr>
            <a:r>
              <a:rPr sz="1250" b="0" i="0">
                <a:solidFill>
                  <a:srgbClr val="12263A"/>
                </a:solidFill>
                <a:latin typeface="Calibri"/>
              </a:rPr>
              <a:t>[14] linuxptp project, ptp4l and pmc documentation, linuxptp.nwtime.org.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TotalTime>
  <Words>10682</Words>
  <Application>Microsoft Office PowerPoint</Application>
  <PresentationFormat>Widescreen</PresentationFormat>
  <Paragraphs>973</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Samsung PRISM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O-RAN Open Fronthaul S-Plane Timing Security</dc:title>
  <dc:subject>168-run S-plane fault-classification campaign</dc:subject>
  <dc:creator>Tanmaya Kumar</dc:creator>
  <cp:lastModifiedBy>TANMAYA KUMAR-[BL.EN.U4EAC23058]</cp:lastModifiedBy>
  <cp:revision>2</cp:revision>
  <dcterms:created xsi:type="dcterms:W3CDTF">2026-09-29T06:18:05Z</dcterms:created>
  <dcterms:modified xsi:type="dcterms:W3CDTF">2026-09-29T08:37:29Z</dcterms:modified>
</cp:coreProperties>
</file>
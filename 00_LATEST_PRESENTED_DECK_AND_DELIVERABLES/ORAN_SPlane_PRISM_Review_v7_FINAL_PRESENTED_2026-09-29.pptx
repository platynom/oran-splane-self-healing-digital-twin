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454463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Original Samsung PRISM worklet definition, reproduced unchanged.
Worklet objective 5 and expected outcome 4 both require comparison against rule-based methods. That requirement is answered on the rule-versus-ML slide.
Objectives 2 (prediction) and 4 (automated corrective action) are addressed in the scope-disclosure slide as not yet executed.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reports the Open Fronthaul S-plane timing-security sub-scope: what was implemented, what data was generated, what was inferred, and what remains.
Milestone mapping is retained in the speaker notes of each slide rather than in the visible titles.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Worklet mapping: M1 system architecture design.
Sources: O-RAN Alliance, O-RAN Architecture Description (published by ETSI as TS 103 982); O-RAN.WG4.CUS.0 Control, User and Synchronization Plane Specification; 3GPP TS 38.401.
Reading order for the audience: the upper row is the O-RAN reference architecture; the lower-left chain is the S-plane timing path (PRTC/grandmaster to boundary clock to O-RU); the highlighted block is the exact region this project worked on; the bottom row is our processing chain from feature extraction to the safe response decision.
Note for questions: E2 terminates at O-CU-CP, O-CU-UP, O-DU and O-eNB — it does not reach the O-RU. The project boundary sits on the Open Fronthaul, where E2 does not apply.
SyncE is a physical-layer function and was outside this software testbed; only PTP evidence was observed, on the brUP and brDN bridges.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Worklet mapping: M1 problem study.
130 ns is the pairwise relative limit between radio units in a cluster; under equal allocation that implies roughly ±65 ns per O-RU against the common reference, and the fronthaul network receives only a portion of that budget.
ITU-T G.8271.1 and G.8272 are paywalled. Values were confirmed against ATIS/WSTS tutorial material and vendor application notes; this is disclosed in the project workbooks.
TIMESAFE detail: the failure mode is an O-RU software crash requiring a manual reboot, observed when switch PTP ports were in dynamic role. The same paper's alternative configuration degraded over roughly 580 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Worklet mapping: M1 decision requirements and sub-scope definition.
Decision parameters used later: allow-listed clock identity, maintenance-window state, clockClass, priority fields, stepsRemoved, sequence continuity, observed message rate, offset, path delay and packet delay variation.
If asked why not the whole RAN: scoping to the S-plane is what made rigorous, repeatable measurement possible in the available time.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Worklet mapping: M1 literature survey.
J. Groen et al., TIMESAFE: Timing Interruption Monitoring and Security Assessment for Fronthaul Environments, ACM Transactions on Privacy and Security 28(5), 2025, DOI 10.1145/3775060.
L. Bonati et al., Colosseum: The Open RAN Digital Twin, IEEE Open Journal of the Communications Society, 2024, DOI 10.1109/OJCOMS.2024.3447472.
Digital Twin for O-RAN Towards 6G, IEEE Communications Magazine, 2024, DOI 10.1109/MCOM.003.2400016.
L. Bonati et al., OpenRAN Gym, Computer Networks, 2023.
TSN Digital Twin for STRIDE-Based Security Testing, EURASIP Journal on Information Security, 2025, DOI 10.1186/s13635-025-00213-7.
The gap statement is bounded to the locally reviewed source set. It is not a claim that no publication worldwide addresses any part of the problem.</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Worklet mapping: M1 research gap analysis.
Federated Continual Learning for Sustainable O-RAN Anomaly Detection, IEEE WCNC 2024.
Adversarial Machine Learning Threat Analysis and Remediation in Open Radio Access Network, JNCA 2024, DOI 10.1016/j.jnca.2024.104090.
O-RAN xApps: Survey and Research Challenges, Computer Networks 2025.
Anomaly Detection for xApp and E2 Interface Threats in O-RAN Near-RT RIC, IEEE 2025.
The gap claim is bounded to the reviewed local literature and to the experimental design actually executed.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Worklet mapping: M1 project justification.
This slide separates what was demonstrated from what remains future scope, so that the novelty claim is bounded by executed evidence.
Not demonstrated in this campaign: digital-twin orchestration, automatic recovery execution, MTTR reduction, availability improvement.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Worklet mapping: M2 standards grounding.
IEEE Std 1588-2019, Precision Clock Synchronization Protocol for Networked Measurement and Control Systems.
O-RAN Alliance WG4, Control, User and Synchronization Plane Specification, O-RAN.WG4.CUS.0.
O-RAN Alliance WG11, Security Threat Modeling and Risk Assessment, published by ETSI as TR 104 106 V3.0.0 (2025-06). It defines four S-plane threats: T-SPLANE-01 DoS against a master clock; T-SPLANE-02 master impersonation via fake ANNOUNCE; T-SPLANE-03 rogue PTP instance seeking Grand Master; T-SPLANE-04 selective interception and removal of PTP packets.
ITU-T G.8275.1, PTP telecom profile for phase/time synchronization with full timing support from the network.
ITU-T G.8273.2, Timing characteristics of telecom boundary clocks and telecom time slave clocks.
ITU-T G.8262, Timing characteristics of synchronous Ethernet equipment slave clock — cited for context only; SyncE was outside this testbed.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Worklet mapping: M3 fault-injection testbed (partial — digital twin not exercised).
linuxptp 4.0 was released 2023-06-09 and ships configs/G.8275.1.cfg with dataset_comparison G.8275.x.
Capture note: PCAPs totalling roughly 222 MB were recorded across the 168 runs. The corrected archive that was packaged for review retains extracted deep CSVs, verdicts, context and scripts, but not the source PCAPs.
The absence of an independent clock-error instrument is the reason no conformance claim is made against ITU-T G.8273.2 or G.8271.1.</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Worklet mapping: M2 KPI configuration and platform constraints.
Configuration was verified by reading the live ptp4l configuration of all nine daemon configs, not by restating intended values.
Transport note: G.8275.1 permits both 01-1B-19-00-00-00 (forwardable) and 01-80-C2-00-00-0E (link-local). The forwardable address is linuxptp's default and is what this testbed used.
This slide is deliberately placed before the results so the evidence ceiling is established first.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Worklet mapping: M1 system data flow.
The 56 columns comprise IEEE 1588 header, flag, correction, identity, sequence and Announce data-set fields, plus derived G.8275.1 conformance flags such as domain legality, multicast legality and message-interval legality.
The empty-not-zero rule originated from a real defect found and fixed during development; it is retained as a design constraint.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Worklet mapping: M3 dataset generation and M6 evidence packaging.
Totals recomputed directly from the 168 run directories: 1,451,909 packet records across the downstream extracts; 48,904 daemon log lines; approximately 222.6 MB of PCAP; 499.4 MB total on disk before packaging.
Per-scenario mean records per run: A1 7,781; A2 7,655; A3 10,619; A5 38,319; A8 7,858; B2 6,113; B3 5,204; B7 5,834; B_bc_replacement 6,029; B_unplanned_failover 6,102; C1 2,360; C2 5,584; C3 5,506; baseline 6,021.
Replicate metadata caveat: 36 C-series context.json files record rep=901; the authoritative replicate number is the one encoded in the run directory name, and the evaluation uses that.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Worklet mapping: M3 fault injection on the live packet path.
Standards references for the injected conditions: C2 malformed frames map to O-RAN WG11 test 24.2.1.2; C1 interception maps to test 11.1.5.3.1; C3 whole-second abuse concerns IEEE 1588-2019 timePropertiesDS in clause 8.2.4 with leap-second handling in clause 9.4.
controlField is deprecated in IEEE 1588-2019 and ignored under G.8275.1, so it is not used as sole legality evidence for C2.
sch_netem is unavailable in this kernel, so B3 congestion uses a tbf bottleneck with competing non-PTP background traffic; packets are delayed rather than dropped.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Worklet mapping: M2 fault taxonomy and M6 per-scenario evaluation.
Results shown are for the primary decision rule and are identical to the pre-frozen base rule on these four scenarios.
ETSI TR 104 106 V3.0.0 defines four S-plane threats. A1 maps to T-SPLANE-02 and -03; A5 maps to T-SPLANE-01. A3 replay has no direct counterpart in that set, which is stated rather than forced.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Worklet mapping: M2 fault taxonomy and M6 per-scenario evaluation.
C-series scenarios are campaign identifiers derived from O-RAN WG11 test cases, not A/B taxonomy classes.
C1 result is 11/12: one replicate at a 60 percent blackhole evaded the detector. This is quantified on the detection-boundary slide.
controlField was historically used as a legality signal for malformed frames but is deprecated in IEEE 1588-2019 and ignored under G.8275.1, so it is not relied on.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Worklet mapping: M2 fault taxonomy and M6 per-scenario evaluation.
B3 records 11 of 12 correct. The single incorrect run returns UNKNOWN, not ATTACK — it is an over-cautious abstention under severe congestion, not a false alarm.
B_bc_replacement produces 12 false ATTACK calls and is the dominant cause of the 0.783 macro specificity. Excluding it, benign classification is 47 of 48, or 0.979.
B3 was rebuilt after an audit found the original netem-based injection never executed; the corrected scenario uses a tbf bottleneck with competing traffic.</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Worklet mapping: M2 fault taxonomy and coverage statement.
Catalogue tally from the project parameter matrix: eight fully-software classes (A1, A2, A3, A5, B2, B3, B7, B8); three software-detection-only classes (A4, A8, B5); five hardware-required classes (A6, A7, B1, B4, B6).
ETSI mapping is partial and stated as such: A5 to T-SPLANE-01, A1 to T-SPLANE-02 and -03, A8 to T-SPLANE-03, C1 to T-SPLANE-04. Replay, delay attack and the GNSS classes have no direct counterpart among the four defined S-plane threats.
The three C-series scenarios are campaign identifiers derived from O-RAN WG11 test cases; they sit alongside this catalogue rather than inside it.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Worklet mapping: M5 decision engine, partial — classification evaluated, closed-loop healing not validated.
Classification tests self-consistency against the standard and against provisioned intent. It does not react to the magnitude of the timing error.
The rule is expressed as ordered clauses, and the triggering clause is recorded with every verdict so that each decision is auditable.
ISOLATE, TOLERATE/HOLDOVER and ESCALATE are verdict outputs. No isolation, holdover entry or escalation was executed or measured.</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Worklet mapping: M6 campaign design and reproducibility controls.
Base rule hash c362e11…; v3 hash aa9417b7…. v2 and v3 produce identical verdicts on all 168 runs, verified per run.
Additive-only verification was performed per run rather than by comparing summary scalars: zero runs exist where the base rule said ATTACK and v3 did not; 35 escalations occur, all on C1, C2 and C3.</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Worklet mapping: M6 experimental integrity.
The audit also found that run/randparams.py and run/scenarios.sh no longer match the original frozen manifest. That change is disclosed in FROZEN_HARNESS_EPOCH2.json. The decision rules themselves are unchanged and still match their original hashes — only the experiment apparatus changed.
An earlier 132-run campaign is superseded by this corrected 168-run campaign. The B3 defect also invalidates B3 in that earlier campaign, so its figures are withdrawn and are not presented.</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Worklet mapping: M6 per-scenario evaluation.
Intervals are Wilson score 95% intervals computed on n=12 per scenario; they are wide by construction at that sample size.
The B3 incorrect run returns UNKNOWN rather than ATTACK, so it is an abstention on a benign scenario, not a false alarm. B_bc_replacement produces 12 false ATTACK calls.
All counts were recomputed directly from the 168 run directories rather than read from a summary file.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Worklet mapping: M6 primary results.
Macro sensitivity 0.9896 rounds to 0.990. Macro specificity is 0.7833. Attribution is 84 of 96 attack runs with a Wilson interval of 0.794 to 0.927.
Because every scenario has n=12, the macro averages coincide numerically with pooled rates here; they are still reported as macro figures because pooled rates move with run counts in general.</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Worklet mapping: M4 model development and M6 objective-5 comparison.
The split is session-disjoint by replicate, never by window, so no window from a test run appears in training.
Per-window figures reported separately: ARM B window accuracy 0.544 and ROC-AUC 0.604 over 1,923 windows on known scenarios. These are window-level, not run-level, and are not comparable with the run counts in the table.
McNemar exact two-sided p = 0.21875 from 5 discordant pairs favouring ARM B against 1 favouring the control.</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Worklet mapping: M6 objective-5 interpretation.
The sparsity asymmetry is the most transferable architectural finding: attacks that starve telemetry blind a telemetry-based detector but not a packet-based one.
Because ARM B's attack sensitivity is 0.156 across all eight attack scenarios, including A1, A2, A3, A5 and A8 where servo telemetry is intact at roughly 88 lines per run, starvation on C1 and C3 compounds the problem rather than causing it.</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Worklet mapping: M6 measured detection boundary.
Presenting the boundary is more informative than presenting 11/12 alone: it tells an operator the evasion condition rather than a bare miss rate.
Because 55 % was never drawn and would also have evaded, recall against the full designed parameter space is weaker than 11/12 implies. This is stated rather than left to be discovered.
Short or bursty interception that averages out across the window is not detected by a rate-based clause; a continuity-based clause is proposed in the remaining-work slide.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Worklet mapping: M6 documented limitations.
Volunteering these is deliberate. A reviewer who discovers an undisclosed limitation will discount the remainder of the evidence.
The B3 congestion miss is not listed as a separate limitation because it is an abstention rather than a misclassification, but it is the second contributor to the 0.783 specificity and is stated on the results slide.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Worklet mapping: delivery status against the original milestone plan.
Worklet objectives 1, 3 and 5 are addressed: anomaly detection is delivered by the rule engine, the testbed provides controlled fault injection, and the AI-versus-rule comparison is complete with a statistical control.
Objectives 2 and 4 are not addressed in this sub-scope, and the expected outcomes concerning faster recovery and improved availability were not measured here. This is stated rather than inferred.</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Worklet mapping: M3, M5 and M6 remaining work.
Hardware priority order if procurement is limited: a GNSS receiver unlocks three classes and is the single highest-value item; a hardware-timestamping NIC improves the credibility of every timing-magnitude claim; a second machine and a SyncE PHY unlock one class each.
The software items are ordered by expected effect on the reported metrics: the provisioned-replacement fix addresses the only systematic benign failure.</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Worklet mapping: closing technical summary.
No new claim is introduced on this slide; every figure appears earlier with its evidence.
If asked for the single most important caveat: the 0.990 sensitivity belongs to a rule revised after observing the campaign, and the pre-frozen rule scored 0.625 on the same captures. Both figures are reported throughout.</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p:spPr>
        <p:txBody>
          <a:bodyPr/>
          <a:lstStyle/>
          <a:p>
            <a:endParaRPr lang="en-IN"/>
          </a:p>
        </p:txBody>
      </p:sp>
      <p:pic>
        <p:nvPicPr>
          <p:cNvPr id="3" name="Image 0" descr="assets/worklet_card.png"/>
          <p:cNvPicPr>
            <a:picLocks noChangeAspect="1"/>
          </p:cNvPicPr>
          <p:nvPr/>
        </p:nvPicPr>
        <p:blipFill>
          <a:blip r:embed="rId3"/>
          <a:stretch>
            <a:fillRect/>
          </a:stretch>
        </p:blipFill>
        <p:spPr>
          <a:xfrm>
            <a:off x="0" y="171450"/>
            <a:ext cx="12191695" cy="65151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E2440"/>
          </a:solidFill>
          <a:ln/>
        </p:spPr>
        <p:txBody>
          <a:bodyPr/>
          <a:lstStyle/>
          <a:p>
            <a:endParaRPr lang="en-IN"/>
          </a:p>
        </p:txBody>
      </p:sp>
      <p:sp>
        <p:nvSpPr>
          <p:cNvPr id="3" name="Shape 1"/>
          <p:cNvSpPr/>
          <p:nvPr/>
        </p:nvSpPr>
        <p:spPr>
          <a:xfrm>
            <a:off x="0" y="0"/>
            <a:ext cx="12192000" cy="114300"/>
          </a:xfrm>
          <a:prstGeom prst="rect">
            <a:avLst/>
          </a:prstGeom>
          <a:solidFill>
            <a:srgbClr val="18B89A"/>
          </a:solidFill>
          <a:ln/>
        </p:spPr>
        <p:txBody>
          <a:bodyPr/>
          <a:lstStyle/>
          <a:p>
            <a:endParaRPr lang="en-IN"/>
          </a:p>
        </p:txBody>
      </p:sp>
      <p:sp>
        <p:nvSpPr>
          <p:cNvPr id="4" name="Text 2"/>
          <p:cNvSpPr/>
          <p:nvPr/>
        </p:nvSpPr>
        <p:spPr>
          <a:xfrm>
            <a:off x="857250" y="1676400"/>
            <a:ext cx="10477500" cy="628650"/>
          </a:xfrm>
          <a:prstGeom prst="rect">
            <a:avLst/>
          </a:prstGeom>
          <a:noFill/>
          <a:ln/>
        </p:spPr>
        <p:txBody>
          <a:bodyPr wrap="square" lIns="0" tIns="0" rIns="0" bIns="0" rtlCol="0" anchor="t">
            <a:normAutofit/>
          </a:bodyPr>
          <a:lstStyle/>
          <a:p>
            <a:pPr marL="0" indent="0" algn="l">
              <a:lnSpc>
                <a:spcPct val="100000"/>
              </a:lnSpc>
              <a:buNone/>
            </a:pPr>
            <a:r>
              <a:rPr lang="en-US" sz="5400" b="1" dirty="0">
                <a:solidFill>
                  <a:srgbClr val="FFFFFF"/>
                </a:solidFill>
                <a:latin typeface="Cambria" pitchFamily="34" charset="0"/>
                <a:ea typeface="Cambria" pitchFamily="34" charset="-122"/>
                <a:cs typeface="Cambria" pitchFamily="34" charset="-120"/>
              </a:rPr>
              <a:t>Open Fronthaul S-Plane</a:t>
            </a:r>
            <a:endParaRPr lang="en-US" sz="5400" dirty="0"/>
          </a:p>
        </p:txBody>
      </p:sp>
      <p:sp>
        <p:nvSpPr>
          <p:cNvPr id="5" name="Text 3"/>
          <p:cNvSpPr/>
          <p:nvPr/>
        </p:nvSpPr>
        <p:spPr>
          <a:xfrm>
            <a:off x="857250" y="2305050"/>
            <a:ext cx="10477500" cy="628650"/>
          </a:xfrm>
          <a:prstGeom prst="rect">
            <a:avLst/>
          </a:prstGeom>
          <a:noFill/>
          <a:ln/>
        </p:spPr>
        <p:txBody>
          <a:bodyPr wrap="square" lIns="0" tIns="0" rIns="0" bIns="0" rtlCol="0" anchor="t">
            <a:normAutofit/>
          </a:bodyPr>
          <a:lstStyle/>
          <a:p>
            <a:pPr marL="0" indent="0" algn="l">
              <a:lnSpc>
                <a:spcPct val="100000"/>
              </a:lnSpc>
              <a:buNone/>
            </a:pPr>
            <a:r>
              <a:rPr lang="en-US" sz="5400" b="1" dirty="0">
                <a:solidFill>
                  <a:srgbClr val="18B89A"/>
                </a:solidFill>
                <a:latin typeface="Cambria" pitchFamily="34" charset="0"/>
                <a:ea typeface="Cambria" pitchFamily="34" charset="-122"/>
                <a:cs typeface="Cambria" pitchFamily="34" charset="-120"/>
              </a:rPr>
              <a:t>Timing Security</a:t>
            </a:r>
            <a:endParaRPr lang="en-US" sz="5400" dirty="0"/>
          </a:p>
        </p:txBody>
      </p:sp>
      <p:sp>
        <p:nvSpPr>
          <p:cNvPr id="6" name="Shape 4"/>
          <p:cNvSpPr/>
          <p:nvPr/>
        </p:nvSpPr>
        <p:spPr>
          <a:xfrm>
            <a:off x="857250" y="3143250"/>
            <a:ext cx="1143000" cy="38100"/>
          </a:xfrm>
          <a:prstGeom prst="rect">
            <a:avLst/>
          </a:prstGeom>
          <a:solidFill>
            <a:srgbClr val="18B89A"/>
          </a:solidFill>
          <a:ln/>
        </p:spPr>
        <p:txBody>
          <a:bodyPr/>
          <a:lstStyle/>
          <a:p>
            <a:endParaRPr lang="en-IN"/>
          </a:p>
        </p:txBody>
      </p:sp>
      <p:sp>
        <p:nvSpPr>
          <p:cNvPr id="7" name="Text 5"/>
          <p:cNvSpPr/>
          <p:nvPr/>
        </p:nvSpPr>
        <p:spPr>
          <a:xfrm>
            <a:off x="857250" y="3390900"/>
            <a:ext cx="9525000" cy="285750"/>
          </a:xfrm>
          <a:prstGeom prst="rect">
            <a:avLst/>
          </a:prstGeom>
          <a:noFill/>
          <a:ln/>
        </p:spPr>
        <p:txBody>
          <a:bodyPr wrap="square" lIns="0" tIns="0" rIns="0" bIns="0" rtlCol="0" anchor="t">
            <a:normAutofit/>
          </a:bodyPr>
          <a:lstStyle/>
          <a:p>
            <a:pPr marL="0" indent="0" algn="l">
              <a:lnSpc>
                <a:spcPct val="100000"/>
              </a:lnSpc>
              <a:buNone/>
            </a:pPr>
            <a:r>
              <a:rPr lang="en-US" sz="1900" dirty="0">
                <a:solidFill>
                  <a:srgbClr val="CFD9E5"/>
                </a:solidFill>
                <a:latin typeface="Calibri" pitchFamily="34" charset="0"/>
                <a:ea typeface="Calibri" pitchFamily="34" charset="-122"/>
                <a:cs typeface="Calibri" pitchFamily="34" charset="-120"/>
              </a:rPr>
              <a:t>Sub-scope of the AI-Native Self-Healing O-RAN Network using a Digital Twin worklet</a:t>
            </a:r>
            <a:endParaRPr lang="en-US" sz="1900" dirty="0"/>
          </a:p>
        </p:txBody>
      </p:sp>
      <p:sp>
        <p:nvSpPr>
          <p:cNvPr id="8" name="Text 6"/>
          <p:cNvSpPr/>
          <p:nvPr/>
        </p:nvSpPr>
        <p:spPr>
          <a:xfrm>
            <a:off x="857250" y="4095750"/>
            <a:ext cx="2857500" cy="190500"/>
          </a:xfrm>
          <a:prstGeom prst="rect">
            <a:avLst/>
          </a:prstGeom>
          <a:noFill/>
          <a:ln/>
        </p:spPr>
        <p:txBody>
          <a:bodyPr wrap="square" lIns="0" tIns="0" rIns="0" bIns="0" rtlCol="0" anchor="t">
            <a:normAutofit/>
          </a:bodyPr>
          <a:lstStyle/>
          <a:p>
            <a:pPr marL="0" indent="0" algn="l">
              <a:lnSpc>
                <a:spcPct val="100000"/>
              </a:lnSpc>
              <a:buNone/>
            </a:pPr>
            <a:r>
              <a:rPr lang="en-US" sz="1150" b="1" dirty="0">
                <a:solidFill>
                  <a:srgbClr val="18B89A"/>
                </a:solidFill>
                <a:latin typeface="Calibri" pitchFamily="34" charset="0"/>
                <a:ea typeface="Calibri" pitchFamily="34" charset="-122"/>
                <a:cs typeface="Calibri" pitchFamily="34" charset="-120"/>
              </a:rPr>
              <a:t>TEAM</a:t>
            </a:r>
            <a:endParaRPr lang="en-US" sz="1150" dirty="0"/>
          </a:p>
        </p:txBody>
      </p:sp>
      <p:sp>
        <p:nvSpPr>
          <p:cNvPr id="9" name="Text 7"/>
          <p:cNvSpPr/>
          <p:nvPr/>
        </p:nvSpPr>
        <p:spPr>
          <a:xfrm>
            <a:off x="857250" y="4343400"/>
            <a:ext cx="5905500" cy="476250"/>
          </a:xfrm>
          <a:prstGeom prst="rect">
            <a:avLst/>
          </a:prstGeom>
          <a:noFill/>
          <a:ln/>
        </p:spPr>
        <p:txBody>
          <a:bodyPr wrap="square" lIns="0" tIns="0" rIns="0" bIns="0" rtlCol="0" anchor="t">
            <a:normAutofit/>
          </a:bodyPr>
          <a:lstStyle/>
          <a:p>
            <a:pPr marL="0" indent="0" algn="l">
              <a:lnSpc>
                <a:spcPct val="100000"/>
              </a:lnSpc>
              <a:buNone/>
            </a:pPr>
            <a:r>
              <a:rPr lang="en-US" sz="1600" dirty="0">
                <a:solidFill>
                  <a:srgbClr val="FFFFFF"/>
                </a:solidFill>
                <a:latin typeface="Calibri" pitchFamily="34" charset="0"/>
                <a:ea typeface="Calibri" pitchFamily="34" charset="-122"/>
                <a:cs typeface="Calibri" pitchFamily="34" charset="-120"/>
              </a:rPr>
              <a:t>Tanmaya Kumar  ·  Raghu Ram K  ·  Munipalle Jaswanth Kumar</a:t>
            </a:r>
            <a:endParaRPr lang="en-US" sz="1600" dirty="0"/>
          </a:p>
        </p:txBody>
      </p:sp>
      <p:sp>
        <p:nvSpPr>
          <p:cNvPr id="10" name="Text 8"/>
          <p:cNvSpPr/>
          <p:nvPr/>
        </p:nvSpPr>
        <p:spPr>
          <a:xfrm>
            <a:off x="7048500" y="4095750"/>
            <a:ext cx="3810000" cy="190500"/>
          </a:xfrm>
          <a:prstGeom prst="rect">
            <a:avLst/>
          </a:prstGeom>
          <a:noFill/>
          <a:ln/>
        </p:spPr>
        <p:txBody>
          <a:bodyPr wrap="square" lIns="0" tIns="0" rIns="0" bIns="0" rtlCol="0" anchor="t">
            <a:normAutofit/>
          </a:bodyPr>
          <a:lstStyle/>
          <a:p>
            <a:pPr marL="0" indent="0" algn="l">
              <a:lnSpc>
                <a:spcPct val="100000"/>
              </a:lnSpc>
              <a:buNone/>
            </a:pPr>
            <a:r>
              <a:rPr lang="en-US" sz="1150" b="1" dirty="0">
                <a:solidFill>
                  <a:srgbClr val="18B89A"/>
                </a:solidFill>
                <a:latin typeface="Calibri" pitchFamily="34" charset="0"/>
                <a:ea typeface="Calibri" pitchFamily="34" charset="-122"/>
                <a:cs typeface="Calibri" pitchFamily="34" charset="-120"/>
              </a:rPr>
              <a:t>MENTORS</a:t>
            </a:r>
            <a:endParaRPr lang="en-US" sz="1150" dirty="0"/>
          </a:p>
        </p:txBody>
      </p:sp>
      <p:sp>
        <p:nvSpPr>
          <p:cNvPr id="11" name="Text 9"/>
          <p:cNvSpPr/>
          <p:nvPr/>
        </p:nvSpPr>
        <p:spPr>
          <a:xfrm>
            <a:off x="7048500" y="4343400"/>
            <a:ext cx="4286250" cy="476250"/>
          </a:xfrm>
          <a:prstGeom prst="rect">
            <a:avLst/>
          </a:prstGeom>
          <a:noFill/>
          <a:ln/>
        </p:spPr>
        <p:txBody>
          <a:bodyPr wrap="square" lIns="0" tIns="0" rIns="0" bIns="0" rtlCol="0" anchor="t">
            <a:normAutofit/>
          </a:bodyPr>
          <a:lstStyle/>
          <a:p>
            <a:pPr marL="0" indent="0" algn="l">
              <a:lnSpc>
                <a:spcPct val="100000"/>
              </a:lnSpc>
              <a:buNone/>
            </a:pPr>
            <a:r>
              <a:rPr lang="en-US" sz="1600" dirty="0">
                <a:solidFill>
                  <a:srgbClr val="FFFFFF"/>
                </a:solidFill>
                <a:latin typeface="Calibri" pitchFamily="34" charset="0"/>
                <a:ea typeface="Calibri" pitchFamily="34" charset="-122"/>
                <a:cs typeface="Calibri" pitchFamily="34" charset="-120"/>
              </a:rPr>
              <a:t>Mr. Bikas Singh (NovaThink Tech)</a:t>
            </a:r>
            <a:endParaRPr lang="en-US" sz="1600" dirty="0"/>
          </a:p>
          <a:p>
            <a:pPr marL="0" indent="0" algn="l">
              <a:lnSpc>
                <a:spcPct val="100000"/>
              </a:lnSpc>
              <a:buNone/>
            </a:pPr>
            <a:r>
              <a:rPr lang="en-US" sz="1600" dirty="0">
                <a:solidFill>
                  <a:srgbClr val="FFFFFF"/>
                </a:solidFill>
                <a:latin typeface="Calibri" pitchFamily="34" charset="0"/>
                <a:ea typeface="Calibri" pitchFamily="34" charset="-122"/>
                <a:cs typeface="Calibri" pitchFamily="34" charset="-120"/>
              </a:rPr>
              <a:t>Dr. Navin Kumar (Amrita Vishwa Vidyapeetham)</a:t>
            </a:r>
            <a:endParaRPr lang="en-US" sz="1600" dirty="0"/>
          </a:p>
        </p:txBody>
      </p:sp>
      <p:sp>
        <p:nvSpPr>
          <p:cNvPr id="12" name="Shape 10"/>
          <p:cNvSpPr/>
          <p:nvPr/>
        </p:nvSpPr>
        <p:spPr>
          <a:xfrm>
            <a:off x="857250" y="5334000"/>
            <a:ext cx="10477500" cy="14288"/>
          </a:xfrm>
          <a:prstGeom prst="rect">
            <a:avLst/>
          </a:prstGeom>
          <a:solidFill>
            <a:srgbClr val="27455E"/>
          </a:solidFill>
          <a:ln/>
        </p:spPr>
        <p:txBody>
          <a:bodyPr/>
          <a:lstStyle/>
          <a:p>
            <a:endParaRPr lang="en-IN"/>
          </a:p>
        </p:txBody>
      </p:sp>
      <p:sp>
        <p:nvSpPr>
          <p:cNvPr id="13" name="Text 11"/>
          <p:cNvSpPr/>
          <p:nvPr/>
        </p:nvSpPr>
        <p:spPr>
          <a:xfrm>
            <a:off x="857250" y="5543550"/>
            <a:ext cx="6667500" cy="228600"/>
          </a:xfrm>
          <a:prstGeom prst="rect">
            <a:avLst/>
          </a:prstGeom>
          <a:noFill/>
          <a:ln/>
        </p:spPr>
        <p:txBody>
          <a:bodyPr wrap="square" lIns="0" tIns="0" rIns="0" bIns="0" rtlCol="0" anchor="t">
            <a:normAutofit/>
          </a:bodyPr>
          <a:lstStyle/>
          <a:p>
            <a:pPr marL="0" indent="0" algn="l">
              <a:lnSpc>
                <a:spcPct val="100000"/>
              </a:lnSpc>
              <a:buNone/>
            </a:pPr>
            <a:r>
              <a:rPr lang="en-US" sz="1300" dirty="0">
                <a:solidFill>
                  <a:srgbClr val="CFD9E5"/>
                </a:solidFill>
                <a:latin typeface="Calibri" pitchFamily="34" charset="0"/>
                <a:ea typeface="Calibri" pitchFamily="34" charset="-122"/>
                <a:cs typeface="Calibri" pitchFamily="34" charset="-120"/>
              </a:rPr>
              <a:t>Amrita School of Engineering, Bengaluru  ·  Samsung PRISM</a:t>
            </a:r>
            <a:endParaRPr lang="en-US" sz="1300" dirty="0"/>
          </a:p>
        </p:txBody>
      </p:sp>
      <p:sp>
        <p:nvSpPr>
          <p:cNvPr id="14" name="Text 12"/>
          <p:cNvSpPr/>
          <p:nvPr/>
        </p:nvSpPr>
        <p:spPr>
          <a:xfrm>
            <a:off x="857250" y="5810250"/>
            <a:ext cx="8572500" cy="228600"/>
          </a:xfrm>
          <a:prstGeom prst="rect">
            <a:avLst/>
          </a:prstGeom>
          <a:noFill/>
          <a:ln/>
        </p:spPr>
        <p:txBody>
          <a:bodyPr wrap="square" lIns="0" tIns="0" rIns="0" bIns="0" rtlCol="0" anchor="t">
            <a:normAutofit/>
          </a:bodyPr>
          <a:lstStyle/>
          <a:p>
            <a:pPr marL="0" indent="0" algn="l">
              <a:lnSpc>
                <a:spcPct val="100000"/>
              </a:lnSpc>
              <a:buNone/>
            </a:pPr>
            <a:r>
              <a:rPr lang="en-US" sz="1300" b="1" dirty="0">
                <a:solidFill>
                  <a:srgbClr val="18B89A"/>
                </a:solidFill>
                <a:latin typeface="Calibri" pitchFamily="34" charset="0"/>
                <a:ea typeface="Calibri" pitchFamily="34" charset="-122"/>
                <a:cs typeface="Calibri" pitchFamily="34" charset="-120"/>
              </a:rPr>
              <a:t>168 live on-wire runs  ·  14 fault scenarios  ·  12 randomised replicates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8FAFC"/>
          </a:solidFill>
          <a:ln/>
        </p:spPr>
        <p:txBody>
          <a:bodyPr/>
          <a:lstStyle/>
          <a:p>
            <a:endParaRPr lang="en-IN"/>
          </a:p>
        </p:txBody>
      </p:sp>
      <p:sp>
        <p:nvSpPr>
          <p:cNvPr id="3" name="Shape 1"/>
          <p:cNvSpPr/>
          <p:nvPr/>
        </p:nvSpPr>
        <p:spPr>
          <a:xfrm>
            <a:off x="0" y="0"/>
            <a:ext cx="12192000" cy="114300"/>
          </a:xfrm>
          <a:prstGeom prst="rect">
            <a:avLst/>
          </a:prstGeom>
          <a:solidFill>
            <a:srgbClr val="18B89A"/>
          </a:solidFill>
          <a:ln/>
        </p:spPr>
        <p:txBody>
          <a:bodyPr/>
          <a:lstStyle/>
          <a:p>
            <a:endParaRPr lang="en-IN"/>
          </a:p>
        </p:txBody>
      </p:sp>
      <p:sp>
        <p:nvSpPr>
          <p:cNvPr id="4" name="Text 2"/>
          <p:cNvSpPr/>
          <p:nvPr/>
        </p:nvSpPr>
        <p:spPr>
          <a:xfrm>
            <a:off x="571500" y="209550"/>
            <a:ext cx="11049000" cy="228600"/>
          </a:xfrm>
          <a:prstGeom prst="rect">
            <a:avLst/>
          </a:prstGeom>
          <a:noFill/>
          <a:ln/>
        </p:spPr>
        <p:txBody>
          <a:bodyPr wrap="square" lIns="0" tIns="0" rIns="0" bIns="0" rtlCol="0" anchor="t">
            <a:normAutofit/>
          </a:bodyPr>
          <a:lstStyle/>
          <a:p>
            <a:pPr marL="0" indent="0" algn="l">
              <a:lnSpc>
                <a:spcPct val="100000"/>
              </a:lnSpc>
              <a:buNone/>
            </a:pPr>
            <a:r>
              <a:rPr lang="en-US" sz="1280" b="1" dirty="0">
                <a:solidFill>
                  <a:srgbClr val="1C7293"/>
                </a:solidFill>
                <a:latin typeface="Calibri" pitchFamily="34" charset="0"/>
                <a:ea typeface="Calibri" pitchFamily="34" charset="-122"/>
                <a:cs typeface="Calibri" pitchFamily="34" charset="-120"/>
              </a:rPr>
              <a:t>SYSTEM ARCHITECTURE AND PROJECT BOUNDARY</a:t>
            </a:r>
            <a:endParaRPr lang="en-US" sz="1280" dirty="0"/>
          </a:p>
        </p:txBody>
      </p:sp>
      <p:sp>
        <p:nvSpPr>
          <p:cNvPr id="5" name="Text 3"/>
          <p:cNvSpPr/>
          <p:nvPr/>
        </p:nvSpPr>
        <p:spPr>
          <a:xfrm>
            <a:off x="571500" y="447675"/>
            <a:ext cx="11049000" cy="552450"/>
          </a:xfrm>
          <a:prstGeom prst="rect">
            <a:avLst/>
          </a:prstGeom>
          <a:noFill/>
          <a:ln/>
        </p:spPr>
        <p:txBody>
          <a:bodyPr wrap="square" lIns="0" tIns="0" rIns="0" bIns="0" rtlCol="0" anchor="t">
            <a:normAutofit/>
          </a:bodyPr>
          <a:lstStyle/>
          <a:p>
            <a:pPr marL="0" indent="0" algn="l">
              <a:lnSpc>
                <a:spcPct val="100000"/>
              </a:lnSpc>
              <a:buNone/>
            </a:pPr>
            <a:r>
              <a:rPr lang="en-US" sz="2900" b="1" dirty="0">
                <a:solidFill>
                  <a:srgbClr val="12263A"/>
                </a:solidFill>
                <a:latin typeface="Cambria" pitchFamily="34" charset="0"/>
                <a:ea typeface="Cambria" pitchFamily="34" charset="-122"/>
                <a:cs typeface="Cambria" pitchFamily="34" charset="-120"/>
              </a:rPr>
              <a:t>End-to-End O-RAN Architecture and S-Plane Project Boundary</a:t>
            </a:r>
            <a:endParaRPr lang="en-US" sz="2900" dirty="0"/>
          </a:p>
        </p:txBody>
      </p:sp>
      <p:sp>
        <p:nvSpPr>
          <p:cNvPr id="6" name="Shape 4"/>
          <p:cNvSpPr/>
          <p:nvPr/>
        </p:nvSpPr>
        <p:spPr>
          <a:xfrm>
            <a:off x="571500" y="1057275"/>
            <a:ext cx="11049000" cy="438150"/>
          </a:xfrm>
          <a:prstGeom prst="roundRect">
            <a:avLst>
              <a:gd name="adj" fmla="val 8348"/>
            </a:avLst>
          </a:prstGeom>
          <a:solidFill>
            <a:srgbClr val="EAF2F8"/>
          </a:solidFill>
          <a:ln w="12700">
            <a:solidFill>
              <a:srgbClr val="D7E1EA"/>
            </a:solidFill>
            <a:prstDash val="solid"/>
          </a:ln>
        </p:spPr>
        <p:txBody>
          <a:bodyPr/>
          <a:lstStyle/>
          <a:p>
            <a:endParaRPr lang="en-IN"/>
          </a:p>
        </p:txBody>
      </p:sp>
      <p:sp>
        <p:nvSpPr>
          <p:cNvPr id="7" name="Text 5"/>
          <p:cNvSpPr/>
          <p:nvPr/>
        </p:nvSpPr>
        <p:spPr>
          <a:xfrm>
            <a:off x="723900" y="1123950"/>
            <a:ext cx="10744200" cy="323850"/>
          </a:xfrm>
          <a:prstGeom prst="rect">
            <a:avLst/>
          </a:prstGeom>
          <a:noFill/>
          <a:ln/>
        </p:spPr>
        <p:txBody>
          <a:bodyPr wrap="square" lIns="0" tIns="0" rIns="0" bIns="0" rtlCol="0" anchor="t">
            <a:normAutofit/>
          </a:bodyPr>
          <a:lstStyle/>
          <a:p>
            <a:pPr marL="0" indent="0" algn="l">
              <a:lnSpc>
                <a:spcPct val="102000"/>
              </a:lnSpc>
              <a:buNone/>
            </a:pPr>
            <a:r>
              <a:rPr lang="en-US" sz="1120" dirty="0">
                <a:solidFill>
                  <a:srgbClr val="5B6B7C"/>
                </a:solidFill>
                <a:latin typeface="Calibri" pitchFamily="34" charset="0"/>
                <a:ea typeface="Calibri" pitchFamily="34" charset="-122"/>
                <a:cs typeface="Calibri" pitchFamily="34" charset="-120"/>
              </a:rPr>
              <a:t>O-RAN Alliance architecture description (ETSI TS 103 982 PAS)  |  O-RAN.WG4.CUS.0 Control, User and Synchronization Plane Specification  |  3GPP TS 38.401 NG-RAN architecture</a:t>
            </a:r>
            <a:endParaRPr lang="en-US" sz="1120" dirty="0"/>
          </a:p>
        </p:txBody>
      </p:sp>
      <p:pic>
        <p:nvPicPr>
          <p:cNvPr id="8" name="Image 0" descr="assets/arch_diagram.png"/>
          <p:cNvPicPr>
            <a:picLocks noChangeAspect="1"/>
          </p:cNvPicPr>
          <p:nvPr/>
        </p:nvPicPr>
        <p:blipFill>
          <a:blip r:embed="rId3"/>
          <a:stretch>
            <a:fillRect/>
          </a:stretch>
        </p:blipFill>
        <p:spPr>
          <a:xfrm>
            <a:off x="438150" y="1581150"/>
            <a:ext cx="11315700" cy="51816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8FAFC"/>
          </a:solidFill>
          <a:ln/>
        </p:spPr>
        <p:txBody>
          <a:bodyPr/>
          <a:lstStyle/>
          <a:p>
            <a:endParaRPr lang="en-IN"/>
          </a:p>
        </p:txBody>
      </p:sp>
      <p:sp>
        <p:nvSpPr>
          <p:cNvPr id="3" name="Shape 1"/>
          <p:cNvSpPr/>
          <p:nvPr/>
        </p:nvSpPr>
        <p:spPr>
          <a:xfrm>
            <a:off x="0" y="0"/>
            <a:ext cx="12192000" cy="114300"/>
          </a:xfrm>
          <a:prstGeom prst="rect">
            <a:avLst/>
          </a:prstGeom>
          <a:solidFill>
            <a:srgbClr val="18B89A"/>
          </a:solidFill>
          <a:ln/>
        </p:spPr>
        <p:txBody>
          <a:bodyPr/>
          <a:lstStyle/>
          <a:p>
            <a:endParaRPr lang="en-IN"/>
          </a:p>
        </p:txBody>
      </p:sp>
      <p:sp>
        <p:nvSpPr>
          <p:cNvPr id="4" name="Text 2"/>
          <p:cNvSpPr/>
          <p:nvPr/>
        </p:nvSpPr>
        <p:spPr>
          <a:xfrm>
            <a:off x="571500" y="209550"/>
            <a:ext cx="11049000" cy="228600"/>
          </a:xfrm>
          <a:prstGeom prst="rect">
            <a:avLst/>
          </a:prstGeom>
          <a:noFill/>
          <a:ln/>
        </p:spPr>
        <p:txBody>
          <a:bodyPr wrap="square" lIns="0" tIns="0" rIns="0" bIns="0" rtlCol="0" anchor="t">
            <a:normAutofit/>
          </a:bodyPr>
          <a:lstStyle/>
          <a:p>
            <a:pPr marL="0" indent="0" algn="l">
              <a:lnSpc>
                <a:spcPct val="100000"/>
              </a:lnSpc>
              <a:buNone/>
            </a:pPr>
            <a:r>
              <a:rPr lang="en-US" sz="1280" b="1" dirty="0">
                <a:solidFill>
                  <a:srgbClr val="1C7293"/>
                </a:solidFill>
                <a:latin typeface="Calibri" pitchFamily="34" charset="0"/>
                <a:ea typeface="Calibri" pitchFamily="34" charset="-122"/>
                <a:cs typeface="Calibri" pitchFamily="34" charset="-120"/>
              </a:rPr>
              <a:t>PROBLEM STUDY</a:t>
            </a:r>
            <a:endParaRPr lang="en-US" sz="1280" dirty="0"/>
          </a:p>
        </p:txBody>
      </p:sp>
      <p:sp>
        <p:nvSpPr>
          <p:cNvPr id="5" name="Text 3"/>
          <p:cNvSpPr/>
          <p:nvPr/>
        </p:nvSpPr>
        <p:spPr>
          <a:xfrm>
            <a:off x="571500" y="447675"/>
            <a:ext cx="11049000" cy="552450"/>
          </a:xfrm>
          <a:prstGeom prst="rect">
            <a:avLst/>
          </a:prstGeom>
          <a:noFill/>
          <a:ln/>
        </p:spPr>
        <p:txBody>
          <a:bodyPr wrap="square" lIns="0" tIns="0" rIns="0" bIns="0" rtlCol="0" anchor="t">
            <a:normAutofit/>
          </a:bodyPr>
          <a:lstStyle/>
          <a:p>
            <a:pPr marL="0" indent="0" algn="l">
              <a:lnSpc>
                <a:spcPct val="100000"/>
              </a:lnSpc>
              <a:buNone/>
            </a:pPr>
            <a:r>
              <a:rPr lang="en-US" sz="2900" b="1" dirty="0">
                <a:solidFill>
                  <a:srgbClr val="12263A"/>
                </a:solidFill>
                <a:latin typeface="Cambria" pitchFamily="34" charset="0"/>
                <a:ea typeface="Cambria" pitchFamily="34" charset="-122"/>
                <a:cs typeface="Cambria" pitchFamily="34" charset="-120"/>
              </a:rPr>
              <a:t>Open Fronthaul Timing Requirements and Security Exposure</a:t>
            </a:r>
            <a:endParaRPr lang="en-US" sz="2900" dirty="0"/>
          </a:p>
        </p:txBody>
      </p:sp>
      <p:sp>
        <p:nvSpPr>
          <p:cNvPr id="6" name="Shape 4"/>
          <p:cNvSpPr/>
          <p:nvPr/>
        </p:nvSpPr>
        <p:spPr>
          <a:xfrm>
            <a:off x="571500" y="1057275"/>
            <a:ext cx="11049000" cy="438150"/>
          </a:xfrm>
          <a:prstGeom prst="roundRect">
            <a:avLst>
              <a:gd name="adj" fmla="val 8348"/>
            </a:avLst>
          </a:prstGeom>
          <a:solidFill>
            <a:srgbClr val="EAF2F8"/>
          </a:solidFill>
          <a:ln w="12700">
            <a:solidFill>
              <a:srgbClr val="D7E1EA"/>
            </a:solidFill>
            <a:prstDash val="solid"/>
          </a:ln>
        </p:spPr>
        <p:txBody>
          <a:bodyPr/>
          <a:lstStyle/>
          <a:p>
            <a:endParaRPr lang="en-IN"/>
          </a:p>
        </p:txBody>
      </p:sp>
      <p:sp>
        <p:nvSpPr>
          <p:cNvPr id="7" name="Text 5"/>
          <p:cNvSpPr/>
          <p:nvPr/>
        </p:nvSpPr>
        <p:spPr>
          <a:xfrm>
            <a:off x="723900" y="1123950"/>
            <a:ext cx="10744200" cy="323850"/>
          </a:xfrm>
          <a:prstGeom prst="rect">
            <a:avLst/>
          </a:prstGeom>
          <a:noFill/>
          <a:ln/>
        </p:spPr>
        <p:txBody>
          <a:bodyPr wrap="square" lIns="0" tIns="0" rIns="0" bIns="0" rtlCol="0" anchor="t">
            <a:normAutofit/>
          </a:bodyPr>
          <a:lstStyle/>
          <a:p>
            <a:pPr marL="0" indent="0" algn="l">
              <a:lnSpc>
                <a:spcPct val="102000"/>
              </a:lnSpc>
              <a:buNone/>
            </a:pPr>
            <a:r>
              <a:rPr lang="en-US" sz="1120" dirty="0">
                <a:solidFill>
                  <a:srgbClr val="5B6B7C"/>
                </a:solidFill>
                <a:latin typeface="Calibri" pitchFamily="34" charset="0"/>
                <a:ea typeface="Calibri" pitchFamily="34" charset="-122"/>
                <a:cs typeface="Calibri" pitchFamily="34" charset="-120"/>
              </a:rPr>
              <a:t>O-RAN.WG4.CUS.0 timing categories (via ATIS/WSTS O-RAN Fundamentals tutorial, Armstrong 2022)  |  ITU-T G.8271.1 network time-error budget  |  Groen et al., TIMESAFE, ACM ToPS 28(5), 2025, doi:10.1145/3775060</a:t>
            </a:r>
            <a:endParaRPr lang="en-US" sz="1120" dirty="0"/>
          </a:p>
        </p:txBody>
      </p:sp>
      <p:sp>
        <p:nvSpPr>
          <p:cNvPr id="8" name="Shape 6"/>
          <p:cNvSpPr/>
          <p:nvPr/>
        </p:nvSpPr>
        <p:spPr>
          <a:xfrm>
            <a:off x="571500" y="1714500"/>
            <a:ext cx="3676650" cy="2343150"/>
          </a:xfrm>
          <a:prstGeom prst="roundRect">
            <a:avLst>
              <a:gd name="adj" fmla="val 1561"/>
            </a:avLst>
          </a:prstGeom>
          <a:solidFill>
            <a:srgbClr val="FFFFFF"/>
          </a:solidFill>
          <a:ln w="12700">
            <a:solidFill>
              <a:srgbClr val="D7E1EA"/>
            </a:solidFill>
            <a:prstDash val="solid"/>
          </a:ln>
        </p:spPr>
        <p:txBody>
          <a:bodyPr/>
          <a:lstStyle/>
          <a:p>
            <a:endParaRPr lang="en-IN"/>
          </a:p>
        </p:txBody>
      </p:sp>
      <p:sp>
        <p:nvSpPr>
          <p:cNvPr id="9" name="Shape 7"/>
          <p:cNvSpPr/>
          <p:nvPr/>
        </p:nvSpPr>
        <p:spPr>
          <a:xfrm>
            <a:off x="571500" y="1714500"/>
            <a:ext cx="3676650" cy="47625"/>
          </a:xfrm>
          <a:prstGeom prst="rect">
            <a:avLst/>
          </a:prstGeom>
          <a:solidFill>
            <a:srgbClr val="18B89A"/>
          </a:solidFill>
          <a:ln/>
        </p:spPr>
        <p:txBody>
          <a:bodyPr/>
          <a:lstStyle/>
          <a:p>
            <a:endParaRPr lang="en-IN"/>
          </a:p>
        </p:txBody>
      </p:sp>
      <p:sp>
        <p:nvSpPr>
          <p:cNvPr id="10" name="Text 8"/>
          <p:cNvSpPr/>
          <p:nvPr/>
        </p:nvSpPr>
        <p:spPr>
          <a:xfrm>
            <a:off x="781050" y="1885950"/>
            <a:ext cx="3238500" cy="476250"/>
          </a:xfrm>
          <a:prstGeom prst="rect">
            <a:avLst/>
          </a:prstGeom>
          <a:noFill/>
          <a:ln/>
        </p:spPr>
        <p:txBody>
          <a:bodyPr wrap="square" lIns="0" tIns="0" rIns="0" bIns="0" rtlCol="0" anchor="t">
            <a:normAutofit/>
          </a:bodyPr>
          <a:lstStyle/>
          <a:p>
            <a:pPr marL="0" indent="0" algn="l">
              <a:lnSpc>
                <a:spcPct val="100000"/>
              </a:lnSpc>
              <a:buNone/>
            </a:pPr>
            <a:r>
              <a:rPr lang="en-US" sz="4000" b="1" dirty="0">
                <a:solidFill>
                  <a:srgbClr val="1C7293"/>
                </a:solidFill>
                <a:latin typeface="Cambria" pitchFamily="34" charset="0"/>
                <a:ea typeface="Cambria" pitchFamily="34" charset="-122"/>
                <a:cs typeface="Cambria" pitchFamily="34" charset="-120"/>
              </a:rPr>
              <a:t>130 ns</a:t>
            </a:r>
            <a:endParaRPr lang="en-US" sz="4000" dirty="0"/>
          </a:p>
        </p:txBody>
      </p:sp>
      <p:sp>
        <p:nvSpPr>
          <p:cNvPr id="11" name="Text 9"/>
          <p:cNvSpPr/>
          <p:nvPr/>
        </p:nvSpPr>
        <p:spPr>
          <a:xfrm>
            <a:off x="781050" y="2400300"/>
            <a:ext cx="3276600" cy="438150"/>
          </a:xfrm>
          <a:prstGeom prst="rect">
            <a:avLst/>
          </a:prstGeom>
          <a:noFill/>
          <a:ln/>
        </p:spPr>
        <p:txBody>
          <a:bodyPr wrap="square" lIns="0" tIns="0" rIns="0" bIns="0" rtlCol="0" anchor="t">
            <a:normAutofit/>
          </a:bodyPr>
          <a:lstStyle/>
          <a:p>
            <a:pPr marL="0" indent="0" algn="l">
              <a:lnSpc>
                <a:spcPct val="100000"/>
              </a:lnSpc>
              <a:buNone/>
            </a:pPr>
            <a:r>
              <a:rPr lang="en-US" sz="1500" b="1" dirty="0">
                <a:solidFill>
                  <a:srgbClr val="12263A"/>
                </a:solidFill>
                <a:latin typeface="Cambria" pitchFamily="34" charset="0"/>
                <a:ea typeface="Cambria" pitchFamily="34" charset="-122"/>
                <a:cs typeface="Cambria" pitchFamily="34" charset="-120"/>
              </a:rPr>
              <a:t>Relative time alignment error between radio units in a cluster</a:t>
            </a:r>
            <a:endParaRPr lang="en-US" sz="1500" dirty="0"/>
          </a:p>
        </p:txBody>
      </p:sp>
      <p:sp>
        <p:nvSpPr>
          <p:cNvPr id="12" name="Text 10"/>
          <p:cNvSpPr/>
          <p:nvPr/>
        </p:nvSpPr>
        <p:spPr>
          <a:xfrm>
            <a:off x="781050" y="2895600"/>
            <a:ext cx="3276600" cy="742950"/>
          </a:xfrm>
          <a:prstGeom prst="rect">
            <a:avLst/>
          </a:prstGeom>
          <a:noFill/>
          <a:ln/>
        </p:spPr>
        <p:txBody>
          <a:bodyPr wrap="square" lIns="0" tIns="0" rIns="0" bIns="0" rtlCol="0" anchor="t">
            <a:normAutofit/>
          </a:bodyPr>
          <a:lstStyle/>
          <a:p>
            <a:pPr marL="0" indent="0" algn="l">
              <a:lnSpc>
                <a:spcPct val="100000"/>
              </a:lnSpc>
              <a:buNone/>
            </a:pPr>
            <a:r>
              <a:rPr lang="en-US" sz="1300" dirty="0">
                <a:solidFill>
                  <a:srgbClr val="5B6B7C"/>
                </a:solidFill>
                <a:latin typeface="Calibri" pitchFamily="34" charset="0"/>
                <a:ea typeface="Calibri" pitchFamily="34" charset="-122"/>
                <a:cs typeface="Calibri" pitchFamily="34" charset="-120"/>
              </a:rPr>
              <a:t>Timing Category A; implies ≈±65 ns per O-RU against a common reference under equal allocation</a:t>
            </a:r>
            <a:endParaRPr lang="en-US" sz="1300" dirty="0"/>
          </a:p>
        </p:txBody>
      </p:sp>
      <p:sp>
        <p:nvSpPr>
          <p:cNvPr id="13" name="Text 11"/>
          <p:cNvSpPr/>
          <p:nvPr/>
        </p:nvSpPr>
        <p:spPr>
          <a:xfrm>
            <a:off x="781050" y="3733800"/>
            <a:ext cx="3276600" cy="190500"/>
          </a:xfrm>
          <a:prstGeom prst="rect">
            <a:avLst/>
          </a:prstGeom>
          <a:noFill/>
          <a:ln/>
        </p:spPr>
        <p:txBody>
          <a:bodyPr wrap="square" lIns="0" tIns="0" rIns="0" bIns="0" rtlCol="0" anchor="t">
            <a:normAutofit/>
          </a:bodyPr>
          <a:lstStyle/>
          <a:p>
            <a:pPr marL="0" indent="0" algn="l">
              <a:lnSpc>
                <a:spcPct val="100000"/>
              </a:lnSpc>
              <a:buNone/>
            </a:pPr>
            <a:r>
              <a:rPr lang="en-US" sz="1050" b="1" dirty="0">
                <a:solidFill>
                  <a:srgbClr val="1C7293"/>
                </a:solidFill>
                <a:latin typeface="Calibri" pitchFamily="34" charset="0"/>
                <a:ea typeface="Calibri" pitchFamily="34" charset="-122"/>
                <a:cs typeface="Calibri" pitchFamily="34" charset="-120"/>
              </a:rPr>
              <a:t>O-RAN.WG4.CUS.0</a:t>
            </a:r>
            <a:endParaRPr lang="en-US" sz="1050" dirty="0"/>
          </a:p>
        </p:txBody>
      </p:sp>
      <p:sp>
        <p:nvSpPr>
          <p:cNvPr id="14" name="Shape 12"/>
          <p:cNvSpPr/>
          <p:nvPr/>
        </p:nvSpPr>
        <p:spPr>
          <a:xfrm>
            <a:off x="4257675" y="1714500"/>
            <a:ext cx="3676650" cy="2343150"/>
          </a:xfrm>
          <a:prstGeom prst="roundRect">
            <a:avLst>
              <a:gd name="adj" fmla="val 1561"/>
            </a:avLst>
          </a:prstGeom>
          <a:solidFill>
            <a:srgbClr val="FFFFFF"/>
          </a:solidFill>
          <a:ln w="12700">
            <a:solidFill>
              <a:srgbClr val="D7E1EA"/>
            </a:solidFill>
            <a:prstDash val="solid"/>
          </a:ln>
        </p:spPr>
        <p:txBody>
          <a:bodyPr/>
          <a:lstStyle/>
          <a:p>
            <a:endParaRPr lang="en-IN"/>
          </a:p>
        </p:txBody>
      </p:sp>
      <p:sp>
        <p:nvSpPr>
          <p:cNvPr id="15" name="Shape 13"/>
          <p:cNvSpPr/>
          <p:nvPr/>
        </p:nvSpPr>
        <p:spPr>
          <a:xfrm>
            <a:off x="4257675" y="1714500"/>
            <a:ext cx="3676650" cy="47625"/>
          </a:xfrm>
          <a:prstGeom prst="rect">
            <a:avLst/>
          </a:prstGeom>
          <a:solidFill>
            <a:srgbClr val="18B89A"/>
          </a:solidFill>
          <a:ln/>
        </p:spPr>
        <p:txBody>
          <a:bodyPr/>
          <a:lstStyle/>
          <a:p>
            <a:endParaRPr lang="en-IN"/>
          </a:p>
        </p:txBody>
      </p:sp>
      <p:sp>
        <p:nvSpPr>
          <p:cNvPr id="16" name="Text 14"/>
          <p:cNvSpPr/>
          <p:nvPr/>
        </p:nvSpPr>
        <p:spPr>
          <a:xfrm>
            <a:off x="4467225" y="1885950"/>
            <a:ext cx="3238500" cy="476250"/>
          </a:xfrm>
          <a:prstGeom prst="rect">
            <a:avLst/>
          </a:prstGeom>
          <a:noFill/>
          <a:ln/>
        </p:spPr>
        <p:txBody>
          <a:bodyPr wrap="square" lIns="0" tIns="0" rIns="0" bIns="0" rtlCol="0" anchor="t">
            <a:normAutofit/>
          </a:bodyPr>
          <a:lstStyle/>
          <a:p>
            <a:pPr marL="0" indent="0" algn="l">
              <a:lnSpc>
                <a:spcPct val="100000"/>
              </a:lnSpc>
              <a:buNone/>
            </a:pPr>
            <a:r>
              <a:rPr lang="en-US" sz="4000" b="1" dirty="0">
                <a:solidFill>
                  <a:srgbClr val="1C7293"/>
                </a:solidFill>
                <a:latin typeface="Cambria" pitchFamily="34" charset="0"/>
                <a:ea typeface="Cambria" pitchFamily="34" charset="-122"/>
                <a:cs typeface="Cambria" pitchFamily="34" charset="-120"/>
              </a:rPr>
              <a:t>±1.5 µs</a:t>
            </a:r>
            <a:endParaRPr lang="en-US" sz="4000" dirty="0"/>
          </a:p>
        </p:txBody>
      </p:sp>
      <p:sp>
        <p:nvSpPr>
          <p:cNvPr id="17" name="Text 15"/>
          <p:cNvSpPr/>
          <p:nvPr/>
        </p:nvSpPr>
        <p:spPr>
          <a:xfrm>
            <a:off x="4467225" y="2400300"/>
            <a:ext cx="3276600" cy="438150"/>
          </a:xfrm>
          <a:prstGeom prst="rect">
            <a:avLst/>
          </a:prstGeom>
          <a:noFill/>
          <a:ln/>
        </p:spPr>
        <p:txBody>
          <a:bodyPr wrap="square" lIns="0" tIns="0" rIns="0" bIns="0" rtlCol="0" anchor="t">
            <a:normAutofit/>
          </a:bodyPr>
          <a:lstStyle/>
          <a:p>
            <a:pPr marL="0" indent="0" algn="l">
              <a:lnSpc>
                <a:spcPct val="100000"/>
              </a:lnSpc>
              <a:buNone/>
            </a:pPr>
            <a:r>
              <a:rPr lang="en-US" sz="1500" b="1" dirty="0">
                <a:solidFill>
                  <a:srgbClr val="12263A"/>
                </a:solidFill>
                <a:latin typeface="Cambria" pitchFamily="34" charset="0"/>
                <a:ea typeface="Cambria" pitchFamily="34" charset="-122"/>
                <a:cs typeface="Cambria" pitchFamily="34" charset="-120"/>
              </a:rPr>
              <a:t>End-application absolute time error, O-RU to primary reference</a:t>
            </a:r>
            <a:endParaRPr lang="en-US" sz="1500" dirty="0"/>
          </a:p>
        </p:txBody>
      </p:sp>
      <p:sp>
        <p:nvSpPr>
          <p:cNvPr id="18" name="Text 16"/>
          <p:cNvSpPr/>
          <p:nvPr/>
        </p:nvSpPr>
        <p:spPr>
          <a:xfrm>
            <a:off x="4467225" y="2895600"/>
            <a:ext cx="3276600" cy="742950"/>
          </a:xfrm>
          <a:prstGeom prst="rect">
            <a:avLst/>
          </a:prstGeom>
          <a:noFill/>
          <a:ln/>
        </p:spPr>
        <p:txBody>
          <a:bodyPr wrap="square" lIns="0" tIns="0" rIns="0" bIns="0" rtlCol="0" anchor="t">
            <a:normAutofit/>
          </a:bodyPr>
          <a:lstStyle/>
          <a:p>
            <a:pPr marL="0" indent="0" algn="l">
              <a:lnSpc>
                <a:spcPct val="100000"/>
              </a:lnSpc>
              <a:buNone/>
            </a:pPr>
            <a:r>
              <a:rPr lang="en-US" sz="1300" dirty="0">
                <a:solidFill>
                  <a:srgbClr val="5B6B7C"/>
                </a:solidFill>
                <a:latin typeface="Calibri" pitchFamily="34" charset="0"/>
                <a:ea typeface="Calibri" pitchFamily="34" charset="-122"/>
                <a:cs typeface="Calibri" pitchFamily="34" charset="-120"/>
              </a:rPr>
              <a:t>Total budget at reference point E; the network limit at reference point C is 1100 ns</a:t>
            </a:r>
            <a:endParaRPr lang="en-US" sz="1300" dirty="0"/>
          </a:p>
        </p:txBody>
      </p:sp>
      <p:sp>
        <p:nvSpPr>
          <p:cNvPr id="19" name="Text 17"/>
          <p:cNvSpPr/>
          <p:nvPr/>
        </p:nvSpPr>
        <p:spPr>
          <a:xfrm>
            <a:off x="4467225" y="3733800"/>
            <a:ext cx="3276600" cy="190500"/>
          </a:xfrm>
          <a:prstGeom prst="rect">
            <a:avLst/>
          </a:prstGeom>
          <a:noFill/>
          <a:ln/>
        </p:spPr>
        <p:txBody>
          <a:bodyPr wrap="square" lIns="0" tIns="0" rIns="0" bIns="0" rtlCol="0" anchor="t">
            <a:normAutofit/>
          </a:bodyPr>
          <a:lstStyle/>
          <a:p>
            <a:pPr marL="0" indent="0" algn="l">
              <a:lnSpc>
                <a:spcPct val="100000"/>
              </a:lnSpc>
              <a:buNone/>
            </a:pPr>
            <a:r>
              <a:rPr lang="en-US" sz="1050" b="1" dirty="0">
                <a:solidFill>
                  <a:srgbClr val="1C7293"/>
                </a:solidFill>
                <a:latin typeface="Calibri" pitchFamily="34" charset="0"/>
                <a:ea typeface="Calibri" pitchFamily="34" charset="-122"/>
                <a:cs typeface="Calibri" pitchFamily="34" charset="-120"/>
              </a:rPr>
              <a:t>ITU-T G.8271.1</a:t>
            </a:r>
            <a:endParaRPr lang="en-US" sz="1050" dirty="0"/>
          </a:p>
        </p:txBody>
      </p:sp>
      <p:sp>
        <p:nvSpPr>
          <p:cNvPr id="20" name="Shape 18"/>
          <p:cNvSpPr/>
          <p:nvPr/>
        </p:nvSpPr>
        <p:spPr>
          <a:xfrm>
            <a:off x="7943850" y="1714500"/>
            <a:ext cx="3676650" cy="2343150"/>
          </a:xfrm>
          <a:prstGeom prst="roundRect">
            <a:avLst>
              <a:gd name="adj" fmla="val 1561"/>
            </a:avLst>
          </a:prstGeom>
          <a:solidFill>
            <a:srgbClr val="FFFFFF"/>
          </a:solidFill>
          <a:ln w="12700">
            <a:solidFill>
              <a:srgbClr val="D7E1EA"/>
            </a:solidFill>
            <a:prstDash val="solid"/>
          </a:ln>
        </p:spPr>
        <p:txBody>
          <a:bodyPr/>
          <a:lstStyle/>
          <a:p>
            <a:endParaRPr lang="en-IN"/>
          </a:p>
        </p:txBody>
      </p:sp>
      <p:sp>
        <p:nvSpPr>
          <p:cNvPr id="21" name="Shape 19"/>
          <p:cNvSpPr/>
          <p:nvPr/>
        </p:nvSpPr>
        <p:spPr>
          <a:xfrm>
            <a:off x="7943850" y="1714500"/>
            <a:ext cx="3676650" cy="47625"/>
          </a:xfrm>
          <a:prstGeom prst="rect">
            <a:avLst/>
          </a:prstGeom>
          <a:solidFill>
            <a:srgbClr val="18B89A"/>
          </a:solidFill>
          <a:ln/>
        </p:spPr>
        <p:txBody>
          <a:bodyPr/>
          <a:lstStyle/>
          <a:p>
            <a:endParaRPr lang="en-IN"/>
          </a:p>
        </p:txBody>
      </p:sp>
      <p:sp>
        <p:nvSpPr>
          <p:cNvPr id="22" name="Text 20"/>
          <p:cNvSpPr/>
          <p:nvPr/>
        </p:nvSpPr>
        <p:spPr>
          <a:xfrm>
            <a:off x="8153400" y="1885950"/>
            <a:ext cx="3238500" cy="476250"/>
          </a:xfrm>
          <a:prstGeom prst="rect">
            <a:avLst/>
          </a:prstGeom>
          <a:noFill/>
          <a:ln/>
        </p:spPr>
        <p:txBody>
          <a:bodyPr wrap="square" lIns="0" tIns="0" rIns="0" bIns="0" rtlCol="0" anchor="t">
            <a:normAutofit/>
          </a:bodyPr>
          <a:lstStyle/>
          <a:p>
            <a:pPr marL="0" indent="0" algn="l">
              <a:lnSpc>
                <a:spcPct val="100000"/>
              </a:lnSpc>
              <a:buNone/>
            </a:pPr>
            <a:r>
              <a:rPr lang="en-US" sz="4000" b="1" dirty="0">
                <a:solidFill>
                  <a:srgbClr val="1C7293"/>
                </a:solidFill>
                <a:latin typeface="Cambria" pitchFamily="34" charset="0"/>
                <a:ea typeface="Cambria" pitchFamily="34" charset="-122"/>
                <a:cs typeface="Cambria" pitchFamily="34" charset="-120"/>
              </a:rPr>
              <a:t>≈2 s</a:t>
            </a:r>
            <a:endParaRPr lang="en-US" sz="4000" dirty="0"/>
          </a:p>
        </p:txBody>
      </p:sp>
      <p:sp>
        <p:nvSpPr>
          <p:cNvPr id="23" name="Text 21"/>
          <p:cNvSpPr/>
          <p:nvPr/>
        </p:nvSpPr>
        <p:spPr>
          <a:xfrm>
            <a:off x="8153400" y="2400300"/>
            <a:ext cx="3276600" cy="438150"/>
          </a:xfrm>
          <a:prstGeom prst="rect">
            <a:avLst/>
          </a:prstGeom>
          <a:noFill/>
          <a:ln/>
        </p:spPr>
        <p:txBody>
          <a:bodyPr wrap="square" lIns="0" tIns="0" rIns="0" bIns="0" rtlCol="0" anchor="t">
            <a:normAutofit/>
          </a:bodyPr>
          <a:lstStyle/>
          <a:p>
            <a:pPr marL="0" indent="0" algn="l">
              <a:lnSpc>
                <a:spcPct val="100000"/>
              </a:lnSpc>
              <a:buNone/>
            </a:pPr>
            <a:r>
              <a:rPr lang="en-US" sz="1500" b="1" dirty="0">
                <a:solidFill>
                  <a:srgbClr val="12263A"/>
                </a:solidFill>
                <a:latin typeface="Cambria" pitchFamily="34" charset="0"/>
                <a:ea typeface="Cambria" pitchFamily="34" charset="-122"/>
                <a:cs typeface="Cambria" pitchFamily="34" charset="-120"/>
              </a:rPr>
              <a:t>Observed time from attack onset to O-RU crash in one published study</a:t>
            </a:r>
            <a:endParaRPr lang="en-US" sz="1500" dirty="0"/>
          </a:p>
        </p:txBody>
      </p:sp>
      <p:sp>
        <p:nvSpPr>
          <p:cNvPr id="24" name="Text 22"/>
          <p:cNvSpPr/>
          <p:nvPr/>
        </p:nvSpPr>
        <p:spPr>
          <a:xfrm>
            <a:off x="8153400" y="2895600"/>
            <a:ext cx="3276600" cy="742950"/>
          </a:xfrm>
          <a:prstGeom prst="rect">
            <a:avLst/>
          </a:prstGeom>
          <a:noFill/>
          <a:ln/>
        </p:spPr>
        <p:txBody>
          <a:bodyPr wrap="square" lIns="0" tIns="0" rIns="0" bIns="0" rtlCol="0" anchor="t">
            <a:normAutofit/>
          </a:bodyPr>
          <a:lstStyle/>
          <a:p>
            <a:pPr marL="0" indent="0" algn="l">
              <a:lnSpc>
                <a:spcPct val="100000"/>
              </a:lnSpc>
              <a:buNone/>
            </a:pPr>
            <a:r>
              <a:rPr lang="en-US" sz="1300" dirty="0">
                <a:solidFill>
                  <a:srgbClr val="5B6B7C"/>
                </a:solidFill>
                <a:latin typeface="Calibri" pitchFamily="34" charset="0"/>
                <a:ea typeface="Calibri" pitchFamily="34" charset="-122"/>
                <a:cs typeface="Calibri" pitchFamily="34" charset="-120"/>
              </a:rPr>
              <a:t>The O-RU crashed and required a manual reboot, with switch PTP ports in dynamic role</a:t>
            </a:r>
            <a:endParaRPr lang="en-US" sz="1300" dirty="0"/>
          </a:p>
        </p:txBody>
      </p:sp>
      <p:sp>
        <p:nvSpPr>
          <p:cNvPr id="25" name="Text 23"/>
          <p:cNvSpPr/>
          <p:nvPr/>
        </p:nvSpPr>
        <p:spPr>
          <a:xfrm>
            <a:off x="8153400" y="3733800"/>
            <a:ext cx="3276600" cy="190500"/>
          </a:xfrm>
          <a:prstGeom prst="rect">
            <a:avLst/>
          </a:prstGeom>
          <a:noFill/>
          <a:ln/>
        </p:spPr>
        <p:txBody>
          <a:bodyPr wrap="square" lIns="0" tIns="0" rIns="0" bIns="0" rtlCol="0" anchor="t">
            <a:normAutofit/>
          </a:bodyPr>
          <a:lstStyle/>
          <a:p>
            <a:pPr marL="0" indent="0" algn="l">
              <a:lnSpc>
                <a:spcPct val="100000"/>
              </a:lnSpc>
              <a:buNone/>
            </a:pPr>
            <a:r>
              <a:rPr lang="en-US" sz="1050" b="1" dirty="0">
                <a:solidFill>
                  <a:srgbClr val="1C7293"/>
                </a:solidFill>
                <a:latin typeface="Calibri" pitchFamily="34" charset="0"/>
                <a:ea typeface="Calibri" pitchFamily="34" charset="-122"/>
                <a:cs typeface="Calibri" pitchFamily="34" charset="-120"/>
              </a:rPr>
              <a:t>TIMESAFE, ACM ToPS 2025</a:t>
            </a:r>
            <a:endParaRPr lang="en-US" sz="1050" dirty="0"/>
          </a:p>
        </p:txBody>
      </p:sp>
      <p:sp>
        <p:nvSpPr>
          <p:cNvPr id="26" name="Shape 24"/>
          <p:cNvSpPr/>
          <p:nvPr/>
        </p:nvSpPr>
        <p:spPr>
          <a:xfrm>
            <a:off x="571500" y="4248149"/>
            <a:ext cx="11049000" cy="1038225"/>
          </a:xfrm>
          <a:prstGeom prst="roundRect">
            <a:avLst>
              <a:gd name="adj" fmla="val 4000"/>
            </a:avLst>
          </a:prstGeom>
          <a:solidFill>
            <a:srgbClr val="EAF2F8"/>
          </a:solidFill>
          <a:ln w="12700">
            <a:solidFill>
              <a:srgbClr val="D7E1EA"/>
            </a:solidFill>
            <a:prstDash val="solid"/>
          </a:ln>
        </p:spPr>
        <p:txBody>
          <a:bodyPr/>
          <a:lstStyle/>
          <a:p>
            <a:endParaRPr lang="en-IN"/>
          </a:p>
        </p:txBody>
      </p:sp>
      <p:sp>
        <p:nvSpPr>
          <p:cNvPr id="27" name="Text 25"/>
          <p:cNvSpPr/>
          <p:nvPr/>
        </p:nvSpPr>
        <p:spPr>
          <a:xfrm>
            <a:off x="781050" y="4400550"/>
            <a:ext cx="9525000" cy="19050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1C7293"/>
                </a:solidFill>
                <a:latin typeface="Calibri" pitchFamily="34" charset="0"/>
                <a:ea typeface="Calibri" pitchFamily="34" charset="-122"/>
                <a:cs typeface="Calibri" pitchFamily="34" charset="-120"/>
              </a:rPr>
              <a:t>WHY THIS IS A SECURITY SURFACE, NOT ONLY AN ENGINEERING CONSTRAINT</a:t>
            </a:r>
            <a:endParaRPr lang="en-US" sz="1200" dirty="0"/>
          </a:p>
        </p:txBody>
      </p:sp>
      <p:sp>
        <p:nvSpPr>
          <p:cNvPr id="28" name="Text 26"/>
          <p:cNvSpPr/>
          <p:nvPr/>
        </p:nvSpPr>
        <p:spPr>
          <a:xfrm>
            <a:off x="781050" y="4648200"/>
            <a:ext cx="10629900" cy="457200"/>
          </a:xfrm>
          <a:prstGeom prst="rect">
            <a:avLst/>
          </a:prstGeom>
          <a:noFill/>
          <a:ln/>
        </p:spPr>
        <p:txBody>
          <a:bodyPr wrap="square" lIns="0" tIns="0" rIns="0" bIns="0" rtlCol="0" anchor="t">
            <a:normAutofit/>
          </a:bodyPr>
          <a:lstStyle/>
          <a:p>
            <a:pPr marL="0" indent="0" algn="l">
              <a:lnSpc>
                <a:spcPct val="100000"/>
              </a:lnSpc>
              <a:buNone/>
            </a:pPr>
            <a:r>
              <a:rPr lang="en-US" sz="1420" dirty="0">
                <a:solidFill>
                  <a:srgbClr val="12263A"/>
                </a:solidFill>
                <a:latin typeface="Calibri" pitchFamily="34" charset="0"/>
                <a:ea typeface="Calibri" pitchFamily="34" charset="-122"/>
                <a:cs typeface="Calibri" pitchFamily="34" charset="-120"/>
              </a:rPr>
              <a:t>Time is distributed across the fronthaul as ordinary Ethernet frames carrying the IEEE 1588 protocol, not over a dedicated physical channel. Any device able to place frames on that path can therefore advertise itself as a time source, forge timing content, or withhold legitimate messages. Loss of a shared time reference degrades radio coordination, so the S-plane is simultaneously a timing-performance boundary and an attack surface.</a:t>
            </a:r>
            <a:endParaRPr lang="en-US" sz="1420" dirty="0"/>
          </a:p>
        </p:txBody>
      </p:sp>
      <p:sp>
        <p:nvSpPr>
          <p:cNvPr id="29" name="Shape 27"/>
          <p:cNvSpPr/>
          <p:nvPr/>
        </p:nvSpPr>
        <p:spPr>
          <a:xfrm>
            <a:off x="571500" y="5334000"/>
            <a:ext cx="11049000" cy="571500"/>
          </a:xfrm>
          <a:prstGeom prst="roundRect">
            <a:avLst>
              <a:gd name="adj" fmla="val 6400"/>
            </a:avLst>
          </a:prstGeom>
          <a:solidFill>
            <a:srgbClr val="FFF8E8"/>
          </a:solidFill>
          <a:ln w="12700">
            <a:solidFill>
              <a:srgbClr val="C58B18"/>
            </a:solidFill>
            <a:prstDash val="solid"/>
          </a:ln>
        </p:spPr>
        <p:txBody>
          <a:bodyPr/>
          <a:lstStyle/>
          <a:p>
            <a:endParaRPr lang="en-IN"/>
          </a:p>
        </p:txBody>
      </p:sp>
      <p:sp>
        <p:nvSpPr>
          <p:cNvPr id="30" name="Text 28"/>
          <p:cNvSpPr/>
          <p:nvPr/>
        </p:nvSpPr>
        <p:spPr>
          <a:xfrm>
            <a:off x="781050" y="5476875"/>
            <a:ext cx="1809750" cy="238125"/>
          </a:xfrm>
          <a:prstGeom prst="rect">
            <a:avLst/>
          </a:prstGeom>
          <a:noFill/>
          <a:ln/>
        </p:spPr>
        <p:txBody>
          <a:bodyPr wrap="square" lIns="0" tIns="0" rIns="0" bIns="0" rtlCol="0" anchor="t">
            <a:normAutofit/>
          </a:bodyPr>
          <a:lstStyle/>
          <a:p>
            <a:pPr marL="0" indent="0" algn="l">
              <a:lnSpc>
                <a:spcPct val="100000"/>
              </a:lnSpc>
              <a:buNone/>
            </a:pPr>
            <a:r>
              <a:rPr lang="en-US" sz="1600" b="1" dirty="0">
                <a:solidFill>
                  <a:srgbClr val="C58B18"/>
                </a:solidFill>
                <a:latin typeface="Cambria" pitchFamily="34" charset="0"/>
                <a:ea typeface="Cambria" pitchFamily="34" charset="-122"/>
                <a:cs typeface="Cambria" pitchFamily="34" charset="-120"/>
              </a:rPr>
              <a:t>Figure basis</a:t>
            </a:r>
            <a:endParaRPr lang="en-US" sz="1600" dirty="0"/>
          </a:p>
        </p:txBody>
      </p:sp>
      <p:sp>
        <p:nvSpPr>
          <p:cNvPr id="31" name="Text 29"/>
          <p:cNvSpPr/>
          <p:nvPr/>
        </p:nvSpPr>
        <p:spPr>
          <a:xfrm>
            <a:off x="2781300" y="5457825"/>
            <a:ext cx="8629650" cy="342900"/>
          </a:xfrm>
          <a:prstGeom prst="rect">
            <a:avLst/>
          </a:prstGeom>
          <a:noFill/>
          <a:ln/>
        </p:spPr>
        <p:txBody>
          <a:bodyPr wrap="square" lIns="0" tIns="0" rIns="0" bIns="0" rtlCol="0" anchor="t">
            <a:normAutofit/>
          </a:bodyPr>
          <a:lstStyle/>
          <a:p>
            <a:pPr marL="0" indent="0" algn="l">
              <a:lnSpc>
                <a:spcPct val="100000"/>
              </a:lnSpc>
              <a:buNone/>
            </a:pPr>
            <a:r>
              <a:rPr lang="en-US" sz="1320" b="1" dirty="0">
                <a:solidFill>
                  <a:srgbClr val="12263A"/>
                </a:solidFill>
                <a:latin typeface="Calibri" pitchFamily="34" charset="0"/>
                <a:ea typeface="Calibri" pitchFamily="34" charset="-122"/>
                <a:cs typeface="Calibri" pitchFamily="34" charset="-120"/>
              </a:rPr>
              <a:t>The 130 ns and ±1.5 µs values derive from 3GPP air-interface requirements re-expressed by O-RAN and ITU-T. The ≈2 s figure is a single observed experimental result, not a standardised limit.</a:t>
            </a:r>
            <a:endParaRPr lang="en-US" sz="13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8FAFC"/>
          </a:solidFill>
          <a:ln/>
        </p:spPr>
        <p:txBody>
          <a:bodyPr/>
          <a:lstStyle/>
          <a:p>
            <a:endParaRPr lang="en-IN"/>
          </a:p>
        </p:txBody>
      </p:sp>
      <p:sp>
        <p:nvSpPr>
          <p:cNvPr id="3" name="Shape 1"/>
          <p:cNvSpPr/>
          <p:nvPr/>
        </p:nvSpPr>
        <p:spPr>
          <a:xfrm>
            <a:off x="0" y="0"/>
            <a:ext cx="12192000" cy="114300"/>
          </a:xfrm>
          <a:prstGeom prst="rect">
            <a:avLst/>
          </a:prstGeom>
          <a:solidFill>
            <a:srgbClr val="18B89A"/>
          </a:solidFill>
          <a:ln/>
        </p:spPr>
        <p:txBody>
          <a:bodyPr/>
          <a:lstStyle/>
          <a:p>
            <a:endParaRPr lang="en-IN"/>
          </a:p>
        </p:txBody>
      </p:sp>
      <p:sp>
        <p:nvSpPr>
          <p:cNvPr id="4" name="Text 2"/>
          <p:cNvSpPr/>
          <p:nvPr/>
        </p:nvSpPr>
        <p:spPr>
          <a:xfrm>
            <a:off x="571500" y="209550"/>
            <a:ext cx="11049000" cy="228600"/>
          </a:xfrm>
          <a:prstGeom prst="rect">
            <a:avLst/>
          </a:prstGeom>
          <a:noFill/>
          <a:ln/>
        </p:spPr>
        <p:txBody>
          <a:bodyPr wrap="square" lIns="0" tIns="0" rIns="0" bIns="0" rtlCol="0" anchor="t">
            <a:normAutofit/>
          </a:bodyPr>
          <a:lstStyle/>
          <a:p>
            <a:pPr marL="0" indent="0" algn="l">
              <a:lnSpc>
                <a:spcPct val="100000"/>
              </a:lnSpc>
              <a:buNone/>
            </a:pPr>
            <a:r>
              <a:rPr lang="en-US" sz="1280" b="1" dirty="0">
                <a:solidFill>
                  <a:srgbClr val="1C7293"/>
                </a:solidFill>
                <a:latin typeface="Calibri" pitchFamily="34" charset="0"/>
                <a:ea typeface="Calibri" pitchFamily="34" charset="-122"/>
                <a:cs typeface="Calibri" pitchFamily="34" charset="-120"/>
              </a:rPr>
              <a:t>DECISION REQUIREMENT</a:t>
            </a:r>
            <a:endParaRPr lang="en-US" sz="1280" dirty="0"/>
          </a:p>
        </p:txBody>
      </p:sp>
      <p:sp>
        <p:nvSpPr>
          <p:cNvPr id="5" name="Text 3"/>
          <p:cNvSpPr/>
          <p:nvPr/>
        </p:nvSpPr>
        <p:spPr>
          <a:xfrm>
            <a:off x="571500" y="447675"/>
            <a:ext cx="11049000" cy="552450"/>
          </a:xfrm>
          <a:prstGeom prst="rect">
            <a:avLst/>
          </a:prstGeom>
          <a:noFill/>
          <a:ln/>
        </p:spPr>
        <p:txBody>
          <a:bodyPr wrap="square" lIns="0" tIns="0" rIns="0" bIns="0" rtlCol="0" anchor="t">
            <a:normAutofit/>
          </a:bodyPr>
          <a:lstStyle/>
          <a:p>
            <a:pPr marL="0" indent="0" algn="l">
              <a:lnSpc>
                <a:spcPct val="100000"/>
              </a:lnSpc>
              <a:buNone/>
            </a:pPr>
            <a:r>
              <a:rPr lang="en-US" sz="3200" b="1" dirty="0">
                <a:solidFill>
                  <a:srgbClr val="12263A"/>
                </a:solidFill>
                <a:latin typeface="Cambria" pitchFamily="34" charset="0"/>
                <a:ea typeface="Cambria" pitchFamily="34" charset="-122"/>
                <a:cs typeface="Cambria" pitchFamily="34" charset="-120"/>
              </a:rPr>
              <a:t>Attack–Fault Ambiguity and Sub-Scope Selection</a:t>
            </a:r>
            <a:endParaRPr lang="en-US" sz="3200" dirty="0"/>
          </a:p>
        </p:txBody>
      </p:sp>
      <p:sp>
        <p:nvSpPr>
          <p:cNvPr id="6" name="Shape 4"/>
          <p:cNvSpPr/>
          <p:nvPr/>
        </p:nvSpPr>
        <p:spPr>
          <a:xfrm>
            <a:off x="571500" y="1057275"/>
            <a:ext cx="11049000" cy="438150"/>
          </a:xfrm>
          <a:prstGeom prst="roundRect">
            <a:avLst>
              <a:gd name="adj" fmla="val 8348"/>
            </a:avLst>
          </a:prstGeom>
          <a:solidFill>
            <a:srgbClr val="EAF2F8"/>
          </a:solidFill>
          <a:ln w="12700">
            <a:solidFill>
              <a:srgbClr val="D7E1EA"/>
            </a:solidFill>
            <a:prstDash val="solid"/>
          </a:ln>
        </p:spPr>
        <p:txBody>
          <a:bodyPr/>
          <a:lstStyle/>
          <a:p>
            <a:endParaRPr lang="en-IN"/>
          </a:p>
        </p:txBody>
      </p:sp>
      <p:sp>
        <p:nvSpPr>
          <p:cNvPr id="7" name="Text 5"/>
          <p:cNvSpPr/>
          <p:nvPr/>
        </p:nvSpPr>
        <p:spPr>
          <a:xfrm>
            <a:off x="723900" y="1123950"/>
            <a:ext cx="10744200" cy="323850"/>
          </a:xfrm>
          <a:prstGeom prst="rect">
            <a:avLst/>
          </a:prstGeom>
          <a:noFill/>
          <a:ln/>
        </p:spPr>
        <p:txBody>
          <a:bodyPr wrap="square" lIns="0" tIns="0" rIns="0" bIns="0" rtlCol="0" anchor="t">
            <a:normAutofit/>
          </a:bodyPr>
          <a:lstStyle/>
          <a:p>
            <a:pPr marL="0" indent="0" algn="l">
              <a:lnSpc>
                <a:spcPct val="102000"/>
              </a:lnSpc>
              <a:buNone/>
            </a:pPr>
            <a:r>
              <a:rPr lang="en-US" sz="1120" dirty="0">
                <a:solidFill>
                  <a:srgbClr val="5B6B7C"/>
                </a:solidFill>
                <a:latin typeface="Calibri" pitchFamily="34" charset="0"/>
                <a:ea typeface="Calibri" pitchFamily="34" charset="-122"/>
                <a:cs typeface="Calibri" pitchFamily="34" charset="-120"/>
              </a:rPr>
              <a:t>IEEE 1588-2019 clock states and timePropertiesDS  |  ITU-T G.8275.1 clockClass ladder (6 locked, 7 holdover in spec)  |  O-RAN WG11 Threat Model, ETSI TR 104 106 V3.0.0</a:t>
            </a:r>
            <a:endParaRPr lang="en-US" sz="1120" dirty="0"/>
          </a:p>
        </p:txBody>
      </p:sp>
      <p:sp>
        <p:nvSpPr>
          <p:cNvPr id="8" name="Shape 6"/>
          <p:cNvSpPr/>
          <p:nvPr/>
        </p:nvSpPr>
        <p:spPr>
          <a:xfrm>
            <a:off x="571500" y="1638300"/>
            <a:ext cx="5334000" cy="2038350"/>
          </a:xfrm>
          <a:prstGeom prst="roundRect">
            <a:avLst>
              <a:gd name="adj" fmla="val 1794"/>
            </a:avLst>
          </a:prstGeom>
          <a:solidFill>
            <a:srgbClr val="FFFFFF"/>
          </a:solidFill>
          <a:ln w="12700">
            <a:solidFill>
              <a:srgbClr val="D7E1EA"/>
            </a:solidFill>
            <a:prstDash val="solid"/>
          </a:ln>
        </p:spPr>
        <p:txBody>
          <a:bodyPr/>
          <a:lstStyle/>
          <a:p>
            <a:endParaRPr lang="en-IN"/>
          </a:p>
        </p:txBody>
      </p:sp>
      <p:sp>
        <p:nvSpPr>
          <p:cNvPr id="9" name="Shape 7"/>
          <p:cNvSpPr/>
          <p:nvPr/>
        </p:nvSpPr>
        <p:spPr>
          <a:xfrm>
            <a:off x="571500" y="1638300"/>
            <a:ext cx="5334000" cy="47625"/>
          </a:xfrm>
          <a:prstGeom prst="rect">
            <a:avLst/>
          </a:prstGeom>
          <a:solidFill>
            <a:srgbClr val="1E8E5A"/>
          </a:solidFill>
          <a:ln/>
        </p:spPr>
        <p:txBody>
          <a:bodyPr/>
          <a:lstStyle/>
          <a:p>
            <a:endParaRPr lang="en-IN"/>
          </a:p>
        </p:txBody>
      </p:sp>
      <p:sp>
        <p:nvSpPr>
          <p:cNvPr id="10" name="Text 8"/>
          <p:cNvSpPr/>
          <p:nvPr/>
        </p:nvSpPr>
        <p:spPr>
          <a:xfrm>
            <a:off x="781050" y="1790700"/>
            <a:ext cx="2857500" cy="20955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1E8E5A"/>
                </a:solidFill>
                <a:latin typeface="Calibri" pitchFamily="34" charset="0"/>
                <a:ea typeface="Calibri" pitchFamily="34" charset="-122"/>
                <a:cs typeface="Calibri" pitchFamily="34" charset="-120"/>
              </a:rPr>
              <a:t>BENIGN FAULT</a:t>
            </a:r>
            <a:endParaRPr lang="en-US" sz="1200" dirty="0"/>
          </a:p>
        </p:txBody>
      </p:sp>
      <p:sp>
        <p:nvSpPr>
          <p:cNvPr id="11" name="Text 9"/>
          <p:cNvSpPr/>
          <p:nvPr/>
        </p:nvSpPr>
        <p:spPr>
          <a:xfrm>
            <a:off x="781050" y="2019300"/>
            <a:ext cx="4762500" cy="285750"/>
          </a:xfrm>
          <a:prstGeom prst="rect">
            <a:avLst/>
          </a:prstGeom>
          <a:noFill/>
          <a:ln/>
        </p:spPr>
        <p:txBody>
          <a:bodyPr wrap="square" lIns="0" tIns="0" rIns="0" bIns="0" rtlCol="0" anchor="t">
            <a:normAutofit/>
          </a:bodyPr>
          <a:lstStyle/>
          <a:p>
            <a:pPr marL="0" indent="0" algn="l">
              <a:lnSpc>
                <a:spcPct val="100000"/>
              </a:lnSpc>
              <a:buNone/>
            </a:pPr>
            <a:r>
              <a:rPr lang="en-US" sz="2300" b="1" dirty="0">
                <a:solidFill>
                  <a:srgbClr val="12263A"/>
                </a:solidFill>
                <a:latin typeface="Cambria" pitchFamily="34" charset="0"/>
                <a:ea typeface="Cambria" pitchFamily="34" charset="-122"/>
                <a:cs typeface="Cambria" pitchFamily="34" charset="-120"/>
              </a:rPr>
              <a:t>The clock is wrong</a:t>
            </a:r>
            <a:endParaRPr lang="en-US" sz="2300" dirty="0"/>
          </a:p>
        </p:txBody>
      </p:sp>
      <p:sp>
        <p:nvSpPr>
          <p:cNvPr id="12" name="Text 10"/>
          <p:cNvSpPr/>
          <p:nvPr/>
        </p:nvSpPr>
        <p:spPr>
          <a:xfrm>
            <a:off x="781050" y="2381250"/>
            <a:ext cx="4914900" cy="361950"/>
          </a:xfrm>
          <a:prstGeom prst="rect">
            <a:avLst/>
          </a:prstGeom>
          <a:noFill/>
          <a:ln/>
        </p:spPr>
        <p:txBody>
          <a:bodyPr wrap="square" lIns="0" tIns="0" rIns="0" bIns="0" rtlCol="0" anchor="t">
            <a:normAutofit/>
          </a:bodyPr>
          <a:lstStyle/>
          <a:p>
            <a:pPr marL="0" indent="0" algn="l">
              <a:lnSpc>
                <a:spcPct val="100000"/>
              </a:lnSpc>
              <a:buNone/>
            </a:pPr>
            <a:r>
              <a:rPr lang="en-US" sz="1400" dirty="0">
                <a:solidFill>
                  <a:srgbClr val="5B6B7C"/>
                </a:solidFill>
                <a:latin typeface="Calibri" pitchFamily="34" charset="0"/>
                <a:ea typeface="Calibri" pitchFamily="34" charset="-122"/>
                <a:cs typeface="Calibri" pitchFamily="34" charset="-120"/>
              </a:rPr>
              <a:t>Example: a GNSS outage at the grandmaster, declared through clockClass 6 → 7.</a:t>
            </a:r>
            <a:endParaRPr lang="en-US" sz="1400" dirty="0"/>
          </a:p>
        </p:txBody>
      </p:sp>
      <p:sp>
        <p:nvSpPr>
          <p:cNvPr id="13" name="Text 11"/>
          <p:cNvSpPr/>
          <p:nvPr/>
        </p:nvSpPr>
        <p:spPr>
          <a:xfrm>
            <a:off x="781050" y="2819400"/>
            <a:ext cx="4914900" cy="209550"/>
          </a:xfrm>
          <a:prstGeom prst="rect">
            <a:avLst/>
          </a:prstGeom>
          <a:noFill/>
          <a:ln/>
        </p:spPr>
        <p:txBody>
          <a:bodyPr wrap="square" lIns="0" tIns="0" rIns="0" bIns="0" rtlCol="0" anchor="t">
            <a:normAutofit/>
          </a:bodyPr>
          <a:lstStyle/>
          <a:p>
            <a:pPr marL="0" indent="0" algn="l">
              <a:lnSpc>
                <a:spcPct val="100000"/>
              </a:lnSpc>
              <a:buNone/>
            </a:pPr>
            <a:r>
              <a:rPr lang="en-US" sz="1450" b="1" dirty="0">
                <a:solidFill>
                  <a:srgbClr val="12263A"/>
                </a:solidFill>
                <a:latin typeface="Calibri" pitchFamily="34" charset="0"/>
                <a:ea typeface="Calibri" pitchFamily="34" charset="-122"/>
                <a:cs typeface="Calibri" pitchFamily="34" charset="-120"/>
              </a:rPr>
              <a:t>Correct response — ride it out in holdover.</a:t>
            </a:r>
            <a:endParaRPr lang="en-US" sz="1450" dirty="0"/>
          </a:p>
        </p:txBody>
      </p:sp>
      <p:sp>
        <p:nvSpPr>
          <p:cNvPr id="14" name="Text 12"/>
          <p:cNvSpPr/>
          <p:nvPr/>
        </p:nvSpPr>
        <p:spPr>
          <a:xfrm>
            <a:off x="781050" y="3067050"/>
            <a:ext cx="4914900" cy="400050"/>
          </a:xfrm>
          <a:prstGeom prst="rect">
            <a:avLst/>
          </a:prstGeom>
          <a:noFill/>
          <a:ln/>
        </p:spPr>
        <p:txBody>
          <a:bodyPr wrap="square" lIns="0" tIns="0" rIns="0" bIns="0" rtlCol="0" anchor="t">
            <a:normAutofit/>
          </a:bodyPr>
          <a:lstStyle/>
          <a:p>
            <a:pPr marL="0" indent="0" algn="l">
              <a:lnSpc>
                <a:spcPct val="100000"/>
              </a:lnSpc>
              <a:buNone/>
            </a:pPr>
            <a:r>
              <a:rPr lang="en-US" sz="1350" dirty="0">
                <a:solidFill>
                  <a:srgbClr val="5B6B7C"/>
                </a:solidFill>
                <a:latin typeface="Calibri" pitchFamily="34" charset="0"/>
                <a:ea typeface="Calibri" pitchFamily="34" charset="-122"/>
                <a:cs typeface="Calibri" pitchFamily="34" charset="-120"/>
              </a:rPr>
              <a:t>Isolating the node here creates an outage that was not going to occur.</a:t>
            </a:r>
            <a:endParaRPr lang="en-US" sz="1350" dirty="0"/>
          </a:p>
        </p:txBody>
      </p:sp>
      <p:sp>
        <p:nvSpPr>
          <p:cNvPr id="15" name="Shape 13"/>
          <p:cNvSpPr/>
          <p:nvPr/>
        </p:nvSpPr>
        <p:spPr>
          <a:xfrm>
            <a:off x="6286500" y="1638300"/>
            <a:ext cx="5334000" cy="2038350"/>
          </a:xfrm>
          <a:prstGeom prst="roundRect">
            <a:avLst>
              <a:gd name="adj" fmla="val 1794"/>
            </a:avLst>
          </a:prstGeom>
          <a:solidFill>
            <a:srgbClr val="FFFFFF"/>
          </a:solidFill>
          <a:ln w="12700">
            <a:solidFill>
              <a:srgbClr val="D7E1EA"/>
            </a:solidFill>
            <a:prstDash val="solid"/>
          </a:ln>
        </p:spPr>
        <p:txBody>
          <a:bodyPr/>
          <a:lstStyle/>
          <a:p>
            <a:endParaRPr lang="en-IN"/>
          </a:p>
        </p:txBody>
      </p:sp>
      <p:sp>
        <p:nvSpPr>
          <p:cNvPr id="16" name="Shape 14"/>
          <p:cNvSpPr/>
          <p:nvPr/>
        </p:nvSpPr>
        <p:spPr>
          <a:xfrm>
            <a:off x="6286500" y="1638300"/>
            <a:ext cx="5334000" cy="47625"/>
          </a:xfrm>
          <a:prstGeom prst="rect">
            <a:avLst/>
          </a:prstGeom>
          <a:solidFill>
            <a:srgbClr val="B3402F"/>
          </a:solidFill>
          <a:ln/>
        </p:spPr>
        <p:txBody>
          <a:bodyPr/>
          <a:lstStyle/>
          <a:p>
            <a:endParaRPr lang="en-IN"/>
          </a:p>
        </p:txBody>
      </p:sp>
      <p:sp>
        <p:nvSpPr>
          <p:cNvPr id="17" name="Text 15"/>
          <p:cNvSpPr/>
          <p:nvPr/>
        </p:nvSpPr>
        <p:spPr>
          <a:xfrm>
            <a:off x="6496050" y="1790700"/>
            <a:ext cx="2857500" cy="20955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B3402F"/>
                </a:solidFill>
                <a:latin typeface="Calibri" pitchFamily="34" charset="0"/>
                <a:ea typeface="Calibri" pitchFamily="34" charset="-122"/>
                <a:cs typeface="Calibri" pitchFamily="34" charset="-120"/>
              </a:rPr>
              <a:t>ATTACK</a:t>
            </a:r>
            <a:endParaRPr lang="en-US" sz="1200" dirty="0"/>
          </a:p>
        </p:txBody>
      </p:sp>
      <p:sp>
        <p:nvSpPr>
          <p:cNvPr id="18" name="Text 16"/>
          <p:cNvSpPr/>
          <p:nvPr/>
        </p:nvSpPr>
        <p:spPr>
          <a:xfrm>
            <a:off x="6496050" y="2019300"/>
            <a:ext cx="4762500" cy="285750"/>
          </a:xfrm>
          <a:prstGeom prst="rect">
            <a:avLst/>
          </a:prstGeom>
          <a:noFill/>
          <a:ln/>
        </p:spPr>
        <p:txBody>
          <a:bodyPr wrap="square" lIns="0" tIns="0" rIns="0" bIns="0" rtlCol="0" anchor="t">
            <a:normAutofit/>
          </a:bodyPr>
          <a:lstStyle/>
          <a:p>
            <a:pPr marL="0" indent="0" algn="l">
              <a:lnSpc>
                <a:spcPct val="100000"/>
              </a:lnSpc>
              <a:buNone/>
            </a:pPr>
            <a:r>
              <a:rPr lang="en-US" sz="2300" b="1" dirty="0">
                <a:solidFill>
                  <a:srgbClr val="12263A"/>
                </a:solidFill>
                <a:latin typeface="Cambria" pitchFamily="34" charset="0"/>
                <a:ea typeface="Cambria" pitchFamily="34" charset="-122"/>
                <a:cs typeface="Cambria" pitchFamily="34" charset="-120"/>
              </a:rPr>
              <a:t>The clock is wrong</a:t>
            </a:r>
            <a:endParaRPr lang="en-US" sz="2300" dirty="0"/>
          </a:p>
        </p:txBody>
      </p:sp>
      <p:sp>
        <p:nvSpPr>
          <p:cNvPr id="19" name="Text 17"/>
          <p:cNvSpPr/>
          <p:nvPr/>
        </p:nvSpPr>
        <p:spPr>
          <a:xfrm>
            <a:off x="6496050" y="2381250"/>
            <a:ext cx="4914900" cy="361950"/>
          </a:xfrm>
          <a:prstGeom prst="rect">
            <a:avLst/>
          </a:prstGeom>
          <a:noFill/>
          <a:ln/>
        </p:spPr>
        <p:txBody>
          <a:bodyPr wrap="square" lIns="0" tIns="0" rIns="0" bIns="0" rtlCol="0" anchor="t">
            <a:normAutofit/>
          </a:bodyPr>
          <a:lstStyle/>
          <a:p>
            <a:pPr marL="0" indent="0" algn="l">
              <a:lnSpc>
                <a:spcPct val="100000"/>
              </a:lnSpc>
              <a:buNone/>
            </a:pPr>
            <a:r>
              <a:rPr lang="en-US" sz="1400" dirty="0">
                <a:solidFill>
                  <a:srgbClr val="5B6B7C"/>
                </a:solidFill>
                <a:latin typeface="Calibri" pitchFamily="34" charset="0"/>
                <a:ea typeface="Calibri" pitchFamily="34" charset="-122"/>
                <a:cs typeface="Calibri" pitchFamily="34" charset="-120"/>
              </a:rPr>
              <a:t>Example: a rogue master injecting false time through forged Announce messages.</a:t>
            </a:r>
            <a:endParaRPr lang="en-US" sz="1400" dirty="0"/>
          </a:p>
        </p:txBody>
      </p:sp>
      <p:sp>
        <p:nvSpPr>
          <p:cNvPr id="20" name="Text 18"/>
          <p:cNvSpPr/>
          <p:nvPr/>
        </p:nvSpPr>
        <p:spPr>
          <a:xfrm>
            <a:off x="6496050" y="2819400"/>
            <a:ext cx="4914900" cy="209550"/>
          </a:xfrm>
          <a:prstGeom prst="rect">
            <a:avLst/>
          </a:prstGeom>
          <a:noFill/>
          <a:ln/>
        </p:spPr>
        <p:txBody>
          <a:bodyPr wrap="square" lIns="0" tIns="0" rIns="0" bIns="0" rtlCol="0" anchor="t">
            <a:normAutofit/>
          </a:bodyPr>
          <a:lstStyle/>
          <a:p>
            <a:pPr marL="0" indent="0" algn="l">
              <a:lnSpc>
                <a:spcPct val="100000"/>
              </a:lnSpc>
              <a:buNone/>
            </a:pPr>
            <a:r>
              <a:rPr lang="en-US" sz="1450" b="1" dirty="0">
                <a:solidFill>
                  <a:srgbClr val="12263A"/>
                </a:solidFill>
                <a:latin typeface="Calibri" pitchFamily="34" charset="0"/>
                <a:ea typeface="Calibri" pitchFamily="34" charset="-122"/>
                <a:cs typeface="Calibri" pitchFamily="34" charset="-120"/>
              </a:rPr>
              <a:t>Correct response — isolate the source immediately.</a:t>
            </a:r>
            <a:endParaRPr lang="en-US" sz="1450" dirty="0"/>
          </a:p>
        </p:txBody>
      </p:sp>
      <p:sp>
        <p:nvSpPr>
          <p:cNvPr id="21" name="Text 19"/>
          <p:cNvSpPr/>
          <p:nvPr/>
        </p:nvSpPr>
        <p:spPr>
          <a:xfrm>
            <a:off x="6496050" y="3067050"/>
            <a:ext cx="4914900" cy="400050"/>
          </a:xfrm>
          <a:prstGeom prst="rect">
            <a:avLst/>
          </a:prstGeom>
          <a:noFill/>
          <a:ln/>
        </p:spPr>
        <p:txBody>
          <a:bodyPr wrap="square" lIns="0" tIns="0" rIns="0" bIns="0" rtlCol="0" anchor="t">
            <a:normAutofit/>
          </a:bodyPr>
          <a:lstStyle/>
          <a:p>
            <a:pPr marL="0" indent="0" algn="l">
              <a:lnSpc>
                <a:spcPct val="100000"/>
              </a:lnSpc>
              <a:buNone/>
            </a:pPr>
            <a:r>
              <a:rPr lang="en-US" sz="1350" dirty="0">
                <a:solidFill>
                  <a:srgbClr val="5B6B7C"/>
                </a:solidFill>
                <a:latin typeface="Calibri" pitchFamily="34" charset="0"/>
                <a:ea typeface="Calibri" pitchFamily="34" charset="-122"/>
                <a:cs typeface="Calibri" pitchFamily="34" charset="-120"/>
              </a:rPr>
              <a:t>Waiting in holdover allows the attacker to keep steering the clock.</a:t>
            </a:r>
            <a:endParaRPr lang="en-US" sz="1350" dirty="0"/>
          </a:p>
        </p:txBody>
      </p:sp>
      <p:sp>
        <p:nvSpPr>
          <p:cNvPr id="22" name="Shape 20"/>
          <p:cNvSpPr/>
          <p:nvPr/>
        </p:nvSpPr>
        <p:spPr>
          <a:xfrm>
            <a:off x="571500" y="3810000"/>
            <a:ext cx="11049000" cy="419100"/>
          </a:xfrm>
          <a:prstGeom prst="roundRect">
            <a:avLst>
              <a:gd name="adj" fmla="val 8727"/>
            </a:avLst>
          </a:prstGeom>
          <a:solidFill>
            <a:srgbClr val="0E2440"/>
          </a:solidFill>
          <a:ln w="12700">
            <a:solidFill>
              <a:srgbClr val="0E2440"/>
            </a:solidFill>
            <a:prstDash val="solid"/>
          </a:ln>
        </p:spPr>
        <p:txBody>
          <a:bodyPr/>
          <a:lstStyle/>
          <a:p>
            <a:endParaRPr lang="en-IN"/>
          </a:p>
        </p:txBody>
      </p:sp>
      <p:sp>
        <p:nvSpPr>
          <p:cNvPr id="23" name="Text 21"/>
          <p:cNvSpPr/>
          <p:nvPr/>
        </p:nvSpPr>
        <p:spPr>
          <a:xfrm>
            <a:off x="781050" y="3924300"/>
            <a:ext cx="10629900" cy="228600"/>
          </a:xfrm>
          <a:prstGeom prst="rect">
            <a:avLst/>
          </a:prstGeom>
          <a:noFill/>
          <a:ln/>
        </p:spPr>
        <p:txBody>
          <a:bodyPr wrap="square" lIns="0" tIns="0" rIns="0" bIns="0" rtlCol="0" anchor="t">
            <a:normAutofit/>
          </a:bodyPr>
          <a:lstStyle/>
          <a:p>
            <a:pPr marL="0" indent="0" algn="l">
              <a:lnSpc>
                <a:spcPct val="100000"/>
              </a:lnSpc>
              <a:buNone/>
            </a:pPr>
            <a:r>
              <a:rPr lang="en-US" sz="1500" b="1" dirty="0">
                <a:solidFill>
                  <a:srgbClr val="FFFFFF"/>
                </a:solidFill>
                <a:latin typeface="Cambria" pitchFamily="34" charset="0"/>
                <a:ea typeface="Cambria" pitchFamily="34" charset="-122"/>
                <a:cs typeface="Cambria" pitchFamily="34" charset="-120"/>
              </a:rPr>
              <a:t>Identical observable symptom · opposite correct response · the decision cannot be made from the symptom alone</a:t>
            </a:r>
            <a:endParaRPr lang="en-US" sz="1500" dirty="0"/>
          </a:p>
        </p:txBody>
      </p:sp>
      <p:sp>
        <p:nvSpPr>
          <p:cNvPr id="24" name="Text 22"/>
          <p:cNvSpPr/>
          <p:nvPr/>
        </p:nvSpPr>
        <p:spPr>
          <a:xfrm>
            <a:off x="571500" y="4400550"/>
            <a:ext cx="6667500" cy="19050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1C7293"/>
                </a:solidFill>
                <a:latin typeface="Calibri" pitchFamily="34" charset="0"/>
                <a:ea typeface="Calibri" pitchFamily="34" charset="-122"/>
                <a:cs typeface="Calibri" pitchFamily="34" charset="-120"/>
              </a:rPr>
              <a:t>RATIONALE FOR SELECTING THE S-PLANE SUB-SCOPE</a:t>
            </a:r>
            <a:endParaRPr lang="en-US" sz="1200" dirty="0"/>
          </a:p>
        </p:txBody>
      </p:sp>
      <p:sp>
        <p:nvSpPr>
          <p:cNvPr id="25" name="Shape 23"/>
          <p:cNvSpPr/>
          <p:nvPr/>
        </p:nvSpPr>
        <p:spPr>
          <a:xfrm>
            <a:off x="571500" y="4686300"/>
            <a:ext cx="2705100" cy="1409700"/>
          </a:xfrm>
          <a:prstGeom prst="roundRect">
            <a:avLst>
              <a:gd name="adj" fmla="val 2595"/>
            </a:avLst>
          </a:prstGeom>
          <a:solidFill>
            <a:srgbClr val="FFFFFF"/>
          </a:solidFill>
          <a:ln w="12700">
            <a:solidFill>
              <a:srgbClr val="D7E1EA"/>
            </a:solidFill>
            <a:prstDash val="solid"/>
          </a:ln>
        </p:spPr>
        <p:txBody>
          <a:bodyPr/>
          <a:lstStyle/>
          <a:p>
            <a:endParaRPr lang="en-IN"/>
          </a:p>
        </p:txBody>
      </p:sp>
      <p:sp>
        <p:nvSpPr>
          <p:cNvPr id="26" name="Shape 24"/>
          <p:cNvSpPr/>
          <p:nvPr/>
        </p:nvSpPr>
        <p:spPr>
          <a:xfrm>
            <a:off x="742950" y="4838700"/>
            <a:ext cx="323850" cy="323850"/>
          </a:xfrm>
          <a:prstGeom prst="roundRect">
            <a:avLst>
              <a:gd name="adj" fmla="val 11294"/>
            </a:avLst>
          </a:prstGeom>
          <a:solidFill>
            <a:srgbClr val="1C7293"/>
          </a:solidFill>
          <a:ln w="12700">
            <a:solidFill>
              <a:srgbClr val="1C7293"/>
            </a:solidFill>
            <a:prstDash val="solid"/>
          </a:ln>
        </p:spPr>
        <p:txBody>
          <a:bodyPr/>
          <a:lstStyle/>
          <a:p>
            <a:endParaRPr lang="en-IN"/>
          </a:p>
        </p:txBody>
      </p:sp>
      <p:sp>
        <p:nvSpPr>
          <p:cNvPr id="27" name="Text 25"/>
          <p:cNvSpPr/>
          <p:nvPr/>
        </p:nvSpPr>
        <p:spPr>
          <a:xfrm>
            <a:off x="742950" y="4895850"/>
            <a:ext cx="323850" cy="219075"/>
          </a:xfrm>
          <a:prstGeom prst="rect">
            <a:avLst/>
          </a:prstGeom>
          <a:noFill/>
          <a:ln/>
        </p:spPr>
        <p:txBody>
          <a:bodyPr wrap="square" lIns="0" tIns="0" rIns="0" bIns="0" rtlCol="0" anchor="t">
            <a:normAutofit/>
          </a:bodyPr>
          <a:lstStyle/>
          <a:p>
            <a:pPr marL="0" indent="0" algn="ctr">
              <a:lnSpc>
                <a:spcPct val="100000"/>
              </a:lnSpc>
              <a:buNone/>
            </a:pPr>
            <a:r>
              <a:rPr lang="en-US" sz="1500" b="1" dirty="0">
                <a:solidFill>
                  <a:srgbClr val="FFFFFF"/>
                </a:solidFill>
                <a:latin typeface="Calibri" pitchFamily="34" charset="0"/>
                <a:ea typeface="Calibri" pitchFamily="34" charset="-122"/>
                <a:cs typeface="Calibri" pitchFamily="34" charset="-120"/>
              </a:rPr>
              <a:t>01</a:t>
            </a:r>
            <a:endParaRPr lang="en-US" sz="1500" dirty="0"/>
          </a:p>
        </p:txBody>
      </p:sp>
      <p:sp>
        <p:nvSpPr>
          <p:cNvPr id="28" name="Text 26"/>
          <p:cNvSpPr/>
          <p:nvPr/>
        </p:nvSpPr>
        <p:spPr>
          <a:xfrm>
            <a:off x="1162050" y="4876800"/>
            <a:ext cx="1981200" cy="266700"/>
          </a:xfrm>
          <a:prstGeom prst="rect">
            <a:avLst/>
          </a:prstGeom>
          <a:noFill/>
          <a:ln/>
        </p:spPr>
        <p:txBody>
          <a:bodyPr wrap="square" lIns="0" tIns="0" rIns="0" bIns="0" rtlCol="0" anchor="t">
            <a:normAutofit/>
          </a:bodyPr>
          <a:lstStyle/>
          <a:p>
            <a:pPr marL="0" indent="0" algn="l">
              <a:lnSpc>
                <a:spcPct val="100000"/>
              </a:lnSpc>
              <a:buNone/>
            </a:pPr>
            <a:r>
              <a:rPr lang="en-US" sz="1550" b="1" dirty="0">
                <a:solidFill>
                  <a:srgbClr val="12263A"/>
                </a:solidFill>
                <a:latin typeface="Cambria" pitchFamily="34" charset="0"/>
                <a:ea typeface="Cambria" pitchFamily="34" charset="-122"/>
                <a:cs typeface="Cambria" pitchFamily="34" charset="-120"/>
              </a:rPr>
              <a:t>Highest consequence</a:t>
            </a:r>
            <a:endParaRPr lang="en-US" sz="1550" dirty="0"/>
          </a:p>
        </p:txBody>
      </p:sp>
      <p:sp>
        <p:nvSpPr>
          <p:cNvPr id="29" name="Text 27"/>
          <p:cNvSpPr/>
          <p:nvPr/>
        </p:nvSpPr>
        <p:spPr>
          <a:xfrm>
            <a:off x="742950" y="5257800"/>
            <a:ext cx="2362200" cy="742950"/>
          </a:xfrm>
          <a:prstGeom prst="rect">
            <a:avLst/>
          </a:prstGeom>
          <a:noFill/>
          <a:ln/>
        </p:spPr>
        <p:txBody>
          <a:bodyPr wrap="square" lIns="0" tIns="0" rIns="0" bIns="0" rtlCol="0" anchor="t">
            <a:normAutofit/>
          </a:bodyPr>
          <a:lstStyle/>
          <a:p>
            <a:pPr marL="0" indent="0" algn="l">
              <a:lnSpc>
                <a:spcPct val="100000"/>
              </a:lnSpc>
              <a:buNone/>
            </a:pPr>
            <a:r>
              <a:rPr lang="en-US" sz="1280" dirty="0">
                <a:solidFill>
                  <a:srgbClr val="5B6B7C"/>
                </a:solidFill>
                <a:latin typeface="Calibri" pitchFamily="34" charset="0"/>
                <a:ea typeface="Calibri" pitchFamily="34" charset="-122"/>
                <a:cs typeface="Calibri" pitchFamily="34" charset="-120"/>
              </a:rPr>
              <a:t>A timing failure can become a service failure within seconds, leaving little time for a safe decision.</a:t>
            </a:r>
            <a:endParaRPr lang="en-US" sz="1280" dirty="0"/>
          </a:p>
        </p:txBody>
      </p:sp>
      <p:sp>
        <p:nvSpPr>
          <p:cNvPr id="30" name="Shape 28"/>
          <p:cNvSpPr/>
          <p:nvPr/>
        </p:nvSpPr>
        <p:spPr>
          <a:xfrm>
            <a:off x="3352800" y="4686300"/>
            <a:ext cx="2705100" cy="1409700"/>
          </a:xfrm>
          <a:prstGeom prst="roundRect">
            <a:avLst>
              <a:gd name="adj" fmla="val 2595"/>
            </a:avLst>
          </a:prstGeom>
          <a:solidFill>
            <a:srgbClr val="FFFFFF"/>
          </a:solidFill>
          <a:ln w="12700">
            <a:solidFill>
              <a:srgbClr val="D7E1EA"/>
            </a:solidFill>
            <a:prstDash val="solid"/>
          </a:ln>
        </p:spPr>
        <p:txBody>
          <a:bodyPr/>
          <a:lstStyle/>
          <a:p>
            <a:endParaRPr lang="en-IN"/>
          </a:p>
        </p:txBody>
      </p:sp>
      <p:sp>
        <p:nvSpPr>
          <p:cNvPr id="31" name="Shape 29"/>
          <p:cNvSpPr/>
          <p:nvPr/>
        </p:nvSpPr>
        <p:spPr>
          <a:xfrm>
            <a:off x="3524250" y="4838700"/>
            <a:ext cx="323850" cy="323850"/>
          </a:xfrm>
          <a:prstGeom prst="roundRect">
            <a:avLst>
              <a:gd name="adj" fmla="val 11294"/>
            </a:avLst>
          </a:prstGeom>
          <a:solidFill>
            <a:srgbClr val="1C7293"/>
          </a:solidFill>
          <a:ln w="12700">
            <a:solidFill>
              <a:srgbClr val="1C7293"/>
            </a:solidFill>
            <a:prstDash val="solid"/>
          </a:ln>
        </p:spPr>
        <p:txBody>
          <a:bodyPr/>
          <a:lstStyle/>
          <a:p>
            <a:endParaRPr lang="en-IN"/>
          </a:p>
        </p:txBody>
      </p:sp>
      <p:sp>
        <p:nvSpPr>
          <p:cNvPr id="32" name="Text 30"/>
          <p:cNvSpPr/>
          <p:nvPr/>
        </p:nvSpPr>
        <p:spPr>
          <a:xfrm>
            <a:off x="3524250" y="4895850"/>
            <a:ext cx="323850" cy="219075"/>
          </a:xfrm>
          <a:prstGeom prst="rect">
            <a:avLst/>
          </a:prstGeom>
          <a:noFill/>
          <a:ln/>
        </p:spPr>
        <p:txBody>
          <a:bodyPr wrap="square" lIns="0" tIns="0" rIns="0" bIns="0" rtlCol="0" anchor="t">
            <a:normAutofit/>
          </a:bodyPr>
          <a:lstStyle/>
          <a:p>
            <a:pPr marL="0" indent="0" algn="ctr">
              <a:lnSpc>
                <a:spcPct val="100000"/>
              </a:lnSpc>
              <a:buNone/>
            </a:pPr>
            <a:r>
              <a:rPr lang="en-US" sz="1500" b="1" dirty="0">
                <a:solidFill>
                  <a:srgbClr val="FFFFFF"/>
                </a:solidFill>
                <a:latin typeface="Calibri" pitchFamily="34" charset="0"/>
                <a:ea typeface="Calibri" pitchFamily="34" charset="-122"/>
                <a:cs typeface="Calibri" pitchFamily="34" charset="-120"/>
              </a:rPr>
              <a:t>02</a:t>
            </a:r>
            <a:endParaRPr lang="en-US" sz="1500" dirty="0"/>
          </a:p>
        </p:txBody>
      </p:sp>
      <p:sp>
        <p:nvSpPr>
          <p:cNvPr id="33" name="Text 31"/>
          <p:cNvSpPr/>
          <p:nvPr/>
        </p:nvSpPr>
        <p:spPr>
          <a:xfrm>
            <a:off x="3943350" y="4876800"/>
            <a:ext cx="1981200" cy="266700"/>
          </a:xfrm>
          <a:prstGeom prst="rect">
            <a:avLst/>
          </a:prstGeom>
          <a:noFill/>
          <a:ln/>
        </p:spPr>
        <p:txBody>
          <a:bodyPr wrap="square" lIns="0" tIns="0" rIns="0" bIns="0" rtlCol="0" anchor="t">
            <a:normAutofit/>
          </a:bodyPr>
          <a:lstStyle/>
          <a:p>
            <a:pPr marL="0" indent="0" algn="l">
              <a:lnSpc>
                <a:spcPct val="100000"/>
              </a:lnSpc>
              <a:buNone/>
            </a:pPr>
            <a:r>
              <a:rPr lang="en-US" sz="1550" b="1" dirty="0">
                <a:solidFill>
                  <a:srgbClr val="12263A"/>
                </a:solidFill>
                <a:latin typeface="Cambria" pitchFamily="34" charset="0"/>
                <a:ea typeface="Cambria" pitchFamily="34" charset="-122"/>
                <a:cs typeface="Cambria" pitchFamily="34" charset="-120"/>
              </a:rPr>
              <a:t>Genuine ambiguity</a:t>
            </a:r>
            <a:endParaRPr lang="en-US" sz="1550" dirty="0"/>
          </a:p>
        </p:txBody>
      </p:sp>
      <p:sp>
        <p:nvSpPr>
          <p:cNvPr id="34" name="Text 32"/>
          <p:cNvSpPr/>
          <p:nvPr/>
        </p:nvSpPr>
        <p:spPr>
          <a:xfrm>
            <a:off x="3524250" y="5257800"/>
            <a:ext cx="2362200" cy="742950"/>
          </a:xfrm>
          <a:prstGeom prst="rect">
            <a:avLst/>
          </a:prstGeom>
          <a:noFill/>
          <a:ln/>
        </p:spPr>
        <p:txBody>
          <a:bodyPr wrap="square" lIns="0" tIns="0" rIns="0" bIns="0" rtlCol="0" anchor="t">
            <a:normAutofit/>
          </a:bodyPr>
          <a:lstStyle/>
          <a:p>
            <a:pPr marL="0" indent="0" algn="l">
              <a:lnSpc>
                <a:spcPct val="100000"/>
              </a:lnSpc>
              <a:buNone/>
            </a:pPr>
            <a:r>
              <a:rPr lang="en-US" sz="1280" dirty="0">
                <a:solidFill>
                  <a:srgbClr val="5B6B7C"/>
                </a:solidFill>
                <a:latin typeface="Calibri" pitchFamily="34" charset="0"/>
                <a:ea typeface="Calibri" pitchFamily="34" charset="-122"/>
                <a:cs typeface="Calibri" pitchFamily="34" charset="-120"/>
              </a:rPr>
              <a:t>Selected benign faults and attacks produce overlapping symptoms; the decision needs provisioned context.</a:t>
            </a:r>
            <a:endParaRPr lang="en-US" sz="1280" dirty="0"/>
          </a:p>
        </p:txBody>
      </p:sp>
      <p:sp>
        <p:nvSpPr>
          <p:cNvPr id="35" name="Shape 33"/>
          <p:cNvSpPr/>
          <p:nvPr/>
        </p:nvSpPr>
        <p:spPr>
          <a:xfrm>
            <a:off x="6134100" y="4686300"/>
            <a:ext cx="2705100" cy="1409700"/>
          </a:xfrm>
          <a:prstGeom prst="roundRect">
            <a:avLst>
              <a:gd name="adj" fmla="val 2595"/>
            </a:avLst>
          </a:prstGeom>
          <a:solidFill>
            <a:srgbClr val="FFFFFF"/>
          </a:solidFill>
          <a:ln w="12700">
            <a:solidFill>
              <a:srgbClr val="D7E1EA"/>
            </a:solidFill>
            <a:prstDash val="solid"/>
          </a:ln>
        </p:spPr>
        <p:txBody>
          <a:bodyPr/>
          <a:lstStyle/>
          <a:p>
            <a:endParaRPr lang="en-IN"/>
          </a:p>
        </p:txBody>
      </p:sp>
      <p:sp>
        <p:nvSpPr>
          <p:cNvPr id="36" name="Shape 34"/>
          <p:cNvSpPr/>
          <p:nvPr/>
        </p:nvSpPr>
        <p:spPr>
          <a:xfrm>
            <a:off x="6305550" y="4838700"/>
            <a:ext cx="323850" cy="323850"/>
          </a:xfrm>
          <a:prstGeom prst="roundRect">
            <a:avLst>
              <a:gd name="adj" fmla="val 11294"/>
            </a:avLst>
          </a:prstGeom>
          <a:solidFill>
            <a:srgbClr val="1C7293"/>
          </a:solidFill>
          <a:ln w="12700">
            <a:solidFill>
              <a:srgbClr val="1C7293"/>
            </a:solidFill>
            <a:prstDash val="solid"/>
          </a:ln>
        </p:spPr>
        <p:txBody>
          <a:bodyPr/>
          <a:lstStyle/>
          <a:p>
            <a:endParaRPr lang="en-IN"/>
          </a:p>
        </p:txBody>
      </p:sp>
      <p:sp>
        <p:nvSpPr>
          <p:cNvPr id="37" name="Text 35"/>
          <p:cNvSpPr/>
          <p:nvPr/>
        </p:nvSpPr>
        <p:spPr>
          <a:xfrm>
            <a:off x="6305550" y="4895850"/>
            <a:ext cx="323850" cy="219075"/>
          </a:xfrm>
          <a:prstGeom prst="rect">
            <a:avLst/>
          </a:prstGeom>
          <a:noFill/>
          <a:ln/>
        </p:spPr>
        <p:txBody>
          <a:bodyPr wrap="square" lIns="0" tIns="0" rIns="0" bIns="0" rtlCol="0" anchor="t">
            <a:normAutofit/>
          </a:bodyPr>
          <a:lstStyle/>
          <a:p>
            <a:pPr marL="0" indent="0" algn="ctr">
              <a:lnSpc>
                <a:spcPct val="100000"/>
              </a:lnSpc>
              <a:buNone/>
            </a:pPr>
            <a:r>
              <a:rPr lang="en-US" sz="1500" b="1" dirty="0">
                <a:solidFill>
                  <a:srgbClr val="FFFFFF"/>
                </a:solidFill>
                <a:latin typeface="Calibri" pitchFamily="34" charset="0"/>
                <a:ea typeface="Calibri" pitchFamily="34" charset="-122"/>
                <a:cs typeface="Calibri" pitchFamily="34" charset="-120"/>
              </a:rPr>
              <a:t>03</a:t>
            </a:r>
            <a:endParaRPr lang="en-US" sz="1500" dirty="0"/>
          </a:p>
        </p:txBody>
      </p:sp>
      <p:sp>
        <p:nvSpPr>
          <p:cNvPr id="38" name="Text 36"/>
          <p:cNvSpPr/>
          <p:nvPr/>
        </p:nvSpPr>
        <p:spPr>
          <a:xfrm>
            <a:off x="6724650" y="4876800"/>
            <a:ext cx="1981200" cy="266700"/>
          </a:xfrm>
          <a:prstGeom prst="rect">
            <a:avLst/>
          </a:prstGeom>
          <a:noFill/>
          <a:ln/>
        </p:spPr>
        <p:txBody>
          <a:bodyPr wrap="square" lIns="0" tIns="0" rIns="0" bIns="0" rtlCol="0" anchor="t">
            <a:normAutofit/>
          </a:bodyPr>
          <a:lstStyle/>
          <a:p>
            <a:pPr marL="0" indent="0" algn="l">
              <a:lnSpc>
                <a:spcPct val="100000"/>
              </a:lnSpc>
              <a:buNone/>
            </a:pPr>
            <a:r>
              <a:rPr lang="en-US" sz="1550" b="1" dirty="0">
                <a:solidFill>
                  <a:srgbClr val="12263A"/>
                </a:solidFill>
                <a:latin typeface="Cambria" pitchFamily="34" charset="0"/>
                <a:ea typeface="Cambria" pitchFamily="34" charset="-122"/>
                <a:cs typeface="Cambria" pitchFamily="34" charset="-120"/>
              </a:rPr>
              <a:t>Constrained by standards</a:t>
            </a:r>
            <a:endParaRPr lang="en-US" sz="1550" dirty="0"/>
          </a:p>
        </p:txBody>
      </p:sp>
      <p:sp>
        <p:nvSpPr>
          <p:cNvPr id="39" name="Text 37"/>
          <p:cNvSpPr/>
          <p:nvPr/>
        </p:nvSpPr>
        <p:spPr>
          <a:xfrm>
            <a:off x="6343650" y="5334000"/>
            <a:ext cx="2362200" cy="742950"/>
          </a:xfrm>
          <a:prstGeom prst="rect">
            <a:avLst/>
          </a:prstGeom>
          <a:noFill/>
          <a:ln/>
        </p:spPr>
        <p:txBody>
          <a:bodyPr wrap="square" lIns="0" tIns="0" rIns="0" bIns="0" rtlCol="0" anchor="t">
            <a:normAutofit/>
          </a:bodyPr>
          <a:lstStyle/>
          <a:p>
            <a:pPr marL="0" indent="0" algn="l">
              <a:lnSpc>
                <a:spcPct val="100000"/>
              </a:lnSpc>
              <a:buNone/>
            </a:pPr>
            <a:r>
              <a:rPr lang="en-US" sz="1280" dirty="0">
                <a:solidFill>
                  <a:srgbClr val="5B6B7C"/>
                </a:solidFill>
                <a:latin typeface="Calibri" pitchFamily="34" charset="0"/>
                <a:ea typeface="Calibri" pitchFamily="34" charset="-122"/>
                <a:cs typeface="Calibri" pitchFamily="34" charset="-120"/>
              </a:rPr>
              <a:t>IEEE 1588-2019 and ITU-T G.8275.1 fix wire-level legality, giving objective decision criteria.</a:t>
            </a:r>
            <a:endParaRPr lang="en-US" sz="1280" dirty="0"/>
          </a:p>
        </p:txBody>
      </p:sp>
      <p:sp>
        <p:nvSpPr>
          <p:cNvPr id="40" name="Shape 38"/>
          <p:cNvSpPr/>
          <p:nvPr/>
        </p:nvSpPr>
        <p:spPr>
          <a:xfrm>
            <a:off x="8915400" y="4686300"/>
            <a:ext cx="2705100" cy="1409700"/>
          </a:xfrm>
          <a:prstGeom prst="roundRect">
            <a:avLst>
              <a:gd name="adj" fmla="val 2595"/>
            </a:avLst>
          </a:prstGeom>
          <a:solidFill>
            <a:srgbClr val="FFFFFF"/>
          </a:solidFill>
          <a:ln w="12700">
            <a:solidFill>
              <a:srgbClr val="D7E1EA"/>
            </a:solidFill>
            <a:prstDash val="solid"/>
          </a:ln>
        </p:spPr>
        <p:txBody>
          <a:bodyPr/>
          <a:lstStyle/>
          <a:p>
            <a:endParaRPr lang="en-IN"/>
          </a:p>
        </p:txBody>
      </p:sp>
      <p:sp>
        <p:nvSpPr>
          <p:cNvPr id="41" name="Shape 39"/>
          <p:cNvSpPr/>
          <p:nvPr/>
        </p:nvSpPr>
        <p:spPr>
          <a:xfrm>
            <a:off x="9086850" y="4838700"/>
            <a:ext cx="323850" cy="323850"/>
          </a:xfrm>
          <a:prstGeom prst="roundRect">
            <a:avLst>
              <a:gd name="adj" fmla="val 11294"/>
            </a:avLst>
          </a:prstGeom>
          <a:solidFill>
            <a:srgbClr val="1C7293"/>
          </a:solidFill>
          <a:ln w="12700">
            <a:solidFill>
              <a:srgbClr val="1C7293"/>
            </a:solidFill>
            <a:prstDash val="solid"/>
          </a:ln>
        </p:spPr>
        <p:txBody>
          <a:bodyPr/>
          <a:lstStyle/>
          <a:p>
            <a:endParaRPr lang="en-IN"/>
          </a:p>
        </p:txBody>
      </p:sp>
      <p:sp>
        <p:nvSpPr>
          <p:cNvPr id="42" name="Text 40"/>
          <p:cNvSpPr/>
          <p:nvPr/>
        </p:nvSpPr>
        <p:spPr>
          <a:xfrm>
            <a:off x="9086850" y="4895850"/>
            <a:ext cx="323850" cy="219075"/>
          </a:xfrm>
          <a:prstGeom prst="rect">
            <a:avLst/>
          </a:prstGeom>
          <a:noFill/>
          <a:ln/>
        </p:spPr>
        <p:txBody>
          <a:bodyPr wrap="square" lIns="0" tIns="0" rIns="0" bIns="0" rtlCol="0" anchor="t">
            <a:normAutofit/>
          </a:bodyPr>
          <a:lstStyle/>
          <a:p>
            <a:pPr marL="0" indent="0" algn="ctr">
              <a:lnSpc>
                <a:spcPct val="100000"/>
              </a:lnSpc>
              <a:buNone/>
            </a:pPr>
            <a:r>
              <a:rPr lang="en-US" sz="1500" b="1" dirty="0">
                <a:solidFill>
                  <a:srgbClr val="FFFFFF"/>
                </a:solidFill>
                <a:latin typeface="Calibri" pitchFamily="34" charset="0"/>
                <a:ea typeface="Calibri" pitchFamily="34" charset="-122"/>
                <a:cs typeface="Calibri" pitchFamily="34" charset="-120"/>
              </a:rPr>
              <a:t>04</a:t>
            </a:r>
            <a:endParaRPr lang="en-US" sz="1500" dirty="0"/>
          </a:p>
        </p:txBody>
      </p:sp>
      <p:sp>
        <p:nvSpPr>
          <p:cNvPr id="43" name="Text 41"/>
          <p:cNvSpPr/>
          <p:nvPr/>
        </p:nvSpPr>
        <p:spPr>
          <a:xfrm>
            <a:off x="9505950" y="4876800"/>
            <a:ext cx="1981200" cy="266700"/>
          </a:xfrm>
          <a:prstGeom prst="rect">
            <a:avLst/>
          </a:prstGeom>
          <a:noFill/>
          <a:ln/>
        </p:spPr>
        <p:txBody>
          <a:bodyPr wrap="square" lIns="0" tIns="0" rIns="0" bIns="0" rtlCol="0" anchor="t">
            <a:normAutofit/>
          </a:bodyPr>
          <a:lstStyle/>
          <a:p>
            <a:pPr marL="0" indent="0" algn="l">
              <a:lnSpc>
                <a:spcPct val="100000"/>
              </a:lnSpc>
              <a:buNone/>
            </a:pPr>
            <a:r>
              <a:rPr lang="en-US" sz="1550" b="1" dirty="0">
                <a:solidFill>
                  <a:srgbClr val="12263A"/>
                </a:solidFill>
                <a:latin typeface="Cambria" pitchFamily="34" charset="0"/>
                <a:ea typeface="Cambria" pitchFamily="34" charset="-122"/>
                <a:cs typeface="Cambria" pitchFamily="34" charset="-120"/>
              </a:rPr>
              <a:t>Reproducible in software</a:t>
            </a:r>
            <a:endParaRPr lang="en-US" sz="1550" dirty="0"/>
          </a:p>
        </p:txBody>
      </p:sp>
      <p:sp>
        <p:nvSpPr>
          <p:cNvPr id="44" name="Text 42"/>
          <p:cNvSpPr/>
          <p:nvPr/>
        </p:nvSpPr>
        <p:spPr>
          <a:xfrm>
            <a:off x="9086850" y="5257800"/>
            <a:ext cx="2362200" cy="742950"/>
          </a:xfrm>
          <a:prstGeom prst="rect">
            <a:avLst/>
          </a:prstGeom>
          <a:noFill/>
          <a:ln/>
        </p:spPr>
        <p:txBody>
          <a:bodyPr wrap="square" lIns="0" tIns="0" rIns="0" bIns="0" rtlCol="0" anchor="t">
            <a:normAutofit/>
          </a:bodyPr>
          <a:lstStyle/>
          <a:p>
            <a:pPr marL="0" indent="0" algn="l">
              <a:lnSpc>
                <a:spcPct val="100000"/>
              </a:lnSpc>
              <a:buNone/>
            </a:pPr>
            <a:r>
              <a:rPr lang="en-US" sz="1280" dirty="0">
                <a:solidFill>
                  <a:srgbClr val="5B6B7C"/>
                </a:solidFill>
                <a:latin typeface="Calibri" pitchFamily="34" charset="0"/>
                <a:ea typeface="Calibri" pitchFamily="34" charset="-122"/>
                <a:cs typeface="Calibri" pitchFamily="34" charset="-120"/>
              </a:rPr>
              <a:t>Real PTP daemons can be executed and attacked on a virtual wire without a proprietary RAN stack.</a:t>
            </a:r>
            <a:endParaRPr lang="en-US" sz="1280" dirty="0"/>
          </a:p>
        </p:txBody>
      </p:sp>
      <p:sp>
        <p:nvSpPr>
          <p:cNvPr id="45" name="Shape 43"/>
          <p:cNvSpPr/>
          <p:nvPr/>
        </p:nvSpPr>
        <p:spPr>
          <a:xfrm>
            <a:off x="571500" y="6257731"/>
            <a:ext cx="11049000" cy="514350"/>
          </a:xfrm>
          <a:prstGeom prst="roundRect">
            <a:avLst>
              <a:gd name="adj" fmla="val 7111"/>
            </a:avLst>
          </a:prstGeom>
          <a:solidFill>
            <a:srgbClr val="DDF5EF"/>
          </a:solidFill>
          <a:ln w="12700">
            <a:solidFill>
              <a:srgbClr val="18B89A"/>
            </a:solidFill>
            <a:prstDash val="solid"/>
          </a:ln>
        </p:spPr>
        <p:txBody>
          <a:bodyPr/>
          <a:lstStyle/>
          <a:p>
            <a:endParaRPr lang="en-IN"/>
          </a:p>
        </p:txBody>
      </p:sp>
      <p:sp>
        <p:nvSpPr>
          <p:cNvPr id="46" name="Text 44"/>
          <p:cNvSpPr/>
          <p:nvPr/>
        </p:nvSpPr>
        <p:spPr>
          <a:xfrm>
            <a:off x="781050" y="6372225"/>
            <a:ext cx="10629900" cy="285750"/>
          </a:xfrm>
          <a:prstGeom prst="rect">
            <a:avLst/>
          </a:prstGeom>
          <a:noFill/>
          <a:ln/>
        </p:spPr>
        <p:txBody>
          <a:bodyPr wrap="square" lIns="0" tIns="0" rIns="0" bIns="0" rtlCol="0" anchor="t">
            <a:normAutofit/>
          </a:bodyPr>
          <a:lstStyle/>
          <a:p>
            <a:pPr marL="0" indent="0" algn="l">
              <a:lnSpc>
                <a:spcPct val="100000"/>
              </a:lnSpc>
              <a:buNone/>
            </a:pPr>
            <a:r>
              <a:rPr lang="en-US" sz="1300" b="1" dirty="0">
                <a:solidFill>
                  <a:srgbClr val="0B5547"/>
                </a:solidFill>
                <a:latin typeface="Cambria" pitchFamily="34" charset="0"/>
                <a:ea typeface="Cambria" pitchFamily="34" charset="-122"/>
                <a:cs typeface="Cambria" pitchFamily="34" charset="-120"/>
              </a:rPr>
              <a:t>The sub-scope was selected because it is the point where a detection label alone is insufficient: the same symptom requires opposite recovery actions, and standards supply objective criteria for separating them.</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9331"/>
            <a:ext cx="12192000" cy="6858000"/>
          </a:xfrm>
          <a:prstGeom prst="rect">
            <a:avLst/>
          </a:prstGeom>
          <a:solidFill>
            <a:srgbClr val="F8FAFC"/>
          </a:solidFill>
          <a:ln/>
        </p:spPr>
        <p:txBody>
          <a:bodyPr/>
          <a:lstStyle/>
          <a:p>
            <a:endParaRPr lang="en-IN"/>
          </a:p>
        </p:txBody>
      </p:sp>
      <p:sp>
        <p:nvSpPr>
          <p:cNvPr id="3" name="Shape 1"/>
          <p:cNvSpPr/>
          <p:nvPr/>
        </p:nvSpPr>
        <p:spPr>
          <a:xfrm>
            <a:off x="0" y="0"/>
            <a:ext cx="12192000" cy="114300"/>
          </a:xfrm>
          <a:prstGeom prst="rect">
            <a:avLst/>
          </a:prstGeom>
          <a:solidFill>
            <a:srgbClr val="18B89A"/>
          </a:solidFill>
          <a:ln/>
        </p:spPr>
        <p:txBody>
          <a:bodyPr/>
          <a:lstStyle/>
          <a:p>
            <a:endParaRPr lang="en-IN"/>
          </a:p>
        </p:txBody>
      </p:sp>
      <p:sp>
        <p:nvSpPr>
          <p:cNvPr id="4" name="Text 2"/>
          <p:cNvSpPr/>
          <p:nvPr/>
        </p:nvSpPr>
        <p:spPr>
          <a:xfrm>
            <a:off x="571500" y="209550"/>
            <a:ext cx="11049000" cy="228600"/>
          </a:xfrm>
          <a:prstGeom prst="rect">
            <a:avLst/>
          </a:prstGeom>
          <a:noFill/>
          <a:ln/>
        </p:spPr>
        <p:txBody>
          <a:bodyPr wrap="square" lIns="0" tIns="0" rIns="0" bIns="0" rtlCol="0" anchor="t">
            <a:normAutofit/>
          </a:bodyPr>
          <a:lstStyle/>
          <a:p>
            <a:pPr marL="0" indent="0" algn="l">
              <a:lnSpc>
                <a:spcPct val="100000"/>
              </a:lnSpc>
              <a:buNone/>
            </a:pPr>
            <a:r>
              <a:rPr lang="en-US" sz="1280" b="1" dirty="0">
                <a:solidFill>
                  <a:srgbClr val="1C7293"/>
                </a:solidFill>
                <a:latin typeface="Calibri" pitchFamily="34" charset="0"/>
                <a:ea typeface="Calibri" pitchFamily="34" charset="-122"/>
                <a:cs typeface="Calibri" pitchFamily="34" charset="-120"/>
              </a:rPr>
              <a:t>LITERATURE SURVEY</a:t>
            </a:r>
            <a:endParaRPr lang="en-US" sz="1280" dirty="0"/>
          </a:p>
        </p:txBody>
      </p:sp>
      <p:sp>
        <p:nvSpPr>
          <p:cNvPr id="5" name="Text 3"/>
          <p:cNvSpPr/>
          <p:nvPr/>
        </p:nvSpPr>
        <p:spPr>
          <a:xfrm>
            <a:off x="571500" y="447675"/>
            <a:ext cx="11049000" cy="552450"/>
          </a:xfrm>
          <a:prstGeom prst="rect">
            <a:avLst/>
          </a:prstGeom>
          <a:noFill/>
          <a:ln/>
        </p:spPr>
        <p:txBody>
          <a:bodyPr wrap="square" lIns="0" tIns="0" rIns="0" bIns="0" rtlCol="0" anchor="t">
            <a:normAutofit/>
          </a:bodyPr>
          <a:lstStyle/>
          <a:p>
            <a:pPr marL="0" indent="0" algn="l">
              <a:lnSpc>
                <a:spcPct val="100000"/>
              </a:lnSpc>
              <a:buNone/>
            </a:pPr>
            <a:r>
              <a:rPr lang="en-US" sz="3200" b="1" dirty="0">
                <a:solidFill>
                  <a:srgbClr val="12263A"/>
                </a:solidFill>
                <a:latin typeface="Cambria" pitchFamily="34" charset="0"/>
                <a:ea typeface="Cambria" pitchFamily="34" charset="-122"/>
                <a:cs typeface="Cambria" pitchFamily="34" charset="-120"/>
              </a:rPr>
              <a:t>Research Foundation for S-Plane Timing Assurance</a:t>
            </a:r>
            <a:endParaRPr lang="en-US" sz="3200" dirty="0"/>
          </a:p>
        </p:txBody>
      </p:sp>
      <p:sp>
        <p:nvSpPr>
          <p:cNvPr id="6" name="Shape 4"/>
          <p:cNvSpPr/>
          <p:nvPr/>
        </p:nvSpPr>
        <p:spPr>
          <a:xfrm>
            <a:off x="571500" y="1057275"/>
            <a:ext cx="11049000" cy="438150"/>
          </a:xfrm>
          <a:prstGeom prst="roundRect">
            <a:avLst>
              <a:gd name="adj" fmla="val 8348"/>
            </a:avLst>
          </a:prstGeom>
          <a:solidFill>
            <a:srgbClr val="EAF2F8"/>
          </a:solidFill>
          <a:ln w="12700">
            <a:solidFill>
              <a:srgbClr val="D7E1EA"/>
            </a:solidFill>
            <a:prstDash val="solid"/>
          </a:ln>
        </p:spPr>
        <p:txBody>
          <a:bodyPr/>
          <a:lstStyle/>
          <a:p>
            <a:endParaRPr lang="en-IN"/>
          </a:p>
        </p:txBody>
      </p:sp>
      <p:sp>
        <p:nvSpPr>
          <p:cNvPr id="7" name="Text 5"/>
          <p:cNvSpPr/>
          <p:nvPr/>
        </p:nvSpPr>
        <p:spPr>
          <a:xfrm>
            <a:off x="723900" y="1123950"/>
            <a:ext cx="10827398" cy="323850"/>
          </a:xfrm>
          <a:prstGeom prst="rect">
            <a:avLst/>
          </a:prstGeom>
          <a:noFill/>
          <a:ln/>
        </p:spPr>
        <p:txBody>
          <a:bodyPr wrap="square" lIns="0" tIns="0" rIns="0" bIns="0" rtlCol="0" anchor="t">
            <a:normAutofit fontScale="92500"/>
          </a:bodyPr>
          <a:lstStyle/>
          <a:p>
            <a:pPr marL="0" indent="0" algn="l">
              <a:lnSpc>
                <a:spcPct val="102000"/>
              </a:lnSpc>
              <a:buNone/>
            </a:pPr>
            <a:r>
              <a:rPr lang="en-US" sz="1020" dirty="0">
                <a:solidFill>
                  <a:srgbClr val="5B6B7C"/>
                </a:solidFill>
                <a:latin typeface="Calibri" pitchFamily="34" charset="0"/>
                <a:ea typeface="Calibri" pitchFamily="34" charset="-122"/>
                <a:cs typeface="Calibri" pitchFamily="34" charset="-120"/>
              </a:rPr>
              <a:t>Groen et al., TIMESAFE, ACM ToPS 28(5), 2025, doi:10.1145/3775060  |  Bonati et al., Colosseum, IEEE OJ-COMS, 2024, doi:10.1109/OJCOMS.2024.3447472</a:t>
            </a:r>
            <a:endParaRPr lang="en-US" sz="1020" dirty="0"/>
          </a:p>
          <a:p>
            <a:pPr marL="0" indent="0" algn="l">
              <a:lnSpc>
                <a:spcPct val="102000"/>
              </a:lnSpc>
              <a:buNone/>
            </a:pPr>
            <a:r>
              <a:rPr lang="en-US" sz="1020" dirty="0">
                <a:solidFill>
                  <a:srgbClr val="5B6B7C"/>
                </a:solidFill>
                <a:latin typeface="Calibri" pitchFamily="34" charset="0"/>
                <a:ea typeface="Calibri" pitchFamily="34" charset="-122"/>
                <a:cs typeface="Calibri" pitchFamily="34" charset="-120"/>
              </a:rPr>
              <a:t>Digital Twin for O-RAN, IEEE Communications Magazine, 2024, doi:10.1109/MCOM.003.2400016  |  OpenRAN Gym, Computer Networks, 2023  |  TSN Digital Twin, EURASIP JIS, 2025, doi:10.1186/s13635-025-00213-7</a:t>
            </a:r>
            <a:endParaRPr lang="en-US" sz="1020" dirty="0"/>
          </a:p>
        </p:txBody>
      </p:sp>
      <p:sp>
        <p:nvSpPr>
          <p:cNvPr id="8" name="Text 6"/>
          <p:cNvSpPr/>
          <p:nvPr/>
        </p:nvSpPr>
        <p:spPr>
          <a:xfrm>
            <a:off x="666750" y="1647825"/>
            <a:ext cx="2857500" cy="22860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1C7293"/>
                </a:solidFill>
                <a:latin typeface="Calibri" pitchFamily="34" charset="0"/>
                <a:ea typeface="Calibri" pitchFamily="34" charset="-122"/>
                <a:cs typeface="Calibri" pitchFamily="34" charset="-120"/>
              </a:rPr>
              <a:t>SOURCE</a:t>
            </a:r>
            <a:endParaRPr lang="en-US" sz="1200" dirty="0"/>
          </a:p>
        </p:txBody>
      </p:sp>
      <p:sp>
        <p:nvSpPr>
          <p:cNvPr id="9" name="Text 7"/>
          <p:cNvSpPr/>
          <p:nvPr/>
        </p:nvSpPr>
        <p:spPr>
          <a:xfrm>
            <a:off x="3714750" y="1647825"/>
            <a:ext cx="3810000" cy="22860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1C7293"/>
                </a:solidFill>
                <a:latin typeface="Calibri" pitchFamily="34" charset="0"/>
                <a:ea typeface="Calibri" pitchFamily="34" charset="-122"/>
                <a:cs typeface="Calibri" pitchFamily="34" charset="-120"/>
              </a:rPr>
              <a:t>WHAT THE LITERATURE ESTABLISHES</a:t>
            </a:r>
            <a:endParaRPr lang="en-US" sz="1200" dirty="0"/>
          </a:p>
        </p:txBody>
      </p:sp>
      <p:sp>
        <p:nvSpPr>
          <p:cNvPr id="10" name="Text 8"/>
          <p:cNvSpPr/>
          <p:nvPr/>
        </p:nvSpPr>
        <p:spPr>
          <a:xfrm>
            <a:off x="7810500" y="1647825"/>
            <a:ext cx="3524250" cy="22860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1C7293"/>
                </a:solidFill>
                <a:latin typeface="Calibri" pitchFamily="34" charset="0"/>
                <a:ea typeface="Calibri" pitchFamily="34" charset="-122"/>
                <a:cs typeface="Calibri" pitchFamily="34" charset="-120"/>
              </a:rPr>
              <a:t>BOUNDARY LEFT OPEN</a:t>
            </a:r>
            <a:endParaRPr lang="en-US" sz="1200" dirty="0"/>
          </a:p>
        </p:txBody>
      </p:sp>
      <p:sp>
        <p:nvSpPr>
          <p:cNvPr id="11" name="Shape 9"/>
          <p:cNvSpPr/>
          <p:nvPr/>
        </p:nvSpPr>
        <p:spPr>
          <a:xfrm>
            <a:off x="571500" y="1905000"/>
            <a:ext cx="11049000" cy="11430"/>
          </a:xfrm>
          <a:prstGeom prst="rect">
            <a:avLst/>
          </a:prstGeom>
          <a:solidFill>
            <a:srgbClr val="D7E1EA"/>
          </a:solidFill>
          <a:ln/>
        </p:spPr>
        <p:txBody>
          <a:bodyPr/>
          <a:lstStyle/>
          <a:p>
            <a:endParaRPr lang="en-IN"/>
          </a:p>
        </p:txBody>
      </p:sp>
      <p:sp>
        <p:nvSpPr>
          <p:cNvPr id="12" name="Text 10"/>
          <p:cNvSpPr/>
          <p:nvPr/>
        </p:nvSpPr>
        <p:spPr>
          <a:xfrm>
            <a:off x="666750" y="2114550"/>
            <a:ext cx="2809875" cy="533400"/>
          </a:xfrm>
          <a:prstGeom prst="rect">
            <a:avLst/>
          </a:prstGeom>
          <a:noFill/>
          <a:ln/>
        </p:spPr>
        <p:txBody>
          <a:bodyPr wrap="square" lIns="0" tIns="0" rIns="0" bIns="0" rtlCol="0" anchor="t">
            <a:normAutofit/>
          </a:bodyPr>
          <a:lstStyle/>
          <a:p>
            <a:pPr marL="0" indent="0" algn="l">
              <a:lnSpc>
                <a:spcPct val="100000"/>
              </a:lnSpc>
              <a:buNone/>
            </a:pPr>
            <a:r>
              <a:rPr lang="en-US" sz="1550" b="1" dirty="0">
                <a:solidFill>
                  <a:srgbClr val="12263A"/>
                </a:solidFill>
                <a:latin typeface="Cambria" pitchFamily="34" charset="0"/>
                <a:ea typeface="Cambria" pitchFamily="34" charset="-122"/>
                <a:cs typeface="Cambria" pitchFamily="34" charset="-120"/>
              </a:rPr>
              <a:t>TIMESAFE · ACM ToPS 2025</a:t>
            </a:r>
            <a:endParaRPr lang="en-US" sz="1550" dirty="0"/>
          </a:p>
        </p:txBody>
      </p:sp>
      <p:sp>
        <p:nvSpPr>
          <p:cNvPr id="13" name="Text 11"/>
          <p:cNvSpPr/>
          <p:nvPr/>
        </p:nvSpPr>
        <p:spPr>
          <a:xfrm>
            <a:off x="3714750" y="2105025"/>
            <a:ext cx="3762375" cy="571500"/>
          </a:xfrm>
          <a:prstGeom prst="rect">
            <a:avLst/>
          </a:prstGeom>
          <a:noFill/>
          <a:ln/>
        </p:spPr>
        <p:txBody>
          <a:bodyPr wrap="square" lIns="0" tIns="0" rIns="0" bIns="0" rtlCol="0" anchor="t">
            <a:normAutofit/>
          </a:bodyPr>
          <a:lstStyle/>
          <a:p>
            <a:pPr marL="0" indent="0" algn="l">
              <a:lnSpc>
                <a:spcPct val="100000"/>
              </a:lnSpc>
              <a:buNone/>
            </a:pPr>
            <a:r>
              <a:rPr lang="en-US" sz="1430" dirty="0">
                <a:solidFill>
                  <a:srgbClr val="5B6B7C"/>
                </a:solidFill>
                <a:latin typeface="Calibri" pitchFamily="34" charset="0"/>
                <a:ea typeface="Calibri" pitchFamily="34" charset="-122"/>
                <a:cs typeface="Calibri" pitchFamily="34" charset="-120"/>
              </a:rPr>
              <a:t>PTP attacks disrupt O-RAN fronthaul and are detectable from packet evidence.</a:t>
            </a:r>
            <a:endParaRPr lang="en-US" sz="1430" dirty="0"/>
          </a:p>
        </p:txBody>
      </p:sp>
      <p:sp>
        <p:nvSpPr>
          <p:cNvPr id="14" name="Text 12"/>
          <p:cNvSpPr/>
          <p:nvPr/>
        </p:nvSpPr>
        <p:spPr>
          <a:xfrm>
            <a:off x="7810500" y="2105025"/>
            <a:ext cx="3524250" cy="571500"/>
          </a:xfrm>
          <a:prstGeom prst="rect">
            <a:avLst/>
          </a:prstGeom>
          <a:noFill/>
          <a:ln/>
        </p:spPr>
        <p:txBody>
          <a:bodyPr wrap="square" lIns="0" tIns="0" rIns="0" bIns="0" rtlCol="0" anchor="t">
            <a:normAutofit/>
          </a:bodyPr>
          <a:lstStyle/>
          <a:p>
            <a:pPr marL="0" indent="0" algn="l">
              <a:lnSpc>
                <a:spcPct val="100000"/>
              </a:lnSpc>
              <a:buNone/>
            </a:pPr>
            <a:r>
              <a:rPr lang="en-US" sz="1430" dirty="0">
                <a:solidFill>
                  <a:srgbClr val="12263A"/>
                </a:solidFill>
                <a:latin typeface="Calibri" pitchFamily="34" charset="0"/>
                <a:ea typeface="Calibri" pitchFamily="34" charset="-122"/>
                <a:cs typeface="Calibri" pitchFamily="34" charset="-120"/>
              </a:rPr>
              <a:t>Detection was not tested against a matched set of benign timing faults.</a:t>
            </a:r>
            <a:endParaRPr lang="en-US" sz="1430" dirty="0"/>
          </a:p>
        </p:txBody>
      </p:sp>
      <p:sp>
        <p:nvSpPr>
          <p:cNvPr id="15" name="Shape 13"/>
          <p:cNvSpPr/>
          <p:nvPr/>
        </p:nvSpPr>
        <p:spPr>
          <a:xfrm>
            <a:off x="571500" y="2724150"/>
            <a:ext cx="11049000" cy="11430"/>
          </a:xfrm>
          <a:prstGeom prst="rect">
            <a:avLst/>
          </a:prstGeom>
          <a:solidFill>
            <a:srgbClr val="D7E1EA"/>
          </a:solidFill>
          <a:ln/>
        </p:spPr>
        <p:txBody>
          <a:bodyPr/>
          <a:lstStyle/>
          <a:p>
            <a:endParaRPr lang="en-IN"/>
          </a:p>
        </p:txBody>
      </p:sp>
      <p:sp>
        <p:nvSpPr>
          <p:cNvPr id="16" name="Text 14"/>
          <p:cNvSpPr/>
          <p:nvPr/>
        </p:nvSpPr>
        <p:spPr>
          <a:xfrm>
            <a:off x="666750" y="2867025"/>
            <a:ext cx="2809875" cy="533400"/>
          </a:xfrm>
          <a:prstGeom prst="rect">
            <a:avLst/>
          </a:prstGeom>
          <a:noFill/>
          <a:ln/>
        </p:spPr>
        <p:txBody>
          <a:bodyPr wrap="square" lIns="0" tIns="0" rIns="0" bIns="0" rtlCol="0" anchor="t">
            <a:normAutofit/>
          </a:bodyPr>
          <a:lstStyle/>
          <a:p>
            <a:pPr marL="0" indent="0" algn="l">
              <a:lnSpc>
                <a:spcPct val="100000"/>
              </a:lnSpc>
              <a:buNone/>
            </a:pPr>
            <a:r>
              <a:rPr lang="en-US" sz="1550" b="1" dirty="0">
                <a:solidFill>
                  <a:srgbClr val="12263A"/>
                </a:solidFill>
                <a:latin typeface="Cambria" pitchFamily="34" charset="0"/>
                <a:ea typeface="Cambria" pitchFamily="34" charset="-122"/>
                <a:cs typeface="Cambria" pitchFamily="34" charset="-120"/>
              </a:rPr>
              <a:t>Digital Twin for O-RAN · IEEE 2024</a:t>
            </a:r>
            <a:endParaRPr lang="en-US" sz="1550" dirty="0"/>
          </a:p>
        </p:txBody>
      </p:sp>
      <p:sp>
        <p:nvSpPr>
          <p:cNvPr id="17" name="Text 15"/>
          <p:cNvSpPr/>
          <p:nvPr/>
        </p:nvSpPr>
        <p:spPr>
          <a:xfrm>
            <a:off x="3714750" y="2857500"/>
            <a:ext cx="3762375" cy="571500"/>
          </a:xfrm>
          <a:prstGeom prst="rect">
            <a:avLst/>
          </a:prstGeom>
          <a:noFill/>
          <a:ln/>
        </p:spPr>
        <p:txBody>
          <a:bodyPr wrap="square" lIns="0" tIns="0" rIns="0" bIns="0" rtlCol="0" anchor="t">
            <a:normAutofit/>
          </a:bodyPr>
          <a:lstStyle/>
          <a:p>
            <a:pPr marL="0" indent="0" algn="l">
              <a:lnSpc>
                <a:spcPct val="100000"/>
              </a:lnSpc>
              <a:buNone/>
            </a:pPr>
            <a:r>
              <a:rPr lang="en-US" sz="1430" dirty="0">
                <a:solidFill>
                  <a:srgbClr val="5B6B7C"/>
                </a:solidFill>
                <a:latin typeface="Calibri" pitchFamily="34" charset="0"/>
                <a:ea typeface="Calibri" pitchFamily="34" charset="-122"/>
                <a:cs typeface="Calibri" pitchFamily="34" charset="-120"/>
              </a:rPr>
              <a:t>A RAN twin supports testing, optimization and safer control decisions.</a:t>
            </a:r>
            <a:endParaRPr lang="en-US" sz="1430" dirty="0"/>
          </a:p>
        </p:txBody>
      </p:sp>
      <p:sp>
        <p:nvSpPr>
          <p:cNvPr id="18" name="Text 16"/>
          <p:cNvSpPr/>
          <p:nvPr/>
        </p:nvSpPr>
        <p:spPr>
          <a:xfrm>
            <a:off x="7810500" y="2857500"/>
            <a:ext cx="3524250" cy="571500"/>
          </a:xfrm>
          <a:prstGeom prst="rect">
            <a:avLst/>
          </a:prstGeom>
          <a:noFill/>
          <a:ln/>
        </p:spPr>
        <p:txBody>
          <a:bodyPr wrap="square" lIns="0" tIns="0" rIns="0" bIns="0" rtlCol="0" anchor="t">
            <a:normAutofit/>
          </a:bodyPr>
          <a:lstStyle/>
          <a:p>
            <a:pPr marL="0" indent="0" algn="l">
              <a:lnSpc>
                <a:spcPct val="100000"/>
              </a:lnSpc>
              <a:buNone/>
            </a:pPr>
            <a:r>
              <a:rPr lang="en-US" sz="1430" dirty="0">
                <a:solidFill>
                  <a:srgbClr val="12263A"/>
                </a:solidFill>
                <a:latin typeface="Calibri" pitchFamily="34" charset="0"/>
                <a:ea typeface="Calibri" pitchFamily="34" charset="-122"/>
                <a:cs typeface="Calibri" pitchFamily="34" charset="-120"/>
              </a:rPr>
              <a:t>The architecture does not validate S-plane attack-versus-fault discrimination.</a:t>
            </a:r>
            <a:endParaRPr lang="en-US" sz="1430" dirty="0"/>
          </a:p>
        </p:txBody>
      </p:sp>
      <p:sp>
        <p:nvSpPr>
          <p:cNvPr id="19" name="Shape 17"/>
          <p:cNvSpPr/>
          <p:nvPr/>
        </p:nvSpPr>
        <p:spPr>
          <a:xfrm>
            <a:off x="571500" y="3476625"/>
            <a:ext cx="11049000" cy="11430"/>
          </a:xfrm>
          <a:prstGeom prst="rect">
            <a:avLst/>
          </a:prstGeom>
          <a:solidFill>
            <a:srgbClr val="D7E1EA"/>
          </a:solidFill>
          <a:ln/>
        </p:spPr>
        <p:txBody>
          <a:bodyPr/>
          <a:lstStyle/>
          <a:p>
            <a:endParaRPr lang="en-IN"/>
          </a:p>
        </p:txBody>
      </p:sp>
      <p:sp>
        <p:nvSpPr>
          <p:cNvPr id="20" name="Text 18"/>
          <p:cNvSpPr/>
          <p:nvPr/>
        </p:nvSpPr>
        <p:spPr>
          <a:xfrm>
            <a:off x="666750" y="3619500"/>
            <a:ext cx="2809875" cy="533400"/>
          </a:xfrm>
          <a:prstGeom prst="rect">
            <a:avLst/>
          </a:prstGeom>
          <a:noFill/>
          <a:ln/>
        </p:spPr>
        <p:txBody>
          <a:bodyPr wrap="square" lIns="0" tIns="0" rIns="0" bIns="0" rtlCol="0" anchor="t">
            <a:normAutofit/>
          </a:bodyPr>
          <a:lstStyle/>
          <a:p>
            <a:pPr marL="0" indent="0" algn="l">
              <a:lnSpc>
                <a:spcPct val="100000"/>
              </a:lnSpc>
              <a:buNone/>
            </a:pPr>
            <a:r>
              <a:rPr lang="en-US" sz="1550" b="1" dirty="0">
                <a:solidFill>
                  <a:srgbClr val="12263A"/>
                </a:solidFill>
                <a:latin typeface="Cambria" pitchFamily="34" charset="0"/>
                <a:ea typeface="Cambria" pitchFamily="34" charset="-122"/>
                <a:cs typeface="Cambria" pitchFamily="34" charset="-120"/>
              </a:rPr>
              <a:t>Colosseum · IEEE 2024</a:t>
            </a:r>
            <a:endParaRPr lang="en-US" sz="1550" dirty="0"/>
          </a:p>
        </p:txBody>
      </p:sp>
      <p:sp>
        <p:nvSpPr>
          <p:cNvPr id="21" name="Text 19"/>
          <p:cNvSpPr/>
          <p:nvPr/>
        </p:nvSpPr>
        <p:spPr>
          <a:xfrm>
            <a:off x="3714750" y="3609975"/>
            <a:ext cx="3762375" cy="571500"/>
          </a:xfrm>
          <a:prstGeom prst="rect">
            <a:avLst/>
          </a:prstGeom>
          <a:noFill/>
          <a:ln/>
        </p:spPr>
        <p:txBody>
          <a:bodyPr wrap="square" lIns="0" tIns="0" rIns="0" bIns="0" rtlCol="0" anchor="t">
            <a:normAutofit/>
          </a:bodyPr>
          <a:lstStyle/>
          <a:p>
            <a:pPr marL="0" indent="0" algn="l">
              <a:lnSpc>
                <a:spcPct val="100000"/>
              </a:lnSpc>
              <a:buNone/>
            </a:pPr>
            <a:r>
              <a:rPr lang="en-US" sz="1430" dirty="0">
                <a:solidFill>
                  <a:srgbClr val="5B6B7C"/>
                </a:solidFill>
                <a:latin typeface="Calibri" pitchFamily="34" charset="0"/>
                <a:ea typeface="Calibri" pitchFamily="34" charset="-122"/>
                <a:cs typeface="Calibri" pitchFamily="34" charset="-120"/>
              </a:rPr>
              <a:t>Repeatable Open RAN twins reproduce realistic experimental conditions.</a:t>
            </a:r>
            <a:endParaRPr lang="en-US" sz="1430" dirty="0"/>
          </a:p>
        </p:txBody>
      </p:sp>
      <p:sp>
        <p:nvSpPr>
          <p:cNvPr id="22" name="Text 20"/>
          <p:cNvSpPr/>
          <p:nvPr/>
        </p:nvSpPr>
        <p:spPr>
          <a:xfrm>
            <a:off x="7810500" y="3609975"/>
            <a:ext cx="3524250" cy="571500"/>
          </a:xfrm>
          <a:prstGeom prst="rect">
            <a:avLst/>
          </a:prstGeom>
          <a:noFill/>
          <a:ln/>
        </p:spPr>
        <p:txBody>
          <a:bodyPr wrap="square" lIns="0" tIns="0" rIns="0" bIns="0" rtlCol="0" anchor="t">
            <a:normAutofit/>
          </a:bodyPr>
          <a:lstStyle/>
          <a:p>
            <a:pPr marL="0" indent="0" algn="l">
              <a:lnSpc>
                <a:spcPct val="100000"/>
              </a:lnSpc>
              <a:buNone/>
            </a:pPr>
            <a:r>
              <a:rPr lang="en-US" sz="1430" dirty="0">
                <a:solidFill>
                  <a:srgbClr val="12263A"/>
                </a:solidFill>
                <a:latin typeface="Calibri" pitchFamily="34" charset="0"/>
                <a:ea typeface="Calibri" pitchFamily="34" charset="-122"/>
                <a:cs typeface="Calibri" pitchFamily="34" charset="-120"/>
              </a:rPr>
              <a:t>The platform does not address telecom PTP legality or recovery choice.</a:t>
            </a:r>
            <a:endParaRPr lang="en-US" sz="1430" dirty="0"/>
          </a:p>
        </p:txBody>
      </p:sp>
      <p:sp>
        <p:nvSpPr>
          <p:cNvPr id="23" name="Shape 21"/>
          <p:cNvSpPr/>
          <p:nvPr/>
        </p:nvSpPr>
        <p:spPr>
          <a:xfrm>
            <a:off x="571500" y="4229100"/>
            <a:ext cx="11049000" cy="11430"/>
          </a:xfrm>
          <a:prstGeom prst="rect">
            <a:avLst/>
          </a:prstGeom>
          <a:solidFill>
            <a:srgbClr val="D7E1EA"/>
          </a:solidFill>
          <a:ln/>
        </p:spPr>
        <p:txBody>
          <a:bodyPr/>
          <a:lstStyle/>
          <a:p>
            <a:endParaRPr lang="en-IN"/>
          </a:p>
        </p:txBody>
      </p:sp>
      <p:sp>
        <p:nvSpPr>
          <p:cNvPr id="24" name="Text 22"/>
          <p:cNvSpPr/>
          <p:nvPr/>
        </p:nvSpPr>
        <p:spPr>
          <a:xfrm>
            <a:off x="666750" y="4371975"/>
            <a:ext cx="2809875" cy="533400"/>
          </a:xfrm>
          <a:prstGeom prst="rect">
            <a:avLst/>
          </a:prstGeom>
          <a:noFill/>
          <a:ln/>
        </p:spPr>
        <p:txBody>
          <a:bodyPr wrap="square" lIns="0" tIns="0" rIns="0" bIns="0" rtlCol="0" anchor="t">
            <a:normAutofit/>
          </a:bodyPr>
          <a:lstStyle/>
          <a:p>
            <a:pPr marL="0" indent="0" algn="l">
              <a:lnSpc>
                <a:spcPct val="100000"/>
              </a:lnSpc>
              <a:buNone/>
            </a:pPr>
            <a:r>
              <a:rPr lang="en-US" sz="1550" b="1" dirty="0">
                <a:solidFill>
                  <a:srgbClr val="12263A"/>
                </a:solidFill>
                <a:latin typeface="Cambria" pitchFamily="34" charset="0"/>
                <a:ea typeface="Cambria" pitchFamily="34" charset="-122"/>
                <a:cs typeface="Cambria" pitchFamily="34" charset="-120"/>
              </a:rPr>
              <a:t>OpenRAN Gym · Elsevier 2023</a:t>
            </a:r>
            <a:endParaRPr lang="en-US" sz="1550" dirty="0"/>
          </a:p>
        </p:txBody>
      </p:sp>
      <p:sp>
        <p:nvSpPr>
          <p:cNvPr id="25" name="Text 23"/>
          <p:cNvSpPr/>
          <p:nvPr/>
        </p:nvSpPr>
        <p:spPr>
          <a:xfrm>
            <a:off x="3714750" y="4362450"/>
            <a:ext cx="3762375" cy="571500"/>
          </a:xfrm>
          <a:prstGeom prst="rect">
            <a:avLst/>
          </a:prstGeom>
          <a:noFill/>
          <a:ln/>
        </p:spPr>
        <p:txBody>
          <a:bodyPr wrap="square" lIns="0" tIns="0" rIns="0" bIns="0" rtlCol="0" anchor="t">
            <a:normAutofit/>
          </a:bodyPr>
          <a:lstStyle/>
          <a:p>
            <a:pPr marL="0" indent="0" algn="l">
              <a:lnSpc>
                <a:spcPct val="100000"/>
              </a:lnSpc>
              <a:buNone/>
            </a:pPr>
            <a:r>
              <a:rPr lang="en-US" sz="1430" dirty="0">
                <a:solidFill>
                  <a:srgbClr val="5B6B7C"/>
                </a:solidFill>
                <a:latin typeface="Calibri" pitchFamily="34" charset="0"/>
                <a:ea typeface="Calibri" pitchFamily="34" charset="-122"/>
                <a:cs typeface="Calibri" pitchFamily="34" charset="-120"/>
              </a:rPr>
              <a:t>O-RAN AI/ML requires controlled data collection and reproducible evaluation.</a:t>
            </a:r>
            <a:endParaRPr lang="en-US" sz="1430" dirty="0"/>
          </a:p>
        </p:txBody>
      </p:sp>
      <p:sp>
        <p:nvSpPr>
          <p:cNvPr id="26" name="Text 24"/>
          <p:cNvSpPr/>
          <p:nvPr/>
        </p:nvSpPr>
        <p:spPr>
          <a:xfrm>
            <a:off x="7810500" y="4362450"/>
            <a:ext cx="3524250" cy="571500"/>
          </a:xfrm>
          <a:prstGeom prst="rect">
            <a:avLst/>
          </a:prstGeom>
          <a:noFill/>
          <a:ln/>
        </p:spPr>
        <p:txBody>
          <a:bodyPr wrap="square" lIns="0" tIns="0" rIns="0" bIns="0" rtlCol="0" anchor="t">
            <a:normAutofit/>
          </a:bodyPr>
          <a:lstStyle/>
          <a:p>
            <a:pPr marL="0" indent="0" algn="l">
              <a:lnSpc>
                <a:spcPct val="100000"/>
              </a:lnSpc>
              <a:buNone/>
            </a:pPr>
            <a:r>
              <a:rPr lang="en-US" sz="1430" dirty="0">
                <a:solidFill>
                  <a:srgbClr val="12263A"/>
                </a:solidFill>
                <a:latin typeface="Calibri" pitchFamily="34" charset="0"/>
                <a:ea typeface="Calibri" pitchFamily="34" charset="-122"/>
                <a:cs typeface="Calibri" pitchFamily="34" charset="-120"/>
              </a:rPr>
              <a:t>It does not test whether an S-plane model beats rules or a constant predictor.</a:t>
            </a:r>
            <a:endParaRPr lang="en-US" sz="1430" dirty="0"/>
          </a:p>
        </p:txBody>
      </p:sp>
      <p:sp>
        <p:nvSpPr>
          <p:cNvPr id="27" name="Shape 25"/>
          <p:cNvSpPr/>
          <p:nvPr/>
        </p:nvSpPr>
        <p:spPr>
          <a:xfrm>
            <a:off x="571500" y="4981575"/>
            <a:ext cx="11049000" cy="11430"/>
          </a:xfrm>
          <a:prstGeom prst="rect">
            <a:avLst/>
          </a:prstGeom>
          <a:solidFill>
            <a:srgbClr val="D7E1EA"/>
          </a:solidFill>
          <a:ln/>
        </p:spPr>
        <p:txBody>
          <a:bodyPr/>
          <a:lstStyle/>
          <a:p>
            <a:endParaRPr lang="en-IN"/>
          </a:p>
        </p:txBody>
      </p:sp>
      <p:sp>
        <p:nvSpPr>
          <p:cNvPr id="28" name="Text 26"/>
          <p:cNvSpPr/>
          <p:nvPr/>
        </p:nvSpPr>
        <p:spPr>
          <a:xfrm>
            <a:off x="666750" y="5124450"/>
            <a:ext cx="2809875" cy="533400"/>
          </a:xfrm>
          <a:prstGeom prst="rect">
            <a:avLst/>
          </a:prstGeom>
          <a:noFill/>
          <a:ln/>
        </p:spPr>
        <p:txBody>
          <a:bodyPr wrap="square" lIns="0" tIns="0" rIns="0" bIns="0" rtlCol="0" anchor="t">
            <a:normAutofit/>
          </a:bodyPr>
          <a:lstStyle/>
          <a:p>
            <a:pPr marL="0" indent="0" algn="l">
              <a:lnSpc>
                <a:spcPct val="100000"/>
              </a:lnSpc>
              <a:buNone/>
            </a:pPr>
            <a:r>
              <a:rPr lang="en-US" sz="1550" b="1" dirty="0">
                <a:solidFill>
                  <a:srgbClr val="12263A"/>
                </a:solidFill>
                <a:latin typeface="Cambria" pitchFamily="34" charset="0"/>
                <a:ea typeface="Cambria" pitchFamily="34" charset="-122"/>
                <a:cs typeface="Cambria" pitchFamily="34" charset="-120"/>
              </a:rPr>
              <a:t>TSN Digital Twin · Springer 2025</a:t>
            </a:r>
            <a:endParaRPr lang="en-US" sz="1550" dirty="0"/>
          </a:p>
        </p:txBody>
      </p:sp>
      <p:sp>
        <p:nvSpPr>
          <p:cNvPr id="29" name="Text 27"/>
          <p:cNvSpPr/>
          <p:nvPr/>
        </p:nvSpPr>
        <p:spPr>
          <a:xfrm>
            <a:off x="3714750" y="5114925"/>
            <a:ext cx="3762375" cy="571500"/>
          </a:xfrm>
          <a:prstGeom prst="rect">
            <a:avLst/>
          </a:prstGeom>
          <a:noFill/>
          <a:ln/>
        </p:spPr>
        <p:txBody>
          <a:bodyPr wrap="square" lIns="0" tIns="0" rIns="0" bIns="0" rtlCol="0" anchor="t">
            <a:normAutofit/>
          </a:bodyPr>
          <a:lstStyle/>
          <a:p>
            <a:pPr marL="0" indent="0" algn="l">
              <a:lnSpc>
                <a:spcPct val="100000"/>
              </a:lnSpc>
              <a:buNone/>
            </a:pPr>
            <a:r>
              <a:rPr lang="en-US" sz="1430" dirty="0">
                <a:solidFill>
                  <a:srgbClr val="5B6B7C"/>
                </a:solidFill>
                <a:latin typeface="Calibri" pitchFamily="34" charset="0"/>
                <a:ea typeface="Calibri" pitchFamily="34" charset="-122"/>
                <a:cs typeface="Calibri" pitchFamily="34" charset="-120"/>
              </a:rPr>
              <a:t>A timing-aware twin supports structured security testing.</a:t>
            </a:r>
            <a:endParaRPr lang="en-US" sz="1430" dirty="0"/>
          </a:p>
        </p:txBody>
      </p:sp>
      <p:sp>
        <p:nvSpPr>
          <p:cNvPr id="30" name="Text 28"/>
          <p:cNvSpPr/>
          <p:nvPr/>
        </p:nvSpPr>
        <p:spPr>
          <a:xfrm>
            <a:off x="7810500" y="5114925"/>
            <a:ext cx="3524250" cy="571500"/>
          </a:xfrm>
          <a:prstGeom prst="rect">
            <a:avLst/>
          </a:prstGeom>
          <a:noFill/>
          <a:ln/>
        </p:spPr>
        <p:txBody>
          <a:bodyPr wrap="square" lIns="0" tIns="0" rIns="0" bIns="0" rtlCol="0" anchor="t">
            <a:normAutofit/>
          </a:bodyPr>
          <a:lstStyle/>
          <a:p>
            <a:pPr marL="0" indent="0" algn="l">
              <a:lnSpc>
                <a:spcPct val="100000"/>
              </a:lnSpc>
              <a:buNone/>
            </a:pPr>
            <a:r>
              <a:rPr lang="en-US" sz="1430" dirty="0">
                <a:solidFill>
                  <a:srgbClr val="12263A"/>
                </a:solidFill>
                <a:latin typeface="Calibri" pitchFamily="34" charset="0"/>
                <a:ea typeface="Calibri" pitchFamily="34" charset="-122"/>
                <a:cs typeface="Calibri" pitchFamily="34" charset="-120"/>
              </a:rPr>
              <a:t>The study does not combine O-RAN PTP, benign lookalikes and held-out controls.</a:t>
            </a:r>
            <a:endParaRPr lang="en-US" sz="1430" dirty="0"/>
          </a:p>
        </p:txBody>
      </p:sp>
      <p:sp>
        <p:nvSpPr>
          <p:cNvPr id="31" name="Shape 29"/>
          <p:cNvSpPr/>
          <p:nvPr/>
        </p:nvSpPr>
        <p:spPr>
          <a:xfrm>
            <a:off x="571500" y="5734050"/>
            <a:ext cx="11049000" cy="11430"/>
          </a:xfrm>
          <a:prstGeom prst="rect">
            <a:avLst/>
          </a:prstGeom>
          <a:solidFill>
            <a:srgbClr val="D7E1EA"/>
          </a:solidFill>
          <a:ln/>
        </p:spPr>
        <p:txBody>
          <a:bodyPr/>
          <a:lstStyle/>
          <a:p>
            <a:endParaRPr lang="en-IN"/>
          </a:p>
        </p:txBody>
      </p:sp>
      <p:sp>
        <p:nvSpPr>
          <p:cNvPr id="32" name="Shape 30"/>
          <p:cNvSpPr/>
          <p:nvPr/>
        </p:nvSpPr>
        <p:spPr>
          <a:xfrm>
            <a:off x="571500" y="5905500"/>
            <a:ext cx="11049000" cy="514350"/>
          </a:xfrm>
          <a:prstGeom prst="roundRect">
            <a:avLst>
              <a:gd name="adj" fmla="val 7111"/>
            </a:avLst>
          </a:prstGeom>
          <a:solidFill>
            <a:srgbClr val="0E2440"/>
          </a:solidFill>
          <a:ln w="12700">
            <a:solidFill>
              <a:srgbClr val="0E2440"/>
            </a:solidFill>
            <a:prstDash val="solid"/>
          </a:ln>
        </p:spPr>
        <p:txBody>
          <a:bodyPr/>
          <a:lstStyle/>
          <a:p>
            <a:endParaRPr lang="en-IN"/>
          </a:p>
        </p:txBody>
      </p:sp>
      <p:sp>
        <p:nvSpPr>
          <p:cNvPr id="33" name="Text 31"/>
          <p:cNvSpPr/>
          <p:nvPr/>
        </p:nvSpPr>
        <p:spPr>
          <a:xfrm>
            <a:off x="781050" y="6019800"/>
            <a:ext cx="10629900" cy="304800"/>
          </a:xfrm>
          <a:prstGeom prst="rect">
            <a:avLst/>
          </a:prstGeom>
          <a:noFill/>
          <a:ln/>
        </p:spPr>
        <p:txBody>
          <a:bodyPr wrap="square" lIns="0" tIns="0" rIns="0" bIns="0" rtlCol="0" anchor="t">
            <a:normAutofit/>
          </a:bodyPr>
          <a:lstStyle/>
          <a:p>
            <a:pPr marL="0" indent="0" algn="l">
              <a:lnSpc>
                <a:spcPct val="100000"/>
              </a:lnSpc>
              <a:buNone/>
            </a:pPr>
            <a:r>
              <a:rPr lang="en-US" sz="1320" b="1" dirty="0">
                <a:solidFill>
                  <a:srgbClr val="FFFFFF"/>
                </a:solidFill>
                <a:latin typeface="Cambria" pitchFamily="34" charset="0"/>
                <a:ea typeface="Cambria" pitchFamily="34" charset="-122"/>
                <a:cs typeface="Cambria" pitchFamily="34" charset="-120"/>
              </a:rPr>
              <a:t>Prior work establishes the threat, the AI testbed direction and the digital-twin direction. It does not resolve the operational decision between malicious timing behaviour and a benign timing fault presenting the same symptom.</a:t>
            </a:r>
            <a:endParaRPr lang="en-US" sz="13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8FAFC"/>
          </a:solidFill>
          <a:ln/>
        </p:spPr>
        <p:txBody>
          <a:bodyPr/>
          <a:lstStyle/>
          <a:p>
            <a:endParaRPr lang="en-IN"/>
          </a:p>
        </p:txBody>
      </p:sp>
      <p:sp>
        <p:nvSpPr>
          <p:cNvPr id="3" name="Shape 1"/>
          <p:cNvSpPr/>
          <p:nvPr/>
        </p:nvSpPr>
        <p:spPr>
          <a:xfrm>
            <a:off x="0" y="0"/>
            <a:ext cx="12192000" cy="114300"/>
          </a:xfrm>
          <a:prstGeom prst="rect">
            <a:avLst/>
          </a:prstGeom>
          <a:solidFill>
            <a:srgbClr val="18B89A"/>
          </a:solidFill>
          <a:ln/>
        </p:spPr>
        <p:txBody>
          <a:bodyPr/>
          <a:lstStyle/>
          <a:p>
            <a:endParaRPr lang="en-IN"/>
          </a:p>
        </p:txBody>
      </p:sp>
      <p:sp>
        <p:nvSpPr>
          <p:cNvPr id="4" name="Text 2"/>
          <p:cNvSpPr/>
          <p:nvPr/>
        </p:nvSpPr>
        <p:spPr>
          <a:xfrm>
            <a:off x="571500" y="209550"/>
            <a:ext cx="11049000" cy="228600"/>
          </a:xfrm>
          <a:prstGeom prst="rect">
            <a:avLst/>
          </a:prstGeom>
          <a:noFill/>
          <a:ln/>
        </p:spPr>
        <p:txBody>
          <a:bodyPr wrap="square" lIns="0" tIns="0" rIns="0" bIns="0" rtlCol="0" anchor="t">
            <a:normAutofit/>
          </a:bodyPr>
          <a:lstStyle/>
          <a:p>
            <a:pPr marL="0" indent="0" algn="l">
              <a:lnSpc>
                <a:spcPct val="100000"/>
              </a:lnSpc>
              <a:buNone/>
            </a:pPr>
            <a:r>
              <a:rPr lang="en-US" sz="1280" b="1" dirty="0">
                <a:solidFill>
                  <a:srgbClr val="1C7293"/>
                </a:solidFill>
                <a:latin typeface="Calibri" pitchFamily="34" charset="0"/>
                <a:ea typeface="Calibri" pitchFamily="34" charset="-122"/>
                <a:cs typeface="Calibri" pitchFamily="34" charset="-120"/>
              </a:rPr>
              <a:t>RESEARCH GAP ANALYSIS</a:t>
            </a:r>
            <a:endParaRPr lang="en-US" sz="1280" dirty="0"/>
          </a:p>
        </p:txBody>
      </p:sp>
      <p:sp>
        <p:nvSpPr>
          <p:cNvPr id="5" name="Text 3"/>
          <p:cNvSpPr/>
          <p:nvPr/>
        </p:nvSpPr>
        <p:spPr>
          <a:xfrm>
            <a:off x="571500" y="447675"/>
            <a:ext cx="11049000" cy="552450"/>
          </a:xfrm>
          <a:prstGeom prst="rect">
            <a:avLst/>
          </a:prstGeom>
          <a:noFill/>
          <a:ln/>
        </p:spPr>
        <p:txBody>
          <a:bodyPr wrap="square" lIns="0" tIns="0" rIns="0" bIns="0" rtlCol="0" anchor="t">
            <a:normAutofit/>
          </a:bodyPr>
          <a:lstStyle/>
          <a:p>
            <a:pPr marL="0" indent="0" algn="l">
              <a:lnSpc>
                <a:spcPct val="100000"/>
              </a:lnSpc>
              <a:buNone/>
            </a:pPr>
            <a:r>
              <a:rPr lang="en-US" sz="3500" b="1" dirty="0">
                <a:solidFill>
                  <a:srgbClr val="12263A"/>
                </a:solidFill>
                <a:latin typeface="Cambria" pitchFamily="34" charset="0"/>
                <a:ea typeface="Cambria" pitchFamily="34" charset="-122"/>
                <a:cs typeface="Cambria" pitchFamily="34" charset="-120"/>
              </a:rPr>
              <a:t>Research Gaps Behind the Experimental Design</a:t>
            </a:r>
            <a:endParaRPr lang="en-US" sz="3500" dirty="0"/>
          </a:p>
        </p:txBody>
      </p:sp>
      <p:sp>
        <p:nvSpPr>
          <p:cNvPr id="6" name="Shape 4"/>
          <p:cNvSpPr/>
          <p:nvPr/>
        </p:nvSpPr>
        <p:spPr>
          <a:xfrm>
            <a:off x="571500" y="1057275"/>
            <a:ext cx="11049000" cy="438150"/>
          </a:xfrm>
          <a:prstGeom prst="roundRect">
            <a:avLst>
              <a:gd name="adj" fmla="val 8348"/>
            </a:avLst>
          </a:prstGeom>
          <a:solidFill>
            <a:srgbClr val="EAF2F8"/>
          </a:solidFill>
          <a:ln w="12700">
            <a:solidFill>
              <a:srgbClr val="D7E1EA"/>
            </a:solidFill>
            <a:prstDash val="solid"/>
          </a:ln>
        </p:spPr>
        <p:txBody>
          <a:bodyPr/>
          <a:lstStyle/>
          <a:p>
            <a:endParaRPr lang="en-IN"/>
          </a:p>
        </p:txBody>
      </p:sp>
      <p:sp>
        <p:nvSpPr>
          <p:cNvPr id="7" name="Text 5"/>
          <p:cNvSpPr/>
          <p:nvPr/>
        </p:nvSpPr>
        <p:spPr>
          <a:xfrm>
            <a:off x="723900" y="1123950"/>
            <a:ext cx="10744200" cy="323850"/>
          </a:xfrm>
          <a:prstGeom prst="rect">
            <a:avLst/>
          </a:prstGeom>
          <a:noFill/>
          <a:ln/>
        </p:spPr>
        <p:txBody>
          <a:bodyPr wrap="square" lIns="0" tIns="0" rIns="0" bIns="0" rtlCol="0" anchor="t">
            <a:normAutofit/>
          </a:bodyPr>
          <a:lstStyle/>
          <a:p>
            <a:pPr marL="0" indent="0" algn="l">
              <a:lnSpc>
                <a:spcPct val="102000"/>
              </a:lnSpc>
              <a:buNone/>
            </a:pPr>
            <a:r>
              <a:rPr lang="en-US" sz="1020" dirty="0">
                <a:solidFill>
                  <a:srgbClr val="5B6B7C"/>
                </a:solidFill>
                <a:latin typeface="Calibri" pitchFamily="34" charset="0"/>
                <a:ea typeface="Calibri" pitchFamily="34" charset="-122"/>
                <a:cs typeface="Calibri" pitchFamily="34" charset="-120"/>
              </a:rPr>
              <a:t>Federated Continual Learning for O-RAN Anomaly Detection, IEEE WCNC 2024  |  Adversarial ML Threat Analysis in O-RAN, JNCA 2024, doi:10.1016/j.jnca.2024.104090</a:t>
            </a:r>
            <a:endParaRPr lang="en-US" sz="1020" dirty="0"/>
          </a:p>
          <a:p>
            <a:pPr marL="0" indent="0" algn="l">
              <a:lnSpc>
                <a:spcPct val="102000"/>
              </a:lnSpc>
              <a:buNone/>
            </a:pPr>
            <a:r>
              <a:rPr lang="en-US" sz="1020" dirty="0">
                <a:solidFill>
                  <a:srgbClr val="5B6B7C"/>
                </a:solidFill>
                <a:latin typeface="Calibri" pitchFamily="34" charset="0"/>
                <a:ea typeface="Calibri" pitchFamily="34" charset="-122"/>
                <a:cs typeface="Calibri" pitchFamily="34" charset="-120"/>
              </a:rPr>
              <a:t>O-RAN xApps: Survey and Research Challenges, Computer Networks 2025  |  Anomaly Detection for xApp and E2 Threats, IEEE 2025</a:t>
            </a:r>
            <a:endParaRPr lang="en-US" sz="1020" dirty="0"/>
          </a:p>
        </p:txBody>
      </p:sp>
      <p:sp>
        <p:nvSpPr>
          <p:cNvPr id="8" name="Shape 6"/>
          <p:cNvSpPr/>
          <p:nvPr/>
        </p:nvSpPr>
        <p:spPr>
          <a:xfrm>
            <a:off x="571500" y="1790700"/>
            <a:ext cx="438150" cy="438150"/>
          </a:xfrm>
          <a:prstGeom prst="roundRect">
            <a:avLst>
              <a:gd name="adj" fmla="val 8348"/>
            </a:avLst>
          </a:prstGeom>
          <a:solidFill>
            <a:srgbClr val="1C7293"/>
          </a:solidFill>
          <a:ln w="12700">
            <a:solidFill>
              <a:srgbClr val="1C7293"/>
            </a:solidFill>
            <a:prstDash val="solid"/>
          </a:ln>
        </p:spPr>
        <p:txBody>
          <a:bodyPr/>
          <a:lstStyle/>
          <a:p>
            <a:endParaRPr lang="en-IN"/>
          </a:p>
        </p:txBody>
      </p:sp>
      <p:sp>
        <p:nvSpPr>
          <p:cNvPr id="9" name="Text 7"/>
          <p:cNvSpPr/>
          <p:nvPr/>
        </p:nvSpPr>
        <p:spPr>
          <a:xfrm>
            <a:off x="571500" y="1905000"/>
            <a:ext cx="438150" cy="219075"/>
          </a:xfrm>
          <a:prstGeom prst="rect">
            <a:avLst/>
          </a:prstGeom>
          <a:noFill/>
          <a:ln/>
        </p:spPr>
        <p:txBody>
          <a:bodyPr wrap="square" lIns="0" tIns="0" rIns="0" bIns="0" rtlCol="0" anchor="t">
            <a:normAutofit/>
          </a:bodyPr>
          <a:lstStyle/>
          <a:p>
            <a:pPr marL="0" indent="0" algn="ctr">
              <a:lnSpc>
                <a:spcPct val="100000"/>
              </a:lnSpc>
              <a:buNone/>
            </a:pPr>
            <a:r>
              <a:rPr lang="en-US" sz="1500" b="1" dirty="0">
                <a:solidFill>
                  <a:srgbClr val="FFFFFF"/>
                </a:solidFill>
                <a:latin typeface="Calibri" pitchFamily="34" charset="0"/>
                <a:ea typeface="Calibri" pitchFamily="34" charset="-122"/>
                <a:cs typeface="Calibri" pitchFamily="34" charset="-120"/>
              </a:rPr>
              <a:t>01</a:t>
            </a:r>
            <a:endParaRPr lang="en-US" sz="1500" dirty="0"/>
          </a:p>
        </p:txBody>
      </p:sp>
      <p:sp>
        <p:nvSpPr>
          <p:cNvPr id="10" name="Text 8"/>
          <p:cNvSpPr/>
          <p:nvPr/>
        </p:nvSpPr>
        <p:spPr>
          <a:xfrm>
            <a:off x="1190625" y="1781175"/>
            <a:ext cx="5715000" cy="266700"/>
          </a:xfrm>
          <a:prstGeom prst="rect">
            <a:avLst/>
          </a:prstGeom>
          <a:noFill/>
          <a:ln/>
        </p:spPr>
        <p:txBody>
          <a:bodyPr wrap="square" lIns="0" tIns="0" rIns="0" bIns="0" rtlCol="0" anchor="t">
            <a:normAutofit/>
          </a:bodyPr>
          <a:lstStyle/>
          <a:p>
            <a:pPr marL="0" indent="0" algn="l">
              <a:lnSpc>
                <a:spcPct val="100000"/>
              </a:lnSpc>
              <a:buNone/>
            </a:pPr>
            <a:r>
              <a:rPr lang="en-US" sz="2000" b="1" dirty="0">
                <a:solidFill>
                  <a:srgbClr val="12263A"/>
                </a:solidFill>
                <a:latin typeface="Cambria" pitchFamily="34" charset="0"/>
                <a:ea typeface="Cambria" pitchFamily="34" charset="-122"/>
                <a:cs typeface="Cambria" pitchFamily="34" charset="-120"/>
              </a:rPr>
              <a:t>Attack and fault ambiguity</a:t>
            </a:r>
            <a:endParaRPr lang="en-US" sz="2000" dirty="0"/>
          </a:p>
        </p:txBody>
      </p:sp>
      <p:sp>
        <p:nvSpPr>
          <p:cNvPr id="11" name="Text 9"/>
          <p:cNvSpPr/>
          <p:nvPr/>
        </p:nvSpPr>
        <p:spPr>
          <a:xfrm>
            <a:off x="1190625" y="2085975"/>
            <a:ext cx="6429375" cy="514350"/>
          </a:xfrm>
          <a:prstGeom prst="rect">
            <a:avLst/>
          </a:prstGeom>
          <a:noFill/>
          <a:ln/>
        </p:spPr>
        <p:txBody>
          <a:bodyPr wrap="square" lIns="0" tIns="0" rIns="0" bIns="0" rtlCol="0" anchor="t">
            <a:normAutofit/>
          </a:bodyPr>
          <a:lstStyle/>
          <a:p>
            <a:pPr marL="0" indent="0" algn="l">
              <a:lnSpc>
                <a:spcPct val="100000"/>
              </a:lnSpc>
              <a:buNone/>
            </a:pPr>
            <a:r>
              <a:rPr lang="en-US" sz="1520" dirty="0">
                <a:solidFill>
                  <a:srgbClr val="5B6B7C"/>
                </a:solidFill>
                <a:latin typeface="Calibri" pitchFamily="34" charset="0"/>
                <a:ea typeface="Calibri" pitchFamily="34" charset="-122"/>
                <a:cs typeface="Calibri" pitchFamily="34" charset="-120"/>
              </a:rPr>
              <a:t>Prior detectors separate attack from normal operation. Operators must also separate attacks from real clock, path and configuration faults.</a:t>
            </a:r>
            <a:endParaRPr lang="en-US" sz="1520" dirty="0"/>
          </a:p>
        </p:txBody>
      </p:sp>
      <p:sp>
        <p:nvSpPr>
          <p:cNvPr id="12" name="Shape 10"/>
          <p:cNvSpPr/>
          <p:nvPr/>
        </p:nvSpPr>
        <p:spPr>
          <a:xfrm>
            <a:off x="571500" y="2752725"/>
            <a:ext cx="438150" cy="438150"/>
          </a:xfrm>
          <a:prstGeom prst="roundRect">
            <a:avLst>
              <a:gd name="adj" fmla="val 8348"/>
            </a:avLst>
          </a:prstGeom>
          <a:solidFill>
            <a:srgbClr val="1C7293"/>
          </a:solidFill>
          <a:ln w="12700">
            <a:solidFill>
              <a:srgbClr val="1C7293"/>
            </a:solidFill>
            <a:prstDash val="solid"/>
          </a:ln>
        </p:spPr>
        <p:txBody>
          <a:bodyPr/>
          <a:lstStyle/>
          <a:p>
            <a:endParaRPr lang="en-IN"/>
          </a:p>
        </p:txBody>
      </p:sp>
      <p:sp>
        <p:nvSpPr>
          <p:cNvPr id="13" name="Text 11"/>
          <p:cNvSpPr/>
          <p:nvPr/>
        </p:nvSpPr>
        <p:spPr>
          <a:xfrm>
            <a:off x="571500" y="2867025"/>
            <a:ext cx="438150" cy="219075"/>
          </a:xfrm>
          <a:prstGeom prst="rect">
            <a:avLst/>
          </a:prstGeom>
          <a:noFill/>
          <a:ln/>
        </p:spPr>
        <p:txBody>
          <a:bodyPr wrap="square" lIns="0" tIns="0" rIns="0" bIns="0" rtlCol="0" anchor="t">
            <a:normAutofit/>
          </a:bodyPr>
          <a:lstStyle/>
          <a:p>
            <a:pPr marL="0" indent="0" algn="ctr">
              <a:lnSpc>
                <a:spcPct val="100000"/>
              </a:lnSpc>
              <a:buNone/>
            </a:pPr>
            <a:r>
              <a:rPr lang="en-US" sz="1500" b="1" dirty="0">
                <a:solidFill>
                  <a:srgbClr val="FFFFFF"/>
                </a:solidFill>
                <a:latin typeface="Calibri" pitchFamily="34" charset="0"/>
                <a:ea typeface="Calibri" pitchFamily="34" charset="-122"/>
                <a:cs typeface="Calibri" pitchFamily="34" charset="-120"/>
              </a:rPr>
              <a:t>02</a:t>
            </a:r>
            <a:endParaRPr lang="en-US" sz="1500" dirty="0"/>
          </a:p>
        </p:txBody>
      </p:sp>
      <p:sp>
        <p:nvSpPr>
          <p:cNvPr id="14" name="Text 12"/>
          <p:cNvSpPr/>
          <p:nvPr/>
        </p:nvSpPr>
        <p:spPr>
          <a:xfrm>
            <a:off x="1190625" y="2743200"/>
            <a:ext cx="5715000" cy="266700"/>
          </a:xfrm>
          <a:prstGeom prst="rect">
            <a:avLst/>
          </a:prstGeom>
          <a:noFill/>
          <a:ln/>
        </p:spPr>
        <p:txBody>
          <a:bodyPr wrap="square" lIns="0" tIns="0" rIns="0" bIns="0" rtlCol="0" anchor="t">
            <a:normAutofit/>
          </a:bodyPr>
          <a:lstStyle/>
          <a:p>
            <a:pPr marL="0" indent="0" algn="l">
              <a:lnSpc>
                <a:spcPct val="100000"/>
              </a:lnSpc>
              <a:buNone/>
            </a:pPr>
            <a:r>
              <a:rPr lang="en-US" sz="2000" b="1" dirty="0">
                <a:solidFill>
                  <a:srgbClr val="12263A"/>
                </a:solidFill>
                <a:latin typeface="Cambria" pitchFamily="34" charset="0"/>
                <a:ea typeface="Cambria" pitchFamily="34" charset="-122"/>
                <a:cs typeface="Cambria" pitchFamily="34" charset="-120"/>
              </a:rPr>
              <a:t>Unverified AI claims</a:t>
            </a:r>
            <a:endParaRPr lang="en-US" sz="2000" dirty="0"/>
          </a:p>
        </p:txBody>
      </p:sp>
      <p:sp>
        <p:nvSpPr>
          <p:cNvPr id="15" name="Text 13"/>
          <p:cNvSpPr/>
          <p:nvPr/>
        </p:nvSpPr>
        <p:spPr>
          <a:xfrm>
            <a:off x="1190625" y="3048000"/>
            <a:ext cx="6429375" cy="514350"/>
          </a:xfrm>
          <a:prstGeom prst="rect">
            <a:avLst/>
          </a:prstGeom>
          <a:noFill/>
          <a:ln/>
        </p:spPr>
        <p:txBody>
          <a:bodyPr wrap="square" lIns="0" tIns="0" rIns="0" bIns="0" rtlCol="0" anchor="t">
            <a:normAutofit/>
          </a:bodyPr>
          <a:lstStyle/>
          <a:p>
            <a:pPr marL="0" indent="0" algn="l">
              <a:lnSpc>
                <a:spcPct val="100000"/>
              </a:lnSpc>
              <a:buNone/>
            </a:pPr>
            <a:r>
              <a:rPr lang="en-US" sz="1520" dirty="0">
                <a:solidFill>
                  <a:srgbClr val="5B6B7C"/>
                </a:solidFill>
                <a:latin typeface="Calibri" pitchFamily="34" charset="0"/>
                <a:ea typeface="Calibri" pitchFamily="34" charset="-122"/>
                <a:cs typeface="Calibri" pitchFamily="34" charset="-120"/>
              </a:rPr>
              <a:t>Reported model accuracy can appear strong without a held-out split, a rule comparator and a trivial constant baseline.</a:t>
            </a:r>
            <a:endParaRPr lang="en-US" sz="1520" dirty="0"/>
          </a:p>
        </p:txBody>
      </p:sp>
      <p:sp>
        <p:nvSpPr>
          <p:cNvPr id="16" name="Shape 14"/>
          <p:cNvSpPr/>
          <p:nvPr/>
        </p:nvSpPr>
        <p:spPr>
          <a:xfrm>
            <a:off x="571500" y="3714750"/>
            <a:ext cx="438150" cy="438150"/>
          </a:xfrm>
          <a:prstGeom prst="roundRect">
            <a:avLst>
              <a:gd name="adj" fmla="val 8348"/>
            </a:avLst>
          </a:prstGeom>
          <a:solidFill>
            <a:srgbClr val="1C7293"/>
          </a:solidFill>
          <a:ln w="12700">
            <a:solidFill>
              <a:srgbClr val="1C7293"/>
            </a:solidFill>
            <a:prstDash val="solid"/>
          </a:ln>
        </p:spPr>
        <p:txBody>
          <a:bodyPr/>
          <a:lstStyle/>
          <a:p>
            <a:endParaRPr lang="en-IN"/>
          </a:p>
        </p:txBody>
      </p:sp>
      <p:sp>
        <p:nvSpPr>
          <p:cNvPr id="17" name="Text 15"/>
          <p:cNvSpPr/>
          <p:nvPr/>
        </p:nvSpPr>
        <p:spPr>
          <a:xfrm>
            <a:off x="571500" y="3829050"/>
            <a:ext cx="438150" cy="219075"/>
          </a:xfrm>
          <a:prstGeom prst="rect">
            <a:avLst/>
          </a:prstGeom>
          <a:noFill/>
          <a:ln/>
        </p:spPr>
        <p:txBody>
          <a:bodyPr wrap="square" lIns="0" tIns="0" rIns="0" bIns="0" rtlCol="0" anchor="t">
            <a:normAutofit/>
          </a:bodyPr>
          <a:lstStyle/>
          <a:p>
            <a:pPr marL="0" indent="0" algn="ctr">
              <a:lnSpc>
                <a:spcPct val="100000"/>
              </a:lnSpc>
              <a:buNone/>
            </a:pPr>
            <a:r>
              <a:rPr lang="en-US" sz="1500" b="1" dirty="0">
                <a:solidFill>
                  <a:srgbClr val="FFFFFF"/>
                </a:solidFill>
                <a:latin typeface="Calibri" pitchFamily="34" charset="0"/>
                <a:ea typeface="Calibri" pitchFamily="34" charset="-122"/>
                <a:cs typeface="Calibri" pitchFamily="34" charset="-120"/>
              </a:rPr>
              <a:t>03</a:t>
            </a:r>
            <a:endParaRPr lang="en-US" sz="1500" dirty="0"/>
          </a:p>
        </p:txBody>
      </p:sp>
      <p:sp>
        <p:nvSpPr>
          <p:cNvPr id="18" name="Text 16"/>
          <p:cNvSpPr/>
          <p:nvPr/>
        </p:nvSpPr>
        <p:spPr>
          <a:xfrm>
            <a:off x="1190625" y="3705225"/>
            <a:ext cx="5715000" cy="266700"/>
          </a:xfrm>
          <a:prstGeom prst="rect">
            <a:avLst/>
          </a:prstGeom>
          <a:noFill/>
          <a:ln/>
        </p:spPr>
        <p:txBody>
          <a:bodyPr wrap="square" lIns="0" tIns="0" rIns="0" bIns="0" rtlCol="0" anchor="t">
            <a:normAutofit/>
          </a:bodyPr>
          <a:lstStyle/>
          <a:p>
            <a:pPr marL="0" indent="0" algn="l">
              <a:lnSpc>
                <a:spcPct val="100000"/>
              </a:lnSpc>
              <a:buNone/>
            </a:pPr>
            <a:r>
              <a:rPr lang="en-US" sz="2000" b="1" dirty="0">
                <a:solidFill>
                  <a:srgbClr val="12263A"/>
                </a:solidFill>
                <a:latin typeface="Cambria" pitchFamily="34" charset="0"/>
                <a:ea typeface="Cambria" pitchFamily="34" charset="-122"/>
                <a:cs typeface="Cambria" pitchFamily="34" charset="-120"/>
              </a:rPr>
              <a:t>Protocol evidence separated from ML</a:t>
            </a:r>
            <a:endParaRPr lang="en-US" sz="2000" dirty="0"/>
          </a:p>
        </p:txBody>
      </p:sp>
      <p:sp>
        <p:nvSpPr>
          <p:cNvPr id="19" name="Text 17"/>
          <p:cNvSpPr/>
          <p:nvPr/>
        </p:nvSpPr>
        <p:spPr>
          <a:xfrm>
            <a:off x="1190625" y="4010025"/>
            <a:ext cx="6429375" cy="514350"/>
          </a:xfrm>
          <a:prstGeom prst="rect">
            <a:avLst/>
          </a:prstGeom>
          <a:noFill/>
          <a:ln/>
        </p:spPr>
        <p:txBody>
          <a:bodyPr wrap="square" lIns="0" tIns="0" rIns="0" bIns="0" rtlCol="0" anchor="t">
            <a:normAutofit/>
          </a:bodyPr>
          <a:lstStyle/>
          <a:p>
            <a:pPr marL="0" indent="0" algn="l">
              <a:lnSpc>
                <a:spcPct val="100000"/>
              </a:lnSpc>
              <a:buNone/>
            </a:pPr>
            <a:r>
              <a:rPr lang="en-US" sz="1520" dirty="0">
                <a:solidFill>
                  <a:srgbClr val="5B6B7C"/>
                </a:solidFill>
                <a:latin typeface="Calibri" pitchFamily="34" charset="0"/>
                <a:ea typeface="Calibri" pitchFamily="34" charset="-122"/>
                <a:cs typeface="Calibri" pitchFamily="34" charset="-120"/>
              </a:rPr>
              <a:t>Standards checks and statistical models are usually presented as alternatives rather than evaluated on the same executed runs.</a:t>
            </a:r>
            <a:endParaRPr lang="en-US" sz="1520" dirty="0"/>
          </a:p>
        </p:txBody>
      </p:sp>
      <p:sp>
        <p:nvSpPr>
          <p:cNvPr id="20" name="Shape 18"/>
          <p:cNvSpPr/>
          <p:nvPr/>
        </p:nvSpPr>
        <p:spPr>
          <a:xfrm>
            <a:off x="571500" y="4676775"/>
            <a:ext cx="438150" cy="438150"/>
          </a:xfrm>
          <a:prstGeom prst="roundRect">
            <a:avLst>
              <a:gd name="adj" fmla="val 8348"/>
            </a:avLst>
          </a:prstGeom>
          <a:solidFill>
            <a:srgbClr val="1C7293"/>
          </a:solidFill>
          <a:ln w="12700">
            <a:solidFill>
              <a:srgbClr val="1C7293"/>
            </a:solidFill>
            <a:prstDash val="solid"/>
          </a:ln>
        </p:spPr>
        <p:txBody>
          <a:bodyPr/>
          <a:lstStyle/>
          <a:p>
            <a:endParaRPr lang="en-IN"/>
          </a:p>
        </p:txBody>
      </p:sp>
      <p:sp>
        <p:nvSpPr>
          <p:cNvPr id="21" name="Text 19"/>
          <p:cNvSpPr/>
          <p:nvPr/>
        </p:nvSpPr>
        <p:spPr>
          <a:xfrm>
            <a:off x="571500" y="4791075"/>
            <a:ext cx="438150" cy="219075"/>
          </a:xfrm>
          <a:prstGeom prst="rect">
            <a:avLst/>
          </a:prstGeom>
          <a:noFill/>
          <a:ln/>
        </p:spPr>
        <p:txBody>
          <a:bodyPr wrap="square" lIns="0" tIns="0" rIns="0" bIns="0" rtlCol="0" anchor="t">
            <a:normAutofit/>
          </a:bodyPr>
          <a:lstStyle/>
          <a:p>
            <a:pPr marL="0" indent="0" algn="ctr">
              <a:lnSpc>
                <a:spcPct val="100000"/>
              </a:lnSpc>
              <a:buNone/>
            </a:pPr>
            <a:r>
              <a:rPr lang="en-US" sz="1500" b="1" dirty="0">
                <a:solidFill>
                  <a:srgbClr val="FFFFFF"/>
                </a:solidFill>
                <a:latin typeface="Calibri" pitchFamily="34" charset="0"/>
                <a:ea typeface="Calibri" pitchFamily="34" charset="-122"/>
                <a:cs typeface="Calibri" pitchFamily="34" charset="-120"/>
              </a:rPr>
              <a:t>04</a:t>
            </a:r>
            <a:endParaRPr lang="en-US" sz="1500" dirty="0"/>
          </a:p>
        </p:txBody>
      </p:sp>
      <p:sp>
        <p:nvSpPr>
          <p:cNvPr id="22" name="Text 20"/>
          <p:cNvSpPr/>
          <p:nvPr/>
        </p:nvSpPr>
        <p:spPr>
          <a:xfrm>
            <a:off x="1190625" y="4667250"/>
            <a:ext cx="5715000" cy="266700"/>
          </a:xfrm>
          <a:prstGeom prst="rect">
            <a:avLst/>
          </a:prstGeom>
          <a:noFill/>
          <a:ln/>
        </p:spPr>
        <p:txBody>
          <a:bodyPr wrap="square" lIns="0" tIns="0" rIns="0" bIns="0" rtlCol="0" anchor="t">
            <a:normAutofit/>
          </a:bodyPr>
          <a:lstStyle/>
          <a:p>
            <a:pPr marL="0" indent="0" algn="l">
              <a:lnSpc>
                <a:spcPct val="100000"/>
              </a:lnSpc>
              <a:buNone/>
            </a:pPr>
            <a:r>
              <a:rPr lang="en-US" sz="2000" b="1" dirty="0">
                <a:solidFill>
                  <a:srgbClr val="12263A"/>
                </a:solidFill>
                <a:latin typeface="Cambria" pitchFamily="34" charset="0"/>
                <a:ea typeface="Cambria" pitchFamily="34" charset="-122"/>
                <a:cs typeface="Cambria" pitchFamily="34" charset="-120"/>
              </a:rPr>
              <a:t>Detection separated from safe response</a:t>
            </a:r>
            <a:endParaRPr lang="en-US" sz="2000" dirty="0"/>
          </a:p>
        </p:txBody>
      </p:sp>
      <p:sp>
        <p:nvSpPr>
          <p:cNvPr id="23" name="Text 21"/>
          <p:cNvSpPr/>
          <p:nvPr/>
        </p:nvSpPr>
        <p:spPr>
          <a:xfrm>
            <a:off x="1190625" y="4972050"/>
            <a:ext cx="6429375" cy="514350"/>
          </a:xfrm>
          <a:prstGeom prst="rect">
            <a:avLst/>
          </a:prstGeom>
          <a:noFill/>
          <a:ln/>
        </p:spPr>
        <p:txBody>
          <a:bodyPr wrap="square" lIns="0" tIns="0" rIns="0" bIns="0" rtlCol="0" anchor="t">
            <a:normAutofit/>
          </a:bodyPr>
          <a:lstStyle/>
          <a:p>
            <a:pPr marL="0" indent="0" algn="l">
              <a:lnSpc>
                <a:spcPct val="100000"/>
              </a:lnSpc>
              <a:buNone/>
            </a:pPr>
            <a:r>
              <a:rPr lang="en-US" sz="1520" dirty="0">
                <a:solidFill>
                  <a:srgbClr val="5B6B7C"/>
                </a:solidFill>
                <a:latin typeface="Calibri" pitchFamily="34" charset="0"/>
                <a:ea typeface="Calibri" pitchFamily="34" charset="-122"/>
                <a:cs typeface="Calibri" pitchFamily="34" charset="-120"/>
              </a:rPr>
              <a:t>A label alone does not determine whether to isolate a source, enter holdover or escalate to an operator.</a:t>
            </a:r>
            <a:endParaRPr lang="en-US" sz="1520" dirty="0"/>
          </a:p>
        </p:txBody>
      </p:sp>
      <p:sp>
        <p:nvSpPr>
          <p:cNvPr id="24" name="Shape 22"/>
          <p:cNvSpPr/>
          <p:nvPr/>
        </p:nvSpPr>
        <p:spPr>
          <a:xfrm>
            <a:off x="7953375" y="1781175"/>
            <a:ext cx="3667125" cy="3752850"/>
          </a:xfrm>
          <a:prstGeom prst="roundRect">
            <a:avLst>
              <a:gd name="adj" fmla="val 997"/>
            </a:avLst>
          </a:prstGeom>
          <a:solidFill>
            <a:srgbClr val="0E2440"/>
          </a:solidFill>
          <a:ln w="12700">
            <a:solidFill>
              <a:srgbClr val="0E2440"/>
            </a:solidFill>
            <a:prstDash val="solid"/>
          </a:ln>
        </p:spPr>
        <p:txBody>
          <a:bodyPr/>
          <a:lstStyle/>
          <a:p>
            <a:endParaRPr lang="en-IN"/>
          </a:p>
        </p:txBody>
      </p:sp>
      <p:sp>
        <p:nvSpPr>
          <p:cNvPr id="25" name="Text 23"/>
          <p:cNvSpPr/>
          <p:nvPr/>
        </p:nvSpPr>
        <p:spPr>
          <a:xfrm>
            <a:off x="8239125" y="2047875"/>
            <a:ext cx="3095625" cy="228600"/>
          </a:xfrm>
          <a:prstGeom prst="rect">
            <a:avLst/>
          </a:prstGeom>
          <a:noFill/>
          <a:ln/>
        </p:spPr>
        <p:txBody>
          <a:bodyPr wrap="square" lIns="0" tIns="0" rIns="0" bIns="0" rtlCol="0" anchor="t">
            <a:normAutofit/>
          </a:bodyPr>
          <a:lstStyle/>
          <a:p>
            <a:pPr marL="0" indent="0" algn="l">
              <a:lnSpc>
                <a:spcPct val="100000"/>
              </a:lnSpc>
              <a:buNone/>
            </a:pPr>
            <a:r>
              <a:rPr lang="en-US" sz="1250" b="1" dirty="0">
                <a:solidFill>
                  <a:srgbClr val="18B89A"/>
                </a:solidFill>
                <a:latin typeface="Calibri" pitchFamily="34" charset="0"/>
                <a:ea typeface="Calibri" pitchFamily="34" charset="-122"/>
                <a:cs typeface="Calibri" pitchFamily="34" charset="-120"/>
              </a:rPr>
              <a:t>RESULTING STUDY DESIGN</a:t>
            </a:r>
            <a:endParaRPr lang="en-US" sz="1250" dirty="0"/>
          </a:p>
        </p:txBody>
      </p:sp>
      <p:sp>
        <p:nvSpPr>
          <p:cNvPr id="26" name="Text 24"/>
          <p:cNvSpPr/>
          <p:nvPr/>
        </p:nvSpPr>
        <p:spPr>
          <a:xfrm>
            <a:off x="8239125" y="2298246"/>
            <a:ext cx="3095625" cy="219075"/>
          </a:xfrm>
          <a:prstGeom prst="rect">
            <a:avLst/>
          </a:prstGeom>
          <a:noFill/>
          <a:ln/>
        </p:spPr>
        <p:txBody>
          <a:bodyPr wrap="square" lIns="0" tIns="0" rIns="0" bIns="0" rtlCol="0" anchor="t">
            <a:normAutofit fontScale="92500" lnSpcReduction="10000"/>
          </a:bodyPr>
          <a:lstStyle/>
          <a:p>
            <a:pPr marL="0" indent="0" algn="l">
              <a:lnSpc>
                <a:spcPct val="100000"/>
              </a:lnSpc>
              <a:buNone/>
            </a:pPr>
            <a:r>
              <a:rPr lang="en-US" sz="1600" b="1" dirty="0">
                <a:solidFill>
                  <a:srgbClr val="FFFFFF"/>
                </a:solidFill>
                <a:latin typeface="Cambria" pitchFamily="34" charset="0"/>
                <a:ea typeface="Cambria" pitchFamily="34" charset="-122"/>
                <a:cs typeface="Cambria" pitchFamily="34" charset="-120"/>
              </a:rPr>
              <a:t>Matched scenarios</a:t>
            </a:r>
            <a:endParaRPr lang="en-US" sz="1600" dirty="0"/>
          </a:p>
        </p:txBody>
      </p:sp>
      <p:sp>
        <p:nvSpPr>
          <p:cNvPr id="27" name="Text 25"/>
          <p:cNvSpPr/>
          <p:nvPr/>
        </p:nvSpPr>
        <p:spPr>
          <a:xfrm>
            <a:off x="8239123" y="2517321"/>
            <a:ext cx="3095625" cy="390525"/>
          </a:xfrm>
          <a:prstGeom prst="rect">
            <a:avLst/>
          </a:prstGeom>
          <a:noFill/>
          <a:ln/>
        </p:spPr>
        <p:txBody>
          <a:bodyPr wrap="square" lIns="0" tIns="0" rIns="0" bIns="0" rtlCol="0" anchor="t">
            <a:normAutofit lnSpcReduction="10000"/>
          </a:bodyPr>
          <a:lstStyle/>
          <a:p>
            <a:pPr marL="0" indent="0" algn="l">
              <a:lnSpc>
                <a:spcPct val="100000"/>
              </a:lnSpc>
              <a:buNone/>
            </a:pPr>
            <a:r>
              <a:rPr lang="en-US" sz="1330" dirty="0">
                <a:solidFill>
                  <a:srgbClr val="CFD9E5"/>
                </a:solidFill>
                <a:latin typeface="Calibri" pitchFamily="34" charset="0"/>
                <a:ea typeface="Calibri" pitchFamily="34" charset="-122"/>
                <a:cs typeface="Calibri" pitchFamily="34" charset="-120"/>
              </a:rPr>
              <a:t>Attacks and benign lookalikes execute through the same packet path.</a:t>
            </a:r>
            <a:endParaRPr lang="en-US" sz="1330" dirty="0"/>
          </a:p>
        </p:txBody>
      </p:sp>
      <p:sp>
        <p:nvSpPr>
          <p:cNvPr id="28" name="Text 26"/>
          <p:cNvSpPr/>
          <p:nvPr/>
        </p:nvSpPr>
        <p:spPr>
          <a:xfrm>
            <a:off x="8239125" y="2955471"/>
            <a:ext cx="3095625" cy="219075"/>
          </a:xfrm>
          <a:prstGeom prst="rect">
            <a:avLst/>
          </a:prstGeom>
          <a:noFill/>
          <a:ln/>
        </p:spPr>
        <p:txBody>
          <a:bodyPr wrap="square" lIns="0" tIns="0" rIns="0" bIns="0" rtlCol="0" anchor="t">
            <a:normAutofit fontScale="92500" lnSpcReduction="10000"/>
          </a:bodyPr>
          <a:lstStyle/>
          <a:p>
            <a:pPr marL="0" indent="0" algn="l">
              <a:lnSpc>
                <a:spcPct val="100000"/>
              </a:lnSpc>
              <a:buNone/>
            </a:pPr>
            <a:r>
              <a:rPr lang="en-US" sz="1600" b="1" dirty="0">
                <a:solidFill>
                  <a:srgbClr val="FFFFFF"/>
                </a:solidFill>
                <a:latin typeface="Cambria" pitchFamily="34" charset="0"/>
                <a:ea typeface="Cambria" pitchFamily="34" charset="-122"/>
                <a:cs typeface="Cambria" pitchFamily="34" charset="-120"/>
              </a:rPr>
              <a:t>Two decision arms</a:t>
            </a:r>
            <a:endParaRPr lang="en-US" sz="1600" dirty="0"/>
          </a:p>
        </p:txBody>
      </p:sp>
      <p:sp>
        <p:nvSpPr>
          <p:cNvPr id="29" name="Text 27"/>
          <p:cNvSpPr/>
          <p:nvPr/>
        </p:nvSpPr>
        <p:spPr>
          <a:xfrm>
            <a:off x="8239124" y="3286125"/>
            <a:ext cx="3095625" cy="390525"/>
          </a:xfrm>
          <a:prstGeom prst="rect">
            <a:avLst/>
          </a:prstGeom>
          <a:noFill/>
          <a:ln/>
        </p:spPr>
        <p:txBody>
          <a:bodyPr wrap="square" lIns="0" tIns="0" rIns="0" bIns="0" rtlCol="0" anchor="t">
            <a:noAutofit/>
          </a:bodyPr>
          <a:lstStyle/>
          <a:p>
            <a:pPr marL="0" indent="0" algn="l">
              <a:lnSpc>
                <a:spcPct val="100000"/>
              </a:lnSpc>
              <a:buNone/>
            </a:pPr>
            <a:r>
              <a:rPr lang="en-US" sz="1100" dirty="0">
                <a:solidFill>
                  <a:srgbClr val="CFD9E5"/>
                </a:solidFill>
                <a:latin typeface="Calibri" pitchFamily="34" charset="0"/>
                <a:ea typeface="Calibri" pitchFamily="34" charset="-122"/>
                <a:cs typeface="Calibri" pitchFamily="34" charset="-120"/>
              </a:rPr>
              <a:t>ARM A applies standards legality plus operator context. ARM B applies Random Forest with an Isolation Forest novelty layer.</a:t>
            </a:r>
            <a:endParaRPr lang="en-US" sz="1100" dirty="0"/>
          </a:p>
        </p:txBody>
      </p:sp>
      <p:sp>
        <p:nvSpPr>
          <p:cNvPr id="30" name="Text 28"/>
          <p:cNvSpPr/>
          <p:nvPr/>
        </p:nvSpPr>
        <p:spPr>
          <a:xfrm>
            <a:off x="8239125" y="3752850"/>
            <a:ext cx="3095625" cy="219075"/>
          </a:xfrm>
          <a:prstGeom prst="rect">
            <a:avLst/>
          </a:prstGeom>
          <a:noFill/>
          <a:ln/>
        </p:spPr>
        <p:txBody>
          <a:bodyPr wrap="square" lIns="0" tIns="0" rIns="0" bIns="0" rtlCol="0" anchor="t">
            <a:normAutofit fontScale="92500" lnSpcReduction="10000"/>
          </a:bodyPr>
          <a:lstStyle/>
          <a:p>
            <a:pPr marL="0" indent="0" algn="l">
              <a:lnSpc>
                <a:spcPct val="100000"/>
              </a:lnSpc>
              <a:buNone/>
            </a:pPr>
            <a:r>
              <a:rPr lang="en-US" sz="1600" b="1" dirty="0">
                <a:solidFill>
                  <a:srgbClr val="FFFFFF"/>
                </a:solidFill>
                <a:latin typeface="Cambria" pitchFamily="34" charset="0"/>
                <a:ea typeface="Cambria" pitchFamily="34" charset="-122"/>
                <a:cs typeface="Cambria" pitchFamily="34" charset="-120"/>
              </a:rPr>
              <a:t>Held-out evaluation</a:t>
            </a:r>
            <a:endParaRPr lang="en-US" sz="1600" dirty="0"/>
          </a:p>
        </p:txBody>
      </p:sp>
      <p:sp>
        <p:nvSpPr>
          <p:cNvPr id="31" name="Text 29"/>
          <p:cNvSpPr/>
          <p:nvPr/>
        </p:nvSpPr>
        <p:spPr>
          <a:xfrm>
            <a:off x="8239125" y="3905250"/>
            <a:ext cx="3095625" cy="390525"/>
          </a:xfrm>
          <a:prstGeom prst="rect">
            <a:avLst/>
          </a:prstGeom>
          <a:noFill/>
          <a:ln/>
        </p:spPr>
        <p:txBody>
          <a:bodyPr wrap="square" lIns="0" tIns="0" rIns="0" bIns="0" rtlCol="0" anchor="t">
            <a:normAutofit/>
          </a:bodyPr>
          <a:lstStyle/>
          <a:p>
            <a:pPr marL="0" indent="0" algn="l">
              <a:lnSpc>
                <a:spcPct val="100000"/>
              </a:lnSpc>
              <a:buNone/>
            </a:pPr>
            <a:r>
              <a:rPr lang="en-US" sz="1330" dirty="0">
                <a:solidFill>
                  <a:srgbClr val="CFD9E5"/>
                </a:solidFill>
                <a:latin typeface="Calibri" pitchFamily="34" charset="0"/>
                <a:ea typeface="Calibri" pitchFamily="34" charset="-122"/>
                <a:cs typeface="Calibri" pitchFamily="34" charset="-120"/>
              </a:rPr>
              <a:t>Replicates 9–12 remain outside training for the 56-run final test.</a:t>
            </a:r>
            <a:endParaRPr lang="en-US" sz="1330" dirty="0"/>
          </a:p>
        </p:txBody>
      </p:sp>
      <p:sp>
        <p:nvSpPr>
          <p:cNvPr id="32" name="Text 30"/>
          <p:cNvSpPr/>
          <p:nvPr/>
        </p:nvSpPr>
        <p:spPr>
          <a:xfrm>
            <a:off x="8239125" y="4286250"/>
            <a:ext cx="3095625" cy="219075"/>
          </a:xfrm>
          <a:prstGeom prst="rect">
            <a:avLst/>
          </a:prstGeom>
          <a:noFill/>
          <a:ln/>
        </p:spPr>
        <p:txBody>
          <a:bodyPr wrap="square" lIns="0" tIns="0" rIns="0" bIns="0" rtlCol="0" anchor="t">
            <a:normAutofit/>
          </a:bodyPr>
          <a:lstStyle/>
          <a:p>
            <a:pPr marL="0" indent="0" algn="l">
              <a:lnSpc>
                <a:spcPct val="100000"/>
              </a:lnSpc>
              <a:buNone/>
            </a:pPr>
            <a:r>
              <a:rPr lang="en-US" sz="1600" b="1" dirty="0">
                <a:solidFill>
                  <a:srgbClr val="FFFFFF"/>
                </a:solidFill>
                <a:latin typeface="Cambria" pitchFamily="34" charset="0"/>
                <a:ea typeface="Cambria" pitchFamily="34" charset="-122"/>
                <a:cs typeface="Cambria" pitchFamily="34" charset="-120"/>
              </a:rPr>
              <a:t>Trivial control</a:t>
            </a:r>
            <a:endParaRPr lang="en-US" sz="1600" dirty="0"/>
          </a:p>
        </p:txBody>
      </p:sp>
      <p:sp>
        <p:nvSpPr>
          <p:cNvPr id="33" name="Text 31"/>
          <p:cNvSpPr/>
          <p:nvPr/>
        </p:nvSpPr>
        <p:spPr>
          <a:xfrm>
            <a:off x="8239125" y="4524375"/>
            <a:ext cx="3095625" cy="390525"/>
          </a:xfrm>
          <a:prstGeom prst="rect">
            <a:avLst/>
          </a:prstGeom>
          <a:noFill/>
          <a:ln/>
        </p:spPr>
        <p:txBody>
          <a:bodyPr wrap="square" lIns="0" tIns="0" rIns="0" bIns="0" rtlCol="0" anchor="t">
            <a:normAutofit/>
          </a:bodyPr>
          <a:lstStyle/>
          <a:p>
            <a:pPr marL="0" indent="0" algn="l">
              <a:lnSpc>
                <a:spcPct val="100000"/>
              </a:lnSpc>
              <a:buNone/>
            </a:pPr>
            <a:r>
              <a:rPr lang="en-US" sz="1330" dirty="0">
                <a:solidFill>
                  <a:srgbClr val="CFD9E5"/>
                </a:solidFill>
                <a:latin typeface="Calibri" pitchFamily="34" charset="0"/>
                <a:ea typeface="Calibri" pitchFamily="34" charset="-122"/>
                <a:cs typeface="Calibri" pitchFamily="34" charset="-120"/>
              </a:rPr>
              <a:t>An always-BENIGN predictor establishes whether ARM B adds information.</a:t>
            </a:r>
            <a:endParaRPr lang="en-US" sz="1330" dirty="0"/>
          </a:p>
        </p:txBody>
      </p:sp>
      <p:sp>
        <p:nvSpPr>
          <p:cNvPr id="34" name="Text 32"/>
          <p:cNvSpPr/>
          <p:nvPr/>
        </p:nvSpPr>
        <p:spPr>
          <a:xfrm>
            <a:off x="8239125" y="4905375"/>
            <a:ext cx="3095625" cy="219075"/>
          </a:xfrm>
          <a:prstGeom prst="rect">
            <a:avLst/>
          </a:prstGeom>
          <a:noFill/>
          <a:ln/>
        </p:spPr>
        <p:txBody>
          <a:bodyPr wrap="square" lIns="0" tIns="0" rIns="0" bIns="0" rtlCol="0" anchor="t">
            <a:normAutofit/>
          </a:bodyPr>
          <a:lstStyle/>
          <a:p>
            <a:pPr marL="0" indent="0" algn="l">
              <a:lnSpc>
                <a:spcPct val="100000"/>
              </a:lnSpc>
              <a:buNone/>
            </a:pPr>
            <a:r>
              <a:rPr lang="en-US" sz="1600" b="1" dirty="0">
                <a:solidFill>
                  <a:srgbClr val="FFFFFF"/>
                </a:solidFill>
                <a:latin typeface="Cambria" pitchFamily="34" charset="0"/>
                <a:ea typeface="Cambria" pitchFamily="34" charset="-122"/>
                <a:cs typeface="Cambria" pitchFamily="34" charset="-120"/>
              </a:rPr>
              <a:t>Explicit abstention</a:t>
            </a:r>
            <a:endParaRPr lang="en-US" sz="1600" dirty="0"/>
          </a:p>
        </p:txBody>
      </p:sp>
      <p:sp>
        <p:nvSpPr>
          <p:cNvPr id="35" name="Text 33"/>
          <p:cNvSpPr/>
          <p:nvPr/>
        </p:nvSpPr>
        <p:spPr>
          <a:xfrm>
            <a:off x="8239125" y="5143500"/>
            <a:ext cx="3095625" cy="390525"/>
          </a:xfrm>
          <a:prstGeom prst="rect">
            <a:avLst/>
          </a:prstGeom>
          <a:noFill/>
          <a:ln/>
        </p:spPr>
        <p:txBody>
          <a:bodyPr wrap="square" lIns="0" tIns="0" rIns="0" bIns="0" rtlCol="0" anchor="t">
            <a:normAutofit/>
          </a:bodyPr>
          <a:lstStyle/>
          <a:p>
            <a:pPr marL="0" indent="0" algn="l">
              <a:lnSpc>
                <a:spcPct val="100000"/>
              </a:lnSpc>
              <a:buNone/>
            </a:pPr>
            <a:r>
              <a:rPr lang="en-US" sz="1330" dirty="0">
                <a:solidFill>
                  <a:srgbClr val="CFD9E5"/>
                </a:solidFill>
                <a:latin typeface="Calibri" pitchFamily="34" charset="0"/>
                <a:ea typeface="Calibri" pitchFamily="34" charset="-122"/>
                <a:cs typeface="Calibri" pitchFamily="34" charset="-120"/>
              </a:rPr>
              <a:t>Ambiguous evidence escalates instead of forcing an unsafe answer.</a:t>
            </a:r>
            <a:endParaRPr lang="en-US" sz="1330" dirty="0"/>
          </a:p>
        </p:txBody>
      </p:sp>
      <p:sp>
        <p:nvSpPr>
          <p:cNvPr id="36" name="Shape 34"/>
          <p:cNvSpPr/>
          <p:nvPr/>
        </p:nvSpPr>
        <p:spPr>
          <a:xfrm>
            <a:off x="571500" y="5857875"/>
            <a:ext cx="11049000" cy="561975"/>
          </a:xfrm>
          <a:prstGeom prst="roundRect">
            <a:avLst>
              <a:gd name="adj" fmla="val 6508"/>
            </a:avLst>
          </a:prstGeom>
          <a:solidFill>
            <a:srgbClr val="DDF5EF"/>
          </a:solidFill>
          <a:ln w="12700">
            <a:solidFill>
              <a:srgbClr val="18B89A"/>
            </a:solidFill>
            <a:prstDash val="solid"/>
          </a:ln>
        </p:spPr>
        <p:txBody>
          <a:bodyPr/>
          <a:lstStyle/>
          <a:p>
            <a:endParaRPr lang="en-IN"/>
          </a:p>
        </p:txBody>
      </p:sp>
      <p:sp>
        <p:nvSpPr>
          <p:cNvPr id="37" name="Text 35"/>
          <p:cNvSpPr/>
          <p:nvPr/>
        </p:nvSpPr>
        <p:spPr>
          <a:xfrm>
            <a:off x="781050" y="5981700"/>
            <a:ext cx="10629900" cy="333375"/>
          </a:xfrm>
          <a:prstGeom prst="rect">
            <a:avLst/>
          </a:prstGeom>
          <a:noFill/>
          <a:ln/>
        </p:spPr>
        <p:txBody>
          <a:bodyPr wrap="square" lIns="0" tIns="0" rIns="0" bIns="0" rtlCol="0" anchor="t">
            <a:normAutofit/>
          </a:bodyPr>
          <a:lstStyle/>
          <a:p>
            <a:pPr marL="0" indent="0" algn="l">
              <a:lnSpc>
                <a:spcPct val="100000"/>
              </a:lnSpc>
              <a:buNone/>
            </a:pPr>
            <a:r>
              <a:rPr lang="en-US" sz="1300" b="1" dirty="0">
                <a:solidFill>
                  <a:srgbClr val="0B5547"/>
                </a:solidFill>
                <a:latin typeface="Cambria" pitchFamily="34" charset="0"/>
                <a:ea typeface="Cambria" pitchFamily="34" charset="-122"/>
                <a:cs typeface="Cambria" pitchFamily="34" charset="-120"/>
              </a:rPr>
              <a:t>Gap addressed: the reviewed source set did not combine S-plane benign lookalikes, standards-aware rules, a machine-learning arm, explicit abstention and a constant baseline within one held-out campaign.</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9331"/>
            <a:ext cx="12192000" cy="6858000"/>
          </a:xfrm>
          <a:prstGeom prst="rect">
            <a:avLst/>
          </a:prstGeom>
          <a:solidFill>
            <a:srgbClr val="F8FAFC"/>
          </a:solidFill>
          <a:ln/>
        </p:spPr>
        <p:txBody>
          <a:bodyPr/>
          <a:lstStyle/>
          <a:p>
            <a:endParaRPr lang="en-IN"/>
          </a:p>
        </p:txBody>
      </p:sp>
      <p:sp>
        <p:nvSpPr>
          <p:cNvPr id="3" name="Shape 1"/>
          <p:cNvSpPr/>
          <p:nvPr/>
        </p:nvSpPr>
        <p:spPr>
          <a:xfrm>
            <a:off x="0" y="0"/>
            <a:ext cx="12192000" cy="114300"/>
          </a:xfrm>
          <a:prstGeom prst="rect">
            <a:avLst/>
          </a:prstGeom>
          <a:solidFill>
            <a:srgbClr val="18B89A"/>
          </a:solidFill>
          <a:ln/>
        </p:spPr>
        <p:txBody>
          <a:bodyPr/>
          <a:lstStyle/>
          <a:p>
            <a:endParaRPr lang="en-IN"/>
          </a:p>
        </p:txBody>
      </p:sp>
      <p:sp>
        <p:nvSpPr>
          <p:cNvPr id="4" name="Text 2"/>
          <p:cNvSpPr/>
          <p:nvPr/>
        </p:nvSpPr>
        <p:spPr>
          <a:xfrm>
            <a:off x="571500" y="209550"/>
            <a:ext cx="11049000" cy="228600"/>
          </a:xfrm>
          <a:prstGeom prst="rect">
            <a:avLst/>
          </a:prstGeom>
          <a:noFill/>
          <a:ln/>
        </p:spPr>
        <p:txBody>
          <a:bodyPr wrap="square" lIns="0" tIns="0" rIns="0" bIns="0" rtlCol="0" anchor="t">
            <a:normAutofit/>
          </a:bodyPr>
          <a:lstStyle/>
          <a:p>
            <a:pPr marL="0" indent="0" algn="l">
              <a:lnSpc>
                <a:spcPct val="100000"/>
              </a:lnSpc>
              <a:buNone/>
            </a:pPr>
            <a:r>
              <a:rPr lang="en-US" sz="1280" b="1" dirty="0">
                <a:solidFill>
                  <a:srgbClr val="1C7293"/>
                </a:solidFill>
                <a:latin typeface="Calibri" pitchFamily="34" charset="0"/>
                <a:ea typeface="Calibri" pitchFamily="34" charset="-122"/>
                <a:cs typeface="Calibri" pitchFamily="34" charset="-120"/>
              </a:rPr>
              <a:t>CONTRIBUTION POSITIONING</a:t>
            </a:r>
            <a:endParaRPr lang="en-US" sz="1280" dirty="0"/>
          </a:p>
        </p:txBody>
      </p:sp>
      <p:sp>
        <p:nvSpPr>
          <p:cNvPr id="5" name="Text 3"/>
          <p:cNvSpPr/>
          <p:nvPr/>
        </p:nvSpPr>
        <p:spPr>
          <a:xfrm>
            <a:off x="571500" y="447675"/>
            <a:ext cx="11049000" cy="552450"/>
          </a:xfrm>
          <a:prstGeom prst="rect">
            <a:avLst/>
          </a:prstGeom>
          <a:noFill/>
          <a:ln/>
        </p:spPr>
        <p:txBody>
          <a:bodyPr wrap="square" lIns="0" tIns="0" rIns="0" bIns="0" rtlCol="0" anchor="t">
            <a:normAutofit/>
          </a:bodyPr>
          <a:lstStyle/>
          <a:p>
            <a:pPr marL="0" indent="0" algn="l">
              <a:lnSpc>
                <a:spcPct val="100000"/>
              </a:lnSpc>
              <a:buNone/>
            </a:pPr>
            <a:r>
              <a:rPr lang="en-US" sz="3200" b="1" dirty="0">
                <a:solidFill>
                  <a:srgbClr val="12263A"/>
                </a:solidFill>
                <a:latin typeface="Cambria" pitchFamily="34" charset="0"/>
                <a:ea typeface="Cambria" pitchFamily="34" charset="-122"/>
                <a:cs typeface="Cambria" pitchFamily="34" charset="-120"/>
              </a:rPr>
              <a:t>Standards-Grounded Positioning of the Contribution</a:t>
            </a:r>
            <a:endParaRPr lang="en-US" sz="3200" dirty="0"/>
          </a:p>
        </p:txBody>
      </p:sp>
      <p:sp>
        <p:nvSpPr>
          <p:cNvPr id="6" name="Shape 4"/>
          <p:cNvSpPr/>
          <p:nvPr/>
        </p:nvSpPr>
        <p:spPr>
          <a:xfrm>
            <a:off x="571500" y="1057275"/>
            <a:ext cx="11049000" cy="438150"/>
          </a:xfrm>
          <a:prstGeom prst="roundRect">
            <a:avLst>
              <a:gd name="adj" fmla="val 8348"/>
            </a:avLst>
          </a:prstGeom>
          <a:solidFill>
            <a:srgbClr val="EAF2F8"/>
          </a:solidFill>
          <a:ln w="12700">
            <a:solidFill>
              <a:srgbClr val="D7E1EA"/>
            </a:solidFill>
            <a:prstDash val="solid"/>
          </a:ln>
        </p:spPr>
        <p:txBody>
          <a:bodyPr/>
          <a:lstStyle/>
          <a:p>
            <a:endParaRPr lang="en-IN"/>
          </a:p>
        </p:txBody>
      </p:sp>
      <p:sp>
        <p:nvSpPr>
          <p:cNvPr id="7" name="Text 5"/>
          <p:cNvSpPr/>
          <p:nvPr/>
        </p:nvSpPr>
        <p:spPr>
          <a:xfrm>
            <a:off x="723900" y="1123950"/>
            <a:ext cx="10744200" cy="323850"/>
          </a:xfrm>
          <a:prstGeom prst="rect">
            <a:avLst/>
          </a:prstGeom>
          <a:noFill/>
          <a:ln/>
        </p:spPr>
        <p:txBody>
          <a:bodyPr wrap="square" lIns="0" tIns="0" rIns="0" bIns="0" rtlCol="0" anchor="t">
            <a:normAutofit/>
          </a:bodyPr>
          <a:lstStyle/>
          <a:p>
            <a:pPr marL="0" indent="0" algn="l">
              <a:lnSpc>
                <a:spcPct val="102000"/>
              </a:lnSpc>
              <a:buNone/>
            </a:pPr>
            <a:r>
              <a:rPr lang="en-US" sz="1120" dirty="0">
                <a:solidFill>
                  <a:srgbClr val="5B6B7C"/>
                </a:solidFill>
                <a:latin typeface="Calibri" pitchFamily="34" charset="0"/>
                <a:ea typeface="Calibri" pitchFamily="34" charset="-122"/>
                <a:cs typeface="Calibri" pitchFamily="34" charset="-120"/>
              </a:rPr>
              <a:t>Normative basis: IEEE 1588-2019, ITU-T G.8275.1, O-RAN.WG4.CUS.0, O-RAN WG11 (ETSI TR 104 106 V3.0.0)  |  Prior-art boundary: TIMESAFE, Colosseum, OpenRAN Gym, digital-twin literature</a:t>
            </a:r>
            <a:endParaRPr lang="en-US" sz="1120" dirty="0"/>
          </a:p>
        </p:txBody>
      </p:sp>
      <p:sp>
        <p:nvSpPr>
          <p:cNvPr id="8" name="Shape 6"/>
          <p:cNvSpPr/>
          <p:nvPr/>
        </p:nvSpPr>
        <p:spPr>
          <a:xfrm>
            <a:off x="571500" y="1752600"/>
            <a:ext cx="2476500" cy="2038350"/>
          </a:xfrm>
          <a:prstGeom prst="roundRect">
            <a:avLst>
              <a:gd name="adj" fmla="val 1794"/>
            </a:avLst>
          </a:prstGeom>
          <a:solidFill>
            <a:srgbClr val="FFFFFF"/>
          </a:solidFill>
          <a:ln w="12700">
            <a:solidFill>
              <a:srgbClr val="D7E1EA"/>
            </a:solidFill>
            <a:prstDash val="solid"/>
          </a:ln>
        </p:spPr>
        <p:txBody>
          <a:bodyPr/>
          <a:lstStyle/>
          <a:p>
            <a:endParaRPr lang="en-IN"/>
          </a:p>
        </p:txBody>
      </p:sp>
      <p:sp>
        <p:nvSpPr>
          <p:cNvPr id="9" name="Text 7"/>
          <p:cNvSpPr/>
          <p:nvPr/>
        </p:nvSpPr>
        <p:spPr>
          <a:xfrm>
            <a:off x="762000" y="1943100"/>
            <a:ext cx="419100" cy="266700"/>
          </a:xfrm>
          <a:prstGeom prst="rect">
            <a:avLst/>
          </a:prstGeom>
          <a:noFill/>
          <a:ln/>
        </p:spPr>
        <p:txBody>
          <a:bodyPr wrap="square" lIns="0" tIns="0" rIns="0" bIns="0" rtlCol="0" anchor="t">
            <a:normAutofit/>
          </a:bodyPr>
          <a:lstStyle/>
          <a:p>
            <a:pPr marL="0" indent="0" algn="l">
              <a:lnSpc>
                <a:spcPct val="100000"/>
              </a:lnSpc>
              <a:buNone/>
            </a:pPr>
            <a:r>
              <a:rPr lang="en-US" sz="1800" b="1" dirty="0">
                <a:solidFill>
                  <a:srgbClr val="1C7293"/>
                </a:solidFill>
                <a:latin typeface="Cambria" pitchFamily="34" charset="0"/>
                <a:ea typeface="Cambria" pitchFamily="34" charset="-122"/>
                <a:cs typeface="Cambria" pitchFamily="34" charset="-120"/>
              </a:rPr>
              <a:t>01</a:t>
            </a:r>
            <a:endParaRPr lang="en-US" sz="1800" dirty="0"/>
          </a:p>
        </p:txBody>
      </p:sp>
      <p:sp>
        <p:nvSpPr>
          <p:cNvPr id="10" name="Text 8"/>
          <p:cNvSpPr/>
          <p:nvPr/>
        </p:nvSpPr>
        <p:spPr>
          <a:xfrm>
            <a:off x="762000" y="2324100"/>
            <a:ext cx="2095500" cy="304800"/>
          </a:xfrm>
          <a:prstGeom prst="rect">
            <a:avLst/>
          </a:prstGeom>
          <a:noFill/>
          <a:ln/>
        </p:spPr>
        <p:txBody>
          <a:bodyPr wrap="square" lIns="0" tIns="0" rIns="0" bIns="0" rtlCol="0" anchor="t">
            <a:normAutofit/>
          </a:bodyPr>
          <a:lstStyle/>
          <a:p>
            <a:pPr marL="0" indent="0" algn="l">
              <a:lnSpc>
                <a:spcPct val="100000"/>
              </a:lnSpc>
              <a:buNone/>
            </a:pPr>
            <a:r>
              <a:rPr lang="en-US" sz="1900" b="1" dirty="0">
                <a:solidFill>
                  <a:srgbClr val="12263A"/>
                </a:solidFill>
                <a:latin typeface="Cambria" pitchFamily="34" charset="0"/>
                <a:ea typeface="Cambria" pitchFamily="34" charset="-122"/>
                <a:cs typeface="Cambria" pitchFamily="34" charset="-120"/>
              </a:rPr>
              <a:t>Normative ground</a:t>
            </a:r>
            <a:endParaRPr lang="en-US" sz="1900" dirty="0"/>
          </a:p>
        </p:txBody>
      </p:sp>
      <p:sp>
        <p:nvSpPr>
          <p:cNvPr id="11" name="Text 9"/>
          <p:cNvSpPr/>
          <p:nvPr/>
        </p:nvSpPr>
        <p:spPr>
          <a:xfrm>
            <a:off x="762000" y="2743200"/>
            <a:ext cx="2114550" cy="952500"/>
          </a:xfrm>
          <a:prstGeom prst="rect">
            <a:avLst/>
          </a:prstGeom>
          <a:noFill/>
          <a:ln/>
        </p:spPr>
        <p:txBody>
          <a:bodyPr wrap="square" lIns="0" tIns="0" rIns="0" bIns="0" rtlCol="0" anchor="t">
            <a:normAutofit/>
          </a:bodyPr>
          <a:lstStyle/>
          <a:p>
            <a:pPr marL="0" indent="0" algn="l">
              <a:lnSpc>
                <a:spcPct val="100000"/>
              </a:lnSpc>
              <a:buNone/>
            </a:pPr>
            <a:r>
              <a:rPr lang="en-US" sz="1360" dirty="0">
                <a:solidFill>
                  <a:srgbClr val="5B6B7C"/>
                </a:solidFill>
                <a:latin typeface="Calibri" pitchFamily="34" charset="0"/>
                <a:ea typeface="Calibri" pitchFamily="34" charset="-122"/>
                <a:cs typeface="Calibri" pitchFamily="34" charset="-120"/>
              </a:rPr>
              <a:t>Protocol legality and telecom timing expectations are taken from recognized standards, not from arbitrary thresholds.</a:t>
            </a:r>
            <a:endParaRPr lang="en-US" sz="1360" dirty="0"/>
          </a:p>
        </p:txBody>
      </p:sp>
      <p:sp>
        <p:nvSpPr>
          <p:cNvPr id="12" name="Shape 10"/>
          <p:cNvSpPr/>
          <p:nvPr/>
        </p:nvSpPr>
        <p:spPr>
          <a:xfrm>
            <a:off x="3152775" y="2762250"/>
            <a:ext cx="219075" cy="19050"/>
          </a:xfrm>
          <a:prstGeom prst="rect">
            <a:avLst/>
          </a:prstGeom>
          <a:solidFill>
            <a:srgbClr val="18B89A"/>
          </a:solidFill>
          <a:ln/>
        </p:spPr>
        <p:txBody>
          <a:bodyPr/>
          <a:lstStyle/>
          <a:p>
            <a:endParaRPr lang="en-IN"/>
          </a:p>
        </p:txBody>
      </p:sp>
      <p:sp>
        <p:nvSpPr>
          <p:cNvPr id="13" name="Shape 11"/>
          <p:cNvSpPr/>
          <p:nvPr/>
        </p:nvSpPr>
        <p:spPr>
          <a:xfrm>
            <a:off x="3429000" y="1752600"/>
            <a:ext cx="2476500" cy="2038350"/>
          </a:xfrm>
          <a:prstGeom prst="roundRect">
            <a:avLst>
              <a:gd name="adj" fmla="val 1794"/>
            </a:avLst>
          </a:prstGeom>
          <a:solidFill>
            <a:srgbClr val="FFFFFF"/>
          </a:solidFill>
          <a:ln w="12700">
            <a:solidFill>
              <a:srgbClr val="D7E1EA"/>
            </a:solidFill>
            <a:prstDash val="solid"/>
          </a:ln>
        </p:spPr>
        <p:txBody>
          <a:bodyPr/>
          <a:lstStyle/>
          <a:p>
            <a:endParaRPr lang="en-IN"/>
          </a:p>
        </p:txBody>
      </p:sp>
      <p:sp>
        <p:nvSpPr>
          <p:cNvPr id="14" name="Text 12"/>
          <p:cNvSpPr/>
          <p:nvPr/>
        </p:nvSpPr>
        <p:spPr>
          <a:xfrm>
            <a:off x="3619500" y="1943100"/>
            <a:ext cx="419100" cy="266700"/>
          </a:xfrm>
          <a:prstGeom prst="rect">
            <a:avLst/>
          </a:prstGeom>
          <a:noFill/>
          <a:ln/>
        </p:spPr>
        <p:txBody>
          <a:bodyPr wrap="square" lIns="0" tIns="0" rIns="0" bIns="0" rtlCol="0" anchor="t">
            <a:normAutofit/>
          </a:bodyPr>
          <a:lstStyle/>
          <a:p>
            <a:pPr marL="0" indent="0" algn="l">
              <a:lnSpc>
                <a:spcPct val="100000"/>
              </a:lnSpc>
              <a:buNone/>
            </a:pPr>
            <a:r>
              <a:rPr lang="en-US" sz="1800" b="1" dirty="0">
                <a:solidFill>
                  <a:srgbClr val="1C7293"/>
                </a:solidFill>
                <a:latin typeface="Cambria" pitchFamily="34" charset="0"/>
                <a:ea typeface="Cambria" pitchFamily="34" charset="-122"/>
                <a:cs typeface="Cambria" pitchFamily="34" charset="-120"/>
              </a:rPr>
              <a:t>02</a:t>
            </a:r>
            <a:endParaRPr lang="en-US" sz="1800" dirty="0"/>
          </a:p>
        </p:txBody>
      </p:sp>
      <p:sp>
        <p:nvSpPr>
          <p:cNvPr id="15" name="Text 13"/>
          <p:cNvSpPr/>
          <p:nvPr/>
        </p:nvSpPr>
        <p:spPr>
          <a:xfrm>
            <a:off x="3619500" y="2324100"/>
            <a:ext cx="2095500" cy="304800"/>
          </a:xfrm>
          <a:prstGeom prst="rect">
            <a:avLst/>
          </a:prstGeom>
          <a:noFill/>
          <a:ln/>
        </p:spPr>
        <p:txBody>
          <a:bodyPr wrap="square" lIns="0" tIns="0" rIns="0" bIns="0" rtlCol="0" anchor="t">
            <a:normAutofit/>
          </a:bodyPr>
          <a:lstStyle/>
          <a:p>
            <a:pPr marL="0" indent="0" algn="l">
              <a:lnSpc>
                <a:spcPct val="100000"/>
              </a:lnSpc>
              <a:buNone/>
            </a:pPr>
            <a:r>
              <a:rPr lang="en-US" sz="1900" b="1" dirty="0">
                <a:solidFill>
                  <a:srgbClr val="12263A"/>
                </a:solidFill>
                <a:latin typeface="Cambria" pitchFamily="34" charset="0"/>
                <a:ea typeface="Cambria" pitchFamily="34" charset="-122"/>
                <a:cs typeface="Cambria" pitchFamily="34" charset="-120"/>
              </a:rPr>
              <a:t>Executed evidence</a:t>
            </a:r>
            <a:endParaRPr lang="en-US" sz="1900" dirty="0"/>
          </a:p>
        </p:txBody>
      </p:sp>
      <p:sp>
        <p:nvSpPr>
          <p:cNvPr id="16" name="Text 14"/>
          <p:cNvSpPr/>
          <p:nvPr/>
        </p:nvSpPr>
        <p:spPr>
          <a:xfrm>
            <a:off x="3619500" y="2743200"/>
            <a:ext cx="2114550" cy="952500"/>
          </a:xfrm>
          <a:prstGeom prst="rect">
            <a:avLst/>
          </a:prstGeom>
          <a:noFill/>
          <a:ln/>
        </p:spPr>
        <p:txBody>
          <a:bodyPr wrap="square" lIns="0" tIns="0" rIns="0" bIns="0" rtlCol="0" anchor="t">
            <a:normAutofit/>
          </a:bodyPr>
          <a:lstStyle/>
          <a:p>
            <a:pPr marL="0" indent="0" algn="l">
              <a:lnSpc>
                <a:spcPct val="100000"/>
              </a:lnSpc>
              <a:buNone/>
            </a:pPr>
            <a:r>
              <a:rPr lang="en-US" sz="1360" dirty="0">
                <a:solidFill>
                  <a:srgbClr val="5B6B7C"/>
                </a:solidFill>
                <a:latin typeface="Calibri" pitchFamily="34" charset="0"/>
                <a:ea typeface="Calibri" pitchFamily="34" charset="-122"/>
                <a:cs typeface="Calibri" pitchFamily="34" charset="-120"/>
              </a:rPr>
              <a:t>Real PTP daemons, packet captures and daemon telemetry produce auditable observations rather than synthetic rows.</a:t>
            </a:r>
            <a:endParaRPr lang="en-US" sz="1360" dirty="0"/>
          </a:p>
        </p:txBody>
      </p:sp>
      <p:sp>
        <p:nvSpPr>
          <p:cNvPr id="17" name="Shape 15"/>
          <p:cNvSpPr/>
          <p:nvPr/>
        </p:nvSpPr>
        <p:spPr>
          <a:xfrm>
            <a:off x="6010275" y="2762250"/>
            <a:ext cx="219075" cy="19050"/>
          </a:xfrm>
          <a:prstGeom prst="rect">
            <a:avLst/>
          </a:prstGeom>
          <a:solidFill>
            <a:srgbClr val="18B89A"/>
          </a:solidFill>
          <a:ln/>
        </p:spPr>
        <p:txBody>
          <a:bodyPr/>
          <a:lstStyle/>
          <a:p>
            <a:endParaRPr lang="en-IN"/>
          </a:p>
        </p:txBody>
      </p:sp>
      <p:sp>
        <p:nvSpPr>
          <p:cNvPr id="18" name="Shape 16"/>
          <p:cNvSpPr/>
          <p:nvPr/>
        </p:nvSpPr>
        <p:spPr>
          <a:xfrm>
            <a:off x="6286500" y="1752600"/>
            <a:ext cx="2476500" cy="2038350"/>
          </a:xfrm>
          <a:prstGeom prst="roundRect">
            <a:avLst>
              <a:gd name="adj" fmla="val 1794"/>
            </a:avLst>
          </a:prstGeom>
          <a:solidFill>
            <a:srgbClr val="DDF5EF"/>
          </a:solidFill>
          <a:ln w="12700">
            <a:solidFill>
              <a:srgbClr val="18B89A"/>
            </a:solidFill>
            <a:prstDash val="solid"/>
          </a:ln>
        </p:spPr>
        <p:txBody>
          <a:bodyPr/>
          <a:lstStyle/>
          <a:p>
            <a:endParaRPr lang="en-IN"/>
          </a:p>
        </p:txBody>
      </p:sp>
      <p:sp>
        <p:nvSpPr>
          <p:cNvPr id="19" name="Text 17"/>
          <p:cNvSpPr/>
          <p:nvPr/>
        </p:nvSpPr>
        <p:spPr>
          <a:xfrm>
            <a:off x="6477000" y="1943100"/>
            <a:ext cx="419100" cy="266700"/>
          </a:xfrm>
          <a:prstGeom prst="rect">
            <a:avLst/>
          </a:prstGeom>
          <a:noFill/>
          <a:ln/>
        </p:spPr>
        <p:txBody>
          <a:bodyPr wrap="square" lIns="0" tIns="0" rIns="0" bIns="0" rtlCol="0" anchor="t">
            <a:normAutofit/>
          </a:bodyPr>
          <a:lstStyle/>
          <a:p>
            <a:pPr marL="0" indent="0" algn="l">
              <a:lnSpc>
                <a:spcPct val="100000"/>
              </a:lnSpc>
              <a:buNone/>
            </a:pPr>
            <a:r>
              <a:rPr lang="en-US" sz="1800" b="1" dirty="0">
                <a:solidFill>
                  <a:srgbClr val="1C7293"/>
                </a:solidFill>
                <a:latin typeface="Cambria" pitchFamily="34" charset="0"/>
                <a:ea typeface="Cambria" pitchFamily="34" charset="-122"/>
                <a:cs typeface="Cambria" pitchFamily="34" charset="-120"/>
              </a:rPr>
              <a:t>03</a:t>
            </a:r>
            <a:endParaRPr lang="en-US" sz="1800" dirty="0"/>
          </a:p>
        </p:txBody>
      </p:sp>
      <p:sp>
        <p:nvSpPr>
          <p:cNvPr id="20" name="Text 18"/>
          <p:cNvSpPr/>
          <p:nvPr/>
        </p:nvSpPr>
        <p:spPr>
          <a:xfrm>
            <a:off x="6477000" y="2324100"/>
            <a:ext cx="2095500" cy="304800"/>
          </a:xfrm>
          <a:prstGeom prst="rect">
            <a:avLst/>
          </a:prstGeom>
          <a:noFill/>
          <a:ln/>
        </p:spPr>
        <p:txBody>
          <a:bodyPr wrap="square" lIns="0" tIns="0" rIns="0" bIns="0" rtlCol="0" anchor="t">
            <a:normAutofit/>
          </a:bodyPr>
          <a:lstStyle/>
          <a:p>
            <a:pPr marL="0" indent="0" algn="l">
              <a:lnSpc>
                <a:spcPct val="100000"/>
              </a:lnSpc>
              <a:buNone/>
            </a:pPr>
            <a:r>
              <a:rPr lang="en-US" sz="1900" b="1" dirty="0">
                <a:solidFill>
                  <a:srgbClr val="12263A"/>
                </a:solidFill>
                <a:latin typeface="Cambria" pitchFamily="34" charset="0"/>
                <a:ea typeface="Cambria" pitchFamily="34" charset="-122"/>
                <a:cs typeface="Cambria" pitchFamily="34" charset="-120"/>
              </a:rPr>
              <a:t>Controlled comparison</a:t>
            </a:r>
            <a:endParaRPr lang="en-US" sz="1900" dirty="0"/>
          </a:p>
        </p:txBody>
      </p:sp>
      <p:sp>
        <p:nvSpPr>
          <p:cNvPr id="21" name="Text 19"/>
          <p:cNvSpPr/>
          <p:nvPr/>
        </p:nvSpPr>
        <p:spPr>
          <a:xfrm>
            <a:off x="6477000" y="2895600"/>
            <a:ext cx="2114550" cy="952500"/>
          </a:xfrm>
          <a:prstGeom prst="rect">
            <a:avLst/>
          </a:prstGeom>
          <a:noFill/>
          <a:ln/>
        </p:spPr>
        <p:txBody>
          <a:bodyPr wrap="square" lIns="0" tIns="0" rIns="0" bIns="0" rtlCol="0" anchor="t">
            <a:normAutofit/>
          </a:bodyPr>
          <a:lstStyle/>
          <a:p>
            <a:pPr marL="0" indent="0" algn="l">
              <a:lnSpc>
                <a:spcPct val="100000"/>
              </a:lnSpc>
              <a:buNone/>
            </a:pPr>
            <a:r>
              <a:rPr lang="en-US" sz="1360" dirty="0">
                <a:solidFill>
                  <a:srgbClr val="5B6B7C"/>
                </a:solidFill>
                <a:latin typeface="Calibri" pitchFamily="34" charset="0"/>
                <a:ea typeface="Calibri" pitchFamily="34" charset="-122"/>
                <a:cs typeface="Calibri" pitchFamily="34" charset="-120"/>
              </a:rPr>
              <a:t>Rules, machine learning and an always-BENIGN control are scored on the same 56 held-out runs.</a:t>
            </a:r>
            <a:endParaRPr lang="en-US" sz="1360" dirty="0"/>
          </a:p>
        </p:txBody>
      </p:sp>
      <p:sp>
        <p:nvSpPr>
          <p:cNvPr id="22" name="Shape 20"/>
          <p:cNvSpPr/>
          <p:nvPr/>
        </p:nvSpPr>
        <p:spPr>
          <a:xfrm>
            <a:off x="8867775" y="2762250"/>
            <a:ext cx="219075" cy="19050"/>
          </a:xfrm>
          <a:prstGeom prst="rect">
            <a:avLst/>
          </a:prstGeom>
          <a:solidFill>
            <a:srgbClr val="18B89A"/>
          </a:solidFill>
          <a:ln/>
        </p:spPr>
        <p:txBody>
          <a:bodyPr/>
          <a:lstStyle/>
          <a:p>
            <a:endParaRPr lang="en-IN"/>
          </a:p>
        </p:txBody>
      </p:sp>
      <p:sp>
        <p:nvSpPr>
          <p:cNvPr id="23" name="Shape 21"/>
          <p:cNvSpPr/>
          <p:nvPr/>
        </p:nvSpPr>
        <p:spPr>
          <a:xfrm>
            <a:off x="9144000" y="1752600"/>
            <a:ext cx="2476500" cy="2038350"/>
          </a:xfrm>
          <a:prstGeom prst="roundRect">
            <a:avLst>
              <a:gd name="adj" fmla="val 1794"/>
            </a:avLst>
          </a:prstGeom>
          <a:solidFill>
            <a:srgbClr val="FFFFFF"/>
          </a:solidFill>
          <a:ln w="12700">
            <a:solidFill>
              <a:srgbClr val="D7E1EA"/>
            </a:solidFill>
            <a:prstDash val="solid"/>
          </a:ln>
        </p:spPr>
        <p:txBody>
          <a:bodyPr/>
          <a:lstStyle/>
          <a:p>
            <a:endParaRPr lang="en-IN"/>
          </a:p>
        </p:txBody>
      </p:sp>
      <p:sp>
        <p:nvSpPr>
          <p:cNvPr id="24" name="Text 22"/>
          <p:cNvSpPr/>
          <p:nvPr/>
        </p:nvSpPr>
        <p:spPr>
          <a:xfrm>
            <a:off x="9334500" y="1943100"/>
            <a:ext cx="419100" cy="266700"/>
          </a:xfrm>
          <a:prstGeom prst="rect">
            <a:avLst/>
          </a:prstGeom>
          <a:noFill/>
          <a:ln/>
        </p:spPr>
        <p:txBody>
          <a:bodyPr wrap="square" lIns="0" tIns="0" rIns="0" bIns="0" rtlCol="0" anchor="t">
            <a:normAutofit/>
          </a:bodyPr>
          <a:lstStyle/>
          <a:p>
            <a:pPr marL="0" indent="0" algn="l">
              <a:lnSpc>
                <a:spcPct val="100000"/>
              </a:lnSpc>
              <a:buNone/>
            </a:pPr>
            <a:r>
              <a:rPr lang="en-US" sz="1800" b="1" dirty="0">
                <a:solidFill>
                  <a:srgbClr val="1C7293"/>
                </a:solidFill>
                <a:latin typeface="Cambria" pitchFamily="34" charset="0"/>
                <a:ea typeface="Cambria" pitchFamily="34" charset="-122"/>
                <a:cs typeface="Cambria" pitchFamily="34" charset="-120"/>
              </a:rPr>
              <a:t>04</a:t>
            </a:r>
            <a:endParaRPr lang="en-US" sz="1800" dirty="0"/>
          </a:p>
        </p:txBody>
      </p:sp>
      <p:sp>
        <p:nvSpPr>
          <p:cNvPr id="25" name="Text 23"/>
          <p:cNvSpPr/>
          <p:nvPr/>
        </p:nvSpPr>
        <p:spPr>
          <a:xfrm>
            <a:off x="9334500" y="2324100"/>
            <a:ext cx="2095500" cy="304800"/>
          </a:xfrm>
          <a:prstGeom prst="rect">
            <a:avLst/>
          </a:prstGeom>
          <a:noFill/>
          <a:ln/>
        </p:spPr>
        <p:txBody>
          <a:bodyPr wrap="square" lIns="0" tIns="0" rIns="0" bIns="0" rtlCol="0" anchor="t">
            <a:normAutofit/>
          </a:bodyPr>
          <a:lstStyle/>
          <a:p>
            <a:pPr marL="0" indent="0" algn="l">
              <a:lnSpc>
                <a:spcPct val="100000"/>
              </a:lnSpc>
              <a:buNone/>
            </a:pPr>
            <a:r>
              <a:rPr lang="en-US" sz="1900" b="1" dirty="0">
                <a:solidFill>
                  <a:srgbClr val="12263A"/>
                </a:solidFill>
                <a:latin typeface="Cambria" pitchFamily="34" charset="0"/>
                <a:ea typeface="Cambria" pitchFamily="34" charset="-122"/>
                <a:cs typeface="Cambria" pitchFamily="34" charset="-120"/>
              </a:rPr>
              <a:t>Governed response</a:t>
            </a:r>
            <a:endParaRPr lang="en-US" sz="1900" dirty="0"/>
          </a:p>
        </p:txBody>
      </p:sp>
      <p:sp>
        <p:nvSpPr>
          <p:cNvPr id="26" name="Text 24"/>
          <p:cNvSpPr/>
          <p:nvPr/>
        </p:nvSpPr>
        <p:spPr>
          <a:xfrm>
            <a:off x="9353550" y="2857889"/>
            <a:ext cx="2114550" cy="952500"/>
          </a:xfrm>
          <a:prstGeom prst="rect">
            <a:avLst/>
          </a:prstGeom>
          <a:noFill/>
          <a:ln/>
        </p:spPr>
        <p:txBody>
          <a:bodyPr wrap="square" lIns="0" tIns="0" rIns="0" bIns="0" rtlCol="0" anchor="t">
            <a:normAutofit/>
          </a:bodyPr>
          <a:lstStyle/>
          <a:p>
            <a:pPr marL="0" indent="0" algn="l">
              <a:lnSpc>
                <a:spcPct val="100000"/>
              </a:lnSpc>
              <a:buNone/>
            </a:pPr>
            <a:r>
              <a:rPr lang="en-US" sz="1360" dirty="0">
                <a:solidFill>
                  <a:srgbClr val="5B6B7C"/>
                </a:solidFill>
                <a:latin typeface="Calibri" pitchFamily="34" charset="0"/>
                <a:ea typeface="Calibri" pitchFamily="34" charset="-122"/>
                <a:cs typeface="Calibri" pitchFamily="34" charset="-120"/>
              </a:rPr>
              <a:t>ATTACK, BENIGN and UNKNOWN map to isolation, holdover and escalation policy respectively.</a:t>
            </a:r>
            <a:endParaRPr lang="en-US" sz="1360" dirty="0"/>
          </a:p>
        </p:txBody>
      </p:sp>
      <p:sp>
        <p:nvSpPr>
          <p:cNvPr id="27" name="Shape 25"/>
          <p:cNvSpPr/>
          <p:nvPr/>
        </p:nvSpPr>
        <p:spPr>
          <a:xfrm>
            <a:off x="571500" y="4038600"/>
            <a:ext cx="5286375" cy="1638300"/>
          </a:xfrm>
          <a:prstGeom prst="roundRect">
            <a:avLst>
              <a:gd name="adj" fmla="val 2233"/>
            </a:avLst>
          </a:prstGeom>
          <a:solidFill>
            <a:srgbClr val="0E2440"/>
          </a:solidFill>
          <a:ln w="12700">
            <a:solidFill>
              <a:srgbClr val="0E2440"/>
            </a:solidFill>
            <a:prstDash val="solid"/>
          </a:ln>
        </p:spPr>
        <p:txBody>
          <a:bodyPr/>
          <a:lstStyle/>
          <a:p>
            <a:endParaRPr lang="en-IN"/>
          </a:p>
        </p:txBody>
      </p:sp>
      <p:sp>
        <p:nvSpPr>
          <p:cNvPr id="28" name="Text 26"/>
          <p:cNvSpPr/>
          <p:nvPr/>
        </p:nvSpPr>
        <p:spPr>
          <a:xfrm>
            <a:off x="809625" y="4248150"/>
            <a:ext cx="4762500" cy="228600"/>
          </a:xfrm>
          <a:prstGeom prst="rect">
            <a:avLst/>
          </a:prstGeom>
          <a:noFill/>
          <a:ln/>
        </p:spPr>
        <p:txBody>
          <a:bodyPr wrap="square" lIns="0" tIns="0" rIns="0" bIns="0" rtlCol="0" anchor="t">
            <a:normAutofit/>
          </a:bodyPr>
          <a:lstStyle/>
          <a:p>
            <a:pPr marL="0" indent="0" algn="l">
              <a:lnSpc>
                <a:spcPct val="100000"/>
              </a:lnSpc>
              <a:buNone/>
            </a:pPr>
            <a:r>
              <a:rPr lang="en-US" sz="1250" b="1" dirty="0">
                <a:solidFill>
                  <a:srgbClr val="18B89A"/>
                </a:solidFill>
                <a:latin typeface="Calibri" pitchFamily="34" charset="0"/>
                <a:ea typeface="Calibri" pitchFamily="34" charset="-122"/>
                <a:cs typeface="Calibri" pitchFamily="34" charset="-120"/>
              </a:rPr>
              <a:t>DEMONSTRATED IN THIS CAMPAIGN</a:t>
            </a:r>
            <a:endParaRPr lang="en-US" sz="1250" dirty="0"/>
          </a:p>
        </p:txBody>
      </p:sp>
      <p:sp>
        <p:nvSpPr>
          <p:cNvPr id="29" name="Text 27"/>
          <p:cNvSpPr/>
          <p:nvPr/>
        </p:nvSpPr>
        <p:spPr>
          <a:xfrm>
            <a:off x="809625" y="4591050"/>
            <a:ext cx="4762500" cy="952500"/>
          </a:xfrm>
          <a:prstGeom prst="rect">
            <a:avLst/>
          </a:prstGeom>
          <a:noFill/>
          <a:ln/>
        </p:spPr>
        <p:txBody>
          <a:bodyPr wrap="square" lIns="0" tIns="0" rIns="0" bIns="0" rtlCol="0" anchor="t">
            <a:normAutofit/>
          </a:bodyPr>
          <a:lstStyle/>
          <a:p>
            <a:pPr marL="0" indent="0" algn="l">
              <a:lnSpc>
                <a:spcPct val="100000"/>
              </a:lnSpc>
              <a:buNone/>
            </a:pPr>
            <a:r>
              <a:rPr lang="en-US" sz="1550" dirty="0">
                <a:solidFill>
                  <a:srgbClr val="FFFFFF"/>
                </a:solidFill>
                <a:latin typeface="Calibri" pitchFamily="34" charset="0"/>
                <a:ea typeface="Calibri" pitchFamily="34" charset="-122"/>
                <a:cs typeface="Calibri" pitchFamily="34" charset="-120"/>
              </a:rPr>
              <a:t>Live PTP packet-path execution</a:t>
            </a:r>
            <a:endParaRPr lang="en-US" sz="1550" dirty="0"/>
          </a:p>
          <a:p>
            <a:pPr marL="0" indent="0" algn="l">
              <a:lnSpc>
                <a:spcPct val="100000"/>
              </a:lnSpc>
              <a:buNone/>
            </a:pPr>
            <a:r>
              <a:rPr lang="en-US" sz="1550" dirty="0">
                <a:solidFill>
                  <a:srgbClr val="FFFFFF"/>
                </a:solidFill>
                <a:latin typeface="Calibri" pitchFamily="34" charset="0"/>
                <a:ea typeface="Calibri" pitchFamily="34" charset="-122"/>
                <a:cs typeface="Calibri" pitchFamily="34" charset="-120"/>
              </a:rPr>
              <a:t>Held-out attack and benign-fault classification</a:t>
            </a:r>
            <a:endParaRPr lang="en-US" sz="1550" dirty="0"/>
          </a:p>
          <a:p>
            <a:pPr marL="0" indent="0" algn="l">
              <a:lnSpc>
                <a:spcPct val="100000"/>
              </a:lnSpc>
              <a:buNone/>
            </a:pPr>
            <a:r>
              <a:rPr lang="en-US" sz="1550" dirty="0">
                <a:solidFill>
                  <a:srgbClr val="FFFFFF"/>
                </a:solidFill>
                <a:latin typeface="Calibri" pitchFamily="34" charset="0"/>
                <a:ea typeface="Calibri" pitchFamily="34" charset="-122"/>
                <a:cs typeface="Calibri" pitchFamily="34" charset="-120"/>
              </a:rPr>
              <a:t>ARM A versus ARM B versus constant control</a:t>
            </a:r>
            <a:endParaRPr lang="en-US" sz="1550" dirty="0"/>
          </a:p>
          <a:p>
            <a:pPr marL="0" indent="0" algn="l">
              <a:lnSpc>
                <a:spcPct val="100000"/>
              </a:lnSpc>
              <a:buNone/>
            </a:pPr>
            <a:r>
              <a:rPr lang="en-US" sz="1550" dirty="0">
                <a:solidFill>
                  <a:srgbClr val="FFFFFF"/>
                </a:solidFill>
                <a:latin typeface="Calibri" pitchFamily="34" charset="0"/>
                <a:ea typeface="Calibri" pitchFamily="34" charset="-122"/>
                <a:cs typeface="Calibri" pitchFamily="34" charset="-120"/>
              </a:rPr>
              <a:t>Explicit abstention with evidence provenance</a:t>
            </a:r>
            <a:endParaRPr lang="en-US" sz="1550" dirty="0"/>
          </a:p>
        </p:txBody>
      </p:sp>
      <p:sp>
        <p:nvSpPr>
          <p:cNvPr id="30" name="Shape 28"/>
          <p:cNvSpPr/>
          <p:nvPr/>
        </p:nvSpPr>
        <p:spPr>
          <a:xfrm>
            <a:off x="6334125" y="4038600"/>
            <a:ext cx="5286375" cy="1638300"/>
          </a:xfrm>
          <a:prstGeom prst="roundRect">
            <a:avLst>
              <a:gd name="adj" fmla="val 2233"/>
            </a:avLst>
          </a:prstGeom>
          <a:solidFill>
            <a:srgbClr val="EAF2F8"/>
          </a:solidFill>
          <a:ln w="12700">
            <a:solidFill>
              <a:srgbClr val="1C7293"/>
            </a:solidFill>
            <a:prstDash val="solid"/>
          </a:ln>
        </p:spPr>
        <p:txBody>
          <a:bodyPr/>
          <a:lstStyle/>
          <a:p>
            <a:endParaRPr lang="en-IN"/>
          </a:p>
        </p:txBody>
      </p:sp>
      <p:sp>
        <p:nvSpPr>
          <p:cNvPr id="31" name="Text 29"/>
          <p:cNvSpPr/>
          <p:nvPr/>
        </p:nvSpPr>
        <p:spPr>
          <a:xfrm>
            <a:off x="6572250" y="4248150"/>
            <a:ext cx="4762500" cy="228600"/>
          </a:xfrm>
          <a:prstGeom prst="rect">
            <a:avLst/>
          </a:prstGeom>
          <a:noFill/>
          <a:ln/>
        </p:spPr>
        <p:txBody>
          <a:bodyPr wrap="square" lIns="0" tIns="0" rIns="0" bIns="0" rtlCol="0" anchor="t">
            <a:normAutofit/>
          </a:bodyPr>
          <a:lstStyle/>
          <a:p>
            <a:pPr marL="0" indent="0" algn="l">
              <a:lnSpc>
                <a:spcPct val="100000"/>
              </a:lnSpc>
              <a:buNone/>
            </a:pPr>
            <a:r>
              <a:rPr lang="en-US" sz="1250" b="1" dirty="0">
                <a:solidFill>
                  <a:srgbClr val="1C7293"/>
                </a:solidFill>
                <a:latin typeface="Calibri" pitchFamily="34" charset="0"/>
                <a:ea typeface="Calibri" pitchFamily="34" charset="-122"/>
                <a:cs typeface="Calibri" pitchFamily="34" charset="-120"/>
              </a:rPr>
              <a:t>NOT YET DEMONSTRATED</a:t>
            </a:r>
            <a:endParaRPr lang="en-US" sz="1250" dirty="0"/>
          </a:p>
        </p:txBody>
      </p:sp>
      <p:sp>
        <p:nvSpPr>
          <p:cNvPr id="32" name="Text 30"/>
          <p:cNvSpPr/>
          <p:nvPr/>
        </p:nvSpPr>
        <p:spPr>
          <a:xfrm>
            <a:off x="6572250" y="4591050"/>
            <a:ext cx="4762500" cy="952500"/>
          </a:xfrm>
          <a:prstGeom prst="rect">
            <a:avLst/>
          </a:prstGeom>
          <a:noFill/>
          <a:ln/>
        </p:spPr>
        <p:txBody>
          <a:bodyPr wrap="square" lIns="0" tIns="0" rIns="0" bIns="0" rtlCol="0" anchor="t">
            <a:normAutofit/>
          </a:bodyPr>
          <a:lstStyle/>
          <a:p>
            <a:pPr marL="0" indent="0" algn="l">
              <a:lnSpc>
                <a:spcPct val="100000"/>
              </a:lnSpc>
              <a:buNone/>
            </a:pPr>
            <a:r>
              <a:rPr lang="en-US" sz="1550" dirty="0">
                <a:solidFill>
                  <a:srgbClr val="12263A"/>
                </a:solidFill>
                <a:latin typeface="Calibri" pitchFamily="34" charset="0"/>
                <a:ea typeface="Calibri" pitchFamily="34" charset="-122"/>
                <a:cs typeface="Calibri" pitchFamily="34" charset="-120"/>
              </a:rPr>
              <a:t>Digital-twin action verification</a:t>
            </a:r>
            <a:endParaRPr lang="en-US" sz="1550" dirty="0"/>
          </a:p>
          <a:p>
            <a:pPr marL="0" indent="0" algn="l">
              <a:lnSpc>
                <a:spcPct val="100000"/>
              </a:lnSpc>
              <a:buNone/>
            </a:pPr>
            <a:r>
              <a:rPr lang="en-US" sz="1550" dirty="0">
                <a:solidFill>
                  <a:srgbClr val="12263A"/>
                </a:solidFill>
                <a:latin typeface="Calibri" pitchFamily="34" charset="0"/>
                <a:ea typeface="Calibri" pitchFamily="34" charset="-122"/>
                <a:cs typeface="Calibri" pitchFamily="34" charset="-120"/>
              </a:rPr>
              <a:t>Executed isolate or holdover recovery</a:t>
            </a:r>
            <a:endParaRPr lang="en-US" sz="1550" dirty="0"/>
          </a:p>
          <a:p>
            <a:pPr marL="0" indent="0" algn="l">
              <a:lnSpc>
                <a:spcPct val="100000"/>
              </a:lnSpc>
              <a:buNone/>
            </a:pPr>
            <a:r>
              <a:rPr lang="en-US" sz="1550" dirty="0">
                <a:solidFill>
                  <a:srgbClr val="12263A"/>
                </a:solidFill>
                <a:latin typeface="Calibri" pitchFamily="34" charset="0"/>
                <a:ea typeface="Calibri" pitchFamily="34" charset="-122"/>
                <a:cs typeface="Calibri" pitchFamily="34" charset="-120"/>
              </a:rPr>
              <a:t>Measured MTTR and availability improvement</a:t>
            </a:r>
            <a:endParaRPr lang="en-US" sz="1550" dirty="0"/>
          </a:p>
          <a:p>
            <a:pPr marL="0" indent="0" algn="l">
              <a:lnSpc>
                <a:spcPct val="100000"/>
              </a:lnSpc>
              <a:buNone/>
            </a:pPr>
            <a:r>
              <a:rPr lang="en-US" sz="1550" dirty="0">
                <a:solidFill>
                  <a:srgbClr val="12263A"/>
                </a:solidFill>
                <a:latin typeface="Calibri" pitchFamily="34" charset="0"/>
                <a:ea typeface="Calibri" pitchFamily="34" charset="-122"/>
                <a:cs typeface="Calibri" pitchFamily="34" charset="-120"/>
              </a:rPr>
              <a:t>An ML model exceeding transparent baselines</a:t>
            </a:r>
            <a:endParaRPr lang="en-US" sz="1550" dirty="0"/>
          </a:p>
        </p:txBody>
      </p:sp>
      <p:sp>
        <p:nvSpPr>
          <p:cNvPr id="33" name="Shape 31"/>
          <p:cNvSpPr/>
          <p:nvPr/>
        </p:nvSpPr>
        <p:spPr>
          <a:xfrm>
            <a:off x="571500" y="5905500"/>
            <a:ext cx="11049000" cy="495300"/>
          </a:xfrm>
          <a:prstGeom prst="roundRect">
            <a:avLst>
              <a:gd name="adj" fmla="val 7385"/>
            </a:avLst>
          </a:prstGeom>
          <a:solidFill>
            <a:srgbClr val="0E2440"/>
          </a:solidFill>
          <a:ln w="12700">
            <a:solidFill>
              <a:srgbClr val="0E2440"/>
            </a:solidFill>
            <a:prstDash val="solid"/>
          </a:ln>
        </p:spPr>
        <p:txBody>
          <a:bodyPr/>
          <a:lstStyle/>
          <a:p>
            <a:endParaRPr lang="en-IN"/>
          </a:p>
        </p:txBody>
      </p:sp>
      <p:sp>
        <p:nvSpPr>
          <p:cNvPr id="34" name="Text 32"/>
          <p:cNvSpPr/>
          <p:nvPr/>
        </p:nvSpPr>
        <p:spPr>
          <a:xfrm>
            <a:off x="781050" y="6019800"/>
            <a:ext cx="10668000" cy="219075"/>
          </a:xfrm>
          <a:prstGeom prst="rect">
            <a:avLst/>
          </a:prstGeom>
          <a:noFill/>
          <a:ln/>
        </p:spPr>
        <p:txBody>
          <a:bodyPr wrap="square" lIns="0" tIns="0" rIns="0" bIns="0" rtlCol="0" anchor="t">
            <a:normAutofit fontScale="77500" lnSpcReduction="20000"/>
          </a:bodyPr>
          <a:lstStyle/>
          <a:p>
            <a:pPr marL="0" indent="0" algn="l">
              <a:lnSpc>
                <a:spcPct val="100000"/>
              </a:lnSpc>
              <a:buNone/>
            </a:pPr>
            <a:r>
              <a:rPr lang="en-US" sz="1450" b="1" dirty="0">
                <a:solidFill>
                  <a:srgbClr val="FFFFFF"/>
                </a:solidFill>
                <a:latin typeface="Cambria" pitchFamily="34" charset="0"/>
                <a:ea typeface="Cambria" pitchFamily="34" charset="-122"/>
                <a:cs typeface="Cambria" pitchFamily="34" charset="-120"/>
              </a:rPr>
              <a:t>Contribution: a standards-aware, controlled S-plane benchmark that tests whether a learned model adds decision value before it is granted authority over recovery.</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8FAFC"/>
          </a:solidFill>
          <a:ln/>
        </p:spPr>
        <p:txBody>
          <a:bodyPr/>
          <a:lstStyle/>
          <a:p>
            <a:endParaRPr lang="en-IN"/>
          </a:p>
        </p:txBody>
      </p:sp>
      <p:sp>
        <p:nvSpPr>
          <p:cNvPr id="3" name="Shape 1"/>
          <p:cNvSpPr/>
          <p:nvPr/>
        </p:nvSpPr>
        <p:spPr>
          <a:xfrm>
            <a:off x="0" y="0"/>
            <a:ext cx="12192000" cy="114300"/>
          </a:xfrm>
          <a:prstGeom prst="rect">
            <a:avLst/>
          </a:prstGeom>
          <a:solidFill>
            <a:srgbClr val="18B89A"/>
          </a:solidFill>
          <a:ln/>
        </p:spPr>
        <p:txBody>
          <a:bodyPr/>
          <a:lstStyle/>
          <a:p>
            <a:endParaRPr lang="en-IN"/>
          </a:p>
        </p:txBody>
      </p:sp>
      <p:sp>
        <p:nvSpPr>
          <p:cNvPr id="4" name="Text 2"/>
          <p:cNvSpPr/>
          <p:nvPr/>
        </p:nvSpPr>
        <p:spPr>
          <a:xfrm>
            <a:off x="571500" y="209550"/>
            <a:ext cx="11049000" cy="228600"/>
          </a:xfrm>
          <a:prstGeom prst="rect">
            <a:avLst/>
          </a:prstGeom>
          <a:noFill/>
          <a:ln/>
        </p:spPr>
        <p:txBody>
          <a:bodyPr wrap="square" lIns="0" tIns="0" rIns="0" bIns="0" rtlCol="0" anchor="t">
            <a:normAutofit/>
          </a:bodyPr>
          <a:lstStyle/>
          <a:p>
            <a:pPr marL="0" indent="0" algn="l">
              <a:lnSpc>
                <a:spcPct val="100000"/>
              </a:lnSpc>
              <a:buNone/>
            </a:pPr>
            <a:r>
              <a:rPr lang="en-US" sz="1280" b="1" dirty="0">
                <a:solidFill>
                  <a:srgbClr val="1C7293"/>
                </a:solidFill>
                <a:latin typeface="Calibri" pitchFamily="34" charset="0"/>
                <a:ea typeface="Calibri" pitchFamily="34" charset="-122"/>
                <a:cs typeface="Calibri" pitchFamily="34" charset="-120"/>
              </a:rPr>
              <a:t>STANDARDS FOLLOWED</a:t>
            </a:r>
            <a:endParaRPr lang="en-US" sz="1280" dirty="0"/>
          </a:p>
        </p:txBody>
      </p:sp>
      <p:sp>
        <p:nvSpPr>
          <p:cNvPr id="5" name="Text 3"/>
          <p:cNvSpPr/>
          <p:nvPr/>
        </p:nvSpPr>
        <p:spPr>
          <a:xfrm>
            <a:off x="571500" y="447675"/>
            <a:ext cx="11049000" cy="552450"/>
          </a:xfrm>
          <a:prstGeom prst="rect">
            <a:avLst/>
          </a:prstGeom>
          <a:noFill/>
          <a:ln/>
        </p:spPr>
        <p:txBody>
          <a:bodyPr wrap="square" lIns="0" tIns="0" rIns="0" bIns="0" rtlCol="0" anchor="t">
            <a:normAutofit/>
          </a:bodyPr>
          <a:lstStyle/>
          <a:p>
            <a:pPr marL="0" indent="0" algn="l">
              <a:lnSpc>
                <a:spcPct val="100000"/>
              </a:lnSpc>
              <a:buNone/>
            </a:pPr>
            <a:r>
              <a:rPr lang="en-US" sz="3500" b="1" dirty="0">
                <a:solidFill>
                  <a:srgbClr val="12263A"/>
                </a:solidFill>
                <a:latin typeface="Cambria" pitchFamily="34" charset="0"/>
                <a:ea typeface="Cambria" pitchFamily="34" charset="-122"/>
                <a:cs typeface="Cambria" pitchFamily="34" charset="-120"/>
              </a:rPr>
              <a:t>Telecom Standards and Profile Grounding</a:t>
            </a:r>
            <a:endParaRPr lang="en-US" sz="3500" dirty="0"/>
          </a:p>
        </p:txBody>
      </p:sp>
      <p:sp>
        <p:nvSpPr>
          <p:cNvPr id="6" name="Shape 4"/>
          <p:cNvSpPr/>
          <p:nvPr/>
        </p:nvSpPr>
        <p:spPr>
          <a:xfrm>
            <a:off x="571500" y="1057275"/>
            <a:ext cx="11049000" cy="438150"/>
          </a:xfrm>
          <a:prstGeom prst="roundRect">
            <a:avLst>
              <a:gd name="adj" fmla="val 8348"/>
            </a:avLst>
          </a:prstGeom>
          <a:solidFill>
            <a:srgbClr val="EAF2F8"/>
          </a:solidFill>
          <a:ln w="12700">
            <a:solidFill>
              <a:srgbClr val="D7E1EA"/>
            </a:solidFill>
            <a:prstDash val="solid"/>
          </a:ln>
        </p:spPr>
        <p:txBody>
          <a:bodyPr/>
          <a:lstStyle/>
          <a:p>
            <a:endParaRPr lang="en-IN"/>
          </a:p>
        </p:txBody>
      </p:sp>
      <p:sp>
        <p:nvSpPr>
          <p:cNvPr id="7" name="Text 5"/>
          <p:cNvSpPr/>
          <p:nvPr/>
        </p:nvSpPr>
        <p:spPr>
          <a:xfrm>
            <a:off x="723900" y="1123950"/>
            <a:ext cx="10744200" cy="323850"/>
          </a:xfrm>
          <a:prstGeom prst="rect">
            <a:avLst/>
          </a:prstGeom>
          <a:noFill/>
          <a:ln/>
        </p:spPr>
        <p:txBody>
          <a:bodyPr wrap="square" lIns="0" tIns="0" rIns="0" bIns="0" rtlCol="0" anchor="t">
            <a:normAutofit/>
          </a:bodyPr>
          <a:lstStyle/>
          <a:p>
            <a:pPr marL="0" indent="0" algn="l">
              <a:lnSpc>
                <a:spcPct val="102000"/>
              </a:lnSpc>
              <a:buNone/>
            </a:pPr>
            <a:r>
              <a:rPr lang="en-US" sz="1020" dirty="0">
                <a:solidFill>
                  <a:srgbClr val="5B6B7C"/>
                </a:solidFill>
                <a:latin typeface="Calibri" pitchFamily="34" charset="0"/>
                <a:ea typeface="Calibri" pitchFamily="34" charset="-122"/>
                <a:cs typeface="Calibri" pitchFamily="34" charset="-120"/>
              </a:rPr>
              <a:t>Normative basis: IEEE Std 1588-2019  |  O-RAN.WG4.CUS.0  |  O-RAN WG11 Security Threat Modeling (ETSI TR 104 106 V3.0.0)  |  ITU-T G.8275.1</a:t>
            </a:r>
            <a:endParaRPr lang="en-US" sz="1020" dirty="0"/>
          </a:p>
          <a:p>
            <a:pPr marL="0" indent="0" algn="l">
              <a:lnSpc>
                <a:spcPct val="102000"/>
              </a:lnSpc>
              <a:buNone/>
            </a:pPr>
            <a:r>
              <a:rPr lang="en-US" sz="1020" dirty="0">
                <a:solidFill>
                  <a:srgbClr val="5B6B7C"/>
                </a:solidFill>
                <a:latin typeface="Calibri" pitchFamily="34" charset="0"/>
                <a:ea typeface="Calibri" pitchFamily="34" charset="-122"/>
                <a:cs typeface="Calibri" pitchFamily="34" charset="-120"/>
              </a:rPr>
              <a:t>Timing performance context: ITU-T G.8273.2  |  Frequency synchronization context: ITU-T G.8262 (SyncE, not implemented here)</a:t>
            </a:r>
            <a:endParaRPr lang="en-US" sz="1020" dirty="0"/>
          </a:p>
        </p:txBody>
      </p:sp>
      <p:sp>
        <p:nvSpPr>
          <p:cNvPr id="8" name="Text 6"/>
          <p:cNvSpPr/>
          <p:nvPr/>
        </p:nvSpPr>
        <p:spPr>
          <a:xfrm>
            <a:off x="666750" y="1657350"/>
            <a:ext cx="2333625" cy="22860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1C7293"/>
                </a:solidFill>
                <a:latin typeface="Calibri" pitchFamily="34" charset="0"/>
                <a:ea typeface="Calibri" pitchFamily="34" charset="-122"/>
                <a:cs typeface="Calibri" pitchFamily="34" charset="-120"/>
              </a:rPr>
              <a:t>AUTHORITY</a:t>
            </a:r>
            <a:endParaRPr lang="en-US" sz="1200" dirty="0"/>
          </a:p>
        </p:txBody>
      </p:sp>
      <p:sp>
        <p:nvSpPr>
          <p:cNvPr id="9" name="Text 7"/>
          <p:cNvSpPr/>
          <p:nvPr/>
        </p:nvSpPr>
        <p:spPr>
          <a:xfrm>
            <a:off x="3190875" y="1657350"/>
            <a:ext cx="3857625" cy="22860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1C7293"/>
                </a:solidFill>
                <a:latin typeface="Calibri" pitchFamily="34" charset="0"/>
                <a:ea typeface="Calibri" pitchFamily="34" charset="-122"/>
                <a:cs typeface="Calibri" pitchFamily="34" charset="-120"/>
              </a:rPr>
              <a:t>WHAT IT DEFINES</a:t>
            </a:r>
            <a:endParaRPr lang="en-US" sz="1200" dirty="0"/>
          </a:p>
        </p:txBody>
      </p:sp>
      <p:sp>
        <p:nvSpPr>
          <p:cNvPr id="10" name="Text 8"/>
          <p:cNvSpPr/>
          <p:nvPr/>
        </p:nvSpPr>
        <p:spPr>
          <a:xfrm>
            <a:off x="7334250" y="1657350"/>
            <a:ext cx="4000500" cy="22860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1C7293"/>
                </a:solidFill>
                <a:latin typeface="Calibri" pitchFamily="34" charset="0"/>
                <a:ea typeface="Calibri" pitchFamily="34" charset="-122"/>
                <a:cs typeface="Calibri" pitchFamily="34" charset="-120"/>
              </a:rPr>
              <a:t>HOW THIS PROJECT USES IT</a:t>
            </a:r>
            <a:endParaRPr lang="en-US" sz="1200" dirty="0"/>
          </a:p>
        </p:txBody>
      </p:sp>
      <p:sp>
        <p:nvSpPr>
          <p:cNvPr id="11" name="Shape 9"/>
          <p:cNvSpPr/>
          <p:nvPr/>
        </p:nvSpPr>
        <p:spPr>
          <a:xfrm>
            <a:off x="571500" y="1914525"/>
            <a:ext cx="11049000" cy="11430"/>
          </a:xfrm>
          <a:prstGeom prst="rect">
            <a:avLst/>
          </a:prstGeom>
          <a:solidFill>
            <a:srgbClr val="D7E1EA"/>
          </a:solidFill>
          <a:ln/>
        </p:spPr>
        <p:txBody>
          <a:bodyPr/>
          <a:lstStyle/>
          <a:p>
            <a:endParaRPr lang="en-IN"/>
          </a:p>
        </p:txBody>
      </p:sp>
      <p:sp>
        <p:nvSpPr>
          <p:cNvPr id="12" name="Text 10"/>
          <p:cNvSpPr/>
          <p:nvPr/>
        </p:nvSpPr>
        <p:spPr>
          <a:xfrm>
            <a:off x="666750" y="2114550"/>
            <a:ext cx="2333625" cy="457200"/>
          </a:xfrm>
          <a:prstGeom prst="rect">
            <a:avLst/>
          </a:prstGeom>
          <a:noFill/>
          <a:ln/>
        </p:spPr>
        <p:txBody>
          <a:bodyPr wrap="square" lIns="0" tIns="0" rIns="0" bIns="0" rtlCol="0" anchor="t">
            <a:normAutofit/>
          </a:bodyPr>
          <a:lstStyle/>
          <a:p>
            <a:pPr marL="0" indent="0" algn="l">
              <a:lnSpc>
                <a:spcPct val="100000"/>
              </a:lnSpc>
              <a:buNone/>
            </a:pPr>
            <a:r>
              <a:rPr lang="en-US" sz="1700" b="1" dirty="0">
                <a:solidFill>
                  <a:srgbClr val="12263A"/>
                </a:solidFill>
                <a:latin typeface="Cambria" pitchFamily="34" charset="0"/>
                <a:ea typeface="Cambria" pitchFamily="34" charset="-122"/>
                <a:cs typeface="Cambria" pitchFamily="34" charset="-120"/>
              </a:rPr>
              <a:t>IEEE 1588-2019</a:t>
            </a:r>
            <a:endParaRPr lang="en-US" sz="1700" dirty="0"/>
          </a:p>
        </p:txBody>
      </p:sp>
      <p:sp>
        <p:nvSpPr>
          <p:cNvPr id="13" name="Text 11"/>
          <p:cNvSpPr/>
          <p:nvPr/>
        </p:nvSpPr>
        <p:spPr>
          <a:xfrm>
            <a:off x="3190875" y="2105025"/>
            <a:ext cx="3810000" cy="533400"/>
          </a:xfrm>
          <a:prstGeom prst="rect">
            <a:avLst/>
          </a:prstGeom>
          <a:noFill/>
          <a:ln/>
        </p:spPr>
        <p:txBody>
          <a:bodyPr wrap="square" lIns="0" tIns="0" rIns="0" bIns="0" rtlCol="0" anchor="t">
            <a:normAutofit/>
          </a:bodyPr>
          <a:lstStyle/>
          <a:p>
            <a:pPr marL="0" indent="0" algn="l">
              <a:lnSpc>
                <a:spcPct val="100000"/>
              </a:lnSpc>
              <a:buNone/>
            </a:pPr>
            <a:r>
              <a:rPr lang="en-US" sz="1460" dirty="0">
                <a:solidFill>
                  <a:srgbClr val="5B6B7C"/>
                </a:solidFill>
                <a:latin typeface="Calibri" pitchFamily="34" charset="0"/>
                <a:ea typeface="Calibri" pitchFamily="34" charset="-122"/>
                <a:cs typeface="Calibri" pitchFamily="34" charset="-120"/>
              </a:rPr>
              <a:t>Legal PTP message fields, data sets, clock behaviour and leap-second handling.</a:t>
            </a:r>
            <a:endParaRPr lang="en-US" sz="1460" dirty="0"/>
          </a:p>
        </p:txBody>
      </p:sp>
      <p:sp>
        <p:nvSpPr>
          <p:cNvPr id="14" name="Text 12"/>
          <p:cNvSpPr/>
          <p:nvPr/>
        </p:nvSpPr>
        <p:spPr>
          <a:xfrm>
            <a:off x="7334250" y="2105025"/>
            <a:ext cx="4000500" cy="533400"/>
          </a:xfrm>
          <a:prstGeom prst="rect">
            <a:avLst/>
          </a:prstGeom>
          <a:noFill/>
          <a:ln/>
        </p:spPr>
        <p:txBody>
          <a:bodyPr wrap="square" lIns="0" tIns="0" rIns="0" bIns="0" rtlCol="0" anchor="t">
            <a:normAutofit/>
          </a:bodyPr>
          <a:lstStyle/>
          <a:p>
            <a:pPr marL="0" indent="0" algn="l">
              <a:lnSpc>
                <a:spcPct val="100000"/>
              </a:lnSpc>
              <a:buNone/>
            </a:pPr>
            <a:r>
              <a:rPr lang="en-US" sz="1460" dirty="0">
                <a:solidFill>
                  <a:srgbClr val="12263A"/>
                </a:solidFill>
                <a:latin typeface="Calibri" pitchFamily="34" charset="0"/>
                <a:ea typeface="Calibri" pitchFamily="34" charset="-122"/>
                <a:cs typeface="Calibri" pitchFamily="34" charset="-120"/>
              </a:rPr>
              <a:t>ARM A checks field legality, sequence continuity and timePropertiesDS consistency.</a:t>
            </a:r>
            <a:endParaRPr lang="en-US" sz="1460" dirty="0"/>
          </a:p>
        </p:txBody>
      </p:sp>
      <p:sp>
        <p:nvSpPr>
          <p:cNvPr id="15" name="Shape 13"/>
          <p:cNvSpPr/>
          <p:nvPr/>
        </p:nvSpPr>
        <p:spPr>
          <a:xfrm>
            <a:off x="571500" y="2695575"/>
            <a:ext cx="11049000" cy="11430"/>
          </a:xfrm>
          <a:prstGeom prst="rect">
            <a:avLst/>
          </a:prstGeom>
          <a:solidFill>
            <a:srgbClr val="D7E1EA"/>
          </a:solidFill>
          <a:ln/>
        </p:spPr>
        <p:txBody>
          <a:bodyPr/>
          <a:lstStyle/>
          <a:p>
            <a:endParaRPr lang="en-IN"/>
          </a:p>
        </p:txBody>
      </p:sp>
      <p:sp>
        <p:nvSpPr>
          <p:cNvPr id="16" name="Text 14"/>
          <p:cNvSpPr/>
          <p:nvPr/>
        </p:nvSpPr>
        <p:spPr>
          <a:xfrm>
            <a:off x="666750" y="2838450"/>
            <a:ext cx="2333625" cy="457200"/>
          </a:xfrm>
          <a:prstGeom prst="rect">
            <a:avLst/>
          </a:prstGeom>
          <a:noFill/>
          <a:ln/>
        </p:spPr>
        <p:txBody>
          <a:bodyPr wrap="square" lIns="0" tIns="0" rIns="0" bIns="0" rtlCol="0" anchor="t">
            <a:normAutofit/>
          </a:bodyPr>
          <a:lstStyle/>
          <a:p>
            <a:pPr marL="0" indent="0" algn="l">
              <a:lnSpc>
                <a:spcPct val="100000"/>
              </a:lnSpc>
              <a:buNone/>
            </a:pPr>
            <a:r>
              <a:rPr lang="en-US" sz="1700" b="1" dirty="0">
                <a:solidFill>
                  <a:srgbClr val="12263A"/>
                </a:solidFill>
                <a:latin typeface="Cambria" pitchFamily="34" charset="0"/>
                <a:ea typeface="Cambria" pitchFamily="34" charset="-122"/>
                <a:cs typeface="Cambria" pitchFamily="34" charset="-120"/>
              </a:rPr>
              <a:t>O-RAN.WG4.CUS.0</a:t>
            </a:r>
            <a:endParaRPr lang="en-US" sz="1700" dirty="0"/>
          </a:p>
        </p:txBody>
      </p:sp>
      <p:sp>
        <p:nvSpPr>
          <p:cNvPr id="17" name="Text 15"/>
          <p:cNvSpPr/>
          <p:nvPr/>
        </p:nvSpPr>
        <p:spPr>
          <a:xfrm>
            <a:off x="3190875" y="2828925"/>
            <a:ext cx="3810000" cy="533400"/>
          </a:xfrm>
          <a:prstGeom prst="rect">
            <a:avLst/>
          </a:prstGeom>
          <a:noFill/>
          <a:ln/>
        </p:spPr>
        <p:txBody>
          <a:bodyPr wrap="square" lIns="0" tIns="0" rIns="0" bIns="0" rtlCol="0" anchor="t">
            <a:normAutofit/>
          </a:bodyPr>
          <a:lstStyle/>
          <a:p>
            <a:pPr marL="0" indent="0" algn="l">
              <a:lnSpc>
                <a:spcPct val="100000"/>
              </a:lnSpc>
              <a:buNone/>
            </a:pPr>
            <a:r>
              <a:rPr lang="en-US" sz="1460" dirty="0">
                <a:solidFill>
                  <a:srgbClr val="5B6B7C"/>
                </a:solidFill>
                <a:latin typeface="Calibri" pitchFamily="34" charset="0"/>
                <a:ea typeface="Calibri" pitchFamily="34" charset="-122"/>
                <a:cs typeface="Calibri" pitchFamily="34" charset="-120"/>
              </a:rPr>
              <a:t>Open Fronthaul C/U/S-plane architecture and synchronization configurations.</a:t>
            </a:r>
            <a:endParaRPr lang="en-US" sz="1460" dirty="0"/>
          </a:p>
        </p:txBody>
      </p:sp>
      <p:sp>
        <p:nvSpPr>
          <p:cNvPr id="18" name="Text 16"/>
          <p:cNvSpPr/>
          <p:nvPr/>
        </p:nvSpPr>
        <p:spPr>
          <a:xfrm>
            <a:off x="7334250" y="2828925"/>
            <a:ext cx="4000500" cy="533400"/>
          </a:xfrm>
          <a:prstGeom prst="rect">
            <a:avLst/>
          </a:prstGeom>
          <a:noFill/>
          <a:ln/>
        </p:spPr>
        <p:txBody>
          <a:bodyPr wrap="square" lIns="0" tIns="0" rIns="0" bIns="0" rtlCol="0" anchor="t">
            <a:normAutofit/>
          </a:bodyPr>
          <a:lstStyle/>
          <a:p>
            <a:pPr marL="0" indent="0" algn="l">
              <a:lnSpc>
                <a:spcPct val="100000"/>
              </a:lnSpc>
              <a:buNone/>
            </a:pPr>
            <a:r>
              <a:rPr lang="en-US" sz="1460" dirty="0">
                <a:solidFill>
                  <a:srgbClr val="12263A"/>
                </a:solidFill>
                <a:latin typeface="Calibri" pitchFamily="34" charset="0"/>
                <a:ea typeface="Calibri" pitchFamily="34" charset="-122"/>
                <a:cs typeface="Calibri" pitchFamily="34" charset="-120"/>
              </a:rPr>
              <a:t>Defines the O-DU–O-RU S-plane boundary used by the experiment.</a:t>
            </a:r>
            <a:endParaRPr lang="en-US" sz="1460" dirty="0"/>
          </a:p>
        </p:txBody>
      </p:sp>
      <p:sp>
        <p:nvSpPr>
          <p:cNvPr id="19" name="Shape 17"/>
          <p:cNvSpPr/>
          <p:nvPr/>
        </p:nvSpPr>
        <p:spPr>
          <a:xfrm>
            <a:off x="571500" y="3419475"/>
            <a:ext cx="11049000" cy="11430"/>
          </a:xfrm>
          <a:prstGeom prst="rect">
            <a:avLst/>
          </a:prstGeom>
          <a:solidFill>
            <a:srgbClr val="D7E1EA"/>
          </a:solidFill>
          <a:ln/>
        </p:spPr>
        <p:txBody>
          <a:bodyPr/>
          <a:lstStyle/>
          <a:p>
            <a:endParaRPr lang="en-IN"/>
          </a:p>
        </p:txBody>
      </p:sp>
      <p:sp>
        <p:nvSpPr>
          <p:cNvPr id="20" name="Text 18"/>
          <p:cNvSpPr/>
          <p:nvPr/>
        </p:nvSpPr>
        <p:spPr>
          <a:xfrm>
            <a:off x="666750" y="3562350"/>
            <a:ext cx="2333625" cy="457200"/>
          </a:xfrm>
          <a:prstGeom prst="rect">
            <a:avLst/>
          </a:prstGeom>
          <a:noFill/>
          <a:ln/>
        </p:spPr>
        <p:txBody>
          <a:bodyPr wrap="square" lIns="0" tIns="0" rIns="0" bIns="0" rtlCol="0" anchor="t">
            <a:normAutofit/>
          </a:bodyPr>
          <a:lstStyle/>
          <a:p>
            <a:pPr marL="0" indent="0" algn="l">
              <a:lnSpc>
                <a:spcPct val="100000"/>
              </a:lnSpc>
              <a:buNone/>
            </a:pPr>
            <a:r>
              <a:rPr lang="en-US" sz="1700" b="1" dirty="0">
                <a:solidFill>
                  <a:srgbClr val="12263A"/>
                </a:solidFill>
                <a:latin typeface="Cambria" pitchFamily="34" charset="0"/>
                <a:ea typeface="Cambria" pitchFamily="34" charset="-122"/>
                <a:cs typeface="Cambria" pitchFamily="34" charset="-120"/>
              </a:rPr>
              <a:t>O-RAN WG11</a:t>
            </a:r>
            <a:endParaRPr lang="en-US" sz="1700" dirty="0"/>
          </a:p>
        </p:txBody>
      </p:sp>
      <p:sp>
        <p:nvSpPr>
          <p:cNvPr id="21" name="Text 19"/>
          <p:cNvSpPr/>
          <p:nvPr/>
        </p:nvSpPr>
        <p:spPr>
          <a:xfrm>
            <a:off x="3190875" y="3552825"/>
            <a:ext cx="3810000" cy="533400"/>
          </a:xfrm>
          <a:prstGeom prst="rect">
            <a:avLst/>
          </a:prstGeom>
          <a:noFill/>
          <a:ln/>
        </p:spPr>
        <p:txBody>
          <a:bodyPr wrap="square" lIns="0" tIns="0" rIns="0" bIns="0" rtlCol="0" anchor="t">
            <a:normAutofit/>
          </a:bodyPr>
          <a:lstStyle/>
          <a:p>
            <a:pPr marL="0" indent="0" algn="l">
              <a:lnSpc>
                <a:spcPct val="100000"/>
              </a:lnSpc>
              <a:buNone/>
            </a:pPr>
            <a:r>
              <a:rPr lang="en-US" sz="1460" dirty="0">
                <a:solidFill>
                  <a:srgbClr val="5B6B7C"/>
                </a:solidFill>
                <a:latin typeface="Calibri" pitchFamily="34" charset="0"/>
                <a:ea typeface="Calibri" pitchFamily="34" charset="-122"/>
                <a:cs typeface="Calibri" pitchFamily="34" charset="-120"/>
              </a:rPr>
              <a:t>Open Fronthaul threat model, including malicious timing-source behaviour.</a:t>
            </a:r>
            <a:endParaRPr lang="en-US" sz="1460" dirty="0"/>
          </a:p>
        </p:txBody>
      </p:sp>
      <p:sp>
        <p:nvSpPr>
          <p:cNvPr id="22" name="Text 20"/>
          <p:cNvSpPr/>
          <p:nvPr/>
        </p:nvSpPr>
        <p:spPr>
          <a:xfrm>
            <a:off x="7334250" y="3552825"/>
            <a:ext cx="4000500" cy="533400"/>
          </a:xfrm>
          <a:prstGeom prst="rect">
            <a:avLst/>
          </a:prstGeom>
          <a:noFill/>
          <a:ln/>
        </p:spPr>
        <p:txBody>
          <a:bodyPr wrap="square" lIns="0" tIns="0" rIns="0" bIns="0" rtlCol="0" anchor="t">
            <a:normAutofit/>
          </a:bodyPr>
          <a:lstStyle/>
          <a:p>
            <a:pPr marL="0" indent="0" algn="l">
              <a:lnSpc>
                <a:spcPct val="100000"/>
              </a:lnSpc>
              <a:buNone/>
            </a:pPr>
            <a:r>
              <a:rPr lang="en-US" sz="1460" dirty="0">
                <a:solidFill>
                  <a:srgbClr val="12263A"/>
                </a:solidFill>
                <a:latin typeface="Calibri" pitchFamily="34" charset="0"/>
                <a:ea typeface="Calibri" pitchFamily="34" charset="-122"/>
                <a:cs typeface="Calibri" pitchFamily="34" charset="-120"/>
              </a:rPr>
              <a:t>Supplies the threat identifiers that label the attack scenarios.</a:t>
            </a:r>
            <a:endParaRPr lang="en-US" sz="1460" dirty="0"/>
          </a:p>
        </p:txBody>
      </p:sp>
      <p:sp>
        <p:nvSpPr>
          <p:cNvPr id="23" name="Shape 21"/>
          <p:cNvSpPr/>
          <p:nvPr/>
        </p:nvSpPr>
        <p:spPr>
          <a:xfrm>
            <a:off x="571500" y="4143375"/>
            <a:ext cx="11049000" cy="11430"/>
          </a:xfrm>
          <a:prstGeom prst="rect">
            <a:avLst/>
          </a:prstGeom>
          <a:solidFill>
            <a:srgbClr val="D7E1EA"/>
          </a:solidFill>
          <a:ln/>
        </p:spPr>
        <p:txBody>
          <a:bodyPr/>
          <a:lstStyle/>
          <a:p>
            <a:endParaRPr lang="en-IN"/>
          </a:p>
        </p:txBody>
      </p:sp>
      <p:sp>
        <p:nvSpPr>
          <p:cNvPr id="24" name="Text 22"/>
          <p:cNvSpPr/>
          <p:nvPr/>
        </p:nvSpPr>
        <p:spPr>
          <a:xfrm>
            <a:off x="666750" y="4286250"/>
            <a:ext cx="2333625" cy="457200"/>
          </a:xfrm>
          <a:prstGeom prst="rect">
            <a:avLst/>
          </a:prstGeom>
          <a:noFill/>
          <a:ln/>
        </p:spPr>
        <p:txBody>
          <a:bodyPr wrap="square" lIns="0" tIns="0" rIns="0" bIns="0" rtlCol="0" anchor="t">
            <a:normAutofit/>
          </a:bodyPr>
          <a:lstStyle/>
          <a:p>
            <a:pPr marL="0" indent="0" algn="l">
              <a:lnSpc>
                <a:spcPct val="100000"/>
              </a:lnSpc>
              <a:buNone/>
            </a:pPr>
            <a:r>
              <a:rPr lang="en-US" sz="1700" b="1" dirty="0">
                <a:solidFill>
                  <a:srgbClr val="12263A"/>
                </a:solidFill>
                <a:latin typeface="Cambria" pitchFamily="34" charset="0"/>
                <a:ea typeface="Cambria" pitchFamily="34" charset="-122"/>
                <a:cs typeface="Cambria" pitchFamily="34" charset="-120"/>
              </a:rPr>
              <a:t>ITU-T G.8275.1</a:t>
            </a:r>
            <a:endParaRPr lang="en-US" sz="1700" dirty="0"/>
          </a:p>
        </p:txBody>
      </p:sp>
      <p:sp>
        <p:nvSpPr>
          <p:cNvPr id="25" name="Text 23"/>
          <p:cNvSpPr/>
          <p:nvPr/>
        </p:nvSpPr>
        <p:spPr>
          <a:xfrm>
            <a:off x="3190875" y="4276725"/>
            <a:ext cx="3810000" cy="533400"/>
          </a:xfrm>
          <a:prstGeom prst="rect">
            <a:avLst/>
          </a:prstGeom>
          <a:noFill/>
          <a:ln/>
        </p:spPr>
        <p:txBody>
          <a:bodyPr wrap="square" lIns="0" tIns="0" rIns="0" bIns="0" rtlCol="0" anchor="t">
            <a:normAutofit/>
          </a:bodyPr>
          <a:lstStyle/>
          <a:p>
            <a:pPr marL="0" indent="0" algn="l">
              <a:lnSpc>
                <a:spcPct val="100000"/>
              </a:lnSpc>
              <a:buNone/>
            </a:pPr>
            <a:r>
              <a:rPr lang="en-US" sz="1460" dirty="0">
                <a:solidFill>
                  <a:srgbClr val="5B6B7C"/>
                </a:solidFill>
                <a:latin typeface="Calibri" pitchFamily="34" charset="0"/>
                <a:ea typeface="Calibri" pitchFamily="34" charset="-122"/>
                <a:cs typeface="Calibri" pitchFamily="34" charset="-120"/>
              </a:rPr>
              <a:t>Telecom PTP profile for phase and time distribution with full timing support.</a:t>
            </a:r>
            <a:endParaRPr lang="en-US" sz="1460" dirty="0"/>
          </a:p>
        </p:txBody>
      </p:sp>
      <p:sp>
        <p:nvSpPr>
          <p:cNvPr id="26" name="Text 24"/>
          <p:cNvSpPr/>
          <p:nvPr/>
        </p:nvSpPr>
        <p:spPr>
          <a:xfrm>
            <a:off x="7334250" y="4276725"/>
            <a:ext cx="4000500" cy="533400"/>
          </a:xfrm>
          <a:prstGeom prst="rect">
            <a:avLst/>
          </a:prstGeom>
          <a:noFill/>
          <a:ln/>
        </p:spPr>
        <p:txBody>
          <a:bodyPr wrap="square" lIns="0" tIns="0" rIns="0" bIns="0" rtlCol="0" anchor="t">
            <a:normAutofit/>
          </a:bodyPr>
          <a:lstStyle/>
          <a:p>
            <a:pPr marL="0" indent="0" algn="l">
              <a:lnSpc>
                <a:spcPct val="100000"/>
              </a:lnSpc>
              <a:buNone/>
            </a:pPr>
            <a:r>
              <a:rPr lang="en-US" sz="1460" dirty="0">
                <a:solidFill>
                  <a:srgbClr val="12263A"/>
                </a:solidFill>
                <a:latin typeface="Calibri" pitchFamily="34" charset="0"/>
                <a:ea typeface="Calibri" pitchFamily="34" charset="-122"/>
                <a:cs typeface="Calibri" pitchFamily="34" charset="-120"/>
              </a:rPr>
              <a:t>Fixes domain, message rates, transport and the alternate BMCA used by the testbed.</a:t>
            </a:r>
            <a:endParaRPr lang="en-US" sz="1460" dirty="0"/>
          </a:p>
        </p:txBody>
      </p:sp>
      <p:sp>
        <p:nvSpPr>
          <p:cNvPr id="27" name="Shape 25"/>
          <p:cNvSpPr/>
          <p:nvPr/>
        </p:nvSpPr>
        <p:spPr>
          <a:xfrm>
            <a:off x="571500" y="4867275"/>
            <a:ext cx="11049000" cy="11430"/>
          </a:xfrm>
          <a:prstGeom prst="rect">
            <a:avLst/>
          </a:prstGeom>
          <a:solidFill>
            <a:srgbClr val="D7E1EA"/>
          </a:solidFill>
          <a:ln/>
        </p:spPr>
        <p:txBody>
          <a:bodyPr/>
          <a:lstStyle/>
          <a:p>
            <a:endParaRPr lang="en-IN"/>
          </a:p>
        </p:txBody>
      </p:sp>
      <p:sp>
        <p:nvSpPr>
          <p:cNvPr id="28" name="Text 26"/>
          <p:cNvSpPr/>
          <p:nvPr/>
        </p:nvSpPr>
        <p:spPr>
          <a:xfrm>
            <a:off x="666750" y="5010150"/>
            <a:ext cx="2333625" cy="457200"/>
          </a:xfrm>
          <a:prstGeom prst="rect">
            <a:avLst/>
          </a:prstGeom>
          <a:noFill/>
          <a:ln/>
        </p:spPr>
        <p:txBody>
          <a:bodyPr wrap="square" lIns="0" tIns="0" rIns="0" bIns="0" rtlCol="0" anchor="t">
            <a:normAutofit/>
          </a:bodyPr>
          <a:lstStyle/>
          <a:p>
            <a:pPr marL="0" indent="0" algn="l">
              <a:lnSpc>
                <a:spcPct val="100000"/>
              </a:lnSpc>
              <a:buNone/>
            </a:pPr>
            <a:r>
              <a:rPr lang="en-US" sz="1700" b="1" dirty="0">
                <a:solidFill>
                  <a:srgbClr val="12263A"/>
                </a:solidFill>
                <a:latin typeface="Cambria" pitchFamily="34" charset="0"/>
                <a:ea typeface="Cambria" pitchFamily="34" charset="-122"/>
                <a:cs typeface="Cambria" pitchFamily="34" charset="-120"/>
              </a:rPr>
              <a:t>ITU-T G.8273.2</a:t>
            </a:r>
            <a:endParaRPr lang="en-US" sz="1700" dirty="0"/>
          </a:p>
        </p:txBody>
      </p:sp>
      <p:sp>
        <p:nvSpPr>
          <p:cNvPr id="29" name="Text 27"/>
          <p:cNvSpPr/>
          <p:nvPr/>
        </p:nvSpPr>
        <p:spPr>
          <a:xfrm>
            <a:off x="3190875" y="5000625"/>
            <a:ext cx="3810000" cy="533400"/>
          </a:xfrm>
          <a:prstGeom prst="rect">
            <a:avLst/>
          </a:prstGeom>
          <a:noFill/>
          <a:ln/>
        </p:spPr>
        <p:txBody>
          <a:bodyPr wrap="square" lIns="0" tIns="0" rIns="0" bIns="0" rtlCol="0" anchor="t">
            <a:normAutofit/>
          </a:bodyPr>
          <a:lstStyle/>
          <a:p>
            <a:pPr marL="0" indent="0" algn="l">
              <a:lnSpc>
                <a:spcPct val="100000"/>
              </a:lnSpc>
              <a:buNone/>
            </a:pPr>
            <a:r>
              <a:rPr lang="en-US" sz="1460" dirty="0">
                <a:solidFill>
                  <a:srgbClr val="5B6B7C"/>
                </a:solidFill>
                <a:latin typeface="Calibri" pitchFamily="34" charset="0"/>
                <a:ea typeface="Calibri" pitchFamily="34" charset="-122"/>
                <a:cs typeface="Calibri" pitchFamily="34" charset="-120"/>
              </a:rPr>
              <a:t>Timing characteristics and limits for telecom boundary clocks.</a:t>
            </a:r>
            <a:endParaRPr lang="en-US" sz="1460" dirty="0"/>
          </a:p>
        </p:txBody>
      </p:sp>
      <p:sp>
        <p:nvSpPr>
          <p:cNvPr id="30" name="Text 28"/>
          <p:cNvSpPr/>
          <p:nvPr/>
        </p:nvSpPr>
        <p:spPr>
          <a:xfrm>
            <a:off x="7334250" y="5000625"/>
            <a:ext cx="4000500" cy="533400"/>
          </a:xfrm>
          <a:prstGeom prst="rect">
            <a:avLst/>
          </a:prstGeom>
          <a:noFill/>
          <a:ln/>
        </p:spPr>
        <p:txBody>
          <a:bodyPr wrap="square" lIns="0" tIns="0" rIns="0" bIns="0" rtlCol="0" anchor="t">
            <a:normAutofit/>
          </a:bodyPr>
          <a:lstStyle/>
          <a:p>
            <a:pPr marL="0" indent="0" algn="l">
              <a:lnSpc>
                <a:spcPct val="100000"/>
              </a:lnSpc>
              <a:buNone/>
            </a:pPr>
            <a:r>
              <a:rPr lang="en-US" sz="1460" dirty="0">
                <a:solidFill>
                  <a:srgbClr val="12263A"/>
                </a:solidFill>
                <a:latin typeface="Calibri" pitchFamily="34" charset="0"/>
                <a:ea typeface="Calibri" pitchFamily="34" charset="-122"/>
                <a:cs typeface="Calibri" pitchFamily="34" charset="-120"/>
              </a:rPr>
              <a:t>Provides performance context for interpreting timing-quality evidence.</a:t>
            </a:r>
            <a:endParaRPr lang="en-US" sz="1460" dirty="0"/>
          </a:p>
        </p:txBody>
      </p:sp>
      <p:sp>
        <p:nvSpPr>
          <p:cNvPr id="31" name="Shape 29"/>
          <p:cNvSpPr/>
          <p:nvPr/>
        </p:nvSpPr>
        <p:spPr>
          <a:xfrm>
            <a:off x="571500" y="5591175"/>
            <a:ext cx="11049000" cy="11430"/>
          </a:xfrm>
          <a:prstGeom prst="rect">
            <a:avLst/>
          </a:prstGeom>
          <a:solidFill>
            <a:srgbClr val="D7E1EA"/>
          </a:solidFill>
          <a:ln/>
        </p:spPr>
        <p:txBody>
          <a:bodyPr/>
          <a:lstStyle/>
          <a:p>
            <a:endParaRPr lang="en-IN"/>
          </a:p>
        </p:txBody>
      </p:sp>
      <p:sp>
        <p:nvSpPr>
          <p:cNvPr id="32" name="Shape 30"/>
          <p:cNvSpPr/>
          <p:nvPr/>
        </p:nvSpPr>
        <p:spPr>
          <a:xfrm>
            <a:off x="571500" y="5753100"/>
            <a:ext cx="11049000" cy="685800"/>
          </a:xfrm>
          <a:prstGeom prst="roundRect">
            <a:avLst>
              <a:gd name="adj" fmla="val 5333"/>
            </a:avLst>
          </a:prstGeom>
          <a:solidFill>
            <a:srgbClr val="FFF8E8"/>
          </a:solidFill>
          <a:ln w="12700">
            <a:solidFill>
              <a:srgbClr val="C58B18"/>
            </a:solidFill>
            <a:prstDash val="solid"/>
          </a:ln>
        </p:spPr>
        <p:txBody>
          <a:bodyPr/>
          <a:lstStyle/>
          <a:p>
            <a:endParaRPr lang="en-IN"/>
          </a:p>
        </p:txBody>
      </p:sp>
      <p:sp>
        <p:nvSpPr>
          <p:cNvPr id="33" name="Text 31"/>
          <p:cNvSpPr/>
          <p:nvPr/>
        </p:nvSpPr>
        <p:spPr>
          <a:xfrm>
            <a:off x="781050" y="5895975"/>
            <a:ext cx="1809750" cy="238125"/>
          </a:xfrm>
          <a:prstGeom prst="rect">
            <a:avLst/>
          </a:prstGeom>
          <a:noFill/>
          <a:ln/>
        </p:spPr>
        <p:txBody>
          <a:bodyPr wrap="square" lIns="0" tIns="0" rIns="0" bIns="0" rtlCol="0" anchor="t">
            <a:normAutofit/>
          </a:bodyPr>
          <a:lstStyle/>
          <a:p>
            <a:pPr marL="0" indent="0" algn="l">
              <a:lnSpc>
                <a:spcPct val="100000"/>
              </a:lnSpc>
              <a:buNone/>
            </a:pPr>
            <a:r>
              <a:rPr lang="en-US" sz="1600" b="1" dirty="0">
                <a:solidFill>
                  <a:srgbClr val="C58B18"/>
                </a:solidFill>
                <a:latin typeface="Cambria" pitchFamily="34" charset="0"/>
                <a:ea typeface="Cambria" pitchFamily="34" charset="-122"/>
                <a:cs typeface="Cambria" pitchFamily="34" charset="-120"/>
              </a:rPr>
              <a:t>Scope disclosure</a:t>
            </a:r>
            <a:endParaRPr lang="en-US" sz="1600" dirty="0"/>
          </a:p>
        </p:txBody>
      </p:sp>
      <p:sp>
        <p:nvSpPr>
          <p:cNvPr id="34" name="Text 32"/>
          <p:cNvSpPr/>
          <p:nvPr/>
        </p:nvSpPr>
        <p:spPr>
          <a:xfrm>
            <a:off x="2781300" y="5876925"/>
            <a:ext cx="8629650" cy="457200"/>
          </a:xfrm>
          <a:prstGeom prst="rect">
            <a:avLst/>
          </a:prstGeom>
          <a:noFill/>
          <a:ln/>
        </p:spPr>
        <p:txBody>
          <a:bodyPr wrap="square" lIns="0" tIns="0" rIns="0" bIns="0" rtlCol="0" anchor="t">
            <a:normAutofit/>
          </a:bodyPr>
          <a:lstStyle/>
          <a:p>
            <a:pPr marL="0" indent="0" algn="l">
              <a:lnSpc>
                <a:spcPct val="100000"/>
              </a:lnSpc>
              <a:buNone/>
            </a:pPr>
            <a:r>
              <a:rPr lang="en-US" sz="1220" b="1" dirty="0">
                <a:solidFill>
                  <a:srgbClr val="12263A"/>
                </a:solidFill>
                <a:latin typeface="Calibri" pitchFamily="34" charset="0"/>
                <a:ea typeface="Calibri" pitchFamily="34" charset="-122"/>
                <a:cs typeface="Calibri" pitchFamily="34" charset="-120"/>
              </a:rPr>
              <a:t>The testbed exercised PTP only; SyncE is a physical-layer function and was not implemented. ITU-T recommendations are paywalled, so several values were confirmed against authoritative secondary sources, as recorded in the project workbooks.</a:t>
            </a:r>
            <a:endParaRPr lang="en-US" sz="12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8FAFC"/>
          </a:solidFill>
          <a:ln/>
        </p:spPr>
        <p:txBody>
          <a:bodyPr/>
          <a:lstStyle/>
          <a:p>
            <a:endParaRPr lang="en-IN"/>
          </a:p>
        </p:txBody>
      </p:sp>
      <p:sp>
        <p:nvSpPr>
          <p:cNvPr id="3" name="Shape 1"/>
          <p:cNvSpPr/>
          <p:nvPr/>
        </p:nvSpPr>
        <p:spPr>
          <a:xfrm>
            <a:off x="0" y="0"/>
            <a:ext cx="12192000" cy="114300"/>
          </a:xfrm>
          <a:prstGeom prst="rect">
            <a:avLst/>
          </a:prstGeom>
          <a:solidFill>
            <a:srgbClr val="18B89A"/>
          </a:solidFill>
          <a:ln/>
        </p:spPr>
        <p:txBody>
          <a:bodyPr/>
          <a:lstStyle/>
          <a:p>
            <a:endParaRPr lang="en-IN"/>
          </a:p>
        </p:txBody>
      </p:sp>
      <p:sp>
        <p:nvSpPr>
          <p:cNvPr id="4" name="Text 2"/>
          <p:cNvSpPr/>
          <p:nvPr/>
        </p:nvSpPr>
        <p:spPr>
          <a:xfrm>
            <a:off x="571500" y="209550"/>
            <a:ext cx="11049000" cy="228600"/>
          </a:xfrm>
          <a:prstGeom prst="rect">
            <a:avLst/>
          </a:prstGeom>
          <a:noFill/>
          <a:ln/>
        </p:spPr>
        <p:txBody>
          <a:bodyPr wrap="square" lIns="0" tIns="0" rIns="0" bIns="0" rtlCol="0" anchor="t">
            <a:normAutofit/>
          </a:bodyPr>
          <a:lstStyle/>
          <a:p>
            <a:pPr marL="0" indent="0" algn="l">
              <a:lnSpc>
                <a:spcPct val="100000"/>
              </a:lnSpc>
              <a:buNone/>
            </a:pPr>
            <a:r>
              <a:rPr lang="en-US" sz="1280" b="1" dirty="0">
                <a:solidFill>
                  <a:srgbClr val="1C7293"/>
                </a:solidFill>
                <a:latin typeface="Calibri" pitchFamily="34" charset="0"/>
                <a:ea typeface="Calibri" pitchFamily="34" charset="-122"/>
                <a:cs typeface="Calibri" pitchFamily="34" charset="-120"/>
              </a:rPr>
              <a:t>EXPERIMENTAL CONFIGURATION</a:t>
            </a:r>
            <a:endParaRPr lang="en-US" sz="1280" dirty="0"/>
          </a:p>
        </p:txBody>
      </p:sp>
      <p:sp>
        <p:nvSpPr>
          <p:cNvPr id="5" name="Text 3"/>
          <p:cNvSpPr/>
          <p:nvPr/>
        </p:nvSpPr>
        <p:spPr>
          <a:xfrm>
            <a:off x="571500" y="447675"/>
            <a:ext cx="11049000" cy="552450"/>
          </a:xfrm>
          <a:prstGeom prst="rect">
            <a:avLst/>
          </a:prstGeom>
          <a:noFill/>
          <a:ln/>
        </p:spPr>
        <p:txBody>
          <a:bodyPr wrap="square" lIns="0" tIns="0" rIns="0" bIns="0" rtlCol="0" anchor="t">
            <a:normAutofit/>
          </a:bodyPr>
          <a:lstStyle/>
          <a:p>
            <a:pPr marL="0" indent="0" algn="l">
              <a:lnSpc>
                <a:spcPct val="100000"/>
              </a:lnSpc>
              <a:buNone/>
            </a:pPr>
            <a:r>
              <a:rPr lang="en-US" sz="3500" b="1" dirty="0">
                <a:solidFill>
                  <a:srgbClr val="12263A"/>
                </a:solidFill>
                <a:latin typeface="Cambria" pitchFamily="34" charset="0"/>
                <a:ea typeface="Cambria" pitchFamily="34" charset="-122"/>
                <a:cs typeface="Cambria" pitchFamily="34" charset="-120"/>
              </a:rPr>
              <a:t>Open Fronthaul Timing Testbed Architecture</a:t>
            </a:r>
            <a:endParaRPr lang="en-US" sz="3500" dirty="0"/>
          </a:p>
        </p:txBody>
      </p:sp>
      <p:sp>
        <p:nvSpPr>
          <p:cNvPr id="6" name="Shape 4"/>
          <p:cNvSpPr/>
          <p:nvPr/>
        </p:nvSpPr>
        <p:spPr>
          <a:xfrm>
            <a:off x="571500" y="1057275"/>
            <a:ext cx="11049000" cy="438150"/>
          </a:xfrm>
          <a:prstGeom prst="roundRect">
            <a:avLst>
              <a:gd name="adj" fmla="val 8348"/>
            </a:avLst>
          </a:prstGeom>
          <a:solidFill>
            <a:srgbClr val="EAF2F8"/>
          </a:solidFill>
          <a:ln w="12700">
            <a:solidFill>
              <a:srgbClr val="D7E1EA"/>
            </a:solidFill>
            <a:prstDash val="solid"/>
          </a:ln>
        </p:spPr>
        <p:txBody>
          <a:bodyPr/>
          <a:lstStyle/>
          <a:p>
            <a:endParaRPr lang="en-IN"/>
          </a:p>
        </p:txBody>
      </p:sp>
      <p:sp>
        <p:nvSpPr>
          <p:cNvPr id="7" name="Text 5"/>
          <p:cNvSpPr/>
          <p:nvPr/>
        </p:nvSpPr>
        <p:spPr>
          <a:xfrm>
            <a:off x="723900" y="1123950"/>
            <a:ext cx="10744200" cy="323850"/>
          </a:xfrm>
          <a:prstGeom prst="rect">
            <a:avLst/>
          </a:prstGeom>
          <a:noFill/>
          <a:ln/>
        </p:spPr>
        <p:txBody>
          <a:bodyPr wrap="square" lIns="0" tIns="0" rIns="0" bIns="0" rtlCol="0" anchor="t">
            <a:normAutofit/>
          </a:bodyPr>
          <a:lstStyle/>
          <a:p>
            <a:pPr marL="0" indent="0" algn="l">
              <a:lnSpc>
                <a:spcPct val="102000"/>
              </a:lnSpc>
              <a:buNone/>
            </a:pPr>
            <a:r>
              <a:rPr lang="en-US" sz="1120" dirty="0">
                <a:solidFill>
                  <a:srgbClr val="5B6B7C"/>
                </a:solidFill>
                <a:latin typeface="Calibri" pitchFamily="34" charset="0"/>
                <a:ea typeface="Calibri" pitchFamily="34" charset="-122"/>
                <a:cs typeface="Calibri" pitchFamily="34" charset="-120"/>
              </a:rPr>
              <a:t>linuxptp v4.0 (released 2023-06-09), reference implementation of IEEE 1588-2019 and ITU-T G.8275.1  |  Linux network namespaces, veth pairs and software bridges  |  tcpdump packet capture</a:t>
            </a:r>
            <a:endParaRPr lang="en-US" sz="1120" dirty="0"/>
          </a:p>
        </p:txBody>
      </p:sp>
      <p:sp>
        <p:nvSpPr>
          <p:cNvPr id="8" name="Text 6"/>
          <p:cNvSpPr/>
          <p:nvPr/>
        </p:nvSpPr>
        <p:spPr>
          <a:xfrm>
            <a:off x="571500" y="1638300"/>
            <a:ext cx="11049000" cy="381000"/>
          </a:xfrm>
          <a:prstGeom prst="rect">
            <a:avLst/>
          </a:prstGeom>
          <a:noFill/>
          <a:ln/>
        </p:spPr>
        <p:txBody>
          <a:bodyPr wrap="square" lIns="0" tIns="0" rIns="0" bIns="0" rtlCol="0" anchor="t">
            <a:normAutofit/>
          </a:bodyPr>
          <a:lstStyle/>
          <a:p>
            <a:pPr marL="0" indent="0" algn="l">
              <a:lnSpc>
                <a:spcPct val="100000"/>
              </a:lnSpc>
              <a:buNone/>
            </a:pPr>
            <a:r>
              <a:rPr lang="en-US" sz="1500" dirty="0">
                <a:solidFill>
                  <a:srgbClr val="5B6B7C"/>
                </a:solidFill>
                <a:latin typeface="Calibri" pitchFamily="34" charset="0"/>
                <a:ea typeface="Calibri" pitchFamily="34" charset="-122"/>
                <a:cs typeface="Calibri" pitchFamily="34" charset="-120"/>
              </a:rPr>
              <a:t>Six genuine linuxptp 4.0 daemons in isolated Linux network namespaces across two bridged segments. All protocol behaviour — BMCA election, servo control, message cadence — is executed by real daemons, not simulated.</a:t>
            </a:r>
            <a:endParaRPr lang="en-US" sz="1500" dirty="0"/>
          </a:p>
        </p:txBody>
      </p:sp>
      <p:sp>
        <p:nvSpPr>
          <p:cNvPr id="9" name="Shape 7"/>
          <p:cNvSpPr/>
          <p:nvPr/>
        </p:nvSpPr>
        <p:spPr>
          <a:xfrm>
            <a:off x="571500" y="2266950"/>
            <a:ext cx="11049000" cy="2438400"/>
          </a:xfrm>
          <a:prstGeom prst="roundRect">
            <a:avLst>
              <a:gd name="adj" fmla="val 1500"/>
            </a:avLst>
          </a:prstGeom>
          <a:solidFill>
            <a:srgbClr val="FFFFFF"/>
          </a:solidFill>
          <a:ln w="12700">
            <a:solidFill>
              <a:srgbClr val="D7E1EA"/>
            </a:solidFill>
            <a:prstDash val="solid"/>
          </a:ln>
        </p:spPr>
        <p:txBody>
          <a:bodyPr/>
          <a:lstStyle/>
          <a:p>
            <a:endParaRPr lang="en-IN"/>
          </a:p>
        </p:txBody>
      </p:sp>
      <p:sp>
        <p:nvSpPr>
          <p:cNvPr id="10" name="Shape 8"/>
          <p:cNvSpPr/>
          <p:nvPr/>
        </p:nvSpPr>
        <p:spPr>
          <a:xfrm>
            <a:off x="914400" y="2495550"/>
            <a:ext cx="1600200" cy="685800"/>
          </a:xfrm>
          <a:prstGeom prst="roundRect">
            <a:avLst>
              <a:gd name="adj" fmla="val 5333"/>
            </a:avLst>
          </a:prstGeom>
          <a:solidFill>
            <a:srgbClr val="EAF2F8"/>
          </a:solidFill>
          <a:ln w="12700">
            <a:solidFill>
              <a:srgbClr val="D7E1EA"/>
            </a:solidFill>
            <a:prstDash val="solid"/>
          </a:ln>
        </p:spPr>
        <p:txBody>
          <a:bodyPr/>
          <a:lstStyle/>
          <a:p>
            <a:endParaRPr lang="en-IN"/>
          </a:p>
        </p:txBody>
      </p:sp>
      <p:sp>
        <p:nvSpPr>
          <p:cNvPr id="11" name="Text 9"/>
          <p:cNvSpPr/>
          <p:nvPr/>
        </p:nvSpPr>
        <p:spPr>
          <a:xfrm>
            <a:off x="914400" y="2628900"/>
            <a:ext cx="1600200" cy="228600"/>
          </a:xfrm>
          <a:prstGeom prst="rect">
            <a:avLst/>
          </a:prstGeom>
          <a:noFill/>
          <a:ln/>
        </p:spPr>
        <p:txBody>
          <a:bodyPr wrap="square" lIns="0" tIns="0" rIns="0" bIns="0" rtlCol="0" anchor="t">
            <a:normAutofit/>
          </a:bodyPr>
          <a:lstStyle/>
          <a:p>
            <a:pPr marL="0" indent="0" algn="ctr">
              <a:lnSpc>
                <a:spcPct val="100000"/>
              </a:lnSpc>
              <a:buNone/>
            </a:pPr>
            <a:r>
              <a:rPr lang="en-US" sz="1600" b="1" dirty="0">
                <a:solidFill>
                  <a:srgbClr val="12263A"/>
                </a:solidFill>
                <a:latin typeface="Cambria" pitchFamily="34" charset="0"/>
                <a:ea typeface="Cambria" pitchFamily="34" charset="-122"/>
                <a:cs typeface="Cambria" pitchFamily="34" charset="-120"/>
              </a:rPr>
              <a:t>GM-A</a:t>
            </a:r>
            <a:endParaRPr lang="en-US" sz="1600" dirty="0"/>
          </a:p>
        </p:txBody>
      </p:sp>
      <p:sp>
        <p:nvSpPr>
          <p:cNvPr id="12" name="Text 10"/>
          <p:cNvSpPr/>
          <p:nvPr/>
        </p:nvSpPr>
        <p:spPr>
          <a:xfrm>
            <a:off x="914400" y="2876550"/>
            <a:ext cx="1600200" cy="190500"/>
          </a:xfrm>
          <a:prstGeom prst="rect">
            <a:avLst/>
          </a:prstGeom>
          <a:noFill/>
          <a:ln/>
        </p:spPr>
        <p:txBody>
          <a:bodyPr wrap="square" lIns="0" tIns="0" rIns="0" bIns="0" rtlCol="0" anchor="t">
            <a:normAutofit/>
          </a:bodyPr>
          <a:lstStyle/>
          <a:p>
            <a:pPr marL="0" indent="0" algn="ctr">
              <a:lnSpc>
                <a:spcPct val="100000"/>
              </a:lnSpc>
              <a:buNone/>
            </a:pPr>
            <a:r>
              <a:rPr lang="en-US" sz="1100" dirty="0">
                <a:solidFill>
                  <a:srgbClr val="5B6B7C"/>
                </a:solidFill>
                <a:latin typeface="Calibri" pitchFamily="34" charset="0"/>
                <a:ea typeface="Calibri" pitchFamily="34" charset="-122"/>
                <a:cs typeface="Calibri" pitchFamily="34" charset="-120"/>
              </a:rPr>
              <a:t>grandmaster</a:t>
            </a:r>
            <a:endParaRPr lang="en-US" sz="1100" dirty="0"/>
          </a:p>
        </p:txBody>
      </p:sp>
      <p:sp>
        <p:nvSpPr>
          <p:cNvPr id="13" name="Shape 11"/>
          <p:cNvSpPr/>
          <p:nvPr/>
        </p:nvSpPr>
        <p:spPr>
          <a:xfrm>
            <a:off x="914400" y="3486150"/>
            <a:ext cx="1600200" cy="685800"/>
          </a:xfrm>
          <a:prstGeom prst="roundRect">
            <a:avLst>
              <a:gd name="adj" fmla="val 5333"/>
            </a:avLst>
          </a:prstGeom>
          <a:solidFill>
            <a:srgbClr val="EAF2F8"/>
          </a:solidFill>
          <a:ln w="12700">
            <a:solidFill>
              <a:srgbClr val="D7E1EA"/>
            </a:solidFill>
            <a:prstDash val="solid"/>
          </a:ln>
        </p:spPr>
        <p:txBody>
          <a:bodyPr/>
          <a:lstStyle/>
          <a:p>
            <a:endParaRPr lang="en-IN"/>
          </a:p>
        </p:txBody>
      </p:sp>
      <p:sp>
        <p:nvSpPr>
          <p:cNvPr id="14" name="Text 12"/>
          <p:cNvSpPr/>
          <p:nvPr/>
        </p:nvSpPr>
        <p:spPr>
          <a:xfrm>
            <a:off x="914400" y="3619500"/>
            <a:ext cx="1600200" cy="228600"/>
          </a:xfrm>
          <a:prstGeom prst="rect">
            <a:avLst/>
          </a:prstGeom>
          <a:noFill/>
          <a:ln/>
        </p:spPr>
        <p:txBody>
          <a:bodyPr wrap="square" lIns="0" tIns="0" rIns="0" bIns="0" rtlCol="0" anchor="t">
            <a:normAutofit/>
          </a:bodyPr>
          <a:lstStyle/>
          <a:p>
            <a:pPr marL="0" indent="0" algn="ctr">
              <a:lnSpc>
                <a:spcPct val="100000"/>
              </a:lnSpc>
              <a:buNone/>
            </a:pPr>
            <a:r>
              <a:rPr lang="en-US" sz="1600" b="1" dirty="0">
                <a:solidFill>
                  <a:srgbClr val="12263A"/>
                </a:solidFill>
                <a:latin typeface="Cambria" pitchFamily="34" charset="0"/>
                <a:ea typeface="Cambria" pitchFamily="34" charset="-122"/>
                <a:cs typeface="Cambria" pitchFamily="34" charset="-120"/>
              </a:rPr>
              <a:t>GM-B</a:t>
            </a:r>
            <a:endParaRPr lang="en-US" sz="1600" dirty="0"/>
          </a:p>
        </p:txBody>
      </p:sp>
      <p:sp>
        <p:nvSpPr>
          <p:cNvPr id="15" name="Text 13"/>
          <p:cNvSpPr/>
          <p:nvPr/>
        </p:nvSpPr>
        <p:spPr>
          <a:xfrm>
            <a:off x="914400" y="3867150"/>
            <a:ext cx="1600200" cy="190500"/>
          </a:xfrm>
          <a:prstGeom prst="rect">
            <a:avLst/>
          </a:prstGeom>
          <a:noFill/>
          <a:ln/>
        </p:spPr>
        <p:txBody>
          <a:bodyPr wrap="square" lIns="0" tIns="0" rIns="0" bIns="0" rtlCol="0" anchor="t">
            <a:normAutofit/>
          </a:bodyPr>
          <a:lstStyle/>
          <a:p>
            <a:pPr marL="0" indent="0" algn="ctr">
              <a:lnSpc>
                <a:spcPct val="100000"/>
              </a:lnSpc>
              <a:buNone/>
            </a:pPr>
            <a:r>
              <a:rPr lang="en-US" sz="1100" dirty="0">
                <a:solidFill>
                  <a:srgbClr val="5B6B7C"/>
                </a:solidFill>
                <a:latin typeface="Calibri" pitchFamily="34" charset="0"/>
                <a:ea typeface="Calibri" pitchFamily="34" charset="-122"/>
                <a:cs typeface="Calibri" pitchFamily="34" charset="-120"/>
              </a:rPr>
              <a:t>backup GM</a:t>
            </a:r>
            <a:endParaRPr lang="en-US" sz="1100" dirty="0"/>
          </a:p>
        </p:txBody>
      </p:sp>
      <p:sp>
        <p:nvSpPr>
          <p:cNvPr id="16" name="Shape 14"/>
          <p:cNvSpPr/>
          <p:nvPr/>
        </p:nvSpPr>
        <p:spPr>
          <a:xfrm>
            <a:off x="2857500" y="2495550"/>
            <a:ext cx="247650" cy="1676400"/>
          </a:xfrm>
          <a:prstGeom prst="roundRect">
            <a:avLst>
              <a:gd name="adj" fmla="val 14769"/>
            </a:avLst>
          </a:prstGeom>
          <a:solidFill>
            <a:srgbClr val="18B89A"/>
          </a:solidFill>
          <a:ln w="12700">
            <a:solidFill>
              <a:srgbClr val="18B89A"/>
            </a:solidFill>
            <a:prstDash val="solid"/>
          </a:ln>
        </p:spPr>
        <p:txBody>
          <a:bodyPr/>
          <a:lstStyle/>
          <a:p>
            <a:endParaRPr lang="en-IN"/>
          </a:p>
        </p:txBody>
      </p:sp>
      <p:sp>
        <p:nvSpPr>
          <p:cNvPr id="17" name="Text 15"/>
          <p:cNvSpPr/>
          <p:nvPr/>
        </p:nvSpPr>
        <p:spPr>
          <a:xfrm>
            <a:off x="2857500" y="3219450"/>
            <a:ext cx="247650" cy="190500"/>
          </a:xfrm>
          <a:prstGeom prst="rect">
            <a:avLst/>
          </a:prstGeom>
          <a:noFill/>
          <a:ln/>
        </p:spPr>
        <p:txBody>
          <a:bodyPr wrap="square" lIns="0" tIns="0" rIns="0" bIns="0" rtlCol="0" anchor="t">
            <a:normAutofit/>
          </a:bodyPr>
          <a:lstStyle/>
          <a:p>
            <a:pPr marL="0" indent="0" algn="ctr">
              <a:lnSpc>
                <a:spcPct val="100000"/>
              </a:lnSpc>
              <a:buNone/>
            </a:pPr>
            <a:r>
              <a:rPr lang="en-US" sz="950" b="1" dirty="0">
                <a:solidFill>
                  <a:srgbClr val="FFFFFF"/>
                </a:solidFill>
                <a:latin typeface="Calibri" pitchFamily="34" charset="0"/>
                <a:ea typeface="Calibri" pitchFamily="34" charset="-122"/>
                <a:cs typeface="Calibri" pitchFamily="34" charset="-120"/>
              </a:rPr>
              <a:t>brUP</a:t>
            </a:r>
            <a:endParaRPr lang="en-US" sz="950" dirty="0"/>
          </a:p>
        </p:txBody>
      </p:sp>
      <p:sp>
        <p:nvSpPr>
          <p:cNvPr id="18" name="Shape 16"/>
          <p:cNvSpPr/>
          <p:nvPr/>
        </p:nvSpPr>
        <p:spPr>
          <a:xfrm>
            <a:off x="3543300" y="2990850"/>
            <a:ext cx="1714500" cy="685800"/>
          </a:xfrm>
          <a:prstGeom prst="roundRect">
            <a:avLst>
              <a:gd name="adj" fmla="val 5333"/>
            </a:avLst>
          </a:prstGeom>
          <a:solidFill>
            <a:srgbClr val="0E2440"/>
          </a:solidFill>
          <a:ln w="12700">
            <a:solidFill>
              <a:srgbClr val="0E2440"/>
            </a:solidFill>
            <a:prstDash val="solid"/>
          </a:ln>
        </p:spPr>
        <p:txBody>
          <a:bodyPr/>
          <a:lstStyle/>
          <a:p>
            <a:endParaRPr lang="en-IN"/>
          </a:p>
        </p:txBody>
      </p:sp>
      <p:sp>
        <p:nvSpPr>
          <p:cNvPr id="19" name="Text 17"/>
          <p:cNvSpPr/>
          <p:nvPr/>
        </p:nvSpPr>
        <p:spPr>
          <a:xfrm>
            <a:off x="3543300" y="3124200"/>
            <a:ext cx="1714500" cy="228600"/>
          </a:xfrm>
          <a:prstGeom prst="rect">
            <a:avLst/>
          </a:prstGeom>
          <a:noFill/>
          <a:ln/>
        </p:spPr>
        <p:txBody>
          <a:bodyPr wrap="square" lIns="0" tIns="0" rIns="0" bIns="0" rtlCol="0" anchor="t">
            <a:normAutofit/>
          </a:bodyPr>
          <a:lstStyle/>
          <a:p>
            <a:pPr marL="0" indent="0" algn="ctr">
              <a:lnSpc>
                <a:spcPct val="100000"/>
              </a:lnSpc>
              <a:buNone/>
            </a:pPr>
            <a:r>
              <a:rPr lang="en-US" sz="1600" b="1" dirty="0">
                <a:solidFill>
                  <a:srgbClr val="FFFFFF"/>
                </a:solidFill>
                <a:latin typeface="Cambria" pitchFamily="34" charset="0"/>
                <a:ea typeface="Cambria" pitchFamily="34" charset="-122"/>
                <a:cs typeface="Cambria" pitchFamily="34" charset="-120"/>
              </a:rPr>
              <a:t>BC</a:t>
            </a:r>
            <a:endParaRPr lang="en-US" sz="1600" dirty="0"/>
          </a:p>
        </p:txBody>
      </p:sp>
      <p:sp>
        <p:nvSpPr>
          <p:cNvPr id="20" name="Text 18"/>
          <p:cNvSpPr/>
          <p:nvPr/>
        </p:nvSpPr>
        <p:spPr>
          <a:xfrm>
            <a:off x="3543300" y="3371850"/>
            <a:ext cx="1714500" cy="190500"/>
          </a:xfrm>
          <a:prstGeom prst="rect">
            <a:avLst/>
          </a:prstGeom>
          <a:noFill/>
          <a:ln/>
        </p:spPr>
        <p:txBody>
          <a:bodyPr wrap="square" lIns="0" tIns="0" rIns="0" bIns="0" rtlCol="0" anchor="t">
            <a:normAutofit/>
          </a:bodyPr>
          <a:lstStyle/>
          <a:p>
            <a:pPr marL="0" indent="0" algn="ctr">
              <a:lnSpc>
                <a:spcPct val="100000"/>
              </a:lnSpc>
              <a:buNone/>
            </a:pPr>
            <a:r>
              <a:rPr lang="en-US" sz="1100" dirty="0">
                <a:solidFill>
                  <a:srgbClr val="CFD9E5"/>
                </a:solidFill>
                <a:latin typeface="Calibri" pitchFamily="34" charset="0"/>
                <a:ea typeface="Calibri" pitchFamily="34" charset="-122"/>
                <a:cs typeface="Calibri" pitchFamily="34" charset="-120"/>
              </a:rPr>
              <a:t>boundary clock</a:t>
            </a:r>
            <a:endParaRPr lang="en-US" sz="1100" dirty="0"/>
          </a:p>
        </p:txBody>
      </p:sp>
      <p:sp>
        <p:nvSpPr>
          <p:cNvPr id="21" name="Shape 19"/>
          <p:cNvSpPr/>
          <p:nvPr/>
        </p:nvSpPr>
        <p:spPr>
          <a:xfrm>
            <a:off x="5619750" y="2495550"/>
            <a:ext cx="247650" cy="1676400"/>
          </a:xfrm>
          <a:prstGeom prst="roundRect">
            <a:avLst>
              <a:gd name="adj" fmla="val 14769"/>
            </a:avLst>
          </a:prstGeom>
          <a:solidFill>
            <a:srgbClr val="18B89A"/>
          </a:solidFill>
          <a:ln w="12700">
            <a:solidFill>
              <a:srgbClr val="18B89A"/>
            </a:solidFill>
            <a:prstDash val="solid"/>
          </a:ln>
        </p:spPr>
        <p:txBody>
          <a:bodyPr/>
          <a:lstStyle/>
          <a:p>
            <a:endParaRPr lang="en-IN"/>
          </a:p>
        </p:txBody>
      </p:sp>
      <p:sp>
        <p:nvSpPr>
          <p:cNvPr id="22" name="Text 20"/>
          <p:cNvSpPr/>
          <p:nvPr/>
        </p:nvSpPr>
        <p:spPr>
          <a:xfrm>
            <a:off x="5619750" y="3219450"/>
            <a:ext cx="247650" cy="190500"/>
          </a:xfrm>
          <a:prstGeom prst="rect">
            <a:avLst/>
          </a:prstGeom>
          <a:noFill/>
          <a:ln/>
        </p:spPr>
        <p:txBody>
          <a:bodyPr wrap="square" lIns="0" tIns="0" rIns="0" bIns="0" rtlCol="0" anchor="t">
            <a:normAutofit/>
          </a:bodyPr>
          <a:lstStyle/>
          <a:p>
            <a:pPr marL="0" indent="0" algn="ctr">
              <a:lnSpc>
                <a:spcPct val="100000"/>
              </a:lnSpc>
              <a:buNone/>
            </a:pPr>
            <a:r>
              <a:rPr lang="en-US" sz="950" b="1" dirty="0">
                <a:solidFill>
                  <a:srgbClr val="FFFFFF"/>
                </a:solidFill>
                <a:latin typeface="Calibri" pitchFamily="34" charset="0"/>
                <a:ea typeface="Calibri" pitchFamily="34" charset="-122"/>
                <a:cs typeface="Calibri" pitchFamily="34" charset="-120"/>
              </a:rPr>
              <a:t>brDN</a:t>
            </a:r>
            <a:endParaRPr lang="en-US" sz="950" dirty="0"/>
          </a:p>
        </p:txBody>
      </p:sp>
      <p:sp>
        <p:nvSpPr>
          <p:cNvPr id="23" name="Shape 21"/>
          <p:cNvSpPr/>
          <p:nvPr/>
        </p:nvSpPr>
        <p:spPr>
          <a:xfrm>
            <a:off x="6324600" y="2419350"/>
            <a:ext cx="1600200" cy="628650"/>
          </a:xfrm>
          <a:prstGeom prst="roundRect">
            <a:avLst>
              <a:gd name="adj" fmla="val 5818"/>
            </a:avLst>
          </a:prstGeom>
          <a:solidFill>
            <a:srgbClr val="FFFFFF"/>
          </a:solidFill>
          <a:ln w="12700">
            <a:solidFill>
              <a:srgbClr val="D7E1EA"/>
            </a:solidFill>
            <a:prstDash val="solid"/>
          </a:ln>
        </p:spPr>
        <p:txBody>
          <a:bodyPr/>
          <a:lstStyle/>
          <a:p>
            <a:endParaRPr lang="en-IN"/>
          </a:p>
        </p:txBody>
      </p:sp>
      <p:sp>
        <p:nvSpPr>
          <p:cNvPr id="24" name="Text 22"/>
          <p:cNvSpPr/>
          <p:nvPr/>
        </p:nvSpPr>
        <p:spPr>
          <a:xfrm>
            <a:off x="6324600" y="2524125"/>
            <a:ext cx="1600200" cy="228600"/>
          </a:xfrm>
          <a:prstGeom prst="rect">
            <a:avLst/>
          </a:prstGeom>
          <a:noFill/>
          <a:ln/>
        </p:spPr>
        <p:txBody>
          <a:bodyPr wrap="square" lIns="0" tIns="0" rIns="0" bIns="0" rtlCol="0" anchor="t">
            <a:normAutofit/>
          </a:bodyPr>
          <a:lstStyle/>
          <a:p>
            <a:pPr marL="0" indent="0" algn="ctr">
              <a:lnSpc>
                <a:spcPct val="100000"/>
              </a:lnSpc>
              <a:buNone/>
            </a:pPr>
            <a:r>
              <a:rPr lang="en-US" sz="1600" b="1" dirty="0">
                <a:solidFill>
                  <a:srgbClr val="12263A"/>
                </a:solidFill>
                <a:latin typeface="Cambria" pitchFamily="34" charset="0"/>
                <a:ea typeface="Cambria" pitchFamily="34" charset="-122"/>
                <a:cs typeface="Cambria" pitchFamily="34" charset="-120"/>
              </a:rPr>
              <a:t>RU1</a:t>
            </a:r>
            <a:endParaRPr lang="en-US" sz="1600" dirty="0"/>
          </a:p>
        </p:txBody>
      </p:sp>
      <p:sp>
        <p:nvSpPr>
          <p:cNvPr id="25" name="Text 23"/>
          <p:cNvSpPr/>
          <p:nvPr/>
        </p:nvSpPr>
        <p:spPr>
          <a:xfrm>
            <a:off x="6324600" y="2771775"/>
            <a:ext cx="1600200" cy="190500"/>
          </a:xfrm>
          <a:prstGeom prst="rect">
            <a:avLst/>
          </a:prstGeom>
          <a:noFill/>
          <a:ln/>
        </p:spPr>
        <p:txBody>
          <a:bodyPr wrap="square" lIns="0" tIns="0" rIns="0" bIns="0" rtlCol="0" anchor="t">
            <a:normAutofit/>
          </a:bodyPr>
          <a:lstStyle/>
          <a:p>
            <a:pPr marL="0" indent="0" algn="ctr">
              <a:lnSpc>
                <a:spcPct val="100000"/>
              </a:lnSpc>
              <a:buNone/>
            </a:pPr>
            <a:r>
              <a:rPr lang="en-US" sz="1100" dirty="0">
                <a:solidFill>
                  <a:srgbClr val="5B6B7C"/>
                </a:solidFill>
                <a:latin typeface="Calibri" pitchFamily="34" charset="0"/>
                <a:ea typeface="Calibri" pitchFamily="34" charset="-122"/>
                <a:cs typeface="Calibri" pitchFamily="34" charset="-120"/>
              </a:rPr>
              <a:t>radio unit</a:t>
            </a:r>
            <a:endParaRPr lang="en-US" sz="1100" dirty="0"/>
          </a:p>
        </p:txBody>
      </p:sp>
      <p:sp>
        <p:nvSpPr>
          <p:cNvPr id="26" name="Shape 24"/>
          <p:cNvSpPr/>
          <p:nvPr/>
        </p:nvSpPr>
        <p:spPr>
          <a:xfrm>
            <a:off x="6324600" y="3181350"/>
            <a:ext cx="1600200" cy="628650"/>
          </a:xfrm>
          <a:prstGeom prst="roundRect">
            <a:avLst>
              <a:gd name="adj" fmla="val 5818"/>
            </a:avLst>
          </a:prstGeom>
          <a:solidFill>
            <a:srgbClr val="FFFFFF"/>
          </a:solidFill>
          <a:ln w="12700">
            <a:solidFill>
              <a:srgbClr val="D7E1EA"/>
            </a:solidFill>
            <a:prstDash val="solid"/>
          </a:ln>
        </p:spPr>
        <p:txBody>
          <a:bodyPr/>
          <a:lstStyle/>
          <a:p>
            <a:endParaRPr lang="en-IN"/>
          </a:p>
        </p:txBody>
      </p:sp>
      <p:sp>
        <p:nvSpPr>
          <p:cNvPr id="27" name="Text 25"/>
          <p:cNvSpPr/>
          <p:nvPr/>
        </p:nvSpPr>
        <p:spPr>
          <a:xfrm>
            <a:off x="6324600" y="3286125"/>
            <a:ext cx="1600200" cy="228600"/>
          </a:xfrm>
          <a:prstGeom prst="rect">
            <a:avLst/>
          </a:prstGeom>
          <a:noFill/>
          <a:ln/>
        </p:spPr>
        <p:txBody>
          <a:bodyPr wrap="square" lIns="0" tIns="0" rIns="0" bIns="0" rtlCol="0" anchor="t">
            <a:normAutofit/>
          </a:bodyPr>
          <a:lstStyle/>
          <a:p>
            <a:pPr marL="0" indent="0" algn="ctr">
              <a:lnSpc>
                <a:spcPct val="100000"/>
              </a:lnSpc>
              <a:buNone/>
            </a:pPr>
            <a:r>
              <a:rPr lang="en-US" sz="1600" b="1" dirty="0">
                <a:solidFill>
                  <a:srgbClr val="12263A"/>
                </a:solidFill>
                <a:latin typeface="Cambria" pitchFamily="34" charset="0"/>
                <a:ea typeface="Cambria" pitchFamily="34" charset="-122"/>
                <a:cs typeface="Cambria" pitchFamily="34" charset="-120"/>
              </a:rPr>
              <a:t>RU2</a:t>
            </a:r>
            <a:endParaRPr lang="en-US" sz="1600" dirty="0"/>
          </a:p>
        </p:txBody>
      </p:sp>
      <p:sp>
        <p:nvSpPr>
          <p:cNvPr id="28" name="Text 26"/>
          <p:cNvSpPr/>
          <p:nvPr/>
        </p:nvSpPr>
        <p:spPr>
          <a:xfrm>
            <a:off x="6324600" y="3533775"/>
            <a:ext cx="1600200" cy="190500"/>
          </a:xfrm>
          <a:prstGeom prst="rect">
            <a:avLst/>
          </a:prstGeom>
          <a:noFill/>
          <a:ln/>
        </p:spPr>
        <p:txBody>
          <a:bodyPr wrap="square" lIns="0" tIns="0" rIns="0" bIns="0" rtlCol="0" anchor="t">
            <a:normAutofit/>
          </a:bodyPr>
          <a:lstStyle/>
          <a:p>
            <a:pPr marL="0" indent="0" algn="ctr">
              <a:lnSpc>
                <a:spcPct val="100000"/>
              </a:lnSpc>
              <a:buNone/>
            </a:pPr>
            <a:r>
              <a:rPr lang="en-US" sz="1100" dirty="0">
                <a:solidFill>
                  <a:srgbClr val="5B6B7C"/>
                </a:solidFill>
                <a:latin typeface="Calibri" pitchFamily="34" charset="0"/>
                <a:ea typeface="Calibri" pitchFamily="34" charset="-122"/>
                <a:cs typeface="Calibri" pitchFamily="34" charset="-120"/>
              </a:rPr>
              <a:t>radio unit</a:t>
            </a:r>
            <a:endParaRPr lang="en-US" sz="1100" dirty="0"/>
          </a:p>
        </p:txBody>
      </p:sp>
      <p:sp>
        <p:nvSpPr>
          <p:cNvPr id="29" name="Shape 27"/>
          <p:cNvSpPr/>
          <p:nvPr/>
        </p:nvSpPr>
        <p:spPr>
          <a:xfrm>
            <a:off x="6324600" y="3943350"/>
            <a:ext cx="1600200" cy="628650"/>
          </a:xfrm>
          <a:prstGeom prst="roundRect">
            <a:avLst>
              <a:gd name="adj" fmla="val 5818"/>
            </a:avLst>
          </a:prstGeom>
          <a:solidFill>
            <a:srgbClr val="FFFFFF"/>
          </a:solidFill>
          <a:ln w="12700">
            <a:solidFill>
              <a:srgbClr val="D7E1EA"/>
            </a:solidFill>
            <a:prstDash val="solid"/>
          </a:ln>
        </p:spPr>
        <p:txBody>
          <a:bodyPr/>
          <a:lstStyle/>
          <a:p>
            <a:endParaRPr lang="en-IN"/>
          </a:p>
        </p:txBody>
      </p:sp>
      <p:sp>
        <p:nvSpPr>
          <p:cNvPr id="30" name="Text 28"/>
          <p:cNvSpPr/>
          <p:nvPr/>
        </p:nvSpPr>
        <p:spPr>
          <a:xfrm>
            <a:off x="6324600" y="4048125"/>
            <a:ext cx="1600200" cy="228600"/>
          </a:xfrm>
          <a:prstGeom prst="rect">
            <a:avLst/>
          </a:prstGeom>
          <a:noFill/>
          <a:ln/>
        </p:spPr>
        <p:txBody>
          <a:bodyPr wrap="square" lIns="0" tIns="0" rIns="0" bIns="0" rtlCol="0" anchor="t">
            <a:normAutofit/>
          </a:bodyPr>
          <a:lstStyle/>
          <a:p>
            <a:pPr marL="0" indent="0" algn="ctr">
              <a:lnSpc>
                <a:spcPct val="100000"/>
              </a:lnSpc>
              <a:buNone/>
            </a:pPr>
            <a:r>
              <a:rPr lang="en-US" sz="1600" b="1" dirty="0">
                <a:solidFill>
                  <a:srgbClr val="12263A"/>
                </a:solidFill>
                <a:latin typeface="Cambria" pitchFamily="34" charset="0"/>
                <a:ea typeface="Cambria" pitchFamily="34" charset="-122"/>
                <a:cs typeface="Cambria" pitchFamily="34" charset="-120"/>
              </a:rPr>
              <a:t>RU3</a:t>
            </a:r>
            <a:endParaRPr lang="en-US" sz="1600" dirty="0"/>
          </a:p>
        </p:txBody>
      </p:sp>
      <p:sp>
        <p:nvSpPr>
          <p:cNvPr id="31" name="Text 29"/>
          <p:cNvSpPr/>
          <p:nvPr/>
        </p:nvSpPr>
        <p:spPr>
          <a:xfrm>
            <a:off x="6324600" y="4295775"/>
            <a:ext cx="1600200" cy="190500"/>
          </a:xfrm>
          <a:prstGeom prst="rect">
            <a:avLst/>
          </a:prstGeom>
          <a:noFill/>
          <a:ln/>
        </p:spPr>
        <p:txBody>
          <a:bodyPr wrap="square" lIns="0" tIns="0" rIns="0" bIns="0" rtlCol="0" anchor="t">
            <a:normAutofit/>
          </a:bodyPr>
          <a:lstStyle/>
          <a:p>
            <a:pPr marL="0" indent="0" algn="ctr">
              <a:lnSpc>
                <a:spcPct val="100000"/>
              </a:lnSpc>
              <a:buNone/>
            </a:pPr>
            <a:r>
              <a:rPr lang="en-US" sz="1100" dirty="0">
                <a:solidFill>
                  <a:srgbClr val="5B6B7C"/>
                </a:solidFill>
                <a:latin typeface="Calibri" pitchFamily="34" charset="0"/>
                <a:ea typeface="Calibri" pitchFamily="34" charset="-122"/>
                <a:cs typeface="Calibri" pitchFamily="34" charset="-120"/>
              </a:rPr>
              <a:t>radio unit</a:t>
            </a:r>
            <a:endParaRPr lang="en-US" sz="1100" dirty="0"/>
          </a:p>
        </p:txBody>
      </p:sp>
      <p:sp>
        <p:nvSpPr>
          <p:cNvPr id="32" name="Shape 30"/>
          <p:cNvSpPr/>
          <p:nvPr/>
        </p:nvSpPr>
        <p:spPr>
          <a:xfrm>
            <a:off x="2514600" y="2838450"/>
            <a:ext cx="342900" cy="19050"/>
          </a:xfrm>
          <a:prstGeom prst="rect">
            <a:avLst/>
          </a:prstGeom>
          <a:solidFill>
            <a:srgbClr val="D7E1EA"/>
          </a:solidFill>
          <a:ln/>
        </p:spPr>
        <p:txBody>
          <a:bodyPr/>
          <a:lstStyle/>
          <a:p>
            <a:endParaRPr lang="en-IN"/>
          </a:p>
        </p:txBody>
      </p:sp>
      <p:sp>
        <p:nvSpPr>
          <p:cNvPr id="33" name="Shape 31"/>
          <p:cNvSpPr/>
          <p:nvPr/>
        </p:nvSpPr>
        <p:spPr>
          <a:xfrm>
            <a:off x="2514600" y="3829050"/>
            <a:ext cx="342900" cy="19050"/>
          </a:xfrm>
          <a:prstGeom prst="rect">
            <a:avLst/>
          </a:prstGeom>
          <a:solidFill>
            <a:srgbClr val="D7E1EA"/>
          </a:solidFill>
          <a:ln/>
        </p:spPr>
        <p:txBody>
          <a:bodyPr/>
          <a:lstStyle/>
          <a:p>
            <a:endParaRPr lang="en-IN"/>
          </a:p>
        </p:txBody>
      </p:sp>
      <p:sp>
        <p:nvSpPr>
          <p:cNvPr id="34" name="Shape 32"/>
          <p:cNvSpPr/>
          <p:nvPr/>
        </p:nvSpPr>
        <p:spPr>
          <a:xfrm>
            <a:off x="3105150" y="3333750"/>
            <a:ext cx="438150" cy="19050"/>
          </a:xfrm>
          <a:prstGeom prst="rect">
            <a:avLst/>
          </a:prstGeom>
          <a:solidFill>
            <a:srgbClr val="D7E1EA"/>
          </a:solidFill>
          <a:ln/>
        </p:spPr>
        <p:txBody>
          <a:bodyPr/>
          <a:lstStyle/>
          <a:p>
            <a:endParaRPr lang="en-IN"/>
          </a:p>
        </p:txBody>
      </p:sp>
      <p:sp>
        <p:nvSpPr>
          <p:cNvPr id="35" name="Shape 33"/>
          <p:cNvSpPr/>
          <p:nvPr/>
        </p:nvSpPr>
        <p:spPr>
          <a:xfrm>
            <a:off x="5257800" y="3333750"/>
            <a:ext cx="361950" cy="19050"/>
          </a:xfrm>
          <a:prstGeom prst="rect">
            <a:avLst/>
          </a:prstGeom>
          <a:solidFill>
            <a:srgbClr val="D7E1EA"/>
          </a:solidFill>
          <a:ln/>
        </p:spPr>
        <p:txBody>
          <a:bodyPr/>
          <a:lstStyle/>
          <a:p>
            <a:endParaRPr lang="en-IN"/>
          </a:p>
        </p:txBody>
      </p:sp>
      <p:sp>
        <p:nvSpPr>
          <p:cNvPr id="36" name="Shape 34"/>
          <p:cNvSpPr/>
          <p:nvPr/>
        </p:nvSpPr>
        <p:spPr>
          <a:xfrm>
            <a:off x="5867400" y="2733675"/>
            <a:ext cx="457200" cy="19050"/>
          </a:xfrm>
          <a:prstGeom prst="rect">
            <a:avLst/>
          </a:prstGeom>
          <a:solidFill>
            <a:srgbClr val="D7E1EA"/>
          </a:solidFill>
          <a:ln/>
        </p:spPr>
        <p:txBody>
          <a:bodyPr/>
          <a:lstStyle/>
          <a:p>
            <a:endParaRPr lang="en-IN"/>
          </a:p>
        </p:txBody>
      </p:sp>
      <p:sp>
        <p:nvSpPr>
          <p:cNvPr id="37" name="Shape 35"/>
          <p:cNvSpPr/>
          <p:nvPr/>
        </p:nvSpPr>
        <p:spPr>
          <a:xfrm>
            <a:off x="5867400" y="3495675"/>
            <a:ext cx="457200" cy="19050"/>
          </a:xfrm>
          <a:prstGeom prst="rect">
            <a:avLst/>
          </a:prstGeom>
          <a:solidFill>
            <a:srgbClr val="D7E1EA"/>
          </a:solidFill>
          <a:ln/>
        </p:spPr>
        <p:txBody>
          <a:bodyPr/>
          <a:lstStyle/>
          <a:p>
            <a:endParaRPr lang="en-IN"/>
          </a:p>
        </p:txBody>
      </p:sp>
      <p:sp>
        <p:nvSpPr>
          <p:cNvPr id="38" name="Shape 36"/>
          <p:cNvSpPr/>
          <p:nvPr/>
        </p:nvSpPr>
        <p:spPr>
          <a:xfrm>
            <a:off x="5867400" y="4257675"/>
            <a:ext cx="457200" cy="19050"/>
          </a:xfrm>
          <a:prstGeom prst="rect">
            <a:avLst/>
          </a:prstGeom>
          <a:solidFill>
            <a:srgbClr val="D7E1EA"/>
          </a:solidFill>
          <a:ln/>
        </p:spPr>
        <p:txBody>
          <a:bodyPr/>
          <a:lstStyle/>
          <a:p>
            <a:endParaRPr lang="en-IN"/>
          </a:p>
        </p:txBody>
      </p:sp>
      <p:sp>
        <p:nvSpPr>
          <p:cNvPr id="39" name="Shape 37"/>
          <p:cNvSpPr/>
          <p:nvPr/>
        </p:nvSpPr>
        <p:spPr>
          <a:xfrm>
            <a:off x="8382000" y="2419350"/>
            <a:ext cx="2971800" cy="2152650"/>
          </a:xfrm>
          <a:prstGeom prst="roundRect">
            <a:avLst>
              <a:gd name="adj" fmla="val 1699"/>
            </a:avLst>
          </a:prstGeom>
          <a:solidFill>
            <a:srgbClr val="EAF2F8"/>
          </a:solidFill>
          <a:ln w="12700">
            <a:solidFill>
              <a:srgbClr val="1C7293"/>
            </a:solidFill>
            <a:prstDash val="solid"/>
          </a:ln>
        </p:spPr>
        <p:txBody>
          <a:bodyPr/>
          <a:lstStyle/>
          <a:p>
            <a:endParaRPr lang="en-IN"/>
          </a:p>
        </p:txBody>
      </p:sp>
      <p:sp>
        <p:nvSpPr>
          <p:cNvPr id="40" name="Text 38"/>
          <p:cNvSpPr/>
          <p:nvPr/>
        </p:nvSpPr>
        <p:spPr>
          <a:xfrm>
            <a:off x="8572500" y="2571750"/>
            <a:ext cx="2667000" cy="190500"/>
          </a:xfrm>
          <a:prstGeom prst="rect">
            <a:avLst/>
          </a:prstGeom>
          <a:noFill/>
          <a:ln/>
        </p:spPr>
        <p:txBody>
          <a:bodyPr wrap="square" lIns="0" tIns="0" rIns="0" bIns="0" rtlCol="0" anchor="t">
            <a:normAutofit/>
          </a:bodyPr>
          <a:lstStyle/>
          <a:p>
            <a:pPr marL="0" indent="0" algn="l">
              <a:lnSpc>
                <a:spcPct val="100000"/>
              </a:lnSpc>
              <a:buNone/>
            </a:pPr>
            <a:r>
              <a:rPr lang="en-US" sz="1150" b="1" dirty="0">
                <a:solidFill>
                  <a:srgbClr val="1C7293"/>
                </a:solidFill>
                <a:latin typeface="Calibri" pitchFamily="34" charset="0"/>
                <a:ea typeface="Calibri" pitchFamily="34" charset="-122"/>
                <a:cs typeface="Calibri" pitchFamily="34" charset="-120"/>
              </a:rPr>
              <a:t>CAPTURE AND TELEMETRY</a:t>
            </a:r>
            <a:endParaRPr lang="en-US" sz="1150" dirty="0"/>
          </a:p>
        </p:txBody>
      </p:sp>
      <p:sp>
        <p:nvSpPr>
          <p:cNvPr id="41" name="Text 39"/>
          <p:cNvSpPr/>
          <p:nvPr/>
        </p:nvSpPr>
        <p:spPr>
          <a:xfrm>
            <a:off x="8572500" y="2819400"/>
            <a:ext cx="2628900" cy="1619250"/>
          </a:xfrm>
          <a:prstGeom prst="rect">
            <a:avLst/>
          </a:prstGeom>
          <a:noFill/>
          <a:ln/>
        </p:spPr>
        <p:txBody>
          <a:bodyPr wrap="square" lIns="0" tIns="0" rIns="0" bIns="0" rtlCol="0" anchor="t">
            <a:normAutofit/>
          </a:bodyPr>
          <a:lstStyle/>
          <a:p>
            <a:pPr marL="0" indent="0" algn="l">
              <a:lnSpc>
                <a:spcPct val="100000"/>
              </a:lnSpc>
              <a:buNone/>
            </a:pPr>
            <a:r>
              <a:rPr lang="en-US" sz="1300" dirty="0">
                <a:solidFill>
                  <a:srgbClr val="12263A"/>
                </a:solidFill>
                <a:latin typeface="Calibri" pitchFamily="34" charset="0"/>
                <a:ea typeface="Calibri" pitchFamily="34" charset="-122"/>
                <a:cs typeface="Calibri" pitchFamily="34" charset="-120"/>
              </a:rPr>
              <a:t>tcpdump on both bridges — every PTP frame recorded unmodified</a:t>
            </a:r>
            <a:endParaRPr lang="en-US" sz="1300" dirty="0"/>
          </a:p>
          <a:p>
            <a:pPr marL="0" indent="0" algn="l">
              <a:lnSpc>
                <a:spcPct val="100000"/>
              </a:lnSpc>
              <a:buNone/>
            </a:pPr>
            <a:r>
              <a:rPr lang="en-US" sz="1300" dirty="0">
                <a:solidFill>
                  <a:srgbClr val="12263A"/>
                </a:solidFill>
                <a:latin typeface="Calibri" pitchFamily="34" charset="0"/>
                <a:ea typeface="Calibri" pitchFamily="34" charset="-122"/>
                <a:cs typeface="Calibri" pitchFamily="34" charset="-120"/>
              </a:rPr>
              <a:t>ptp4l servo logs from all six daemons</a:t>
            </a:r>
            <a:endParaRPr lang="en-US" sz="1300" dirty="0"/>
          </a:p>
          <a:p>
            <a:pPr marL="0" indent="0" algn="l">
              <a:lnSpc>
                <a:spcPct val="100000"/>
              </a:lnSpc>
              <a:buNone/>
            </a:pPr>
            <a:r>
              <a:rPr lang="en-US" sz="1300" dirty="0">
                <a:solidFill>
                  <a:srgbClr val="12263A"/>
                </a:solidFill>
                <a:latin typeface="Calibri" pitchFamily="34" charset="0"/>
                <a:ea typeface="Calibri" pitchFamily="34" charset="-122"/>
                <a:cs typeface="Calibri" pitchFamily="34" charset="-120"/>
              </a:rPr>
              <a:t>pmc management telemetry per run</a:t>
            </a:r>
            <a:endParaRPr lang="en-US" sz="1300" dirty="0"/>
          </a:p>
          <a:p>
            <a:pPr marL="0" indent="0" algn="l">
              <a:lnSpc>
                <a:spcPct val="100000"/>
              </a:lnSpc>
              <a:buNone/>
            </a:pPr>
            <a:r>
              <a:rPr lang="en-US" sz="1300" dirty="0">
                <a:solidFill>
                  <a:srgbClr val="12263A"/>
                </a:solidFill>
                <a:latin typeface="Calibri" pitchFamily="34" charset="0"/>
                <a:ea typeface="Calibri" pitchFamily="34" charset="-122"/>
                <a:cs typeface="Calibri" pitchFamily="34" charset="-120"/>
              </a:rPr>
              <a:t>context.json — ground-truth label plus provisioned operator context</a:t>
            </a:r>
            <a:endParaRPr lang="en-US" sz="1300" dirty="0"/>
          </a:p>
        </p:txBody>
      </p:sp>
      <p:sp>
        <p:nvSpPr>
          <p:cNvPr id="42" name="Shape 40"/>
          <p:cNvSpPr/>
          <p:nvPr/>
        </p:nvSpPr>
        <p:spPr>
          <a:xfrm>
            <a:off x="571500" y="4819650"/>
            <a:ext cx="5476875" cy="819150"/>
          </a:xfrm>
          <a:prstGeom prst="roundRect">
            <a:avLst>
              <a:gd name="adj" fmla="val 4465"/>
            </a:avLst>
          </a:prstGeom>
          <a:solidFill>
            <a:srgbClr val="FFFFFF"/>
          </a:solidFill>
          <a:ln w="12700">
            <a:solidFill>
              <a:srgbClr val="D7E1EA"/>
            </a:solidFill>
            <a:prstDash val="solid"/>
          </a:ln>
        </p:spPr>
        <p:txBody>
          <a:bodyPr/>
          <a:lstStyle/>
          <a:p>
            <a:endParaRPr lang="en-IN"/>
          </a:p>
        </p:txBody>
      </p:sp>
      <p:sp>
        <p:nvSpPr>
          <p:cNvPr id="43" name="Text 41"/>
          <p:cNvSpPr/>
          <p:nvPr/>
        </p:nvSpPr>
        <p:spPr>
          <a:xfrm>
            <a:off x="742950" y="4933950"/>
            <a:ext cx="5133975" cy="190500"/>
          </a:xfrm>
          <a:prstGeom prst="rect">
            <a:avLst/>
          </a:prstGeom>
          <a:noFill/>
          <a:ln/>
        </p:spPr>
        <p:txBody>
          <a:bodyPr wrap="square" lIns="0" tIns="0" rIns="0" bIns="0" rtlCol="0" anchor="t">
            <a:normAutofit/>
          </a:bodyPr>
          <a:lstStyle/>
          <a:p>
            <a:pPr marL="0" indent="0" algn="l">
              <a:lnSpc>
                <a:spcPct val="100000"/>
              </a:lnSpc>
              <a:buNone/>
            </a:pPr>
            <a:r>
              <a:rPr lang="en-US" sz="1300" b="1" dirty="0">
                <a:solidFill>
                  <a:srgbClr val="1C7293"/>
                </a:solidFill>
                <a:latin typeface="Calibri" pitchFamily="34" charset="0"/>
                <a:ea typeface="Calibri" pitchFamily="34" charset="-122"/>
                <a:cs typeface="Calibri" pitchFamily="34" charset="-120"/>
              </a:rPr>
              <a:t>ITU-T G.8275.1 profile as configured</a:t>
            </a:r>
            <a:endParaRPr lang="en-US" sz="1300" dirty="0"/>
          </a:p>
        </p:txBody>
      </p:sp>
      <p:sp>
        <p:nvSpPr>
          <p:cNvPr id="44" name="Text 42"/>
          <p:cNvSpPr/>
          <p:nvPr/>
        </p:nvSpPr>
        <p:spPr>
          <a:xfrm>
            <a:off x="742950" y="5162550"/>
            <a:ext cx="5133975" cy="419100"/>
          </a:xfrm>
          <a:prstGeom prst="rect">
            <a:avLst/>
          </a:prstGeom>
          <a:noFill/>
          <a:ln/>
        </p:spPr>
        <p:txBody>
          <a:bodyPr wrap="square" lIns="0" tIns="0" rIns="0" bIns="0" rtlCol="0" anchor="t">
            <a:normAutofit/>
          </a:bodyPr>
          <a:lstStyle/>
          <a:p>
            <a:pPr marL="0" indent="0" algn="l">
              <a:lnSpc>
                <a:spcPct val="100000"/>
              </a:lnSpc>
              <a:buNone/>
            </a:pPr>
            <a:r>
              <a:rPr lang="en-US" sz="1300" dirty="0">
                <a:solidFill>
                  <a:srgbClr val="5B6B7C"/>
                </a:solidFill>
                <a:latin typeface="Calibri" pitchFamily="34" charset="0"/>
                <a:ea typeface="Calibri" pitchFamily="34" charset="-122"/>
                <a:cs typeface="Calibri" pitchFamily="34" charset="-120"/>
              </a:rPr>
              <a:t>domain 24  ·  priority1 128  ·  Sync 16/s (logInterval −4)  ·  Announce 8/s (logInterval −3)</a:t>
            </a:r>
            <a:endParaRPr lang="en-US" sz="1300" dirty="0"/>
          </a:p>
        </p:txBody>
      </p:sp>
      <p:sp>
        <p:nvSpPr>
          <p:cNvPr id="45" name="Shape 43"/>
          <p:cNvSpPr/>
          <p:nvPr/>
        </p:nvSpPr>
        <p:spPr>
          <a:xfrm>
            <a:off x="6143625" y="4819650"/>
            <a:ext cx="5476875" cy="819150"/>
          </a:xfrm>
          <a:prstGeom prst="roundRect">
            <a:avLst>
              <a:gd name="adj" fmla="val 4465"/>
            </a:avLst>
          </a:prstGeom>
          <a:solidFill>
            <a:srgbClr val="FFFFFF"/>
          </a:solidFill>
          <a:ln w="12700">
            <a:solidFill>
              <a:srgbClr val="D7E1EA"/>
            </a:solidFill>
            <a:prstDash val="solid"/>
          </a:ln>
        </p:spPr>
        <p:txBody>
          <a:bodyPr/>
          <a:lstStyle/>
          <a:p>
            <a:endParaRPr lang="en-IN"/>
          </a:p>
        </p:txBody>
      </p:sp>
      <p:sp>
        <p:nvSpPr>
          <p:cNvPr id="46" name="Text 44"/>
          <p:cNvSpPr/>
          <p:nvPr/>
        </p:nvSpPr>
        <p:spPr>
          <a:xfrm>
            <a:off x="6315075" y="4933950"/>
            <a:ext cx="5133975" cy="190500"/>
          </a:xfrm>
          <a:prstGeom prst="rect">
            <a:avLst/>
          </a:prstGeom>
          <a:noFill/>
          <a:ln/>
        </p:spPr>
        <p:txBody>
          <a:bodyPr wrap="square" lIns="0" tIns="0" rIns="0" bIns="0" rtlCol="0" anchor="t">
            <a:normAutofit/>
          </a:bodyPr>
          <a:lstStyle/>
          <a:p>
            <a:pPr marL="0" indent="0" algn="l">
              <a:lnSpc>
                <a:spcPct val="100000"/>
              </a:lnSpc>
              <a:buNone/>
            </a:pPr>
            <a:r>
              <a:rPr lang="en-US" sz="1300" b="1" dirty="0">
                <a:solidFill>
                  <a:srgbClr val="1C7293"/>
                </a:solidFill>
                <a:latin typeface="Calibri" pitchFamily="34" charset="0"/>
                <a:ea typeface="Calibri" pitchFamily="34" charset="-122"/>
                <a:cs typeface="Calibri" pitchFamily="34" charset="-120"/>
              </a:rPr>
              <a:t>Evidence boundary</a:t>
            </a:r>
            <a:endParaRPr lang="en-US" sz="1300" dirty="0"/>
          </a:p>
        </p:txBody>
      </p:sp>
      <p:sp>
        <p:nvSpPr>
          <p:cNvPr id="47" name="Text 45"/>
          <p:cNvSpPr/>
          <p:nvPr/>
        </p:nvSpPr>
        <p:spPr>
          <a:xfrm>
            <a:off x="6315075" y="5162550"/>
            <a:ext cx="5133975" cy="419100"/>
          </a:xfrm>
          <a:prstGeom prst="rect">
            <a:avLst/>
          </a:prstGeom>
          <a:noFill/>
          <a:ln/>
        </p:spPr>
        <p:txBody>
          <a:bodyPr wrap="square" lIns="0" tIns="0" rIns="0" bIns="0" rtlCol="0" anchor="t">
            <a:normAutofit/>
          </a:bodyPr>
          <a:lstStyle/>
          <a:p>
            <a:pPr marL="0" indent="0" algn="l">
              <a:lnSpc>
                <a:spcPct val="100000"/>
              </a:lnSpc>
              <a:buNone/>
            </a:pPr>
            <a:r>
              <a:rPr lang="en-US" sz="1300" dirty="0">
                <a:solidFill>
                  <a:srgbClr val="5B6B7C"/>
                </a:solidFill>
                <a:latin typeface="Calibri" pitchFamily="34" charset="0"/>
                <a:ea typeface="Calibri" pitchFamily="34" charset="-122"/>
                <a:cs typeface="Calibri" pitchFamily="34" charset="-120"/>
              </a:rPr>
              <a:t>No independent clock-error instrument was used; synchronization impact is inferred from protocol and servo telemetry, not measured against a reference clock.</a:t>
            </a:r>
            <a:endParaRPr lang="en-US" sz="1300" dirty="0"/>
          </a:p>
        </p:txBody>
      </p:sp>
      <p:sp>
        <p:nvSpPr>
          <p:cNvPr id="48" name="Shape 46"/>
          <p:cNvSpPr/>
          <p:nvPr/>
        </p:nvSpPr>
        <p:spPr>
          <a:xfrm>
            <a:off x="571500" y="5791200"/>
            <a:ext cx="11049000" cy="495300"/>
          </a:xfrm>
          <a:prstGeom prst="roundRect">
            <a:avLst>
              <a:gd name="adj" fmla="val 7385"/>
            </a:avLst>
          </a:prstGeom>
          <a:solidFill>
            <a:srgbClr val="0E2440"/>
          </a:solidFill>
          <a:ln w="12700">
            <a:solidFill>
              <a:srgbClr val="0E2440"/>
            </a:solidFill>
            <a:prstDash val="solid"/>
          </a:ln>
        </p:spPr>
        <p:txBody>
          <a:bodyPr/>
          <a:lstStyle/>
          <a:p>
            <a:endParaRPr lang="en-IN"/>
          </a:p>
        </p:txBody>
      </p:sp>
      <p:sp>
        <p:nvSpPr>
          <p:cNvPr id="49" name="Text 47"/>
          <p:cNvSpPr/>
          <p:nvPr/>
        </p:nvSpPr>
        <p:spPr>
          <a:xfrm>
            <a:off x="781050" y="5905500"/>
            <a:ext cx="10629900" cy="285750"/>
          </a:xfrm>
          <a:prstGeom prst="rect">
            <a:avLst/>
          </a:prstGeom>
          <a:noFill/>
          <a:ln/>
        </p:spPr>
        <p:txBody>
          <a:bodyPr wrap="square" lIns="0" tIns="0" rIns="0" bIns="0" rtlCol="0" anchor="t">
            <a:normAutofit/>
          </a:bodyPr>
          <a:lstStyle/>
          <a:p>
            <a:pPr marL="0" indent="0" algn="l">
              <a:lnSpc>
                <a:spcPct val="100000"/>
              </a:lnSpc>
              <a:buNone/>
            </a:pPr>
            <a:r>
              <a:rPr lang="en-US" sz="1450" b="1" dirty="0">
                <a:solidFill>
                  <a:srgbClr val="FFFFFF"/>
                </a:solidFill>
                <a:latin typeface="Cambria" pitchFamily="34" charset="0"/>
                <a:ea typeface="Cambria" pitchFamily="34" charset="-122"/>
                <a:cs typeface="Cambria" pitchFamily="34" charset="-120"/>
              </a:rPr>
              <a:t>Faults are produced by live packet-path mechanisms — competing daemons, injected frames, replayed captures and link or queue manipulation — never by editing rows in a dataset.</a:t>
            </a:r>
            <a:endParaRPr lang="en-US" sz="14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8FAFC"/>
          </a:solidFill>
          <a:ln/>
        </p:spPr>
        <p:txBody>
          <a:bodyPr/>
          <a:lstStyle/>
          <a:p>
            <a:endParaRPr lang="en-IN"/>
          </a:p>
        </p:txBody>
      </p:sp>
      <p:sp>
        <p:nvSpPr>
          <p:cNvPr id="3" name="Shape 1"/>
          <p:cNvSpPr/>
          <p:nvPr/>
        </p:nvSpPr>
        <p:spPr>
          <a:xfrm>
            <a:off x="0" y="0"/>
            <a:ext cx="12192000" cy="114300"/>
          </a:xfrm>
          <a:prstGeom prst="rect">
            <a:avLst/>
          </a:prstGeom>
          <a:solidFill>
            <a:srgbClr val="18B89A"/>
          </a:solidFill>
          <a:ln/>
        </p:spPr>
        <p:txBody>
          <a:bodyPr/>
          <a:lstStyle/>
          <a:p>
            <a:endParaRPr lang="en-IN"/>
          </a:p>
        </p:txBody>
      </p:sp>
      <p:sp>
        <p:nvSpPr>
          <p:cNvPr id="4" name="Text 2"/>
          <p:cNvSpPr/>
          <p:nvPr/>
        </p:nvSpPr>
        <p:spPr>
          <a:xfrm>
            <a:off x="571500" y="209550"/>
            <a:ext cx="11049000" cy="228600"/>
          </a:xfrm>
          <a:prstGeom prst="rect">
            <a:avLst/>
          </a:prstGeom>
          <a:noFill/>
          <a:ln/>
        </p:spPr>
        <p:txBody>
          <a:bodyPr wrap="square" lIns="0" tIns="0" rIns="0" bIns="0" rtlCol="0" anchor="t">
            <a:normAutofit/>
          </a:bodyPr>
          <a:lstStyle/>
          <a:p>
            <a:pPr marL="0" indent="0" algn="l">
              <a:lnSpc>
                <a:spcPct val="100000"/>
              </a:lnSpc>
              <a:buNone/>
            </a:pPr>
            <a:r>
              <a:rPr lang="en-US" sz="1280" b="1" dirty="0">
                <a:solidFill>
                  <a:srgbClr val="1C7293"/>
                </a:solidFill>
                <a:latin typeface="Calibri" pitchFamily="34" charset="0"/>
                <a:ea typeface="Calibri" pitchFamily="34" charset="-122"/>
                <a:cs typeface="Calibri" pitchFamily="34" charset="-120"/>
              </a:rPr>
              <a:t>CONFIGURATION AND PLATFORM LIMITS</a:t>
            </a:r>
            <a:endParaRPr lang="en-US" sz="1280" dirty="0"/>
          </a:p>
        </p:txBody>
      </p:sp>
      <p:sp>
        <p:nvSpPr>
          <p:cNvPr id="5" name="Text 3"/>
          <p:cNvSpPr/>
          <p:nvPr/>
        </p:nvSpPr>
        <p:spPr>
          <a:xfrm>
            <a:off x="571500" y="447675"/>
            <a:ext cx="11049000" cy="552450"/>
          </a:xfrm>
          <a:prstGeom prst="rect">
            <a:avLst/>
          </a:prstGeom>
          <a:noFill/>
          <a:ln/>
        </p:spPr>
        <p:txBody>
          <a:bodyPr wrap="square" lIns="0" tIns="0" rIns="0" bIns="0" rtlCol="0" anchor="t">
            <a:normAutofit/>
          </a:bodyPr>
          <a:lstStyle/>
          <a:p>
            <a:pPr marL="0" indent="0" algn="l">
              <a:lnSpc>
                <a:spcPct val="100000"/>
              </a:lnSpc>
              <a:buNone/>
            </a:pPr>
            <a:r>
              <a:rPr lang="en-US" sz="2900" b="1" dirty="0">
                <a:solidFill>
                  <a:srgbClr val="12263A"/>
                </a:solidFill>
                <a:latin typeface="Cambria" pitchFamily="34" charset="0"/>
                <a:ea typeface="Cambria" pitchFamily="34" charset="-122"/>
                <a:cs typeface="Cambria" pitchFamily="34" charset="-120"/>
              </a:rPr>
              <a:t>Timing Configuration and Verified Platform Constraints</a:t>
            </a:r>
            <a:endParaRPr lang="en-US" sz="2900" dirty="0"/>
          </a:p>
        </p:txBody>
      </p:sp>
      <p:sp>
        <p:nvSpPr>
          <p:cNvPr id="6" name="Shape 4"/>
          <p:cNvSpPr/>
          <p:nvPr/>
        </p:nvSpPr>
        <p:spPr>
          <a:xfrm>
            <a:off x="571500" y="1057275"/>
            <a:ext cx="11049000" cy="438150"/>
          </a:xfrm>
          <a:prstGeom prst="roundRect">
            <a:avLst>
              <a:gd name="adj" fmla="val 8348"/>
            </a:avLst>
          </a:prstGeom>
          <a:solidFill>
            <a:srgbClr val="EAF2F8"/>
          </a:solidFill>
          <a:ln w="12700">
            <a:solidFill>
              <a:srgbClr val="D7E1EA"/>
            </a:solidFill>
            <a:prstDash val="solid"/>
          </a:ln>
        </p:spPr>
        <p:txBody>
          <a:bodyPr/>
          <a:lstStyle/>
          <a:p>
            <a:endParaRPr lang="en-IN"/>
          </a:p>
        </p:txBody>
      </p:sp>
      <p:sp>
        <p:nvSpPr>
          <p:cNvPr id="7" name="Text 5"/>
          <p:cNvSpPr/>
          <p:nvPr/>
        </p:nvSpPr>
        <p:spPr>
          <a:xfrm>
            <a:off x="723900" y="1123950"/>
            <a:ext cx="10744200" cy="323850"/>
          </a:xfrm>
          <a:prstGeom prst="rect">
            <a:avLst/>
          </a:prstGeom>
          <a:noFill/>
          <a:ln/>
        </p:spPr>
        <p:txBody>
          <a:bodyPr wrap="square" lIns="0" tIns="0" rIns="0" bIns="0" rtlCol="0" anchor="t">
            <a:normAutofit/>
          </a:bodyPr>
          <a:lstStyle/>
          <a:p>
            <a:pPr marL="0" indent="0" algn="l">
              <a:lnSpc>
                <a:spcPct val="102000"/>
              </a:lnSpc>
              <a:buNone/>
            </a:pPr>
            <a:r>
              <a:rPr lang="en-US" sz="1120" dirty="0">
                <a:solidFill>
                  <a:srgbClr val="5B6B7C"/>
                </a:solidFill>
                <a:latin typeface="Calibri" pitchFamily="34" charset="0"/>
                <a:ea typeface="Calibri" pitchFamily="34" charset="-122"/>
                <a:cs typeface="Calibri" pitchFamily="34" charset="-120"/>
              </a:rPr>
              <a:t>ITU-T G.8275.1 telecom profile (values cross-checked against Cisco and Nokia profile documentation and linuxptp configs/G.8275.1.cfg)  |  Constraints confirmed by direct query of the running system</a:t>
            </a:r>
            <a:endParaRPr lang="en-US" sz="1120" dirty="0"/>
          </a:p>
        </p:txBody>
      </p:sp>
      <p:sp>
        <p:nvSpPr>
          <p:cNvPr id="8" name="Text 6"/>
          <p:cNvSpPr/>
          <p:nvPr/>
        </p:nvSpPr>
        <p:spPr>
          <a:xfrm>
            <a:off x="666750" y="1657350"/>
            <a:ext cx="2095500" cy="22860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1C7293"/>
                </a:solidFill>
                <a:latin typeface="Calibri" pitchFamily="34" charset="0"/>
                <a:ea typeface="Calibri" pitchFamily="34" charset="-122"/>
                <a:cs typeface="Calibri" pitchFamily="34" charset="-120"/>
              </a:rPr>
              <a:t>PARAMETER</a:t>
            </a:r>
            <a:endParaRPr lang="en-US" sz="1200" dirty="0"/>
          </a:p>
        </p:txBody>
      </p:sp>
      <p:sp>
        <p:nvSpPr>
          <p:cNvPr id="9" name="Text 7"/>
          <p:cNvSpPr/>
          <p:nvPr/>
        </p:nvSpPr>
        <p:spPr>
          <a:xfrm>
            <a:off x="2857500" y="1657350"/>
            <a:ext cx="2476500" cy="22860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1C7293"/>
                </a:solidFill>
                <a:latin typeface="Calibri" pitchFamily="34" charset="0"/>
                <a:ea typeface="Calibri" pitchFamily="34" charset="-122"/>
                <a:cs typeface="Calibri" pitchFamily="34" charset="-120"/>
              </a:rPr>
              <a:t>CONFIGURED VALUE</a:t>
            </a:r>
            <a:endParaRPr lang="en-US" sz="1200" dirty="0"/>
          </a:p>
        </p:txBody>
      </p:sp>
      <p:sp>
        <p:nvSpPr>
          <p:cNvPr id="10" name="Text 8"/>
          <p:cNvSpPr/>
          <p:nvPr/>
        </p:nvSpPr>
        <p:spPr>
          <a:xfrm>
            <a:off x="5505450" y="1657350"/>
            <a:ext cx="2857500" cy="22860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1C7293"/>
                </a:solidFill>
                <a:latin typeface="Calibri" pitchFamily="34" charset="0"/>
                <a:ea typeface="Calibri" pitchFamily="34" charset="-122"/>
                <a:cs typeface="Calibri" pitchFamily="34" charset="-120"/>
              </a:rPr>
              <a:t>BASIS</a:t>
            </a:r>
            <a:endParaRPr lang="en-US" sz="1200" dirty="0"/>
          </a:p>
        </p:txBody>
      </p:sp>
      <p:sp>
        <p:nvSpPr>
          <p:cNvPr id="11" name="Shape 9"/>
          <p:cNvSpPr/>
          <p:nvPr/>
        </p:nvSpPr>
        <p:spPr>
          <a:xfrm>
            <a:off x="571500" y="1914525"/>
            <a:ext cx="7810500" cy="11430"/>
          </a:xfrm>
          <a:prstGeom prst="rect">
            <a:avLst/>
          </a:prstGeom>
          <a:solidFill>
            <a:srgbClr val="D7E1EA"/>
          </a:solidFill>
          <a:ln/>
        </p:spPr>
        <p:txBody>
          <a:bodyPr/>
          <a:lstStyle/>
          <a:p>
            <a:endParaRPr lang="en-IN"/>
          </a:p>
        </p:txBody>
      </p:sp>
      <p:sp>
        <p:nvSpPr>
          <p:cNvPr id="12" name="Text 10"/>
          <p:cNvSpPr/>
          <p:nvPr/>
        </p:nvSpPr>
        <p:spPr>
          <a:xfrm>
            <a:off x="666750" y="2038350"/>
            <a:ext cx="2114550" cy="209550"/>
          </a:xfrm>
          <a:prstGeom prst="rect">
            <a:avLst/>
          </a:prstGeom>
          <a:noFill/>
          <a:ln/>
        </p:spPr>
        <p:txBody>
          <a:bodyPr wrap="square" lIns="0" tIns="0" rIns="0" bIns="0" rtlCol="0" anchor="t">
            <a:normAutofit/>
          </a:bodyPr>
          <a:lstStyle/>
          <a:p>
            <a:pPr marL="0" indent="0" algn="l">
              <a:lnSpc>
                <a:spcPct val="100000"/>
              </a:lnSpc>
              <a:buNone/>
            </a:pPr>
            <a:r>
              <a:rPr lang="en-US" sz="1340" b="1" dirty="0">
                <a:solidFill>
                  <a:srgbClr val="12263A"/>
                </a:solidFill>
                <a:latin typeface="Cambria" pitchFamily="34" charset="0"/>
                <a:ea typeface="Cambria" pitchFamily="34" charset="-122"/>
                <a:cs typeface="Cambria" pitchFamily="34" charset="-120"/>
              </a:rPr>
              <a:t>Profile</a:t>
            </a:r>
            <a:endParaRPr lang="en-US" sz="1340" dirty="0"/>
          </a:p>
        </p:txBody>
      </p:sp>
      <p:sp>
        <p:nvSpPr>
          <p:cNvPr id="13" name="Text 11"/>
          <p:cNvSpPr/>
          <p:nvPr/>
        </p:nvSpPr>
        <p:spPr>
          <a:xfrm>
            <a:off x="2857500" y="2038350"/>
            <a:ext cx="2590800" cy="209550"/>
          </a:xfrm>
          <a:prstGeom prst="rect">
            <a:avLst/>
          </a:prstGeom>
          <a:noFill/>
          <a:ln/>
        </p:spPr>
        <p:txBody>
          <a:bodyPr wrap="square" lIns="0" tIns="0" rIns="0" bIns="0" rtlCol="0" anchor="t">
            <a:normAutofit/>
          </a:bodyPr>
          <a:lstStyle/>
          <a:p>
            <a:pPr marL="0" indent="0" algn="l">
              <a:lnSpc>
                <a:spcPct val="100000"/>
              </a:lnSpc>
              <a:buNone/>
            </a:pPr>
            <a:r>
              <a:rPr lang="en-US" sz="1310" b="1" dirty="0">
                <a:solidFill>
                  <a:srgbClr val="1C7293"/>
                </a:solidFill>
                <a:latin typeface="Calibri" pitchFamily="34" charset="0"/>
                <a:ea typeface="Calibri" pitchFamily="34" charset="-122"/>
                <a:cs typeface="Calibri" pitchFamily="34" charset="-120"/>
              </a:rPr>
              <a:t>ITU-T G.8275.1 telecom profile</a:t>
            </a:r>
            <a:endParaRPr lang="en-US" sz="1310" dirty="0"/>
          </a:p>
        </p:txBody>
      </p:sp>
      <p:sp>
        <p:nvSpPr>
          <p:cNvPr id="14" name="Text 12"/>
          <p:cNvSpPr/>
          <p:nvPr/>
        </p:nvSpPr>
        <p:spPr>
          <a:xfrm>
            <a:off x="5505450" y="2019300"/>
            <a:ext cx="2857500" cy="304800"/>
          </a:xfrm>
          <a:prstGeom prst="rect">
            <a:avLst/>
          </a:prstGeom>
          <a:noFill/>
          <a:ln/>
        </p:spPr>
        <p:txBody>
          <a:bodyPr wrap="square" lIns="0" tIns="0" rIns="0" bIns="0" rtlCol="0" anchor="t">
            <a:normAutofit/>
          </a:bodyPr>
          <a:lstStyle/>
          <a:p>
            <a:pPr marL="0" indent="0" algn="l">
              <a:lnSpc>
                <a:spcPct val="92000"/>
              </a:lnSpc>
              <a:buNone/>
            </a:pPr>
            <a:r>
              <a:rPr lang="en-US" sz="1150" dirty="0">
                <a:solidFill>
                  <a:srgbClr val="5B6B7C"/>
                </a:solidFill>
                <a:latin typeface="Calibri" pitchFamily="34" charset="0"/>
                <a:ea typeface="Calibri" pitchFamily="34" charset="-122"/>
                <a:cs typeface="Calibri" pitchFamily="34" charset="-120"/>
              </a:rPr>
              <a:t>Full timing support from the network</a:t>
            </a:r>
            <a:endParaRPr lang="en-US" sz="1150" dirty="0"/>
          </a:p>
        </p:txBody>
      </p:sp>
      <p:sp>
        <p:nvSpPr>
          <p:cNvPr id="15" name="Shape 13"/>
          <p:cNvSpPr/>
          <p:nvPr/>
        </p:nvSpPr>
        <p:spPr>
          <a:xfrm>
            <a:off x="571500" y="2343150"/>
            <a:ext cx="7810500" cy="11430"/>
          </a:xfrm>
          <a:prstGeom prst="rect">
            <a:avLst/>
          </a:prstGeom>
          <a:solidFill>
            <a:srgbClr val="D7E1EA"/>
          </a:solidFill>
          <a:ln/>
        </p:spPr>
        <p:txBody>
          <a:bodyPr/>
          <a:lstStyle/>
          <a:p>
            <a:endParaRPr lang="en-IN"/>
          </a:p>
        </p:txBody>
      </p:sp>
      <p:sp>
        <p:nvSpPr>
          <p:cNvPr id="16" name="Text 14"/>
          <p:cNvSpPr/>
          <p:nvPr/>
        </p:nvSpPr>
        <p:spPr>
          <a:xfrm>
            <a:off x="666750" y="2438400"/>
            <a:ext cx="2114550" cy="209550"/>
          </a:xfrm>
          <a:prstGeom prst="rect">
            <a:avLst/>
          </a:prstGeom>
          <a:noFill/>
          <a:ln/>
        </p:spPr>
        <p:txBody>
          <a:bodyPr wrap="square" lIns="0" tIns="0" rIns="0" bIns="0" rtlCol="0" anchor="t">
            <a:normAutofit/>
          </a:bodyPr>
          <a:lstStyle/>
          <a:p>
            <a:pPr marL="0" indent="0" algn="l">
              <a:lnSpc>
                <a:spcPct val="100000"/>
              </a:lnSpc>
              <a:buNone/>
            </a:pPr>
            <a:r>
              <a:rPr lang="en-US" sz="1340" b="1" dirty="0">
                <a:solidFill>
                  <a:srgbClr val="12263A"/>
                </a:solidFill>
                <a:latin typeface="Cambria" pitchFamily="34" charset="0"/>
                <a:ea typeface="Cambria" pitchFamily="34" charset="-122"/>
                <a:cs typeface="Cambria" pitchFamily="34" charset="-120"/>
              </a:rPr>
              <a:t>domainNumber</a:t>
            </a:r>
            <a:endParaRPr lang="en-US" sz="1340" dirty="0"/>
          </a:p>
        </p:txBody>
      </p:sp>
      <p:sp>
        <p:nvSpPr>
          <p:cNvPr id="17" name="Text 15"/>
          <p:cNvSpPr/>
          <p:nvPr/>
        </p:nvSpPr>
        <p:spPr>
          <a:xfrm>
            <a:off x="2857500" y="2438400"/>
            <a:ext cx="2590800" cy="209550"/>
          </a:xfrm>
          <a:prstGeom prst="rect">
            <a:avLst/>
          </a:prstGeom>
          <a:noFill/>
          <a:ln/>
        </p:spPr>
        <p:txBody>
          <a:bodyPr wrap="square" lIns="0" tIns="0" rIns="0" bIns="0" rtlCol="0" anchor="t">
            <a:normAutofit/>
          </a:bodyPr>
          <a:lstStyle/>
          <a:p>
            <a:pPr marL="0" indent="0" algn="l">
              <a:lnSpc>
                <a:spcPct val="100000"/>
              </a:lnSpc>
              <a:buNone/>
            </a:pPr>
            <a:r>
              <a:rPr lang="en-US" sz="1310" b="1" dirty="0">
                <a:solidFill>
                  <a:srgbClr val="1C7293"/>
                </a:solidFill>
                <a:latin typeface="Calibri" pitchFamily="34" charset="0"/>
                <a:ea typeface="Calibri" pitchFamily="34" charset="-122"/>
                <a:cs typeface="Calibri" pitchFamily="34" charset="-120"/>
              </a:rPr>
              <a:t>24</a:t>
            </a:r>
            <a:endParaRPr lang="en-US" sz="1310" dirty="0"/>
          </a:p>
        </p:txBody>
      </p:sp>
      <p:sp>
        <p:nvSpPr>
          <p:cNvPr id="18" name="Text 16"/>
          <p:cNvSpPr/>
          <p:nvPr/>
        </p:nvSpPr>
        <p:spPr>
          <a:xfrm>
            <a:off x="5505450" y="2419350"/>
            <a:ext cx="2857500" cy="304800"/>
          </a:xfrm>
          <a:prstGeom prst="rect">
            <a:avLst/>
          </a:prstGeom>
          <a:noFill/>
          <a:ln/>
        </p:spPr>
        <p:txBody>
          <a:bodyPr wrap="square" lIns="0" tIns="0" rIns="0" bIns="0" rtlCol="0" anchor="t">
            <a:normAutofit/>
          </a:bodyPr>
          <a:lstStyle/>
          <a:p>
            <a:pPr marL="0" indent="0" algn="l">
              <a:lnSpc>
                <a:spcPct val="92000"/>
              </a:lnSpc>
              <a:buNone/>
            </a:pPr>
            <a:r>
              <a:rPr lang="en-US" sz="1150" dirty="0">
                <a:solidFill>
                  <a:srgbClr val="5B6B7C"/>
                </a:solidFill>
                <a:latin typeface="Calibri" pitchFamily="34" charset="0"/>
                <a:ea typeface="Calibri" pitchFamily="34" charset="-122"/>
                <a:cs typeface="Calibri" pitchFamily="34" charset="-120"/>
              </a:rPr>
              <a:t>G.8275.1 permitted range 24–43</a:t>
            </a:r>
            <a:endParaRPr lang="en-US" sz="1150" dirty="0"/>
          </a:p>
        </p:txBody>
      </p:sp>
      <p:sp>
        <p:nvSpPr>
          <p:cNvPr id="19" name="Shape 17"/>
          <p:cNvSpPr/>
          <p:nvPr/>
        </p:nvSpPr>
        <p:spPr>
          <a:xfrm>
            <a:off x="571500" y="2743200"/>
            <a:ext cx="7810500" cy="11430"/>
          </a:xfrm>
          <a:prstGeom prst="rect">
            <a:avLst/>
          </a:prstGeom>
          <a:solidFill>
            <a:srgbClr val="D7E1EA"/>
          </a:solidFill>
          <a:ln/>
        </p:spPr>
        <p:txBody>
          <a:bodyPr/>
          <a:lstStyle/>
          <a:p>
            <a:endParaRPr lang="en-IN"/>
          </a:p>
        </p:txBody>
      </p:sp>
      <p:sp>
        <p:nvSpPr>
          <p:cNvPr id="20" name="Text 18"/>
          <p:cNvSpPr/>
          <p:nvPr/>
        </p:nvSpPr>
        <p:spPr>
          <a:xfrm>
            <a:off x="666750" y="2838450"/>
            <a:ext cx="2114550" cy="209550"/>
          </a:xfrm>
          <a:prstGeom prst="rect">
            <a:avLst/>
          </a:prstGeom>
          <a:noFill/>
          <a:ln/>
        </p:spPr>
        <p:txBody>
          <a:bodyPr wrap="square" lIns="0" tIns="0" rIns="0" bIns="0" rtlCol="0" anchor="t">
            <a:normAutofit/>
          </a:bodyPr>
          <a:lstStyle/>
          <a:p>
            <a:pPr marL="0" indent="0" algn="l">
              <a:lnSpc>
                <a:spcPct val="100000"/>
              </a:lnSpc>
              <a:buNone/>
            </a:pPr>
            <a:r>
              <a:rPr lang="en-US" sz="1340" b="1" dirty="0">
                <a:solidFill>
                  <a:srgbClr val="12263A"/>
                </a:solidFill>
                <a:latin typeface="Cambria" pitchFamily="34" charset="0"/>
                <a:ea typeface="Cambria" pitchFamily="34" charset="-122"/>
                <a:cs typeface="Cambria" pitchFamily="34" charset="-120"/>
              </a:rPr>
              <a:t>priority1</a:t>
            </a:r>
            <a:endParaRPr lang="en-US" sz="1340" dirty="0"/>
          </a:p>
        </p:txBody>
      </p:sp>
      <p:sp>
        <p:nvSpPr>
          <p:cNvPr id="21" name="Text 19"/>
          <p:cNvSpPr/>
          <p:nvPr/>
        </p:nvSpPr>
        <p:spPr>
          <a:xfrm>
            <a:off x="2857500" y="2838450"/>
            <a:ext cx="2590800" cy="209550"/>
          </a:xfrm>
          <a:prstGeom prst="rect">
            <a:avLst/>
          </a:prstGeom>
          <a:noFill/>
          <a:ln/>
        </p:spPr>
        <p:txBody>
          <a:bodyPr wrap="square" lIns="0" tIns="0" rIns="0" bIns="0" rtlCol="0" anchor="t">
            <a:normAutofit/>
          </a:bodyPr>
          <a:lstStyle/>
          <a:p>
            <a:pPr marL="0" indent="0" algn="l">
              <a:lnSpc>
                <a:spcPct val="100000"/>
              </a:lnSpc>
              <a:buNone/>
            </a:pPr>
            <a:r>
              <a:rPr lang="en-US" sz="1310" b="1" dirty="0">
                <a:solidFill>
                  <a:srgbClr val="1C7293"/>
                </a:solidFill>
                <a:latin typeface="Calibri" pitchFamily="34" charset="0"/>
                <a:ea typeface="Calibri" pitchFamily="34" charset="-122"/>
                <a:cs typeface="Calibri" pitchFamily="34" charset="-120"/>
              </a:rPr>
              <a:t>128 (fixed)</a:t>
            </a:r>
            <a:endParaRPr lang="en-US" sz="1310" dirty="0"/>
          </a:p>
        </p:txBody>
      </p:sp>
      <p:sp>
        <p:nvSpPr>
          <p:cNvPr id="22" name="Text 20"/>
          <p:cNvSpPr/>
          <p:nvPr/>
        </p:nvSpPr>
        <p:spPr>
          <a:xfrm>
            <a:off x="5505450" y="2819400"/>
            <a:ext cx="2857500" cy="304800"/>
          </a:xfrm>
          <a:prstGeom prst="rect">
            <a:avLst/>
          </a:prstGeom>
          <a:noFill/>
          <a:ln/>
        </p:spPr>
        <p:txBody>
          <a:bodyPr wrap="square" lIns="0" tIns="0" rIns="0" bIns="0" rtlCol="0" anchor="t">
            <a:normAutofit/>
          </a:bodyPr>
          <a:lstStyle/>
          <a:p>
            <a:pPr marL="0" indent="0" algn="l">
              <a:lnSpc>
                <a:spcPct val="92000"/>
              </a:lnSpc>
              <a:buNone/>
            </a:pPr>
            <a:r>
              <a:rPr lang="en-US" sz="1150" dirty="0">
                <a:solidFill>
                  <a:srgbClr val="5B6B7C"/>
                </a:solidFill>
                <a:latin typeface="Calibri" pitchFamily="34" charset="0"/>
                <a:ea typeface="Calibri" pitchFamily="34" charset="-122"/>
                <a:cs typeface="Calibri" pitchFamily="34" charset="-120"/>
              </a:rPr>
              <a:t>G.8275.1 fixes the value and the alternate BMCA excludes it from comparison</a:t>
            </a:r>
            <a:endParaRPr lang="en-US" sz="1150" dirty="0"/>
          </a:p>
        </p:txBody>
      </p:sp>
      <p:sp>
        <p:nvSpPr>
          <p:cNvPr id="23" name="Shape 21"/>
          <p:cNvSpPr/>
          <p:nvPr/>
        </p:nvSpPr>
        <p:spPr>
          <a:xfrm>
            <a:off x="571500" y="3143250"/>
            <a:ext cx="7810500" cy="11430"/>
          </a:xfrm>
          <a:prstGeom prst="rect">
            <a:avLst/>
          </a:prstGeom>
          <a:solidFill>
            <a:srgbClr val="D7E1EA"/>
          </a:solidFill>
          <a:ln/>
        </p:spPr>
        <p:txBody>
          <a:bodyPr/>
          <a:lstStyle/>
          <a:p>
            <a:endParaRPr lang="en-IN"/>
          </a:p>
        </p:txBody>
      </p:sp>
      <p:sp>
        <p:nvSpPr>
          <p:cNvPr id="24" name="Text 22"/>
          <p:cNvSpPr/>
          <p:nvPr/>
        </p:nvSpPr>
        <p:spPr>
          <a:xfrm>
            <a:off x="666750" y="3238500"/>
            <a:ext cx="2114550" cy="209550"/>
          </a:xfrm>
          <a:prstGeom prst="rect">
            <a:avLst/>
          </a:prstGeom>
          <a:noFill/>
          <a:ln/>
        </p:spPr>
        <p:txBody>
          <a:bodyPr wrap="square" lIns="0" tIns="0" rIns="0" bIns="0" rtlCol="0" anchor="t">
            <a:normAutofit/>
          </a:bodyPr>
          <a:lstStyle/>
          <a:p>
            <a:pPr marL="0" indent="0" algn="l">
              <a:lnSpc>
                <a:spcPct val="100000"/>
              </a:lnSpc>
              <a:buNone/>
            </a:pPr>
            <a:r>
              <a:rPr lang="en-US" sz="1340" b="1" dirty="0">
                <a:solidFill>
                  <a:srgbClr val="12263A"/>
                </a:solidFill>
                <a:latin typeface="Cambria" pitchFamily="34" charset="0"/>
                <a:ea typeface="Cambria" pitchFamily="34" charset="-122"/>
                <a:cs typeface="Cambria" pitchFamily="34" charset="-120"/>
              </a:rPr>
              <a:t>Sync rate</a:t>
            </a:r>
            <a:endParaRPr lang="en-US" sz="1340" dirty="0"/>
          </a:p>
        </p:txBody>
      </p:sp>
      <p:sp>
        <p:nvSpPr>
          <p:cNvPr id="25" name="Text 23"/>
          <p:cNvSpPr/>
          <p:nvPr/>
        </p:nvSpPr>
        <p:spPr>
          <a:xfrm>
            <a:off x="2857500" y="3238500"/>
            <a:ext cx="2590800" cy="209550"/>
          </a:xfrm>
          <a:prstGeom prst="rect">
            <a:avLst/>
          </a:prstGeom>
          <a:noFill/>
          <a:ln/>
        </p:spPr>
        <p:txBody>
          <a:bodyPr wrap="square" lIns="0" tIns="0" rIns="0" bIns="0" rtlCol="0" anchor="t">
            <a:normAutofit/>
          </a:bodyPr>
          <a:lstStyle/>
          <a:p>
            <a:pPr marL="0" indent="0" algn="l">
              <a:lnSpc>
                <a:spcPct val="100000"/>
              </a:lnSpc>
              <a:buNone/>
            </a:pPr>
            <a:r>
              <a:rPr lang="en-US" sz="1310" b="1" dirty="0">
                <a:solidFill>
                  <a:srgbClr val="1C7293"/>
                </a:solidFill>
                <a:latin typeface="Calibri" pitchFamily="34" charset="0"/>
                <a:ea typeface="Calibri" pitchFamily="34" charset="-122"/>
                <a:cs typeface="Calibri" pitchFamily="34" charset="-120"/>
              </a:rPr>
              <a:t>16 / s  (logInterval −4)</a:t>
            </a:r>
            <a:endParaRPr lang="en-US" sz="1310" dirty="0"/>
          </a:p>
        </p:txBody>
      </p:sp>
      <p:sp>
        <p:nvSpPr>
          <p:cNvPr id="26" name="Text 24"/>
          <p:cNvSpPr/>
          <p:nvPr/>
        </p:nvSpPr>
        <p:spPr>
          <a:xfrm>
            <a:off x="5505450" y="3219450"/>
            <a:ext cx="2857500" cy="304800"/>
          </a:xfrm>
          <a:prstGeom prst="rect">
            <a:avLst/>
          </a:prstGeom>
          <a:noFill/>
          <a:ln/>
        </p:spPr>
        <p:txBody>
          <a:bodyPr wrap="square" lIns="0" tIns="0" rIns="0" bIns="0" rtlCol="0" anchor="t">
            <a:normAutofit/>
          </a:bodyPr>
          <a:lstStyle/>
          <a:p>
            <a:pPr marL="0" indent="0" algn="l">
              <a:lnSpc>
                <a:spcPct val="92000"/>
              </a:lnSpc>
              <a:buNone/>
            </a:pPr>
            <a:r>
              <a:rPr lang="en-US" sz="1150" dirty="0">
                <a:solidFill>
                  <a:srgbClr val="5B6B7C"/>
                </a:solidFill>
                <a:latin typeface="Calibri" pitchFamily="34" charset="0"/>
                <a:ea typeface="Calibri" pitchFamily="34" charset="-122"/>
                <a:cs typeface="Calibri" pitchFamily="34" charset="-120"/>
              </a:rPr>
              <a:t>G.8275.1</a:t>
            </a:r>
            <a:endParaRPr lang="en-US" sz="1150" dirty="0"/>
          </a:p>
        </p:txBody>
      </p:sp>
      <p:sp>
        <p:nvSpPr>
          <p:cNvPr id="27" name="Shape 25"/>
          <p:cNvSpPr/>
          <p:nvPr/>
        </p:nvSpPr>
        <p:spPr>
          <a:xfrm>
            <a:off x="571500" y="3543300"/>
            <a:ext cx="7810500" cy="11430"/>
          </a:xfrm>
          <a:prstGeom prst="rect">
            <a:avLst/>
          </a:prstGeom>
          <a:solidFill>
            <a:srgbClr val="D7E1EA"/>
          </a:solidFill>
          <a:ln/>
        </p:spPr>
        <p:txBody>
          <a:bodyPr/>
          <a:lstStyle/>
          <a:p>
            <a:endParaRPr lang="en-IN"/>
          </a:p>
        </p:txBody>
      </p:sp>
      <p:sp>
        <p:nvSpPr>
          <p:cNvPr id="28" name="Text 26"/>
          <p:cNvSpPr/>
          <p:nvPr/>
        </p:nvSpPr>
        <p:spPr>
          <a:xfrm>
            <a:off x="666750" y="3638550"/>
            <a:ext cx="2114550" cy="209550"/>
          </a:xfrm>
          <a:prstGeom prst="rect">
            <a:avLst/>
          </a:prstGeom>
          <a:noFill/>
          <a:ln/>
        </p:spPr>
        <p:txBody>
          <a:bodyPr wrap="square" lIns="0" tIns="0" rIns="0" bIns="0" rtlCol="0" anchor="t">
            <a:normAutofit/>
          </a:bodyPr>
          <a:lstStyle/>
          <a:p>
            <a:pPr marL="0" indent="0" algn="l">
              <a:lnSpc>
                <a:spcPct val="100000"/>
              </a:lnSpc>
              <a:buNone/>
            </a:pPr>
            <a:r>
              <a:rPr lang="en-US" sz="1340" b="1" dirty="0">
                <a:solidFill>
                  <a:srgbClr val="12263A"/>
                </a:solidFill>
                <a:latin typeface="Cambria" pitchFamily="34" charset="0"/>
                <a:ea typeface="Cambria" pitchFamily="34" charset="-122"/>
                <a:cs typeface="Cambria" pitchFamily="34" charset="-120"/>
              </a:rPr>
              <a:t>Announce rate</a:t>
            </a:r>
            <a:endParaRPr lang="en-US" sz="1340" dirty="0"/>
          </a:p>
        </p:txBody>
      </p:sp>
      <p:sp>
        <p:nvSpPr>
          <p:cNvPr id="29" name="Text 27"/>
          <p:cNvSpPr/>
          <p:nvPr/>
        </p:nvSpPr>
        <p:spPr>
          <a:xfrm>
            <a:off x="2857500" y="3638550"/>
            <a:ext cx="2590800" cy="209550"/>
          </a:xfrm>
          <a:prstGeom prst="rect">
            <a:avLst/>
          </a:prstGeom>
          <a:noFill/>
          <a:ln/>
        </p:spPr>
        <p:txBody>
          <a:bodyPr wrap="square" lIns="0" tIns="0" rIns="0" bIns="0" rtlCol="0" anchor="t">
            <a:normAutofit/>
          </a:bodyPr>
          <a:lstStyle/>
          <a:p>
            <a:pPr marL="0" indent="0" algn="l">
              <a:lnSpc>
                <a:spcPct val="100000"/>
              </a:lnSpc>
              <a:buNone/>
            </a:pPr>
            <a:r>
              <a:rPr lang="en-US" sz="1310" b="1" dirty="0">
                <a:solidFill>
                  <a:srgbClr val="1C7293"/>
                </a:solidFill>
                <a:latin typeface="Calibri" pitchFamily="34" charset="0"/>
                <a:ea typeface="Calibri" pitchFamily="34" charset="-122"/>
                <a:cs typeface="Calibri" pitchFamily="34" charset="-120"/>
              </a:rPr>
              <a:t>8 / s  (logInterval −3)</a:t>
            </a:r>
            <a:endParaRPr lang="en-US" sz="1310" dirty="0"/>
          </a:p>
        </p:txBody>
      </p:sp>
      <p:sp>
        <p:nvSpPr>
          <p:cNvPr id="30" name="Text 28"/>
          <p:cNvSpPr/>
          <p:nvPr/>
        </p:nvSpPr>
        <p:spPr>
          <a:xfrm>
            <a:off x="5505450" y="3619500"/>
            <a:ext cx="2857500" cy="304800"/>
          </a:xfrm>
          <a:prstGeom prst="rect">
            <a:avLst/>
          </a:prstGeom>
          <a:noFill/>
          <a:ln/>
        </p:spPr>
        <p:txBody>
          <a:bodyPr wrap="square" lIns="0" tIns="0" rIns="0" bIns="0" rtlCol="0" anchor="t">
            <a:normAutofit/>
          </a:bodyPr>
          <a:lstStyle/>
          <a:p>
            <a:pPr marL="0" indent="0" algn="l">
              <a:lnSpc>
                <a:spcPct val="92000"/>
              </a:lnSpc>
              <a:buNone/>
            </a:pPr>
            <a:r>
              <a:rPr lang="en-US" sz="1150" dirty="0">
                <a:solidFill>
                  <a:srgbClr val="5B6B7C"/>
                </a:solidFill>
                <a:latin typeface="Calibri" pitchFamily="34" charset="0"/>
                <a:ea typeface="Calibri" pitchFamily="34" charset="-122"/>
                <a:cs typeface="Calibri" pitchFamily="34" charset="-120"/>
              </a:rPr>
              <a:t>G.8275.1</a:t>
            </a:r>
            <a:endParaRPr lang="en-US" sz="1150" dirty="0"/>
          </a:p>
        </p:txBody>
      </p:sp>
      <p:sp>
        <p:nvSpPr>
          <p:cNvPr id="31" name="Shape 29"/>
          <p:cNvSpPr/>
          <p:nvPr/>
        </p:nvSpPr>
        <p:spPr>
          <a:xfrm>
            <a:off x="571500" y="3943350"/>
            <a:ext cx="7810500" cy="11430"/>
          </a:xfrm>
          <a:prstGeom prst="rect">
            <a:avLst/>
          </a:prstGeom>
          <a:solidFill>
            <a:srgbClr val="D7E1EA"/>
          </a:solidFill>
          <a:ln/>
        </p:spPr>
        <p:txBody>
          <a:bodyPr/>
          <a:lstStyle/>
          <a:p>
            <a:endParaRPr lang="en-IN"/>
          </a:p>
        </p:txBody>
      </p:sp>
      <p:sp>
        <p:nvSpPr>
          <p:cNvPr id="32" name="Text 30"/>
          <p:cNvSpPr/>
          <p:nvPr/>
        </p:nvSpPr>
        <p:spPr>
          <a:xfrm>
            <a:off x="666750" y="4038600"/>
            <a:ext cx="2114550" cy="209550"/>
          </a:xfrm>
          <a:prstGeom prst="rect">
            <a:avLst/>
          </a:prstGeom>
          <a:noFill/>
          <a:ln/>
        </p:spPr>
        <p:txBody>
          <a:bodyPr wrap="square" lIns="0" tIns="0" rIns="0" bIns="0" rtlCol="0" anchor="t">
            <a:normAutofit/>
          </a:bodyPr>
          <a:lstStyle/>
          <a:p>
            <a:pPr marL="0" indent="0" algn="l">
              <a:lnSpc>
                <a:spcPct val="100000"/>
              </a:lnSpc>
              <a:buNone/>
            </a:pPr>
            <a:r>
              <a:rPr lang="en-US" sz="1340" b="1" dirty="0">
                <a:solidFill>
                  <a:srgbClr val="12263A"/>
                </a:solidFill>
                <a:latin typeface="Cambria" pitchFamily="34" charset="0"/>
                <a:ea typeface="Cambria" pitchFamily="34" charset="-122"/>
                <a:cs typeface="Cambria" pitchFamily="34" charset="-120"/>
              </a:rPr>
              <a:t>BMCA</a:t>
            </a:r>
            <a:endParaRPr lang="en-US" sz="1340" dirty="0"/>
          </a:p>
        </p:txBody>
      </p:sp>
      <p:sp>
        <p:nvSpPr>
          <p:cNvPr id="33" name="Text 31"/>
          <p:cNvSpPr/>
          <p:nvPr/>
        </p:nvSpPr>
        <p:spPr>
          <a:xfrm>
            <a:off x="2857500" y="4038600"/>
            <a:ext cx="2590800" cy="209550"/>
          </a:xfrm>
          <a:prstGeom prst="rect">
            <a:avLst/>
          </a:prstGeom>
          <a:noFill/>
          <a:ln/>
        </p:spPr>
        <p:txBody>
          <a:bodyPr wrap="square" lIns="0" tIns="0" rIns="0" bIns="0" rtlCol="0" anchor="t">
            <a:normAutofit/>
          </a:bodyPr>
          <a:lstStyle/>
          <a:p>
            <a:pPr marL="0" indent="0" algn="l">
              <a:lnSpc>
                <a:spcPct val="100000"/>
              </a:lnSpc>
              <a:buNone/>
            </a:pPr>
            <a:r>
              <a:rPr lang="en-US" sz="1310" b="1" dirty="0">
                <a:solidFill>
                  <a:srgbClr val="1C7293"/>
                </a:solidFill>
                <a:latin typeface="Calibri" pitchFamily="34" charset="0"/>
                <a:ea typeface="Calibri" pitchFamily="34" charset="-122"/>
                <a:cs typeface="Calibri" pitchFamily="34" charset="-120"/>
              </a:rPr>
              <a:t>dataset_comparison G.8275.x</a:t>
            </a:r>
            <a:endParaRPr lang="en-US" sz="1310" dirty="0"/>
          </a:p>
        </p:txBody>
      </p:sp>
      <p:sp>
        <p:nvSpPr>
          <p:cNvPr id="34" name="Text 32"/>
          <p:cNvSpPr/>
          <p:nvPr/>
        </p:nvSpPr>
        <p:spPr>
          <a:xfrm>
            <a:off x="5505450" y="4019550"/>
            <a:ext cx="2857500" cy="304800"/>
          </a:xfrm>
          <a:prstGeom prst="rect">
            <a:avLst/>
          </a:prstGeom>
          <a:noFill/>
          <a:ln/>
        </p:spPr>
        <p:txBody>
          <a:bodyPr wrap="square" lIns="0" tIns="0" rIns="0" bIns="0" rtlCol="0" anchor="t">
            <a:normAutofit/>
          </a:bodyPr>
          <a:lstStyle/>
          <a:p>
            <a:pPr marL="0" indent="0" algn="l">
              <a:lnSpc>
                <a:spcPct val="92000"/>
              </a:lnSpc>
              <a:buNone/>
            </a:pPr>
            <a:r>
              <a:rPr lang="en-US" sz="1150" dirty="0">
                <a:solidFill>
                  <a:srgbClr val="5B6B7C"/>
                </a:solidFill>
                <a:latin typeface="Calibri" pitchFamily="34" charset="0"/>
                <a:ea typeface="Calibri" pitchFamily="34" charset="-122"/>
                <a:cs typeface="Calibri" pitchFamily="34" charset="-120"/>
              </a:rPr>
              <a:t>Alternate BMCA, not the IEEE 1588 default</a:t>
            </a:r>
            <a:endParaRPr lang="en-US" sz="1150" dirty="0"/>
          </a:p>
        </p:txBody>
      </p:sp>
      <p:sp>
        <p:nvSpPr>
          <p:cNvPr id="35" name="Shape 33"/>
          <p:cNvSpPr/>
          <p:nvPr/>
        </p:nvSpPr>
        <p:spPr>
          <a:xfrm>
            <a:off x="571500" y="4343400"/>
            <a:ext cx="7810500" cy="11430"/>
          </a:xfrm>
          <a:prstGeom prst="rect">
            <a:avLst/>
          </a:prstGeom>
          <a:solidFill>
            <a:srgbClr val="D7E1EA"/>
          </a:solidFill>
          <a:ln/>
        </p:spPr>
        <p:txBody>
          <a:bodyPr/>
          <a:lstStyle/>
          <a:p>
            <a:endParaRPr lang="en-IN"/>
          </a:p>
        </p:txBody>
      </p:sp>
      <p:sp>
        <p:nvSpPr>
          <p:cNvPr id="36" name="Text 34"/>
          <p:cNvSpPr/>
          <p:nvPr/>
        </p:nvSpPr>
        <p:spPr>
          <a:xfrm>
            <a:off x="666750" y="4438650"/>
            <a:ext cx="2114550" cy="209550"/>
          </a:xfrm>
          <a:prstGeom prst="rect">
            <a:avLst/>
          </a:prstGeom>
          <a:noFill/>
          <a:ln/>
        </p:spPr>
        <p:txBody>
          <a:bodyPr wrap="square" lIns="0" tIns="0" rIns="0" bIns="0" rtlCol="0" anchor="t">
            <a:normAutofit/>
          </a:bodyPr>
          <a:lstStyle/>
          <a:p>
            <a:pPr marL="0" indent="0" algn="l">
              <a:lnSpc>
                <a:spcPct val="100000"/>
              </a:lnSpc>
              <a:buNone/>
            </a:pPr>
            <a:r>
              <a:rPr lang="en-US" sz="1340" b="1" dirty="0">
                <a:solidFill>
                  <a:srgbClr val="12263A"/>
                </a:solidFill>
                <a:latin typeface="Cambria" pitchFamily="34" charset="0"/>
                <a:ea typeface="Cambria" pitchFamily="34" charset="-122"/>
                <a:cs typeface="Cambria" pitchFamily="34" charset="-120"/>
              </a:rPr>
              <a:t>Transport</a:t>
            </a:r>
            <a:endParaRPr lang="en-US" sz="1340" dirty="0"/>
          </a:p>
        </p:txBody>
      </p:sp>
      <p:sp>
        <p:nvSpPr>
          <p:cNvPr id="37" name="Text 35"/>
          <p:cNvSpPr/>
          <p:nvPr/>
        </p:nvSpPr>
        <p:spPr>
          <a:xfrm>
            <a:off x="2857500" y="4438650"/>
            <a:ext cx="2590800" cy="209550"/>
          </a:xfrm>
          <a:prstGeom prst="rect">
            <a:avLst/>
          </a:prstGeom>
          <a:noFill/>
          <a:ln/>
        </p:spPr>
        <p:txBody>
          <a:bodyPr wrap="square" lIns="0" tIns="0" rIns="0" bIns="0" rtlCol="0" anchor="t">
            <a:normAutofit/>
          </a:bodyPr>
          <a:lstStyle/>
          <a:p>
            <a:pPr marL="0" indent="0" algn="l">
              <a:lnSpc>
                <a:spcPct val="100000"/>
              </a:lnSpc>
              <a:buNone/>
            </a:pPr>
            <a:r>
              <a:rPr lang="en-US" sz="1310" b="1" dirty="0">
                <a:solidFill>
                  <a:srgbClr val="1C7293"/>
                </a:solidFill>
                <a:latin typeface="Calibri" pitchFamily="34" charset="0"/>
                <a:ea typeface="Calibri" pitchFamily="34" charset="-122"/>
                <a:cs typeface="Calibri" pitchFamily="34" charset="-120"/>
              </a:rPr>
              <a:t>L2 multicast 01-1B-19-00-00-00</a:t>
            </a:r>
            <a:endParaRPr lang="en-US" sz="1310" dirty="0"/>
          </a:p>
        </p:txBody>
      </p:sp>
      <p:sp>
        <p:nvSpPr>
          <p:cNvPr id="38" name="Text 36"/>
          <p:cNvSpPr/>
          <p:nvPr/>
        </p:nvSpPr>
        <p:spPr>
          <a:xfrm>
            <a:off x="5505450" y="4419600"/>
            <a:ext cx="2857500" cy="304800"/>
          </a:xfrm>
          <a:prstGeom prst="rect">
            <a:avLst/>
          </a:prstGeom>
          <a:noFill/>
          <a:ln/>
        </p:spPr>
        <p:txBody>
          <a:bodyPr wrap="square" lIns="0" tIns="0" rIns="0" bIns="0" rtlCol="0" anchor="t">
            <a:normAutofit/>
          </a:bodyPr>
          <a:lstStyle/>
          <a:p>
            <a:pPr marL="0" indent="0" algn="l">
              <a:lnSpc>
                <a:spcPct val="92000"/>
              </a:lnSpc>
              <a:buNone/>
            </a:pPr>
            <a:r>
              <a:rPr lang="en-US" sz="1150" dirty="0">
                <a:solidFill>
                  <a:srgbClr val="5B6B7C"/>
                </a:solidFill>
                <a:latin typeface="Calibri" pitchFamily="34" charset="0"/>
                <a:ea typeface="Calibri" pitchFamily="34" charset="-122"/>
                <a:cs typeface="Calibri" pitchFamily="34" charset="-120"/>
              </a:rPr>
              <a:t>Forwardable address, permitted by G.8275.1 (linuxptp default)</a:t>
            </a:r>
            <a:endParaRPr lang="en-US" sz="1150" dirty="0"/>
          </a:p>
        </p:txBody>
      </p:sp>
      <p:sp>
        <p:nvSpPr>
          <p:cNvPr id="39" name="Shape 37"/>
          <p:cNvSpPr/>
          <p:nvPr/>
        </p:nvSpPr>
        <p:spPr>
          <a:xfrm>
            <a:off x="571500" y="4743450"/>
            <a:ext cx="7810500" cy="11430"/>
          </a:xfrm>
          <a:prstGeom prst="rect">
            <a:avLst/>
          </a:prstGeom>
          <a:solidFill>
            <a:srgbClr val="D7E1EA"/>
          </a:solidFill>
          <a:ln/>
        </p:spPr>
        <p:txBody>
          <a:bodyPr/>
          <a:lstStyle/>
          <a:p>
            <a:endParaRPr lang="en-IN"/>
          </a:p>
        </p:txBody>
      </p:sp>
      <p:sp>
        <p:nvSpPr>
          <p:cNvPr id="40" name="Text 38"/>
          <p:cNvSpPr/>
          <p:nvPr/>
        </p:nvSpPr>
        <p:spPr>
          <a:xfrm>
            <a:off x="666750" y="4838700"/>
            <a:ext cx="2114550" cy="209550"/>
          </a:xfrm>
          <a:prstGeom prst="rect">
            <a:avLst/>
          </a:prstGeom>
          <a:noFill/>
          <a:ln/>
        </p:spPr>
        <p:txBody>
          <a:bodyPr wrap="square" lIns="0" tIns="0" rIns="0" bIns="0" rtlCol="0" anchor="t">
            <a:normAutofit/>
          </a:bodyPr>
          <a:lstStyle/>
          <a:p>
            <a:pPr marL="0" indent="0" algn="l">
              <a:lnSpc>
                <a:spcPct val="100000"/>
              </a:lnSpc>
              <a:buNone/>
            </a:pPr>
            <a:r>
              <a:rPr lang="en-US" sz="1340" b="1" dirty="0">
                <a:solidFill>
                  <a:srgbClr val="12263A"/>
                </a:solidFill>
                <a:latin typeface="Cambria" pitchFamily="34" charset="0"/>
                <a:ea typeface="Cambria" pitchFamily="34" charset="-122"/>
                <a:cs typeface="Cambria" pitchFamily="34" charset="-120"/>
              </a:rPr>
              <a:t>Timestamping</a:t>
            </a:r>
            <a:endParaRPr lang="en-US" sz="1340" dirty="0"/>
          </a:p>
        </p:txBody>
      </p:sp>
      <p:sp>
        <p:nvSpPr>
          <p:cNvPr id="41" name="Text 39"/>
          <p:cNvSpPr/>
          <p:nvPr/>
        </p:nvSpPr>
        <p:spPr>
          <a:xfrm>
            <a:off x="2857500" y="4838700"/>
            <a:ext cx="2590800" cy="209550"/>
          </a:xfrm>
          <a:prstGeom prst="rect">
            <a:avLst/>
          </a:prstGeom>
          <a:noFill/>
          <a:ln/>
        </p:spPr>
        <p:txBody>
          <a:bodyPr wrap="square" lIns="0" tIns="0" rIns="0" bIns="0" rtlCol="0" anchor="t">
            <a:normAutofit/>
          </a:bodyPr>
          <a:lstStyle/>
          <a:p>
            <a:pPr marL="0" indent="0" algn="l">
              <a:lnSpc>
                <a:spcPct val="100000"/>
              </a:lnSpc>
              <a:buNone/>
            </a:pPr>
            <a:r>
              <a:rPr lang="en-US" sz="1310" b="1" dirty="0">
                <a:solidFill>
                  <a:srgbClr val="1C7293"/>
                </a:solidFill>
                <a:latin typeface="Calibri" pitchFamily="34" charset="0"/>
                <a:ea typeface="Calibri" pitchFamily="34" charset="-122"/>
                <a:cs typeface="Calibri" pitchFamily="34" charset="-120"/>
              </a:rPr>
              <a:t>software</a:t>
            </a:r>
            <a:endParaRPr lang="en-US" sz="1310" dirty="0"/>
          </a:p>
        </p:txBody>
      </p:sp>
      <p:sp>
        <p:nvSpPr>
          <p:cNvPr id="42" name="Text 40"/>
          <p:cNvSpPr/>
          <p:nvPr/>
        </p:nvSpPr>
        <p:spPr>
          <a:xfrm>
            <a:off x="5505450" y="4819650"/>
            <a:ext cx="2857500" cy="304800"/>
          </a:xfrm>
          <a:prstGeom prst="rect">
            <a:avLst/>
          </a:prstGeom>
          <a:noFill/>
          <a:ln/>
        </p:spPr>
        <p:txBody>
          <a:bodyPr wrap="square" lIns="0" tIns="0" rIns="0" bIns="0" rtlCol="0" anchor="t">
            <a:normAutofit/>
          </a:bodyPr>
          <a:lstStyle/>
          <a:p>
            <a:pPr marL="0" indent="0" algn="l">
              <a:lnSpc>
                <a:spcPct val="92000"/>
              </a:lnSpc>
              <a:buNone/>
            </a:pPr>
            <a:r>
              <a:rPr lang="en-US" sz="1150" dirty="0">
                <a:solidFill>
                  <a:srgbClr val="5B6B7C"/>
                </a:solidFill>
                <a:latin typeface="Calibri" pitchFamily="34" charset="0"/>
                <a:ea typeface="Calibri" pitchFamily="34" charset="-122"/>
                <a:cs typeface="Calibri" pitchFamily="34" charset="-120"/>
              </a:rPr>
              <a:t>Platform limit — see constraints</a:t>
            </a:r>
            <a:endParaRPr lang="en-US" sz="1150" dirty="0"/>
          </a:p>
        </p:txBody>
      </p:sp>
      <p:sp>
        <p:nvSpPr>
          <p:cNvPr id="43" name="Shape 41"/>
          <p:cNvSpPr/>
          <p:nvPr/>
        </p:nvSpPr>
        <p:spPr>
          <a:xfrm>
            <a:off x="571500" y="5143500"/>
            <a:ext cx="7810500" cy="11430"/>
          </a:xfrm>
          <a:prstGeom prst="rect">
            <a:avLst/>
          </a:prstGeom>
          <a:solidFill>
            <a:srgbClr val="D7E1EA"/>
          </a:solidFill>
          <a:ln/>
        </p:spPr>
        <p:txBody>
          <a:bodyPr/>
          <a:lstStyle/>
          <a:p>
            <a:endParaRPr lang="en-IN"/>
          </a:p>
        </p:txBody>
      </p:sp>
      <p:sp>
        <p:nvSpPr>
          <p:cNvPr id="44" name="Shape 42"/>
          <p:cNvSpPr/>
          <p:nvPr/>
        </p:nvSpPr>
        <p:spPr>
          <a:xfrm>
            <a:off x="8620125" y="1809750"/>
            <a:ext cx="3000375" cy="3390900"/>
          </a:xfrm>
          <a:prstGeom prst="roundRect">
            <a:avLst>
              <a:gd name="adj" fmla="val 1219"/>
            </a:avLst>
          </a:prstGeom>
          <a:solidFill>
            <a:srgbClr val="0E2440"/>
          </a:solidFill>
          <a:ln w="12700">
            <a:solidFill>
              <a:srgbClr val="0E2440"/>
            </a:solidFill>
            <a:prstDash val="solid"/>
          </a:ln>
        </p:spPr>
        <p:txBody>
          <a:bodyPr/>
          <a:lstStyle/>
          <a:p>
            <a:endParaRPr lang="en-IN"/>
          </a:p>
        </p:txBody>
      </p:sp>
      <p:sp>
        <p:nvSpPr>
          <p:cNvPr id="45" name="Text 43"/>
          <p:cNvSpPr/>
          <p:nvPr/>
        </p:nvSpPr>
        <p:spPr>
          <a:xfrm>
            <a:off x="8839200" y="1962150"/>
            <a:ext cx="2667000" cy="190500"/>
          </a:xfrm>
          <a:prstGeom prst="rect">
            <a:avLst/>
          </a:prstGeom>
          <a:noFill/>
          <a:ln/>
        </p:spPr>
        <p:txBody>
          <a:bodyPr wrap="square" lIns="0" tIns="0" rIns="0" bIns="0" rtlCol="0" anchor="t">
            <a:normAutofit/>
          </a:bodyPr>
          <a:lstStyle/>
          <a:p>
            <a:pPr marL="0" indent="0" algn="l">
              <a:lnSpc>
                <a:spcPct val="100000"/>
              </a:lnSpc>
              <a:buNone/>
            </a:pPr>
            <a:r>
              <a:rPr lang="en-US" sz="1150" b="1" dirty="0">
                <a:solidFill>
                  <a:srgbClr val="18B89A"/>
                </a:solidFill>
                <a:latin typeface="Calibri" pitchFamily="34" charset="0"/>
                <a:ea typeface="Calibri" pitchFamily="34" charset="-122"/>
                <a:cs typeface="Calibri" pitchFamily="34" charset="-120"/>
              </a:rPr>
              <a:t>VERIFIED PLATFORM CONSTRAINTS</a:t>
            </a:r>
            <a:endParaRPr lang="en-US" sz="1150" dirty="0"/>
          </a:p>
        </p:txBody>
      </p:sp>
      <p:sp>
        <p:nvSpPr>
          <p:cNvPr id="46" name="Text 44"/>
          <p:cNvSpPr/>
          <p:nvPr/>
        </p:nvSpPr>
        <p:spPr>
          <a:xfrm>
            <a:off x="8839200" y="2247900"/>
            <a:ext cx="152400" cy="190500"/>
          </a:xfrm>
          <a:prstGeom prst="rect">
            <a:avLst/>
          </a:prstGeom>
          <a:noFill/>
          <a:ln/>
        </p:spPr>
        <p:txBody>
          <a:bodyPr wrap="square" lIns="0" tIns="0" rIns="0" bIns="0" rtlCol="0" anchor="t">
            <a:normAutofit/>
          </a:bodyPr>
          <a:lstStyle/>
          <a:p>
            <a:pPr marL="0" indent="0" algn="l">
              <a:lnSpc>
                <a:spcPct val="100000"/>
              </a:lnSpc>
              <a:buNone/>
            </a:pPr>
            <a:r>
              <a:rPr lang="en-US" sz="1400" b="1" dirty="0">
                <a:solidFill>
                  <a:srgbClr val="B3402F"/>
                </a:solidFill>
                <a:latin typeface="Calibri" pitchFamily="34" charset="0"/>
                <a:ea typeface="Calibri" pitchFamily="34" charset="-122"/>
                <a:cs typeface="Calibri" pitchFamily="34" charset="-120"/>
              </a:rPr>
              <a:t>!</a:t>
            </a:r>
            <a:endParaRPr lang="en-US" sz="1400" dirty="0"/>
          </a:p>
        </p:txBody>
      </p:sp>
      <p:sp>
        <p:nvSpPr>
          <p:cNvPr id="47" name="Text 45"/>
          <p:cNvSpPr/>
          <p:nvPr/>
        </p:nvSpPr>
        <p:spPr>
          <a:xfrm>
            <a:off x="9048750" y="2247900"/>
            <a:ext cx="2457450" cy="190500"/>
          </a:xfrm>
          <a:prstGeom prst="rect">
            <a:avLst/>
          </a:prstGeom>
          <a:noFill/>
          <a:ln/>
        </p:spPr>
        <p:txBody>
          <a:bodyPr wrap="square" lIns="0" tIns="0" rIns="0" bIns="0" rtlCol="0" anchor="t">
            <a:normAutofit/>
          </a:bodyPr>
          <a:lstStyle/>
          <a:p>
            <a:pPr marL="0" indent="0" algn="l">
              <a:lnSpc>
                <a:spcPct val="100000"/>
              </a:lnSpc>
              <a:buNone/>
            </a:pPr>
            <a:r>
              <a:rPr lang="en-US" sz="1350" b="1" dirty="0">
                <a:solidFill>
                  <a:srgbClr val="FFFFFF"/>
                </a:solidFill>
                <a:latin typeface="Cambria" pitchFamily="34" charset="0"/>
                <a:ea typeface="Cambria" pitchFamily="34" charset="-122"/>
                <a:cs typeface="Cambria" pitchFamily="34" charset="-120"/>
              </a:rPr>
              <a:t>No PTP hardware clock</a:t>
            </a:r>
            <a:endParaRPr lang="en-US" sz="1350" dirty="0"/>
          </a:p>
        </p:txBody>
      </p:sp>
      <p:sp>
        <p:nvSpPr>
          <p:cNvPr id="48" name="Text 46"/>
          <p:cNvSpPr/>
          <p:nvPr/>
        </p:nvSpPr>
        <p:spPr>
          <a:xfrm>
            <a:off x="9048750" y="2447925"/>
            <a:ext cx="2457450" cy="495300"/>
          </a:xfrm>
          <a:prstGeom prst="rect">
            <a:avLst/>
          </a:prstGeom>
          <a:noFill/>
          <a:ln/>
        </p:spPr>
        <p:txBody>
          <a:bodyPr wrap="square" lIns="0" tIns="0" rIns="0" bIns="0" rtlCol="0" anchor="t">
            <a:normAutofit/>
          </a:bodyPr>
          <a:lstStyle/>
          <a:p>
            <a:pPr marL="0" indent="0" algn="l">
              <a:lnSpc>
                <a:spcPct val="95000"/>
              </a:lnSpc>
              <a:buNone/>
            </a:pPr>
            <a:r>
              <a:rPr lang="en-US" sz="1080" dirty="0">
                <a:solidFill>
                  <a:srgbClr val="CFD9E5"/>
                </a:solidFill>
                <a:latin typeface="Calibri" pitchFamily="34" charset="0"/>
                <a:ea typeface="Calibri" pitchFamily="34" charset="-122"/>
                <a:cs typeface="Calibri" pitchFamily="34" charset="-120"/>
              </a:rPr>
              <a:t>ls /dev/ptp* returns empty. Software timestamping only: a microsecond-scale noise floor against a nanosecond-scale target.</a:t>
            </a:r>
            <a:endParaRPr lang="en-US" sz="1080" dirty="0"/>
          </a:p>
        </p:txBody>
      </p:sp>
      <p:sp>
        <p:nvSpPr>
          <p:cNvPr id="49" name="Text 47"/>
          <p:cNvSpPr/>
          <p:nvPr/>
        </p:nvSpPr>
        <p:spPr>
          <a:xfrm>
            <a:off x="8839200" y="2990850"/>
            <a:ext cx="152400" cy="190500"/>
          </a:xfrm>
          <a:prstGeom prst="rect">
            <a:avLst/>
          </a:prstGeom>
          <a:noFill/>
          <a:ln/>
        </p:spPr>
        <p:txBody>
          <a:bodyPr wrap="square" lIns="0" tIns="0" rIns="0" bIns="0" rtlCol="0" anchor="t">
            <a:normAutofit/>
          </a:bodyPr>
          <a:lstStyle/>
          <a:p>
            <a:pPr marL="0" indent="0" algn="l">
              <a:lnSpc>
                <a:spcPct val="100000"/>
              </a:lnSpc>
              <a:buNone/>
            </a:pPr>
            <a:r>
              <a:rPr lang="en-US" sz="1400" b="1" dirty="0">
                <a:solidFill>
                  <a:srgbClr val="B3402F"/>
                </a:solidFill>
                <a:latin typeface="Calibri" pitchFamily="34" charset="0"/>
                <a:ea typeface="Calibri" pitchFamily="34" charset="-122"/>
                <a:cs typeface="Calibri" pitchFamily="34" charset="-120"/>
              </a:rPr>
              <a:t>!</a:t>
            </a:r>
            <a:endParaRPr lang="en-US" sz="1400" dirty="0"/>
          </a:p>
        </p:txBody>
      </p:sp>
      <p:sp>
        <p:nvSpPr>
          <p:cNvPr id="50" name="Text 48"/>
          <p:cNvSpPr/>
          <p:nvPr/>
        </p:nvSpPr>
        <p:spPr>
          <a:xfrm>
            <a:off x="9048750" y="2990850"/>
            <a:ext cx="2457450" cy="190500"/>
          </a:xfrm>
          <a:prstGeom prst="rect">
            <a:avLst/>
          </a:prstGeom>
          <a:noFill/>
          <a:ln/>
        </p:spPr>
        <p:txBody>
          <a:bodyPr wrap="square" lIns="0" tIns="0" rIns="0" bIns="0" rtlCol="0" anchor="t">
            <a:normAutofit/>
          </a:bodyPr>
          <a:lstStyle/>
          <a:p>
            <a:pPr marL="0" indent="0" algn="l">
              <a:lnSpc>
                <a:spcPct val="100000"/>
              </a:lnSpc>
              <a:buNone/>
            </a:pPr>
            <a:r>
              <a:rPr lang="en-US" sz="1350" b="1" dirty="0">
                <a:solidFill>
                  <a:srgbClr val="FFFFFF"/>
                </a:solidFill>
                <a:latin typeface="Cambria" pitchFamily="34" charset="0"/>
                <a:ea typeface="Cambria" pitchFamily="34" charset="-122"/>
                <a:cs typeface="Cambria" pitchFamily="34" charset="-120"/>
              </a:rPr>
              <a:t>No loadable kernel modules</a:t>
            </a:r>
            <a:endParaRPr lang="en-US" sz="1350" dirty="0"/>
          </a:p>
        </p:txBody>
      </p:sp>
      <p:sp>
        <p:nvSpPr>
          <p:cNvPr id="51" name="Text 49"/>
          <p:cNvSpPr/>
          <p:nvPr/>
        </p:nvSpPr>
        <p:spPr>
          <a:xfrm>
            <a:off x="9048750" y="3190875"/>
            <a:ext cx="2457450" cy="495300"/>
          </a:xfrm>
          <a:prstGeom prst="rect">
            <a:avLst/>
          </a:prstGeom>
          <a:noFill/>
          <a:ln/>
        </p:spPr>
        <p:txBody>
          <a:bodyPr wrap="square" lIns="0" tIns="0" rIns="0" bIns="0" rtlCol="0" anchor="t">
            <a:normAutofit/>
          </a:bodyPr>
          <a:lstStyle/>
          <a:p>
            <a:pPr marL="0" indent="0" algn="l">
              <a:lnSpc>
                <a:spcPct val="95000"/>
              </a:lnSpc>
              <a:buNone/>
            </a:pPr>
            <a:r>
              <a:rPr lang="en-US" sz="1080" dirty="0">
                <a:solidFill>
                  <a:srgbClr val="CFD9E5"/>
                </a:solidFill>
                <a:latin typeface="Calibri" pitchFamily="34" charset="0"/>
                <a:ea typeface="Calibri" pitchFamily="34" charset="-122"/>
                <a:cs typeface="Calibri" pitchFamily="34" charset="-120"/>
              </a:rPr>
              <a:t>modprobe absent and sch_netem unavailable, so congestion uses tbf.</a:t>
            </a:r>
            <a:endParaRPr lang="en-US" sz="1080" dirty="0"/>
          </a:p>
        </p:txBody>
      </p:sp>
      <p:sp>
        <p:nvSpPr>
          <p:cNvPr id="52" name="Text 50"/>
          <p:cNvSpPr/>
          <p:nvPr/>
        </p:nvSpPr>
        <p:spPr>
          <a:xfrm>
            <a:off x="8839200" y="3733800"/>
            <a:ext cx="152400" cy="190500"/>
          </a:xfrm>
          <a:prstGeom prst="rect">
            <a:avLst/>
          </a:prstGeom>
          <a:noFill/>
          <a:ln/>
        </p:spPr>
        <p:txBody>
          <a:bodyPr wrap="square" lIns="0" tIns="0" rIns="0" bIns="0" rtlCol="0" anchor="t">
            <a:normAutofit/>
          </a:bodyPr>
          <a:lstStyle/>
          <a:p>
            <a:pPr marL="0" indent="0" algn="l">
              <a:lnSpc>
                <a:spcPct val="100000"/>
              </a:lnSpc>
              <a:buNone/>
            </a:pPr>
            <a:r>
              <a:rPr lang="en-US" sz="1400" b="1" dirty="0">
                <a:solidFill>
                  <a:srgbClr val="B3402F"/>
                </a:solidFill>
                <a:latin typeface="Calibri" pitchFamily="34" charset="0"/>
                <a:ea typeface="Calibri" pitchFamily="34" charset="-122"/>
                <a:cs typeface="Calibri" pitchFamily="34" charset="-120"/>
              </a:rPr>
              <a:t>!</a:t>
            </a:r>
            <a:endParaRPr lang="en-US" sz="1400" dirty="0"/>
          </a:p>
        </p:txBody>
      </p:sp>
      <p:sp>
        <p:nvSpPr>
          <p:cNvPr id="53" name="Text 51"/>
          <p:cNvSpPr/>
          <p:nvPr/>
        </p:nvSpPr>
        <p:spPr>
          <a:xfrm>
            <a:off x="9048750" y="3733800"/>
            <a:ext cx="2457450" cy="190500"/>
          </a:xfrm>
          <a:prstGeom prst="rect">
            <a:avLst/>
          </a:prstGeom>
          <a:noFill/>
          <a:ln/>
        </p:spPr>
        <p:txBody>
          <a:bodyPr wrap="square" lIns="0" tIns="0" rIns="0" bIns="0" rtlCol="0" anchor="t">
            <a:normAutofit/>
          </a:bodyPr>
          <a:lstStyle/>
          <a:p>
            <a:pPr marL="0" indent="0" algn="l">
              <a:lnSpc>
                <a:spcPct val="100000"/>
              </a:lnSpc>
              <a:buNone/>
            </a:pPr>
            <a:r>
              <a:rPr lang="en-US" sz="1350" b="1" dirty="0">
                <a:solidFill>
                  <a:srgbClr val="FFFFFF"/>
                </a:solidFill>
                <a:latin typeface="Cambria" pitchFamily="34" charset="0"/>
                <a:ea typeface="Cambria" pitchFamily="34" charset="-122"/>
                <a:cs typeface="Cambria" pitchFamily="34" charset="-120"/>
              </a:rPr>
              <a:t>One shared oscillator</a:t>
            </a:r>
            <a:endParaRPr lang="en-US" sz="1350" dirty="0"/>
          </a:p>
        </p:txBody>
      </p:sp>
      <p:sp>
        <p:nvSpPr>
          <p:cNvPr id="54" name="Text 52"/>
          <p:cNvSpPr/>
          <p:nvPr/>
        </p:nvSpPr>
        <p:spPr>
          <a:xfrm>
            <a:off x="9048750" y="3933825"/>
            <a:ext cx="2457450" cy="495300"/>
          </a:xfrm>
          <a:prstGeom prst="rect">
            <a:avLst/>
          </a:prstGeom>
          <a:noFill/>
          <a:ln/>
        </p:spPr>
        <p:txBody>
          <a:bodyPr wrap="square" lIns="0" tIns="0" rIns="0" bIns="0" rtlCol="0" anchor="t">
            <a:normAutofit/>
          </a:bodyPr>
          <a:lstStyle/>
          <a:p>
            <a:pPr marL="0" indent="0" algn="l">
              <a:lnSpc>
                <a:spcPct val="95000"/>
              </a:lnSpc>
              <a:buNone/>
            </a:pPr>
            <a:r>
              <a:rPr lang="en-US" sz="1080" dirty="0">
                <a:solidFill>
                  <a:srgbClr val="CFD9E5"/>
                </a:solidFill>
                <a:latin typeface="Calibri" pitchFamily="34" charset="0"/>
                <a:ea typeface="Calibri" pitchFamily="34" charset="-122"/>
                <a:cs typeface="Calibri" pitchFamily="34" charset="-120"/>
              </a:rPr>
              <a:t>All namespaces share the host clock, so clocks cannot drift apart.</a:t>
            </a:r>
            <a:endParaRPr lang="en-US" sz="1080" dirty="0"/>
          </a:p>
        </p:txBody>
      </p:sp>
      <p:sp>
        <p:nvSpPr>
          <p:cNvPr id="55" name="Text 53"/>
          <p:cNvSpPr/>
          <p:nvPr/>
        </p:nvSpPr>
        <p:spPr>
          <a:xfrm>
            <a:off x="8839200" y="4476750"/>
            <a:ext cx="152400" cy="190500"/>
          </a:xfrm>
          <a:prstGeom prst="rect">
            <a:avLst/>
          </a:prstGeom>
          <a:noFill/>
          <a:ln/>
        </p:spPr>
        <p:txBody>
          <a:bodyPr wrap="square" lIns="0" tIns="0" rIns="0" bIns="0" rtlCol="0" anchor="t">
            <a:normAutofit/>
          </a:bodyPr>
          <a:lstStyle/>
          <a:p>
            <a:pPr marL="0" indent="0" algn="l">
              <a:lnSpc>
                <a:spcPct val="100000"/>
              </a:lnSpc>
              <a:buNone/>
            </a:pPr>
            <a:r>
              <a:rPr lang="en-US" sz="1400" b="1" dirty="0">
                <a:solidFill>
                  <a:srgbClr val="B3402F"/>
                </a:solidFill>
                <a:latin typeface="Calibri" pitchFamily="34" charset="0"/>
                <a:ea typeface="Calibri" pitchFamily="34" charset="-122"/>
                <a:cs typeface="Calibri" pitchFamily="34" charset="-120"/>
              </a:rPr>
              <a:t>!</a:t>
            </a:r>
            <a:endParaRPr lang="en-US" sz="1400" dirty="0"/>
          </a:p>
        </p:txBody>
      </p:sp>
      <p:sp>
        <p:nvSpPr>
          <p:cNvPr id="56" name="Text 54"/>
          <p:cNvSpPr/>
          <p:nvPr/>
        </p:nvSpPr>
        <p:spPr>
          <a:xfrm>
            <a:off x="9048750" y="4476750"/>
            <a:ext cx="2457450" cy="190500"/>
          </a:xfrm>
          <a:prstGeom prst="rect">
            <a:avLst/>
          </a:prstGeom>
          <a:noFill/>
          <a:ln/>
        </p:spPr>
        <p:txBody>
          <a:bodyPr wrap="square" lIns="0" tIns="0" rIns="0" bIns="0" rtlCol="0" anchor="t">
            <a:normAutofit/>
          </a:bodyPr>
          <a:lstStyle/>
          <a:p>
            <a:pPr marL="0" indent="0" algn="l">
              <a:lnSpc>
                <a:spcPct val="100000"/>
              </a:lnSpc>
              <a:buNone/>
            </a:pPr>
            <a:r>
              <a:rPr lang="en-US" sz="1350" b="1" dirty="0">
                <a:solidFill>
                  <a:srgbClr val="FFFFFF"/>
                </a:solidFill>
                <a:latin typeface="Cambria" pitchFamily="34" charset="0"/>
                <a:ea typeface="Cambria" pitchFamily="34" charset="-122"/>
                <a:cs typeface="Cambria" pitchFamily="34" charset="-120"/>
              </a:rPr>
              <a:t>No GNSS receiver</a:t>
            </a:r>
            <a:endParaRPr lang="en-US" sz="1350" dirty="0"/>
          </a:p>
        </p:txBody>
      </p:sp>
      <p:sp>
        <p:nvSpPr>
          <p:cNvPr id="57" name="Text 55"/>
          <p:cNvSpPr/>
          <p:nvPr/>
        </p:nvSpPr>
        <p:spPr>
          <a:xfrm>
            <a:off x="9048750" y="4676775"/>
            <a:ext cx="2457450" cy="495300"/>
          </a:xfrm>
          <a:prstGeom prst="rect">
            <a:avLst/>
          </a:prstGeom>
          <a:noFill/>
          <a:ln/>
        </p:spPr>
        <p:txBody>
          <a:bodyPr wrap="square" lIns="0" tIns="0" rIns="0" bIns="0" rtlCol="0" anchor="t">
            <a:normAutofit/>
          </a:bodyPr>
          <a:lstStyle/>
          <a:p>
            <a:pPr marL="0" indent="0" algn="l">
              <a:lnSpc>
                <a:spcPct val="95000"/>
              </a:lnSpc>
              <a:buNone/>
            </a:pPr>
            <a:r>
              <a:rPr lang="en-US" sz="1080" dirty="0">
                <a:solidFill>
                  <a:srgbClr val="CFD9E5"/>
                </a:solidFill>
                <a:latin typeface="Calibri" pitchFamily="34" charset="0"/>
                <a:ea typeface="Calibri" pitchFamily="34" charset="-122"/>
                <a:cs typeface="Calibri" pitchFamily="34" charset="-120"/>
              </a:rPr>
              <a:t>GNSS spoofing and jamming cannot be produced at all.</a:t>
            </a:r>
            <a:endParaRPr lang="en-US" sz="1080" dirty="0"/>
          </a:p>
        </p:txBody>
      </p:sp>
      <p:sp>
        <p:nvSpPr>
          <p:cNvPr id="58" name="Shape 56"/>
          <p:cNvSpPr/>
          <p:nvPr/>
        </p:nvSpPr>
        <p:spPr>
          <a:xfrm>
            <a:off x="571500" y="5276850"/>
            <a:ext cx="11049000" cy="571500"/>
          </a:xfrm>
          <a:prstGeom prst="roundRect">
            <a:avLst>
              <a:gd name="adj" fmla="val 6400"/>
            </a:avLst>
          </a:prstGeom>
          <a:solidFill>
            <a:srgbClr val="FFF8E8"/>
          </a:solidFill>
          <a:ln w="12700">
            <a:solidFill>
              <a:srgbClr val="C58B18"/>
            </a:solidFill>
            <a:prstDash val="solid"/>
          </a:ln>
        </p:spPr>
        <p:txBody>
          <a:bodyPr/>
          <a:lstStyle/>
          <a:p>
            <a:endParaRPr lang="en-IN"/>
          </a:p>
        </p:txBody>
      </p:sp>
      <p:sp>
        <p:nvSpPr>
          <p:cNvPr id="59" name="Text 57"/>
          <p:cNvSpPr/>
          <p:nvPr/>
        </p:nvSpPr>
        <p:spPr>
          <a:xfrm>
            <a:off x="781050" y="5419725"/>
            <a:ext cx="1809750" cy="238125"/>
          </a:xfrm>
          <a:prstGeom prst="rect">
            <a:avLst/>
          </a:prstGeom>
          <a:noFill/>
          <a:ln/>
        </p:spPr>
        <p:txBody>
          <a:bodyPr wrap="square" lIns="0" tIns="0" rIns="0" bIns="0" rtlCol="0" anchor="t">
            <a:normAutofit/>
          </a:bodyPr>
          <a:lstStyle/>
          <a:p>
            <a:pPr marL="0" indent="0" algn="l">
              <a:lnSpc>
                <a:spcPct val="100000"/>
              </a:lnSpc>
              <a:buNone/>
            </a:pPr>
            <a:r>
              <a:rPr lang="en-US" sz="1600" b="1" dirty="0">
                <a:solidFill>
                  <a:srgbClr val="C58B18"/>
                </a:solidFill>
                <a:latin typeface="Cambria" pitchFamily="34" charset="0"/>
                <a:ea typeface="Cambria" pitchFamily="34" charset="-122"/>
                <a:cs typeface="Cambria" pitchFamily="34" charset="-120"/>
              </a:rPr>
              <a:t>Effect on scope</a:t>
            </a:r>
            <a:endParaRPr lang="en-US" sz="1600" dirty="0"/>
          </a:p>
        </p:txBody>
      </p:sp>
      <p:sp>
        <p:nvSpPr>
          <p:cNvPr id="60" name="Text 58"/>
          <p:cNvSpPr/>
          <p:nvPr/>
        </p:nvSpPr>
        <p:spPr>
          <a:xfrm>
            <a:off x="2781300" y="5400675"/>
            <a:ext cx="8629650" cy="342900"/>
          </a:xfrm>
          <a:prstGeom prst="rect">
            <a:avLst/>
          </a:prstGeom>
          <a:noFill/>
          <a:ln/>
        </p:spPr>
        <p:txBody>
          <a:bodyPr wrap="square" lIns="0" tIns="0" rIns="0" bIns="0" rtlCol="0" anchor="t">
            <a:normAutofit/>
          </a:bodyPr>
          <a:lstStyle/>
          <a:p>
            <a:pPr marL="0" indent="0" algn="l">
              <a:lnSpc>
                <a:spcPct val="100000"/>
              </a:lnSpc>
              <a:buNone/>
            </a:pPr>
            <a:r>
              <a:rPr lang="en-US" sz="1320" b="1" dirty="0">
                <a:solidFill>
                  <a:srgbClr val="12263A"/>
                </a:solidFill>
                <a:latin typeface="Calibri" pitchFamily="34" charset="0"/>
                <a:ea typeface="Calibri" pitchFamily="34" charset="-122"/>
                <a:cs typeface="Calibri" pitchFamily="34" charset="-120"/>
              </a:rPr>
              <a:t>These constraints set the ceiling on every result that follows: five of the sixteen catalogued fault classes cannot be produced here, and no claim is made about absolute time-error magnitude.</a:t>
            </a:r>
            <a:endParaRPr lang="en-US" sz="1320" dirty="0"/>
          </a:p>
        </p:txBody>
      </p:sp>
      <p:sp>
        <p:nvSpPr>
          <p:cNvPr id="61" name="Shape 59"/>
          <p:cNvSpPr/>
          <p:nvPr/>
        </p:nvSpPr>
        <p:spPr>
          <a:xfrm>
            <a:off x="571500" y="5943600"/>
            <a:ext cx="11049000" cy="552450"/>
          </a:xfrm>
          <a:prstGeom prst="roundRect">
            <a:avLst>
              <a:gd name="adj" fmla="val 6621"/>
            </a:avLst>
          </a:prstGeom>
          <a:solidFill>
            <a:srgbClr val="0E2440"/>
          </a:solidFill>
          <a:ln w="12700">
            <a:solidFill>
              <a:srgbClr val="0E2440"/>
            </a:solidFill>
            <a:prstDash val="solid"/>
          </a:ln>
        </p:spPr>
        <p:txBody>
          <a:bodyPr/>
          <a:lstStyle/>
          <a:p>
            <a:endParaRPr lang="en-IN"/>
          </a:p>
        </p:txBody>
      </p:sp>
      <p:sp>
        <p:nvSpPr>
          <p:cNvPr id="62" name="Text 60"/>
          <p:cNvSpPr/>
          <p:nvPr/>
        </p:nvSpPr>
        <p:spPr>
          <a:xfrm>
            <a:off x="781050" y="6057900"/>
            <a:ext cx="10629900" cy="342900"/>
          </a:xfrm>
          <a:prstGeom prst="rect">
            <a:avLst/>
          </a:prstGeom>
          <a:noFill/>
          <a:ln/>
        </p:spPr>
        <p:txBody>
          <a:bodyPr wrap="square" lIns="0" tIns="0" rIns="0" bIns="0" rtlCol="0" anchor="t">
            <a:normAutofit/>
          </a:bodyPr>
          <a:lstStyle/>
          <a:p>
            <a:pPr marL="0" indent="0" algn="l">
              <a:lnSpc>
                <a:spcPct val="100000"/>
              </a:lnSpc>
              <a:buNone/>
            </a:pPr>
            <a:r>
              <a:rPr lang="en-US" sz="1450" b="1" dirty="0">
                <a:solidFill>
                  <a:srgbClr val="FFFFFF"/>
                </a:solidFill>
                <a:latin typeface="Cambria" pitchFamily="34" charset="0"/>
                <a:ea typeface="Cambria" pitchFamily="34" charset="-122"/>
                <a:cs typeface="Cambria" pitchFamily="34" charset="-120"/>
              </a:rPr>
              <a:t>Every configured value was read back from the running system and traced to the governing standard or, where the normative text is paywalled, to an authoritative secondary source.</a:t>
            </a:r>
            <a:endParaRPr lang="en-US" sz="14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8FAFC"/>
          </a:solidFill>
          <a:ln/>
        </p:spPr>
        <p:txBody>
          <a:bodyPr/>
          <a:lstStyle/>
          <a:p>
            <a:endParaRPr lang="en-IN"/>
          </a:p>
        </p:txBody>
      </p:sp>
      <p:sp>
        <p:nvSpPr>
          <p:cNvPr id="3" name="Shape 1"/>
          <p:cNvSpPr/>
          <p:nvPr/>
        </p:nvSpPr>
        <p:spPr>
          <a:xfrm>
            <a:off x="0" y="0"/>
            <a:ext cx="12192000" cy="114300"/>
          </a:xfrm>
          <a:prstGeom prst="rect">
            <a:avLst/>
          </a:prstGeom>
          <a:solidFill>
            <a:srgbClr val="18B89A"/>
          </a:solidFill>
          <a:ln/>
        </p:spPr>
        <p:txBody>
          <a:bodyPr/>
          <a:lstStyle/>
          <a:p>
            <a:endParaRPr lang="en-IN"/>
          </a:p>
        </p:txBody>
      </p:sp>
      <p:sp>
        <p:nvSpPr>
          <p:cNvPr id="4" name="Text 2"/>
          <p:cNvSpPr/>
          <p:nvPr/>
        </p:nvSpPr>
        <p:spPr>
          <a:xfrm>
            <a:off x="571500" y="209550"/>
            <a:ext cx="11049000" cy="228600"/>
          </a:xfrm>
          <a:prstGeom prst="rect">
            <a:avLst/>
          </a:prstGeom>
          <a:noFill/>
          <a:ln/>
        </p:spPr>
        <p:txBody>
          <a:bodyPr wrap="square" lIns="0" tIns="0" rIns="0" bIns="0" rtlCol="0" anchor="t">
            <a:normAutofit/>
          </a:bodyPr>
          <a:lstStyle/>
          <a:p>
            <a:pPr marL="0" indent="0" algn="l">
              <a:lnSpc>
                <a:spcPct val="100000"/>
              </a:lnSpc>
              <a:buNone/>
            </a:pPr>
            <a:r>
              <a:rPr lang="en-US" sz="1280" b="1" dirty="0">
                <a:solidFill>
                  <a:srgbClr val="1C7293"/>
                </a:solidFill>
                <a:latin typeface="Calibri" pitchFamily="34" charset="0"/>
                <a:ea typeface="Calibri" pitchFamily="34" charset="-122"/>
                <a:cs typeface="Calibri" pitchFamily="34" charset="-120"/>
              </a:rPr>
              <a:t>PROCESSING PIPELINE</a:t>
            </a:r>
            <a:endParaRPr lang="en-US" sz="1280" dirty="0"/>
          </a:p>
        </p:txBody>
      </p:sp>
      <p:sp>
        <p:nvSpPr>
          <p:cNvPr id="5" name="Text 3"/>
          <p:cNvSpPr/>
          <p:nvPr/>
        </p:nvSpPr>
        <p:spPr>
          <a:xfrm>
            <a:off x="571500" y="447675"/>
            <a:ext cx="11049000" cy="552450"/>
          </a:xfrm>
          <a:prstGeom prst="rect">
            <a:avLst/>
          </a:prstGeom>
          <a:noFill/>
          <a:ln/>
        </p:spPr>
        <p:txBody>
          <a:bodyPr wrap="square" lIns="0" tIns="0" rIns="0" bIns="0" rtlCol="0" anchor="t">
            <a:normAutofit/>
          </a:bodyPr>
          <a:lstStyle/>
          <a:p>
            <a:pPr marL="0" indent="0" algn="l">
              <a:lnSpc>
                <a:spcPct val="100000"/>
              </a:lnSpc>
              <a:buNone/>
            </a:pPr>
            <a:r>
              <a:rPr lang="en-US" sz="3500" b="1" dirty="0">
                <a:solidFill>
                  <a:srgbClr val="12263A"/>
                </a:solidFill>
                <a:latin typeface="Cambria" pitchFamily="34" charset="0"/>
                <a:ea typeface="Cambria" pitchFamily="34" charset="-122"/>
                <a:cs typeface="Cambria" pitchFamily="34" charset="-120"/>
              </a:rPr>
              <a:t>Data Flow from Packet Capture to Verdict</a:t>
            </a:r>
            <a:endParaRPr lang="en-US" sz="3500" dirty="0"/>
          </a:p>
        </p:txBody>
      </p:sp>
      <p:sp>
        <p:nvSpPr>
          <p:cNvPr id="6" name="Shape 4"/>
          <p:cNvSpPr/>
          <p:nvPr/>
        </p:nvSpPr>
        <p:spPr>
          <a:xfrm>
            <a:off x="571500" y="1057275"/>
            <a:ext cx="11049000" cy="438150"/>
          </a:xfrm>
          <a:prstGeom prst="roundRect">
            <a:avLst>
              <a:gd name="adj" fmla="val 8348"/>
            </a:avLst>
          </a:prstGeom>
          <a:solidFill>
            <a:srgbClr val="EAF2F8"/>
          </a:solidFill>
          <a:ln w="12700">
            <a:solidFill>
              <a:srgbClr val="D7E1EA"/>
            </a:solidFill>
            <a:prstDash val="solid"/>
          </a:ln>
        </p:spPr>
        <p:txBody>
          <a:bodyPr/>
          <a:lstStyle/>
          <a:p>
            <a:endParaRPr lang="en-IN"/>
          </a:p>
        </p:txBody>
      </p:sp>
      <p:sp>
        <p:nvSpPr>
          <p:cNvPr id="7" name="Text 5"/>
          <p:cNvSpPr/>
          <p:nvPr/>
        </p:nvSpPr>
        <p:spPr>
          <a:xfrm>
            <a:off x="723900" y="1123950"/>
            <a:ext cx="10744200" cy="323850"/>
          </a:xfrm>
          <a:prstGeom prst="rect">
            <a:avLst/>
          </a:prstGeom>
          <a:noFill/>
          <a:ln/>
        </p:spPr>
        <p:txBody>
          <a:bodyPr wrap="square" lIns="0" tIns="0" rIns="0" bIns="0" rtlCol="0" anchor="t">
            <a:normAutofit/>
          </a:bodyPr>
          <a:lstStyle/>
          <a:p>
            <a:pPr marL="0" indent="0" algn="l">
              <a:lnSpc>
                <a:spcPct val="102000"/>
              </a:lnSpc>
              <a:buNone/>
            </a:pPr>
            <a:r>
              <a:rPr lang="en-US" sz="1120" dirty="0">
                <a:solidFill>
                  <a:srgbClr val="5B6B7C"/>
                </a:solidFill>
                <a:latin typeface="Calibri" pitchFamily="34" charset="0"/>
                <a:ea typeface="Calibri" pitchFamily="34" charset="-122"/>
                <a:cs typeface="Calibri" pitchFamily="34" charset="-120"/>
              </a:rPr>
              <a:t>Deep extractor: 56 fields per PTP frame  |  Field definitions from IEEE 1588-2019 message and data-set clauses  |  Conformance flags derived from ITU-T G.8275.1 profile constraints</a:t>
            </a:r>
            <a:endParaRPr lang="en-US" sz="1120" dirty="0"/>
          </a:p>
        </p:txBody>
      </p:sp>
      <p:sp>
        <p:nvSpPr>
          <p:cNvPr id="8" name="Shape 6"/>
          <p:cNvSpPr/>
          <p:nvPr/>
        </p:nvSpPr>
        <p:spPr>
          <a:xfrm>
            <a:off x="571500" y="1809750"/>
            <a:ext cx="1962150" cy="2171700"/>
          </a:xfrm>
          <a:prstGeom prst="roundRect">
            <a:avLst>
              <a:gd name="adj" fmla="val 1864"/>
            </a:avLst>
          </a:prstGeom>
          <a:solidFill>
            <a:srgbClr val="FFFFFF"/>
          </a:solidFill>
          <a:ln w="12700">
            <a:solidFill>
              <a:srgbClr val="D7E1EA"/>
            </a:solidFill>
            <a:prstDash val="solid"/>
          </a:ln>
        </p:spPr>
        <p:txBody>
          <a:bodyPr/>
          <a:lstStyle/>
          <a:p>
            <a:endParaRPr lang="en-IN"/>
          </a:p>
        </p:txBody>
      </p:sp>
      <p:sp>
        <p:nvSpPr>
          <p:cNvPr id="9" name="Shape 7"/>
          <p:cNvSpPr/>
          <p:nvPr/>
        </p:nvSpPr>
        <p:spPr>
          <a:xfrm>
            <a:off x="571500" y="1809750"/>
            <a:ext cx="1962150" cy="47625"/>
          </a:xfrm>
          <a:prstGeom prst="rect">
            <a:avLst/>
          </a:prstGeom>
          <a:solidFill>
            <a:srgbClr val="18B89A"/>
          </a:solidFill>
          <a:ln/>
        </p:spPr>
        <p:txBody>
          <a:bodyPr/>
          <a:lstStyle/>
          <a:p>
            <a:endParaRPr lang="en-IN"/>
          </a:p>
        </p:txBody>
      </p:sp>
      <p:sp>
        <p:nvSpPr>
          <p:cNvPr id="10" name="Text 8"/>
          <p:cNvSpPr/>
          <p:nvPr/>
        </p:nvSpPr>
        <p:spPr>
          <a:xfrm>
            <a:off x="742950" y="1981200"/>
            <a:ext cx="571500" cy="247650"/>
          </a:xfrm>
          <a:prstGeom prst="rect">
            <a:avLst/>
          </a:prstGeom>
          <a:noFill/>
          <a:ln/>
        </p:spPr>
        <p:txBody>
          <a:bodyPr wrap="square" lIns="0" tIns="0" rIns="0" bIns="0" rtlCol="0" anchor="t">
            <a:normAutofit/>
          </a:bodyPr>
          <a:lstStyle/>
          <a:p>
            <a:pPr marL="0" indent="0" algn="l">
              <a:lnSpc>
                <a:spcPct val="100000"/>
              </a:lnSpc>
              <a:buNone/>
            </a:pPr>
            <a:r>
              <a:rPr lang="en-US" sz="1700" b="1" dirty="0">
                <a:solidFill>
                  <a:srgbClr val="1C7293"/>
                </a:solidFill>
                <a:latin typeface="Cambria" pitchFamily="34" charset="0"/>
                <a:ea typeface="Cambria" pitchFamily="34" charset="-122"/>
                <a:cs typeface="Cambria" pitchFamily="34" charset="-120"/>
              </a:rPr>
              <a:t>01</a:t>
            </a:r>
            <a:endParaRPr lang="en-US" sz="1700" dirty="0"/>
          </a:p>
        </p:txBody>
      </p:sp>
      <p:sp>
        <p:nvSpPr>
          <p:cNvPr id="11" name="Text 9"/>
          <p:cNvSpPr/>
          <p:nvPr/>
        </p:nvSpPr>
        <p:spPr>
          <a:xfrm>
            <a:off x="742950" y="2305050"/>
            <a:ext cx="1619250" cy="266700"/>
          </a:xfrm>
          <a:prstGeom prst="rect">
            <a:avLst/>
          </a:prstGeom>
          <a:noFill/>
          <a:ln/>
        </p:spPr>
        <p:txBody>
          <a:bodyPr wrap="square" lIns="0" tIns="0" rIns="0" bIns="0" rtlCol="0" anchor="t">
            <a:normAutofit/>
          </a:bodyPr>
          <a:lstStyle/>
          <a:p>
            <a:pPr marL="0" indent="0" algn="l">
              <a:lnSpc>
                <a:spcPct val="100000"/>
              </a:lnSpc>
              <a:buNone/>
            </a:pPr>
            <a:r>
              <a:rPr lang="en-US" sz="1900" b="1" dirty="0">
                <a:solidFill>
                  <a:srgbClr val="12263A"/>
                </a:solidFill>
                <a:latin typeface="Cambria" pitchFamily="34" charset="0"/>
                <a:ea typeface="Cambria" pitchFamily="34" charset="-122"/>
                <a:cs typeface="Cambria" pitchFamily="34" charset="-120"/>
              </a:rPr>
              <a:t>The wire</a:t>
            </a:r>
            <a:endParaRPr lang="en-US" sz="1900" dirty="0"/>
          </a:p>
        </p:txBody>
      </p:sp>
      <p:sp>
        <p:nvSpPr>
          <p:cNvPr id="12" name="Text 10"/>
          <p:cNvSpPr/>
          <p:nvPr/>
        </p:nvSpPr>
        <p:spPr>
          <a:xfrm>
            <a:off x="742950" y="2667000"/>
            <a:ext cx="1638300" cy="1200150"/>
          </a:xfrm>
          <a:prstGeom prst="rect">
            <a:avLst/>
          </a:prstGeom>
          <a:noFill/>
          <a:ln/>
        </p:spPr>
        <p:txBody>
          <a:bodyPr wrap="square" lIns="0" tIns="0" rIns="0" bIns="0" rtlCol="0" anchor="t">
            <a:normAutofit/>
          </a:bodyPr>
          <a:lstStyle/>
          <a:p>
            <a:pPr marL="0" indent="0" algn="l">
              <a:lnSpc>
                <a:spcPct val="100000"/>
              </a:lnSpc>
              <a:buNone/>
            </a:pPr>
            <a:r>
              <a:rPr lang="en-US" sz="1300" dirty="0">
                <a:solidFill>
                  <a:srgbClr val="5B6B7C"/>
                </a:solidFill>
                <a:latin typeface="Calibri" pitchFamily="34" charset="0"/>
                <a:ea typeface="Calibri" pitchFamily="34" charset="-122"/>
                <a:cs typeface="Calibri" pitchFamily="34" charset="-120"/>
              </a:rPr>
              <a:t>Real PTP frames produced by six linuxptp daemons on two bridged segments</a:t>
            </a:r>
            <a:endParaRPr lang="en-US" sz="1300" dirty="0"/>
          </a:p>
        </p:txBody>
      </p:sp>
      <p:sp>
        <p:nvSpPr>
          <p:cNvPr id="13" name="Text 11"/>
          <p:cNvSpPr/>
          <p:nvPr/>
        </p:nvSpPr>
        <p:spPr>
          <a:xfrm>
            <a:off x="2590800" y="2686050"/>
            <a:ext cx="247650" cy="285750"/>
          </a:xfrm>
          <a:prstGeom prst="rect">
            <a:avLst/>
          </a:prstGeom>
          <a:noFill/>
          <a:ln/>
        </p:spPr>
        <p:txBody>
          <a:bodyPr wrap="square" lIns="0" tIns="0" rIns="0" bIns="0" rtlCol="0" anchor="t">
            <a:normAutofit/>
          </a:bodyPr>
          <a:lstStyle/>
          <a:p>
            <a:pPr marL="0" indent="0" algn="ctr">
              <a:lnSpc>
                <a:spcPct val="100000"/>
              </a:lnSpc>
              <a:buNone/>
            </a:pPr>
            <a:r>
              <a:rPr lang="en-US" sz="2400" b="1" dirty="0">
                <a:solidFill>
                  <a:srgbClr val="18B89A"/>
                </a:solidFill>
                <a:latin typeface="Calibri" pitchFamily="34" charset="0"/>
                <a:ea typeface="Calibri" pitchFamily="34" charset="-122"/>
                <a:cs typeface="Calibri" pitchFamily="34" charset="-120"/>
              </a:rPr>
              <a:t>›</a:t>
            </a:r>
            <a:endParaRPr lang="en-US" sz="2400" dirty="0"/>
          </a:p>
        </p:txBody>
      </p:sp>
      <p:sp>
        <p:nvSpPr>
          <p:cNvPr id="14" name="Shape 12"/>
          <p:cNvSpPr/>
          <p:nvPr/>
        </p:nvSpPr>
        <p:spPr>
          <a:xfrm>
            <a:off x="2838450" y="1809750"/>
            <a:ext cx="1962150" cy="2171700"/>
          </a:xfrm>
          <a:prstGeom prst="roundRect">
            <a:avLst>
              <a:gd name="adj" fmla="val 1864"/>
            </a:avLst>
          </a:prstGeom>
          <a:solidFill>
            <a:srgbClr val="FFFFFF"/>
          </a:solidFill>
          <a:ln w="12700">
            <a:solidFill>
              <a:srgbClr val="D7E1EA"/>
            </a:solidFill>
            <a:prstDash val="solid"/>
          </a:ln>
        </p:spPr>
        <p:txBody>
          <a:bodyPr/>
          <a:lstStyle/>
          <a:p>
            <a:endParaRPr lang="en-IN"/>
          </a:p>
        </p:txBody>
      </p:sp>
      <p:sp>
        <p:nvSpPr>
          <p:cNvPr id="15" name="Shape 13"/>
          <p:cNvSpPr/>
          <p:nvPr/>
        </p:nvSpPr>
        <p:spPr>
          <a:xfrm>
            <a:off x="2838450" y="1809750"/>
            <a:ext cx="1962150" cy="47625"/>
          </a:xfrm>
          <a:prstGeom prst="rect">
            <a:avLst/>
          </a:prstGeom>
          <a:solidFill>
            <a:srgbClr val="18B89A"/>
          </a:solidFill>
          <a:ln/>
        </p:spPr>
        <p:txBody>
          <a:bodyPr/>
          <a:lstStyle/>
          <a:p>
            <a:endParaRPr lang="en-IN"/>
          </a:p>
        </p:txBody>
      </p:sp>
      <p:sp>
        <p:nvSpPr>
          <p:cNvPr id="16" name="Text 14"/>
          <p:cNvSpPr/>
          <p:nvPr/>
        </p:nvSpPr>
        <p:spPr>
          <a:xfrm>
            <a:off x="3009900" y="1981200"/>
            <a:ext cx="571500" cy="247650"/>
          </a:xfrm>
          <a:prstGeom prst="rect">
            <a:avLst/>
          </a:prstGeom>
          <a:noFill/>
          <a:ln/>
        </p:spPr>
        <p:txBody>
          <a:bodyPr wrap="square" lIns="0" tIns="0" rIns="0" bIns="0" rtlCol="0" anchor="t">
            <a:normAutofit/>
          </a:bodyPr>
          <a:lstStyle/>
          <a:p>
            <a:pPr marL="0" indent="0" algn="l">
              <a:lnSpc>
                <a:spcPct val="100000"/>
              </a:lnSpc>
              <a:buNone/>
            </a:pPr>
            <a:r>
              <a:rPr lang="en-US" sz="1700" b="1" dirty="0">
                <a:solidFill>
                  <a:srgbClr val="1C7293"/>
                </a:solidFill>
                <a:latin typeface="Cambria" pitchFamily="34" charset="0"/>
                <a:ea typeface="Cambria" pitchFamily="34" charset="-122"/>
                <a:cs typeface="Cambria" pitchFamily="34" charset="-120"/>
              </a:rPr>
              <a:t>02</a:t>
            </a:r>
            <a:endParaRPr lang="en-US" sz="1700" dirty="0"/>
          </a:p>
        </p:txBody>
      </p:sp>
      <p:sp>
        <p:nvSpPr>
          <p:cNvPr id="17" name="Text 15"/>
          <p:cNvSpPr/>
          <p:nvPr/>
        </p:nvSpPr>
        <p:spPr>
          <a:xfrm>
            <a:off x="3009900" y="2305050"/>
            <a:ext cx="1619250" cy="266700"/>
          </a:xfrm>
          <a:prstGeom prst="rect">
            <a:avLst/>
          </a:prstGeom>
          <a:noFill/>
          <a:ln/>
        </p:spPr>
        <p:txBody>
          <a:bodyPr wrap="square" lIns="0" tIns="0" rIns="0" bIns="0" rtlCol="0" anchor="t">
            <a:normAutofit/>
          </a:bodyPr>
          <a:lstStyle/>
          <a:p>
            <a:pPr marL="0" indent="0" algn="l">
              <a:lnSpc>
                <a:spcPct val="100000"/>
              </a:lnSpc>
              <a:buNone/>
            </a:pPr>
            <a:r>
              <a:rPr lang="en-US" sz="1900" b="1" dirty="0">
                <a:solidFill>
                  <a:srgbClr val="12263A"/>
                </a:solidFill>
                <a:latin typeface="Cambria" pitchFamily="34" charset="0"/>
                <a:ea typeface="Cambria" pitchFamily="34" charset="-122"/>
                <a:cs typeface="Cambria" pitchFamily="34" charset="-120"/>
              </a:rPr>
              <a:t>Capture</a:t>
            </a:r>
            <a:endParaRPr lang="en-US" sz="1900" dirty="0"/>
          </a:p>
        </p:txBody>
      </p:sp>
      <p:sp>
        <p:nvSpPr>
          <p:cNvPr id="18" name="Text 16"/>
          <p:cNvSpPr/>
          <p:nvPr/>
        </p:nvSpPr>
        <p:spPr>
          <a:xfrm>
            <a:off x="3009900" y="2667000"/>
            <a:ext cx="1638300" cy="1200150"/>
          </a:xfrm>
          <a:prstGeom prst="rect">
            <a:avLst/>
          </a:prstGeom>
          <a:noFill/>
          <a:ln/>
        </p:spPr>
        <p:txBody>
          <a:bodyPr wrap="square" lIns="0" tIns="0" rIns="0" bIns="0" rtlCol="0" anchor="t">
            <a:normAutofit/>
          </a:bodyPr>
          <a:lstStyle/>
          <a:p>
            <a:pPr marL="0" indent="0" algn="l">
              <a:lnSpc>
                <a:spcPct val="100000"/>
              </a:lnSpc>
              <a:buNone/>
            </a:pPr>
            <a:r>
              <a:rPr lang="en-US" sz="1300" dirty="0">
                <a:solidFill>
                  <a:srgbClr val="5B6B7C"/>
                </a:solidFill>
                <a:latin typeface="Calibri" pitchFamily="34" charset="0"/>
                <a:ea typeface="Calibri" pitchFamily="34" charset="-122"/>
                <a:cs typeface="Calibri" pitchFamily="34" charset="-120"/>
              </a:rPr>
              <a:t>tcpdump records every frame on brUP and brDN, unmodified</a:t>
            </a:r>
            <a:endParaRPr lang="en-US" sz="1300" dirty="0"/>
          </a:p>
        </p:txBody>
      </p:sp>
      <p:sp>
        <p:nvSpPr>
          <p:cNvPr id="19" name="Text 17"/>
          <p:cNvSpPr/>
          <p:nvPr/>
        </p:nvSpPr>
        <p:spPr>
          <a:xfrm>
            <a:off x="4857750" y="2686050"/>
            <a:ext cx="247650" cy="285750"/>
          </a:xfrm>
          <a:prstGeom prst="rect">
            <a:avLst/>
          </a:prstGeom>
          <a:noFill/>
          <a:ln/>
        </p:spPr>
        <p:txBody>
          <a:bodyPr wrap="square" lIns="0" tIns="0" rIns="0" bIns="0" rtlCol="0" anchor="t">
            <a:normAutofit/>
          </a:bodyPr>
          <a:lstStyle/>
          <a:p>
            <a:pPr marL="0" indent="0" algn="ctr">
              <a:lnSpc>
                <a:spcPct val="100000"/>
              </a:lnSpc>
              <a:buNone/>
            </a:pPr>
            <a:r>
              <a:rPr lang="en-US" sz="2400" b="1" dirty="0">
                <a:solidFill>
                  <a:srgbClr val="18B89A"/>
                </a:solidFill>
                <a:latin typeface="Calibri" pitchFamily="34" charset="0"/>
                <a:ea typeface="Calibri" pitchFamily="34" charset="-122"/>
                <a:cs typeface="Calibri" pitchFamily="34" charset="-120"/>
              </a:rPr>
              <a:t>›</a:t>
            </a:r>
            <a:endParaRPr lang="en-US" sz="2400" dirty="0"/>
          </a:p>
        </p:txBody>
      </p:sp>
      <p:sp>
        <p:nvSpPr>
          <p:cNvPr id="20" name="Shape 18"/>
          <p:cNvSpPr/>
          <p:nvPr/>
        </p:nvSpPr>
        <p:spPr>
          <a:xfrm>
            <a:off x="5105400" y="1809750"/>
            <a:ext cx="1962150" cy="2171700"/>
          </a:xfrm>
          <a:prstGeom prst="roundRect">
            <a:avLst>
              <a:gd name="adj" fmla="val 1864"/>
            </a:avLst>
          </a:prstGeom>
          <a:solidFill>
            <a:srgbClr val="FFFFFF"/>
          </a:solidFill>
          <a:ln w="12700">
            <a:solidFill>
              <a:srgbClr val="D7E1EA"/>
            </a:solidFill>
            <a:prstDash val="solid"/>
          </a:ln>
        </p:spPr>
        <p:txBody>
          <a:bodyPr/>
          <a:lstStyle/>
          <a:p>
            <a:endParaRPr lang="en-IN"/>
          </a:p>
        </p:txBody>
      </p:sp>
      <p:sp>
        <p:nvSpPr>
          <p:cNvPr id="21" name="Shape 19"/>
          <p:cNvSpPr/>
          <p:nvPr/>
        </p:nvSpPr>
        <p:spPr>
          <a:xfrm>
            <a:off x="5105400" y="1809750"/>
            <a:ext cx="1962150" cy="47625"/>
          </a:xfrm>
          <a:prstGeom prst="rect">
            <a:avLst/>
          </a:prstGeom>
          <a:solidFill>
            <a:srgbClr val="18B89A"/>
          </a:solidFill>
          <a:ln/>
        </p:spPr>
        <p:txBody>
          <a:bodyPr/>
          <a:lstStyle/>
          <a:p>
            <a:endParaRPr lang="en-IN"/>
          </a:p>
        </p:txBody>
      </p:sp>
      <p:sp>
        <p:nvSpPr>
          <p:cNvPr id="22" name="Text 20"/>
          <p:cNvSpPr/>
          <p:nvPr/>
        </p:nvSpPr>
        <p:spPr>
          <a:xfrm>
            <a:off x="5276850" y="1981200"/>
            <a:ext cx="571500" cy="247650"/>
          </a:xfrm>
          <a:prstGeom prst="rect">
            <a:avLst/>
          </a:prstGeom>
          <a:noFill/>
          <a:ln/>
        </p:spPr>
        <p:txBody>
          <a:bodyPr wrap="square" lIns="0" tIns="0" rIns="0" bIns="0" rtlCol="0" anchor="t">
            <a:normAutofit/>
          </a:bodyPr>
          <a:lstStyle/>
          <a:p>
            <a:pPr marL="0" indent="0" algn="l">
              <a:lnSpc>
                <a:spcPct val="100000"/>
              </a:lnSpc>
              <a:buNone/>
            </a:pPr>
            <a:r>
              <a:rPr lang="en-US" sz="1700" b="1" dirty="0">
                <a:solidFill>
                  <a:srgbClr val="1C7293"/>
                </a:solidFill>
                <a:latin typeface="Cambria" pitchFamily="34" charset="0"/>
                <a:ea typeface="Cambria" pitchFamily="34" charset="-122"/>
                <a:cs typeface="Cambria" pitchFamily="34" charset="-120"/>
              </a:rPr>
              <a:t>03</a:t>
            </a:r>
            <a:endParaRPr lang="en-US" sz="1700" dirty="0"/>
          </a:p>
        </p:txBody>
      </p:sp>
      <p:sp>
        <p:nvSpPr>
          <p:cNvPr id="23" name="Text 21"/>
          <p:cNvSpPr/>
          <p:nvPr/>
        </p:nvSpPr>
        <p:spPr>
          <a:xfrm>
            <a:off x="5276850" y="2305050"/>
            <a:ext cx="1619250" cy="266700"/>
          </a:xfrm>
          <a:prstGeom prst="rect">
            <a:avLst/>
          </a:prstGeom>
          <a:noFill/>
          <a:ln/>
        </p:spPr>
        <p:txBody>
          <a:bodyPr wrap="square" lIns="0" tIns="0" rIns="0" bIns="0" rtlCol="0" anchor="t">
            <a:normAutofit/>
          </a:bodyPr>
          <a:lstStyle/>
          <a:p>
            <a:pPr marL="0" indent="0" algn="l">
              <a:lnSpc>
                <a:spcPct val="100000"/>
              </a:lnSpc>
              <a:buNone/>
            </a:pPr>
            <a:r>
              <a:rPr lang="en-US" sz="1900" b="1" dirty="0">
                <a:solidFill>
                  <a:srgbClr val="12263A"/>
                </a:solidFill>
                <a:latin typeface="Cambria" pitchFamily="34" charset="0"/>
                <a:ea typeface="Cambria" pitchFamily="34" charset="-122"/>
                <a:cs typeface="Cambria" pitchFamily="34" charset="-120"/>
              </a:rPr>
              <a:t>Deep extract</a:t>
            </a:r>
            <a:endParaRPr lang="en-US" sz="1900" dirty="0"/>
          </a:p>
        </p:txBody>
      </p:sp>
      <p:sp>
        <p:nvSpPr>
          <p:cNvPr id="24" name="Text 22"/>
          <p:cNvSpPr/>
          <p:nvPr/>
        </p:nvSpPr>
        <p:spPr>
          <a:xfrm>
            <a:off x="5276850" y="2667000"/>
            <a:ext cx="1638300" cy="1200150"/>
          </a:xfrm>
          <a:prstGeom prst="rect">
            <a:avLst/>
          </a:prstGeom>
          <a:noFill/>
          <a:ln/>
        </p:spPr>
        <p:txBody>
          <a:bodyPr wrap="square" lIns="0" tIns="0" rIns="0" bIns="0" rtlCol="0" anchor="t">
            <a:normAutofit/>
          </a:bodyPr>
          <a:lstStyle/>
          <a:p>
            <a:pPr marL="0" indent="0" algn="l">
              <a:lnSpc>
                <a:spcPct val="100000"/>
              </a:lnSpc>
              <a:buNone/>
            </a:pPr>
            <a:r>
              <a:rPr lang="en-US" sz="1300" dirty="0">
                <a:solidFill>
                  <a:srgbClr val="5B6B7C"/>
                </a:solidFill>
                <a:latin typeface="Calibri" pitchFamily="34" charset="0"/>
                <a:ea typeface="Calibri" pitchFamily="34" charset="-122"/>
                <a:cs typeface="Calibri" pitchFamily="34" charset="-120"/>
              </a:rPr>
              <a:t>56 protocol and conformance fields per packet; fields that cannot be observed are written EMPTY</a:t>
            </a:r>
            <a:endParaRPr lang="en-US" sz="1300" dirty="0"/>
          </a:p>
        </p:txBody>
      </p:sp>
      <p:sp>
        <p:nvSpPr>
          <p:cNvPr id="25" name="Text 23"/>
          <p:cNvSpPr/>
          <p:nvPr/>
        </p:nvSpPr>
        <p:spPr>
          <a:xfrm>
            <a:off x="7124700" y="2686050"/>
            <a:ext cx="247650" cy="285750"/>
          </a:xfrm>
          <a:prstGeom prst="rect">
            <a:avLst/>
          </a:prstGeom>
          <a:noFill/>
          <a:ln/>
        </p:spPr>
        <p:txBody>
          <a:bodyPr wrap="square" lIns="0" tIns="0" rIns="0" bIns="0" rtlCol="0" anchor="t">
            <a:normAutofit/>
          </a:bodyPr>
          <a:lstStyle/>
          <a:p>
            <a:pPr marL="0" indent="0" algn="ctr">
              <a:lnSpc>
                <a:spcPct val="100000"/>
              </a:lnSpc>
              <a:buNone/>
            </a:pPr>
            <a:r>
              <a:rPr lang="en-US" sz="2400" b="1" dirty="0">
                <a:solidFill>
                  <a:srgbClr val="18B89A"/>
                </a:solidFill>
                <a:latin typeface="Calibri" pitchFamily="34" charset="0"/>
                <a:ea typeface="Calibri" pitchFamily="34" charset="-122"/>
                <a:cs typeface="Calibri" pitchFamily="34" charset="-120"/>
              </a:rPr>
              <a:t>›</a:t>
            </a:r>
            <a:endParaRPr lang="en-US" sz="2400" dirty="0"/>
          </a:p>
        </p:txBody>
      </p:sp>
      <p:sp>
        <p:nvSpPr>
          <p:cNvPr id="26" name="Shape 24"/>
          <p:cNvSpPr/>
          <p:nvPr/>
        </p:nvSpPr>
        <p:spPr>
          <a:xfrm>
            <a:off x="7372350" y="1809750"/>
            <a:ext cx="1962150" cy="2171700"/>
          </a:xfrm>
          <a:prstGeom prst="roundRect">
            <a:avLst>
              <a:gd name="adj" fmla="val 1864"/>
            </a:avLst>
          </a:prstGeom>
          <a:solidFill>
            <a:srgbClr val="FFFFFF"/>
          </a:solidFill>
          <a:ln w="12700">
            <a:solidFill>
              <a:srgbClr val="D7E1EA"/>
            </a:solidFill>
            <a:prstDash val="solid"/>
          </a:ln>
        </p:spPr>
        <p:txBody>
          <a:bodyPr/>
          <a:lstStyle/>
          <a:p>
            <a:endParaRPr lang="en-IN"/>
          </a:p>
        </p:txBody>
      </p:sp>
      <p:sp>
        <p:nvSpPr>
          <p:cNvPr id="27" name="Shape 25"/>
          <p:cNvSpPr/>
          <p:nvPr/>
        </p:nvSpPr>
        <p:spPr>
          <a:xfrm>
            <a:off x="7372350" y="1809750"/>
            <a:ext cx="1962150" cy="47625"/>
          </a:xfrm>
          <a:prstGeom prst="rect">
            <a:avLst/>
          </a:prstGeom>
          <a:solidFill>
            <a:srgbClr val="18B89A"/>
          </a:solidFill>
          <a:ln/>
        </p:spPr>
        <p:txBody>
          <a:bodyPr/>
          <a:lstStyle/>
          <a:p>
            <a:endParaRPr lang="en-IN"/>
          </a:p>
        </p:txBody>
      </p:sp>
      <p:sp>
        <p:nvSpPr>
          <p:cNvPr id="28" name="Text 26"/>
          <p:cNvSpPr/>
          <p:nvPr/>
        </p:nvSpPr>
        <p:spPr>
          <a:xfrm>
            <a:off x="7543800" y="1981200"/>
            <a:ext cx="571500" cy="247650"/>
          </a:xfrm>
          <a:prstGeom prst="rect">
            <a:avLst/>
          </a:prstGeom>
          <a:noFill/>
          <a:ln/>
        </p:spPr>
        <p:txBody>
          <a:bodyPr wrap="square" lIns="0" tIns="0" rIns="0" bIns="0" rtlCol="0" anchor="t">
            <a:normAutofit/>
          </a:bodyPr>
          <a:lstStyle/>
          <a:p>
            <a:pPr marL="0" indent="0" algn="l">
              <a:lnSpc>
                <a:spcPct val="100000"/>
              </a:lnSpc>
              <a:buNone/>
            </a:pPr>
            <a:r>
              <a:rPr lang="en-US" sz="1700" b="1" dirty="0">
                <a:solidFill>
                  <a:srgbClr val="1C7293"/>
                </a:solidFill>
                <a:latin typeface="Cambria" pitchFamily="34" charset="0"/>
                <a:ea typeface="Cambria" pitchFamily="34" charset="-122"/>
                <a:cs typeface="Cambria" pitchFamily="34" charset="-120"/>
              </a:rPr>
              <a:t>04</a:t>
            </a:r>
            <a:endParaRPr lang="en-US" sz="1700" dirty="0"/>
          </a:p>
        </p:txBody>
      </p:sp>
      <p:sp>
        <p:nvSpPr>
          <p:cNvPr id="29" name="Text 27"/>
          <p:cNvSpPr/>
          <p:nvPr/>
        </p:nvSpPr>
        <p:spPr>
          <a:xfrm>
            <a:off x="7543800" y="2305050"/>
            <a:ext cx="1619250" cy="266700"/>
          </a:xfrm>
          <a:prstGeom prst="rect">
            <a:avLst/>
          </a:prstGeom>
          <a:noFill/>
          <a:ln/>
        </p:spPr>
        <p:txBody>
          <a:bodyPr wrap="square" lIns="0" tIns="0" rIns="0" bIns="0" rtlCol="0" anchor="t">
            <a:normAutofit/>
          </a:bodyPr>
          <a:lstStyle/>
          <a:p>
            <a:pPr marL="0" indent="0" algn="l">
              <a:lnSpc>
                <a:spcPct val="100000"/>
              </a:lnSpc>
              <a:buNone/>
            </a:pPr>
            <a:r>
              <a:rPr lang="en-US" sz="1900" b="1" dirty="0">
                <a:solidFill>
                  <a:srgbClr val="12263A"/>
                </a:solidFill>
                <a:latin typeface="Cambria" pitchFamily="34" charset="0"/>
                <a:ea typeface="Cambria" pitchFamily="34" charset="-122"/>
                <a:cs typeface="Cambria" pitchFamily="34" charset="-120"/>
              </a:rPr>
              <a:t>Decision rule</a:t>
            </a:r>
            <a:endParaRPr lang="en-US" sz="1900" dirty="0"/>
          </a:p>
        </p:txBody>
      </p:sp>
      <p:sp>
        <p:nvSpPr>
          <p:cNvPr id="30" name="Text 28"/>
          <p:cNvSpPr/>
          <p:nvPr/>
        </p:nvSpPr>
        <p:spPr>
          <a:xfrm>
            <a:off x="7543800" y="2667000"/>
            <a:ext cx="1638300" cy="1200150"/>
          </a:xfrm>
          <a:prstGeom prst="rect">
            <a:avLst/>
          </a:prstGeom>
          <a:noFill/>
          <a:ln/>
        </p:spPr>
        <p:txBody>
          <a:bodyPr wrap="square" lIns="0" tIns="0" rIns="0" bIns="0" rtlCol="0" anchor="t">
            <a:normAutofit/>
          </a:bodyPr>
          <a:lstStyle/>
          <a:p>
            <a:pPr marL="0" indent="0" algn="l">
              <a:lnSpc>
                <a:spcPct val="100000"/>
              </a:lnSpc>
              <a:buNone/>
            </a:pPr>
            <a:r>
              <a:rPr lang="en-US" sz="1300" dirty="0">
                <a:solidFill>
                  <a:srgbClr val="5B6B7C"/>
                </a:solidFill>
                <a:latin typeface="Calibri" pitchFamily="34" charset="0"/>
                <a:ea typeface="Calibri" pitchFamily="34" charset="-122"/>
                <a:cs typeface="Calibri" pitchFamily="34" charset="-120"/>
              </a:rPr>
              <a:t>Standards legality plus provisioned operator context, applied as ordered clauses</a:t>
            </a:r>
            <a:endParaRPr lang="en-US" sz="1300" dirty="0"/>
          </a:p>
        </p:txBody>
      </p:sp>
      <p:sp>
        <p:nvSpPr>
          <p:cNvPr id="31" name="Text 29"/>
          <p:cNvSpPr/>
          <p:nvPr/>
        </p:nvSpPr>
        <p:spPr>
          <a:xfrm>
            <a:off x="9391650" y="2686050"/>
            <a:ext cx="247650" cy="285750"/>
          </a:xfrm>
          <a:prstGeom prst="rect">
            <a:avLst/>
          </a:prstGeom>
          <a:noFill/>
          <a:ln/>
        </p:spPr>
        <p:txBody>
          <a:bodyPr wrap="square" lIns="0" tIns="0" rIns="0" bIns="0" rtlCol="0" anchor="t">
            <a:normAutofit/>
          </a:bodyPr>
          <a:lstStyle/>
          <a:p>
            <a:pPr marL="0" indent="0" algn="ctr">
              <a:lnSpc>
                <a:spcPct val="100000"/>
              </a:lnSpc>
              <a:buNone/>
            </a:pPr>
            <a:r>
              <a:rPr lang="en-US" sz="2400" b="1" dirty="0">
                <a:solidFill>
                  <a:srgbClr val="18B89A"/>
                </a:solidFill>
                <a:latin typeface="Calibri" pitchFamily="34" charset="0"/>
                <a:ea typeface="Calibri" pitchFamily="34" charset="-122"/>
                <a:cs typeface="Calibri" pitchFamily="34" charset="-120"/>
              </a:rPr>
              <a:t>›</a:t>
            </a:r>
            <a:endParaRPr lang="en-US" sz="2400" dirty="0"/>
          </a:p>
        </p:txBody>
      </p:sp>
      <p:sp>
        <p:nvSpPr>
          <p:cNvPr id="32" name="Shape 30"/>
          <p:cNvSpPr/>
          <p:nvPr/>
        </p:nvSpPr>
        <p:spPr>
          <a:xfrm>
            <a:off x="9639300" y="1809750"/>
            <a:ext cx="1962150" cy="2171700"/>
          </a:xfrm>
          <a:prstGeom prst="roundRect">
            <a:avLst>
              <a:gd name="adj" fmla="val 1864"/>
            </a:avLst>
          </a:prstGeom>
          <a:solidFill>
            <a:srgbClr val="FFFFFF"/>
          </a:solidFill>
          <a:ln w="12700">
            <a:solidFill>
              <a:srgbClr val="D7E1EA"/>
            </a:solidFill>
            <a:prstDash val="solid"/>
          </a:ln>
        </p:spPr>
        <p:txBody>
          <a:bodyPr/>
          <a:lstStyle/>
          <a:p>
            <a:endParaRPr lang="en-IN"/>
          </a:p>
        </p:txBody>
      </p:sp>
      <p:sp>
        <p:nvSpPr>
          <p:cNvPr id="33" name="Shape 31"/>
          <p:cNvSpPr/>
          <p:nvPr/>
        </p:nvSpPr>
        <p:spPr>
          <a:xfrm>
            <a:off x="9639300" y="1809750"/>
            <a:ext cx="1962150" cy="47625"/>
          </a:xfrm>
          <a:prstGeom prst="rect">
            <a:avLst/>
          </a:prstGeom>
          <a:solidFill>
            <a:srgbClr val="18B89A"/>
          </a:solidFill>
          <a:ln/>
        </p:spPr>
        <p:txBody>
          <a:bodyPr/>
          <a:lstStyle/>
          <a:p>
            <a:endParaRPr lang="en-IN"/>
          </a:p>
        </p:txBody>
      </p:sp>
      <p:sp>
        <p:nvSpPr>
          <p:cNvPr id="34" name="Text 32"/>
          <p:cNvSpPr/>
          <p:nvPr/>
        </p:nvSpPr>
        <p:spPr>
          <a:xfrm>
            <a:off x="9810750" y="1981200"/>
            <a:ext cx="571500" cy="247650"/>
          </a:xfrm>
          <a:prstGeom prst="rect">
            <a:avLst/>
          </a:prstGeom>
          <a:noFill/>
          <a:ln/>
        </p:spPr>
        <p:txBody>
          <a:bodyPr wrap="square" lIns="0" tIns="0" rIns="0" bIns="0" rtlCol="0" anchor="t">
            <a:normAutofit/>
          </a:bodyPr>
          <a:lstStyle/>
          <a:p>
            <a:pPr marL="0" indent="0" algn="l">
              <a:lnSpc>
                <a:spcPct val="100000"/>
              </a:lnSpc>
              <a:buNone/>
            </a:pPr>
            <a:r>
              <a:rPr lang="en-US" sz="1700" b="1" dirty="0">
                <a:solidFill>
                  <a:srgbClr val="1C7293"/>
                </a:solidFill>
                <a:latin typeface="Cambria" pitchFamily="34" charset="0"/>
                <a:ea typeface="Cambria" pitchFamily="34" charset="-122"/>
                <a:cs typeface="Cambria" pitchFamily="34" charset="-120"/>
              </a:rPr>
              <a:t>05</a:t>
            </a:r>
            <a:endParaRPr lang="en-US" sz="1700" dirty="0"/>
          </a:p>
        </p:txBody>
      </p:sp>
      <p:sp>
        <p:nvSpPr>
          <p:cNvPr id="35" name="Text 33"/>
          <p:cNvSpPr/>
          <p:nvPr/>
        </p:nvSpPr>
        <p:spPr>
          <a:xfrm>
            <a:off x="9810750" y="2305050"/>
            <a:ext cx="1619250" cy="266700"/>
          </a:xfrm>
          <a:prstGeom prst="rect">
            <a:avLst/>
          </a:prstGeom>
          <a:noFill/>
          <a:ln/>
        </p:spPr>
        <p:txBody>
          <a:bodyPr wrap="square" lIns="0" tIns="0" rIns="0" bIns="0" rtlCol="0" anchor="t">
            <a:normAutofit/>
          </a:bodyPr>
          <a:lstStyle/>
          <a:p>
            <a:pPr marL="0" indent="0" algn="l">
              <a:lnSpc>
                <a:spcPct val="100000"/>
              </a:lnSpc>
              <a:buNone/>
            </a:pPr>
            <a:r>
              <a:rPr lang="en-US" sz="1900" b="1" dirty="0">
                <a:solidFill>
                  <a:srgbClr val="12263A"/>
                </a:solidFill>
                <a:latin typeface="Cambria" pitchFamily="34" charset="0"/>
                <a:ea typeface="Cambria" pitchFamily="34" charset="-122"/>
                <a:cs typeface="Cambria" pitchFamily="34" charset="-120"/>
              </a:rPr>
              <a:t>Verdict</a:t>
            </a:r>
            <a:endParaRPr lang="en-US" sz="1900" dirty="0"/>
          </a:p>
        </p:txBody>
      </p:sp>
      <p:sp>
        <p:nvSpPr>
          <p:cNvPr id="36" name="Text 34"/>
          <p:cNvSpPr/>
          <p:nvPr/>
        </p:nvSpPr>
        <p:spPr>
          <a:xfrm>
            <a:off x="9810750" y="2667000"/>
            <a:ext cx="1638300" cy="1200150"/>
          </a:xfrm>
          <a:prstGeom prst="rect">
            <a:avLst/>
          </a:prstGeom>
          <a:noFill/>
          <a:ln/>
        </p:spPr>
        <p:txBody>
          <a:bodyPr wrap="square" lIns="0" tIns="0" rIns="0" bIns="0" rtlCol="0" anchor="t">
            <a:normAutofit/>
          </a:bodyPr>
          <a:lstStyle/>
          <a:p>
            <a:pPr marL="0" indent="0" algn="l">
              <a:lnSpc>
                <a:spcPct val="100000"/>
              </a:lnSpc>
              <a:buNone/>
            </a:pPr>
            <a:r>
              <a:rPr lang="en-US" sz="1300" dirty="0">
                <a:solidFill>
                  <a:srgbClr val="5B6B7C"/>
                </a:solidFill>
                <a:latin typeface="Calibri" pitchFamily="34" charset="0"/>
                <a:ea typeface="Calibri" pitchFamily="34" charset="-122"/>
                <a:cs typeface="Calibri" pitchFamily="34" charset="-120"/>
              </a:rPr>
              <a:t>ATTACK · BENIGN · UNKNOWN, with the triggering clause recorded</a:t>
            </a:r>
            <a:endParaRPr lang="en-US" sz="1300" dirty="0"/>
          </a:p>
        </p:txBody>
      </p:sp>
      <p:sp>
        <p:nvSpPr>
          <p:cNvPr id="37" name="Shape 35"/>
          <p:cNvSpPr/>
          <p:nvPr/>
        </p:nvSpPr>
        <p:spPr>
          <a:xfrm>
            <a:off x="571500" y="4229100"/>
            <a:ext cx="11049000" cy="1143000"/>
          </a:xfrm>
          <a:prstGeom prst="roundRect">
            <a:avLst>
              <a:gd name="adj" fmla="val 3200"/>
            </a:avLst>
          </a:prstGeom>
          <a:solidFill>
            <a:srgbClr val="0E2440"/>
          </a:solidFill>
          <a:ln w="12700">
            <a:solidFill>
              <a:srgbClr val="0E2440"/>
            </a:solidFill>
            <a:prstDash val="solid"/>
          </a:ln>
        </p:spPr>
        <p:txBody>
          <a:bodyPr/>
          <a:lstStyle/>
          <a:p>
            <a:endParaRPr lang="en-IN"/>
          </a:p>
        </p:txBody>
      </p:sp>
      <p:sp>
        <p:nvSpPr>
          <p:cNvPr id="38" name="Text 36"/>
          <p:cNvSpPr/>
          <p:nvPr/>
        </p:nvSpPr>
        <p:spPr>
          <a:xfrm>
            <a:off x="800100" y="4400550"/>
            <a:ext cx="8572500" cy="209550"/>
          </a:xfrm>
          <a:prstGeom prst="rect">
            <a:avLst/>
          </a:prstGeom>
          <a:noFill/>
          <a:ln/>
        </p:spPr>
        <p:txBody>
          <a:bodyPr wrap="square" lIns="0" tIns="0" rIns="0" bIns="0" rtlCol="0" anchor="t">
            <a:normAutofit/>
          </a:bodyPr>
          <a:lstStyle/>
          <a:p>
            <a:pPr marL="0" indent="0" algn="l">
              <a:lnSpc>
                <a:spcPct val="100000"/>
              </a:lnSpc>
              <a:buNone/>
            </a:pPr>
            <a:r>
              <a:rPr lang="en-US" sz="1250" b="1" dirty="0">
                <a:solidFill>
                  <a:srgbClr val="18B89A"/>
                </a:solidFill>
                <a:latin typeface="Calibri" pitchFamily="34" charset="0"/>
                <a:ea typeface="Calibri" pitchFamily="34" charset="-122"/>
                <a:cs typeface="Calibri" pitchFamily="34" charset="-120"/>
              </a:rPr>
              <a:t>INTEGRITY RULE CARRIED THROUGH THE WHOLE PIPELINE</a:t>
            </a:r>
            <a:endParaRPr lang="en-US" sz="1250" dirty="0"/>
          </a:p>
        </p:txBody>
      </p:sp>
      <p:sp>
        <p:nvSpPr>
          <p:cNvPr id="39" name="Text 37"/>
          <p:cNvSpPr/>
          <p:nvPr/>
        </p:nvSpPr>
        <p:spPr>
          <a:xfrm>
            <a:off x="800100" y="4667250"/>
            <a:ext cx="10477500" cy="247650"/>
          </a:xfrm>
          <a:prstGeom prst="rect">
            <a:avLst/>
          </a:prstGeom>
          <a:noFill/>
          <a:ln/>
        </p:spPr>
        <p:txBody>
          <a:bodyPr wrap="square" lIns="0" tIns="0" rIns="0" bIns="0" rtlCol="0" anchor="t">
            <a:normAutofit/>
          </a:bodyPr>
          <a:lstStyle/>
          <a:p>
            <a:pPr marL="0" indent="0" algn="l">
              <a:lnSpc>
                <a:spcPct val="100000"/>
              </a:lnSpc>
              <a:buNone/>
            </a:pPr>
            <a:r>
              <a:rPr lang="en-US" sz="2000" b="1" dirty="0">
                <a:solidFill>
                  <a:srgbClr val="FFFFFF"/>
                </a:solidFill>
                <a:latin typeface="Cambria" pitchFamily="34" charset="0"/>
                <a:ea typeface="Cambria" pitchFamily="34" charset="-122"/>
                <a:cs typeface="Cambria" pitchFamily="34" charset="-120"/>
              </a:rPr>
              <a:t>A value that cannot be measured is written EMPTY — never zero.</a:t>
            </a:r>
            <a:endParaRPr lang="en-US" sz="2000" dirty="0"/>
          </a:p>
        </p:txBody>
      </p:sp>
      <p:sp>
        <p:nvSpPr>
          <p:cNvPr id="40" name="Text 38"/>
          <p:cNvSpPr/>
          <p:nvPr/>
        </p:nvSpPr>
        <p:spPr>
          <a:xfrm>
            <a:off x="800100" y="4972050"/>
            <a:ext cx="10477500" cy="381000"/>
          </a:xfrm>
          <a:prstGeom prst="rect">
            <a:avLst/>
          </a:prstGeom>
          <a:noFill/>
          <a:ln/>
        </p:spPr>
        <p:txBody>
          <a:bodyPr wrap="square" lIns="0" tIns="0" rIns="0" bIns="0" rtlCol="0" anchor="t">
            <a:normAutofit/>
          </a:bodyPr>
          <a:lstStyle/>
          <a:p>
            <a:pPr marL="0" indent="0" algn="l">
              <a:lnSpc>
                <a:spcPct val="100000"/>
              </a:lnSpc>
              <a:buNone/>
            </a:pPr>
            <a:r>
              <a:rPr lang="en-US" sz="1380" dirty="0">
                <a:solidFill>
                  <a:srgbClr val="CFD9E5"/>
                </a:solidFill>
                <a:latin typeface="Calibri" pitchFamily="34" charset="0"/>
                <a:ea typeface="Calibri" pitchFamily="34" charset="-122"/>
                <a:cs typeface="Calibri" pitchFamily="34" charset="-120"/>
              </a:rPr>
              <a:t>A zero offset reads as perfect synchronization. An earlier build wrote zero for unobserved fields and consequently reported a blind node as healthy. Nothing is treated as healthy without positive proof of observation, and this rule is applied at extraction, at feature construction and at scoring.</a:t>
            </a:r>
            <a:endParaRPr lang="en-US" sz="1380" dirty="0"/>
          </a:p>
        </p:txBody>
      </p:sp>
      <p:sp>
        <p:nvSpPr>
          <p:cNvPr id="41" name="Shape 39"/>
          <p:cNvSpPr/>
          <p:nvPr/>
        </p:nvSpPr>
        <p:spPr>
          <a:xfrm>
            <a:off x="571500" y="5524500"/>
            <a:ext cx="11049000" cy="514350"/>
          </a:xfrm>
          <a:prstGeom prst="roundRect">
            <a:avLst>
              <a:gd name="adj" fmla="val 7111"/>
            </a:avLst>
          </a:prstGeom>
          <a:solidFill>
            <a:srgbClr val="DDF5EF"/>
          </a:solidFill>
          <a:ln w="12700">
            <a:solidFill>
              <a:srgbClr val="18B89A"/>
            </a:solidFill>
            <a:prstDash val="solid"/>
          </a:ln>
        </p:spPr>
        <p:txBody>
          <a:bodyPr/>
          <a:lstStyle/>
          <a:p>
            <a:endParaRPr lang="en-IN"/>
          </a:p>
        </p:txBody>
      </p:sp>
      <p:sp>
        <p:nvSpPr>
          <p:cNvPr id="42" name="Text 40"/>
          <p:cNvSpPr/>
          <p:nvPr/>
        </p:nvSpPr>
        <p:spPr>
          <a:xfrm>
            <a:off x="781050" y="5648325"/>
            <a:ext cx="10629900" cy="285750"/>
          </a:xfrm>
          <a:prstGeom prst="rect">
            <a:avLst/>
          </a:prstGeom>
          <a:noFill/>
          <a:ln/>
        </p:spPr>
        <p:txBody>
          <a:bodyPr wrap="square" lIns="0" tIns="0" rIns="0" bIns="0" rtlCol="0" anchor="t">
            <a:normAutofit/>
          </a:bodyPr>
          <a:lstStyle/>
          <a:p>
            <a:pPr marL="0" indent="0" algn="l">
              <a:lnSpc>
                <a:spcPct val="100000"/>
              </a:lnSpc>
              <a:buNone/>
            </a:pPr>
            <a:r>
              <a:rPr lang="en-US" sz="1300" b="1" dirty="0">
                <a:solidFill>
                  <a:srgbClr val="0B5547"/>
                </a:solidFill>
                <a:latin typeface="Cambria" pitchFamily="34" charset="0"/>
                <a:ea typeface="Cambria" pitchFamily="34" charset="-122"/>
                <a:cs typeface="Cambria" pitchFamily="34" charset="-120"/>
              </a:rPr>
              <a:t>The same extracted evidence feeds both decision arms, so the rule-based and machine-learning comparison is performed on identical executed runs rather than on separately prepared datasets.</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8FAFC"/>
          </a:solidFill>
          <a:ln/>
        </p:spPr>
        <p:txBody>
          <a:bodyPr/>
          <a:lstStyle/>
          <a:p>
            <a:endParaRPr lang="en-IN"/>
          </a:p>
        </p:txBody>
      </p:sp>
      <p:sp>
        <p:nvSpPr>
          <p:cNvPr id="3" name="Shape 1"/>
          <p:cNvSpPr/>
          <p:nvPr/>
        </p:nvSpPr>
        <p:spPr>
          <a:xfrm>
            <a:off x="0" y="0"/>
            <a:ext cx="12192000" cy="114300"/>
          </a:xfrm>
          <a:prstGeom prst="rect">
            <a:avLst/>
          </a:prstGeom>
          <a:solidFill>
            <a:srgbClr val="18B89A"/>
          </a:solidFill>
          <a:ln/>
        </p:spPr>
        <p:txBody>
          <a:bodyPr/>
          <a:lstStyle/>
          <a:p>
            <a:endParaRPr lang="en-IN"/>
          </a:p>
        </p:txBody>
      </p:sp>
      <p:sp>
        <p:nvSpPr>
          <p:cNvPr id="4" name="Text 2"/>
          <p:cNvSpPr/>
          <p:nvPr/>
        </p:nvSpPr>
        <p:spPr>
          <a:xfrm>
            <a:off x="571500" y="209550"/>
            <a:ext cx="11049000" cy="228600"/>
          </a:xfrm>
          <a:prstGeom prst="rect">
            <a:avLst/>
          </a:prstGeom>
          <a:noFill/>
          <a:ln/>
        </p:spPr>
        <p:txBody>
          <a:bodyPr wrap="square" lIns="0" tIns="0" rIns="0" bIns="0" rtlCol="0" anchor="t">
            <a:normAutofit/>
          </a:bodyPr>
          <a:lstStyle/>
          <a:p>
            <a:pPr marL="0" indent="0" algn="l">
              <a:lnSpc>
                <a:spcPct val="100000"/>
              </a:lnSpc>
              <a:buNone/>
            </a:pPr>
            <a:r>
              <a:rPr lang="en-US" sz="1280" b="1" dirty="0">
                <a:solidFill>
                  <a:srgbClr val="1C7293"/>
                </a:solidFill>
                <a:latin typeface="Calibri" pitchFamily="34" charset="0"/>
                <a:ea typeface="Calibri" pitchFamily="34" charset="-122"/>
                <a:cs typeface="Calibri" pitchFamily="34" charset="-120"/>
              </a:rPr>
              <a:t>DATASET PRODUCED</a:t>
            </a:r>
            <a:endParaRPr lang="en-US" sz="1280" dirty="0"/>
          </a:p>
        </p:txBody>
      </p:sp>
      <p:sp>
        <p:nvSpPr>
          <p:cNvPr id="5" name="Text 3"/>
          <p:cNvSpPr/>
          <p:nvPr/>
        </p:nvSpPr>
        <p:spPr>
          <a:xfrm>
            <a:off x="571500" y="447675"/>
            <a:ext cx="11049000" cy="552450"/>
          </a:xfrm>
          <a:prstGeom prst="rect">
            <a:avLst/>
          </a:prstGeom>
          <a:noFill/>
          <a:ln/>
        </p:spPr>
        <p:txBody>
          <a:bodyPr wrap="square" lIns="0" tIns="0" rIns="0" bIns="0" rtlCol="0" anchor="t">
            <a:normAutofit/>
          </a:bodyPr>
          <a:lstStyle/>
          <a:p>
            <a:pPr marL="0" indent="0" algn="l">
              <a:lnSpc>
                <a:spcPct val="100000"/>
              </a:lnSpc>
              <a:buNone/>
            </a:pPr>
            <a:r>
              <a:rPr lang="en-US" sz="3500" b="1" dirty="0">
                <a:solidFill>
                  <a:srgbClr val="12263A"/>
                </a:solidFill>
                <a:latin typeface="Cambria" pitchFamily="34" charset="0"/>
                <a:ea typeface="Cambria" pitchFamily="34" charset="-122"/>
                <a:cs typeface="Cambria" pitchFamily="34" charset="-120"/>
              </a:rPr>
              <a:t>Experimental Dataset Composition</a:t>
            </a:r>
            <a:endParaRPr lang="en-US" sz="3500" dirty="0"/>
          </a:p>
        </p:txBody>
      </p:sp>
      <p:sp>
        <p:nvSpPr>
          <p:cNvPr id="6" name="Shape 4"/>
          <p:cNvSpPr/>
          <p:nvPr/>
        </p:nvSpPr>
        <p:spPr>
          <a:xfrm>
            <a:off x="571500" y="1057275"/>
            <a:ext cx="11049000" cy="438150"/>
          </a:xfrm>
          <a:prstGeom prst="roundRect">
            <a:avLst>
              <a:gd name="adj" fmla="val 8348"/>
            </a:avLst>
          </a:prstGeom>
          <a:solidFill>
            <a:srgbClr val="EAF2F8"/>
          </a:solidFill>
          <a:ln w="12700">
            <a:solidFill>
              <a:srgbClr val="D7E1EA"/>
            </a:solidFill>
            <a:prstDash val="solid"/>
          </a:ln>
        </p:spPr>
        <p:txBody>
          <a:bodyPr/>
          <a:lstStyle/>
          <a:p>
            <a:endParaRPr lang="en-IN"/>
          </a:p>
        </p:txBody>
      </p:sp>
      <p:sp>
        <p:nvSpPr>
          <p:cNvPr id="7" name="Text 5"/>
          <p:cNvSpPr/>
          <p:nvPr/>
        </p:nvSpPr>
        <p:spPr>
          <a:xfrm>
            <a:off x="723900" y="1123950"/>
            <a:ext cx="10744200" cy="323850"/>
          </a:xfrm>
          <a:prstGeom prst="rect">
            <a:avLst/>
          </a:prstGeom>
          <a:noFill/>
          <a:ln/>
        </p:spPr>
        <p:txBody>
          <a:bodyPr wrap="square" lIns="0" tIns="0" rIns="0" bIns="0" rtlCol="0" anchor="t">
            <a:normAutofit/>
          </a:bodyPr>
          <a:lstStyle/>
          <a:p>
            <a:pPr marL="0" indent="0" algn="l">
              <a:lnSpc>
                <a:spcPct val="102000"/>
              </a:lnSpc>
              <a:buNone/>
            </a:pPr>
            <a:r>
              <a:rPr lang="en-US" sz="1120" dirty="0">
                <a:solidFill>
                  <a:srgbClr val="5B6B7C"/>
                </a:solidFill>
                <a:latin typeface="Calibri" pitchFamily="34" charset="0"/>
                <a:ea typeface="Calibri" pitchFamily="34" charset="-122"/>
                <a:cs typeface="Calibri" pitchFamily="34" charset="-120"/>
              </a:rPr>
              <a:t>Packaged archive: splane_campaign_CORRECTED_2026-09-20.tgz, 1096 files, sha256 6149b4fb15940cdac694ba8666d97041b4eb62d5523d2631c1edf96d531e4ed9  |  Run inventory enumerated in EVALUATION_V4.json</a:t>
            </a:r>
            <a:endParaRPr lang="en-US" sz="1120" dirty="0"/>
          </a:p>
        </p:txBody>
      </p:sp>
      <p:sp>
        <p:nvSpPr>
          <p:cNvPr id="8" name="Shape 6"/>
          <p:cNvSpPr/>
          <p:nvPr/>
        </p:nvSpPr>
        <p:spPr>
          <a:xfrm>
            <a:off x="571500" y="1638300"/>
            <a:ext cx="2057400" cy="876300"/>
          </a:xfrm>
          <a:prstGeom prst="roundRect">
            <a:avLst>
              <a:gd name="adj" fmla="val 4174"/>
            </a:avLst>
          </a:prstGeom>
          <a:solidFill>
            <a:srgbClr val="0E2440"/>
          </a:solidFill>
          <a:ln w="12700">
            <a:solidFill>
              <a:srgbClr val="0E2440"/>
            </a:solidFill>
            <a:prstDash val="solid"/>
          </a:ln>
        </p:spPr>
        <p:txBody>
          <a:bodyPr/>
          <a:lstStyle/>
          <a:p>
            <a:endParaRPr lang="en-IN"/>
          </a:p>
        </p:txBody>
      </p:sp>
      <p:sp>
        <p:nvSpPr>
          <p:cNvPr id="9" name="Text 7"/>
          <p:cNvSpPr/>
          <p:nvPr/>
        </p:nvSpPr>
        <p:spPr>
          <a:xfrm>
            <a:off x="571500" y="1809750"/>
            <a:ext cx="2057400" cy="342900"/>
          </a:xfrm>
          <a:prstGeom prst="rect">
            <a:avLst/>
          </a:prstGeom>
          <a:noFill/>
          <a:ln/>
        </p:spPr>
        <p:txBody>
          <a:bodyPr wrap="square" lIns="0" tIns="0" rIns="0" bIns="0" rtlCol="0" anchor="t">
            <a:normAutofit/>
          </a:bodyPr>
          <a:lstStyle/>
          <a:p>
            <a:pPr marL="0" indent="0" algn="ctr">
              <a:lnSpc>
                <a:spcPct val="100000"/>
              </a:lnSpc>
              <a:buNone/>
            </a:pPr>
            <a:r>
              <a:rPr lang="en-US" sz="3100" b="1" dirty="0">
                <a:solidFill>
                  <a:srgbClr val="18B89A"/>
                </a:solidFill>
                <a:latin typeface="Cambria" pitchFamily="34" charset="0"/>
                <a:ea typeface="Cambria" pitchFamily="34" charset="-122"/>
                <a:cs typeface="Cambria" pitchFamily="34" charset="-120"/>
              </a:rPr>
              <a:t>168</a:t>
            </a:r>
            <a:endParaRPr lang="en-US" sz="3100" dirty="0"/>
          </a:p>
        </p:txBody>
      </p:sp>
      <p:sp>
        <p:nvSpPr>
          <p:cNvPr id="10" name="Text 8"/>
          <p:cNvSpPr/>
          <p:nvPr/>
        </p:nvSpPr>
        <p:spPr>
          <a:xfrm>
            <a:off x="647700" y="2190750"/>
            <a:ext cx="1905000" cy="266700"/>
          </a:xfrm>
          <a:prstGeom prst="rect">
            <a:avLst/>
          </a:prstGeom>
          <a:noFill/>
          <a:ln/>
        </p:spPr>
        <p:txBody>
          <a:bodyPr wrap="square" lIns="0" tIns="0" rIns="0" bIns="0" rtlCol="0" anchor="t">
            <a:normAutofit/>
          </a:bodyPr>
          <a:lstStyle/>
          <a:p>
            <a:pPr marL="0" indent="0" algn="ctr">
              <a:lnSpc>
                <a:spcPct val="100000"/>
              </a:lnSpc>
              <a:buNone/>
            </a:pPr>
            <a:r>
              <a:rPr lang="en-US" sz="1100" dirty="0">
                <a:solidFill>
                  <a:srgbClr val="CFD9E5"/>
                </a:solidFill>
                <a:latin typeface="Calibri" pitchFamily="34" charset="0"/>
                <a:ea typeface="Calibri" pitchFamily="34" charset="-122"/>
                <a:cs typeface="Calibri" pitchFamily="34" charset="-120"/>
              </a:rPr>
              <a:t>live on-wire runs</a:t>
            </a:r>
            <a:endParaRPr lang="en-US" sz="1100" dirty="0"/>
          </a:p>
        </p:txBody>
      </p:sp>
      <p:sp>
        <p:nvSpPr>
          <p:cNvPr id="11" name="Shape 9"/>
          <p:cNvSpPr/>
          <p:nvPr/>
        </p:nvSpPr>
        <p:spPr>
          <a:xfrm>
            <a:off x="2819400" y="1638300"/>
            <a:ext cx="2057400" cy="876300"/>
          </a:xfrm>
          <a:prstGeom prst="roundRect">
            <a:avLst>
              <a:gd name="adj" fmla="val 4174"/>
            </a:avLst>
          </a:prstGeom>
          <a:solidFill>
            <a:srgbClr val="0E2440"/>
          </a:solidFill>
          <a:ln w="12700">
            <a:solidFill>
              <a:srgbClr val="0E2440"/>
            </a:solidFill>
            <a:prstDash val="solid"/>
          </a:ln>
        </p:spPr>
        <p:txBody>
          <a:bodyPr/>
          <a:lstStyle/>
          <a:p>
            <a:endParaRPr lang="en-IN"/>
          </a:p>
        </p:txBody>
      </p:sp>
      <p:sp>
        <p:nvSpPr>
          <p:cNvPr id="12" name="Text 10"/>
          <p:cNvSpPr/>
          <p:nvPr/>
        </p:nvSpPr>
        <p:spPr>
          <a:xfrm>
            <a:off x="2819400" y="1809750"/>
            <a:ext cx="2057400" cy="342900"/>
          </a:xfrm>
          <a:prstGeom prst="rect">
            <a:avLst/>
          </a:prstGeom>
          <a:noFill/>
          <a:ln/>
        </p:spPr>
        <p:txBody>
          <a:bodyPr wrap="square" lIns="0" tIns="0" rIns="0" bIns="0" rtlCol="0" anchor="t">
            <a:normAutofit/>
          </a:bodyPr>
          <a:lstStyle/>
          <a:p>
            <a:pPr marL="0" indent="0" algn="ctr">
              <a:lnSpc>
                <a:spcPct val="100000"/>
              </a:lnSpc>
              <a:buNone/>
            </a:pPr>
            <a:r>
              <a:rPr lang="en-US" sz="3100" b="1" dirty="0">
                <a:solidFill>
                  <a:srgbClr val="18B89A"/>
                </a:solidFill>
                <a:latin typeface="Cambria" pitchFamily="34" charset="0"/>
                <a:ea typeface="Cambria" pitchFamily="34" charset="-122"/>
                <a:cs typeface="Cambria" pitchFamily="34" charset="-120"/>
              </a:rPr>
              <a:t>14</a:t>
            </a:r>
            <a:endParaRPr lang="en-US" sz="3100" dirty="0"/>
          </a:p>
        </p:txBody>
      </p:sp>
      <p:sp>
        <p:nvSpPr>
          <p:cNvPr id="13" name="Text 11"/>
          <p:cNvSpPr/>
          <p:nvPr/>
        </p:nvSpPr>
        <p:spPr>
          <a:xfrm>
            <a:off x="2895600" y="2190750"/>
            <a:ext cx="1905000" cy="266700"/>
          </a:xfrm>
          <a:prstGeom prst="rect">
            <a:avLst/>
          </a:prstGeom>
          <a:noFill/>
          <a:ln/>
        </p:spPr>
        <p:txBody>
          <a:bodyPr wrap="square" lIns="0" tIns="0" rIns="0" bIns="0" rtlCol="0" anchor="t">
            <a:normAutofit/>
          </a:bodyPr>
          <a:lstStyle/>
          <a:p>
            <a:pPr marL="0" indent="0" algn="ctr">
              <a:lnSpc>
                <a:spcPct val="100000"/>
              </a:lnSpc>
              <a:buNone/>
            </a:pPr>
            <a:r>
              <a:rPr lang="en-US" sz="1100" dirty="0">
                <a:solidFill>
                  <a:srgbClr val="CFD9E5"/>
                </a:solidFill>
                <a:latin typeface="Calibri" pitchFamily="34" charset="0"/>
                <a:ea typeface="Calibri" pitchFamily="34" charset="-122"/>
                <a:cs typeface="Calibri" pitchFamily="34" charset="-120"/>
              </a:rPr>
              <a:t>fault scenarios</a:t>
            </a:r>
            <a:endParaRPr lang="en-US" sz="1100" dirty="0"/>
          </a:p>
        </p:txBody>
      </p:sp>
      <p:sp>
        <p:nvSpPr>
          <p:cNvPr id="14" name="Shape 12"/>
          <p:cNvSpPr/>
          <p:nvPr/>
        </p:nvSpPr>
        <p:spPr>
          <a:xfrm>
            <a:off x="5067300" y="1638300"/>
            <a:ext cx="2057400" cy="876300"/>
          </a:xfrm>
          <a:prstGeom prst="roundRect">
            <a:avLst>
              <a:gd name="adj" fmla="val 4174"/>
            </a:avLst>
          </a:prstGeom>
          <a:solidFill>
            <a:srgbClr val="0E2440"/>
          </a:solidFill>
          <a:ln w="12700">
            <a:solidFill>
              <a:srgbClr val="0E2440"/>
            </a:solidFill>
            <a:prstDash val="solid"/>
          </a:ln>
        </p:spPr>
        <p:txBody>
          <a:bodyPr/>
          <a:lstStyle/>
          <a:p>
            <a:endParaRPr lang="en-IN"/>
          </a:p>
        </p:txBody>
      </p:sp>
      <p:sp>
        <p:nvSpPr>
          <p:cNvPr id="15" name="Text 13"/>
          <p:cNvSpPr/>
          <p:nvPr/>
        </p:nvSpPr>
        <p:spPr>
          <a:xfrm>
            <a:off x="5067300" y="1809750"/>
            <a:ext cx="2057400" cy="342900"/>
          </a:xfrm>
          <a:prstGeom prst="rect">
            <a:avLst/>
          </a:prstGeom>
          <a:noFill/>
          <a:ln/>
        </p:spPr>
        <p:txBody>
          <a:bodyPr wrap="square" lIns="0" tIns="0" rIns="0" bIns="0" rtlCol="0" anchor="t">
            <a:normAutofit/>
          </a:bodyPr>
          <a:lstStyle/>
          <a:p>
            <a:pPr marL="0" indent="0" algn="ctr">
              <a:lnSpc>
                <a:spcPct val="100000"/>
              </a:lnSpc>
              <a:buNone/>
            </a:pPr>
            <a:r>
              <a:rPr lang="en-US" sz="3100" b="1" dirty="0">
                <a:solidFill>
                  <a:srgbClr val="18B89A"/>
                </a:solidFill>
                <a:latin typeface="Cambria" pitchFamily="34" charset="0"/>
                <a:ea typeface="Cambria" pitchFamily="34" charset="-122"/>
                <a:cs typeface="Cambria" pitchFamily="34" charset="-120"/>
              </a:rPr>
              <a:t>12</a:t>
            </a:r>
            <a:endParaRPr lang="en-US" sz="3100" dirty="0"/>
          </a:p>
        </p:txBody>
      </p:sp>
      <p:sp>
        <p:nvSpPr>
          <p:cNvPr id="16" name="Text 14"/>
          <p:cNvSpPr/>
          <p:nvPr/>
        </p:nvSpPr>
        <p:spPr>
          <a:xfrm>
            <a:off x="5143500" y="2190750"/>
            <a:ext cx="1905000" cy="266700"/>
          </a:xfrm>
          <a:prstGeom prst="rect">
            <a:avLst/>
          </a:prstGeom>
          <a:noFill/>
          <a:ln/>
        </p:spPr>
        <p:txBody>
          <a:bodyPr wrap="square" lIns="0" tIns="0" rIns="0" bIns="0" rtlCol="0" anchor="t">
            <a:normAutofit/>
          </a:bodyPr>
          <a:lstStyle/>
          <a:p>
            <a:pPr marL="0" indent="0" algn="ctr">
              <a:lnSpc>
                <a:spcPct val="100000"/>
              </a:lnSpc>
              <a:buNone/>
            </a:pPr>
            <a:r>
              <a:rPr lang="en-US" sz="1100" dirty="0">
                <a:solidFill>
                  <a:srgbClr val="CFD9E5"/>
                </a:solidFill>
                <a:latin typeface="Calibri" pitchFamily="34" charset="0"/>
                <a:ea typeface="Calibri" pitchFamily="34" charset="-122"/>
                <a:cs typeface="Calibri" pitchFamily="34" charset="-120"/>
              </a:rPr>
              <a:t>randomised replicates each</a:t>
            </a:r>
            <a:endParaRPr lang="en-US" sz="1100" dirty="0"/>
          </a:p>
        </p:txBody>
      </p:sp>
      <p:sp>
        <p:nvSpPr>
          <p:cNvPr id="17" name="Shape 15"/>
          <p:cNvSpPr/>
          <p:nvPr/>
        </p:nvSpPr>
        <p:spPr>
          <a:xfrm>
            <a:off x="7315200" y="1638300"/>
            <a:ext cx="2057400" cy="876300"/>
          </a:xfrm>
          <a:prstGeom prst="roundRect">
            <a:avLst>
              <a:gd name="adj" fmla="val 4174"/>
            </a:avLst>
          </a:prstGeom>
          <a:solidFill>
            <a:srgbClr val="0E2440"/>
          </a:solidFill>
          <a:ln w="12700">
            <a:solidFill>
              <a:srgbClr val="0E2440"/>
            </a:solidFill>
            <a:prstDash val="solid"/>
          </a:ln>
        </p:spPr>
        <p:txBody>
          <a:bodyPr/>
          <a:lstStyle/>
          <a:p>
            <a:endParaRPr lang="en-IN"/>
          </a:p>
        </p:txBody>
      </p:sp>
      <p:sp>
        <p:nvSpPr>
          <p:cNvPr id="18" name="Text 16"/>
          <p:cNvSpPr/>
          <p:nvPr/>
        </p:nvSpPr>
        <p:spPr>
          <a:xfrm>
            <a:off x="7315200" y="1809750"/>
            <a:ext cx="2057400" cy="342900"/>
          </a:xfrm>
          <a:prstGeom prst="rect">
            <a:avLst/>
          </a:prstGeom>
          <a:noFill/>
          <a:ln/>
        </p:spPr>
        <p:txBody>
          <a:bodyPr wrap="square" lIns="0" tIns="0" rIns="0" bIns="0" rtlCol="0" anchor="t">
            <a:normAutofit/>
          </a:bodyPr>
          <a:lstStyle/>
          <a:p>
            <a:pPr marL="0" indent="0" algn="ctr">
              <a:lnSpc>
                <a:spcPct val="100000"/>
              </a:lnSpc>
              <a:buNone/>
            </a:pPr>
            <a:r>
              <a:rPr lang="en-US" sz="2400" b="1" dirty="0">
                <a:solidFill>
                  <a:srgbClr val="18B89A"/>
                </a:solidFill>
                <a:latin typeface="Cambria" pitchFamily="34" charset="0"/>
                <a:ea typeface="Cambria" pitchFamily="34" charset="-122"/>
                <a:cs typeface="Cambria" pitchFamily="34" charset="-120"/>
              </a:rPr>
              <a:t>1,451,909</a:t>
            </a:r>
            <a:endParaRPr lang="en-US" sz="2400" dirty="0"/>
          </a:p>
        </p:txBody>
      </p:sp>
      <p:sp>
        <p:nvSpPr>
          <p:cNvPr id="19" name="Text 17"/>
          <p:cNvSpPr/>
          <p:nvPr/>
        </p:nvSpPr>
        <p:spPr>
          <a:xfrm>
            <a:off x="7391400" y="2190750"/>
            <a:ext cx="1905000" cy="266700"/>
          </a:xfrm>
          <a:prstGeom prst="rect">
            <a:avLst/>
          </a:prstGeom>
          <a:noFill/>
          <a:ln/>
        </p:spPr>
        <p:txBody>
          <a:bodyPr wrap="square" lIns="0" tIns="0" rIns="0" bIns="0" rtlCol="0" anchor="t">
            <a:normAutofit/>
          </a:bodyPr>
          <a:lstStyle/>
          <a:p>
            <a:pPr marL="0" indent="0" algn="ctr">
              <a:lnSpc>
                <a:spcPct val="100000"/>
              </a:lnSpc>
              <a:buNone/>
            </a:pPr>
            <a:r>
              <a:rPr lang="en-US" sz="1100" dirty="0">
                <a:solidFill>
                  <a:srgbClr val="CFD9E5"/>
                </a:solidFill>
                <a:latin typeface="Calibri" pitchFamily="34" charset="0"/>
                <a:ea typeface="Calibri" pitchFamily="34" charset="-122"/>
                <a:cs typeface="Calibri" pitchFamily="34" charset="-120"/>
              </a:rPr>
              <a:t>PTP packet records extracted</a:t>
            </a:r>
            <a:endParaRPr lang="en-US" sz="1100" dirty="0"/>
          </a:p>
        </p:txBody>
      </p:sp>
      <p:sp>
        <p:nvSpPr>
          <p:cNvPr id="20" name="Shape 18"/>
          <p:cNvSpPr/>
          <p:nvPr/>
        </p:nvSpPr>
        <p:spPr>
          <a:xfrm>
            <a:off x="9563100" y="1638300"/>
            <a:ext cx="2057400" cy="876300"/>
          </a:xfrm>
          <a:prstGeom prst="roundRect">
            <a:avLst>
              <a:gd name="adj" fmla="val 4174"/>
            </a:avLst>
          </a:prstGeom>
          <a:solidFill>
            <a:srgbClr val="0E2440"/>
          </a:solidFill>
          <a:ln w="12700">
            <a:solidFill>
              <a:srgbClr val="0E2440"/>
            </a:solidFill>
            <a:prstDash val="solid"/>
          </a:ln>
        </p:spPr>
        <p:txBody>
          <a:bodyPr/>
          <a:lstStyle/>
          <a:p>
            <a:endParaRPr lang="en-IN"/>
          </a:p>
        </p:txBody>
      </p:sp>
      <p:sp>
        <p:nvSpPr>
          <p:cNvPr id="21" name="Text 19"/>
          <p:cNvSpPr/>
          <p:nvPr/>
        </p:nvSpPr>
        <p:spPr>
          <a:xfrm>
            <a:off x="9563100" y="1809750"/>
            <a:ext cx="2057400" cy="342900"/>
          </a:xfrm>
          <a:prstGeom prst="rect">
            <a:avLst/>
          </a:prstGeom>
          <a:noFill/>
          <a:ln/>
        </p:spPr>
        <p:txBody>
          <a:bodyPr wrap="square" lIns="0" tIns="0" rIns="0" bIns="0" rtlCol="0" anchor="t">
            <a:normAutofit/>
          </a:bodyPr>
          <a:lstStyle/>
          <a:p>
            <a:pPr marL="0" indent="0" algn="ctr">
              <a:lnSpc>
                <a:spcPct val="100000"/>
              </a:lnSpc>
              <a:buNone/>
            </a:pPr>
            <a:r>
              <a:rPr lang="en-US" sz="3100" b="1" dirty="0">
                <a:solidFill>
                  <a:srgbClr val="18B89A"/>
                </a:solidFill>
                <a:latin typeface="Cambria" pitchFamily="34" charset="0"/>
                <a:ea typeface="Cambria" pitchFamily="34" charset="-122"/>
                <a:cs typeface="Cambria" pitchFamily="34" charset="-120"/>
              </a:rPr>
              <a:t>56</a:t>
            </a:r>
            <a:endParaRPr lang="en-US" sz="3100" dirty="0"/>
          </a:p>
        </p:txBody>
      </p:sp>
      <p:sp>
        <p:nvSpPr>
          <p:cNvPr id="22" name="Text 20"/>
          <p:cNvSpPr/>
          <p:nvPr/>
        </p:nvSpPr>
        <p:spPr>
          <a:xfrm>
            <a:off x="9639300" y="2190750"/>
            <a:ext cx="1905000" cy="266700"/>
          </a:xfrm>
          <a:prstGeom prst="rect">
            <a:avLst/>
          </a:prstGeom>
          <a:noFill/>
          <a:ln/>
        </p:spPr>
        <p:txBody>
          <a:bodyPr wrap="square" lIns="0" tIns="0" rIns="0" bIns="0" rtlCol="0" anchor="t">
            <a:normAutofit/>
          </a:bodyPr>
          <a:lstStyle/>
          <a:p>
            <a:pPr marL="0" indent="0" algn="ctr">
              <a:lnSpc>
                <a:spcPct val="100000"/>
              </a:lnSpc>
              <a:buNone/>
            </a:pPr>
            <a:r>
              <a:rPr lang="en-US" sz="1100" dirty="0">
                <a:solidFill>
                  <a:srgbClr val="CFD9E5"/>
                </a:solidFill>
                <a:latin typeface="Calibri" pitchFamily="34" charset="0"/>
                <a:ea typeface="Calibri" pitchFamily="34" charset="-122"/>
                <a:cs typeface="Calibri" pitchFamily="34" charset="-120"/>
              </a:rPr>
              <a:t>fields per packet</a:t>
            </a:r>
            <a:endParaRPr lang="en-US" sz="1100" dirty="0"/>
          </a:p>
        </p:txBody>
      </p:sp>
      <p:sp>
        <p:nvSpPr>
          <p:cNvPr id="23" name="Shape 21"/>
          <p:cNvSpPr/>
          <p:nvPr/>
        </p:nvSpPr>
        <p:spPr>
          <a:xfrm>
            <a:off x="571500" y="2686050"/>
            <a:ext cx="5381625" cy="2381250"/>
          </a:xfrm>
          <a:prstGeom prst="roundRect">
            <a:avLst>
              <a:gd name="adj" fmla="val 1536"/>
            </a:avLst>
          </a:prstGeom>
          <a:solidFill>
            <a:srgbClr val="FFFFFF"/>
          </a:solidFill>
          <a:ln w="12700">
            <a:solidFill>
              <a:srgbClr val="D7E1EA"/>
            </a:solidFill>
            <a:prstDash val="solid"/>
          </a:ln>
        </p:spPr>
        <p:txBody>
          <a:bodyPr/>
          <a:lstStyle/>
          <a:p>
            <a:endParaRPr lang="en-IN"/>
          </a:p>
        </p:txBody>
      </p:sp>
      <p:sp>
        <p:nvSpPr>
          <p:cNvPr id="24" name="Text 22"/>
          <p:cNvSpPr/>
          <p:nvPr/>
        </p:nvSpPr>
        <p:spPr>
          <a:xfrm>
            <a:off x="781050" y="2838450"/>
            <a:ext cx="4762500" cy="19050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1C7293"/>
                </a:solidFill>
                <a:latin typeface="Calibri" pitchFamily="34" charset="0"/>
                <a:ea typeface="Calibri" pitchFamily="34" charset="-122"/>
                <a:cs typeface="Calibri" pitchFamily="34" charset="-120"/>
              </a:rPr>
              <a:t>WHAT CONSTITUTES ONE RUN</a:t>
            </a:r>
            <a:endParaRPr lang="en-US" sz="1200" dirty="0"/>
          </a:p>
        </p:txBody>
      </p:sp>
      <p:sp>
        <p:nvSpPr>
          <p:cNvPr id="25" name="Shape 23"/>
          <p:cNvSpPr/>
          <p:nvPr/>
        </p:nvSpPr>
        <p:spPr>
          <a:xfrm>
            <a:off x="800100" y="3143250"/>
            <a:ext cx="57150" cy="57150"/>
          </a:xfrm>
          <a:prstGeom prst="rect">
            <a:avLst/>
          </a:prstGeom>
          <a:solidFill>
            <a:srgbClr val="18B89A"/>
          </a:solidFill>
          <a:ln/>
        </p:spPr>
        <p:txBody>
          <a:bodyPr/>
          <a:lstStyle/>
          <a:p>
            <a:endParaRPr lang="en-IN"/>
          </a:p>
        </p:txBody>
      </p:sp>
      <p:sp>
        <p:nvSpPr>
          <p:cNvPr id="26" name="Text 24"/>
          <p:cNvSpPr/>
          <p:nvPr/>
        </p:nvSpPr>
        <p:spPr>
          <a:xfrm>
            <a:off x="952500" y="3086100"/>
            <a:ext cx="1905000" cy="190500"/>
          </a:xfrm>
          <a:prstGeom prst="rect">
            <a:avLst/>
          </a:prstGeom>
          <a:noFill/>
          <a:ln/>
        </p:spPr>
        <p:txBody>
          <a:bodyPr wrap="square" lIns="0" tIns="0" rIns="0" bIns="0" rtlCol="0" anchor="t">
            <a:normAutofit/>
          </a:bodyPr>
          <a:lstStyle/>
          <a:p>
            <a:pPr marL="0" indent="0" algn="l">
              <a:lnSpc>
                <a:spcPct val="100000"/>
              </a:lnSpc>
              <a:buNone/>
            </a:pPr>
            <a:r>
              <a:rPr lang="en-US" sz="1300" b="1" dirty="0">
                <a:solidFill>
                  <a:srgbClr val="12263A"/>
                </a:solidFill>
                <a:latin typeface="Calibri" pitchFamily="34" charset="0"/>
                <a:ea typeface="Calibri" pitchFamily="34" charset="-122"/>
                <a:cs typeface="Calibri" pitchFamily="34" charset="-120"/>
              </a:rPr>
              <a:t>Two bridge captures</a:t>
            </a:r>
            <a:endParaRPr lang="en-US" sz="1300" dirty="0"/>
          </a:p>
        </p:txBody>
      </p:sp>
      <p:sp>
        <p:nvSpPr>
          <p:cNvPr id="27" name="Text 25"/>
          <p:cNvSpPr/>
          <p:nvPr/>
        </p:nvSpPr>
        <p:spPr>
          <a:xfrm>
            <a:off x="2895600" y="3086100"/>
            <a:ext cx="2857500" cy="190500"/>
          </a:xfrm>
          <a:prstGeom prst="rect">
            <a:avLst/>
          </a:prstGeom>
          <a:noFill/>
          <a:ln/>
        </p:spPr>
        <p:txBody>
          <a:bodyPr wrap="square" lIns="0" tIns="0" rIns="0" bIns="0" rtlCol="0" anchor="t">
            <a:normAutofit/>
          </a:bodyPr>
          <a:lstStyle/>
          <a:p>
            <a:pPr marL="0" indent="0" algn="l">
              <a:lnSpc>
                <a:spcPct val="100000"/>
              </a:lnSpc>
              <a:buNone/>
            </a:pPr>
            <a:r>
              <a:rPr lang="en-US" sz="1240" dirty="0">
                <a:solidFill>
                  <a:srgbClr val="5B6B7C"/>
                </a:solidFill>
                <a:latin typeface="Calibri" pitchFamily="34" charset="0"/>
                <a:ea typeface="Calibri" pitchFamily="34" charset="-122"/>
                <a:cs typeface="Calibri" pitchFamily="34" charset="-120"/>
              </a:rPr>
              <a:t>every PTP frame on brUP and brDN, unmodified</a:t>
            </a:r>
            <a:endParaRPr lang="en-US" sz="1240" dirty="0"/>
          </a:p>
        </p:txBody>
      </p:sp>
      <p:sp>
        <p:nvSpPr>
          <p:cNvPr id="28" name="Shape 26"/>
          <p:cNvSpPr/>
          <p:nvPr/>
        </p:nvSpPr>
        <p:spPr>
          <a:xfrm>
            <a:off x="800100" y="3467100"/>
            <a:ext cx="57150" cy="57150"/>
          </a:xfrm>
          <a:prstGeom prst="rect">
            <a:avLst/>
          </a:prstGeom>
          <a:solidFill>
            <a:srgbClr val="18B89A"/>
          </a:solidFill>
          <a:ln/>
        </p:spPr>
        <p:txBody>
          <a:bodyPr/>
          <a:lstStyle/>
          <a:p>
            <a:endParaRPr lang="en-IN"/>
          </a:p>
        </p:txBody>
      </p:sp>
      <p:sp>
        <p:nvSpPr>
          <p:cNvPr id="29" name="Text 27"/>
          <p:cNvSpPr/>
          <p:nvPr/>
        </p:nvSpPr>
        <p:spPr>
          <a:xfrm>
            <a:off x="952500" y="3409950"/>
            <a:ext cx="1905000" cy="190500"/>
          </a:xfrm>
          <a:prstGeom prst="rect">
            <a:avLst/>
          </a:prstGeom>
          <a:noFill/>
          <a:ln/>
        </p:spPr>
        <p:txBody>
          <a:bodyPr wrap="square" lIns="0" tIns="0" rIns="0" bIns="0" rtlCol="0" anchor="t">
            <a:normAutofit/>
          </a:bodyPr>
          <a:lstStyle/>
          <a:p>
            <a:pPr marL="0" indent="0" algn="l">
              <a:lnSpc>
                <a:spcPct val="100000"/>
              </a:lnSpc>
              <a:buNone/>
            </a:pPr>
            <a:r>
              <a:rPr lang="en-US" sz="1300" b="1" dirty="0">
                <a:solidFill>
                  <a:srgbClr val="12263A"/>
                </a:solidFill>
                <a:latin typeface="Calibri" pitchFamily="34" charset="0"/>
                <a:ea typeface="Calibri" pitchFamily="34" charset="-122"/>
                <a:cs typeface="Calibri" pitchFamily="34" charset="-120"/>
              </a:rPr>
              <a:t>One deep-extract CSV</a:t>
            </a:r>
            <a:endParaRPr lang="en-US" sz="1300" dirty="0"/>
          </a:p>
        </p:txBody>
      </p:sp>
      <p:sp>
        <p:nvSpPr>
          <p:cNvPr id="30" name="Text 28"/>
          <p:cNvSpPr/>
          <p:nvPr/>
        </p:nvSpPr>
        <p:spPr>
          <a:xfrm>
            <a:off x="2895600" y="3409950"/>
            <a:ext cx="2857500" cy="190500"/>
          </a:xfrm>
          <a:prstGeom prst="rect">
            <a:avLst/>
          </a:prstGeom>
          <a:noFill/>
          <a:ln/>
        </p:spPr>
        <p:txBody>
          <a:bodyPr wrap="square" lIns="0" tIns="0" rIns="0" bIns="0" rtlCol="0" anchor="t">
            <a:normAutofit/>
          </a:bodyPr>
          <a:lstStyle/>
          <a:p>
            <a:pPr marL="0" indent="0" algn="l">
              <a:lnSpc>
                <a:spcPct val="100000"/>
              </a:lnSpc>
              <a:buNone/>
            </a:pPr>
            <a:r>
              <a:rPr lang="en-US" sz="1240" dirty="0">
                <a:solidFill>
                  <a:srgbClr val="5B6B7C"/>
                </a:solidFill>
                <a:latin typeface="Calibri" pitchFamily="34" charset="0"/>
                <a:ea typeface="Calibri" pitchFamily="34" charset="-122"/>
                <a:cs typeface="Calibri" pitchFamily="34" charset="-120"/>
              </a:rPr>
              <a:t>56 fields per packet; unobservable fields written EMPTY</a:t>
            </a:r>
            <a:endParaRPr lang="en-US" sz="1240" dirty="0"/>
          </a:p>
        </p:txBody>
      </p:sp>
      <p:sp>
        <p:nvSpPr>
          <p:cNvPr id="31" name="Shape 29"/>
          <p:cNvSpPr/>
          <p:nvPr/>
        </p:nvSpPr>
        <p:spPr>
          <a:xfrm>
            <a:off x="800100" y="3790950"/>
            <a:ext cx="57150" cy="57150"/>
          </a:xfrm>
          <a:prstGeom prst="rect">
            <a:avLst/>
          </a:prstGeom>
          <a:solidFill>
            <a:srgbClr val="18B89A"/>
          </a:solidFill>
          <a:ln/>
        </p:spPr>
        <p:txBody>
          <a:bodyPr/>
          <a:lstStyle/>
          <a:p>
            <a:endParaRPr lang="en-IN"/>
          </a:p>
        </p:txBody>
      </p:sp>
      <p:sp>
        <p:nvSpPr>
          <p:cNvPr id="32" name="Text 30"/>
          <p:cNvSpPr/>
          <p:nvPr/>
        </p:nvSpPr>
        <p:spPr>
          <a:xfrm>
            <a:off x="952500" y="3733800"/>
            <a:ext cx="1905000" cy="190500"/>
          </a:xfrm>
          <a:prstGeom prst="rect">
            <a:avLst/>
          </a:prstGeom>
          <a:noFill/>
          <a:ln/>
        </p:spPr>
        <p:txBody>
          <a:bodyPr wrap="square" lIns="0" tIns="0" rIns="0" bIns="0" rtlCol="0" anchor="t">
            <a:normAutofit/>
          </a:bodyPr>
          <a:lstStyle/>
          <a:p>
            <a:pPr marL="0" indent="0" algn="l">
              <a:lnSpc>
                <a:spcPct val="100000"/>
              </a:lnSpc>
              <a:buNone/>
            </a:pPr>
            <a:r>
              <a:rPr lang="en-US" sz="1300" b="1" dirty="0">
                <a:solidFill>
                  <a:srgbClr val="12263A"/>
                </a:solidFill>
                <a:latin typeface="Calibri" pitchFamily="34" charset="0"/>
                <a:ea typeface="Calibri" pitchFamily="34" charset="-122"/>
                <a:cs typeface="Calibri" pitchFamily="34" charset="-120"/>
              </a:rPr>
              <a:t>Six daemon servo logs</a:t>
            </a:r>
            <a:endParaRPr lang="en-US" sz="1300" dirty="0"/>
          </a:p>
        </p:txBody>
      </p:sp>
      <p:sp>
        <p:nvSpPr>
          <p:cNvPr id="33" name="Text 31"/>
          <p:cNvSpPr/>
          <p:nvPr/>
        </p:nvSpPr>
        <p:spPr>
          <a:xfrm>
            <a:off x="2895600" y="3733800"/>
            <a:ext cx="2857500" cy="190500"/>
          </a:xfrm>
          <a:prstGeom prst="rect">
            <a:avLst/>
          </a:prstGeom>
          <a:noFill/>
          <a:ln/>
        </p:spPr>
        <p:txBody>
          <a:bodyPr wrap="square" lIns="0" tIns="0" rIns="0" bIns="0" rtlCol="0" anchor="t">
            <a:normAutofit/>
          </a:bodyPr>
          <a:lstStyle/>
          <a:p>
            <a:pPr marL="0" indent="0" algn="l">
              <a:lnSpc>
                <a:spcPct val="100000"/>
              </a:lnSpc>
              <a:buNone/>
            </a:pPr>
            <a:r>
              <a:rPr lang="en-US" sz="1240" dirty="0">
                <a:solidFill>
                  <a:srgbClr val="5B6B7C"/>
                </a:solidFill>
                <a:latin typeface="Calibri" pitchFamily="34" charset="0"/>
                <a:ea typeface="Calibri" pitchFamily="34" charset="-122"/>
                <a:cs typeface="Calibri" pitchFamily="34" charset="-120"/>
              </a:rPr>
              <a:t>offset, path delay and frequency per node</a:t>
            </a:r>
            <a:endParaRPr lang="en-US" sz="1240" dirty="0"/>
          </a:p>
        </p:txBody>
      </p:sp>
      <p:sp>
        <p:nvSpPr>
          <p:cNvPr id="34" name="Shape 32"/>
          <p:cNvSpPr/>
          <p:nvPr/>
        </p:nvSpPr>
        <p:spPr>
          <a:xfrm>
            <a:off x="800100" y="4114800"/>
            <a:ext cx="57150" cy="57150"/>
          </a:xfrm>
          <a:prstGeom prst="rect">
            <a:avLst/>
          </a:prstGeom>
          <a:solidFill>
            <a:srgbClr val="18B89A"/>
          </a:solidFill>
          <a:ln/>
        </p:spPr>
        <p:txBody>
          <a:bodyPr/>
          <a:lstStyle/>
          <a:p>
            <a:endParaRPr lang="en-IN"/>
          </a:p>
        </p:txBody>
      </p:sp>
      <p:sp>
        <p:nvSpPr>
          <p:cNvPr id="35" name="Text 33"/>
          <p:cNvSpPr/>
          <p:nvPr/>
        </p:nvSpPr>
        <p:spPr>
          <a:xfrm>
            <a:off x="952500" y="4057650"/>
            <a:ext cx="1905000" cy="190500"/>
          </a:xfrm>
          <a:prstGeom prst="rect">
            <a:avLst/>
          </a:prstGeom>
          <a:noFill/>
          <a:ln/>
        </p:spPr>
        <p:txBody>
          <a:bodyPr wrap="square" lIns="0" tIns="0" rIns="0" bIns="0" rtlCol="0" anchor="t">
            <a:normAutofit/>
          </a:bodyPr>
          <a:lstStyle/>
          <a:p>
            <a:pPr marL="0" indent="0" algn="l">
              <a:lnSpc>
                <a:spcPct val="100000"/>
              </a:lnSpc>
              <a:buNone/>
            </a:pPr>
            <a:r>
              <a:rPr lang="en-US" sz="1300" b="1" dirty="0">
                <a:solidFill>
                  <a:srgbClr val="12263A"/>
                </a:solidFill>
                <a:latin typeface="Calibri" pitchFamily="34" charset="0"/>
                <a:ea typeface="Calibri" pitchFamily="34" charset="-122"/>
                <a:cs typeface="Calibri" pitchFamily="34" charset="-120"/>
              </a:rPr>
              <a:t>One pmc telemetry file</a:t>
            </a:r>
            <a:endParaRPr lang="en-US" sz="1300" dirty="0"/>
          </a:p>
        </p:txBody>
      </p:sp>
      <p:sp>
        <p:nvSpPr>
          <p:cNvPr id="36" name="Text 34"/>
          <p:cNvSpPr/>
          <p:nvPr/>
        </p:nvSpPr>
        <p:spPr>
          <a:xfrm>
            <a:off x="2895600" y="4057650"/>
            <a:ext cx="2857500" cy="190500"/>
          </a:xfrm>
          <a:prstGeom prst="rect">
            <a:avLst/>
          </a:prstGeom>
          <a:noFill/>
          <a:ln/>
        </p:spPr>
        <p:txBody>
          <a:bodyPr wrap="square" lIns="0" tIns="0" rIns="0" bIns="0" rtlCol="0" anchor="t">
            <a:normAutofit/>
          </a:bodyPr>
          <a:lstStyle/>
          <a:p>
            <a:pPr marL="0" indent="0" algn="l">
              <a:lnSpc>
                <a:spcPct val="100000"/>
              </a:lnSpc>
              <a:buNone/>
            </a:pPr>
            <a:r>
              <a:rPr lang="en-US" sz="1240" dirty="0">
                <a:solidFill>
                  <a:srgbClr val="5B6B7C"/>
                </a:solidFill>
                <a:latin typeface="Calibri" pitchFamily="34" charset="0"/>
                <a:ea typeface="Calibri" pitchFamily="34" charset="-122"/>
                <a:cs typeface="Calibri" pitchFamily="34" charset="-120"/>
              </a:rPr>
              <a:t>management data set snapshots during the run</a:t>
            </a:r>
            <a:endParaRPr lang="en-US" sz="1240" dirty="0"/>
          </a:p>
        </p:txBody>
      </p:sp>
      <p:sp>
        <p:nvSpPr>
          <p:cNvPr id="37" name="Shape 35"/>
          <p:cNvSpPr/>
          <p:nvPr/>
        </p:nvSpPr>
        <p:spPr>
          <a:xfrm>
            <a:off x="800100" y="4438650"/>
            <a:ext cx="57150" cy="57150"/>
          </a:xfrm>
          <a:prstGeom prst="rect">
            <a:avLst/>
          </a:prstGeom>
          <a:solidFill>
            <a:srgbClr val="18B89A"/>
          </a:solidFill>
          <a:ln/>
        </p:spPr>
        <p:txBody>
          <a:bodyPr/>
          <a:lstStyle/>
          <a:p>
            <a:endParaRPr lang="en-IN"/>
          </a:p>
        </p:txBody>
      </p:sp>
      <p:sp>
        <p:nvSpPr>
          <p:cNvPr id="38" name="Text 36"/>
          <p:cNvSpPr/>
          <p:nvPr/>
        </p:nvSpPr>
        <p:spPr>
          <a:xfrm>
            <a:off x="952500" y="4381500"/>
            <a:ext cx="1905000" cy="190500"/>
          </a:xfrm>
          <a:prstGeom prst="rect">
            <a:avLst/>
          </a:prstGeom>
          <a:noFill/>
          <a:ln/>
        </p:spPr>
        <p:txBody>
          <a:bodyPr wrap="square" lIns="0" tIns="0" rIns="0" bIns="0" rtlCol="0" anchor="t">
            <a:normAutofit/>
          </a:bodyPr>
          <a:lstStyle/>
          <a:p>
            <a:pPr marL="0" indent="0" algn="l">
              <a:lnSpc>
                <a:spcPct val="100000"/>
              </a:lnSpc>
              <a:buNone/>
            </a:pPr>
            <a:r>
              <a:rPr lang="en-US" sz="1300" b="1" dirty="0">
                <a:solidFill>
                  <a:srgbClr val="12263A"/>
                </a:solidFill>
                <a:latin typeface="Calibri" pitchFamily="34" charset="0"/>
                <a:ea typeface="Calibri" pitchFamily="34" charset="-122"/>
                <a:cs typeface="Calibri" pitchFamily="34" charset="-120"/>
              </a:rPr>
              <a:t>One context.json</a:t>
            </a:r>
            <a:endParaRPr lang="en-US" sz="1300" dirty="0"/>
          </a:p>
        </p:txBody>
      </p:sp>
      <p:sp>
        <p:nvSpPr>
          <p:cNvPr id="39" name="Text 37"/>
          <p:cNvSpPr/>
          <p:nvPr/>
        </p:nvSpPr>
        <p:spPr>
          <a:xfrm>
            <a:off x="2895600" y="4381500"/>
            <a:ext cx="2857500" cy="190500"/>
          </a:xfrm>
          <a:prstGeom prst="rect">
            <a:avLst/>
          </a:prstGeom>
          <a:noFill/>
          <a:ln/>
        </p:spPr>
        <p:txBody>
          <a:bodyPr wrap="square" lIns="0" tIns="0" rIns="0" bIns="0" rtlCol="0" anchor="t">
            <a:normAutofit/>
          </a:bodyPr>
          <a:lstStyle/>
          <a:p>
            <a:pPr marL="0" indent="0" algn="l">
              <a:lnSpc>
                <a:spcPct val="100000"/>
              </a:lnSpc>
              <a:buNone/>
            </a:pPr>
            <a:r>
              <a:rPr lang="en-US" sz="1240" dirty="0">
                <a:solidFill>
                  <a:srgbClr val="5B6B7C"/>
                </a:solidFill>
                <a:latin typeface="Calibri" pitchFamily="34" charset="0"/>
                <a:ea typeface="Calibri" pitchFamily="34" charset="-122"/>
                <a:cs typeface="Calibri" pitchFamily="34" charset="-120"/>
              </a:rPr>
              <a:t>ground-truth class, fault id, allow-list, maintenance state</a:t>
            </a:r>
            <a:endParaRPr lang="en-US" sz="1240" dirty="0"/>
          </a:p>
        </p:txBody>
      </p:sp>
      <p:sp>
        <p:nvSpPr>
          <p:cNvPr id="40" name="Shape 38"/>
          <p:cNvSpPr/>
          <p:nvPr/>
        </p:nvSpPr>
        <p:spPr>
          <a:xfrm>
            <a:off x="800100" y="4762500"/>
            <a:ext cx="57150" cy="57150"/>
          </a:xfrm>
          <a:prstGeom prst="rect">
            <a:avLst/>
          </a:prstGeom>
          <a:solidFill>
            <a:srgbClr val="18B89A"/>
          </a:solidFill>
          <a:ln/>
        </p:spPr>
        <p:txBody>
          <a:bodyPr/>
          <a:lstStyle/>
          <a:p>
            <a:endParaRPr lang="en-IN"/>
          </a:p>
        </p:txBody>
      </p:sp>
      <p:sp>
        <p:nvSpPr>
          <p:cNvPr id="41" name="Text 39"/>
          <p:cNvSpPr/>
          <p:nvPr/>
        </p:nvSpPr>
        <p:spPr>
          <a:xfrm>
            <a:off x="952500" y="4705350"/>
            <a:ext cx="1905000" cy="190500"/>
          </a:xfrm>
          <a:prstGeom prst="rect">
            <a:avLst/>
          </a:prstGeom>
          <a:noFill/>
          <a:ln/>
        </p:spPr>
        <p:txBody>
          <a:bodyPr wrap="square" lIns="0" tIns="0" rIns="0" bIns="0" rtlCol="0" anchor="t">
            <a:normAutofit/>
          </a:bodyPr>
          <a:lstStyle/>
          <a:p>
            <a:pPr marL="0" indent="0" algn="l">
              <a:lnSpc>
                <a:spcPct val="100000"/>
              </a:lnSpc>
              <a:buNone/>
            </a:pPr>
            <a:r>
              <a:rPr lang="en-US" sz="1300" b="1" dirty="0">
                <a:solidFill>
                  <a:srgbClr val="12263A"/>
                </a:solidFill>
                <a:latin typeface="Calibri" pitchFamily="34" charset="0"/>
                <a:ea typeface="Calibri" pitchFamily="34" charset="-122"/>
                <a:cs typeface="Calibri" pitchFamily="34" charset="-120"/>
              </a:rPr>
              <a:t>Three verdict files</a:t>
            </a:r>
            <a:endParaRPr lang="en-US" sz="1300" dirty="0"/>
          </a:p>
        </p:txBody>
      </p:sp>
      <p:sp>
        <p:nvSpPr>
          <p:cNvPr id="42" name="Text 40"/>
          <p:cNvSpPr/>
          <p:nvPr/>
        </p:nvSpPr>
        <p:spPr>
          <a:xfrm>
            <a:off x="2895600" y="4705350"/>
            <a:ext cx="2857500" cy="190500"/>
          </a:xfrm>
          <a:prstGeom prst="rect">
            <a:avLst/>
          </a:prstGeom>
          <a:noFill/>
          <a:ln/>
        </p:spPr>
        <p:txBody>
          <a:bodyPr wrap="square" lIns="0" tIns="0" rIns="0" bIns="0" rtlCol="0" anchor="t">
            <a:normAutofit/>
          </a:bodyPr>
          <a:lstStyle/>
          <a:p>
            <a:pPr marL="0" indent="0" algn="l">
              <a:lnSpc>
                <a:spcPct val="100000"/>
              </a:lnSpc>
              <a:buNone/>
            </a:pPr>
            <a:r>
              <a:rPr lang="en-US" sz="1240" dirty="0">
                <a:solidFill>
                  <a:srgbClr val="5B6B7C"/>
                </a:solidFill>
                <a:latin typeface="Calibri" pitchFamily="34" charset="0"/>
                <a:ea typeface="Calibri" pitchFamily="34" charset="-122"/>
                <a:cs typeface="Calibri" pitchFamily="34" charset="-120"/>
              </a:rPr>
              <a:t>base rule, v2 and v3 scored on the same capture</a:t>
            </a:r>
            <a:endParaRPr lang="en-US" sz="1240" dirty="0"/>
          </a:p>
        </p:txBody>
      </p:sp>
      <p:sp>
        <p:nvSpPr>
          <p:cNvPr id="43" name="Shape 41"/>
          <p:cNvSpPr/>
          <p:nvPr/>
        </p:nvSpPr>
        <p:spPr>
          <a:xfrm>
            <a:off x="6238875" y="2686050"/>
            <a:ext cx="5381625" cy="2381250"/>
          </a:xfrm>
          <a:prstGeom prst="roundRect">
            <a:avLst>
              <a:gd name="adj" fmla="val 1536"/>
            </a:avLst>
          </a:prstGeom>
          <a:solidFill>
            <a:srgbClr val="EAF2F8"/>
          </a:solidFill>
          <a:ln w="12700">
            <a:solidFill>
              <a:srgbClr val="D7E1EA"/>
            </a:solidFill>
            <a:prstDash val="solid"/>
          </a:ln>
        </p:spPr>
        <p:txBody>
          <a:bodyPr/>
          <a:lstStyle/>
          <a:p>
            <a:endParaRPr lang="en-IN"/>
          </a:p>
        </p:txBody>
      </p:sp>
      <p:sp>
        <p:nvSpPr>
          <p:cNvPr id="44" name="Text 42"/>
          <p:cNvSpPr/>
          <p:nvPr/>
        </p:nvSpPr>
        <p:spPr>
          <a:xfrm>
            <a:off x="6448425" y="2838450"/>
            <a:ext cx="4762500" cy="19050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1C7293"/>
                </a:solidFill>
                <a:latin typeface="Calibri" pitchFamily="34" charset="0"/>
                <a:ea typeface="Calibri" pitchFamily="34" charset="-122"/>
                <a:cs typeface="Calibri" pitchFamily="34" charset="-120"/>
              </a:rPr>
              <a:t>MEASURABLE AND UNAVAILABLE EVIDENCE</a:t>
            </a:r>
            <a:endParaRPr lang="en-US" sz="1200" dirty="0"/>
          </a:p>
        </p:txBody>
      </p:sp>
      <p:sp>
        <p:nvSpPr>
          <p:cNvPr id="45" name="Text 43"/>
          <p:cNvSpPr/>
          <p:nvPr/>
        </p:nvSpPr>
        <p:spPr>
          <a:xfrm>
            <a:off x="6448425" y="3105150"/>
            <a:ext cx="2857500" cy="190500"/>
          </a:xfrm>
          <a:prstGeom prst="rect">
            <a:avLst/>
          </a:prstGeom>
          <a:noFill/>
          <a:ln/>
        </p:spPr>
        <p:txBody>
          <a:bodyPr wrap="square" lIns="0" tIns="0" rIns="0" bIns="0" rtlCol="0" anchor="t">
            <a:normAutofit/>
          </a:bodyPr>
          <a:lstStyle/>
          <a:p>
            <a:pPr marL="0" indent="0" algn="l">
              <a:lnSpc>
                <a:spcPct val="100000"/>
              </a:lnSpc>
              <a:buNone/>
            </a:pPr>
            <a:r>
              <a:rPr lang="en-US" sz="1300" b="1" dirty="0">
                <a:solidFill>
                  <a:srgbClr val="1E8E5A"/>
                </a:solidFill>
                <a:latin typeface="Calibri" pitchFamily="34" charset="0"/>
                <a:ea typeface="Calibri" pitchFamily="34" charset="-122"/>
                <a:cs typeface="Calibri" pitchFamily="34" charset="-120"/>
              </a:rPr>
              <a:t>Recorded for every run</a:t>
            </a:r>
            <a:endParaRPr lang="en-US" sz="1300" dirty="0"/>
          </a:p>
        </p:txBody>
      </p:sp>
      <p:sp>
        <p:nvSpPr>
          <p:cNvPr id="46" name="Text 44"/>
          <p:cNvSpPr/>
          <p:nvPr/>
        </p:nvSpPr>
        <p:spPr>
          <a:xfrm>
            <a:off x="6448425" y="3314700"/>
            <a:ext cx="4953000" cy="419100"/>
          </a:xfrm>
          <a:prstGeom prst="rect">
            <a:avLst/>
          </a:prstGeom>
          <a:noFill/>
          <a:ln/>
        </p:spPr>
        <p:txBody>
          <a:bodyPr wrap="square" lIns="0" tIns="0" rIns="0" bIns="0" rtlCol="0" anchor="t">
            <a:normAutofit/>
          </a:bodyPr>
          <a:lstStyle/>
          <a:p>
            <a:pPr marL="0" indent="0" algn="l">
              <a:lnSpc>
                <a:spcPct val="100000"/>
              </a:lnSpc>
              <a:buNone/>
            </a:pPr>
            <a:r>
              <a:rPr lang="en-US" sz="1260" dirty="0">
                <a:solidFill>
                  <a:srgbClr val="12263A"/>
                </a:solidFill>
                <a:latin typeface="Calibri" pitchFamily="34" charset="0"/>
                <a:ea typeface="Calibri" pitchFamily="34" charset="-122"/>
                <a:cs typeface="Calibri" pitchFamily="34" charset="-120"/>
              </a:rPr>
              <a:t>Packet header, flag, correction, identity, sequence and Announce data-set fields; derived G.8275.1 conformance flags; per-node servo telemetry.</a:t>
            </a:r>
            <a:endParaRPr lang="en-US" sz="1260" dirty="0"/>
          </a:p>
        </p:txBody>
      </p:sp>
      <p:sp>
        <p:nvSpPr>
          <p:cNvPr id="47" name="Text 45"/>
          <p:cNvSpPr/>
          <p:nvPr/>
        </p:nvSpPr>
        <p:spPr>
          <a:xfrm>
            <a:off x="6448425" y="3810000"/>
            <a:ext cx="2857500" cy="190500"/>
          </a:xfrm>
          <a:prstGeom prst="rect">
            <a:avLst/>
          </a:prstGeom>
          <a:noFill/>
          <a:ln/>
        </p:spPr>
        <p:txBody>
          <a:bodyPr wrap="square" lIns="0" tIns="0" rIns="0" bIns="0" rtlCol="0" anchor="t">
            <a:normAutofit/>
          </a:bodyPr>
          <a:lstStyle/>
          <a:p>
            <a:pPr marL="0" indent="0" algn="l">
              <a:lnSpc>
                <a:spcPct val="100000"/>
              </a:lnSpc>
              <a:buNone/>
            </a:pPr>
            <a:r>
              <a:rPr lang="en-US" sz="1300" b="1" dirty="0">
                <a:solidFill>
                  <a:srgbClr val="B3402F"/>
                </a:solidFill>
                <a:latin typeface="Calibri" pitchFamily="34" charset="0"/>
                <a:ea typeface="Calibri" pitchFamily="34" charset="-122"/>
                <a:cs typeface="Calibri" pitchFamily="34" charset="-120"/>
              </a:rPr>
              <a:t>Structurally unavailable</a:t>
            </a:r>
            <a:endParaRPr lang="en-US" sz="1300" dirty="0"/>
          </a:p>
        </p:txBody>
      </p:sp>
      <p:sp>
        <p:nvSpPr>
          <p:cNvPr id="48" name="Text 46"/>
          <p:cNvSpPr/>
          <p:nvPr/>
        </p:nvSpPr>
        <p:spPr>
          <a:xfrm>
            <a:off x="6448425" y="4019550"/>
            <a:ext cx="4953000" cy="533400"/>
          </a:xfrm>
          <a:prstGeom prst="rect">
            <a:avLst/>
          </a:prstGeom>
          <a:noFill/>
          <a:ln/>
        </p:spPr>
        <p:txBody>
          <a:bodyPr wrap="square" lIns="0" tIns="0" rIns="0" bIns="0" rtlCol="0" anchor="t">
            <a:normAutofit/>
          </a:bodyPr>
          <a:lstStyle/>
          <a:p>
            <a:pPr marL="0" indent="0" algn="l">
              <a:lnSpc>
                <a:spcPct val="100000"/>
              </a:lnSpc>
              <a:buNone/>
            </a:pPr>
            <a:r>
              <a:rPr lang="en-US" sz="1260" dirty="0">
                <a:solidFill>
                  <a:srgbClr val="12263A"/>
                </a:solidFill>
                <a:latin typeface="Calibri" pitchFamily="34" charset="0"/>
                <a:ea typeface="Calibri" pitchFamily="34" charset="-122"/>
                <a:cs typeface="Calibri" pitchFamily="34" charset="-120"/>
              </a:rPr>
              <a:t>GNSS status, SyncE quality level, oscillator frequency error and absolute clock error. No hardware exists in this testbed to produce them, so the corresponding columns are EMPTY rather than defaulted.</a:t>
            </a:r>
            <a:endParaRPr lang="en-US" sz="1260" dirty="0"/>
          </a:p>
        </p:txBody>
      </p:sp>
      <p:sp>
        <p:nvSpPr>
          <p:cNvPr id="49" name="Text 47"/>
          <p:cNvSpPr/>
          <p:nvPr/>
        </p:nvSpPr>
        <p:spPr>
          <a:xfrm>
            <a:off x="6448425" y="4629150"/>
            <a:ext cx="2857500" cy="190500"/>
          </a:xfrm>
          <a:prstGeom prst="rect">
            <a:avLst/>
          </a:prstGeom>
          <a:noFill/>
          <a:ln/>
        </p:spPr>
        <p:txBody>
          <a:bodyPr wrap="square" lIns="0" tIns="0" rIns="0" bIns="0" rtlCol="0" anchor="t">
            <a:normAutofit/>
          </a:bodyPr>
          <a:lstStyle/>
          <a:p>
            <a:pPr marL="0" indent="0" algn="l">
              <a:lnSpc>
                <a:spcPct val="100000"/>
              </a:lnSpc>
              <a:buNone/>
            </a:pPr>
            <a:r>
              <a:rPr lang="en-US" sz="1300" b="1" dirty="0">
                <a:solidFill>
                  <a:srgbClr val="C58B18"/>
                </a:solidFill>
                <a:latin typeface="Calibri" pitchFamily="34" charset="0"/>
                <a:ea typeface="Calibri" pitchFamily="34" charset="-122"/>
                <a:cs typeface="Calibri" pitchFamily="34" charset="-120"/>
              </a:rPr>
              <a:t>Partially available</a:t>
            </a:r>
            <a:endParaRPr lang="en-US" sz="1300" dirty="0"/>
          </a:p>
        </p:txBody>
      </p:sp>
      <p:sp>
        <p:nvSpPr>
          <p:cNvPr id="50" name="Text 48"/>
          <p:cNvSpPr/>
          <p:nvPr/>
        </p:nvSpPr>
        <p:spPr>
          <a:xfrm>
            <a:off x="6448425" y="4838700"/>
            <a:ext cx="4953000" cy="323850"/>
          </a:xfrm>
          <a:prstGeom prst="rect">
            <a:avLst/>
          </a:prstGeom>
          <a:noFill/>
          <a:ln/>
        </p:spPr>
        <p:txBody>
          <a:bodyPr wrap="square" lIns="0" tIns="0" rIns="0" bIns="0" rtlCol="0" anchor="t">
            <a:normAutofit/>
          </a:bodyPr>
          <a:lstStyle/>
          <a:p>
            <a:pPr marL="0" indent="0" algn="l">
              <a:lnSpc>
                <a:spcPct val="100000"/>
              </a:lnSpc>
              <a:buNone/>
            </a:pPr>
            <a:r>
              <a:rPr lang="en-US" sz="1260" dirty="0">
                <a:solidFill>
                  <a:srgbClr val="12263A"/>
                </a:solidFill>
                <a:latin typeface="Calibri" pitchFamily="34" charset="0"/>
                <a:ea typeface="Calibri" pitchFamily="34" charset="-122"/>
                <a:cs typeface="Calibri" pitchFamily="34" charset="-120"/>
              </a:rPr>
              <a:t>pmc management telemetry is absent for 48 of the 168 runs (all B3, C1, C2 and C3 replicates); this is recorded rather than imputed.</a:t>
            </a:r>
            <a:endParaRPr lang="en-US" sz="1260" dirty="0"/>
          </a:p>
        </p:txBody>
      </p:sp>
      <p:sp>
        <p:nvSpPr>
          <p:cNvPr id="51" name="Shape 49"/>
          <p:cNvSpPr/>
          <p:nvPr/>
        </p:nvSpPr>
        <p:spPr>
          <a:xfrm>
            <a:off x="571500" y="5219700"/>
            <a:ext cx="11049000" cy="628650"/>
          </a:xfrm>
          <a:prstGeom prst="roundRect">
            <a:avLst>
              <a:gd name="adj" fmla="val 5818"/>
            </a:avLst>
          </a:prstGeom>
          <a:solidFill>
            <a:srgbClr val="FFFFFF"/>
          </a:solidFill>
          <a:ln w="12700">
            <a:solidFill>
              <a:srgbClr val="D7E1EA"/>
            </a:solidFill>
            <a:prstDash val="solid"/>
          </a:ln>
        </p:spPr>
        <p:txBody>
          <a:bodyPr/>
          <a:lstStyle/>
          <a:p>
            <a:endParaRPr lang="en-IN"/>
          </a:p>
        </p:txBody>
      </p:sp>
      <p:sp>
        <p:nvSpPr>
          <p:cNvPr id="52" name="Text 50"/>
          <p:cNvSpPr/>
          <p:nvPr/>
        </p:nvSpPr>
        <p:spPr>
          <a:xfrm>
            <a:off x="781050" y="5334000"/>
            <a:ext cx="8572500" cy="190500"/>
          </a:xfrm>
          <a:prstGeom prst="rect">
            <a:avLst/>
          </a:prstGeom>
          <a:noFill/>
          <a:ln/>
        </p:spPr>
        <p:txBody>
          <a:bodyPr wrap="square" lIns="0" tIns="0" rIns="0" bIns="0" rtlCol="0" anchor="t">
            <a:normAutofit/>
          </a:bodyPr>
          <a:lstStyle/>
          <a:p>
            <a:pPr marL="0" indent="0" algn="l">
              <a:lnSpc>
                <a:spcPct val="100000"/>
              </a:lnSpc>
              <a:buNone/>
            </a:pPr>
            <a:r>
              <a:rPr lang="en-US" sz="1150" b="1" dirty="0">
                <a:solidFill>
                  <a:srgbClr val="1C7293"/>
                </a:solidFill>
                <a:latin typeface="Calibri" pitchFamily="34" charset="0"/>
                <a:ea typeface="Calibri" pitchFamily="34" charset="-122"/>
                <a:cs typeface="Calibri" pitchFamily="34" charset="-120"/>
              </a:rPr>
              <a:t>RECORD COUNT VARIES WITH THE FAULT, AND THE VARIATION IS ITSELF EVIDENCE</a:t>
            </a:r>
            <a:endParaRPr lang="en-US" sz="1150" dirty="0"/>
          </a:p>
        </p:txBody>
      </p:sp>
      <p:sp>
        <p:nvSpPr>
          <p:cNvPr id="53" name="Text 51"/>
          <p:cNvSpPr/>
          <p:nvPr/>
        </p:nvSpPr>
        <p:spPr>
          <a:xfrm>
            <a:off x="781050" y="5562600"/>
            <a:ext cx="10629900" cy="228600"/>
          </a:xfrm>
          <a:prstGeom prst="rect">
            <a:avLst/>
          </a:prstGeom>
          <a:noFill/>
          <a:ln/>
        </p:spPr>
        <p:txBody>
          <a:bodyPr wrap="square" lIns="0" tIns="0" rIns="0" bIns="0" rtlCol="0" anchor="t">
            <a:normAutofit/>
          </a:bodyPr>
          <a:lstStyle/>
          <a:p>
            <a:pPr marL="0" indent="0" algn="l">
              <a:lnSpc>
                <a:spcPct val="100000"/>
              </a:lnSpc>
              <a:buNone/>
            </a:pPr>
            <a:r>
              <a:rPr lang="en-US" sz="1320" dirty="0">
                <a:solidFill>
                  <a:srgbClr val="12263A"/>
                </a:solidFill>
                <a:latin typeface="Calibri" pitchFamily="34" charset="0"/>
                <a:ea typeface="Calibri" pitchFamily="34" charset="-122"/>
                <a:cs typeface="Calibri" pitchFamily="34" charset="-120"/>
              </a:rPr>
              <a:t>C1 interception averages 2,360 records per run because the attack starves the link  ·  baseline averages 6,021  ·  A5 flooding averages 38,319 because the attack adds traffic. Record volume is therefore a discriminating feature, not a data-quality artefact.</a:t>
            </a:r>
            <a:endParaRPr lang="en-US" sz="1320" dirty="0"/>
          </a:p>
        </p:txBody>
      </p:sp>
      <p:sp>
        <p:nvSpPr>
          <p:cNvPr id="54" name="Shape 52"/>
          <p:cNvSpPr/>
          <p:nvPr/>
        </p:nvSpPr>
        <p:spPr>
          <a:xfrm>
            <a:off x="571500" y="5981700"/>
            <a:ext cx="11049000" cy="571500"/>
          </a:xfrm>
          <a:prstGeom prst="roundRect">
            <a:avLst>
              <a:gd name="adj" fmla="val 6400"/>
            </a:avLst>
          </a:prstGeom>
          <a:solidFill>
            <a:srgbClr val="FFF8E8"/>
          </a:solidFill>
          <a:ln w="12700">
            <a:solidFill>
              <a:srgbClr val="C58B18"/>
            </a:solidFill>
            <a:prstDash val="solid"/>
          </a:ln>
        </p:spPr>
        <p:txBody>
          <a:bodyPr/>
          <a:lstStyle/>
          <a:p>
            <a:endParaRPr lang="en-IN"/>
          </a:p>
        </p:txBody>
      </p:sp>
      <p:sp>
        <p:nvSpPr>
          <p:cNvPr id="55" name="Text 53"/>
          <p:cNvSpPr/>
          <p:nvPr/>
        </p:nvSpPr>
        <p:spPr>
          <a:xfrm>
            <a:off x="781050" y="6124575"/>
            <a:ext cx="1809750" cy="238125"/>
          </a:xfrm>
          <a:prstGeom prst="rect">
            <a:avLst/>
          </a:prstGeom>
          <a:noFill/>
          <a:ln/>
        </p:spPr>
        <p:txBody>
          <a:bodyPr wrap="square" lIns="0" tIns="0" rIns="0" bIns="0" rtlCol="0" anchor="t">
            <a:normAutofit/>
          </a:bodyPr>
          <a:lstStyle/>
          <a:p>
            <a:pPr marL="0" indent="0" algn="l">
              <a:lnSpc>
                <a:spcPct val="100000"/>
              </a:lnSpc>
              <a:buNone/>
            </a:pPr>
            <a:r>
              <a:rPr lang="en-US" sz="1600" b="1" dirty="0">
                <a:solidFill>
                  <a:srgbClr val="C58B18"/>
                </a:solidFill>
                <a:latin typeface="Cambria" pitchFamily="34" charset="0"/>
                <a:ea typeface="Cambria" pitchFamily="34" charset="-122"/>
                <a:cs typeface="Cambria" pitchFamily="34" charset="-120"/>
              </a:rPr>
              <a:t>Archive contents</a:t>
            </a:r>
            <a:endParaRPr lang="en-US" sz="1600" dirty="0"/>
          </a:p>
        </p:txBody>
      </p:sp>
      <p:sp>
        <p:nvSpPr>
          <p:cNvPr id="56" name="Text 54"/>
          <p:cNvSpPr/>
          <p:nvPr/>
        </p:nvSpPr>
        <p:spPr>
          <a:xfrm>
            <a:off x="2781300" y="6105525"/>
            <a:ext cx="8629650" cy="342900"/>
          </a:xfrm>
          <a:prstGeom prst="rect">
            <a:avLst/>
          </a:prstGeom>
          <a:noFill/>
          <a:ln/>
        </p:spPr>
        <p:txBody>
          <a:bodyPr wrap="square" lIns="0" tIns="0" rIns="0" bIns="0" rtlCol="0" anchor="t">
            <a:normAutofit/>
          </a:bodyPr>
          <a:lstStyle/>
          <a:p>
            <a:pPr marL="0" indent="0" algn="l">
              <a:lnSpc>
                <a:spcPct val="100000"/>
              </a:lnSpc>
              <a:buNone/>
            </a:pPr>
            <a:r>
              <a:rPr lang="en-US" sz="1220" b="1" dirty="0">
                <a:solidFill>
                  <a:srgbClr val="12263A"/>
                </a:solidFill>
                <a:latin typeface="Calibri" pitchFamily="34" charset="0"/>
                <a:ea typeface="Calibri" pitchFamily="34" charset="-122"/>
                <a:cs typeface="Calibri" pitchFamily="34" charset="-120"/>
              </a:rPr>
              <a:t>Roughly 222 MB of source PCAPs were captured across the campaign. The packaged review archive retains the extracted CSVs, verdicts, context files, daemon logs, scripts and freeze records; it does not retain the source PCAPs.</a:t>
            </a:r>
            <a:endParaRPr lang="en-US" sz="12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8FAFC"/>
          </a:solidFill>
          <a:ln/>
        </p:spPr>
        <p:txBody>
          <a:bodyPr/>
          <a:lstStyle/>
          <a:p>
            <a:endParaRPr lang="en-IN"/>
          </a:p>
        </p:txBody>
      </p:sp>
      <p:sp>
        <p:nvSpPr>
          <p:cNvPr id="3" name="Shape 1"/>
          <p:cNvSpPr/>
          <p:nvPr/>
        </p:nvSpPr>
        <p:spPr>
          <a:xfrm>
            <a:off x="0" y="0"/>
            <a:ext cx="12192000" cy="114300"/>
          </a:xfrm>
          <a:prstGeom prst="rect">
            <a:avLst/>
          </a:prstGeom>
          <a:solidFill>
            <a:srgbClr val="18B89A"/>
          </a:solidFill>
          <a:ln/>
        </p:spPr>
        <p:txBody>
          <a:bodyPr/>
          <a:lstStyle/>
          <a:p>
            <a:endParaRPr lang="en-IN"/>
          </a:p>
        </p:txBody>
      </p:sp>
      <p:sp>
        <p:nvSpPr>
          <p:cNvPr id="4" name="Text 2"/>
          <p:cNvSpPr/>
          <p:nvPr/>
        </p:nvSpPr>
        <p:spPr>
          <a:xfrm>
            <a:off x="571500" y="209550"/>
            <a:ext cx="11049000" cy="228600"/>
          </a:xfrm>
          <a:prstGeom prst="rect">
            <a:avLst/>
          </a:prstGeom>
          <a:noFill/>
          <a:ln/>
        </p:spPr>
        <p:txBody>
          <a:bodyPr wrap="square" lIns="0" tIns="0" rIns="0" bIns="0" rtlCol="0" anchor="t">
            <a:normAutofit/>
          </a:bodyPr>
          <a:lstStyle/>
          <a:p>
            <a:pPr marL="0" indent="0" algn="l">
              <a:lnSpc>
                <a:spcPct val="100000"/>
              </a:lnSpc>
              <a:buNone/>
            </a:pPr>
            <a:r>
              <a:rPr lang="en-US" sz="1280" b="1" dirty="0">
                <a:solidFill>
                  <a:srgbClr val="1C7293"/>
                </a:solidFill>
                <a:latin typeface="Calibri" pitchFamily="34" charset="0"/>
                <a:ea typeface="Calibri" pitchFamily="34" charset="-122"/>
                <a:cs typeface="Calibri" pitchFamily="34" charset="-120"/>
              </a:rPr>
              <a:t>FAULT INJECTION</a:t>
            </a:r>
            <a:endParaRPr lang="en-US" sz="1280" dirty="0"/>
          </a:p>
        </p:txBody>
      </p:sp>
      <p:sp>
        <p:nvSpPr>
          <p:cNvPr id="5" name="Text 3"/>
          <p:cNvSpPr/>
          <p:nvPr/>
        </p:nvSpPr>
        <p:spPr>
          <a:xfrm>
            <a:off x="571500" y="447675"/>
            <a:ext cx="11049000" cy="552450"/>
          </a:xfrm>
          <a:prstGeom prst="rect">
            <a:avLst/>
          </a:prstGeom>
          <a:noFill/>
          <a:ln/>
        </p:spPr>
        <p:txBody>
          <a:bodyPr wrap="square" lIns="0" tIns="0" rIns="0" bIns="0" rtlCol="0" anchor="t">
            <a:normAutofit/>
          </a:bodyPr>
          <a:lstStyle/>
          <a:p>
            <a:pPr marL="0" indent="0" algn="l">
              <a:lnSpc>
                <a:spcPct val="100000"/>
              </a:lnSpc>
              <a:buNone/>
            </a:pPr>
            <a:r>
              <a:rPr lang="en-US" sz="3200" b="1" dirty="0">
                <a:solidFill>
                  <a:srgbClr val="12263A"/>
                </a:solidFill>
                <a:latin typeface="Cambria" pitchFamily="34" charset="0"/>
                <a:ea typeface="Cambria" pitchFamily="34" charset="-122"/>
                <a:cs typeface="Cambria" pitchFamily="34" charset="-120"/>
              </a:rPr>
              <a:t>Fault Injection Mechanisms on the Live Packet Path</a:t>
            </a:r>
            <a:endParaRPr lang="en-US" sz="3200" dirty="0"/>
          </a:p>
        </p:txBody>
      </p:sp>
      <p:sp>
        <p:nvSpPr>
          <p:cNvPr id="6" name="Shape 4"/>
          <p:cNvSpPr/>
          <p:nvPr/>
        </p:nvSpPr>
        <p:spPr>
          <a:xfrm>
            <a:off x="571500" y="1057275"/>
            <a:ext cx="11049000" cy="438150"/>
          </a:xfrm>
          <a:prstGeom prst="roundRect">
            <a:avLst>
              <a:gd name="adj" fmla="val 8348"/>
            </a:avLst>
          </a:prstGeom>
          <a:solidFill>
            <a:srgbClr val="EAF2F8"/>
          </a:solidFill>
          <a:ln w="12700">
            <a:solidFill>
              <a:srgbClr val="D7E1EA"/>
            </a:solidFill>
            <a:prstDash val="solid"/>
          </a:ln>
        </p:spPr>
        <p:txBody>
          <a:bodyPr/>
          <a:lstStyle/>
          <a:p>
            <a:endParaRPr lang="en-IN"/>
          </a:p>
        </p:txBody>
      </p:sp>
      <p:sp>
        <p:nvSpPr>
          <p:cNvPr id="7" name="Text 5"/>
          <p:cNvSpPr/>
          <p:nvPr/>
        </p:nvSpPr>
        <p:spPr>
          <a:xfrm>
            <a:off x="723900" y="1123950"/>
            <a:ext cx="10744200" cy="323850"/>
          </a:xfrm>
          <a:prstGeom prst="rect">
            <a:avLst/>
          </a:prstGeom>
          <a:noFill/>
          <a:ln/>
        </p:spPr>
        <p:txBody>
          <a:bodyPr wrap="square" lIns="0" tIns="0" rIns="0" bIns="0" rtlCol="0" anchor="t">
            <a:normAutofit/>
          </a:bodyPr>
          <a:lstStyle/>
          <a:p>
            <a:pPr marL="0" indent="0" algn="l">
              <a:lnSpc>
                <a:spcPct val="102000"/>
              </a:lnSpc>
              <a:buNone/>
            </a:pPr>
            <a:r>
              <a:rPr lang="en-US" sz="1120" dirty="0">
                <a:solidFill>
                  <a:srgbClr val="5B6B7C"/>
                </a:solidFill>
                <a:latin typeface="Calibri" pitchFamily="34" charset="0"/>
                <a:ea typeface="Calibri" pitchFamily="34" charset="-122"/>
                <a:cs typeface="Calibri" pitchFamily="34" charset="-120"/>
              </a:rPr>
              <a:t>IEEE 1588-2019: message formats, sequenceId continuity, timePropertiesDS §8.2.4, leap-second handling §9.4  |  O-RAN WG11 security test identifiers (ETSI TS 104 105)  |  Scapy, tcpreplay, Linux tc</a:t>
            </a:r>
            <a:endParaRPr lang="en-US" sz="1120" dirty="0"/>
          </a:p>
        </p:txBody>
      </p:sp>
      <p:sp>
        <p:nvSpPr>
          <p:cNvPr id="8" name="Shape 6"/>
          <p:cNvSpPr/>
          <p:nvPr/>
        </p:nvSpPr>
        <p:spPr>
          <a:xfrm>
            <a:off x="571500" y="1676400"/>
            <a:ext cx="11049000" cy="990600"/>
          </a:xfrm>
          <a:prstGeom prst="roundRect">
            <a:avLst>
              <a:gd name="adj" fmla="val 3692"/>
            </a:avLst>
          </a:prstGeom>
          <a:solidFill>
            <a:srgbClr val="FFFFFF"/>
          </a:solidFill>
          <a:ln w="12700">
            <a:solidFill>
              <a:srgbClr val="D7E1EA"/>
            </a:solidFill>
            <a:prstDash val="solid"/>
          </a:ln>
        </p:spPr>
        <p:txBody>
          <a:bodyPr/>
          <a:lstStyle/>
          <a:p>
            <a:endParaRPr lang="en-IN"/>
          </a:p>
        </p:txBody>
      </p:sp>
      <p:sp>
        <p:nvSpPr>
          <p:cNvPr id="9" name="Shape 7"/>
          <p:cNvSpPr/>
          <p:nvPr/>
        </p:nvSpPr>
        <p:spPr>
          <a:xfrm>
            <a:off x="571500" y="1676400"/>
            <a:ext cx="47625" cy="990600"/>
          </a:xfrm>
          <a:prstGeom prst="rect">
            <a:avLst/>
          </a:prstGeom>
          <a:solidFill>
            <a:srgbClr val="1C7293"/>
          </a:solidFill>
          <a:ln/>
        </p:spPr>
        <p:txBody>
          <a:bodyPr/>
          <a:lstStyle/>
          <a:p>
            <a:endParaRPr lang="en-IN"/>
          </a:p>
        </p:txBody>
      </p:sp>
      <p:sp>
        <p:nvSpPr>
          <p:cNvPr id="10" name="Text 8"/>
          <p:cNvSpPr/>
          <p:nvPr/>
        </p:nvSpPr>
        <p:spPr>
          <a:xfrm>
            <a:off x="800100" y="1828800"/>
            <a:ext cx="3143250" cy="247650"/>
          </a:xfrm>
          <a:prstGeom prst="rect">
            <a:avLst/>
          </a:prstGeom>
          <a:noFill/>
          <a:ln/>
        </p:spPr>
        <p:txBody>
          <a:bodyPr wrap="square" lIns="0" tIns="0" rIns="0" bIns="0" rtlCol="0" anchor="t">
            <a:normAutofit/>
          </a:bodyPr>
          <a:lstStyle/>
          <a:p>
            <a:pPr marL="0" indent="0" algn="l">
              <a:lnSpc>
                <a:spcPct val="100000"/>
              </a:lnSpc>
              <a:buNone/>
            </a:pPr>
            <a:r>
              <a:rPr lang="en-US" sz="1800" b="1" dirty="0">
                <a:solidFill>
                  <a:srgbClr val="12263A"/>
                </a:solidFill>
                <a:latin typeface="Cambria" pitchFamily="34" charset="0"/>
                <a:ea typeface="Cambria" pitchFamily="34" charset="-122"/>
                <a:cs typeface="Cambria" pitchFamily="34" charset="-120"/>
              </a:rPr>
              <a:t>Additional real PTP daemons</a:t>
            </a:r>
            <a:endParaRPr lang="en-US" sz="1800" dirty="0"/>
          </a:p>
        </p:txBody>
      </p:sp>
      <p:sp>
        <p:nvSpPr>
          <p:cNvPr id="11" name="Shape 9"/>
          <p:cNvSpPr/>
          <p:nvPr/>
        </p:nvSpPr>
        <p:spPr>
          <a:xfrm>
            <a:off x="800100" y="2152650"/>
            <a:ext cx="1428750" cy="247650"/>
          </a:xfrm>
          <a:prstGeom prst="roundRect">
            <a:avLst>
              <a:gd name="adj" fmla="val 14769"/>
            </a:avLst>
          </a:prstGeom>
          <a:solidFill>
            <a:srgbClr val="EAF2F8"/>
          </a:solidFill>
          <a:ln w="12700">
            <a:solidFill>
              <a:srgbClr val="D7E1EA"/>
            </a:solidFill>
            <a:prstDash val="solid"/>
          </a:ln>
        </p:spPr>
        <p:txBody>
          <a:bodyPr/>
          <a:lstStyle/>
          <a:p>
            <a:endParaRPr lang="en-IN"/>
          </a:p>
        </p:txBody>
      </p:sp>
      <p:sp>
        <p:nvSpPr>
          <p:cNvPr id="12" name="Text 10"/>
          <p:cNvSpPr/>
          <p:nvPr/>
        </p:nvSpPr>
        <p:spPr>
          <a:xfrm>
            <a:off x="800100" y="2200275"/>
            <a:ext cx="1428750" cy="190500"/>
          </a:xfrm>
          <a:prstGeom prst="rect">
            <a:avLst/>
          </a:prstGeom>
          <a:noFill/>
          <a:ln/>
        </p:spPr>
        <p:txBody>
          <a:bodyPr wrap="square" lIns="0" tIns="0" rIns="0" bIns="0" rtlCol="0" anchor="t">
            <a:normAutofit/>
          </a:bodyPr>
          <a:lstStyle/>
          <a:p>
            <a:pPr marL="0" indent="0" algn="ctr">
              <a:lnSpc>
                <a:spcPct val="100000"/>
              </a:lnSpc>
              <a:buNone/>
            </a:pPr>
            <a:r>
              <a:rPr lang="en-US" sz="1250" b="1" dirty="0">
                <a:solidFill>
                  <a:srgbClr val="1C7293"/>
                </a:solidFill>
                <a:latin typeface="Calibri" pitchFamily="34" charset="0"/>
                <a:ea typeface="Calibri" pitchFamily="34" charset="-122"/>
                <a:cs typeface="Calibri" pitchFamily="34" charset="-120"/>
              </a:rPr>
              <a:t>A1 · A8</a:t>
            </a:r>
            <a:endParaRPr lang="en-US" sz="1250" dirty="0"/>
          </a:p>
        </p:txBody>
      </p:sp>
      <p:sp>
        <p:nvSpPr>
          <p:cNvPr id="13" name="Text 11"/>
          <p:cNvSpPr/>
          <p:nvPr/>
        </p:nvSpPr>
        <p:spPr>
          <a:xfrm>
            <a:off x="4191000" y="1828800"/>
            <a:ext cx="7200900" cy="742950"/>
          </a:xfrm>
          <a:prstGeom prst="rect">
            <a:avLst/>
          </a:prstGeom>
          <a:noFill/>
          <a:ln/>
        </p:spPr>
        <p:txBody>
          <a:bodyPr wrap="square" lIns="0" tIns="0" rIns="0" bIns="0" rtlCol="0" anchor="t">
            <a:normAutofit/>
          </a:bodyPr>
          <a:lstStyle/>
          <a:p>
            <a:pPr marL="0" indent="0" algn="l">
              <a:lnSpc>
                <a:spcPct val="100000"/>
              </a:lnSpc>
              <a:buNone/>
            </a:pPr>
            <a:r>
              <a:rPr lang="en-US" sz="1380" dirty="0">
                <a:solidFill>
                  <a:srgbClr val="5B6B7C"/>
                </a:solidFill>
                <a:latin typeface="Calibri" pitchFamily="34" charset="0"/>
                <a:ea typeface="Calibri" pitchFamily="34" charset="-122"/>
                <a:cs typeface="Calibri" pitchFamily="34" charset="-120"/>
              </a:rPr>
              <a:t>A new namespace runs a genuine ptp4l instance with an identity outside the provisioned allow-list and a superior data set, then competes for election under the G.8275.1 alternate BMCA. The attack is won on protocol merit, not by editing a capture.</a:t>
            </a:r>
            <a:endParaRPr lang="en-US" sz="1380" dirty="0"/>
          </a:p>
        </p:txBody>
      </p:sp>
      <p:sp>
        <p:nvSpPr>
          <p:cNvPr id="14" name="Shape 12"/>
          <p:cNvSpPr/>
          <p:nvPr/>
        </p:nvSpPr>
        <p:spPr>
          <a:xfrm>
            <a:off x="571500" y="2762250"/>
            <a:ext cx="11049000" cy="990600"/>
          </a:xfrm>
          <a:prstGeom prst="roundRect">
            <a:avLst>
              <a:gd name="adj" fmla="val 3692"/>
            </a:avLst>
          </a:prstGeom>
          <a:solidFill>
            <a:srgbClr val="FFFFFF"/>
          </a:solidFill>
          <a:ln w="12700">
            <a:solidFill>
              <a:srgbClr val="D7E1EA"/>
            </a:solidFill>
            <a:prstDash val="solid"/>
          </a:ln>
        </p:spPr>
        <p:txBody>
          <a:bodyPr/>
          <a:lstStyle/>
          <a:p>
            <a:endParaRPr lang="en-IN"/>
          </a:p>
        </p:txBody>
      </p:sp>
      <p:sp>
        <p:nvSpPr>
          <p:cNvPr id="15" name="Shape 13"/>
          <p:cNvSpPr/>
          <p:nvPr/>
        </p:nvSpPr>
        <p:spPr>
          <a:xfrm>
            <a:off x="571500" y="2762250"/>
            <a:ext cx="47625" cy="990600"/>
          </a:xfrm>
          <a:prstGeom prst="rect">
            <a:avLst/>
          </a:prstGeom>
          <a:solidFill>
            <a:srgbClr val="18B89A"/>
          </a:solidFill>
          <a:ln/>
        </p:spPr>
        <p:txBody>
          <a:bodyPr/>
          <a:lstStyle/>
          <a:p>
            <a:endParaRPr lang="en-IN"/>
          </a:p>
        </p:txBody>
      </p:sp>
      <p:sp>
        <p:nvSpPr>
          <p:cNvPr id="16" name="Text 14"/>
          <p:cNvSpPr/>
          <p:nvPr/>
        </p:nvSpPr>
        <p:spPr>
          <a:xfrm>
            <a:off x="800100" y="2914650"/>
            <a:ext cx="3143250" cy="247650"/>
          </a:xfrm>
          <a:prstGeom prst="rect">
            <a:avLst/>
          </a:prstGeom>
          <a:noFill/>
          <a:ln/>
        </p:spPr>
        <p:txBody>
          <a:bodyPr wrap="square" lIns="0" tIns="0" rIns="0" bIns="0" rtlCol="0" anchor="t">
            <a:normAutofit/>
          </a:bodyPr>
          <a:lstStyle/>
          <a:p>
            <a:pPr marL="0" indent="0" algn="l">
              <a:lnSpc>
                <a:spcPct val="100000"/>
              </a:lnSpc>
              <a:buNone/>
            </a:pPr>
            <a:r>
              <a:rPr lang="en-US" sz="1800" b="1" dirty="0">
                <a:solidFill>
                  <a:srgbClr val="12263A"/>
                </a:solidFill>
                <a:latin typeface="Cambria" pitchFamily="34" charset="0"/>
                <a:ea typeface="Cambria" pitchFamily="34" charset="-122"/>
                <a:cs typeface="Cambria" pitchFamily="34" charset="-120"/>
              </a:rPr>
              <a:t>Crafted frame injection</a:t>
            </a:r>
            <a:endParaRPr lang="en-US" sz="1800" dirty="0"/>
          </a:p>
        </p:txBody>
      </p:sp>
      <p:sp>
        <p:nvSpPr>
          <p:cNvPr id="17" name="Shape 15"/>
          <p:cNvSpPr/>
          <p:nvPr/>
        </p:nvSpPr>
        <p:spPr>
          <a:xfrm>
            <a:off x="800100" y="3238500"/>
            <a:ext cx="1428750" cy="247650"/>
          </a:xfrm>
          <a:prstGeom prst="roundRect">
            <a:avLst>
              <a:gd name="adj" fmla="val 14769"/>
            </a:avLst>
          </a:prstGeom>
          <a:solidFill>
            <a:srgbClr val="EAF2F8"/>
          </a:solidFill>
          <a:ln w="12700">
            <a:solidFill>
              <a:srgbClr val="D7E1EA"/>
            </a:solidFill>
            <a:prstDash val="solid"/>
          </a:ln>
        </p:spPr>
        <p:txBody>
          <a:bodyPr/>
          <a:lstStyle/>
          <a:p>
            <a:endParaRPr lang="en-IN"/>
          </a:p>
        </p:txBody>
      </p:sp>
      <p:sp>
        <p:nvSpPr>
          <p:cNvPr id="18" name="Text 16"/>
          <p:cNvSpPr/>
          <p:nvPr/>
        </p:nvSpPr>
        <p:spPr>
          <a:xfrm>
            <a:off x="800100" y="3286125"/>
            <a:ext cx="1428750" cy="190500"/>
          </a:xfrm>
          <a:prstGeom prst="rect">
            <a:avLst/>
          </a:prstGeom>
          <a:noFill/>
          <a:ln/>
        </p:spPr>
        <p:txBody>
          <a:bodyPr wrap="square" lIns="0" tIns="0" rIns="0" bIns="0" rtlCol="0" anchor="t">
            <a:normAutofit/>
          </a:bodyPr>
          <a:lstStyle/>
          <a:p>
            <a:pPr marL="0" indent="0" algn="ctr">
              <a:lnSpc>
                <a:spcPct val="100000"/>
              </a:lnSpc>
              <a:buNone/>
            </a:pPr>
            <a:r>
              <a:rPr lang="en-US" sz="1250" b="1" dirty="0">
                <a:solidFill>
                  <a:srgbClr val="1C7293"/>
                </a:solidFill>
                <a:latin typeface="Calibri" pitchFamily="34" charset="0"/>
                <a:ea typeface="Calibri" pitchFamily="34" charset="-122"/>
                <a:cs typeface="Calibri" pitchFamily="34" charset="-120"/>
              </a:rPr>
              <a:t>A2 · C2 · C3</a:t>
            </a:r>
            <a:endParaRPr lang="en-US" sz="1250" dirty="0"/>
          </a:p>
        </p:txBody>
      </p:sp>
      <p:sp>
        <p:nvSpPr>
          <p:cNvPr id="19" name="Text 17"/>
          <p:cNvSpPr/>
          <p:nvPr/>
        </p:nvSpPr>
        <p:spPr>
          <a:xfrm>
            <a:off x="4191000" y="2914650"/>
            <a:ext cx="7200900" cy="742950"/>
          </a:xfrm>
          <a:prstGeom prst="rect">
            <a:avLst/>
          </a:prstGeom>
          <a:noFill/>
          <a:ln/>
        </p:spPr>
        <p:txBody>
          <a:bodyPr wrap="square" lIns="0" tIns="0" rIns="0" bIns="0" rtlCol="0" anchor="t">
            <a:normAutofit/>
          </a:bodyPr>
          <a:lstStyle/>
          <a:p>
            <a:pPr marL="0" indent="0" algn="l">
              <a:lnSpc>
                <a:spcPct val="100000"/>
              </a:lnSpc>
              <a:buNone/>
            </a:pPr>
            <a:r>
              <a:rPr lang="en-US" sz="1380" dirty="0">
                <a:solidFill>
                  <a:srgbClr val="5B6B7C"/>
                </a:solidFill>
                <a:latin typeface="Calibri" pitchFamily="34" charset="0"/>
                <a:ea typeface="Calibri" pitchFamily="34" charset="-122"/>
                <a:cs typeface="Calibri" pitchFamily="34" charset="-120"/>
              </a:rPr>
              <a:t>Hand-built frames placed on the RU segment: forged two-step timing messages; malformed frames using versionPTP 3, a reserved message type and a short length; Announce frames with leap61 set and the UTC offset falsified.</a:t>
            </a:r>
            <a:endParaRPr lang="en-US" sz="1380" dirty="0"/>
          </a:p>
        </p:txBody>
      </p:sp>
      <p:sp>
        <p:nvSpPr>
          <p:cNvPr id="20" name="Shape 18"/>
          <p:cNvSpPr/>
          <p:nvPr/>
        </p:nvSpPr>
        <p:spPr>
          <a:xfrm>
            <a:off x="571500" y="3848100"/>
            <a:ext cx="11049000" cy="990600"/>
          </a:xfrm>
          <a:prstGeom prst="roundRect">
            <a:avLst>
              <a:gd name="adj" fmla="val 3692"/>
            </a:avLst>
          </a:prstGeom>
          <a:solidFill>
            <a:srgbClr val="FFFFFF"/>
          </a:solidFill>
          <a:ln w="12700">
            <a:solidFill>
              <a:srgbClr val="D7E1EA"/>
            </a:solidFill>
            <a:prstDash val="solid"/>
          </a:ln>
        </p:spPr>
        <p:txBody>
          <a:bodyPr/>
          <a:lstStyle/>
          <a:p>
            <a:endParaRPr lang="en-IN"/>
          </a:p>
        </p:txBody>
      </p:sp>
      <p:sp>
        <p:nvSpPr>
          <p:cNvPr id="21" name="Shape 19"/>
          <p:cNvSpPr/>
          <p:nvPr/>
        </p:nvSpPr>
        <p:spPr>
          <a:xfrm>
            <a:off x="571500" y="3848100"/>
            <a:ext cx="47625" cy="990600"/>
          </a:xfrm>
          <a:prstGeom prst="rect">
            <a:avLst/>
          </a:prstGeom>
          <a:solidFill>
            <a:srgbClr val="1E8E5A"/>
          </a:solidFill>
          <a:ln/>
        </p:spPr>
        <p:txBody>
          <a:bodyPr/>
          <a:lstStyle/>
          <a:p>
            <a:endParaRPr lang="en-IN"/>
          </a:p>
        </p:txBody>
      </p:sp>
      <p:sp>
        <p:nvSpPr>
          <p:cNvPr id="22" name="Text 20"/>
          <p:cNvSpPr/>
          <p:nvPr/>
        </p:nvSpPr>
        <p:spPr>
          <a:xfrm>
            <a:off x="800100" y="4000500"/>
            <a:ext cx="3143250" cy="247650"/>
          </a:xfrm>
          <a:prstGeom prst="rect">
            <a:avLst/>
          </a:prstGeom>
          <a:noFill/>
          <a:ln/>
        </p:spPr>
        <p:txBody>
          <a:bodyPr wrap="square" lIns="0" tIns="0" rIns="0" bIns="0" rtlCol="0" anchor="t">
            <a:normAutofit/>
          </a:bodyPr>
          <a:lstStyle/>
          <a:p>
            <a:pPr marL="0" indent="0" algn="l">
              <a:lnSpc>
                <a:spcPct val="100000"/>
              </a:lnSpc>
              <a:buNone/>
            </a:pPr>
            <a:r>
              <a:rPr lang="en-US" sz="1800" b="1" dirty="0">
                <a:solidFill>
                  <a:srgbClr val="12263A"/>
                </a:solidFill>
                <a:latin typeface="Cambria" pitchFamily="34" charset="0"/>
                <a:ea typeface="Cambria" pitchFamily="34" charset="-122"/>
                <a:cs typeface="Cambria" pitchFamily="34" charset="-120"/>
              </a:rPr>
              <a:t>Capture and replay</a:t>
            </a:r>
            <a:endParaRPr lang="en-US" sz="1800" dirty="0"/>
          </a:p>
        </p:txBody>
      </p:sp>
      <p:sp>
        <p:nvSpPr>
          <p:cNvPr id="23" name="Shape 21"/>
          <p:cNvSpPr/>
          <p:nvPr/>
        </p:nvSpPr>
        <p:spPr>
          <a:xfrm>
            <a:off x="800100" y="4324350"/>
            <a:ext cx="1428750" cy="247650"/>
          </a:xfrm>
          <a:prstGeom prst="roundRect">
            <a:avLst>
              <a:gd name="adj" fmla="val 14769"/>
            </a:avLst>
          </a:prstGeom>
          <a:solidFill>
            <a:srgbClr val="EAF2F8"/>
          </a:solidFill>
          <a:ln w="12700">
            <a:solidFill>
              <a:srgbClr val="D7E1EA"/>
            </a:solidFill>
            <a:prstDash val="solid"/>
          </a:ln>
        </p:spPr>
        <p:txBody>
          <a:bodyPr/>
          <a:lstStyle/>
          <a:p>
            <a:endParaRPr lang="en-IN"/>
          </a:p>
        </p:txBody>
      </p:sp>
      <p:sp>
        <p:nvSpPr>
          <p:cNvPr id="24" name="Text 22"/>
          <p:cNvSpPr/>
          <p:nvPr/>
        </p:nvSpPr>
        <p:spPr>
          <a:xfrm>
            <a:off x="800100" y="4371975"/>
            <a:ext cx="1428750" cy="190500"/>
          </a:xfrm>
          <a:prstGeom prst="rect">
            <a:avLst/>
          </a:prstGeom>
          <a:noFill/>
          <a:ln/>
        </p:spPr>
        <p:txBody>
          <a:bodyPr wrap="square" lIns="0" tIns="0" rIns="0" bIns="0" rtlCol="0" anchor="t">
            <a:normAutofit/>
          </a:bodyPr>
          <a:lstStyle/>
          <a:p>
            <a:pPr marL="0" indent="0" algn="ctr">
              <a:lnSpc>
                <a:spcPct val="100000"/>
              </a:lnSpc>
              <a:buNone/>
            </a:pPr>
            <a:r>
              <a:rPr lang="en-US" sz="1250" b="1" dirty="0">
                <a:solidFill>
                  <a:srgbClr val="1C7293"/>
                </a:solidFill>
                <a:latin typeface="Calibri" pitchFamily="34" charset="0"/>
                <a:ea typeface="Calibri" pitchFamily="34" charset="-122"/>
                <a:cs typeface="Calibri" pitchFamily="34" charset="-120"/>
              </a:rPr>
              <a:t>A3</a:t>
            </a:r>
            <a:endParaRPr lang="en-US" sz="1250" dirty="0"/>
          </a:p>
        </p:txBody>
      </p:sp>
      <p:sp>
        <p:nvSpPr>
          <p:cNvPr id="25" name="Text 23"/>
          <p:cNvSpPr/>
          <p:nvPr/>
        </p:nvSpPr>
        <p:spPr>
          <a:xfrm>
            <a:off x="4191000" y="4000500"/>
            <a:ext cx="7200900" cy="742950"/>
          </a:xfrm>
          <a:prstGeom prst="rect">
            <a:avLst/>
          </a:prstGeom>
          <a:noFill/>
          <a:ln/>
        </p:spPr>
        <p:txBody>
          <a:bodyPr wrap="square" lIns="0" tIns="0" rIns="0" bIns="0" rtlCol="0" anchor="t">
            <a:normAutofit/>
          </a:bodyPr>
          <a:lstStyle/>
          <a:p>
            <a:pPr marL="0" indent="0" algn="l">
              <a:lnSpc>
                <a:spcPct val="100000"/>
              </a:lnSpc>
              <a:buNone/>
            </a:pPr>
            <a:r>
              <a:rPr lang="en-US" sz="1380" dirty="0">
                <a:solidFill>
                  <a:srgbClr val="5B6B7C"/>
                </a:solidFill>
                <a:latin typeface="Calibri" pitchFamily="34" charset="0"/>
                <a:ea typeface="Calibri" pitchFamily="34" charset="-122"/>
                <a:cs typeface="Calibri" pitchFamily="34" charset="-120"/>
              </a:rPr>
              <a:t>tcpdump captures live frames mid-run and tcpreplay retransmits them, producing genuinely stale origin timestamps and reused sequence identifiers rather than synthetic duplicates.</a:t>
            </a:r>
            <a:endParaRPr lang="en-US" sz="1380" dirty="0"/>
          </a:p>
        </p:txBody>
      </p:sp>
      <p:sp>
        <p:nvSpPr>
          <p:cNvPr id="26" name="Shape 24"/>
          <p:cNvSpPr/>
          <p:nvPr/>
        </p:nvSpPr>
        <p:spPr>
          <a:xfrm>
            <a:off x="571500" y="4933950"/>
            <a:ext cx="11049000" cy="990600"/>
          </a:xfrm>
          <a:prstGeom prst="roundRect">
            <a:avLst>
              <a:gd name="adj" fmla="val 3692"/>
            </a:avLst>
          </a:prstGeom>
          <a:solidFill>
            <a:srgbClr val="FFFFFF"/>
          </a:solidFill>
          <a:ln w="12700">
            <a:solidFill>
              <a:srgbClr val="D7E1EA"/>
            </a:solidFill>
            <a:prstDash val="solid"/>
          </a:ln>
        </p:spPr>
        <p:txBody>
          <a:bodyPr/>
          <a:lstStyle/>
          <a:p>
            <a:endParaRPr lang="en-IN"/>
          </a:p>
        </p:txBody>
      </p:sp>
      <p:sp>
        <p:nvSpPr>
          <p:cNvPr id="27" name="Shape 25"/>
          <p:cNvSpPr/>
          <p:nvPr/>
        </p:nvSpPr>
        <p:spPr>
          <a:xfrm>
            <a:off x="571500" y="4933950"/>
            <a:ext cx="47625" cy="990600"/>
          </a:xfrm>
          <a:prstGeom prst="rect">
            <a:avLst/>
          </a:prstGeom>
          <a:solidFill>
            <a:srgbClr val="C58B18"/>
          </a:solidFill>
          <a:ln/>
        </p:spPr>
        <p:txBody>
          <a:bodyPr/>
          <a:lstStyle/>
          <a:p>
            <a:endParaRPr lang="en-IN"/>
          </a:p>
        </p:txBody>
      </p:sp>
      <p:sp>
        <p:nvSpPr>
          <p:cNvPr id="28" name="Text 26"/>
          <p:cNvSpPr/>
          <p:nvPr/>
        </p:nvSpPr>
        <p:spPr>
          <a:xfrm>
            <a:off x="800100" y="5086350"/>
            <a:ext cx="3143250" cy="247650"/>
          </a:xfrm>
          <a:prstGeom prst="rect">
            <a:avLst/>
          </a:prstGeom>
          <a:noFill/>
          <a:ln/>
        </p:spPr>
        <p:txBody>
          <a:bodyPr wrap="square" lIns="0" tIns="0" rIns="0" bIns="0" rtlCol="0" anchor="t">
            <a:normAutofit/>
          </a:bodyPr>
          <a:lstStyle/>
          <a:p>
            <a:pPr marL="0" indent="0" algn="l">
              <a:lnSpc>
                <a:spcPct val="100000"/>
              </a:lnSpc>
              <a:buNone/>
            </a:pPr>
            <a:r>
              <a:rPr lang="en-US" sz="1800" b="1" dirty="0">
                <a:solidFill>
                  <a:srgbClr val="12263A"/>
                </a:solidFill>
                <a:latin typeface="Cambria" pitchFamily="34" charset="0"/>
                <a:ea typeface="Cambria" pitchFamily="34" charset="-122"/>
                <a:cs typeface="Cambria" pitchFamily="34" charset="-120"/>
              </a:rPr>
              <a:t>Link and queue manipulation</a:t>
            </a:r>
            <a:endParaRPr lang="en-US" sz="1800" dirty="0"/>
          </a:p>
        </p:txBody>
      </p:sp>
      <p:sp>
        <p:nvSpPr>
          <p:cNvPr id="29" name="Shape 27"/>
          <p:cNvSpPr/>
          <p:nvPr/>
        </p:nvSpPr>
        <p:spPr>
          <a:xfrm>
            <a:off x="800100" y="5410200"/>
            <a:ext cx="1428750" cy="247650"/>
          </a:xfrm>
          <a:prstGeom prst="roundRect">
            <a:avLst>
              <a:gd name="adj" fmla="val 14769"/>
            </a:avLst>
          </a:prstGeom>
          <a:solidFill>
            <a:srgbClr val="EAF2F8"/>
          </a:solidFill>
          <a:ln w="12700">
            <a:solidFill>
              <a:srgbClr val="D7E1EA"/>
            </a:solidFill>
            <a:prstDash val="solid"/>
          </a:ln>
        </p:spPr>
        <p:txBody>
          <a:bodyPr/>
          <a:lstStyle/>
          <a:p>
            <a:endParaRPr lang="en-IN"/>
          </a:p>
        </p:txBody>
      </p:sp>
      <p:sp>
        <p:nvSpPr>
          <p:cNvPr id="30" name="Text 28"/>
          <p:cNvSpPr/>
          <p:nvPr/>
        </p:nvSpPr>
        <p:spPr>
          <a:xfrm>
            <a:off x="800100" y="5457825"/>
            <a:ext cx="1428750" cy="190500"/>
          </a:xfrm>
          <a:prstGeom prst="rect">
            <a:avLst/>
          </a:prstGeom>
          <a:noFill/>
          <a:ln/>
        </p:spPr>
        <p:txBody>
          <a:bodyPr wrap="square" lIns="0" tIns="0" rIns="0" bIns="0" rtlCol="0" anchor="t">
            <a:normAutofit/>
          </a:bodyPr>
          <a:lstStyle/>
          <a:p>
            <a:pPr marL="0" indent="0" algn="ctr">
              <a:lnSpc>
                <a:spcPct val="100000"/>
              </a:lnSpc>
              <a:buNone/>
            </a:pPr>
            <a:r>
              <a:rPr lang="en-US" sz="1250" b="1" dirty="0">
                <a:solidFill>
                  <a:srgbClr val="1C7293"/>
                </a:solidFill>
                <a:latin typeface="Calibri" pitchFamily="34" charset="0"/>
                <a:ea typeface="Calibri" pitchFamily="34" charset="-122"/>
                <a:cs typeface="Calibri" pitchFamily="34" charset="-120"/>
              </a:rPr>
              <a:t>A5 · C1 · B3 · B7</a:t>
            </a:r>
            <a:endParaRPr lang="en-US" sz="1250" dirty="0"/>
          </a:p>
        </p:txBody>
      </p:sp>
      <p:sp>
        <p:nvSpPr>
          <p:cNvPr id="31" name="Text 29"/>
          <p:cNvSpPr/>
          <p:nvPr/>
        </p:nvSpPr>
        <p:spPr>
          <a:xfrm>
            <a:off x="4191000" y="5086350"/>
            <a:ext cx="7200900" cy="742950"/>
          </a:xfrm>
          <a:prstGeom prst="rect">
            <a:avLst/>
          </a:prstGeom>
          <a:noFill/>
          <a:ln/>
        </p:spPr>
        <p:txBody>
          <a:bodyPr wrap="square" lIns="0" tIns="0" rIns="0" bIns="0" rtlCol="0" anchor="t">
            <a:normAutofit/>
          </a:bodyPr>
          <a:lstStyle/>
          <a:p>
            <a:pPr marL="0" indent="0" algn="l">
              <a:lnSpc>
                <a:spcPct val="100000"/>
              </a:lnSpc>
              <a:buNone/>
            </a:pPr>
            <a:r>
              <a:rPr lang="en-US" sz="1380" dirty="0">
                <a:solidFill>
                  <a:srgbClr val="5B6B7C"/>
                </a:solidFill>
                <a:latin typeface="Calibri" pitchFamily="34" charset="0"/>
                <a:ea typeface="Calibri" pitchFamily="34" charset="-122"/>
                <a:cs typeface="Calibri" pitchFamily="34" charset="-120"/>
              </a:rPr>
              <a:t>High-rate flooding; sustained blackholing of the boundary clock's downstream port; a tbf bottleneck carrying competing non-PTP traffic; and bouncing an RU link during a maintenance window.</a:t>
            </a:r>
            <a:endParaRPr lang="en-US" sz="1380" dirty="0"/>
          </a:p>
        </p:txBody>
      </p:sp>
      <p:sp>
        <p:nvSpPr>
          <p:cNvPr id="32" name="Shape 30"/>
          <p:cNvSpPr/>
          <p:nvPr/>
        </p:nvSpPr>
        <p:spPr>
          <a:xfrm>
            <a:off x="571500" y="6076950"/>
            <a:ext cx="11049000" cy="552450"/>
          </a:xfrm>
          <a:prstGeom prst="roundRect">
            <a:avLst>
              <a:gd name="adj" fmla="val 6621"/>
            </a:avLst>
          </a:prstGeom>
          <a:solidFill>
            <a:srgbClr val="0E2440"/>
          </a:solidFill>
          <a:ln w="12700">
            <a:solidFill>
              <a:srgbClr val="0E2440"/>
            </a:solidFill>
            <a:prstDash val="solid"/>
          </a:ln>
        </p:spPr>
        <p:txBody>
          <a:bodyPr/>
          <a:lstStyle/>
          <a:p>
            <a:endParaRPr lang="en-IN"/>
          </a:p>
        </p:txBody>
      </p:sp>
      <p:sp>
        <p:nvSpPr>
          <p:cNvPr id="33" name="Text 31"/>
          <p:cNvSpPr/>
          <p:nvPr/>
        </p:nvSpPr>
        <p:spPr>
          <a:xfrm>
            <a:off x="781050" y="6191250"/>
            <a:ext cx="10629900" cy="342900"/>
          </a:xfrm>
          <a:prstGeom prst="rect">
            <a:avLst/>
          </a:prstGeom>
          <a:noFill/>
          <a:ln/>
        </p:spPr>
        <p:txBody>
          <a:bodyPr wrap="square" lIns="0" tIns="0" rIns="0" bIns="0" rtlCol="0" anchor="t">
            <a:normAutofit/>
          </a:bodyPr>
          <a:lstStyle/>
          <a:p>
            <a:pPr marL="0" indent="0" algn="l">
              <a:lnSpc>
                <a:spcPct val="100000"/>
              </a:lnSpc>
              <a:buNone/>
            </a:pPr>
            <a:r>
              <a:rPr lang="en-US" sz="1320" b="1" dirty="0">
                <a:solidFill>
                  <a:srgbClr val="FFFFFF"/>
                </a:solidFill>
                <a:latin typeface="Cambria" pitchFamily="34" charset="0"/>
                <a:ea typeface="Cambria" pitchFamily="34" charset="-122"/>
                <a:cs typeface="Cambria" pitchFamily="34" charset="-120"/>
              </a:rPr>
              <a:t>An attack and its benign twin frequently share the same packet-path mechanism. Killing a grandmaster is identical in B2 and B_unplanned_failover; only the provisioned maintenance context differs. The context is therefore part of the evidence, not metadata.</a:t>
            </a:r>
            <a:endParaRPr lang="en-US" sz="13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8FAFC"/>
          </a:solidFill>
          <a:ln/>
        </p:spPr>
        <p:txBody>
          <a:bodyPr/>
          <a:lstStyle/>
          <a:p>
            <a:endParaRPr lang="en-IN"/>
          </a:p>
        </p:txBody>
      </p:sp>
      <p:sp>
        <p:nvSpPr>
          <p:cNvPr id="3" name="Shape 1"/>
          <p:cNvSpPr/>
          <p:nvPr/>
        </p:nvSpPr>
        <p:spPr>
          <a:xfrm>
            <a:off x="0" y="0"/>
            <a:ext cx="12192000" cy="114300"/>
          </a:xfrm>
          <a:prstGeom prst="rect">
            <a:avLst/>
          </a:prstGeom>
          <a:solidFill>
            <a:srgbClr val="18B89A"/>
          </a:solidFill>
          <a:ln/>
        </p:spPr>
        <p:txBody>
          <a:bodyPr/>
          <a:lstStyle/>
          <a:p>
            <a:endParaRPr lang="en-IN"/>
          </a:p>
        </p:txBody>
      </p:sp>
      <p:sp>
        <p:nvSpPr>
          <p:cNvPr id="4" name="Text 2"/>
          <p:cNvSpPr/>
          <p:nvPr/>
        </p:nvSpPr>
        <p:spPr>
          <a:xfrm>
            <a:off x="571500" y="209550"/>
            <a:ext cx="11049000" cy="228600"/>
          </a:xfrm>
          <a:prstGeom prst="rect">
            <a:avLst/>
          </a:prstGeom>
          <a:noFill/>
          <a:ln/>
        </p:spPr>
        <p:txBody>
          <a:bodyPr wrap="square" lIns="0" tIns="0" rIns="0" bIns="0" rtlCol="0" anchor="t">
            <a:normAutofit/>
          </a:bodyPr>
          <a:lstStyle/>
          <a:p>
            <a:pPr marL="0" indent="0" algn="l">
              <a:lnSpc>
                <a:spcPct val="100000"/>
              </a:lnSpc>
              <a:buNone/>
            </a:pPr>
            <a:r>
              <a:rPr lang="en-US" sz="1280" b="1" dirty="0">
                <a:solidFill>
                  <a:srgbClr val="1C7293"/>
                </a:solidFill>
                <a:latin typeface="Calibri" pitchFamily="34" charset="0"/>
                <a:ea typeface="Calibri" pitchFamily="34" charset="-122"/>
                <a:cs typeface="Calibri" pitchFamily="34" charset="-120"/>
              </a:rPr>
              <a:t>FAULT TAXONOMY · ATTACK SCENARIOS 1 OF 2</a:t>
            </a:r>
            <a:endParaRPr lang="en-US" sz="1280" dirty="0"/>
          </a:p>
        </p:txBody>
      </p:sp>
      <p:sp>
        <p:nvSpPr>
          <p:cNvPr id="5" name="Text 3"/>
          <p:cNvSpPr/>
          <p:nvPr/>
        </p:nvSpPr>
        <p:spPr>
          <a:xfrm>
            <a:off x="571500" y="447675"/>
            <a:ext cx="11049000" cy="552450"/>
          </a:xfrm>
          <a:prstGeom prst="rect">
            <a:avLst/>
          </a:prstGeom>
          <a:noFill/>
          <a:ln/>
        </p:spPr>
        <p:txBody>
          <a:bodyPr wrap="square" lIns="0" tIns="0" rIns="0" bIns="0" rtlCol="0" anchor="t">
            <a:normAutofit/>
          </a:bodyPr>
          <a:lstStyle/>
          <a:p>
            <a:pPr marL="0" indent="0" algn="l">
              <a:lnSpc>
                <a:spcPct val="100000"/>
              </a:lnSpc>
              <a:buNone/>
            </a:pPr>
            <a:r>
              <a:rPr lang="en-US" sz="3200" b="1" dirty="0">
                <a:solidFill>
                  <a:srgbClr val="12263A"/>
                </a:solidFill>
                <a:latin typeface="Cambria" pitchFamily="34" charset="0"/>
                <a:ea typeface="Cambria" pitchFamily="34" charset="-122"/>
                <a:cs typeface="Cambria" pitchFamily="34" charset="-120"/>
              </a:rPr>
              <a:t>Attack Scenarios: Identity and Message Manipulation</a:t>
            </a:r>
            <a:endParaRPr lang="en-US" sz="3200" dirty="0"/>
          </a:p>
        </p:txBody>
      </p:sp>
      <p:sp>
        <p:nvSpPr>
          <p:cNvPr id="6" name="Shape 4"/>
          <p:cNvSpPr/>
          <p:nvPr/>
        </p:nvSpPr>
        <p:spPr>
          <a:xfrm>
            <a:off x="571500" y="1057275"/>
            <a:ext cx="11049000" cy="438150"/>
          </a:xfrm>
          <a:prstGeom prst="roundRect">
            <a:avLst>
              <a:gd name="adj" fmla="val 8348"/>
            </a:avLst>
          </a:prstGeom>
          <a:solidFill>
            <a:srgbClr val="EAF2F8"/>
          </a:solidFill>
          <a:ln w="12700">
            <a:solidFill>
              <a:srgbClr val="D7E1EA"/>
            </a:solidFill>
            <a:prstDash val="solid"/>
          </a:ln>
        </p:spPr>
        <p:txBody>
          <a:bodyPr/>
          <a:lstStyle/>
          <a:p>
            <a:endParaRPr lang="en-IN"/>
          </a:p>
        </p:txBody>
      </p:sp>
      <p:sp>
        <p:nvSpPr>
          <p:cNvPr id="7" name="Text 5"/>
          <p:cNvSpPr/>
          <p:nvPr/>
        </p:nvSpPr>
        <p:spPr>
          <a:xfrm>
            <a:off x="723900" y="1123950"/>
            <a:ext cx="10744200" cy="323850"/>
          </a:xfrm>
          <a:prstGeom prst="rect">
            <a:avLst/>
          </a:prstGeom>
          <a:noFill/>
          <a:ln/>
        </p:spPr>
        <p:txBody>
          <a:bodyPr wrap="square" lIns="0" tIns="0" rIns="0" bIns="0" rtlCol="0" anchor="t">
            <a:normAutofit/>
          </a:bodyPr>
          <a:lstStyle/>
          <a:p>
            <a:pPr marL="0" indent="0" algn="l">
              <a:lnSpc>
                <a:spcPct val="102000"/>
              </a:lnSpc>
              <a:buNone/>
            </a:pPr>
            <a:r>
              <a:rPr lang="en-US" sz="1120" dirty="0">
                <a:solidFill>
                  <a:srgbClr val="5B6B7C"/>
                </a:solidFill>
                <a:latin typeface="Calibri" pitchFamily="34" charset="0"/>
                <a:ea typeface="Calibri" pitchFamily="34" charset="-122"/>
                <a:cs typeface="Calibri" pitchFamily="34" charset="-120"/>
              </a:rPr>
              <a:t>IEEE 1588-2019 Announce, Sync and Follow_Up message clauses and sequenceId continuity  |  ITU-T G.8275.1 alternate BMCA and message-rate cadence  |  O-RAN WG11 threat identifiers, ETSI TR 104 106 V3.0.0</a:t>
            </a:r>
            <a:endParaRPr lang="en-US" sz="1120" dirty="0"/>
          </a:p>
        </p:txBody>
      </p:sp>
      <p:sp>
        <p:nvSpPr>
          <p:cNvPr id="8" name="Text 6"/>
          <p:cNvSpPr/>
          <p:nvPr/>
        </p:nvSpPr>
        <p:spPr>
          <a:xfrm>
            <a:off x="666750" y="1676400"/>
            <a:ext cx="2381250" cy="22860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1C7293"/>
                </a:solidFill>
                <a:latin typeface="Calibri" pitchFamily="34" charset="0"/>
                <a:ea typeface="Calibri" pitchFamily="34" charset="-122"/>
                <a:cs typeface="Calibri" pitchFamily="34" charset="-120"/>
              </a:rPr>
              <a:t>SCENARIO</a:t>
            </a:r>
            <a:endParaRPr lang="en-US" sz="1200" dirty="0"/>
          </a:p>
        </p:txBody>
      </p:sp>
      <p:sp>
        <p:nvSpPr>
          <p:cNvPr id="9" name="Text 7"/>
          <p:cNvSpPr/>
          <p:nvPr/>
        </p:nvSpPr>
        <p:spPr>
          <a:xfrm>
            <a:off x="3143250" y="1676400"/>
            <a:ext cx="3143250" cy="22860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1C7293"/>
                </a:solidFill>
                <a:latin typeface="Calibri" pitchFamily="34" charset="0"/>
                <a:ea typeface="Calibri" pitchFamily="34" charset="-122"/>
                <a:cs typeface="Calibri" pitchFamily="34" charset="-120"/>
              </a:rPr>
              <a:t>INJECTED CONDITION</a:t>
            </a:r>
            <a:endParaRPr lang="en-US" sz="1200" dirty="0"/>
          </a:p>
        </p:txBody>
      </p:sp>
      <p:sp>
        <p:nvSpPr>
          <p:cNvPr id="10" name="Text 8"/>
          <p:cNvSpPr/>
          <p:nvPr/>
        </p:nvSpPr>
        <p:spPr>
          <a:xfrm>
            <a:off x="6477000" y="1676400"/>
            <a:ext cx="2857500" cy="22860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1C7293"/>
                </a:solidFill>
                <a:latin typeface="Calibri" pitchFamily="34" charset="0"/>
                <a:ea typeface="Calibri" pitchFamily="34" charset="-122"/>
                <a:cs typeface="Calibri" pitchFamily="34" charset="-120"/>
              </a:rPr>
              <a:t>OBSERVABLE EFFECT</a:t>
            </a:r>
            <a:endParaRPr lang="en-US" sz="1200" dirty="0"/>
          </a:p>
        </p:txBody>
      </p:sp>
      <p:sp>
        <p:nvSpPr>
          <p:cNvPr id="11" name="Text 9"/>
          <p:cNvSpPr/>
          <p:nvPr/>
        </p:nvSpPr>
        <p:spPr>
          <a:xfrm>
            <a:off x="9477375" y="1676400"/>
            <a:ext cx="1047750" cy="22860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1C7293"/>
                </a:solidFill>
                <a:latin typeface="Calibri" pitchFamily="34" charset="0"/>
                <a:ea typeface="Calibri" pitchFamily="34" charset="-122"/>
                <a:cs typeface="Calibri" pitchFamily="34" charset="-120"/>
              </a:rPr>
              <a:t>EXPECTED</a:t>
            </a:r>
            <a:endParaRPr lang="en-US" sz="1200" dirty="0"/>
          </a:p>
        </p:txBody>
      </p:sp>
      <p:sp>
        <p:nvSpPr>
          <p:cNvPr id="12" name="Text 10"/>
          <p:cNvSpPr/>
          <p:nvPr/>
        </p:nvSpPr>
        <p:spPr>
          <a:xfrm>
            <a:off x="10525125" y="1676400"/>
            <a:ext cx="1047750" cy="22860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1C7293"/>
                </a:solidFill>
                <a:latin typeface="Calibri" pitchFamily="34" charset="0"/>
                <a:ea typeface="Calibri" pitchFamily="34" charset="-122"/>
                <a:cs typeface="Calibri" pitchFamily="34" charset="-120"/>
              </a:rPr>
              <a:t>RESULT</a:t>
            </a:r>
            <a:endParaRPr lang="en-US" sz="1200" dirty="0"/>
          </a:p>
        </p:txBody>
      </p:sp>
      <p:sp>
        <p:nvSpPr>
          <p:cNvPr id="13" name="Shape 11"/>
          <p:cNvSpPr/>
          <p:nvPr/>
        </p:nvSpPr>
        <p:spPr>
          <a:xfrm>
            <a:off x="571500" y="1933575"/>
            <a:ext cx="11049000" cy="11430"/>
          </a:xfrm>
          <a:prstGeom prst="rect">
            <a:avLst/>
          </a:prstGeom>
          <a:solidFill>
            <a:srgbClr val="D7E1EA"/>
          </a:solidFill>
          <a:ln/>
        </p:spPr>
        <p:txBody>
          <a:bodyPr/>
          <a:lstStyle/>
          <a:p>
            <a:endParaRPr lang="en-IN"/>
          </a:p>
        </p:txBody>
      </p:sp>
      <p:sp>
        <p:nvSpPr>
          <p:cNvPr id="14" name="Text 12"/>
          <p:cNvSpPr/>
          <p:nvPr/>
        </p:nvSpPr>
        <p:spPr>
          <a:xfrm>
            <a:off x="666750" y="2057400"/>
            <a:ext cx="2381250" cy="209550"/>
          </a:xfrm>
          <a:prstGeom prst="rect">
            <a:avLst/>
          </a:prstGeom>
          <a:noFill/>
          <a:ln/>
        </p:spPr>
        <p:txBody>
          <a:bodyPr wrap="square" lIns="0" tIns="0" rIns="0" bIns="0" rtlCol="0" anchor="t">
            <a:normAutofit/>
          </a:bodyPr>
          <a:lstStyle/>
          <a:p>
            <a:pPr marL="0" indent="0" algn="l">
              <a:lnSpc>
                <a:spcPct val="100000"/>
              </a:lnSpc>
              <a:buNone/>
            </a:pPr>
            <a:r>
              <a:rPr lang="en-US" sz="1550" b="1" dirty="0">
                <a:solidFill>
                  <a:srgbClr val="12263A"/>
                </a:solidFill>
                <a:latin typeface="Cambria" pitchFamily="34" charset="0"/>
                <a:ea typeface="Cambria" pitchFamily="34" charset="-122"/>
                <a:cs typeface="Cambria" pitchFamily="34" charset="-120"/>
              </a:rPr>
              <a:t>A1</a:t>
            </a:r>
            <a:endParaRPr lang="en-US" sz="1550" dirty="0"/>
          </a:p>
        </p:txBody>
      </p:sp>
      <p:sp>
        <p:nvSpPr>
          <p:cNvPr id="15" name="Text 13"/>
          <p:cNvSpPr/>
          <p:nvPr/>
        </p:nvSpPr>
        <p:spPr>
          <a:xfrm>
            <a:off x="666750" y="2266950"/>
            <a:ext cx="2381250" cy="342900"/>
          </a:xfrm>
          <a:prstGeom prst="rect">
            <a:avLst/>
          </a:prstGeom>
          <a:noFill/>
          <a:ln/>
        </p:spPr>
        <p:txBody>
          <a:bodyPr wrap="square" lIns="0" tIns="0" rIns="0" bIns="0" rtlCol="0" anchor="t">
            <a:normAutofit/>
          </a:bodyPr>
          <a:lstStyle/>
          <a:p>
            <a:pPr marL="0" indent="0" algn="l">
              <a:lnSpc>
                <a:spcPct val="100000"/>
              </a:lnSpc>
              <a:buNone/>
            </a:pPr>
            <a:r>
              <a:rPr lang="en-US" sz="1220" dirty="0">
                <a:solidFill>
                  <a:srgbClr val="5B6B7C"/>
                </a:solidFill>
                <a:latin typeface="Calibri" pitchFamily="34" charset="0"/>
                <a:ea typeface="Calibri" pitchFamily="34" charset="-122"/>
                <a:cs typeface="Calibri" pitchFamily="34" charset="-120"/>
              </a:rPr>
              <a:t>Rogue grandmaster / BMCA spoof</a:t>
            </a:r>
            <a:endParaRPr lang="en-US" sz="1220" dirty="0"/>
          </a:p>
        </p:txBody>
      </p:sp>
      <p:sp>
        <p:nvSpPr>
          <p:cNvPr id="16" name="Text 14"/>
          <p:cNvSpPr/>
          <p:nvPr/>
        </p:nvSpPr>
        <p:spPr>
          <a:xfrm>
            <a:off x="666750" y="2628900"/>
            <a:ext cx="2381250" cy="171450"/>
          </a:xfrm>
          <a:prstGeom prst="rect">
            <a:avLst/>
          </a:prstGeom>
          <a:noFill/>
          <a:ln/>
        </p:spPr>
        <p:txBody>
          <a:bodyPr wrap="square" lIns="0" tIns="0" rIns="0" bIns="0" rtlCol="0" anchor="t">
            <a:normAutofit/>
          </a:bodyPr>
          <a:lstStyle/>
          <a:p>
            <a:pPr marL="0" indent="0" algn="l">
              <a:lnSpc>
                <a:spcPct val="100000"/>
              </a:lnSpc>
              <a:buNone/>
            </a:pPr>
            <a:r>
              <a:rPr lang="en-US" sz="1020" b="1" dirty="0">
                <a:solidFill>
                  <a:srgbClr val="1C7293"/>
                </a:solidFill>
                <a:latin typeface="Calibri" pitchFamily="34" charset="0"/>
                <a:ea typeface="Calibri" pitchFamily="34" charset="-122"/>
                <a:cs typeface="Calibri" pitchFamily="34" charset="-120"/>
              </a:rPr>
              <a:t>T-SPLANE-02 / -03</a:t>
            </a:r>
            <a:endParaRPr lang="en-US" sz="1020" dirty="0"/>
          </a:p>
        </p:txBody>
      </p:sp>
      <p:sp>
        <p:nvSpPr>
          <p:cNvPr id="17" name="Text 15"/>
          <p:cNvSpPr/>
          <p:nvPr/>
        </p:nvSpPr>
        <p:spPr>
          <a:xfrm>
            <a:off x="3143250" y="2057400"/>
            <a:ext cx="3200400" cy="800100"/>
          </a:xfrm>
          <a:prstGeom prst="rect">
            <a:avLst/>
          </a:prstGeom>
          <a:noFill/>
          <a:ln/>
        </p:spPr>
        <p:txBody>
          <a:bodyPr wrap="square" lIns="0" tIns="0" rIns="0" bIns="0" rtlCol="0" anchor="t">
            <a:normAutofit/>
          </a:bodyPr>
          <a:lstStyle/>
          <a:p>
            <a:pPr marL="0" indent="0" algn="l">
              <a:lnSpc>
                <a:spcPct val="100000"/>
              </a:lnSpc>
              <a:buNone/>
            </a:pPr>
            <a:r>
              <a:rPr lang="en-US" sz="1280" dirty="0">
                <a:solidFill>
                  <a:srgbClr val="12263A"/>
                </a:solidFill>
                <a:latin typeface="Calibri" pitchFamily="34" charset="0"/>
                <a:ea typeface="Calibri" pitchFamily="34" charset="-122"/>
                <a:cs typeface="Calibri" pitchFamily="34" charset="-120"/>
              </a:rPr>
              <a:t>A second real ptp4l instance with an identity outside the provisioned allow-list and a superior priority2 value competes in the election.</a:t>
            </a:r>
            <a:endParaRPr lang="en-US" sz="1280" dirty="0"/>
          </a:p>
        </p:txBody>
      </p:sp>
      <p:sp>
        <p:nvSpPr>
          <p:cNvPr id="18" name="Text 16"/>
          <p:cNvSpPr/>
          <p:nvPr/>
        </p:nvSpPr>
        <p:spPr>
          <a:xfrm>
            <a:off x="6477000" y="2057400"/>
            <a:ext cx="2857500" cy="800100"/>
          </a:xfrm>
          <a:prstGeom prst="rect">
            <a:avLst/>
          </a:prstGeom>
          <a:noFill/>
          <a:ln/>
        </p:spPr>
        <p:txBody>
          <a:bodyPr wrap="square" lIns="0" tIns="0" rIns="0" bIns="0" rtlCol="0" anchor="t">
            <a:normAutofit/>
          </a:bodyPr>
          <a:lstStyle/>
          <a:p>
            <a:pPr marL="0" indent="0" algn="l">
              <a:lnSpc>
                <a:spcPct val="100000"/>
              </a:lnSpc>
              <a:buNone/>
            </a:pPr>
            <a:r>
              <a:rPr lang="en-US" sz="1280" dirty="0">
                <a:solidFill>
                  <a:srgbClr val="5B6B7C"/>
                </a:solidFill>
                <a:latin typeface="Calibri" pitchFamily="34" charset="0"/>
                <a:ea typeface="Calibri" pitchFamily="34" charset="-122"/>
                <a:cs typeface="Calibri" pitchFamily="34" charset="-120"/>
              </a:rPr>
              <a:t>The rogue clock wins the alternate BMCA and becomes the advertised time source for the downstream segment.</a:t>
            </a:r>
            <a:endParaRPr lang="en-US" sz="1280" dirty="0"/>
          </a:p>
        </p:txBody>
      </p:sp>
      <p:sp>
        <p:nvSpPr>
          <p:cNvPr id="19" name="Shape 17"/>
          <p:cNvSpPr/>
          <p:nvPr/>
        </p:nvSpPr>
        <p:spPr>
          <a:xfrm>
            <a:off x="9477375" y="2095500"/>
            <a:ext cx="914400" cy="247650"/>
          </a:xfrm>
          <a:prstGeom prst="roundRect">
            <a:avLst>
              <a:gd name="adj" fmla="val 14769"/>
            </a:avLst>
          </a:prstGeom>
          <a:solidFill>
            <a:srgbClr val="F6E4E0"/>
          </a:solidFill>
          <a:ln w="12700">
            <a:solidFill>
              <a:srgbClr val="B3402F"/>
            </a:solidFill>
            <a:prstDash val="solid"/>
          </a:ln>
        </p:spPr>
        <p:txBody>
          <a:bodyPr/>
          <a:lstStyle/>
          <a:p>
            <a:endParaRPr lang="en-IN"/>
          </a:p>
        </p:txBody>
      </p:sp>
      <p:sp>
        <p:nvSpPr>
          <p:cNvPr id="20" name="Text 18"/>
          <p:cNvSpPr/>
          <p:nvPr/>
        </p:nvSpPr>
        <p:spPr>
          <a:xfrm>
            <a:off x="9477375" y="2143125"/>
            <a:ext cx="914400" cy="190500"/>
          </a:xfrm>
          <a:prstGeom prst="rect">
            <a:avLst/>
          </a:prstGeom>
          <a:noFill/>
          <a:ln/>
        </p:spPr>
        <p:txBody>
          <a:bodyPr wrap="square" lIns="0" tIns="0" rIns="0" bIns="0" rtlCol="0" anchor="t">
            <a:normAutofit/>
          </a:bodyPr>
          <a:lstStyle/>
          <a:p>
            <a:pPr marL="0" indent="0" algn="ctr">
              <a:lnSpc>
                <a:spcPct val="100000"/>
              </a:lnSpc>
              <a:buNone/>
            </a:pPr>
            <a:r>
              <a:rPr lang="en-US" sz="1150" b="1" dirty="0">
                <a:solidFill>
                  <a:srgbClr val="B3402F"/>
                </a:solidFill>
                <a:latin typeface="Calibri" pitchFamily="34" charset="0"/>
                <a:ea typeface="Calibri" pitchFamily="34" charset="-122"/>
                <a:cs typeface="Calibri" pitchFamily="34" charset="-120"/>
              </a:rPr>
              <a:t>ATTACK</a:t>
            </a:r>
            <a:endParaRPr lang="en-US" sz="1150" dirty="0"/>
          </a:p>
        </p:txBody>
      </p:sp>
      <p:sp>
        <p:nvSpPr>
          <p:cNvPr id="21" name="Text 19"/>
          <p:cNvSpPr/>
          <p:nvPr/>
        </p:nvSpPr>
        <p:spPr>
          <a:xfrm>
            <a:off x="10525125" y="2076450"/>
            <a:ext cx="1047750" cy="228600"/>
          </a:xfrm>
          <a:prstGeom prst="rect">
            <a:avLst/>
          </a:prstGeom>
          <a:noFill/>
          <a:ln/>
        </p:spPr>
        <p:txBody>
          <a:bodyPr wrap="square" lIns="0" tIns="0" rIns="0" bIns="0" rtlCol="0" anchor="t">
            <a:normAutofit/>
          </a:bodyPr>
          <a:lstStyle/>
          <a:p>
            <a:pPr marL="0" indent="0" algn="l">
              <a:lnSpc>
                <a:spcPct val="100000"/>
              </a:lnSpc>
              <a:buNone/>
            </a:pPr>
            <a:r>
              <a:rPr lang="en-US" sz="1500" b="1" dirty="0">
                <a:solidFill>
                  <a:srgbClr val="1E8E5A"/>
                </a:solidFill>
                <a:latin typeface="Cambria" pitchFamily="34" charset="0"/>
                <a:ea typeface="Cambria" pitchFamily="34" charset="-122"/>
                <a:cs typeface="Cambria" pitchFamily="34" charset="-120"/>
              </a:rPr>
              <a:t>12/12</a:t>
            </a:r>
            <a:endParaRPr lang="en-US" sz="1500" dirty="0"/>
          </a:p>
        </p:txBody>
      </p:sp>
      <p:sp>
        <p:nvSpPr>
          <p:cNvPr id="22" name="Text 20"/>
          <p:cNvSpPr/>
          <p:nvPr/>
        </p:nvSpPr>
        <p:spPr>
          <a:xfrm>
            <a:off x="10525125" y="2305050"/>
            <a:ext cx="1047750" cy="171450"/>
          </a:xfrm>
          <a:prstGeom prst="rect">
            <a:avLst/>
          </a:prstGeom>
          <a:noFill/>
          <a:ln/>
        </p:spPr>
        <p:txBody>
          <a:bodyPr wrap="square" lIns="0" tIns="0" rIns="0" bIns="0" rtlCol="0" anchor="t">
            <a:normAutofit/>
          </a:bodyPr>
          <a:lstStyle/>
          <a:p>
            <a:pPr marL="0" indent="0" algn="l">
              <a:lnSpc>
                <a:spcPct val="100000"/>
              </a:lnSpc>
              <a:buNone/>
            </a:pPr>
            <a:r>
              <a:rPr lang="en-US" sz="1020" dirty="0">
                <a:solidFill>
                  <a:srgbClr val="5B6B7C"/>
                </a:solidFill>
                <a:latin typeface="Calibri" pitchFamily="34" charset="0"/>
                <a:ea typeface="Calibri" pitchFamily="34" charset="-122"/>
                <a:cs typeface="Calibri" pitchFamily="34" charset="-120"/>
              </a:rPr>
              <a:t>correct</a:t>
            </a:r>
            <a:endParaRPr lang="en-US" sz="1020" dirty="0"/>
          </a:p>
        </p:txBody>
      </p:sp>
      <p:sp>
        <p:nvSpPr>
          <p:cNvPr id="23" name="Shape 21"/>
          <p:cNvSpPr/>
          <p:nvPr/>
        </p:nvSpPr>
        <p:spPr>
          <a:xfrm>
            <a:off x="571500" y="2952750"/>
            <a:ext cx="11049000" cy="11430"/>
          </a:xfrm>
          <a:prstGeom prst="rect">
            <a:avLst/>
          </a:prstGeom>
          <a:solidFill>
            <a:srgbClr val="D7E1EA"/>
          </a:solidFill>
          <a:ln/>
        </p:spPr>
        <p:txBody>
          <a:bodyPr/>
          <a:lstStyle/>
          <a:p>
            <a:endParaRPr lang="en-IN"/>
          </a:p>
        </p:txBody>
      </p:sp>
      <p:sp>
        <p:nvSpPr>
          <p:cNvPr id="24" name="Text 22"/>
          <p:cNvSpPr/>
          <p:nvPr/>
        </p:nvSpPr>
        <p:spPr>
          <a:xfrm>
            <a:off x="666750" y="3048000"/>
            <a:ext cx="2381250" cy="209550"/>
          </a:xfrm>
          <a:prstGeom prst="rect">
            <a:avLst/>
          </a:prstGeom>
          <a:noFill/>
          <a:ln/>
        </p:spPr>
        <p:txBody>
          <a:bodyPr wrap="square" lIns="0" tIns="0" rIns="0" bIns="0" rtlCol="0" anchor="t">
            <a:normAutofit/>
          </a:bodyPr>
          <a:lstStyle/>
          <a:p>
            <a:pPr marL="0" indent="0" algn="l">
              <a:lnSpc>
                <a:spcPct val="100000"/>
              </a:lnSpc>
              <a:buNone/>
            </a:pPr>
            <a:r>
              <a:rPr lang="en-US" sz="1550" b="1" dirty="0">
                <a:solidFill>
                  <a:srgbClr val="12263A"/>
                </a:solidFill>
                <a:latin typeface="Cambria" pitchFamily="34" charset="0"/>
                <a:ea typeface="Cambria" pitchFamily="34" charset="-122"/>
                <a:cs typeface="Cambria" pitchFamily="34" charset="-120"/>
              </a:rPr>
              <a:t>A2</a:t>
            </a:r>
            <a:endParaRPr lang="en-US" sz="1550" dirty="0"/>
          </a:p>
        </p:txBody>
      </p:sp>
      <p:sp>
        <p:nvSpPr>
          <p:cNvPr id="25" name="Text 23"/>
          <p:cNvSpPr/>
          <p:nvPr/>
        </p:nvSpPr>
        <p:spPr>
          <a:xfrm>
            <a:off x="666750" y="3257550"/>
            <a:ext cx="2381250" cy="342900"/>
          </a:xfrm>
          <a:prstGeom prst="rect">
            <a:avLst/>
          </a:prstGeom>
          <a:noFill/>
          <a:ln/>
        </p:spPr>
        <p:txBody>
          <a:bodyPr wrap="square" lIns="0" tIns="0" rIns="0" bIns="0" rtlCol="0" anchor="t">
            <a:normAutofit/>
          </a:bodyPr>
          <a:lstStyle/>
          <a:p>
            <a:pPr marL="0" indent="0" algn="l">
              <a:lnSpc>
                <a:spcPct val="100000"/>
              </a:lnSpc>
              <a:buNone/>
            </a:pPr>
            <a:r>
              <a:rPr lang="en-US" sz="1220" dirty="0">
                <a:solidFill>
                  <a:srgbClr val="5B6B7C"/>
                </a:solidFill>
                <a:latin typeface="Calibri" pitchFamily="34" charset="0"/>
                <a:ea typeface="Calibri" pitchFamily="34" charset="-122"/>
                <a:cs typeface="Calibri" pitchFamily="34" charset="-120"/>
              </a:rPr>
              <a:t>Sync / Follow_Up spoofing</a:t>
            </a:r>
            <a:endParaRPr lang="en-US" sz="1220" dirty="0"/>
          </a:p>
        </p:txBody>
      </p:sp>
      <p:sp>
        <p:nvSpPr>
          <p:cNvPr id="26" name="Text 24"/>
          <p:cNvSpPr/>
          <p:nvPr/>
        </p:nvSpPr>
        <p:spPr>
          <a:xfrm>
            <a:off x="666750" y="3619500"/>
            <a:ext cx="2381250" cy="171450"/>
          </a:xfrm>
          <a:prstGeom prst="rect">
            <a:avLst/>
          </a:prstGeom>
          <a:noFill/>
          <a:ln/>
        </p:spPr>
        <p:txBody>
          <a:bodyPr wrap="square" lIns="0" tIns="0" rIns="0" bIns="0" rtlCol="0" anchor="t">
            <a:normAutofit/>
          </a:bodyPr>
          <a:lstStyle/>
          <a:p>
            <a:pPr marL="0" indent="0" algn="l">
              <a:lnSpc>
                <a:spcPct val="100000"/>
              </a:lnSpc>
              <a:buNone/>
            </a:pPr>
            <a:r>
              <a:rPr lang="en-US" sz="1020" b="1" dirty="0">
                <a:solidFill>
                  <a:srgbClr val="1C7293"/>
                </a:solidFill>
                <a:latin typeface="Calibri" pitchFamily="34" charset="0"/>
                <a:ea typeface="Calibri" pitchFamily="34" charset="-122"/>
                <a:cs typeface="Calibri" pitchFamily="34" charset="-120"/>
              </a:rPr>
              <a:t>IEEE 1588-2019</a:t>
            </a:r>
            <a:endParaRPr lang="en-US" sz="1020" dirty="0"/>
          </a:p>
        </p:txBody>
      </p:sp>
      <p:sp>
        <p:nvSpPr>
          <p:cNvPr id="27" name="Text 25"/>
          <p:cNvSpPr/>
          <p:nvPr/>
        </p:nvSpPr>
        <p:spPr>
          <a:xfrm>
            <a:off x="3143250" y="3048000"/>
            <a:ext cx="3200400" cy="800100"/>
          </a:xfrm>
          <a:prstGeom prst="rect">
            <a:avLst/>
          </a:prstGeom>
          <a:noFill/>
          <a:ln/>
        </p:spPr>
        <p:txBody>
          <a:bodyPr wrap="square" lIns="0" tIns="0" rIns="0" bIns="0" rtlCol="0" anchor="t">
            <a:normAutofit/>
          </a:bodyPr>
          <a:lstStyle/>
          <a:p>
            <a:pPr marL="0" indent="0" algn="l">
              <a:lnSpc>
                <a:spcPct val="100000"/>
              </a:lnSpc>
              <a:buNone/>
            </a:pPr>
            <a:r>
              <a:rPr lang="en-US" sz="1280" dirty="0">
                <a:solidFill>
                  <a:srgbClr val="12263A"/>
                </a:solidFill>
                <a:latin typeface="Calibri" pitchFamily="34" charset="0"/>
                <a:ea typeface="Calibri" pitchFamily="34" charset="-122"/>
                <a:cs typeface="Calibri" pitchFamily="34" charset="-120"/>
              </a:rPr>
              <a:t>Forged timing messages from an unallow-listed source identity, sent in bursts, with implausible origin timestamps and no accompanying Announce.</a:t>
            </a:r>
            <a:endParaRPr lang="en-US" sz="1280" dirty="0"/>
          </a:p>
        </p:txBody>
      </p:sp>
      <p:sp>
        <p:nvSpPr>
          <p:cNvPr id="28" name="Text 26"/>
          <p:cNvSpPr/>
          <p:nvPr/>
        </p:nvSpPr>
        <p:spPr>
          <a:xfrm>
            <a:off x="6477000" y="3048000"/>
            <a:ext cx="2857500" cy="800100"/>
          </a:xfrm>
          <a:prstGeom prst="rect">
            <a:avLst/>
          </a:prstGeom>
          <a:noFill/>
          <a:ln/>
        </p:spPr>
        <p:txBody>
          <a:bodyPr wrap="square" lIns="0" tIns="0" rIns="0" bIns="0" rtlCol="0" anchor="t">
            <a:normAutofit/>
          </a:bodyPr>
          <a:lstStyle/>
          <a:p>
            <a:pPr marL="0" indent="0" algn="l">
              <a:lnSpc>
                <a:spcPct val="100000"/>
              </a:lnSpc>
              <a:buNone/>
            </a:pPr>
            <a:r>
              <a:rPr lang="en-US" sz="1280" dirty="0">
                <a:solidFill>
                  <a:srgbClr val="5B6B7C"/>
                </a:solidFill>
                <a:latin typeface="Calibri" pitchFamily="34" charset="0"/>
                <a:ea typeface="Calibri" pitchFamily="34" charset="-122"/>
                <a:cs typeface="Calibri" pitchFamily="34" charset="-120"/>
              </a:rPr>
              <a:t>Timing content conflicts with the elected grandmaster while the source never advertises itself legitimately.</a:t>
            </a:r>
            <a:endParaRPr lang="en-US" sz="1280" dirty="0"/>
          </a:p>
        </p:txBody>
      </p:sp>
      <p:sp>
        <p:nvSpPr>
          <p:cNvPr id="29" name="Shape 27"/>
          <p:cNvSpPr/>
          <p:nvPr/>
        </p:nvSpPr>
        <p:spPr>
          <a:xfrm>
            <a:off x="9477375" y="3086100"/>
            <a:ext cx="914400" cy="247650"/>
          </a:xfrm>
          <a:prstGeom prst="roundRect">
            <a:avLst>
              <a:gd name="adj" fmla="val 14769"/>
            </a:avLst>
          </a:prstGeom>
          <a:solidFill>
            <a:srgbClr val="F6E4E0"/>
          </a:solidFill>
          <a:ln w="12700">
            <a:solidFill>
              <a:srgbClr val="B3402F"/>
            </a:solidFill>
            <a:prstDash val="solid"/>
          </a:ln>
        </p:spPr>
        <p:txBody>
          <a:bodyPr/>
          <a:lstStyle/>
          <a:p>
            <a:endParaRPr lang="en-IN"/>
          </a:p>
        </p:txBody>
      </p:sp>
      <p:sp>
        <p:nvSpPr>
          <p:cNvPr id="30" name="Text 28"/>
          <p:cNvSpPr/>
          <p:nvPr/>
        </p:nvSpPr>
        <p:spPr>
          <a:xfrm>
            <a:off x="9477375" y="3133725"/>
            <a:ext cx="914400" cy="190500"/>
          </a:xfrm>
          <a:prstGeom prst="rect">
            <a:avLst/>
          </a:prstGeom>
          <a:noFill/>
          <a:ln/>
        </p:spPr>
        <p:txBody>
          <a:bodyPr wrap="square" lIns="0" tIns="0" rIns="0" bIns="0" rtlCol="0" anchor="t">
            <a:normAutofit/>
          </a:bodyPr>
          <a:lstStyle/>
          <a:p>
            <a:pPr marL="0" indent="0" algn="ctr">
              <a:lnSpc>
                <a:spcPct val="100000"/>
              </a:lnSpc>
              <a:buNone/>
            </a:pPr>
            <a:r>
              <a:rPr lang="en-US" sz="1150" b="1" dirty="0">
                <a:solidFill>
                  <a:srgbClr val="B3402F"/>
                </a:solidFill>
                <a:latin typeface="Calibri" pitchFamily="34" charset="0"/>
                <a:ea typeface="Calibri" pitchFamily="34" charset="-122"/>
                <a:cs typeface="Calibri" pitchFamily="34" charset="-120"/>
              </a:rPr>
              <a:t>ATTACK</a:t>
            </a:r>
            <a:endParaRPr lang="en-US" sz="1150" dirty="0"/>
          </a:p>
        </p:txBody>
      </p:sp>
      <p:sp>
        <p:nvSpPr>
          <p:cNvPr id="31" name="Text 29"/>
          <p:cNvSpPr/>
          <p:nvPr/>
        </p:nvSpPr>
        <p:spPr>
          <a:xfrm>
            <a:off x="10525125" y="3067050"/>
            <a:ext cx="1047750" cy="228600"/>
          </a:xfrm>
          <a:prstGeom prst="rect">
            <a:avLst/>
          </a:prstGeom>
          <a:noFill/>
          <a:ln/>
        </p:spPr>
        <p:txBody>
          <a:bodyPr wrap="square" lIns="0" tIns="0" rIns="0" bIns="0" rtlCol="0" anchor="t">
            <a:normAutofit/>
          </a:bodyPr>
          <a:lstStyle/>
          <a:p>
            <a:pPr marL="0" indent="0" algn="l">
              <a:lnSpc>
                <a:spcPct val="100000"/>
              </a:lnSpc>
              <a:buNone/>
            </a:pPr>
            <a:r>
              <a:rPr lang="en-US" sz="1500" b="1" dirty="0">
                <a:solidFill>
                  <a:srgbClr val="1E8E5A"/>
                </a:solidFill>
                <a:latin typeface="Cambria" pitchFamily="34" charset="0"/>
                <a:ea typeface="Cambria" pitchFamily="34" charset="-122"/>
                <a:cs typeface="Cambria" pitchFamily="34" charset="-120"/>
              </a:rPr>
              <a:t>12/12</a:t>
            </a:r>
            <a:endParaRPr lang="en-US" sz="1500" dirty="0"/>
          </a:p>
        </p:txBody>
      </p:sp>
      <p:sp>
        <p:nvSpPr>
          <p:cNvPr id="32" name="Text 30"/>
          <p:cNvSpPr/>
          <p:nvPr/>
        </p:nvSpPr>
        <p:spPr>
          <a:xfrm>
            <a:off x="10525125" y="3295650"/>
            <a:ext cx="1047750" cy="171450"/>
          </a:xfrm>
          <a:prstGeom prst="rect">
            <a:avLst/>
          </a:prstGeom>
          <a:noFill/>
          <a:ln/>
        </p:spPr>
        <p:txBody>
          <a:bodyPr wrap="square" lIns="0" tIns="0" rIns="0" bIns="0" rtlCol="0" anchor="t">
            <a:normAutofit/>
          </a:bodyPr>
          <a:lstStyle/>
          <a:p>
            <a:pPr marL="0" indent="0" algn="l">
              <a:lnSpc>
                <a:spcPct val="100000"/>
              </a:lnSpc>
              <a:buNone/>
            </a:pPr>
            <a:r>
              <a:rPr lang="en-US" sz="1020" dirty="0">
                <a:solidFill>
                  <a:srgbClr val="5B6B7C"/>
                </a:solidFill>
                <a:latin typeface="Calibri" pitchFamily="34" charset="0"/>
                <a:ea typeface="Calibri" pitchFamily="34" charset="-122"/>
                <a:cs typeface="Calibri" pitchFamily="34" charset="-120"/>
              </a:rPr>
              <a:t>correct</a:t>
            </a:r>
            <a:endParaRPr lang="en-US" sz="1020" dirty="0"/>
          </a:p>
        </p:txBody>
      </p:sp>
      <p:sp>
        <p:nvSpPr>
          <p:cNvPr id="33" name="Shape 31"/>
          <p:cNvSpPr/>
          <p:nvPr/>
        </p:nvSpPr>
        <p:spPr>
          <a:xfrm>
            <a:off x="571500" y="3943350"/>
            <a:ext cx="11049000" cy="11430"/>
          </a:xfrm>
          <a:prstGeom prst="rect">
            <a:avLst/>
          </a:prstGeom>
          <a:solidFill>
            <a:srgbClr val="D7E1EA"/>
          </a:solidFill>
          <a:ln/>
        </p:spPr>
        <p:txBody>
          <a:bodyPr/>
          <a:lstStyle/>
          <a:p>
            <a:endParaRPr lang="en-IN"/>
          </a:p>
        </p:txBody>
      </p:sp>
      <p:sp>
        <p:nvSpPr>
          <p:cNvPr id="34" name="Text 32"/>
          <p:cNvSpPr/>
          <p:nvPr/>
        </p:nvSpPr>
        <p:spPr>
          <a:xfrm>
            <a:off x="666750" y="4038600"/>
            <a:ext cx="2381250" cy="209550"/>
          </a:xfrm>
          <a:prstGeom prst="rect">
            <a:avLst/>
          </a:prstGeom>
          <a:noFill/>
          <a:ln/>
        </p:spPr>
        <p:txBody>
          <a:bodyPr wrap="square" lIns="0" tIns="0" rIns="0" bIns="0" rtlCol="0" anchor="t">
            <a:normAutofit/>
          </a:bodyPr>
          <a:lstStyle/>
          <a:p>
            <a:pPr marL="0" indent="0" algn="l">
              <a:lnSpc>
                <a:spcPct val="100000"/>
              </a:lnSpc>
              <a:buNone/>
            </a:pPr>
            <a:r>
              <a:rPr lang="en-US" sz="1550" b="1" dirty="0">
                <a:solidFill>
                  <a:srgbClr val="12263A"/>
                </a:solidFill>
                <a:latin typeface="Cambria" pitchFamily="34" charset="0"/>
                <a:ea typeface="Cambria" pitchFamily="34" charset="-122"/>
                <a:cs typeface="Cambria" pitchFamily="34" charset="-120"/>
              </a:rPr>
              <a:t>A3</a:t>
            </a:r>
            <a:endParaRPr lang="en-US" sz="1550" dirty="0"/>
          </a:p>
        </p:txBody>
      </p:sp>
      <p:sp>
        <p:nvSpPr>
          <p:cNvPr id="35" name="Text 33"/>
          <p:cNvSpPr/>
          <p:nvPr/>
        </p:nvSpPr>
        <p:spPr>
          <a:xfrm>
            <a:off x="666750" y="4248150"/>
            <a:ext cx="2381250" cy="342900"/>
          </a:xfrm>
          <a:prstGeom prst="rect">
            <a:avLst/>
          </a:prstGeom>
          <a:noFill/>
          <a:ln/>
        </p:spPr>
        <p:txBody>
          <a:bodyPr wrap="square" lIns="0" tIns="0" rIns="0" bIns="0" rtlCol="0" anchor="t">
            <a:normAutofit/>
          </a:bodyPr>
          <a:lstStyle/>
          <a:p>
            <a:pPr marL="0" indent="0" algn="l">
              <a:lnSpc>
                <a:spcPct val="100000"/>
              </a:lnSpc>
              <a:buNone/>
            </a:pPr>
            <a:r>
              <a:rPr lang="en-US" sz="1220" dirty="0">
                <a:solidFill>
                  <a:srgbClr val="5B6B7C"/>
                </a:solidFill>
                <a:latin typeface="Calibri" pitchFamily="34" charset="0"/>
                <a:ea typeface="Calibri" pitchFamily="34" charset="-122"/>
                <a:cs typeface="Calibri" pitchFamily="34" charset="-120"/>
              </a:rPr>
              <a:t>Replay</a:t>
            </a:r>
            <a:endParaRPr lang="en-US" sz="1220" dirty="0"/>
          </a:p>
        </p:txBody>
      </p:sp>
      <p:sp>
        <p:nvSpPr>
          <p:cNvPr id="36" name="Text 34"/>
          <p:cNvSpPr/>
          <p:nvPr/>
        </p:nvSpPr>
        <p:spPr>
          <a:xfrm>
            <a:off x="666750" y="4610100"/>
            <a:ext cx="2381250" cy="171450"/>
          </a:xfrm>
          <a:prstGeom prst="rect">
            <a:avLst/>
          </a:prstGeom>
          <a:noFill/>
          <a:ln/>
        </p:spPr>
        <p:txBody>
          <a:bodyPr wrap="square" lIns="0" tIns="0" rIns="0" bIns="0" rtlCol="0" anchor="t">
            <a:normAutofit/>
          </a:bodyPr>
          <a:lstStyle/>
          <a:p>
            <a:pPr marL="0" indent="0" algn="l">
              <a:lnSpc>
                <a:spcPct val="100000"/>
              </a:lnSpc>
              <a:buNone/>
            </a:pPr>
            <a:r>
              <a:rPr lang="en-US" sz="1020" b="1" dirty="0">
                <a:solidFill>
                  <a:srgbClr val="1C7293"/>
                </a:solidFill>
                <a:latin typeface="Calibri" pitchFamily="34" charset="0"/>
                <a:ea typeface="Calibri" pitchFamily="34" charset="-122"/>
                <a:cs typeface="Calibri" pitchFamily="34" charset="-120"/>
              </a:rPr>
              <a:t>IEEE 1588-2019 sequenceId</a:t>
            </a:r>
            <a:endParaRPr lang="en-US" sz="1020" dirty="0"/>
          </a:p>
        </p:txBody>
      </p:sp>
      <p:sp>
        <p:nvSpPr>
          <p:cNvPr id="37" name="Text 35"/>
          <p:cNvSpPr/>
          <p:nvPr/>
        </p:nvSpPr>
        <p:spPr>
          <a:xfrm>
            <a:off x="3143250" y="4038600"/>
            <a:ext cx="3200400" cy="800100"/>
          </a:xfrm>
          <a:prstGeom prst="rect">
            <a:avLst/>
          </a:prstGeom>
          <a:noFill/>
          <a:ln/>
        </p:spPr>
        <p:txBody>
          <a:bodyPr wrap="square" lIns="0" tIns="0" rIns="0" bIns="0" rtlCol="0" anchor="t">
            <a:normAutofit/>
          </a:bodyPr>
          <a:lstStyle/>
          <a:p>
            <a:pPr marL="0" indent="0" algn="l">
              <a:lnSpc>
                <a:spcPct val="100000"/>
              </a:lnSpc>
              <a:buNone/>
            </a:pPr>
            <a:r>
              <a:rPr lang="en-US" sz="1280" dirty="0">
                <a:solidFill>
                  <a:srgbClr val="12263A"/>
                </a:solidFill>
                <a:latin typeface="Calibri" pitchFamily="34" charset="0"/>
                <a:ea typeface="Calibri" pitchFamily="34" charset="-122"/>
                <a:cs typeface="Calibri" pitchFamily="34" charset="-120"/>
              </a:rPr>
              <a:t>Live frames captured mid-run and retransmitted with tcpreplay, carrying genuinely stale origin timestamps and reused sequence identifiers.</a:t>
            </a:r>
            <a:endParaRPr lang="en-US" sz="1280" dirty="0"/>
          </a:p>
        </p:txBody>
      </p:sp>
      <p:sp>
        <p:nvSpPr>
          <p:cNvPr id="38" name="Text 36"/>
          <p:cNvSpPr/>
          <p:nvPr/>
        </p:nvSpPr>
        <p:spPr>
          <a:xfrm>
            <a:off x="6477000" y="4038600"/>
            <a:ext cx="2857500" cy="800100"/>
          </a:xfrm>
          <a:prstGeom prst="rect">
            <a:avLst/>
          </a:prstGeom>
          <a:noFill/>
          <a:ln/>
        </p:spPr>
        <p:txBody>
          <a:bodyPr wrap="square" lIns="0" tIns="0" rIns="0" bIns="0" rtlCol="0" anchor="t">
            <a:normAutofit/>
          </a:bodyPr>
          <a:lstStyle/>
          <a:p>
            <a:pPr marL="0" indent="0" algn="l">
              <a:lnSpc>
                <a:spcPct val="100000"/>
              </a:lnSpc>
              <a:buNone/>
            </a:pPr>
            <a:r>
              <a:rPr lang="en-US" sz="1280" dirty="0">
                <a:solidFill>
                  <a:srgbClr val="5B6B7C"/>
                </a:solidFill>
                <a:latin typeface="Calibri" pitchFamily="34" charset="0"/>
                <a:ea typeface="Calibri" pitchFamily="34" charset="-122"/>
                <a:cs typeface="Calibri" pitchFamily="34" charset="-120"/>
              </a:rPr>
              <a:t>Sequence continuity regresses and timestamps move backwards relative to the active stream.</a:t>
            </a:r>
            <a:endParaRPr lang="en-US" sz="1280" dirty="0"/>
          </a:p>
        </p:txBody>
      </p:sp>
      <p:sp>
        <p:nvSpPr>
          <p:cNvPr id="39" name="Shape 37"/>
          <p:cNvSpPr/>
          <p:nvPr/>
        </p:nvSpPr>
        <p:spPr>
          <a:xfrm>
            <a:off x="9477375" y="4076700"/>
            <a:ext cx="914400" cy="247650"/>
          </a:xfrm>
          <a:prstGeom prst="roundRect">
            <a:avLst>
              <a:gd name="adj" fmla="val 14769"/>
            </a:avLst>
          </a:prstGeom>
          <a:solidFill>
            <a:srgbClr val="F6E4E0"/>
          </a:solidFill>
          <a:ln w="12700">
            <a:solidFill>
              <a:srgbClr val="B3402F"/>
            </a:solidFill>
            <a:prstDash val="solid"/>
          </a:ln>
        </p:spPr>
        <p:txBody>
          <a:bodyPr/>
          <a:lstStyle/>
          <a:p>
            <a:endParaRPr lang="en-IN"/>
          </a:p>
        </p:txBody>
      </p:sp>
      <p:sp>
        <p:nvSpPr>
          <p:cNvPr id="40" name="Text 38"/>
          <p:cNvSpPr/>
          <p:nvPr/>
        </p:nvSpPr>
        <p:spPr>
          <a:xfrm>
            <a:off x="9477375" y="4124325"/>
            <a:ext cx="914400" cy="190500"/>
          </a:xfrm>
          <a:prstGeom prst="rect">
            <a:avLst/>
          </a:prstGeom>
          <a:noFill/>
          <a:ln/>
        </p:spPr>
        <p:txBody>
          <a:bodyPr wrap="square" lIns="0" tIns="0" rIns="0" bIns="0" rtlCol="0" anchor="t">
            <a:normAutofit/>
          </a:bodyPr>
          <a:lstStyle/>
          <a:p>
            <a:pPr marL="0" indent="0" algn="ctr">
              <a:lnSpc>
                <a:spcPct val="100000"/>
              </a:lnSpc>
              <a:buNone/>
            </a:pPr>
            <a:r>
              <a:rPr lang="en-US" sz="1150" b="1" dirty="0">
                <a:solidFill>
                  <a:srgbClr val="B3402F"/>
                </a:solidFill>
                <a:latin typeface="Calibri" pitchFamily="34" charset="0"/>
                <a:ea typeface="Calibri" pitchFamily="34" charset="-122"/>
                <a:cs typeface="Calibri" pitchFamily="34" charset="-120"/>
              </a:rPr>
              <a:t>ATTACK</a:t>
            </a:r>
            <a:endParaRPr lang="en-US" sz="1150" dirty="0"/>
          </a:p>
        </p:txBody>
      </p:sp>
      <p:sp>
        <p:nvSpPr>
          <p:cNvPr id="41" name="Text 39"/>
          <p:cNvSpPr/>
          <p:nvPr/>
        </p:nvSpPr>
        <p:spPr>
          <a:xfrm>
            <a:off x="10525125" y="4057650"/>
            <a:ext cx="1047750" cy="228600"/>
          </a:xfrm>
          <a:prstGeom prst="rect">
            <a:avLst/>
          </a:prstGeom>
          <a:noFill/>
          <a:ln/>
        </p:spPr>
        <p:txBody>
          <a:bodyPr wrap="square" lIns="0" tIns="0" rIns="0" bIns="0" rtlCol="0" anchor="t">
            <a:normAutofit/>
          </a:bodyPr>
          <a:lstStyle/>
          <a:p>
            <a:pPr marL="0" indent="0" algn="l">
              <a:lnSpc>
                <a:spcPct val="100000"/>
              </a:lnSpc>
              <a:buNone/>
            </a:pPr>
            <a:r>
              <a:rPr lang="en-US" sz="1500" b="1" dirty="0">
                <a:solidFill>
                  <a:srgbClr val="1E8E5A"/>
                </a:solidFill>
                <a:latin typeface="Cambria" pitchFamily="34" charset="0"/>
                <a:ea typeface="Cambria" pitchFamily="34" charset="-122"/>
                <a:cs typeface="Cambria" pitchFamily="34" charset="-120"/>
              </a:rPr>
              <a:t>12/12</a:t>
            </a:r>
            <a:endParaRPr lang="en-US" sz="1500" dirty="0"/>
          </a:p>
        </p:txBody>
      </p:sp>
      <p:sp>
        <p:nvSpPr>
          <p:cNvPr id="42" name="Text 40"/>
          <p:cNvSpPr/>
          <p:nvPr/>
        </p:nvSpPr>
        <p:spPr>
          <a:xfrm>
            <a:off x="10525125" y="4286250"/>
            <a:ext cx="1047750" cy="171450"/>
          </a:xfrm>
          <a:prstGeom prst="rect">
            <a:avLst/>
          </a:prstGeom>
          <a:noFill/>
          <a:ln/>
        </p:spPr>
        <p:txBody>
          <a:bodyPr wrap="square" lIns="0" tIns="0" rIns="0" bIns="0" rtlCol="0" anchor="t">
            <a:normAutofit/>
          </a:bodyPr>
          <a:lstStyle/>
          <a:p>
            <a:pPr marL="0" indent="0" algn="l">
              <a:lnSpc>
                <a:spcPct val="100000"/>
              </a:lnSpc>
              <a:buNone/>
            </a:pPr>
            <a:r>
              <a:rPr lang="en-US" sz="1020" dirty="0">
                <a:solidFill>
                  <a:srgbClr val="5B6B7C"/>
                </a:solidFill>
                <a:latin typeface="Calibri" pitchFamily="34" charset="0"/>
                <a:ea typeface="Calibri" pitchFamily="34" charset="-122"/>
                <a:cs typeface="Calibri" pitchFamily="34" charset="-120"/>
              </a:rPr>
              <a:t>correct</a:t>
            </a:r>
            <a:endParaRPr lang="en-US" sz="1020" dirty="0"/>
          </a:p>
        </p:txBody>
      </p:sp>
      <p:sp>
        <p:nvSpPr>
          <p:cNvPr id="43" name="Shape 41"/>
          <p:cNvSpPr/>
          <p:nvPr/>
        </p:nvSpPr>
        <p:spPr>
          <a:xfrm>
            <a:off x="571500" y="4933950"/>
            <a:ext cx="11049000" cy="11430"/>
          </a:xfrm>
          <a:prstGeom prst="rect">
            <a:avLst/>
          </a:prstGeom>
          <a:solidFill>
            <a:srgbClr val="D7E1EA"/>
          </a:solidFill>
          <a:ln/>
        </p:spPr>
        <p:txBody>
          <a:bodyPr/>
          <a:lstStyle/>
          <a:p>
            <a:endParaRPr lang="en-IN"/>
          </a:p>
        </p:txBody>
      </p:sp>
      <p:sp>
        <p:nvSpPr>
          <p:cNvPr id="44" name="Text 42"/>
          <p:cNvSpPr/>
          <p:nvPr/>
        </p:nvSpPr>
        <p:spPr>
          <a:xfrm>
            <a:off x="666750" y="5029200"/>
            <a:ext cx="2381250" cy="209550"/>
          </a:xfrm>
          <a:prstGeom prst="rect">
            <a:avLst/>
          </a:prstGeom>
          <a:noFill/>
          <a:ln/>
        </p:spPr>
        <p:txBody>
          <a:bodyPr wrap="square" lIns="0" tIns="0" rIns="0" bIns="0" rtlCol="0" anchor="t">
            <a:normAutofit/>
          </a:bodyPr>
          <a:lstStyle/>
          <a:p>
            <a:pPr marL="0" indent="0" algn="l">
              <a:lnSpc>
                <a:spcPct val="100000"/>
              </a:lnSpc>
              <a:buNone/>
            </a:pPr>
            <a:r>
              <a:rPr lang="en-US" sz="1550" b="1" dirty="0">
                <a:solidFill>
                  <a:srgbClr val="12263A"/>
                </a:solidFill>
                <a:latin typeface="Cambria" pitchFamily="34" charset="0"/>
                <a:ea typeface="Cambria" pitchFamily="34" charset="-122"/>
                <a:cs typeface="Cambria" pitchFamily="34" charset="-120"/>
              </a:rPr>
              <a:t>A5</a:t>
            </a:r>
            <a:endParaRPr lang="en-US" sz="1550" dirty="0"/>
          </a:p>
        </p:txBody>
      </p:sp>
      <p:sp>
        <p:nvSpPr>
          <p:cNvPr id="45" name="Text 43"/>
          <p:cNvSpPr/>
          <p:nvPr/>
        </p:nvSpPr>
        <p:spPr>
          <a:xfrm>
            <a:off x="666750" y="5238750"/>
            <a:ext cx="2381250" cy="342900"/>
          </a:xfrm>
          <a:prstGeom prst="rect">
            <a:avLst/>
          </a:prstGeom>
          <a:noFill/>
          <a:ln/>
        </p:spPr>
        <p:txBody>
          <a:bodyPr wrap="square" lIns="0" tIns="0" rIns="0" bIns="0" rtlCol="0" anchor="t">
            <a:normAutofit/>
          </a:bodyPr>
          <a:lstStyle/>
          <a:p>
            <a:pPr marL="0" indent="0" algn="l">
              <a:lnSpc>
                <a:spcPct val="100000"/>
              </a:lnSpc>
              <a:buNone/>
            </a:pPr>
            <a:r>
              <a:rPr lang="en-US" sz="1220" dirty="0">
                <a:solidFill>
                  <a:srgbClr val="5B6B7C"/>
                </a:solidFill>
                <a:latin typeface="Calibri" pitchFamily="34" charset="0"/>
                <a:ea typeface="Calibri" pitchFamily="34" charset="-122"/>
                <a:cs typeface="Calibri" pitchFamily="34" charset="-120"/>
              </a:rPr>
              <a:t>DoS / PTP flooding</a:t>
            </a:r>
            <a:endParaRPr lang="en-US" sz="1220" dirty="0"/>
          </a:p>
        </p:txBody>
      </p:sp>
      <p:sp>
        <p:nvSpPr>
          <p:cNvPr id="46" name="Text 44"/>
          <p:cNvSpPr/>
          <p:nvPr/>
        </p:nvSpPr>
        <p:spPr>
          <a:xfrm>
            <a:off x="666750" y="5600700"/>
            <a:ext cx="2381250" cy="171450"/>
          </a:xfrm>
          <a:prstGeom prst="rect">
            <a:avLst/>
          </a:prstGeom>
          <a:noFill/>
          <a:ln/>
        </p:spPr>
        <p:txBody>
          <a:bodyPr wrap="square" lIns="0" tIns="0" rIns="0" bIns="0" rtlCol="0" anchor="t">
            <a:normAutofit/>
          </a:bodyPr>
          <a:lstStyle/>
          <a:p>
            <a:pPr marL="0" indent="0" algn="l">
              <a:lnSpc>
                <a:spcPct val="100000"/>
              </a:lnSpc>
              <a:buNone/>
            </a:pPr>
            <a:r>
              <a:rPr lang="en-US" sz="1020" b="1" dirty="0">
                <a:solidFill>
                  <a:srgbClr val="1C7293"/>
                </a:solidFill>
                <a:latin typeface="Calibri" pitchFamily="34" charset="0"/>
                <a:ea typeface="Calibri" pitchFamily="34" charset="-122"/>
                <a:cs typeface="Calibri" pitchFamily="34" charset="-120"/>
              </a:rPr>
              <a:t>T-SPLANE-01</a:t>
            </a:r>
            <a:endParaRPr lang="en-US" sz="1020" dirty="0"/>
          </a:p>
        </p:txBody>
      </p:sp>
      <p:sp>
        <p:nvSpPr>
          <p:cNvPr id="47" name="Text 45"/>
          <p:cNvSpPr/>
          <p:nvPr/>
        </p:nvSpPr>
        <p:spPr>
          <a:xfrm>
            <a:off x="3143250" y="5029200"/>
            <a:ext cx="3200400" cy="800100"/>
          </a:xfrm>
          <a:prstGeom prst="rect">
            <a:avLst/>
          </a:prstGeom>
          <a:noFill/>
          <a:ln/>
        </p:spPr>
        <p:txBody>
          <a:bodyPr wrap="square" lIns="0" tIns="0" rIns="0" bIns="0" rtlCol="0" anchor="t">
            <a:normAutofit/>
          </a:bodyPr>
          <a:lstStyle/>
          <a:p>
            <a:pPr marL="0" indent="0" algn="l">
              <a:lnSpc>
                <a:spcPct val="100000"/>
              </a:lnSpc>
              <a:buNone/>
            </a:pPr>
            <a:r>
              <a:rPr lang="en-US" sz="1280" dirty="0">
                <a:solidFill>
                  <a:srgbClr val="12263A"/>
                </a:solidFill>
                <a:latin typeface="Calibri" pitchFamily="34" charset="0"/>
                <a:ea typeface="Calibri" pitchFamily="34" charset="-122"/>
                <a:cs typeface="Calibri" pitchFamily="34" charset="-120"/>
              </a:rPr>
              <a:t>High-rate PTP traffic injected on the RU segment in bursts of 300 frames, from a source outside the allow-list.</a:t>
            </a:r>
            <a:endParaRPr lang="en-US" sz="1280" dirty="0"/>
          </a:p>
        </p:txBody>
      </p:sp>
      <p:sp>
        <p:nvSpPr>
          <p:cNvPr id="48" name="Text 46"/>
          <p:cNvSpPr/>
          <p:nvPr/>
        </p:nvSpPr>
        <p:spPr>
          <a:xfrm>
            <a:off x="6477000" y="5029200"/>
            <a:ext cx="2857500" cy="800100"/>
          </a:xfrm>
          <a:prstGeom prst="rect">
            <a:avLst/>
          </a:prstGeom>
          <a:noFill/>
          <a:ln/>
        </p:spPr>
        <p:txBody>
          <a:bodyPr wrap="square" lIns="0" tIns="0" rIns="0" bIns="0" rtlCol="0" anchor="t">
            <a:normAutofit/>
          </a:bodyPr>
          <a:lstStyle/>
          <a:p>
            <a:pPr marL="0" indent="0" algn="l">
              <a:lnSpc>
                <a:spcPct val="100000"/>
              </a:lnSpc>
              <a:buNone/>
            </a:pPr>
            <a:r>
              <a:rPr lang="en-US" sz="1280" dirty="0">
                <a:solidFill>
                  <a:srgbClr val="5B6B7C"/>
                </a:solidFill>
                <a:latin typeface="Calibri" pitchFamily="34" charset="0"/>
                <a:ea typeface="Calibri" pitchFamily="34" charset="-122"/>
                <a:cs typeface="Calibri" pitchFamily="34" charset="-120"/>
              </a:rPr>
              <a:t>Message rate far exceeds the profile cadence; record volume rises to roughly 38,000 per run against a baseline of 6,000.</a:t>
            </a:r>
            <a:endParaRPr lang="en-US" sz="1280" dirty="0"/>
          </a:p>
        </p:txBody>
      </p:sp>
      <p:sp>
        <p:nvSpPr>
          <p:cNvPr id="49" name="Shape 47"/>
          <p:cNvSpPr/>
          <p:nvPr/>
        </p:nvSpPr>
        <p:spPr>
          <a:xfrm>
            <a:off x="9477375" y="5067300"/>
            <a:ext cx="914400" cy="247650"/>
          </a:xfrm>
          <a:prstGeom prst="roundRect">
            <a:avLst>
              <a:gd name="adj" fmla="val 14769"/>
            </a:avLst>
          </a:prstGeom>
          <a:solidFill>
            <a:srgbClr val="F6E4E0"/>
          </a:solidFill>
          <a:ln w="12700">
            <a:solidFill>
              <a:srgbClr val="B3402F"/>
            </a:solidFill>
            <a:prstDash val="solid"/>
          </a:ln>
        </p:spPr>
        <p:txBody>
          <a:bodyPr/>
          <a:lstStyle/>
          <a:p>
            <a:endParaRPr lang="en-IN"/>
          </a:p>
        </p:txBody>
      </p:sp>
      <p:sp>
        <p:nvSpPr>
          <p:cNvPr id="50" name="Text 48"/>
          <p:cNvSpPr/>
          <p:nvPr/>
        </p:nvSpPr>
        <p:spPr>
          <a:xfrm>
            <a:off x="9477375" y="5114925"/>
            <a:ext cx="914400" cy="190500"/>
          </a:xfrm>
          <a:prstGeom prst="rect">
            <a:avLst/>
          </a:prstGeom>
          <a:noFill/>
          <a:ln/>
        </p:spPr>
        <p:txBody>
          <a:bodyPr wrap="square" lIns="0" tIns="0" rIns="0" bIns="0" rtlCol="0" anchor="t">
            <a:normAutofit/>
          </a:bodyPr>
          <a:lstStyle/>
          <a:p>
            <a:pPr marL="0" indent="0" algn="ctr">
              <a:lnSpc>
                <a:spcPct val="100000"/>
              </a:lnSpc>
              <a:buNone/>
            </a:pPr>
            <a:r>
              <a:rPr lang="en-US" sz="1150" b="1" dirty="0">
                <a:solidFill>
                  <a:srgbClr val="B3402F"/>
                </a:solidFill>
                <a:latin typeface="Calibri" pitchFamily="34" charset="0"/>
                <a:ea typeface="Calibri" pitchFamily="34" charset="-122"/>
                <a:cs typeface="Calibri" pitchFamily="34" charset="-120"/>
              </a:rPr>
              <a:t>ATTACK</a:t>
            </a:r>
            <a:endParaRPr lang="en-US" sz="1150" dirty="0"/>
          </a:p>
        </p:txBody>
      </p:sp>
      <p:sp>
        <p:nvSpPr>
          <p:cNvPr id="51" name="Text 49"/>
          <p:cNvSpPr/>
          <p:nvPr/>
        </p:nvSpPr>
        <p:spPr>
          <a:xfrm>
            <a:off x="10525125" y="5048250"/>
            <a:ext cx="1047750" cy="228600"/>
          </a:xfrm>
          <a:prstGeom prst="rect">
            <a:avLst/>
          </a:prstGeom>
          <a:noFill/>
          <a:ln/>
        </p:spPr>
        <p:txBody>
          <a:bodyPr wrap="square" lIns="0" tIns="0" rIns="0" bIns="0" rtlCol="0" anchor="t">
            <a:normAutofit/>
          </a:bodyPr>
          <a:lstStyle/>
          <a:p>
            <a:pPr marL="0" indent="0" algn="l">
              <a:lnSpc>
                <a:spcPct val="100000"/>
              </a:lnSpc>
              <a:buNone/>
            </a:pPr>
            <a:r>
              <a:rPr lang="en-US" sz="1500" b="1" dirty="0">
                <a:solidFill>
                  <a:srgbClr val="1E8E5A"/>
                </a:solidFill>
                <a:latin typeface="Cambria" pitchFamily="34" charset="0"/>
                <a:ea typeface="Cambria" pitchFamily="34" charset="-122"/>
                <a:cs typeface="Cambria" pitchFamily="34" charset="-120"/>
              </a:rPr>
              <a:t>12/12</a:t>
            </a:r>
            <a:endParaRPr lang="en-US" sz="1500" dirty="0"/>
          </a:p>
        </p:txBody>
      </p:sp>
      <p:sp>
        <p:nvSpPr>
          <p:cNvPr id="52" name="Text 50"/>
          <p:cNvSpPr/>
          <p:nvPr/>
        </p:nvSpPr>
        <p:spPr>
          <a:xfrm>
            <a:off x="10525125" y="5276850"/>
            <a:ext cx="1047750" cy="171450"/>
          </a:xfrm>
          <a:prstGeom prst="rect">
            <a:avLst/>
          </a:prstGeom>
          <a:noFill/>
          <a:ln/>
        </p:spPr>
        <p:txBody>
          <a:bodyPr wrap="square" lIns="0" tIns="0" rIns="0" bIns="0" rtlCol="0" anchor="t">
            <a:normAutofit/>
          </a:bodyPr>
          <a:lstStyle/>
          <a:p>
            <a:pPr marL="0" indent="0" algn="l">
              <a:lnSpc>
                <a:spcPct val="100000"/>
              </a:lnSpc>
              <a:buNone/>
            </a:pPr>
            <a:r>
              <a:rPr lang="en-US" sz="1020" dirty="0">
                <a:solidFill>
                  <a:srgbClr val="5B6B7C"/>
                </a:solidFill>
                <a:latin typeface="Calibri" pitchFamily="34" charset="0"/>
                <a:ea typeface="Calibri" pitchFamily="34" charset="-122"/>
                <a:cs typeface="Calibri" pitchFamily="34" charset="-120"/>
              </a:rPr>
              <a:t>correct</a:t>
            </a:r>
            <a:endParaRPr lang="en-US" sz="1020" dirty="0"/>
          </a:p>
        </p:txBody>
      </p:sp>
      <p:sp>
        <p:nvSpPr>
          <p:cNvPr id="53" name="Shape 51"/>
          <p:cNvSpPr/>
          <p:nvPr/>
        </p:nvSpPr>
        <p:spPr>
          <a:xfrm>
            <a:off x="571500" y="5924550"/>
            <a:ext cx="11049000" cy="11430"/>
          </a:xfrm>
          <a:prstGeom prst="rect">
            <a:avLst/>
          </a:prstGeom>
          <a:solidFill>
            <a:srgbClr val="D7E1EA"/>
          </a:solidFill>
          <a:ln/>
        </p:spPr>
        <p:txBody>
          <a:bodyPr/>
          <a:lstStyle/>
          <a:p>
            <a:endParaRPr lang="en-IN"/>
          </a:p>
        </p:txBody>
      </p:sp>
      <p:sp>
        <p:nvSpPr>
          <p:cNvPr id="54" name="Shape 52"/>
          <p:cNvSpPr/>
          <p:nvPr/>
        </p:nvSpPr>
        <p:spPr>
          <a:xfrm>
            <a:off x="571500" y="6057900"/>
            <a:ext cx="11049000" cy="514350"/>
          </a:xfrm>
          <a:prstGeom prst="roundRect">
            <a:avLst>
              <a:gd name="adj" fmla="val 7111"/>
            </a:avLst>
          </a:prstGeom>
          <a:solidFill>
            <a:srgbClr val="DDF5EF"/>
          </a:solidFill>
          <a:ln w="12700">
            <a:solidFill>
              <a:srgbClr val="18B89A"/>
            </a:solidFill>
            <a:prstDash val="solid"/>
          </a:ln>
        </p:spPr>
        <p:txBody>
          <a:bodyPr/>
          <a:lstStyle/>
          <a:p>
            <a:endParaRPr lang="en-IN"/>
          </a:p>
        </p:txBody>
      </p:sp>
      <p:sp>
        <p:nvSpPr>
          <p:cNvPr id="55" name="Text 53"/>
          <p:cNvSpPr/>
          <p:nvPr/>
        </p:nvSpPr>
        <p:spPr>
          <a:xfrm>
            <a:off x="781050" y="6181725"/>
            <a:ext cx="10629900" cy="285750"/>
          </a:xfrm>
          <a:prstGeom prst="rect">
            <a:avLst/>
          </a:prstGeom>
          <a:noFill/>
          <a:ln/>
        </p:spPr>
        <p:txBody>
          <a:bodyPr wrap="square" lIns="0" tIns="0" rIns="0" bIns="0" rtlCol="0" anchor="t">
            <a:normAutofit/>
          </a:bodyPr>
          <a:lstStyle/>
          <a:p>
            <a:pPr marL="0" indent="0" algn="l">
              <a:lnSpc>
                <a:spcPct val="100000"/>
              </a:lnSpc>
              <a:buNone/>
            </a:pPr>
            <a:r>
              <a:rPr lang="en-US" sz="1300" b="1" dirty="0">
                <a:solidFill>
                  <a:srgbClr val="0B5547"/>
                </a:solidFill>
                <a:latin typeface="Cambria" pitchFamily="34" charset="0"/>
                <a:ea typeface="Cambria" pitchFamily="34" charset="-122"/>
                <a:cs typeface="Cambria" pitchFamily="34" charset="-120"/>
              </a:rPr>
              <a:t>All four scenarios were detected by the pre-frozen base rule at 12/12, before any rule revision. Detection rests on protocol legality and allow-list membership, not on the magnitude of the timing error produced.</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8FAFC"/>
          </a:solidFill>
          <a:ln/>
        </p:spPr>
        <p:txBody>
          <a:bodyPr/>
          <a:lstStyle/>
          <a:p>
            <a:endParaRPr lang="en-IN"/>
          </a:p>
        </p:txBody>
      </p:sp>
      <p:sp>
        <p:nvSpPr>
          <p:cNvPr id="3" name="Shape 1"/>
          <p:cNvSpPr/>
          <p:nvPr/>
        </p:nvSpPr>
        <p:spPr>
          <a:xfrm>
            <a:off x="0" y="0"/>
            <a:ext cx="12192000" cy="114300"/>
          </a:xfrm>
          <a:prstGeom prst="rect">
            <a:avLst/>
          </a:prstGeom>
          <a:solidFill>
            <a:srgbClr val="18B89A"/>
          </a:solidFill>
          <a:ln/>
        </p:spPr>
        <p:txBody>
          <a:bodyPr/>
          <a:lstStyle/>
          <a:p>
            <a:endParaRPr lang="en-IN"/>
          </a:p>
        </p:txBody>
      </p:sp>
      <p:sp>
        <p:nvSpPr>
          <p:cNvPr id="4" name="Text 2"/>
          <p:cNvSpPr/>
          <p:nvPr/>
        </p:nvSpPr>
        <p:spPr>
          <a:xfrm>
            <a:off x="571500" y="209550"/>
            <a:ext cx="11049000" cy="228600"/>
          </a:xfrm>
          <a:prstGeom prst="rect">
            <a:avLst/>
          </a:prstGeom>
          <a:noFill/>
          <a:ln/>
        </p:spPr>
        <p:txBody>
          <a:bodyPr wrap="square" lIns="0" tIns="0" rIns="0" bIns="0" rtlCol="0" anchor="t">
            <a:normAutofit/>
          </a:bodyPr>
          <a:lstStyle/>
          <a:p>
            <a:pPr marL="0" indent="0" algn="l">
              <a:lnSpc>
                <a:spcPct val="100000"/>
              </a:lnSpc>
              <a:buNone/>
            </a:pPr>
            <a:r>
              <a:rPr lang="en-US" sz="1280" b="1" dirty="0">
                <a:solidFill>
                  <a:srgbClr val="1C7293"/>
                </a:solidFill>
                <a:latin typeface="Calibri" pitchFamily="34" charset="0"/>
                <a:ea typeface="Calibri" pitchFamily="34" charset="-122"/>
                <a:cs typeface="Calibri" pitchFamily="34" charset="-120"/>
              </a:rPr>
              <a:t>FAULT TAXONOMY · ATTACK SCENARIOS 2 OF 2</a:t>
            </a:r>
            <a:endParaRPr lang="en-US" sz="1280" dirty="0"/>
          </a:p>
        </p:txBody>
      </p:sp>
      <p:sp>
        <p:nvSpPr>
          <p:cNvPr id="5" name="Text 3"/>
          <p:cNvSpPr/>
          <p:nvPr/>
        </p:nvSpPr>
        <p:spPr>
          <a:xfrm>
            <a:off x="571500" y="447675"/>
            <a:ext cx="11049000" cy="552450"/>
          </a:xfrm>
          <a:prstGeom prst="rect">
            <a:avLst/>
          </a:prstGeom>
          <a:noFill/>
          <a:ln/>
        </p:spPr>
        <p:txBody>
          <a:bodyPr wrap="square" lIns="0" tIns="0" rIns="0" bIns="0" rtlCol="0" anchor="t">
            <a:normAutofit/>
          </a:bodyPr>
          <a:lstStyle/>
          <a:p>
            <a:pPr marL="0" indent="0" algn="l">
              <a:lnSpc>
                <a:spcPct val="100000"/>
              </a:lnSpc>
              <a:buNone/>
            </a:pPr>
            <a:r>
              <a:rPr lang="en-US" sz="2900" b="1" dirty="0">
                <a:solidFill>
                  <a:srgbClr val="12263A"/>
                </a:solidFill>
                <a:latin typeface="Cambria" pitchFamily="34" charset="0"/>
                <a:ea typeface="Cambria" pitchFamily="34" charset="-122"/>
                <a:cs typeface="Cambria" pitchFamily="34" charset="-120"/>
              </a:rPr>
              <a:t>Attack Scenarios: Relay, Interception and Field Abuse</a:t>
            </a:r>
            <a:endParaRPr lang="en-US" sz="2900" dirty="0"/>
          </a:p>
        </p:txBody>
      </p:sp>
      <p:sp>
        <p:nvSpPr>
          <p:cNvPr id="6" name="Shape 4"/>
          <p:cNvSpPr/>
          <p:nvPr/>
        </p:nvSpPr>
        <p:spPr>
          <a:xfrm>
            <a:off x="571500" y="1057275"/>
            <a:ext cx="11049000" cy="438150"/>
          </a:xfrm>
          <a:prstGeom prst="roundRect">
            <a:avLst>
              <a:gd name="adj" fmla="val 8348"/>
            </a:avLst>
          </a:prstGeom>
          <a:solidFill>
            <a:srgbClr val="EAF2F8"/>
          </a:solidFill>
          <a:ln w="12700">
            <a:solidFill>
              <a:srgbClr val="D7E1EA"/>
            </a:solidFill>
            <a:prstDash val="solid"/>
          </a:ln>
        </p:spPr>
        <p:txBody>
          <a:bodyPr/>
          <a:lstStyle/>
          <a:p>
            <a:endParaRPr lang="en-IN"/>
          </a:p>
        </p:txBody>
      </p:sp>
      <p:sp>
        <p:nvSpPr>
          <p:cNvPr id="7" name="Text 5"/>
          <p:cNvSpPr/>
          <p:nvPr/>
        </p:nvSpPr>
        <p:spPr>
          <a:xfrm>
            <a:off x="723900" y="1123950"/>
            <a:ext cx="10744200" cy="323850"/>
          </a:xfrm>
          <a:prstGeom prst="rect">
            <a:avLst/>
          </a:prstGeom>
          <a:noFill/>
          <a:ln/>
        </p:spPr>
        <p:txBody>
          <a:bodyPr wrap="square" lIns="0" tIns="0" rIns="0" bIns="0" rtlCol="0" anchor="t">
            <a:normAutofit/>
          </a:bodyPr>
          <a:lstStyle/>
          <a:p>
            <a:pPr marL="0" indent="0" algn="l">
              <a:lnSpc>
                <a:spcPct val="102000"/>
              </a:lnSpc>
              <a:buNone/>
            </a:pPr>
            <a:r>
              <a:rPr lang="en-US" sz="1120" dirty="0">
                <a:solidFill>
                  <a:srgbClr val="5B6B7C"/>
                </a:solidFill>
                <a:latin typeface="Calibri" pitchFamily="34" charset="0"/>
                <a:ea typeface="Calibri" pitchFamily="34" charset="-122"/>
                <a:cs typeface="Calibri" pitchFamily="34" charset="-120"/>
              </a:rPr>
              <a:t>O-RAN WG11 security test identifiers 11.1.5.3.1 and 24.2.1.2 (ETSI TS 104 105)  |  IEEE 1588-2019 stepsRemoved, timePropertiesDS §8.2.4 and leap-second handling §9.4  |  ETSI TR 104 106 V3.0.0</a:t>
            </a:r>
            <a:endParaRPr lang="en-US" sz="1120" dirty="0"/>
          </a:p>
        </p:txBody>
      </p:sp>
      <p:sp>
        <p:nvSpPr>
          <p:cNvPr id="8" name="Text 6"/>
          <p:cNvSpPr/>
          <p:nvPr/>
        </p:nvSpPr>
        <p:spPr>
          <a:xfrm>
            <a:off x="666750" y="1676400"/>
            <a:ext cx="2381250" cy="22860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1C7293"/>
                </a:solidFill>
                <a:latin typeface="Calibri" pitchFamily="34" charset="0"/>
                <a:ea typeface="Calibri" pitchFamily="34" charset="-122"/>
                <a:cs typeface="Calibri" pitchFamily="34" charset="-120"/>
              </a:rPr>
              <a:t>SCENARIO</a:t>
            </a:r>
            <a:endParaRPr lang="en-US" sz="1200" dirty="0"/>
          </a:p>
        </p:txBody>
      </p:sp>
      <p:sp>
        <p:nvSpPr>
          <p:cNvPr id="9" name="Text 7"/>
          <p:cNvSpPr/>
          <p:nvPr/>
        </p:nvSpPr>
        <p:spPr>
          <a:xfrm>
            <a:off x="3143250" y="1676400"/>
            <a:ext cx="3143250" cy="22860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1C7293"/>
                </a:solidFill>
                <a:latin typeface="Calibri" pitchFamily="34" charset="0"/>
                <a:ea typeface="Calibri" pitchFamily="34" charset="-122"/>
                <a:cs typeface="Calibri" pitchFamily="34" charset="-120"/>
              </a:rPr>
              <a:t>INJECTED CONDITION</a:t>
            </a:r>
            <a:endParaRPr lang="en-US" sz="1200" dirty="0"/>
          </a:p>
        </p:txBody>
      </p:sp>
      <p:sp>
        <p:nvSpPr>
          <p:cNvPr id="10" name="Text 8"/>
          <p:cNvSpPr/>
          <p:nvPr/>
        </p:nvSpPr>
        <p:spPr>
          <a:xfrm>
            <a:off x="6477000" y="1676400"/>
            <a:ext cx="2857500" cy="22860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1C7293"/>
                </a:solidFill>
                <a:latin typeface="Calibri" pitchFamily="34" charset="0"/>
                <a:ea typeface="Calibri" pitchFamily="34" charset="-122"/>
                <a:cs typeface="Calibri" pitchFamily="34" charset="-120"/>
              </a:rPr>
              <a:t>OBSERVABLE EFFECT</a:t>
            </a:r>
            <a:endParaRPr lang="en-US" sz="1200" dirty="0"/>
          </a:p>
        </p:txBody>
      </p:sp>
      <p:sp>
        <p:nvSpPr>
          <p:cNvPr id="11" name="Text 9"/>
          <p:cNvSpPr/>
          <p:nvPr/>
        </p:nvSpPr>
        <p:spPr>
          <a:xfrm>
            <a:off x="9477375" y="1676400"/>
            <a:ext cx="1047750" cy="22860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1C7293"/>
                </a:solidFill>
                <a:latin typeface="Calibri" pitchFamily="34" charset="0"/>
                <a:ea typeface="Calibri" pitchFamily="34" charset="-122"/>
                <a:cs typeface="Calibri" pitchFamily="34" charset="-120"/>
              </a:rPr>
              <a:t>EXPECTED</a:t>
            </a:r>
            <a:endParaRPr lang="en-US" sz="1200" dirty="0"/>
          </a:p>
        </p:txBody>
      </p:sp>
      <p:sp>
        <p:nvSpPr>
          <p:cNvPr id="12" name="Text 10"/>
          <p:cNvSpPr/>
          <p:nvPr/>
        </p:nvSpPr>
        <p:spPr>
          <a:xfrm>
            <a:off x="10525125" y="1676400"/>
            <a:ext cx="1047750" cy="22860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1C7293"/>
                </a:solidFill>
                <a:latin typeface="Calibri" pitchFamily="34" charset="0"/>
                <a:ea typeface="Calibri" pitchFamily="34" charset="-122"/>
                <a:cs typeface="Calibri" pitchFamily="34" charset="-120"/>
              </a:rPr>
              <a:t>RESULT</a:t>
            </a:r>
            <a:endParaRPr lang="en-US" sz="1200" dirty="0"/>
          </a:p>
        </p:txBody>
      </p:sp>
      <p:sp>
        <p:nvSpPr>
          <p:cNvPr id="13" name="Shape 11"/>
          <p:cNvSpPr/>
          <p:nvPr/>
        </p:nvSpPr>
        <p:spPr>
          <a:xfrm>
            <a:off x="571500" y="1933575"/>
            <a:ext cx="11049000" cy="11430"/>
          </a:xfrm>
          <a:prstGeom prst="rect">
            <a:avLst/>
          </a:prstGeom>
          <a:solidFill>
            <a:srgbClr val="D7E1EA"/>
          </a:solidFill>
          <a:ln/>
        </p:spPr>
        <p:txBody>
          <a:bodyPr/>
          <a:lstStyle/>
          <a:p>
            <a:endParaRPr lang="en-IN"/>
          </a:p>
        </p:txBody>
      </p:sp>
      <p:sp>
        <p:nvSpPr>
          <p:cNvPr id="14" name="Text 12"/>
          <p:cNvSpPr/>
          <p:nvPr/>
        </p:nvSpPr>
        <p:spPr>
          <a:xfrm>
            <a:off x="666750" y="2057400"/>
            <a:ext cx="2381250" cy="209550"/>
          </a:xfrm>
          <a:prstGeom prst="rect">
            <a:avLst/>
          </a:prstGeom>
          <a:noFill/>
          <a:ln/>
        </p:spPr>
        <p:txBody>
          <a:bodyPr wrap="square" lIns="0" tIns="0" rIns="0" bIns="0" rtlCol="0" anchor="t">
            <a:normAutofit/>
          </a:bodyPr>
          <a:lstStyle/>
          <a:p>
            <a:pPr marL="0" indent="0" algn="l">
              <a:lnSpc>
                <a:spcPct val="100000"/>
              </a:lnSpc>
              <a:buNone/>
            </a:pPr>
            <a:r>
              <a:rPr lang="en-US" sz="1550" b="1" dirty="0">
                <a:solidFill>
                  <a:srgbClr val="12263A"/>
                </a:solidFill>
                <a:latin typeface="Cambria" pitchFamily="34" charset="0"/>
                <a:ea typeface="Cambria" pitchFamily="34" charset="-122"/>
                <a:cs typeface="Cambria" pitchFamily="34" charset="-120"/>
              </a:rPr>
              <a:t>A8</a:t>
            </a:r>
            <a:endParaRPr lang="en-US" sz="1550" dirty="0"/>
          </a:p>
        </p:txBody>
      </p:sp>
      <p:sp>
        <p:nvSpPr>
          <p:cNvPr id="15" name="Text 13"/>
          <p:cNvSpPr/>
          <p:nvPr/>
        </p:nvSpPr>
        <p:spPr>
          <a:xfrm>
            <a:off x="666750" y="2266950"/>
            <a:ext cx="2381250" cy="342900"/>
          </a:xfrm>
          <a:prstGeom prst="rect">
            <a:avLst/>
          </a:prstGeom>
          <a:noFill/>
          <a:ln/>
        </p:spPr>
        <p:txBody>
          <a:bodyPr wrap="square" lIns="0" tIns="0" rIns="0" bIns="0" rtlCol="0" anchor="t">
            <a:normAutofit/>
          </a:bodyPr>
          <a:lstStyle/>
          <a:p>
            <a:pPr marL="0" indent="0" algn="l">
              <a:lnSpc>
                <a:spcPct val="100000"/>
              </a:lnSpc>
              <a:buNone/>
            </a:pPr>
            <a:r>
              <a:rPr lang="en-US" sz="1220" dirty="0">
                <a:solidFill>
                  <a:srgbClr val="5B6B7C"/>
                </a:solidFill>
                <a:latin typeface="Calibri" pitchFamily="34" charset="0"/>
                <a:ea typeface="Calibri" pitchFamily="34" charset="-122"/>
                <a:cs typeface="Calibri" pitchFamily="34" charset="-120"/>
              </a:rPr>
              <a:t>Rogue boundary clock</a:t>
            </a:r>
            <a:endParaRPr lang="en-US" sz="1220" dirty="0"/>
          </a:p>
        </p:txBody>
      </p:sp>
      <p:sp>
        <p:nvSpPr>
          <p:cNvPr id="16" name="Text 14"/>
          <p:cNvSpPr/>
          <p:nvPr/>
        </p:nvSpPr>
        <p:spPr>
          <a:xfrm>
            <a:off x="666750" y="2628900"/>
            <a:ext cx="2381250" cy="171450"/>
          </a:xfrm>
          <a:prstGeom prst="rect">
            <a:avLst/>
          </a:prstGeom>
          <a:noFill/>
          <a:ln/>
        </p:spPr>
        <p:txBody>
          <a:bodyPr wrap="square" lIns="0" tIns="0" rIns="0" bIns="0" rtlCol="0" anchor="t">
            <a:normAutofit/>
          </a:bodyPr>
          <a:lstStyle/>
          <a:p>
            <a:pPr marL="0" indent="0" algn="l">
              <a:lnSpc>
                <a:spcPct val="100000"/>
              </a:lnSpc>
              <a:buNone/>
            </a:pPr>
            <a:r>
              <a:rPr lang="en-US" sz="1020" b="1" dirty="0">
                <a:solidFill>
                  <a:srgbClr val="1C7293"/>
                </a:solidFill>
                <a:latin typeface="Calibri" pitchFamily="34" charset="0"/>
                <a:ea typeface="Calibri" pitchFamily="34" charset="-122"/>
                <a:cs typeface="Calibri" pitchFamily="34" charset="-120"/>
              </a:rPr>
              <a:t>T-SPLANE-03</a:t>
            </a:r>
            <a:endParaRPr lang="en-US" sz="1020" dirty="0"/>
          </a:p>
        </p:txBody>
      </p:sp>
      <p:sp>
        <p:nvSpPr>
          <p:cNvPr id="17" name="Text 15"/>
          <p:cNvSpPr/>
          <p:nvPr/>
        </p:nvSpPr>
        <p:spPr>
          <a:xfrm>
            <a:off x="3143250" y="2057400"/>
            <a:ext cx="3200400" cy="800100"/>
          </a:xfrm>
          <a:prstGeom prst="rect">
            <a:avLst/>
          </a:prstGeom>
          <a:noFill/>
          <a:ln/>
        </p:spPr>
        <p:txBody>
          <a:bodyPr wrap="square" lIns="0" tIns="0" rIns="0" bIns="0" rtlCol="0" anchor="t">
            <a:normAutofit/>
          </a:bodyPr>
          <a:lstStyle/>
          <a:p>
            <a:pPr marL="0" indent="0" algn="l">
              <a:lnSpc>
                <a:spcPct val="100000"/>
              </a:lnSpc>
              <a:buNone/>
            </a:pPr>
            <a:r>
              <a:rPr lang="en-US" sz="1280" dirty="0">
                <a:solidFill>
                  <a:srgbClr val="12263A"/>
                </a:solidFill>
                <a:latin typeface="Calibri" pitchFamily="34" charset="0"/>
                <a:ea typeface="Calibri" pitchFamily="34" charset="-122"/>
                <a:cs typeface="Calibri" pitchFamily="34" charset="-120"/>
              </a:rPr>
              <a:t>A two-port ptp4l instance slaves to the legitimate grandmaster upstream and re-advertises downstream with stepsRemoved incremented.</a:t>
            </a:r>
            <a:endParaRPr lang="en-US" sz="1280" dirty="0"/>
          </a:p>
        </p:txBody>
      </p:sp>
      <p:sp>
        <p:nvSpPr>
          <p:cNvPr id="18" name="Text 16"/>
          <p:cNvSpPr/>
          <p:nvPr/>
        </p:nvSpPr>
        <p:spPr>
          <a:xfrm>
            <a:off x="6477000" y="2057400"/>
            <a:ext cx="2857500" cy="800100"/>
          </a:xfrm>
          <a:prstGeom prst="rect">
            <a:avLst/>
          </a:prstGeom>
          <a:noFill/>
          <a:ln/>
        </p:spPr>
        <p:txBody>
          <a:bodyPr wrap="square" lIns="0" tIns="0" rIns="0" bIns="0" rtlCol="0" anchor="t">
            <a:normAutofit/>
          </a:bodyPr>
          <a:lstStyle/>
          <a:p>
            <a:pPr marL="0" indent="0" algn="l">
              <a:lnSpc>
                <a:spcPct val="100000"/>
              </a:lnSpc>
              <a:buNone/>
            </a:pPr>
            <a:r>
              <a:rPr lang="en-US" sz="1280" dirty="0">
                <a:solidFill>
                  <a:srgbClr val="5B6B7C"/>
                </a:solidFill>
                <a:latin typeface="Calibri" pitchFamily="34" charset="0"/>
                <a:ea typeface="Calibri" pitchFamily="34" charset="-122"/>
                <a:cs typeface="Calibri" pitchFamily="34" charset="-120"/>
              </a:rPr>
              <a:t>An unauthorised clock is inserted into the timing path while still relaying genuine time, so content alone appears valid.</a:t>
            </a:r>
            <a:endParaRPr lang="en-US" sz="1280" dirty="0"/>
          </a:p>
        </p:txBody>
      </p:sp>
      <p:sp>
        <p:nvSpPr>
          <p:cNvPr id="19" name="Shape 17"/>
          <p:cNvSpPr/>
          <p:nvPr/>
        </p:nvSpPr>
        <p:spPr>
          <a:xfrm>
            <a:off x="9477375" y="2095500"/>
            <a:ext cx="914400" cy="247650"/>
          </a:xfrm>
          <a:prstGeom prst="roundRect">
            <a:avLst>
              <a:gd name="adj" fmla="val 14769"/>
            </a:avLst>
          </a:prstGeom>
          <a:solidFill>
            <a:srgbClr val="F6E4E0"/>
          </a:solidFill>
          <a:ln w="12700">
            <a:solidFill>
              <a:srgbClr val="B3402F"/>
            </a:solidFill>
            <a:prstDash val="solid"/>
          </a:ln>
        </p:spPr>
        <p:txBody>
          <a:bodyPr/>
          <a:lstStyle/>
          <a:p>
            <a:endParaRPr lang="en-IN"/>
          </a:p>
        </p:txBody>
      </p:sp>
      <p:sp>
        <p:nvSpPr>
          <p:cNvPr id="20" name="Text 18"/>
          <p:cNvSpPr/>
          <p:nvPr/>
        </p:nvSpPr>
        <p:spPr>
          <a:xfrm>
            <a:off x="9477375" y="2143125"/>
            <a:ext cx="914400" cy="190500"/>
          </a:xfrm>
          <a:prstGeom prst="rect">
            <a:avLst/>
          </a:prstGeom>
          <a:noFill/>
          <a:ln/>
        </p:spPr>
        <p:txBody>
          <a:bodyPr wrap="square" lIns="0" tIns="0" rIns="0" bIns="0" rtlCol="0" anchor="t">
            <a:normAutofit/>
          </a:bodyPr>
          <a:lstStyle/>
          <a:p>
            <a:pPr marL="0" indent="0" algn="ctr">
              <a:lnSpc>
                <a:spcPct val="100000"/>
              </a:lnSpc>
              <a:buNone/>
            </a:pPr>
            <a:r>
              <a:rPr lang="en-US" sz="1150" b="1" dirty="0">
                <a:solidFill>
                  <a:srgbClr val="B3402F"/>
                </a:solidFill>
                <a:latin typeface="Calibri" pitchFamily="34" charset="0"/>
                <a:ea typeface="Calibri" pitchFamily="34" charset="-122"/>
                <a:cs typeface="Calibri" pitchFamily="34" charset="-120"/>
              </a:rPr>
              <a:t>ATTACK</a:t>
            </a:r>
            <a:endParaRPr lang="en-US" sz="1150" dirty="0"/>
          </a:p>
        </p:txBody>
      </p:sp>
      <p:sp>
        <p:nvSpPr>
          <p:cNvPr id="21" name="Text 19"/>
          <p:cNvSpPr/>
          <p:nvPr/>
        </p:nvSpPr>
        <p:spPr>
          <a:xfrm>
            <a:off x="10525125" y="2076450"/>
            <a:ext cx="1047750" cy="228600"/>
          </a:xfrm>
          <a:prstGeom prst="rect">
            <a:avLst/>
          </a:prstGeom>
          <a:noFill/>
          <a:ln/>
        </p:spPr>
        <p:txBody>
          <a:bodyPr wrap="square" lIns="0" tIns="0" rIns="0" bIns="0" rtlCol="0" anchor="t">
            <a:normAutofit/>
          </a:bodyPr>
          <a:lstStyle/>
          <a:p>
            <a:pPr marL="0" indent="0" algn="l">
              <a:lnSpc>
                <a:spcPct val="100000"/>
              </a:lnSpc>
              <a:buNone/>
            </a:pPr>
            <a:r>
              <a:rPr lang="en-US" sz="1500" b="1" dirty="0">
                <a:solidFill>
                  <a:srgbClr val="1E8E5A"/>
                </a:solidFill>
                <a:latin typeface="Cambria" pitchFamily="34" charset="0"/>
                <a:ea typeface="Cambria" pitchFamily="34" charset="-122"/>
                <a:cs typeface="Cambria" pitchFamily="34" charset="-120"/>
              </a:rPr>
              <a:t>12/12</a:t>
            </a:r>
            <a:endParaRPr lang="en-US" sz="1500" dirty="0"/>
          </a:p>
        </p:txBody>
      </p:sp>
      <p:sp>
        <p:nvSpPr>
          <p:cNvPr id="22" name="Text 20"/>
          <p:cNvSpPr/>
          <p:nvPr/>
        </p:nvSpPr>
        <p:spPr>
          <a:xfrm>
            <a:off x="10525125" y="2305050"/>
            <a:ext cx="1047750" cy="171450"/>
          </a:xfrm>
          <a:prstGeom prst="rect">
            <a:avLst/>
          </a:prstGeom>
          <a:noFill/>
          <a:ln/>
        </p:spPr>
        <p:txBody>
          <a:bodyPr wrap="square" lIns="0" tIns="0" rIns="0" bIns="0" rtlCol="0" anchor="t">
            <a:normAutofit/>
          </a:bodyPr>
          <a:lstStyle/>
          <a:p>
            <a:pPr marL="0" indent="0" algn="l">
              <a:lnSpc>
                <a:spcPct val="100000"/>
              </a:lnSpc>
              <a:buNone/>
            </a:pPr>
            <a:r>
              <a:rPr lang="en-US" sz="1020" dirty="0">
                <a:solidFill>
                  <a:srgbClr val="5B6B7C"/>
                </a:solidFill>
                <a:latin typeface="Calibri" pitchFamily="34" charset="0"/>
                <a:ea typeface="Calibri" pitchFamily="34" charset="-122"/>
                <a:cs typeface="Calibri" pitchFamily="34" charset="-120"/>
              </a:rPr>
              <a:t>correct</a:t>
            </a:r>
            <a:endParaRPr lang="en-US" sz="1020" dirty="0"/>
          </a:p>
        </p:txBody>
      </p:sp>
      <p:sp>
        <p:nvSpPr>
          <p:cNvPr id="23" name="Shape 21"/>
          <p:cNvSpPr/>
          <p:nvPr/>
        </p:nvSpPr>
        <p:spPr>
          <a:xfrm>
            <a:off x="571500" y="2952750"/>
            <a:ext cx="11049000" cy="11430"/>
          </a:xfrm>
          <a:prstGeom prst="rect">
            <a:avLst/>
          </a:prstGeom>
          <a:solidFill>
            <a:srgbClr val="D7E1EA"/>
          </a:solidFill>
          <a:ln/>
        </p:spPr>
        <p:txBody>
          <a:bodyPr/>
          <a:lstStyle/>
          <a:p>
            <a:endParaRPr lang="en-IN"/>
          </a:p>
        </p:txBody>
      </p:sp>
      <p:sp>
        <p:nvSpPr>
          <p:cNvPr id="24" name="Text 22"/>
          <p:cNvSpPr/>
          <p:nvPr/>
        </p:nvSpPr>
        <p:spPr>
          <a:xfrm>
            <a:off x="666750" y="3048000"/>
            <a:ext cx="2381250" cy="209550"/>
          </a:xfrm>
          <a:prstGeom prst="rect">
            <a:avLst/>
          </a:prstGeom>
          <a:noFill/>
          <a:ln/>
        </p:spPr>
        <p:txBody>
          <a:bodyPr wrap="square" lIns="0" tIns="0" rIns="0" bIns="0" rtlCol="0" anchor="t">
            <a:normAutofit/>
          </a:bodyPr>
          <a:lstStyle/>
          <a:p>
            <a:pPr marL="0" indent="0" algn="l">
              <a:lnSpc>
                <a:spcPct val="100000"/>
              </a:lnSpc>
              <a:buNone/>
            </a:pPr>
            <a:r>
              <a:rPr lang="en-US" sz="1550" b="1" dirty="0">
                <a:solidFill>
                  <a:srgbClr val="12263A"/>
                </a:solidFill>
                <a:latin typeface="Cambria" pitchFamily="34" charset="0"/>
                <a:ea typeface="Cambria" pitchFamily="34" charset="-122"/>
                <a:cs typeface="Cambria" pitchFamily="34" charset="-120"/>
              </a:rPr>
              <a:t>C1</a:t>
            </a:r>
            <a:endParaRPr lang="en-US" sz="1550" dirty="0"/>
          </a:p>
        </p:txBody>
      </p:sp>
      <p:sp>
        <p:nvSpPr>
          <p:cNvPr id="25" name="Text 23"/>
          <p:cNvSpPr/>
          <p:nvPr/>
        </p:nvSpPr>
        <p:spPr>
          <a:xfrm>
            <a:off x="666750" y="3257550"/>
            <a:ext cx="2381250" cy="342900"/>
          </a:xfrm>
          <a:prstGeom prst="rect">
            <a:avLst/>
          </a:prstGeom>
          <a:noFill/>
          <a:ln/>
        </p:spPr>
        <p:txBody>
          <a:bodyPr wrap="square" lIns="0" tIns="0" rIns="0" bIns="0" rtlCol="0" anchor="t">
            <a:normAutofit/>
          </a:bodyPr>
          <a:lstStyle/>
          <a:p>
            <a:pPr marL="0" indent="0" algn="l">
              <a:lnSpc>
                <a:spcPct val="100000"/>
              </a:lnSpc>
              <a:buNone/>
            </a:pPr>
            <a:r>
              <a:rPr lang="en-US" sz="1220" dirty="0">
                <a:solidFill>
                  <a:srgbClr val="5B6B7C"/>
                </a:solidFill>
                <a:latin typeface="Calibri" pitchFamily="34" charset="0"/>
                <a:ea typeface="Calibri" pitchFamily="34" charset="-122"/>
                <a:cs typeface="Calibri" pitchFamily="34" charset="-120"/>
              </a:rPr>
              <a:t>Selective interception and removal</a:t>
            </a:r>
            <a:endParaRPr lang="en-US" sz="1220" dirty="0"/>
          </a:p>
        </p:txBody>
      </p:sp>
      <p:sp>
        <p:nvSpPr>
          <p:cNvPr id="26" name="Text 24"/>
          <p:cNvSpPr/>
          <p:nvPr/>
        </p:nvSpPr>
        <p:spPr>
          <a:xfrm>
            <a:off x="666750" y="3619500"/>
            <a:ext cx="2381250" cy="171450"/>
          </a:xfrm>
          <a:prstGeom prst="rect">
            <a:avLst/>
          </a:prstGeom>
          <a:noFill/>
          <a:ln/>
        </p:spPr>
        <p:txBody>
          <a:bodyPr wrap="square" lIns="0" tIns="0" rIns="0" bIns="0" rtlCol="0" anchor="t">
            <a:normAutofit/>
          </a:bodyPr>
          <a:lstStyle/>
          <a:p>
            <a:pPr marL="0" indent="0" algn="l">
              <a:lnSpc>
                <a:spcPct val="100000"/>
              </a:lnSpc>
              <a:buNone/>
            </a:pPr>
            <a:r>
              <a:rPr lang="en-US" sz="1020" b="1" dirty="0">
                <a:solidFill>
                  <a:srgbClr val="1C7293"/>
                </a:solidFill>
                <a:latin typeface="Calibri" pitchFamily="34" charset="0"/>
                <a:ea typeface="Calibri" pitchFamily="34" charset="-122"/>
                <a:cs typeface="Calibri" pitchFamily="34" charset="-120"/>
              </a:rPr>
              <a:t>T-SPLANE-04</a:t>
            </a:r>
            <a:endParaRPr lang="en-US" sz="1020" dirty="0"/>
          </a:p>
        </p:txBody>
      </p:sp>
      <p:sp>
        <p:nvSpPr>
          <p:cNvPr id="27" name="Text 25"/>
          <p:cNvSpPr/>
          <p:nvPr/>
        </p:nvSpPr>
        <p:spPr>
          <a:xfrm>
            <a:off x="3143250" y="3048000"/>
            <a:ext cx="3200400" cy="800100"/>
          </a:xfrm>
          <a:prstGeom prst="rect">
            <a:avLst/>
          </a:prstGeom>
          <a:noFill/>
          <a:ln/>
        </p:spPr>
        <p:txBody>
          <a:bodyPr wrap="square" lIns="0" tIns="0" rIns="0" bIns="0" rtlCol="0" anchor="t">
            <a:normAutofit/>
          </a:bodyPr>
          <a:lstStyle/>
          <a:p>
            <a:pPr marL="0" indent="0" algn="l">
              <a:lnSpc>
                <a:spcPct val="100000"/>
              </a:lnSpc>
              <a:buNone/>
            </a:pPr>
            <a:r>
              <a:rPr lang="en-US" sz="1280" dirty="0">
                <a:solidFill>
                  <a:srgbClr val="12263A"/>
                </a:solidFill>
                <a:latin typeface="Calibri" pitchFamily="34" charset="0"/>
                <a:ea typeface="Calibri" pitchFamily="34" charset="-122"/>
                <a:cs typeface="Calibri" pitchFamily="34" charset="-120"/>
              </a:rPr>
              <a:t>The boundary clock's downstream port is blackholed for a sustained fraction of the observation window, withholding Sync and Announce.</a:t>
            </a:r>
            <a:endParaRPr lang="en-US" sz="1280" dirty="0"/>
          </a:p>
        </p:txBody>
      </p:sp>
      <p:sp>
        <p:nvSpPr>
          <p:cNvPr id="28" name="Text 26"/>
          <p:cNvSpPr/>
          <p:nvPr/>
        </p:nvSpPr>
        <p:spPr>
          <a:xfrm>
            <a:off x="6477000" y="3048000"/>
            <a:ext cx="2857500" cy="800100"/>
          </a:xfrm>
          <a:prstGeom prst="rect">
            <a:avLst/>
          </a:prstGeom>
          <a:noFill/>
          <a:ln/>
        </p:spPr>
        <p:txBody>
          <a:bodyPr wrap="square" lIns="0" tIns="0" rIns="0" bIns="0" rtlCol="0" anchor="t">
            <a:normAutofit/>
          </a:bodyPr>
          <a:lstStyle/>
          <a:p>
            <a:pPr marL="0" indent="0" algn="l">
              <a:lnSpc>
                <a:spcPct val="100000"/>
              </a:lnSpc>
              <a:buNone/>
            </a:pPr>
            <a:r>
              <a:rPr lang="en-US" sz="1280" dirty="0">
                <a:solidFill>
                  <a:srgbClr val="5B6B7C"/>
                </a:solidFill>
                <a:latin typeface="Calibri" pitchFamily="34" charset="0"/>
                <a:ea typeface="Calibri" pitchFamily="34" charset="-122"/>
                <a:cs typeface="Calibri" pitchFamily="34" charset="-120"/>
              </a:rPr>
              <a:t>Radio units receive messages below the rate the boundary clock itself declares; delivered-to-declared ratio falls toward 0.37.</a:t>
            </a:r>
            <a:endParaRPr lang="en-US" sz="1280" dirty="0"/>
          </a:p>
        </p:txBody>
      </p:sp>
      <p:sp>
        <p:nvSpPr>
          <p:cNvPr id="29" name="Shape 27"/>
          <p:cNvSpPr/>
          <p:nvPr/>
        </p:nvSpPr>
        <p:spPr>
          <a:xfrm>
            <a:off x="9477375" y="3086100"/>
            <a:ext cx="914400" cy="247650"/>
          </a:xfrm>
          <a:prstGeom prst="roundRect">
            <a:avLst>
              <a:gd name="adj" fmla="val 14769"/>
            </a:avLst>
          </a:prstGeom>
          <a:solidFill>
            <a:srgbClr val="F6E4E0"/>
          </a:solidFill>
          <a:ln w="12700">
            <a:solidFill>
              <a:srgbClr val="B3402F"/>
            </a:solidFill>
            <a:prstDash val="solid"/>
          </a:ln>
        </p:spPr>
        <p:txBody>
          <a:bodyPr/>
          <a:lstStyle/>
          <a:p>
            <a:endParaRPr lang="en-IN"/>
          </a:p>
        </p:txBody>
      </p:sp>
      <p:sp>
        <p:nvSpPr>
          <p:cNvPr id="30" name="Text 28"/>
          <p:cNvSpPr/>
          <p:nvPr/>
        </p:nvSpPr>
        <p:spPr>
          <a:xfrm>
            <a:off x="9477375" y="3133725"/>
            <a:ext cx="914400" cy="190500"/>
          </a:xfrm>
          <a:prstGeom prst="rect">
            <a:avLst/>
          </a:prstGeom>
          <a:noFill/>
          <a:ln/>
        </p:spPr>
        <p:txBody>
          <a:bodyPr wrap="square" lIns="0" tIns="0" rIns="0" bIns="0" rtlCol="0" anchor="t">
            <a:normAutofit/>
          </a:bodyPr>
          <a:lstStyle/>
          <a:p>
            <a:pPr marL="0" indent="0" algn="ctr">
              <a:lnSpc>
                <a:spcPct val="100000"/>
              </a:lnSpc>
              <a:buNone/>
            </a:pPr>
            <a:r>
              <a:rPr lang="en-US" sz="1150" b="1" dirty="0">
                <a:solidFill>
                  <a:srgbClr val="B3402F"/>
                </a:solidFill>
                <a:latin typeface="Calibri" pitchFamily="34" charset="0"/>
                <a:ea typeface="Calibri" pitchFamily="34" charset="-122"/>
                <a:cs typeface="Calibri" pitchFamily="34" charset="-120"/>
              </a:rPr>
              <a:t>ATTACK</a:t>
            </a:r>
            <a:endParaRPr lang="en-US" sz="1150" dirty="0"/>
          </a:p>
        </p:txBody>
      </p:sp>
      <p:sp>
        <p:nvSpPr>
          <p:cNvPr id="31" name="Text 29"/>
          <p:cNvSpPr/>
          <p:nvPr/>
        </p:nvSpPr>
        <p:spPr>
          <a:xfrm>
            <a:off x="10525125" y="3067050"/>
            <a:ext cx="1047750" cy="228600"/>
          </a:xfrm>
          <a:prstGeom prst="rect">
            <a:avLst/>
          </a:prstGeom>
          <a:noFill/>
          <a:ln/>
        </p:spPr>
        <p:txBody>
          <a:bodyPr wrap="square" lIns="0" tIns="0" rIns="0" bIns="0" rtlCol="0" anchor="t">
            <a:normAutofit/>
          </a:bodyPr>
          <a:lstStyle/>
          <a:p>
            <a:pPr marL="0" indent="0" algn="l">
              <a:lnSpc>
                <a:spcPct val="100000"/>
              </a:lnSpc>
              <a:buNone/>
            </a:pPr>
            <a:r>
              <a:rPr lang="en-US" sz="1500" b="1" dirty="0">
                <a:solidFill>
                  <a:srgbClr val="1E8E5A"/>
                </a:solidFill>
                <a:latin typeface="Cambria" pitchFamily="34" charset="0"/>
                <a:ea typeface="Cambria" pitchFamily="34" charset="-122"/>
                <a:cs typeface="Cambria" pitchFamily="34" charset="-120"/>
              </a:rPr>
              <a:t>11/12</a:t>
            </a:r>
            <a:endParaRPr lang="en-US" sz="1500" dirty="0"/>
          </a:p>
        </p:txBody>
      </p:sp>
      <p:sp>
        <p:nvSpPr>
          <p:cNvPr id="32" name="Text 30"/>
          <p:cNvSpPr/>
          <p:nvPr/>
        </p:nvSpPr>
        <p:spPr>
          <a:xfrm>
            <a:off x="10525125" y="3295650"/>
            <a:ext cx="1047750" cy="171450"/>
          </a:xfrm>
          <a:prstGeom prst="rect">
            <a:avLst/>
          </a:prstGeom>
          <a:noFill/>
          <a:ln/>
        </p:spPr>
        <p:txBody>
          <a:bodyPr wrap="square" lIns="0" tIns="0" rIns="0" bIns="0" rtlCol="0" anchor="t">
            <a:normAutofit/>
          </a:bodyPr>
          <a:lstStyle/>
          <a:p>
            <a:pPr marL="0" indent="0" algn="l">
              <a:lnSpc>
                <a:spcPct val="100000"/>
              </a:lnSpc>
              <a:buNone/>
            </a:pPr>
            <a:r>
              <a:rPr lang="en-US" sz="1020" dirty="0">
                <a:solidFill>
                  <a:srgbClr val="5B6B7C"/>
                </a:solidFill>
                <a:latin typeface="Calibri" pitchFamily="34" charset="0"/>
                <a:ea typeface="Calibri" pitchFamily="34" charset="-122"/>
                <a:cs typeface="Calibri" pitchFamily="34" charset="-120"/>
              </a:rPr>
              <a:t>correct</a:t>
            </a:r>
            <a:endParaRPr lang="en-US" sz="1020" dirty="0"/>
          </a:p>
        </p:txBody>
      </p:sp>
      <p:sp>
        <p:nvSpPr>
          <p:cNvPr id="33" name="Shape 31"/>
          <p:cNvSpPr/>
          <p:nvPr/>
        </p:nvSpPr>
        <p:spPr>
          <a:xfrm>
            <a:off x="571500" y="3943350"/>
            <a:ext cx="11049000" cy="11430"/>
          </a:xfrm>
          <a:prstGeom prst="rect">
            <a:avLst/>
          </a:prstGeom>
          <a:solidFill>
            <a:srgbClr val="D7E1EA"/>
          </a:solidFill>
          <a:ln/>
        </p:spPr>
        <p:txBody>
          <a:bodyPr/>
          <a:lstStyle/>
          <a:p>
            <a:endParaRPr lang="en-IN"/>
          </a:p>
        </p:txBody>
      </p:sp>
      <p:sp>
        <p:nvSpPr>
          <p:cNvPr id="34" name="Text 32"/>
          <p:cNvSpPr/>
          <p:nvPr/>
        </p:nvSpPr>
        <p:spPr>
          <a:xfrm>
            <a:off x="666750" y="4038600"/>
            <a:ext cx="2381250" cy="209550"/>
          </a:xfrm>
          <a:prstGeom prst="rect">
            <a:avLst/>
          </a:prstGeom>
          <a:noFill/>
          <a:ln/>
        </p:spPr>
        <p:txBody>
          <a:bodyPr wrap="square" lIns="0" tIns="0" rIns="0" bIns="0" rtlCol="0" anchor="t">
            <a:normAutofit/>
          </a:bodyPr>
          <a:lstStyle/>
          <a:p>
            <a:pPr marL="0" indent="0" algn="l">
              <a:lnSpc>
                <a:spcPct val="100000"/>
              </a:lnSpc>
              <a:buNone/>
            </a:pPr>
            <a:r>
              <a:rPr lang="en-US" sz="1550" b="1" dirty="0">
                <a:solidFill>
                  <a:srgbClr val="12263A"/>
                </a:solidFill>
                <a:latin typeface="Cambria" pitchFamily="34" charset="0"/>
                <a:ea typeface="Cambria" pitchFamily="34" charset="-122"/>
                <a:cs typeface="Cambria" pitchFamily="34" charset="-120"/>
              </a:rPr>
              <a:t>C2</a:t>
            </a:r>
            <a:endParaRPr lang="en-US" sz="1550" dirty="0"/>
          </a:p>
        </p:txBody>
      </p:sp>
      <p:sp>
        <p:nvSpPr>
          <p:cNvPr id="35" name="Text 33"/>
          <p:cNvSpPr/>
          <p:nvPr/>
        </p:nvSpPr>
        <p:spPr>
          <a:xfrm>
            <a:off x="666750" y="4248150"/>
            <a:ext cx="2381250" cy="342900"/>
          </a:xfrm>
          <a:prstGeom prst="rect">
            <a:avLst/>
          </a:prstGeom>
          <a:noFill/>
          <a:ln/>
        </p:spPr>
        <p:txBody>
          <a:bodyPr wrap="square" lIns="0" tIns="0" rIns="0" bIns="0" rtlCol="0" anchor="t">
            <a:normAutofit/>
          </a:bodyPr>
          <a:lstStyle/>
          <a:p>
            <a:pPr marL="0" indent="0" algn="l">
              <a:lnSpc>
                <a:spcPct val="100000"/>
              </a:lnSpc>
              <a:buNone/>
            </a:pPr>
            <a:r>
              <a:rPr lang="en-US" sz="1220" dirty="0">
                <a:solidFill>
                  <a:srgbClr val="5B6B7C"/>
                </a:solidFill>
                <a:latin typeface="Calibri" pitchFamily="34" charset="0"/>
                <a:ea typeface="Calibri" pitchFamily="34" charset="-122"/>
                <a:cs typeface="Calibri" pitchFamily="34" charset="-120"/>
              </a:rPr>
              <a:t>Malformed / fuzzed frames</a:t>
            </a:r>
            <a:endParaRPr lang="en-US" sz="1220" dirty="0"/>
          </a:p>
        </p:txBody>
      </p:sp>
      <p:sp>
        <p:nvSpPr>
          <p:cNvPr id="36" name="Text 34"/>
          <p:cNvSpPr/>
          <p:nvPr/>
        </p:nvSpPr>
        <p:spPr>
          <a:xfrm>
            <a:off x="666750" y="4610100"/>
            <a:ext cx="2381250" cy="171450"/>
          </a:xfrm>
          <a:prstGeom prst="rect">
            <a:avLst/>
          </a:prstGeom>
          <a:noFill/>
          <a:ln/>
        </p:spPr>
        <p:txBody>
          <a:bodyPr wrap="square" lIns="0" tIns="0" rIns="0" bIns="0" rtlCol="0" anchor="t">
            <a:normAutofit/>
          </a:bodyPr>
          <a:lstStyle/>
          <a:p>
            <a:pPr marL="0" indent="0" algn="l">
              <a:lnSpc>
                <a:spcPct val="100000"/>
              </a:lnSpc>
              <a:buNone/>
            </a:pPr>
            <a:r>
              <a:rPr lang="en-US" sz="1020" b="1" dirty="0">
                <a:solidFill>
                  <a:srgbClr val="1C7293"/>
                </a:solidFill>
                <a:latin typeface="Calibri" pitchFamily="34" charset="0"/>
                <a:ea typeface="Calibri" pitchFamily="34" charset="-122"/>
                <a:cs typeface="Calibri" pitchFamily="34" charset="-120"/>
              </a:rPr>
              <a:t>WG11 24.2.1.2</a:t>
            </a:r>
            <a:endParaRPr lang="en-US" sz="1020" dirty="0"/>
          </a:p>
        </p:txBody>
      </p:sp>
      <p:sp>
        <p:nvSpPr>
          <p:cNvPr id="37" name="Text 35"/>
          <p:cNvSpPr/>
          <p:nvPr/>
        </p:nvSpPr>
        <p:spPr>
          <a:xfrm>
            <a:off x="3143250" y="4038600"/>
            <a:ext cx="3200400" cy="800100"/>
          </a:xfrm>
          <a:prstGeom prst="rect">
            <a:avLst/>
          </a:prstGeom>
          <a:noFill/>
          <a:ln/>
        </p:spPr>
        <p:txBody>
          <a:bodyPr wrap="square" lIns="0" tIns="0" rIns="0" bIns="0" rtlCol="0" anchor="t">
            <a:normAutofit/>
          </a:bodyPr>
          <a:lstStyle/>
          <a:p>
            <a:pPr marL="0" indent="0" algn="l">
              <a:lnSpc>
                <a:spcPct val="100000"/>
              </a:lnSpc>
              <a:buNone/>
            </a:pPr>
            <a:r>
              <a:rPr lang="en-US" sz="1280" dirty="0">
                <a:solidFill>
                  <a:srgbClr val="12263A"/>
                </a:solidFill>
                <a:latin typeface="Calibri" pitchFamily="34" charset="0"/>
                <a:ea typeface="Calibri" pitchFamily="34" charset="-122"/>
                <a:cs typeface="Calibri" pitchFamily="34" charset="-120"/>
              </a:rPr>
              <a:t>Frames injected with versionPTP 3, a reserved message type, and a message length shorter than the protocol permits.</a:t>
            </a:r>
            <a:endParaRPr lang="en-US" sz="1280" dirty="0"/>
          </a:p>
        </p:txBody>
      </p:sp>
      <p:sp>
        <p:nvSpPr>
          <p:cNvPr id="38" name="Text 36"/>
          <p:cNvSpPr/>
          <p:nvPr/>
        </p:nvSpPr>
        <p:spPr>
          <a:xfrm>
            <a:off x="6477000" y="4038600"/>
            <a:ext cx="2857500" cy="800100"/>
          </a:xfrm>
          <a:prstGeom prst="rect">
            <a:avLst/>
          </a:prstGeom>
          <a:noFill/>
          <a:ln/>
        </p:spPr>
        <p:txBody>
          <a:bodyPr wrap="square" lIns="0" tIns="0" rIns="0" bIns="0" rtlCol="0" anchor="t">
            <a:normAutofit/>
          </a:bodyPr>
          <a:lstStyle/>
          <a:p>
            <a:pPr marL="0" indent="0" algn="l">
              <a:lnSpc>
                <a:spcPct val="100000"/>
              </a:lnSpc>
              <a:buNone/>
            </a:pPr>
            <a:r>
              <a:rPr lang="en-US" sz="1280" dirty="0">
                <a:solidFill>
                  <a:srgbClr val="5B6B7C"/>
                </a:solidFill>
                <a:latin typeface="Calibri" pitchFamily="34" charset="0"/>
                <a:ea typeface="Calibri" pitchFamily="34" charset="-122"/>
                <a:cs typeface="Calibri" pitchFamily="34" charset="-120"/>
              </a:rPr>
              <a:t>Frames are structurally illegal under IEEE 1588-2019 regardless of their timing content.</a:t>
            </a:r>
            <a:endParaRPr lang="en-US" sz="1280" dirty="0"/>
          </a:p>
        </p:txBody>
      </p:sp>
      <p:sp>
        <p:nvSpPr>
          <p:cNvPr id="39" name="Shape 37"/>
          <p:cNvSpPr/>
          <p:nvPr/>
        </p:nvSpPr>
        <p:spPr>
          <a:xfrm>
            <a:off x="9477375" y="4076700"/>
            <a:ext cx="914400" cy="247650"/>
          </a:xfrm>
          <a:prstGeom prst="roundRect">
            <a:avLst>
              <a:gd name="adj" fmla="val 14769"/>
            </a:avLst>
          </a:prstGeom>
          <a:solidFill>
            <a:srgbClr val="F6E4E0"/>
          </a:solidFill>
          <a:ln w="12700">
            <a:solidFill>
              <a:srgbClr val="B3402F"/>
            </a:solidFill>
            <a:prstDash val="solid"/>
          </a:ln>
        </p:spPr>
        <p:txBody>
          <a:bodyPr/>
          <a:lstStyle/>
          <a:p>
            <a:endParaRPr lang="en-IN"/>
          </a:p>
        </p:txBody>
      </p:sp>
      <p:sp>
        <p:nvSpPr>
          <p:cNvPr id="40" name="Text 38"/>
          <p:cNvSpPr/>
          <p:nvPr/>
        </p:nvSpPr>
        <p:spPr>
          <a:xfrm>
            <a:off x="9477375" y="4124325"/>
            <a:ext cx="914400" cy="190500"/>
          </a:xfrm>
          <a:prstGeom prst="rect">
            <a:avLst/>
          </a:prstGeom>
          <a:noFill/>
          <a:ln/>
        </p:spPr>
        <p:txBody>
          <a:bodyPr wrap="square" lIns="0" tIns="0" rIns="0" bIns="0" rtlCol="0" anchor="t">
            <a:normAutofit/>
          </a:bodyPr>
          <a:lstStyle/>
          <a:p>
            <a:pPr marL="0" indent="0" algn="ctr">
              <a:lnSpc>
                <a:spcPct val="100000"/>
              </a:lnSpc>
              <a:buNone/>
            </a:pPr>
            <a:r>
              <a:rPr lang="en-US" sz="1150" b="1" dirty="0">
                <a:solidFill>
                  <a:srgbClr val="B3402F"/>
                </a:solidFill>
                <a:latin typeface="Calibri" pitchFamily="34" charset="0"/>
                <a:ea typeface="Calibri" pitchFamily="34" charset="-122"/>
                <a:cs typeface="Calibri" pitchFamily="34" charset="-120"/>
              </a:rPr>
              <a:t>ATTACK</a:t>
            </a:r>
            <a:endParaRPr lang="en-US" sz="1150" dirty="0"/>
          </a:p>
        </p:txBody>
      </p:sp>
      <p:sp>
        <p:nvSpPr>
          <p:cNvPr id="41" name="Text 39"/>
          <p:cNvSpPr/>
          <p:nvPr/>
        </p:nvSpPr>
        <p:spPr>
          <a:xfrm>
            <a:off x="10525125" y="4057650"/>
            <a:ext cx="1047750" cy="228600"/>
          </a:xfrm>
          <a:prstGeom prst="rect">
            <a:avLst/>
          </a:prstGeom>
          <a:noFill/>
          <a:ln/>
        </p:spPr>
        <p:txBody>
          <a:bodyPr wrap="square" lIns="0" tIns="0" rIns="0" bIns="0" rtlCol="0" anchor="t">
            <a:normAutofit/>
          </a:bodyPr>
          <a:lstStyle/>
          <a:p>
            <a:pPr marL="0" indent="0" algn="l">
              <a:lnSpc>
                <a:spcPct val="100000"/>
              </a:lnSpc>
              <a:buNone/>
            </a:pPr>
            <a:r>
              <a:rPr lang="en-US" sz="1500" b="1" dirty="0">
                <a:solidFill>
                  <a:srgbClr val="1E8E5A"/>
                </a:solidFill>
                <a:latin typeface="Cambria" pitchFamily="34" charset="0"/>
                <a:ea typeface="Cambria" pitchFamily="34" charset="-122"/>
                <a:cs typeface="Cambria" pitchFamily="34" charset="-120"/>
              </a:rPr>
              <a:t>12/12</a:t>
            </a:r>
            <a:endParaRPr lang="en-US" sz="1500" dirty="0"/>
          </a:p>
        </p:txBody>
      </p:sp>
      <p:sp>
        <p:nvSpPr>
          <p:cNvPr id="42" name="Text 40"/>
          <p:cNvSpPr/>
          <p:nvPr/>
        </p:nvSpPr>
        <p:spPr>
          <a:xfrm>
            <a:off x="10525125" y="4286250"/>
            <a:ext cx="1047750" cy="171450"/>
          </a:xfrm>
          <a:prstGeom prst="rect">
            <a:avLst/>
          </a:prstGeom>
          <a:noFill/>
          <a:ln/>
        </p:spPr>
        <p:txBody>
          <a:bodyPr wrap="square" lIns="0" tIns="0" rIns="0" bIns="0" rtlCol="0" anchor="t">
            <a:normAutofit/>
          </a:bodyPr>
          <a:lstStyle/>
          <a:p>
            <a:pPr marL="0" indent="0" algn="l">
              <a:lnSpc>
                <a:spcPct val="100000"/>
              </a:lnSpc>
              <a:buNone/>
            </a:pPr>
            <a:r>
              <a:rPr lang="en-US" sz="1020" dirty="0">
                <a:solidFill>
                  <a:srgbClr val="5B6B7C"/>
                </a:solidFill>
                <a:latin typeface="Calibri" pitchFamily="34" charset="0"/>
                <a:ea typeface="Calibri" pitchFamily="34" charset="-122"/>
                <a:cs typeface="Calibri" pitchFamily="34" charset="-120"/>
              </a:rPr>
              <a:t>correct</a:t>
            </a:r>
            <a:endParaRPr lang="en-US" sz="1020" dirty="0"/>
          </a:p>
        </p:txBody>
      </p:sp>
      <p:sp>
        <p:nvSpPr>
          <p:cNvPr id="43" name="Shape 41"/>
          <p:cNvSpPr/>
          <p:nvPr/>
        </p:nvSpPr>
        <p:spPr>
          <a:xfrm>
            <a:off x="571500" y="4933950"/>
            <a:ext cx="11049000" cy="11430"/>
          </a:xfrm>
          <a:prstGeom prst="rect">
            <a:avLst/>
          </a:prstGeom>
          <a:solidFill>
            <a:srgbClr val="D7E1EA"/>
          </a:solidFill>
          <a:ln/>
        </p:spPr>
        <p:txBody>
          <a:bodyPr/>
          <a:lstStyle/>
          <a:p>
            <a:endParaRPr lang="en-IN"/>
          </a:p>
        </p:txBody>
      </p:sp>
      <p:sp>
        <p:nvSpPr>
          <p:cNvPr id="44" name="Text 42"/>
          <p:cNvSpPr/>
          <p:nvPr/>
        </p:nvSpPr>
        <p:spPr>
          <a:xfrm>
            <a:off x="666750" y="5029200"/>
            <a:ext cx="2381250" cy="209550"/>
          </a:xfrm>
          <a:prstGeom prst="rect">
            <a:avLst/>
          </a:prstGeom>
          <a:noFill/>
          <a:ln/>
        </p:spPr>
        <p:txBody>
          <a:bodyPr wrap="square" lIns="0" tIns="0" rIns="0" bIns="0" rtlCol="0" anchor="t">
            <a:normAutofit/>
          </a:bodyPr>
          <a:lstStyle/>
          <a:p>
            <a:pPr marL="0" indent="0" algn="l">
              <a:lnSpc>
                <a:spcPct val="100000"/>
              </a:lnSpc>
              <a:buNone/>
            </a:pPr>
            <a:r>
              <a:rPr lang="en-US" sz="1550" b="1" dirty="0">
                <a:solidFill>
                  <a:srgbClr val="12263A"/>
                </a:solidFill>
                <a:latin typeface="Cambria" pitchFamily="34" charset="0"/>
                <a:ea typeface="Cambria" pitchFamily="34" charset="-122"/>
                <a:cs typeface="Cambria" pitchFamily="34" charset="-120"/>
              </a:rPr>
              <a:t>C3</a:t>
            </a:r>
            <a:endParaRPr lang="en-US" sz="1550" dirty="0"/>
          </a:p>
        </p:txBody>
      </p:sp>
      <p:sp>
        <p:nvSpPr>
          <p:cNvPr id="45" name="Text 43"/>
          <p:cNvSpPr/>
          <p:nvPr/>
        </p:nvSpPr>
        <p:spPr>
          <a:xfrm>
            <a:off x="666750" y="5238750"/>
            <a:ext cx="2381250" cy="342900"/>
          </a:xfrm>
          <a:prstGeom prst="rect">
            <a:avLst/>
          </a:prstGeom>
          <a:noFill/>
          <a:ln/>
        </p:spPr>
        <p:txBody>
          <a:bodyPr wrap="square" lIns="0" tIns="0" rIns="0" bIns="0" rtlCol="0" anchor="t">
            <a:normAutofit/>
          </a:bodyPr>
          <a:lstStyle/>
          <a:p>
            <a:pPr marL="0" indent="0" algn="l">
              <a:lnSpc>
                <a:spcPct val="100000"/>
              </a:lnSpc>
              <a:buNone/>
            </a:pPr>
            <a:r>
              <a:rPr lang="en-US" sz="1220" dirty="0">
                <a:solidFill>
                  <a:srgbClr val="5B6B7C"/>
                </a:solidFill>
                <a:latin typeface="Calibri" pitchFamily="34" charset="0"/>
                <a:ea typeface="Calibri" pitchFamily="34" charset="-122"/>
                <a:cs typeface="Calibri" pitchFamily="34" charset="-120"/>
              </a:rPr>
              <a:t>Whole-second field abuse</a:t>
            </a:r>
            <a:endParaRPr lang="en-US" sz="1220" dirty="0"/>
          </a:p>
        </p:txBody>
      </p:sp>
      <p:sp>
        <p:nvSpPr>
          <p:cNvPr id="46" name="Text 44"/>
          <p:cNvSpPr/>
          <p:nvPr/>
        </p:nvSpPr>
        <p:spPr>
          <a:xfrm>
            <a:off x="666750" y="5600700"/>
            <a:ext cx="2381250" cy="171450"/>
          </a:xfrm>
          <a:prstGeom prst="rect">
            <a:avLst/>
          </a:prstGeom>
          <a:noFill/>
          <a:ln/>
        </p:spPr>
        <p:txBody>
          <a:bodyPr wrap="square" lIns="0" tIns="0" rIns="0" bIns="0" rtlCol="0" anchor="t">
            <a:normAutofit/>
          </a:bodyPr>
          <a:lstStyle/>
          <a:p>
            <a:pPr marL="0" indent="0" algn="l">
              <a:lnSpc>
                <a:spcPct val="100000"/>
              </a:lnSpc>
              <a:buNone/>
            </a:pPr>
            <a:r>
              <a:rPr lang="en-US" sz="1020" b="1" dirty="0">
                <a:solidFill>
                  <a:srgbClr val="1C7293"/>
                </a:solidFill>
                <a:latin typeface="Calibri" pitchFamily="34" charset="0"/>
                <a:ea typeface="Calibri" pitchFamily="34" charset="-122"/>
                <a:cs typeface="Calibri" pitchFamily="34" charset="-120"/>
              </a:rPr>
              <a:t>IEEE 1588-2019 §8.2.4</a:t>
            </a:r>
            <a:endParaRPr lang="en-US" sz="1020" dirty="0"/>
          </a:p>
        </p:txBody>
      </p:sp>
      <p:sp>
        <p:nvSpPr>
          <p:cNvPr id="47" name="Text 45"/>
          <p:cNvSpPr/>
          <p:nvPr/>
        </p:nvSpPr>
        <p:spPr>
          <a:xfrm>
            <a:off x="3143250" y="5029200"/>
            <a:ext cx="3200400" cy="800100"/>
          </a:xfrm>
          <a:prstGeom prst="rect">
            <a:avLst/>
          </a:prstGeom>
          <a:noFill/>
          <a:ln/>
        </p:spPr>
        <p:txBody>
          <a:bodyPr wrap="square" lIns="0" tIns="0" rIns="0" bIns="0" rtlCol="0" anchor="t">
            <a:normAutofit/>
          </a:bodyPr>
          <a:lstStyle/>
          <a:p>
            <a:pPr marL="0" indent="0" algn="l">
              <a:lnSpc>
                <a:spcPct val="100000"/>
              </a:lnSpc>
              <a:buNone/>
            </a:pPr>
            <a:r>
              <a:rPr lang="en-US" sz="1280" dirty="0">
                <a:solidFill>
                  <a:srgbClr val="12263A"/>
                </a:solidFill>
                <a:latin typeface="Calibri" pitchFamily="34" charset="0"/>
                <a:ea typeface="Calibri" pitchFamily="34" charset="-122"/>
                <a:cs typeface="Calibri" pitchFamily="34" charset="-120"/>
              </a:rPr>
              <a:t>Announce frames carrying leap61 asserted, currentUtcOffset falsified to 0 against a true value of 37, and traceability flags stripped.</a:t>
            </a:r>
            <a:endParaRPr lang="en-US" sz="1280" dirty="0"/>
          </a:p>
        </p:txBody>
      </p:sp>
      <p:sp>
        <p:nvSpPr>
          <p:cNvPr id="48" name="Text 46"/>
          <p:cNvSpPr/>
          <p:nvPr/>
        </p:nvSpPr>
        <p:spPr>
          <a:xfrm>
            <a:off x="6477000" y="5029200"/>
            <a:ext cx="2857500" cy="800100"/>
          </a:xfrm>
          <a:prstGeom prst="rect">
            <a:avLst/>
          </a:prstGeom>
          <a:noFill/>
          <a:ln/>
        </p:spPr>
        <p:txBody>
          <a:bodyPr wrap="square" lIns="0" tIns="0" rIns="0" bIns="0" rtlCol="0" anchor="t">
            <a:normAutofit/>
          </a:bodyPr>
          <a:lstStyle/>
          <a:p>
            <a:pPr marL="0" indent="0" algn="l">
              <a:lnSpc>
                <a:spcPct val="100000"/>
              </a:lnSpc>
              <a:buNone/>
            </a:pPr>
            <a:r>
              <a:rPr lang="en-US" sz="1280" dirty="0">
                <a:solidFill>
                  <a:srgbClr val="5B6B7C"/>
                </a:solidFill>
                <a:latin typeface="Calibri" pitchFamily="34" charset="0"/>
                <a:ea typeface="Calibri" pitchFamily="34" charset="-122"/>
                <a:cs typeface="Calibri" pitchFamily="34" charset="-120"/>
              </a:rPr>
              <a:t>Time properties become internally inconsistent, which would shift the applied UTC offset by a whole second.</a:t>
            </a:r>
            <a:endParaRPr lang="en-US" sz="1280" dirty="0"/>
          </a:p>
        </p:txBody>
      </p:sp>
      <p:sp>
        <p:nvSpPr>
          <p:cNvPr id="49" name="Shape 47"/>
          <p:cNvSpPr/>
          <p:nvPr/>
        </p:nvSpPr>
        <p:spPr>
          <a:xfrm>
            <a:off x="9477375" y="5067300"/>
            <a:ext cx="914400" cy="247650"/>
          </a:xfrm>
          <a:prstGeom prst="roundRect">
            <a:avLst>
              <a:gd name="adj" fmla="val 14769"/>
            </a:avLst>
          </a:prstGeom>
          <a:solidFill>
            <a:srgbClr val="F6E4E0"/>
          </a:solidFill>
          <a:ln w="12700">
            <a:solidFill>
              <a:srgbClr val="B3402F"/>
            </a:solidFill>
            <a:prstDash val="solid"/>
          </a:ln>
        </p:spPr>
        <p:txBody>
          <a:bodyPr/>
          <a:lstStyle/>
          <a:p>
            <a:endParaRPr lang="en-IN"/>
          </a:p>
        </p:txBody>
      </p:sp>
      <p:sp>
        <p:nvSpPr>
          <p:cNvPr id="50" name="Text 48"/>
          <p:cNvSpPr/>
          <p:nvPr/>
        </p:nvSpPr>
        <p:spPr>
          <a:xfrm>
            <a:off x="9477375" y="5114925"/>
            <a:ext cx="914400" cy="190500"/>
          </a:xfrm>
          <a:prstGeom prst="rect">
            <a:avLst/>
          </a:prstGeom>
          <a:noFill/>
          <a:ln/>
        </p:spPr>
        <p:txBody>
          <a:bodyPr wrap="square" lIns="0" tIns="0" rIns="0" bIns="0" rtlCol="0" anchor="t">
            <a:normAutofit/>
          </a:bodyPr>
          <a:lstStyle/>
          <a:p>
            <a:pPr marL="0" indent="0" algn="ctr">
              <a:lnSpc>
                <a:spcPct val="100000"/>
              </a:lnSpc>
              <a:buNone/>
            </a:pPr>
            <a:r>
              <a:rPr lang="en-US" sz="1150" b="1" dirty="0">
                <a:solidFill>
                  <a:srgbClr val="B3402F"/>
                </a:solidFill>
                <a:latin typeface="Calibri" pitchFamily="34" charset="0"/>
                <a:ea typeface="Calibri" pitchFamily="34" charset="-122"/>
                <a:cs typeface="Calibri" pitchFamily="34" charset="-120"/>
              </a:rPr>
              <a:t>ATTACK</a:t>
            </a:r>
            <a:endParaRPr lang="en-US" sz="1150" dirty="0"/>
          </a:p>
        </p:txBody>
      </p:sp>
      <p:sp>
        <p:nvSpPr>
          <p:cNvPr id="51" name="Text 49"/>
          <p:cNvSpPr/>
          <p:nvPr/>
        </p:nvSpPr>
        <p:spPr>
          <a:xfrm>
            <a:off x="10525125" y="5048250"/>
            <a:ext cx="1047750" cy="228600"/>
          </a:xfrm>
          <a:prstGeom prst="rect">
            <a:avLst/>
          </a:prstGeom>
          <a:noFill/>
          <a:ln/>
        </p:spPr>
        <p:txBody>
          <a:bodyPr wrap="square" lIns="0" tIns="0" rIns="0" bIns="0" rtlCol="0" anchor="t">
            <a:normAutofit/>
          </a:bodyPr>
          <a:lstStyle/>
          <a:p>
            <a:pPr marL="0" indent="0" algn="l">
              <a:lnSpc>
                <a:spcPct val="100000"/>
              </a:lnSpc>
              <a:buNone/>
            </a:pPr>
            <a:r>
              <a:rPr lang="en-US" sz="1500" b="1" dirty="0">
                <a:solidFill>
                  <a:srgbClr val="1E8E5A"/>
                </a:solidFill>
                <a:latin typeface="Cambria" pitchFamily="34" charset="0"/>
                <a:ea typeface="Cambria" pitchFamily="34" charset="-122"/>
                <a:cs typeface="Cambria" pitchFamily="34" charset="-120"/>
              </a:rPr>
              <a:t>12/12</a:t>
            </a:r>
            <a:endParaRPr lang="en-US" sz="1500" dirty="0"/>
          </a:p>
        </p:txBody>
      </p:sp>
      <p:sp>
        <p:nvSpPr>
          <p:cNvPr id="52" name="Text 50"/>
          <p:cNvSpPr/>
          <p:nvPr/>
        </p:nvSpPr>
        <p:spPr>
          <a:xfrm>
            <a:off x="10525125" y="5276850"/>
            <a:ext cx="1047750" cy="171450"/>
          </a:xfrm>
          <a:prstGeom prst="rect">
            <a:avLst/>
          </a:prstGeom>
          <a:noFill/>
          <a:ln/>
        </p:spPr>
        <p:txBody>
          <a:bodyPr wrap="square" lIns="0" tIns="0" rIns="0" bIns="0" rtlCol="0" anchor="t">
            <a:normAutofit/>
          </a:bodyPr>
          <a:lstStyle/>
          <a:p>
            <a:pPr marL="0" indent="0" algn="l">
              <a:lnSpc>
                <a:spcPct val="100000"/>
              </a:lnSpc>
              <a:buNone/>
            </a:pPr>
            <a:r>
              <a:rPr lang="en-US" sz="1020" dirty="0">
                <a:solidFill>
                  <a:srgbClr val="5B6B7C"/>
                </a:solidFill>
                <a:latin typeface="Calibri" pitchFamily="34" charset="0"/>
                <a:ea typeface="Calibri" pitchFamily="34" charset="-122"/>
                <a:cs typeface="Calibri" pitchFamily="34" charset="-120"/>
              </a:rPr>
              <a:t>correct</a:t>
            </a:r>
            <a:endParaRPr lang="en-US" sz="1020" dirty="0"/>
          </a:p>
        </p:txBody>
      </p:sp>
      <p:sp>
        <p:nvSpPr>
          <p:cNvPr id="53" name="Shape 51"/>
          <p:cNvSpPr/>
          <p:nvPr/>
        </p:nvSpPr>
        <p:spPr>
          <a:xfrm>
            <a:off x="571500" y="5924550"/>
            <a:ext cx="11049000" cy="11430"/>
          </a:xfrm>
          <a:prstGeom prst="rect">
            <a:avLst/>
          </a:prstGeom>
          <a:solidFill>
            <a:srgbClr val="D7E1EA"/>
          </a:solidFill>
          <a:ln/>
        </p:spPr>
        <p:txBody>
          <a:bodyPr/>
          <a:lstStyle/>
          <a:p>
            <a:endParaRPr lang="en-IN"/>
          </a:p>
        </p:txBody>
      </p:sp>
      <p:sp>
        <p:nvSpPr>
          <p:cNvPr id="54" name="Shape 52"/>
          <p:cNvSpPr/>
          <p:nvPr/>
        </p:nvSpPr>
        <p:spPr>
          <a:xfrm>
            <a:off x="571500" y="6057900"/>
            <a:ext cx="11049000" cy="514350"/>
          </a:xfrm>
          <a:prstGeom prst="roundRect">
            <a:avLst>
              <a:gd name="adj" fmla="val 7111"/>
            </a:avLst>
          </a:prstGeom>
          <a:solidFill>
            <a:srgbClr val="FFF8E8"/>
          </a:solidFill>
          <a:ln w="12700">
            <a:solidFill>
              <a:srgbClr val="C58B18"/>
            </a:solidFill>
            <a:prstDash val="solid"/>
          </a:ln>
        </p:spPr>
        <p:txBody>
          <a:bodyPr/>
          <a:lstStyle/>
          <a:p>
            <a:endParaRPr lang="en-IN"/>
          </a:p>
        </p:txBody>
      </p:sp>
      <p:sp>
        <p:nvSpPr>
          <p:cNvPr id="55" name="Text 53"/>
          <p:cNvSpPr/>
          <p:nvPr/>
        </p:nvSpPr>
        <p:spPr>
          <a:xfrm>
            <a:off x="781050" y="6200775"/>
            <a:ext cx="1809750" cy="238125"/>
          </a:xfrm>
          <a:prstGeom prst="rect">
            <a:avLst/>
          </a:prstGeom>
          <a:noFill/>
          <a:ln/>
        </p:spPr>
        <p:txBody>
          <a:bodyPr wrap="square" lIns="0" tIns="0" rIns="0" bIns="0" rtlCol="0" anchor="t">
            <a:normAutofit/>
          </a:bodyPr>
          <a:lstStyle/>
          <a:p>
            <a:pPr marL="0" indent="0" algn="l">
              <a:lnSpc>
                <a:spcPct val="100000"/>
              </a:lnSpc>
              <a:buNone/>
            </a:pPr>
            <a:r>
              <a:rPr lang="en-US" sz="1600" b="1" dirty="0">
                <a:solidFill>
                  <a:srgbClr val="C58B18"/>
                </a:solidFill>
                <a:latin typeface="Cambria" pitchFamily="34" charset="0"/>
                <a:ea typeface="Cambria" pitchFamily="34" charset="-122"/>
                <a:cs typeface="Cambria" pitchFamily="34" charset="-120"/>
              </a:rPr>
              <a:t>Note</a:t>
            </a:r>
            <a:endParaRPr lang="en-US" sz="1600" dirty="0"/>
          </a:p>
        </p:txBody>
      </p:sp>
      <p:sp>
        <p:nvSpPr>
          <p:cNvPr id="56" name="Text 54"/>
          <p:cNvSpPr/>
          <p:nvPr/>
        </p:nvSpPr>
        <p:spPr>
          <a:xfrm>
            <a:off x="2781300" y="6181725"/>
            <a:ext cx="8629650" cy="285750"/>
          </a:xfrm>
          <a:prstGeom prst="rect">
            <a:avLst/>
          </a:prstGeom>
          <a:noFill/>
          <a:ln/>
        </p:spPr>
        <p:txBody>
          <a:bodyPr wrap="square" lIns="0" tIns="0" rIns="0" bIns="0" rtlCol="0" anchor="t">
            <a:normAutofit/>
          </a:bodyPr>
          <a:lstStyle/>
          <a:p>
            <a:pPr marL="0" indent="0" algn="l">
              <a:lnSpc>
                <a:spcPct val="100000"/>
              </a:lnSpc>
              <a:buNone/>
            </a:pPr>
            <a:r>
              <a:rPr lang="en-US" sz="1220" b="1" dirty="0">
                <a:solidFill>
                  <a:srgbClr val="12263A"/>
                </a:solidFill>
                <a:latin typeface="Calibri" pitchFamily="34" charset="0"/>
                <a:ea typeface="Calibri" pitchFamily="34" charset="-122"/>
                <a:cs typeface="Calibri" pitchFamily="34" charset="-120"/>
              </a:rPr>
              <a:t>The pre-frozen base rule returned BENIGN on C1, C2 and C3 at 0/12 each. These three coverage gaps were closed by a disclosed post-campaign rule revision, evaluated on the same captures and reported separately from the pre-frozen result.</a:t>
            </a:r>
            <a:endParaRPr lang="en-US" sz="12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8FAFC"/>
          </a:solidFill>
          <a:ln/>
        </p:spPr>
        <p:txBody>
          <a:bodyPr/>
          <a:lstStyle/>
          <a:p>
            <a:endParaRPr lang="en-IN"/>
          </a:p>
        </p:txBody>
      </p:sp>
      <p:sp>
        <p:nvSpPr>
          <p:cNvPr id="3" name="Shape 1"/>
          <p:cNvSpPr/>
          <p:nvPr/>
        </p:nvSpPr>
        <p:spPr>
          <a:xfrm>
            <a:off x="0" y="0"/>
            <a:ext cx="12192000" cy="114300"/>
          </a:xfrm>
          <a:prstGeom prst="rect">
            <a:avLst/>
          </a:prstGeom>
          <a:solidFill>
            <a:srgbClr val="18B89A"/>
          </a:solidFill>
          <a:ln/>
        </p:spPr>
        <p:txBody>
          <a:bodyPr/>
          <a:lstStyle/>
          <a:p>
            <a:endParaRPr lang="en-IN"/>
          </a:p>
        </p:txBody>
      </p:sp>
      <p:sp>
        <p:nvSpPr>
          <p:cNvPr id="4" name="Text 2"/>
          <p:cNvSpPr/>
          <p:nvPr/>
        </p:nvSpPr>
        <p:spPr>
          <a:xfrm>
            <a:off x="571500" y="209550"/>
            <a:ext cx="11049000" cy="228600"/>
          </a:xfrm>
          <a:prstGeom prst="rect">
            <a:avLst/>
          </a:prstGeom>
          <a:noFill/>
          <a:ln/>
        </p:spPr>
        <p:txBody>
          <a:bodyPr wrap="square" lIns="0" tIns="0" rIns="0" bIns="0" rtlCol="0" anchor="t">
            <a:normAutofit/>
          </a:bodyPr>
          <a:lstStyle/>
          <a:p>
            <a:pPr marL="0" indent="0" algn="l">
              <a:lnSpc>
                <a:spcPct val="100000"/>
              </a:lnSpc>
              <a:buNone/>
            </a:pPr>
            <a:r>
              <a:rPr lang="en-US" sz="1280" b="1" dirty="0">
                <a:solidFill>
                  <a:srgbClr val="1C7293"/>
                </a:solidFill>
                <a:latin typeface="Calibri" pitchFamily="34" charset="0"/>
                <a:ea typeface="Calibri" pitchFamily="34" charset="-122"/>
                <a:cs typeface="Calibri" pitchFamily="34" charset="-120"/>
              </a:rPr>
              <a:t>FAULT TAXONOMY · BENIGN SCENARIOS</a:t>
            </a:r>
            <a:endParaRPr lang="en-US" sz="1280" dirty="0"/>
          </a:p>
        </p:txBody>
      </p:sp>
      <p:sp>
        <p:nvSpPr>
          <p:cNvPr id="5" name="Text 3"/>
          <p:cNvSpPr/>
          <p:nvPr/>
        </p:nvSpPr>
        <p:spPr>
          <a:xfrm>
            <a:off x="571500" y="447675"/>
            <a:ext cx="11049000" cy="552450"/>
          </a:xfrm>
          <a:prstGeom prst="rect">
            <a:avLst/>
          </a:prstGeom>
          <a:noFill/>
          <a:ln/>
        </p:spPr>
        <p:txBody>
          <a:bodyPr wrap="square" lIns="0" tIns="0" rIns="0" bIns="0" rtlCol="0" anchor="t">
            <a:normAutofit/>
          </a:bodyPr>
          <a:lstStyle/>
          <a:p>
            <a:pPr marL="0" indent="0" algn="l">
              <a:lnSpc>
                <a:spcPct val="100000"/>
              </a:lnSpc>
              <a:buNone/>
            </a:pPr>
            <a:r>
              <a:rPr lang="en-US" sz="3200" b="1" dirty="0">
                <a:solidFill>
                  <a:srgbClr val="12263A"/>
                </a:solidFill>
                <a:latin typeface="Cambria" pitchFamily="34" charset="0"/>
                <a:ea typeface="Cambria" pitchFamily="34" charset="-122"/>
                <a:cs typeface="Cambria" pitchFamily="34" charset="-120"/>
              </a:rPr>
              <a:t>Benign Fault and Operational-Change Scenarios</a:t>
            </a:r>
            <a:endParaRPr lang="en-US" sz="3200" dirty="0"/>
          </a:p>
        </p:txBody>
      </p:sp>
      <p:sp>
        <p:nvSpPr>
          <p:cNvPr id="6" name="Shape 4"/>
          <p:cNvSpPr/>
          <p:nvPr/>
        </p:nvSpPr>
        <p:spPr>
          <a:xfrm>
            <a:off x="571500" y="1057275"/>
            <a:ext cx="11049000" cy="438150"/>
          </a:xfrm>
          <a:prstGeom prst="roundRect">
            <a:avLst>
              <a:gd name="adj" fmla="val 8348"/>
            </a:avLst>
          </a:prstGeom>
          <a:solidFill>
            <a:srgbClr val="EAF2F8"/>
          </a:solidFill>
          <a:ln w="12700">
            <a:solidFill>
              <a:srgbClr val="D7E1EA"/>
            </a:solidFill>
            <a:prstDash val="solid"/>
          </a:ln>
        </p:spPr>
        <p:txBody>
          <a:bodyPr/>
          <a:lstStyle/>
          <a:p>
            <a:endParaRPr lang="en-IN"/>
          </a:p>
        </p:txBody>
      </p:sp>
      <p:sp>
        <p:nvSpPr>
          <p:cNvPr id="7" name="Text 5"/>
          <p:cNvSpPr/>
          <p:nvPr/>
        </p:nvSpPr>
        <p:spPr>
          <a:xfrm>
            <a:off x="723900" y="1123950"/>
            <a:ext cx="10744200" cy="323850"/>
          </a:xfrm>
          <a:prstGeom prst="rect">
            <a:avLst/>
          </a:prstGeom>
          <a:noFill/>
          <a:ln/>
        </p:spPr>
        <p:txBody>
          <a:bodyPr wrap="square" lIns="0" tIns="0" rIns="0" bIns="0" rtlCol="0" anchor="t">
            <a:normAutofit/>
          </a:bodyPr>
          <a:lstStyle/>
          <a:p>
            <a:pPr marL="0" indent="0" algn="l">
              <a:lnSpc>
                <a:spcPct val="102000"/>
              </a:lnSpc>
              <a:buNone/>
            </a:pPr>
            <a:r>
              <a:rPr lang="en-US" sz="1120" dirty="0">
                <a:solidFill>
                  <a:srgbClr val="5B6B7C"/>
                </a:solidFill>
                <a:latin typeface="Calibri" pitchFamily="34" charset="0"/>
                <a:ea typeface="Calibri" pitchFamily="34" charset="-122"/>
                <a:cs typeface="Calibri" pitchFamily="34" charset="-120"/>
              </a:rPr>
              <a:t>ITU-T G.8275.1 clockClass ladder and stepsRemoved semantics  |  IEEE 1588-2019 BMCA re-election behaviour  |  Provisioned operator context: allow-list, maintenance-window state, expected boundary-clock identity</a:t>
            </a:r>
            <a:endParaRPr lang="en-US" sz="1120" dirty="0"/>
          </a:p>
        </p:txBody>
      </p:sp>
      <p:sp>
        <p:nvSpPr>
          <p:cNvPr id="8" name="Text 6"/>
          <p:cNvSpPr/>
          <p:nvPr/>
        </p:nvSpPr>
        <p:spPr>
          <a:xfrm>
            <a:off x="666750" y="1676400"/>
            <a:ext cx="2381250" cy="22860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1C7293"/>
                </a:solidFill>
                <a:latin typeface="Calibri" pitchFamily="34" charset="0"/>
                <a:ea typeface="Calibri" pitchFamily="34" charset="-122"/>
                <a:cs typeface="Calibri" pitchFamily="34" charset="-120"/>
              </a:rPr>
              <a:t>SCENARIO</a:t>
            </a:r>
            <a:endParaRPr lang="en-US" sz="1200" dirty="0"/>
          </a:p>
        </p:txBody>
      </p:sp>
      <p:sp>
        <p:nvSpPr>
          <p:cNvPr id="9" name="Text 7"/>
          <p:cNvSpPr/>
          <p:nvPr/>
        </p:nvSpPr>
        <p:spPr>
          <a:xfrm>
            <a:off x="3143250" y="1676400"/>
            <a:ext cx="3143250" cy="22860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1C7293"/>
                </a:solidFill>
                <a:latin typeface="Calibri" pitchFamily="34" charset="0"/>
                <a:ea typeface="Calibri" pitchFamily="34" charset="-122"/>
                <a:cs typeface="Calibri" pitchFamily="34" charset="-120"/>
              </a:rPr>
              <a:t>INJECTED CONDITION</a:t>
            </a:r>
            <a:endParaRPr lang="en-US" sz="1200" dirty="0"/>
          </a:p>
        </p:txBody>
      </p:sp>
      <p:sp>
        <p:nvSpPr>
          <p:cNvPr id="10" name="Text 8"/>
          <p:cNvSpPr/>
          <p:nvPr/>
        </p:nvSpPr>
        <p:spPr>
          <a:xfrm>
            <a:off x="6477000" y="1676400"/>
            <a:ext cx="2857500" cy="22860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1C7293"/>
                </a:solidFill>
                <a:latin typeface="Calibri" pitchFamily="34" charset="0"/>
                <a:ea typeface="Calibri" pitchFamily="34" charset="-122"/>
                <a:cs typeface="Calibri" pitchFamily="34" charset="-120"/>
              </a:rPr>
              <a:t>OBSERVABLE EFFECT</a:t>
            </a:r>
            <a:endParaRPr lang="en-US" sz="1200" dirty="0"/>
          </a:p>
        </p:txBody>
      </p:sp>
      <p:sp>
        <p:nvSpPr>
          <p:cNvPr id="11" name="Text 9"/>
          <p:cNvSpPr/>
          <p:nvPr/>
        </p:nvSpPr>
        <p:spPr>
          <a:xfrm>
            <a:off x="9477375" y="1676400"/>
            <a:ext cx="1047750" cy="22860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1C7293"/>
                </a:solidFill>
                <a:latin typeface="Calibri" pitchFamily="34" charset="0"/>
                <a:ea typeface="Calibri" pitchFamily="34" charset="-122"/>
                <a:cs typeface="Calibri" pitchFamily="34" charset="-120"/>
              </a:rPr>
              <a:t>EXPECTED</a:t>
            </a:r>
            <a:endParaRPr lang="en-US" sz="1200" dirty="0"/>
          </a:p>
        </p:txBody>
      </p:sp>
      <p:sp>
        <p:nvSpPr>
          <p:cNvPr id="12" name="Text 10"/>
          <p:cNvSpPr/>
          <p:nvPr/>
        </p:nvSpPr>
        <p:spPr>
          <a:xfrm>
            <a:off x="10525125" y="1676400"/>
            <a:ext cx="1047750" cy="22860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1C7293"/>
                </a:solidFill>
                <a:latin typeface="Calibri" pitchFamily="34" charset="0"/>
                <a:ea typeface="Calibri" pitchFamily="34" charset="-122"/>
                <a:cs typeface="Calibri" pitchFamily="34" charset="-120"/>
              </a:rPr>
              <a:t>RESULT</a:t>
            </a:r>
            <a:endParaRPr lang="en-US" sz="1200" dirty="0"/>
          </a:p>
        </p:txBody>
      </p:sp>
      <p:sp>
        <p:nvSpPr>
          <p:cNvPr id="13" name="Shape 11"/>
          <p:cNvSpPr/>
          <p:nvPr/>
        </p:nvSpPr>
        <p:spPr>
          <a:xfrm>
            <a:off x="571500" y="1933575"/>
            <a:ext cx="11049000" cy="11430"/>
          </a:xfrm>
          <a:prstGeom prst="rect">
            <a:avLst/>
          </a:prstGeom>
          <a:solidFill>
            <a:srgbClr val="D7E1EA"/>
          </a:solidFill>
          <a:ln/>
        </p:spPr>
        <p:txBody>
          <a:bodyPr/>
          <a:lstStyle/>
          <a:p>
            <a:endParaRPr lang="en-IN"/>
          </a:p>
        </p:txBody>
      </p:sp>
      <p:sp>
        <p:nvSpPr>
          <p:cNvPr id="14" name="Text 12"/>
          <p:cNvSpPr/>
          <p:nvPr/>
        </p:nvSpPr>
        <p:spPr>
          <a:xfrm>
            <a:off x="666750" y="2000250"/>
            <a:ext cx="2381250" cy="209550"/>
          </a:xfrm>
          <a:prstGeom prst="rect">
            <a:avLst/>
          </a:prstGeom>
          <a:noFill/>
          <a:ln/>
        </p:spPr>
        <p:txBody>
          <a:bodyPr wrap="square" lIns="0" tIns="0" rIns="0" bIns="0" rtlCol="0" anchor="t">
            <a:normAutofit/>
          </a:bodyPr>
          <a:lstStyle/>
          <a:p>
            <a:pPr marL="0" indent="0" algn="l">
              <a:lnSpc>
                <a:spcPct val="100000"/>
              </a:lnSpc>
              <a:buNone/>
            </a:pPr>
            <a:r>
              <a:rPr lang="en-US" sz="1550" b="1" dirty="0">
                <a:solidFill>
                  <a:srgbClr val="12263A"/>
                </a:solidFill>
                <a:latin typeface="Cambria" pitchFamily="34" charset="0"/>
                <a:ea typeface="Cambria" pitchFamily="34" charset="-122"/>
                <a:cs typeface="Cambria" pitchFamily="34" charset="-120"/>
              </a:rPr>
              <a:t>baseline</a:t>
            </a:r>
            <a:endParaRPr lang="en-US" sz="1550" dirty="0"/>
          </a:p>
        </p:txBody>
      </p:sp>
      <p:sp>
        <p:nvSpPr>
          <p:cNvPr id="15" name="Text 13"/>
          <p:cNvSpPr/>
          <p:nvPr/>
        </p:nvSpPr>
        <p:spPr>
          <a:xfrm>
            <a:off x="666750" y="2209800"/>
            <a:ext cx="2381250" cy="285750"/>
          </a:xfrm>
          <a:prstGeom prst="rect">
            <a:avLst/>
          </a:prstGeom>
          <a:noFill/>
          <a:ln/>
        </p:spPr>
        <p:txBody>
          <a:bodyPr wrap="square" lIns="0" tIns="0" rIns="0" bIns="0" rtlCol="0" anchor="t">
            <a:normAutofit/>
          </a:bodyPr>
          <a:lstStyle/>
          <a:p>
            <a:pPr marL="0" indent="0" algn="l">
              <a:lnSpc>
                <a:spcPct val="100000"/>
              </a:lnSpc>
              <a:buNone/>
            </a:pPr>
            <a:r>
              <a:rPr lang="en-US" sz="1220" dirty="0">
                <a:solidFill>
                  <a:srgbClr val="5B6B7C"/>
                </a:solidFill>
                <a:latin typeface="Calibri" pitchFamily="34" charset="0"/>
                <a:ea typeface="Calibri" pitchFamily="34" charset="-122"/>
                <a:cs typeface="Calibri" pitchFamily="34" charset="-120"/>
              </a:rPr>
              <a:t>Healthy control</a:t>
            </a:r>
            <a:endParaRPr lang="en-US" sz="1220" dirty="0"/>
          </a:p>
        </p:txBody>
      </p:sp>
      <p:sp>
        <p:nvSpPr>
          <p:cNvPr id="16" name="Text 14"/>
          <p:cNvSpPr/>
          <p:nvPr/>
        </p:nvSpPr>
        <p:spPr>
          <a:xfrm>
            <a:off x="666750" y="2495550"/>
            <a:ext cx="2381250" cy="171450"/>
          </a:xfrm>
          <a:prstGeom prst="rect">
            <a:avLst/>
          </a:prstGeom>
          <a:noFill/>
          <a:ln/>
        </p:spPr>
        <p:txBody>
          <a:bodyPr wrap="square" lIns="0" tIns="0" rIns="0" bIns="0" rtlCol="0" anchor="t">
            <a:normAutofit/>
          </a:bodyPr>
          <a:lstStyle/>
          <a:p>
            <a:pPr marL="0" indent="0" algn="l">
              <a:lnSpc>
                <a:spcPct val="100000"/>
              </a:lnSpc>
              <a:buNone/>
            </a:pPr>
            <a:r>
              <a:rPr lang="en-US" sz="1020" b="1" dirty="0">
                <a:solidFill>
                  <a:srgbClr val="1C7293"/>
                </a:solidFill>
                <a:latin typeface="Calibri" pitchFamily="34" charset="0"/>
                <a:ea typeface="Calibri" pitchFamily="34" charset="-122"/>
                <a:cs typeface="Calibri" pitchFamily="34" charset="-120"/>
              </a:rPr>
              <a:t>—</a:t>
            </a:r>
            <a:endParaRPr lang="en-US" sz="1020" dirty="0"/>
          </a:p>
        </p:txBody>
      </p:sp>
      <p:sp>
        <p:nvSpPr>
          <p:cNvPr id="17" name="Text 15"/>
          <p:cNvSpPr/>
          <p:nvPr/>
        </p:nvSpPr>
        <p:spPr>
          <a:xfrm>
            <a:off x="3143250" y="2000250"/>
            <a:ext cx="3200400" cy="685800"/>
          </a:xfrm>
          <a:prstGeom prst="rect">
            <a:avLst/>
          </a:prstGeom>
          <a:noFill/>
          <a:ln/>
        </p:spPr>
        <p:txBody>
          <a:bodyPr wrap="square" lIns="0" tIns="0" rIns="0" bIns="0" rtlCol="0" anchor="t">
            <a:normAutofit/>
          </a:bodyPr>
          <a:lstStyle/>
          <a:p>
            <a:pPr marL="0" indent="0" algn="l">
              <a:lnSpc>
                <a:spcPct val="100000"/>
              </a:lnSpc>
              <a:buNone/>
            </a:pPr>
            <a:r>
              <a:rPr lang="en-US" sz="1200" dirty="0">
                <a:solidFill>
                  <a:srgbClr val="12263A"/>
                </a:solidFill>
                <a:latin typeface="Calibri" pitchFamily="34" charset="0"/>
                <a:ea typeface="Calibri" pitchFamily="34" charset="-122"/>
                <a:cs typeface="Calibri" pitchFamily="34" charset="-120"/>
              </a:rPr>
              <a:t>All six daemons nominal: grandmaster A elected, relayed through the boundary clock to three radio units.</a:t>
            </a:r>
            <a:endParaRPr lang="en-US" sz="1200" dirty="0"/>
          </a:p>
        </p:txBody>
      </p:sp>
      <p:sp>
        <p:nvSpPr>
          <p:cNvPr id="18" name="Text 16"/>
          <p:cNvSpPr/>
          <p:nvPr/>
        </p:nvSpPr>
        <p:spPr>
          <a:xfrm>
            <a:off x="6477000" y="2000250"/>
            <a:ext cx="2857500" cy="685800"/>
          </a:xfrm>
          <a:prstGeom prst="rect">
            <a:avLst/>
          </a:prstGeom>
          <a:noFill/>
          <a:ln/>
        </p:spPr>
        <p:txBody>
          <a:bodyPr wrap="square" lIns="0" tIns="0" rIns="0" bIns="0" rtlCol="0" anchor="t">
            <a:normAutofit/>
          </a:bodyPr>
          <a:lstStyle/>
          <a:p>
            <a:pPr marL="0" indent="0" algn="l">
              <a:lnSpc>
                <a:spcPct val="100000"/>
              </a:lnSpc>
              <a:buNone/>
            </a:pPr>
            <a:r>
              <a:rPr lang="en-US" sz="1200" dirty="0">
                <a:solidFill>
                  <a:srgbClr val="5B6B7C"/>
                </a:solidFill>
                <a:latin typeface="Calibri" pitchFamily="34" charset="0"/>
                <a:ea typeface="Calibri" pitchFamily="34" charset="-122"/>
                <a:cs typeface="Calibri" pitchFamily="34" charset="-120"/>
              </a:rPr>
              <a:t>Stable offset and path delay; message cadence matches the declared profile rates.</a:t>
            </a:r>
            <a:endParaRPr lang="en-US" sz="1200" dirty="0"/>
          </a:p>
        </p:txBody>
      </p:sp>
      <p:sp>
        <p:nvSpPr>
          <p:cNvPr id="19" name="Shape 17"/>
          <p:cNvSpPr/>
          <p:nvPr/>
        </p:nvSpPr>
        <p:spPr>
          <a:xfrm>
            <a:off x="9477375" y="2038350"/>
            <a:ext cx="914400" cy="247650"/>
          </a:xfrm>
          <a:prstGeom prst="roundRect">
            <a:avLst>
              <a:gd name="adj" fmla="val 14769"/>
            </a:avLst>
          </a:prstGeom>
          <a:solidFill>
            <a:srgbClr val="E3F3EA"/>
          </a:solidFill>
          <a:ln w="12700">
            <a:solidFill>
              <a:srgbClr val="1E8E5A"/>
            </a:solidFill>
            <a:prstDash val="solid"/>
          </a:ln>
        </p:spPr>
        <p:txBody>
          <a:bodyPr/>
          <a:lstStyle/>
          <a:p>
            <a:endParaRPr lang="en-IN"/>
          </a:p>
        </p:txBody>
      </p:sp>
      <p:sp>
        <p:nvSpPr>
          <p:cNvPr id="20" name="Text 18"/>
          <p:cNvSpPr/>
          <p:nvPr/>
        </p:nvSpPr>
        <p:spPr>
          <a:xfrm>
            <a:off x="9477375" y="2085975"/>
            <a:ext cx="914400" cy="190500"/>
          </a:xfrm>
          <a:prstGeom prst="rect">
            <a:avLst/>
          </a:prstGeom>
          <a:noFill/>
          <a:ln/>
        </p:spPr>
        <p:txBody>
          <a:bodyPr wrap="square" lIns="0" tIns="0" rIns="0" bIns="0" rtlCol="0" anchor="t">
            <a:normAutofit/>
          </a:bodyPr>
          <a:lstStyle/>
          <a:p>
            <a:pPr marL="0" indent="0" algn="ctr">
              <a:lnSpc>
                <a:spcPct val="100000"/>
              </a:lnSpc>
              <a:buNone/>
            </a:pPr>
            <a:r>
              <a:rPr lang="en-US" sz="1150" b="1" dirty="0">
                <a:solidFill>
                  <a:srgbClr val="1E8E5A"/>
                </a:solidFill>
                <a:latin typeface="Calibri" pitchFamily="34" charset="0"/>
                <a:ea typeface="Calibri" pitchFamily="34" charset="-122"/>
                <a:cs typeface="Calibri" pitchFamily="34" charset="-120"/>
              </a:rPr>
              <a:t>BENIGN</a:t>
            </a:r>
            <a:endParaRPr lang="en-US" sz="1150" dirty="0"/>
          </a:p>
        </p:txBody>
      </p:sp>
      <p:sp>
        <p:nvSpPr>
          <p:cNvPr id="21" name="Text 19"/>
          <p:cNvSpPr/>
          <p:nvPr/>
        </p:nvSpPr>
        <p:spPr>
          <a:xfrm>
            <a:off x="10525125" y="2019300"/>
            <a:ext cx="1047750" cy="228600"/>
          </a:xfrm>
          <a:prstGeom prst="rect">
            <a:avLst/>
          </a:prstGeom>
          <a:noFill/>
          <a:ln/>
        </p:spPr>
        <p:txBody>
          <a:bodyPr wrap="square" lIns="0" tIns="0" rIns="0" bIns="0" rtlCol="0" anchor="t">
            <a:normAutofit/>
          </a:bodyPr>
          <a:lstStyle/>
          <a:p>
            <a:pPr marL="0" indent="0" algn="l">
              <a:lnSpc>
                <a:spcPct val="100000"/>
              </a:lnSpc>
              <a:buNone/>
            </a:pPr>
            <a:r>
              <a:rPr lang="en-US" sz="1500" b="1" dirty="0">
                <a:solidFill>
                  <a:srgbClr val="1E8E5A"/>
                </a:solidFill>
                <a:latin typeface="Cambria" pitchFamily="34" charset="0"/>
                <a:ea typeface="Cambria" pitchFamily="34" charset="-122"/>
                <a:cs typeface="Cambria" pitchFamily="34" charset="-120"/>
              </a:rPr>
              <a:t>12/12</a:t>
            </a:r>
            <a:endParaRPr lang="en-US" sz="1500" dirty="0"/>
          </a:p>
        </p:txBody>
      </p:sp>
      <p:sp>
        <p:nvSpPr>
          <p:cNvPr id="22" name="Text 20"/>
          <p:cNvSpPr/>
          <p:nvPr/>
        </p:nvSpPr>
        <p:spPr>
          <a:xfrm>
            <a:off x="10525125" y="2247900"/>
            <a:ext cx="1047750" cy="171450"/>
          </a:xfrm>
          <a:prstGeom prst="rect">
            <a:avLst/>
          </a:prstGeom>
          <a:noFill/>
          <a:ln/>
        </p:spPr>
        <p:txBody>
          <a:bodyPr wrap="square" lIns="0" tIns="0" rIns="0" bIns="0" rtlCol="0" anchor="t">
            <a:normAutofit/>
          </a:bodyPr>
          <a:lstStyle/>
          <a:p>
            <a:pPr marL="0" indent="0" algn="l">
              <a:lnSpc>
                <a:spcPct val="100000"/>
              </a:lnSpc>
              <a:buNone/>
            </a:pPr>
            <a:r>
              <a:rPr lang="en-US" sz="1020" dirty="0">
                <a:solidFill>
                  <a:srgbClr val="5B6B7C"/>
                </a:solidFill>
                <a:latin typeface="Calibri" pitchFamily="34" charset="0"/>
                <a:ea typeface="Calibri" pitchFamily="34" charset="-122"/>
                <a:cs typeface="Calibri" pitchFamily="34" charset="-120"/>
              </a:rPr>
              <a:t>correct</a:t>
            </a:r>
            <a:endParaRPr lang="en-US" sz="1020" dirty="0"/>
          </a:p>
        </p:txBody>
      </p:sp>
      <p:sp>
        <p:nvSpPr>
          <p:cNvPr id="23" name="Shape 21"/>
          <p:cNvSpPr/>
          <p:nvPr/>
        </p:nvSpPr>
        <p:spPr>
          <a:xfrm>
            <a:off x="571500" y="2705100"/>
            <a:ext cx="11049000" cy="11430"/>
          </a:xfrm>
          <a:prstGeom prst="rect">
            <a:avLst/>
          </a:prstGeom>
          <a:solidFill>
            <a:srgbClr val="D7E1EA"/>
          </a:solidFill>
          <a:ln/>
        </p:spPr>
        <p:txBody>
          <a:bodyPr/>
          <a:lstStyle/>
          <a:p>
            <a:endParaRPr lang="en-IN"/>
          </a:p>
        </p:txBody>
      </p:sp>
      <p:sp>
        <p:nvSpPr>
          <p:cNvPr id="24" name="Text 22"/>
          <p:cNvSpPr/>
          <p:nvPr/>
        </p:nvSpPr>
        <p:spPr>
          <a:xfrm>
            <a:off x="666750" y="2800350"/>
            <a:ext cx="2381250" cy="209550"/>
          </a:xfrm>
          <a:prstGeom prst="rect">
            <a:avLst/>
          </a:prstGeom>
          <a:noFill/>
          <a:ln/>
        </p:spPr>
        <p:txBody>
          <a:bodyPr wrap="square" lIns="0" tIns="0" rIns="0" bIns="0" rtlCol="0" anchor="t">
            <a:normAutofit/>
          </a:bodyPr>
          <a:lstStyle/>
          <a:p>
            <a:pPr marL="0" indent="0" algn="l">
              <a:lnSpc>
                <a:spcPct val="100000"/>
              </a:lnSpc>
              <a:buNone/>
            </a:pPr>
            <a:r>
              <a:rPr lang="en-US" sz="1550" b="1" dirty="0">
                <a:solidFill>
                  <a:srgbClr val="12263A"/>
                </a:solidFill>
                <a:latin typeface="Cambria" pitchFamily="34" charset="0"/>
                <a:ea typeface="Cambria" pitchFamily="34" charset="-122"/>
                <a:cs typeface="Cambria" pitchFamily="34" charset="-120"/>
              </a:rPr>
              <a:t>B2</a:t>
            </a:r>
            <a:endParaRPr lang="en-US" sz="1550" dirty="0"/>
          </a:p>
        </p:txBody>
      </p:sp>
      <p:sp>
        <p:nvSpPr>
          <p:cNvPr id="25" name="Text 23"/>
          <p:cNvSpPr/>
          <p:nvPr/>
        </p:nvSpPr>
        <p:spPr>
          <a:xfrm>
            <a:off x="666750" y="3009900"/>
            <a:ext cx="2381250" cy="285750"/>
          </a:xfrm>
          <a:prstGeom prst="rect">
            <a:avLst/>
          </a:prstGeom>
          <a:noFill/>
          <a:ln/>
        </p:spPr>
        <p:txBody>
          <a:bodyPr wrap="square" lIns="0" tIns="0" rIns="0" bIns="0" rtlCol="0" anchor="t">
            <a:normAutofit/>
          </a:bodyPr>
          <a:lstStyle/>
          <a:p>
            <a:pPr marL="0" indent="0" algn="l">
              <a:lnSpc>
                <a:spcPct val="100000"/>
              </a:lnSpc>
              <a:buNone/>
            </a:pPr>
            <a:r>
              <a:rPr lang="en-US" sz="1220" dirty="0">
                <a:solidFill>
                  <a:srgbClr val="5B6B7C"/>
                </a:solidFill>
                <a:latin typeface="Calibri" pitchFamily="34" charset="0"/>
                <a:ea typeface="Calibri" pitchFamily="34" charset="-122"/>
                <a:cs typeface="Calibri" pitchFamily="34" charset="-120"/>
              </a:rPr>
              <a:t>Planned grandmaster changeover</a:t>
            </a:r>
            <a:endParaRPr lang="en-US" sz="1220" dirty="0"/>
          </a:p>
        </p:txBody>
      </p:sp>
      <p:sp>
        <p:nvSpPr>
          <p:cNvPr id="26" name="Text 24"/>
          <p:cNvSpPr/>
          <p:nvPr/>
        </p:nvSpPr>
        <p:spPr>
          <a:xfrm>
            <a:off x="666750" y="3295650"/>
            <a:ext cx="2381250" cy="171450"/>
          </a:xfrm>
          <a:prstGeom prst="rect">
            <a:avLst/>
          </a:prstGeom>
          <a:noFill/>
          <a:ln/>
        </p:spPr>
        <p:txBody>
          <a:bodyPr wrap="square" lIns="0" tIns="0" rIns="0" bIns="0" rtlCol="0" anchor="t">
            <a:normAutofit/>
          </a:bodyPr>
          <a:lstStyle/>
          <a:p>
            <a:pPr marL="0" indent="0" algn="l">
              <a:lnSpc>
                <a:spcPct val="100000"/>
              </a:lnSpc>
              <a:buNone/>
            </a:pPr>
            <a:r>
              <a:rPr lang="en-US" sz="1020" b="1" dirty="0">
                <a:solidFill>
                  <a:srgbClr val="1C7293"/>
                </a:solidFill>
                <a:latin typeface="Calibri" pitchFamily="34" charset="0"/>
                <a:ea typeface="Calibri" pitchFamily="34" charset="-122"/>
                <a:cs typeface="Calibri" pitchFamily="34" charset="-120"/>
              </a:rPr>
              <a:t>ITU-T G.8275.1</a:t>
            </a:r>
            <a:endParaRPr lang="en-US" sz="1020" dirty="0"/>
          </a:p>
        </p:txBody>
      </p:sp>
      <p:sp>
        <p:nvSpPr>
          <p:cNvPr id="27" name="Text 25"/>
          <p:cNvSpPr/>
          <p:nvPr/>
        </p:nvSpPr>
        <p:spPr>
          <a:xfrm>
            <a:off x="3143250" y="2800350"/>
            <a:ext cx="3200400" cy="685800"/>
          </a:xfrm>
          <a:prstGeom prst="rect">
            <a:avLst/>
          </a:prstGeom>
          <a:noFill/>
          <a:ln/>
        </p:spPr>
        <p:txBody>
          <a:bodyPr wrap="square" lIns="0" tIns="0" rIns="0" bIns="0" rtlCol="0" anchor="t">
            <a:normAutofit/>
          </a:bodyPr>
          <a:lstStyle/>
          <a:p>
            <a:pPr marL="0" indent="0" algn="l">
              <a:lnSpc>
                <a:spcPct val="100000"/>
              </a:lnSpc>
              <a:buNone/>
            </a:pPr>
            <a:r>
              <a:rPr lang="en-US" sz="1200" dirty="0">
                <a:solidFill>
                  <a:srgbClr val="12263A"/>
                </a:solidFill>
                <a:latin typeface="Calibri" pitchFamily="34" charset="0"/>
                <a:ea typeface="Calibri" pitchFamily="34" charset="-122"/>
                <a:cs typeface="Calibri" pitchFamily="34" charset="-120"/>
              </a:rPr>
              <a:t>Grandmaster A withdrawn during an open maintenance window; grandmaster B, which is on the provisioned allow-list, is elected.</a:t>
            </a:r>
            <a:endParaRPr lang="en-US" sz="1200" dirty="0"/>
          </a:p>
        </p:txBody>
      </p:sp>
      <p:sp>
        <p:nvSpPr>
          <p:cNvPr id="28" name="Text 26"/>
          <p:cNvSpPr/>
          <p:nvPr/>
        </p:nvSpPr>
        <p:spPr>
          <a:xfrm>
            <a:off x="6477000" y="2800350"/>
            <a:ext cx="2857500" cy="685800"/>
          </a:xfrm>
          <a:prstGeom prst="rect">
            <a:avLst/>
          </a:prstGeom>
          <a:noFill/>
          <a:ln/>
        </p:spPr>
        <p:txBody>
          <a:bodyPr wrap="square" lIns="0" tIns="0" rIns="0" bIns="0" rtlCol="0" anchor="t">
            <a:normAutofit/>
          </a:bodyPr>
          <a:lstStyle/>
          <a:p>
            <a:pPr marL="0" indent="0" algn="l">
              <a:lnSpc>
                <a:spcPct val="100000"/>
              </a:lnSpc>
              <a:buNone/>
            </a:pPr>
            <a:r>
              <a:rPr lang="en-US" sz="1200" dirty="0">
                <a:solidFill>
                  <a:srgbClr val="5B6B7C"/>
                </a:solidFill>
                <a:latin typeface="Calibri" pitchFamily="34" charset="0"/>
                <a:ea typeface="Calibri" pitchFamily="34" charset="-122"/>
                <a:cs typeface="Calibri" pitchFamily="34" charset="-120"/>
              </a:rPr>
              <a:t>A grandmaster change identical in packet terms to A1 — the distinguishing evidence is allow-list membership plus maintenance state.</a:t>
            </a:r>
            <a:endParaRPr lang="en-US" sz="1200" dirty="0"/>
          </a:p>
        </p:txBody>
      </p:sp>
      <p:sp>
        <p:nvSpPr>
          <p:cNvPr id="29" name="Shape 27"/>
          <p:cNvSpPr/>
          <p:nvPr/>
        </p:nvSpPr>
        <p:spPr>
          <a:xfrm>
            <a:off x="9477375" y="2838450"/>
            <a:ext cx="914400" cy="247650"/>
          </a:xfrm>
          <a:prstGeom prst="roundRect">
            <a:avLst>
              <a:gd name="adj" fmla="val 14769"/>
            </a:avLst>
          </a:prstGeom>
          <a:solidFill>
            <a:srgbClr val="E3F3EA"/>
          </a:solidFill>
          <a:ln w="12700">
            <a:solidFill>
              <a:srgbClr val="1E8E5A"/>
            </a:solidFill>
            <a:prstDash val="solid"/>
          </a:ln>
        </p:spPr>
        <p:txBody>
          <a:bodyPr/>
          <a:lstStyle/>
          <a:p>
            <a:endParaRPr lang="en-IN"/>
          </a:p>
        </p:txBody>
      </p:sp>
      <p:sp>
        <p:nvSpPr>
          <p:cNvPr id="30" name="Text 28"/>
          <p:cNvSpPr/>
          <p:nvPr/>
        </p:nvSpPr>
        <p:spPr>
          <a:xfrm>
            <a:off x="9477375" y="2886075"/>
            <a:ext cx="914400" cy="190500"/>
          </a:xfrm>
          <a:prstGeom prst="rect">
            <a:avLst/>
          </a:prstGeom>
          <a:noFill/>
          <a:ln/>
        </p:spPr>
        <p:txBody>
          <a:bodyPr wrap="square" lIns="0" tIns="0" rIns="0" bIns="0" rtlCol="0" anchor="t">
            <a:normAutofit/>
          </a:bodyPr>
          <a:lstStyle/>
          <a:p>
            <a:pPr marL="0" indent="0" algn="ctr">
              <a:lnSpc>
                <a:spcPct val="100000"/>
              </a:lnSpc>
              <a:buNone/>
            </a:pPr>
            <a:r>
              <a:rPr lang="en-US" sz="1150" b="1" dirty="0">
                <a:solidFill>
                  <a:srgbClr val="1E8E5A"/>
                </a:solidFill>
                <a:latin typeface="Calibri" pitchFamily="34" charset="0"/>
                <a:ea typeface="Calibri" pitchFamily="34" charset="-122"/>
                <a:cs typeface="Calibri" pitchFamily="34" charset="-120"/>
              </a:rPr>
              <a:t>BENIGN</a:t>
            </a:r>
            <a:endParaRPr lang="en-US" sz="1150" dirty="0"/>
          </a:p>
        </p:txBody>
      </p:sp>
      <p:sp>
        <p:nvSpPr>
          <p:cNvPr id="31" name="Text 29"/>
          <p:cNvSpPr/>
          <p:nvPr/>
        </p:nvSpPr>
        <p:spPr>
          <a:xfrm>
            <a:off x="10525125" y="2819400"/>
            <a:ext cx="1047750" cy="228600"/>
          </a:xfrm>
          <a:prstGeom prst="rect">
            <a:avLst/>
          </a:prstGeom>
          <a:noFill/>
          <a:ln/>
        </p:spPr>
        <p:txBody>
          <a:bodyPr wrap="square" lIns="0" tIns="0" rIns="0" bIns="0" rtlCol="0" anchor="t">
            <a:normAutofit/>
          </a:bodyPr>
          <a:lstStyle/>
          <a:p>
            <a:pPr marL="0" indent="0" algn="l">
              <a:lnSpc>
                <a:spcPct val="100000"/>
              </a:lnSpc>
              <a:buNone/>
            </a:pPr>
            <a:r>
              <a:rPr lang="en-US" sz="1500" b="1" dirty="0">
                <a:solidFill>
                  <a:srgbClr val="1E8E5A"/>
                </a:solidFill>
                <a:latin typeface="Cambria" pitchFamily="34" charset="0"/>
                <a:ea typeface="Cambria" pitchFamily="34" charset="-122"/>
                <a:cs typeface="Cambria" pitchFamily="34" charset="-120"/>
              </a:rPr>
              <a:t>12/12</a:t>
            </a:r>
            <a:endParaRPr lang="en-US" sz="1500" dirty="0"/>
          </a:p>
        </p:txBody>
      </p:sp>
      <p:sp>
        <p:nvSpPr>
          <p:cNvPr id="32" name="Text 30"/>
          <p:cNvSpPr/>
          <p:nvPr/>
        </p:nvSpPr>
        <p:spPr>
          <a:xfrm>
            <a:off x="10525125" y="3048000"/>
            <a:ext cx="1047750" cy="171450"/>
          </a:xfrm>
          <a:prstGeom prst="rect">
            <a:avLst/>
          </a:prstGeom>
          <a:noFill/>
          <a:ln/>
        </p:spPr>
        <p:txBody>
          <a:bodyPr wrap="square" lIns="0" tIns="0" rIns="0" bIns="0" rtlCol="0" anchor="t">
            <a:normAutofit/>
          </a:bodyPr>
          <a:lstStyle/>
          <a:p>
            <a:pPr marL="0" indent="0" algn="l">
              <a:lnSpc>
                <a:spcPct val="100000"/>
              </a:lnSpc>
              <a:buNone/>
            </a:pPr>
            <a:r>
              <a:rPr lang="en-US" sz="1020" dirty="0">
                <a:solidFill>
                  <a:srgbClr val="5B6B7C"/>
                </a:solidFill>
                <a:latin typeface="Calibri" pitchFamily="34" charset="0"/>
                <a:ea typeface="Calibri" pitchFamily="34" charset="-122"/>
                <a:cs typeface="Calibri" pitchFamily="34" charset="-120"/>
              </a:rPr>
              <a:t>correct</a:t>
            </a:r>
            <a:endParaRPr lang="en-US" sz="1020" dirty="0"/>
          </a:p>
        </p:txBody>
      </p:sp>
      <p:sp>
        <p:nvSpPr>
          <p:cNvPr id="33" name="Shape 31"/>
          <p:cNvSpPr/>
          <p:nvPr/>
        </p:nvSpPr>
        <p:spPr>
          <a:xfrm>
            <a:off x="571500" y="3505200"/>
            <a:ext cx="11049000" cy="11430"/>
          </a:xfrm>
          <a:prstGeom prst="rect">
            <a:avLst/>
          </a:prstGeom>
          <a:solidFill>
            <a:srgbClr val="D7E1EA"/>
          </a:solidFill>
          <a:ln/>
        </p:spPr>
        <p:txBody>
          <a:bodyPr/>
          <a:lstStyle/>
          <a:p>
            <a:endParaRPr lang="en-IN"/>
          </a:p>
        </p:txBody>
      </p:sp>
      <p:sp>
        <p:nvSpPr>
          <p:cNvPr id="34" name="Text 32"/>
          <p:cNvSpPr/>
          <p:nvPr/>
        </p:nvSpPr>
        <p:spPr>
          <a:xfrm>
            <a:off x="666750" y="3600450"/>
            <a:ext cx="2381250" cy="209550"/>
          </a:xfrm>
          <a:prstGeom prst="rect">
            <a:avLst/>
          </a:prstGeom>
          <a:noFill/>
          <a:ln/>
        </p:spPr>
        <p:txBody>
          <a:bodyPr wrap="square" lIns="0" tIns="0" rIns="0" bIns="0" rtlCol="0" anchor="t">
            <a:normAutofit/>
          </a:bodyPr>
          <a:lstStyle/>
          <a:p>
            <a:pPr marL="0" indent="0" algn="l">
              <a:lnSpc>
                <a:spcPct val="100000"/>
              </a:lnSpc>
              <a:buNone/>
            </a:pPr>
            <a:r>
              <a:rPr lang="en-US" sz="1550" b="1" dirty="0">
                <a:solidFill>
                  <a:srgbClr val="12263A"/>
                </a:solidFill>
                <a:latin typeface="Cambria" pitchFamily="34" charset="0"/>
                <a:ea typeface="Cambria" pitchFamily="34" charset="-122"/>
                <a:cs typeface="Cambria" pitchFamily="34" charset="-120"/>
              </a:rPr>
              <a:t>B3</a:t>
            </a:r>
            <a:endParaRPr lang="en-US" sz="1550" dirty="0"/>
          </a:p>
        </p:txBody>
      </p:sp>
      <p:sp>
        <p:nvSpPr>
          <p:cNvPr id="35" name="Text 33"/>
          <p:cNvSpPr/>
          <p:nvPr/>
        </p:nvSpPr>
        <p:spPr>
          <a:xfrm>
            <a:off x="666750" y="3810000"/>
            <a:ext cx="2381250" cy="285750"/>
          </a:xfrm>
          <a:prstGeom prst="rect">
            <a:avLst/>
          </a:prstGeom>
          <a:noFill/>
          <a:ln/>
        </p:spPr>
        <p:txBody>
          <a:bodyPr wrap="square" lIns="0" tIns="0" rIns="0" bIns="0" rtlCol="0" anchor="t">
            <a:normAutofit/>
          </a:bodyPr>
          <a:lstStyle/>
          <a:p>
            <a:pPr marL="0" indent="0" algn="l">
              <a:lnSpc>
                <a:spcPct val="100000"/>
              </a:lnSpc>
              <a:buNone/>
            </a:pPr>
            <a:r>
              <a:rPr lang="en-US" sz="1220" dirty="0">
                <a:solidFill>
                  <a:srgbClr val="5B6B7C"/>
                </a:solidFill>
                <a:latin typeface="Calibri" pitchFamily="34" charset="0"/>
                <a:ea typeface="Calibri" pitchFamily="34" charset="-122"/>
                <a:cs typeface="Calibri" pitchFamily="34" charset="-120"/>
              </a:rPr>
              <a:t>Packet delay variation and congestion</a:t>
            </a:r>
            <a:endParaRPr lang="en-US" sz="1220" dirty="0"/>
          </a:p>
        </p:txBody>
      </p:sp>
      <p:sp>
        <p:nvSpPr>
          <p:cNvPr id="36" name="Text 34"/>
          <p:cNvSpPr/>
          <p:nvPr/>
        </p:nvSpPr>
        <p:spPr>
          <a:xfrm>
            <a:off x="666750" y="4095750"/>
            <a:ext cx="2381250" cy="171450"/>
          </a:xfrm>
          <a:prstGeom prst="rect">
            <a:avLst/>
          </a:prstGeom>
          <a:noFill/>
          <a:ln/>
        </p:spPr>
        <p:txBody>
          <a:bodyPr wrap="square" lIns="0" tIns="0" rIns="0" bIns="0" rtlCol="0" anchor="t">
            <a:normAutofit/>
          </a:bodyPr>
          <a:lstStyle/>
          <a:p>
            <a:pPr marL="0" indent="0" algn="l">
              <a:lnSpc>
                <a:spcPct val="100000"/>
              </a:lnSpc>
              <a:buNone/>
            </a:pPr>
            <a:r>
              <a:rPr lang="en-US" sz="1020" b="1" dirty="0">
                <a:solidFill>
                  <a:srgbClr val="1C7293"/>
                </a:solidFill>
                <a:latin typeface="Calibri" pitchFamily="34" charset="0"/>
                <a:ea typeface="Calibri" pitchFamily="34" charset="-122"/>
                <a:cs typeface="Calibri" pitchFamily="34" charset="-120"/>
              </a:rPr>
              <a:t>ITU-T G.8261</a:t>
            </a:r>
            <a:endParaRPr lang="en-US" sz="1020" dirty="0"/>
          </a:p>
        </p:txBody>
      </p:sp>
      <p:sp>
        <p:nvSpPr>
          <p:cNvPr id="37" name="Text 35"/>
          <p:cNvSpPr/>
          <p:nvPr/>
        </p:nvSpPr>
        <p:spPr>
          <a:xfrm>
            <a:off x="3143250" y="3600450"/>
            <a:ext cx="3200400" cy="685800"/>
          </a:xfrm>
          <a:prstGeom prst="rect">
            <a:avLst/>
          </a:prstGeom>
          <a:noFill/>
          <a:ln/>
        </p:spPr>
        <p:txBody>
          <a:bodyPr wrap="square" lIns="0" tIns="0" rIns="0" bIns="0" rtlCol="0" anchor="t">
            <a:normAutofit/>
          </a:bodyPr>
          <a:lstStyle/>
          <a:p>
            <a:pPr marL="0" indent="0" algn="l">
              <a:lnSpc>
                <a:spcPct val="100000"/>
              </a:lnSpc>
              <a:buNone/>
            </a:pPr>
            <a:r>
              <a:rPr lang="en-US" sz="1200" dirty="0">
                <a:solidFill>
                  <a:srgbClr val="12263A"/>
                </a:solidFill>
                <a:latin typeface="Calibri" pitchFamily="34" charset="0"/>
                <a:ea typeface="Calibri" pitchFamily="34" charset="-122"/>
                <a:cs typeface="Calibri" pitchFamily="34" charset="-120"/>
              </a:rPr>
              <a:t>A 1 Mbit tbf bottleneck on the boundary-clock to radio-unit path carrying competing non-PTP background traffic.</a:t>
            </a:r>
            <a:endParaRPr lang="en-US" sz="1200" dirty="0"/>
          </a:p>
        </p:txBody>
      </p:sp>
      <p:sp>
        <p:nvSpPr>
          <p:cNvPr id="38" name="Text 36"/>
          <p:cNvSpPr/>
          <p:nvPr/>
        </p:nvSpPr>
        <p:spPr>
          <a:xfrm>
            <a:off x="6477000" y="3600450"/>
            <a:ext cx="2857500" cy="685800"/>
          </a:xfrm>
          <a:prstGeom prst="rect">
            <a:avLst/>
          </a:prstGeom>
          <a:noFill/>
          <a:ln/>
        </p:spPr>
        <p:txBody>
          <a:bodyPr wrap="square" lIns="0" tIns="0" rIns="0" bIns="0" rtlCol="0" anchor="t">
            <a:normAutofit/>
          </a:bodyPr>
          <a:lstStyle/>
          <a:p>
            <a:pPr marL="0" indent="0" algn="l">
              <a:lnSpc>
                <a:spcPct val="100000"/>
              </a:lnSpc>
              <a:buNone/>
            </a:pPr>
            <a:r>
              <a:rPr lang="en-US" sz="1200" dirty="0">
                <a:solidFill>
                  <a:srgbClr val="5B6B7C"/>
                </a:solidFill>
                <a:latin typeface="Calibri" pitchFamily="34" charset="0"/>
                <a:ea typeface="Calibri" pitchFamily="34" charset="-122"/>
                <a:cs typeface="Calibri" pitchFamily="34" charset="-120"/>
              </a:rPr>
              <a:t>Real queueing delay: Sync packet delay variation rises from 0.07 ms to between 5.6 and 857 ms, with no packet loss and no protocol anomaly.</a:t>
            </a:r>
            <a:endParaRPr lang="en-US" sz="1200" dirty="0"/>
          </a:p>
        </p:txBody>
      </p:sp>
      <p:sp>
        <p:nvSpPr>
          <p:cNvPr id="39" name="Shape 37"/>
          <p:cNvSpPr/>
          <p:nvPr/>
        </p:nvSpPr>
        <p:spPr>
          <a:xfrm>
            <a:off x="9477375" y="3638550"/>
            <a:ext cx="914400" cy="247650"/>
          </a:xfrm>
          <a:prstGeom prst="roundRect">
            <a:avLst>
              <a:gd name="adj" fmla="val 14769"/>
            </a:avLst>
          </a:prstGeom>
          <a:solidFill>
            <a:srgbClr val="E3F3EA"/>
          </a:solidFill>
          <a:ln w="12700">
            <a:solidFill>
              <a:srgbClr val="1E8E5A"/>
            </a:solidFill>
            <a:prstDash val="solid"/>
          </a:ln>
        </p:spPr>
        <p:txBody>
          <a:bodyPr/>
          <a:lstStyle/>
          <a:p>
            <a:endParaRPr lang="en-IN"/>
          </a:p>
        </p:txBody>
      </p:sp>
      <p:sp>
        <p:nvSpPr>
          <p:cNvPr id="40" name="Text 38"/>
          <p:cNvSpPr/>
          <p:nvPr/>
        </p:nvSpPr>
        <p:spPr>
          <a:xfrm>
            <a:off x="9477375" y="3686175"/>
            <a:ext cx="914400" cy="190500"/>
          </a:xfrm>
          <a:prstGeom prst="rect">
            <a:avLst/>
          </a:prstGeom>
          <a:noFill/>
          <a:ln/>
        </p:spPr>
        <p:txBody>
          <a:bodyPr wrap="square" lIns="0" tIns="0" rIns="0" bIns="0" rtlCol="0" anchor="t">
            <a:normAutofit/>
          </a:bodyPr>
          <a:lstStyle/>
          <a:p>
            <a:pPr marL="0" indent="0" algn="ctr">
              <a:lnSpc>
                <a:spcPct val="100000"/>
              </a:lnSpc>
              <a:buNone/>
            </a:pPr>
            <a:r>
              <a:rPr lang="en-US" sz="1150" b="1" dirty="0">
                <a:solidFill>
                  <a:srgbClr val="1E8E5A"/>
                </a:solidFill>
                <a:latin typeface="Calibri" pitchFamily="34" charset="0"/>
                <a:ea typeface="Calibri" pitchFamily="34" charset="-122"/>
                <a:cs typeface="Calibri" pitchFamily="34" charset="-120"/>
              </a:rPr>
              <a:t>BENIGN</a:t>
            </a:r>
            <a:endParaRPr lang="en-US" sz="1150" dirty="0"/>
          </a:p>
        </p:txBody>
      </p:sp>
      <p:sp>
        <p:nvSpPr>
          <p:cNvPr id="41" name="Text 39"/>
          <p:cNvSpPr/>
          <p:nvPr/>
        </p:nvSpPr>
        <p:spPr>
          <a:xfrm>
            <a:off x="10525125" y="3619500"/>
            <a:ext cx="1047750" cy="228600"/>
          </a:xfrm>
          <a:prstGeom prst="rect">
            <a:avLst/>
          </a:prstGeom>
          <a:noFill/>
          <a:ln/>
        </p:spPr>
        <p:txBody>
          <a:bodyPr wrap="square" lIns="0" tIns="0" rIns="0" bIns="0" rtlCol="0" anchor="t">
            <a:normAutofit/>
          </a:bodyPr>
          <a:lstStyle/>
          <a:p>
            <a:pPr marL="0" indent="0" algn="l">
              <a:lnSpc>
                <a:spcPct val="100000"/>
              </a:lnSpc>
              <a:buNone/>
            </a:pPr>
            <a:r>
              <a:rPr lang="en-US" sz="1500" b="1" dirty="0">
                <a:solidFill>
                  <a:srgbClr val="1E8E5A"/>
                </a:solidFill>
                <a:latin typeface="Cambria" pitchFamily="34" charset="0"/>
                <a:ea typeface="Cambria" pitchFamily="34" charset="-122"/>
                <a:cs typeface="Cambria" pitchFamily="34" charset="-120"/>
              </a:rPr>
              <a:t>11/12</a:t>
            </a:r>
            <a:endParaRPr lang="en-US" sz="1500" dirty="0"/>
          </a:p>
        </p:txBody>
      </p:sp>
      <p:sp>
        <p:nvSpPr>
          <p:cNvPr id="42" name="Text 40"/>
          <p:cNvSpPr/>
          <p:nvPr/>
        </p:nvSpPr>
        <p:spPr>
          <a:xfrm>
            <a:off x="10525125" y="3848100"/>
            <a:ext cx="1047750" cy="171450"/>
          </a:xfrm>
          <a:prstGeom prst="rect">
            <a:avLst/>
          </a:prstGeom>
          <a:noFill/>
          <a:ln/>
        </p:spPr>
        <p:txBody>
          <a:bodyPr wrap="square" lIns="0" tIns="0" rIns="0" bIns="0" rtlCol="0" anchor="t">
            <a:normAutofit/>
          </a:bodyPr>
          <a:lstStyle/>
          <a:p>
            <a:pPr marL="0" indent="0" algn="l">
              <a:lnSpc>
                <a:spcPct val="100000"/>
              </a:lnSpc>
              <a:buNone/>
            </a:pPr>
            <a:r>
              <a:rPr lang="en-US" sz="1020" dirty="0">
                <a:solidFill>
                  <a:srgbClr val="5B6B7C"/>
                </a:solidFill>
                <a:latin typeface="Calibri" pitchFamily="34" charset="0"/>
                <a:ea typeface="Calibri" pitchFamily="34" charset="-122"/>
                <a:cs typeface="Calibri" pitchFamily="34" charset="-120"/>
              </a:rPr>
              <a:t>correct</a:t>
            </a:r>
            <a:endParaRPr lang="en-US" sz="1020" dirty="0"/>
          </a:p>
        </p:txBody>
      </p:sp>
      <p:sp>
        <p:nvSpPr>
          <p:cNvPr id="43" name="Shape 41"/>
          <p:cNvSpPr/>
          <p:nvPr/>
        </p:nvSpPr>
        <p:spPr>
          <a:xfrm>
            <a:off x="571500" y="4305300"/>
            <a:ext cx="11049000" cy="11430"/>
          </a:xfrm>
          <a:prstGeom prst="rect">
            <a:avLst/>
          </a:prstGeom>
          <a:solidFill>
            <a:srgbClr val="D7E1EA"/>
          </a:solidFill>
          <a:ln/>
        </p:spPr>
        <p:txBody>
          <a:bodyPr/>
          <a:lstStyle/>
          <a:p>
            <a:endParaRPr lang="en-IN"/>
          </a:p>
        </p:txBody>
      </p:sp>
      <p:sp>
        <p:nvSpPr>
          <p:cNvPr id="44" name="Text 42"/>
          <p:cNvSpPr/>
          <p:nvPr/>
        </p:nvSpPr>
        <p:spPr>
          <a:xfrm>
            <a:off x="666750" y="4400550"/>
            <a:ext cx="2381250" cy="209550"/>
          </a:xfrm>
          <a:prstGeom prst="rect">
            <a:avLst/>
          </a:prstGeom>
          <a:noFill/>
          <a:ln/>
        </p:spPr>
        <p:txBody>
          <a:bodyPr wrap="square" lIns="0" tIns="0" rIns="0" bIns="0" rtlCol="0" anchor="t">
            <a:normAutofit/>
          </a:bodyPr>
          <a:lstStyle/>
          <a:p>
            <a:pPr marL="0" indent="0" algn="l">
              <a:lnSpc>
                <a:spcPct val="100000"/>
              </a:lnSpc>
              <a:buNone/>
            </a:pPr>
            <a:r>
              <a:rPr lang="en-US" sz="1550" b="1" dirty="0">
                <a:solidFill>
                  <a:srgbClr val="12263A"/>
                </a:solidFill>
                <a:latin typeface="Cambria" pitchFamily="34" charset="0"/>
                <a:ea typeface="Cambria" pitchFamily="34" charset="-122"/>
                <a:cs typeface="Cambria" pitchFamily="34" charset="-120"/>
              </a:rPr>
              <a:t>B7</a:t>
            </a:r>
            <a:endParaRPr lang="en-US" sz="1550" dirty="0"/>
          </a:p>
        </p:txBody>
      </p:sp>
      <p:sp>
        <p:nvSpPr>
          <p:cNvPr id="45" name="Text 43"/>
          <p:cNvSpPr/>
          <p:nvPr/>
        </p:nvSpPr>
        <p:spPr>
          <a:xfrm>
            <a:off x="666750" y="4610100"/>
            <a:ext cx="2381250" cy="285750"/>
          </a:xfrm>
          <a:prstGeom prst="rect">
            <a:avLst/>
          </a:prstGeom>
          <a:noFill/>
          <a:ln/>
        </p:spPr>
        <p:txBody>
          <a:bodyPr wrap="square" lIns="0" tIns="0" rIns="0" bIns="0" rtlCol="0" anchor="t">
            <a:normAutofit/>
          </a:bodyPr>
          <a:lstStyle/>
          <a:p>
            <a:pPr marL="0" indent="0" algn="l">
              <a:lnSpc>
                <a:spcPct val="100000"/>
              </a:lnSpc>
              <a:buNone/>
            </a:pPr>
            <a:r>
              <a:rPr lang="en-US" sz="1220" dirty="0">
                <a:solidFill>
                  <a:srgbClr val="5B6B7C"/>
                </a:solidFill>
                <a:latin typeface="Calibri" pitchFamily="34" charset="0"/>
                <a:ea typeface="Calibri" pitchFamily="34" charset="-122"/>
                <a:cs typeface="Calibri" pitchFamily="34" charset="-120"/>
              </a:rPr>
              <a:t>Topology reconfiguration</a:t>
            </a:r>
            <a:endParaRPr lang="en-US" sz="1220" dirty="0"/>
          </a:p>
        </p:txBody>
      </p:sp>
      <p:sp>
        <p:nvSpPr>
          <p:cNvPr id="46" name="Text 44"/>
          <p:cNvSpPr/>
          <p:nvPr/>
        </p:nvSpPr>
        <p:spPr>
          <a:xfrm>
            <a:off x="666750" y="4895850"/>
            <a:ext cx="2381250" cy="171450"/>
          </a:xfrm>
          <a:prstGeom prst="rect">
            <a:avLst/>
          </a:prstGeom>
          <a:noFill/>
          <a:ln/>
        </p:spPr>
        <p:txBody>
          <a:bodyPr wrap="square" lIns="0" tIns="0" rIns="0" bIns="0" rtlCol="0" anchor="t">
            <a:normAutofit/>
          </a:bodyPr>
          <a:lstStyle/>
          <a:p>
            <a:pPr marL="0" indent="0" algn="l">
              <a:lnSpc>
                <a:spcPct val="100000"/>
              </a:lnSpc>
              <a:buNone/>
            </a:pPr>
            <a:r>
              <a:rPr lang="en-US" sz="1020" b="1" dirty="0">
                <a:solidFill>
                  <a:srgbClr val="1C7293"/>
                </a:solidFill>
                <a:latin typeface="Calibri" pitchFamily="34" charset="0"/>
                <a:ea typeface="Calibri" pitchFamily="34" charset="-122"/>
                <a:cs typeface="Calibri" pitchFamily="34" charset="-120"/>
              </a:rPr>
              <a:t>IEEE 1588-2019</a:t>
            </a:r>
            <a:endParaRPr lang="en-US" sz="1020" dirty="0"/>
          </a:p>
        </p:txBody>
      </p:sp>
      <p:sp>
        <p:nvSpPr>
          <p:cNvPr id="47" name="Text 45"/>
          <p:cNvSpPr/>
          <p:nvPr/>
        </p:nvSpPr>
        <p:spPr>
          <a:xfrm>
            <a:off x="3143250" y="4400550"/>
            <a:ext cx="3200400" cy="685800"/>
          </a:xfrm>
          <a:prstGeom prst="rect">
            <a:avLst/>
          </a:prstGeom>
          <a:noFill/>
          <a:ln/>
        </p:spPr>
        <p:txBody>
          <a:bodyPr wrap="square" lIns="0" tIns="0" rIns="0" bIns="0" rtlCol="0" anchor="t">
            <a:normAutofit/>
          </a:bodyPr>
          <a:lstStyle/>
          <a:p>
            <a:pPr marL="0" indent="0" algn="l">
              <a:lnSpc>
                <a:spcPct val="100000"/>
              </a:lnSpc>
              <a:buNone/>
            </a:pPr>
            <a:r>
              <a:rPr lang="en-US" sz="1200" dirty="0">
                <a:solidFill>
                  <a:srgbClr val="12263A"/>
                </a:solidFill>
                <a:latin typeface="Calibri" pitchFamily="34" charset="0"/>
                <a:ea typeface="Calibri" pitchFamily="34" charset="-122"/>
                <a:cs typeface="Calibri" pitchFamily="34" charset="-120"/>
              </a:rPr>
              <a:t>A radio-unit link is bounced and re-homed during an open maintenance window.</a:t>
            </a:r>
            <a:endParaRPr lang="en-US" sz="1200" dirty="0"/>
          </a:p>
        </p:txBody>
      </p:sp>
      <p:sp>
        <p:nvSpPr>
          <p:cNvPr id="48" name="Text 46"/>
          <p:cNvSpPr/>
          <p:nvPr/>
        </p:nvSpPr>
        <p:spPr>
          <a:xfrm>
            <a:off x="6477000" y="4400550"/>
            <a:ext cx="2857500" cy="685800"/>
          </a:xfrm>
          <a:prstGeom prst="rect">
            <a:avLst/>
          </a:prstGeom>
          <a:noFill/>
          <a:ln/>
        </p:spPr>
        <p:txBody>
          <a:bodyPr wrap="square" lIns="0" tIns="0" rIns="0" bIns="0" rtlCol="0" anchor="t">
            <a:normAutofit/>
          </a:bodyPr>
          <a:lstStyle/>
          <a:p>
            <a:pPr marL="0" indent="0" algn="l">
              <a:lnSpc>
                <a:spcPct val="100000"/>
              </a:lnSpc>
              <a:buNone/>
            </a:pPr>
            <a:r>
              <a:rPr lang="en-US" sz="1200" dirty="0">
                <a:solidFill>
                  <a:srgbClr val="5B6B7C"/>
                </a:solidFill>
                <a:latin typeface="Calibri" pitchFamily="34" charset="0"/>
                <a:ea typeface="Calibri" pitchFamily="34" charset="-122"/>
                <a:cs typeface="Calibri" pitchFamily="34" charset="-120"/>
              </a:rPr>
              <a:t>stepsRemoved and measured path delay change consistently with the new topology, with no illegal field values.</a:t>
            </a:r>
            <a:endParaRPr lang="en-US" sz="1200" dirty="0"/>
          </a:p>
        </p:txBody>
      </p:sp>
      <p:sp>
        <p:nvSpPr>
          <p:cNvPr id="49" name="Shape 47"/>
          <p:cNvSpPr/>
          <p:nvPr/>
        </p:nvSpPr>
        <p:spPr>
          <a:xfrm>
            <a:off x="9477375" y="4438650"/>
            <a:ext cx="914400" cy="247650"/>
          </a:xfrm>
          <a:prstGeom prst="roundRect">
            <a:avLst>
              <a:gd name="adj" fmla="val 14769"/>
            </a:avLst>
          </a:prstGeom>
          <a:solidFill>
            <a:srgbClr val="E3F3EA"/>
          </a:solidFill>
          <a:ln w="12700">
            <a:solidFill>
              <a:srgbClr val="1E8E5A"/>
            </a:solidFill>
            <a:prstDash val="solid"/>
          </a:ln>
        </p:spPr>
        <p:txBody>
          <a:bodyPr/>
          <a:lstStyle/>
          <a:p>
            <a:endParaRPr lang="en-IN"/>
          </a:p>
        </p:txBody>
      </p:sp>
      <p:sp>
        <p:nvSpPr>
          <p:cNvPr id="50" name="Text 48"/>
          <p:cNvSpPr/>
          <p:nvPr/>
        </p:nvSpPr>
        <p:spPr>
          <a:xfrm>
            <a:off x="9477375" y="4486275"/>
            <a:ext cx="914400" cy="190500"/>
          </a:xfrm>
          <a:prstGeom prst="rect">
            <a:avLst/>
          </a:prstGeom>
          <a:noFill/>
          <a:ln/>
        </p:spPr>
        <p:txBody>
          <a:bodyPr wrap="square" lIns="0" tIns="0" rIns="0" bIns="0" rtlCol="0" anchor="t">
            <a:normAutofit/>
          </a:bodyPr>
          <a:lstStyle/>
          <a:p>
            <a:pPr marL="0" indent="0" algn="ctr">
              <a:lnSpc>
                <a:spcPct val="100000"/>
              </a:lnSpc>
              <a:buNone/>
            </a:pPr>
            <a:r>
              <a:rPr lang="en-US" sz="1150" b="1" dirty="0">
                <a:solidFill>
                  <a:srgbClr val="1E8E5A"/>
                </a:solidFill>
                <a:latin typeface="Calibri" pitchFamily="34" charset="0"/>
                <a:ea typeface="Calibri" pitchFamily="34" charset="-122"/>
                <a:cs typeface="Calibri" pitchFamily="34" charset="-120"/>
              </a:rPr>
              <a:t>BENIGN</a:t>
            </a:r>
            <a:endParaRPr lang="en-US" sz="1150" dirty="0"/>
          </a:p>
        </p:txBody>
      </p:sp>
      <p:sp>
        <p:nvSpPr>
          <p:cNvPr id="51" name="Text 49"/>
          <p:cNvSpPr/>
          <p:nvPr/>
        </p:nvSpPr>
        <p:spPr>
          <a:xfrm>
            <a:off x="10525125" y="4419600"/>
            <a:ext cx="1047750" cy="228600"/>
          </a:xfrm>
          <a:prstGeom prst="rect">
            <a:avLst/>
          </a:prstGeom>
          <a:noFill/>
          <a:ln/>
        </p:spPr>
        <p:txBody>
          <a:bodyPr wrap="square" lIns="0" tIns="0" rIns="0" bIns="0" rtlCol="0" anchor="t">
            <a:normAutofit/>
          </a:bodyPr>
          <a:lstStyle/>
          <a:p>
            <a:pPr marL="0" indent="0" algn="l">
              <a:lnSpc>
                <a:spcPct val="100000"/>
              </a:lnSpc>
              <a:buNone/>
            </a:pPr>
            <a:r>
              <a:rPr lang="en-US" sz="1500" b="1" dirty="0">
                <a:solidFill>
                  <a:srgbClr val="1E8E5A"/>
                </a:solidFill>
                <a:latin typeface="Cambria" pitchFamily="34" charset="0"/>
                <a:ea typeface="Cambria" pitchFamily="34" charset="-122"/>
                <a:cs typeface="Cambria" pitchFamily="34" charset="-120"/>
              </a:rPr>
              <a:t>12/12</a:t>
            </a:r>
            <a:endParaRPr lang="en-US" sz="1500" dirty="0"/>
          </a:p>
        </p:txBody>
      </p:sp>
      <p:sp>
        <p:nvSpPr>
          <p:cNvPr id="52" name="Text 50"/>
          <p:cNvSpPr/>
          <p:nvPr/>
        </p:nvSpPr>
        <p:spPr>
          <a:xfrm>
            <a:off x="10525125" y="4648200"/>
            <a:ext cx="1047750" cy="171450"/>
          </a:xfrm>
          <a:prstGeom prst="rect">
            <a:avLst/>
          </a:prstGeom>
          <a:noFill/>
          <a:ln/>
        </p:spPr>
        <p:txBody>
          <a:bodyPr wrap="square" lIns="0" tIns="0" rIns="0" bIns="0" rtlCol="0" anchor="t">
            <a:normAutofit/>
          </a:bodyPr>
          <a:lstStyle/>
          <a:p>
            <a:pPr marL="0" indent="0" algn="l">
              <a:lnSpc>
                <a:spcPct val="100000"/>
              </a:lnSpc>
              <a:buNone/>
            </a:pPr>
            <a:r>
              <a:rPr lang="en-US" sz="1020" dirty="0">
                <a:solidFill>
                  <a:srgbClr val="5B6B7C"/>
                </a:solidFill>
                <a:latin typeface="Calibri" pitchFamily="34" charset="0"/>
                <a:ea typeface="Calibri" pitchFamily="34" charset="-122"/>
                <a:cs typeface="Calibri" pitchFamily="34" charset="-120"/>
              </a:rPr>
              <a:t>correct</a:t>
            </a:r>
            <a:endParaRPr lang="en-US" sz="1020" dirty="0"/>
          </a:p>
        </p:txBody>
      </p:sp>
      <p:sp>
        <p:nvSpPr>
          <p:cNvPr id="53" name="Shape 51"/>
          <p:cNvSpPr/>
          <p:nvPr/>
        </p:nvSpPr>
        <p:spPr>
          <a:xfrm>
            <a:off x="571500" y="5105400"/>
            <a:ext cx="11049000" cy="11430"/>
          </a:xfrm>
          <a:prstGeom prst="rect">
            <a:avLst/>
          </a:prstGeom>
          <a:solidFill>
            <a:srgbClr val="D7E1EA"/>
          </a:solidFill>
          <a:ln/>
        </p:spPr>
        <p:txBody>
          <a:bodyPr/>
          <a:lstStyle/>
          <a:p>
            <a:endParaRPr lang="en-IN"/>
          </a:p>
        </p:txBody>
      </p:sp>
      <p:sp>
        <p:nvSpPr>
          <p:cNvPr id="54" name="Text 52"/>
          <p:cNvSpPr/>
          <p:nvPr/>
        </p:nvSpPr>
        <p:spPr>
          <a:xfrm>
            <a:off x="666750" y="5200650"/>
            <a:ext cx="2381250" cy="209550"/>
          </a:xfrm>
          <a:prstGeom prst="rect">
            <a:avLst/>
          </a:prstGeom>
          <a:noFill/>
          <a:ln/>
        </p:spPr>
        <p:txBody>
          <a:bodyPr wrap="square" lIns="0" tIns="0" rIns="0" bIns="0" rtlCol="0" anchor="t">
            <a:normAutofit/>
          </a:bodyPr>
          <a:lstStyle/>
          <a:p>
            <a:pPr marL="0" indent="0" algn="l">
              <a:lnSpc>
                <a:spcPct val="100000"/>
              </a:lnSpc>
              <a:buNone/>
            </a:pPr>
            <a:r>
              <a:rPr lang="en-US" sz="1550" b="1" dirty="0">
                <a:solidFill>
                  <a:srgbClr val="12263A"/>
                </a:solidFill>
                <a:latin typeface="Cambria" pitchFamily="34" charset="0"/>
                <a:ea typeface="Cambria" pitchFamily="34" charset="-122"/>
                <a:cs typeface="Cambria" pitchFamily="34" charset="-120"/>
              </a:rPr>
              <a:t>B_bc_repl</a:t>
            </a:r>
            <a:endParaRPr lang="en-US" sz="1550" dirty="0"/>
          </a:p>
        </p:txBody>
      </p:sp>
      <p:sp>
        <p:nvSpPr>
          <p:cNvPr id="55" name="Text 53"/>
          <p:cNvSpPr/>
          <p:nvPr/>
        </p:nvSpPr>
        <p:spPr>
          <a:xfrm>
            <a:off x="666750" y="5410200"/>
            <a:ext cx="2381250" cy="285750"/>
          </a:xfrm>
          <a:prstGeom prst="rect">
            <a:avLst/>
          </a:prstGeom>
          <a:noFill/>
          <a:ln/>
        </p:spPr>
        <p:txBody>
          <a:bodyPr wrap="square" lIns="0" tIns="0" rIns="0" bIns="0" rtlCol="0" anchor="t">
            <a:normAutofit/>
          </a:bodyPr>
          <a:lstStyle/>
          <a:p>
            <a:pPr marL="0" indent="0" algn="l">
              <a:lnSpc>
                <a:spcPct val="100000"/>
              </a:lnSpc>
              <a:buNone/>
            </a:pPr>
            <a:r>
              <a:rPr lang="en-US" sz="1220" dirty="0">
                <a:solidFill>
                  <a:srgbClr val="5B6B7C"/>
                </a:solidFill>
                <a:latin typeface="Calibri" pitchFamily="34" charset="0"/>
                <a:ea typeface="Calibri" pitchFamily="34" charset="-122"/>
                <a:cs typeface="Calibri" pitchFamily="34" charset="-120"/>
              </a:rPr>
              <a:t>Planned boundary-clock replacement</a:t>
            </a:r>
            <a:endParaRPr lang="en-US" sz="1220" dirty="0"/>
          </a:p>
        </p:txBody>
      </p:sp>
      <p:sp>
        <p:nvSpPr>
          <p:cNvPr id="56" name="Text 54"/>
          <p:cNvSpPr/>
          <p:nvPr/>
        </p:nvSpPr>
        <p:spPr>
          <a:xfrm>
            <a:off x="666750" y="5695950"/>
            <a:ext cx="2381250" cy="171450"/>
          </a:xfrm>
          <a:prstGeom prst="rect">
            <a:avLst/>
          </a:prstGeom>
          <a:noFill/>
          <a:ln/>
        </p:spPr>
        <p:txBody>
          <a:bodyPr wrap="square" lIns="0" tIns="0" rIns="0" bIns="0" rtlCol="0" anchor="t">
            <a:normAutofit/>
          </a:bodyPr>
          <a:lstStyle/>
          <a:p>
            <a:pPr marL="0" indent="0" algn="l">
              <a:lnSpc>
                <a:spcPct val="100000"/>
              </a:lnSpc>
              <a:buNone/>
            </a:pPr>
            <a:r>
              <a:rPr lang="en-US" sz="1020" b="1" dirty="0">
                <a:solidFill>
                  <a:srgbClr val="1C7293"/>
                </a:solidFill>
                <a:latin typeface="Calibri" pitchFamily="34" charset="0"/>
                <a:ea typeface="Calibri" pitchFamily="34" charset="-122"/>
                <a:cs typeface="Calibri" pitchFamily="34" charset="-120"/>
              </a:rPr>
              <a:t>ITU-T G.8275.1</a:t>
            </a:r>
            <a:endParaRPr lang="en-US" sz="1020" dirty="0"/>
          </a:p>
        </p:txBody>
      </p:sp>
      <p:sp>
        <p:nvSpPr>
          <p:cNvPr id="57" name="Text 55"/>
          <p:cNvSpPr/>
          <p:nvPr/>
        </p:nvSpPr>
        <p:spPr>
          <a:xfrm>
            <a:off x="3143250" y="5200650"/>
            <a:ext cx="3200400" cy="685800"/>
          </a:xfrm>
          <a:prstGeom prst="rect">
            <a:avLst/>
          </a:prstGeom>
          <a:noFill/>
          <a:ln/>
        </p:spPr>
        <p:txBody>
          <a:bodyPr wrap="square" lIns="0" tIns="0" rIns="0" bIns="0" rtlCol="0" anchor="t">
            <a:normAutofit/>
          </a:bodyPr>
          <a:lstStyle/>
          <a:p>
            <a:pPr marL="0" indent="0" algn="l">
              <a:lnSpc>
                <a:spcPct val="100000"/>
              </a:lnSpc>
              <a:buNone/>
            </a:pPr>
            <a:r>
              <a:rPr lang="en-US" sz="1200" dirty="0">
                <a:solidFill>
                  <a:srgbClr val="12263A"/>
                </a:solidFill>
                <a:latin typeface="Calibri" pitchFamily="34" charset="0"/>
                <a:ea typeface="Calibri" pitchFamily="34" charset="-122"/>
                <a:cs typeface="Calibri" pitchFamily="34" charset="-120"/>
              </a:rPr>
              <a:t>A provisioned replacement boundary clock is swapped in during maintenance; its identity is recorded in the operator context.</a:t>
            </a:r>
            <a:endParaRPr lang="en-US" sz="1200" dirty="0"/>
          </a:p>
        </p:txBody>
      </p:sp>
      <p:sp>
        <p:nvSpPr>
          <p:cNvPr id="58" name="Text 56"/>
          <p:cNvSpPr/>
          <p:nvPr/>
        </p:nvSpPr>
        <p:spPr>
          <a:xfrm>
            <a:off x="6477000" y="5200650"/>
            <a:ext cx="2857500" cy="685800"/>
          </a:xfrm>
          <a:prstGeom prst="rect">
            <a:avLst/>
          </a:prstGeom>
          <a:noFill/>
          <a:ln/>
        </p:spPr>
        <p:txBody>
          <a:bodyPr wrap="square" lIns="0" tIns="0" rIns="0" bIns="0" rtlCol="0" anchor="t">
            <a:normAutofit/>
          </a:bodyPr>
          <a:lstStyle/>
          <a:p>
            <a:pPr marL="0" indent="0" algn="l">
              <a:lnSpc>
                <a:spcPct val="100000"/>
              </a:lnSpc>
              <a:buNone/>
            </a:pPr>
            <a:r>
              <a:rPr lang="en-US" sz="1200" dirty="0">
                <a:solidFill>
                  <a:srgbClr val="5B6B7C"/>
                </a:solidFill>
                <a:latin typeface="Calibri" pitchFamily="34" charset="0"/>
                <a:ea typeface="Calibri" pitchFamily="34" charset="-122"/>
                <a:cs typeface="Calibri" pitchFamily="34" charset="-120"/>
              </a:rPr>
              <a:t>A new clock identity appears in the timing path relaying the genuine grandmaster — structurally identical to the A8 rogue relay.</a:t>
            </a:r>
            <a:endParaRPr lang="en-US" sz="1200" dirty="0"/>
          </a:p>
        </p:txBody>
      </p:sp>
      <p:sp>
        <p:nvSpPr>
          <p:cNvPr id="59" name="Shape 57"/>
          <p:cNvSpPr/>
          <p:nvPr/>
        </p:nvSpPr>
        <p:spPr>
          <a:xfrm>
            <a:off x="9477375" y="5238750"/>
            <a:ext cx="914400" cy="247650"/>
          </a:xfrm>
          <a:prstGeom prst="roundRect">
            <a:avLst>
              <a:gd name="adj" fmla="val 14769"/>
            </a:avLst>
          </a:prstGeom>
          <a:solidFill>
            <a:srgbClr val="E3F3EA"/>
          </a:solidFill>
          <a:ln w="12700">
            <a:solidFill>
              <a:srgbClr val="1E8E5A"/>
            </a:solidFill>
            <a:prstDash val="solid"/>
          </a:ln>
        </p:spPr>
        <p:txBody>
          <a:bodyPr/>
          <a:lstStyle/>
          <a:p>
            <a:endParaRPr lang="en-IN"/>
          </a:p>
        </p:txBody>
      </p:sp>
      <p:sp>
        <p:nvSpPr>
          <p:cNvPr id="60" name="Text 58"/>
          <p:cNvSpPr/>
          <p:nvPr/>
        </p:nvSpPr>
        <p:spPr>
          <a:xfrm>
            <a:off x="9477375" y="5286375"/>
            <a:ext cx="914400" cy="190500"/>
          </a:xfrm>
          <a:prstGeom prst="rect">
            <a:avLst/>
          </a:prstGeom>
          <a:noFill/>
          <a:ln/>
        </p:spPr>
        <p:txBody>
          <a:bodyPr wrap="square" lIns="0" tIns="0" rIns="0" bIns="0" rtlCol="0" anchor="t">
            <a:normAutofit/>
          </a:bodyPr>
          <a:lstStyle/>
          <a:p>
            <a:pPr marL="0" indent="0" algn="ctr">
              <a:lnSpc>
                <a:spcPct val="100000"/>
              </a:lnSpc>
              <a:buNone/>
            </a:pPr>
            <a:r>
              <a:rPr lang="en-US" sz="1150" b="1" dirty="0">
                <a:solidFill>
                  <a:srgbClr val="1E8E5A"/>
                </a:solidFill>
                <a:latin typeface="Calibri" pitchFamily="34" charset="0"/>
                <a:ea typeface="Calibri" pitchFamily="34" charset="-122"/>
                <a:cs typeface="Calibri" pitchFamily="34" charset="-120"/>
              </a:rPr>
              <a:t>BENIGN</a:t>
            </a:r>
            <a:endParaRPr lang="en-US" sz="1150" dirty="0"/>
          </a:p>
        </p:txBody>
      </p:sp>
      <p:sp>
        <p:nvSpPr>
          <p:cNvPr id="61" name="Text 59"/>
          <p:cNvSpPr/>
          <p:nvPr/>
        </p:nvSpPr>
        <p:spPr>
          <a:xfrm>
            <a:off x="10525125" y="5219700"/>
            <a:ext cx="1047750" cy="228600"/>
          </a:xfrm>
          <a:prstGeom prst="rect">
            <a:avLst/>
          </a:prstGeom>
          <a:noFill/>
          <a:ln/>
        </p:spPr>
        <p:txBody>
          <a:bodyPr wrap="square" lIns="0" tIns="0" rIns="0" bIns="0" rtlCol="0" anchor="t">
            <a:normAutofit/>
          </a:bodyPr>
          <a:lstStyle/>
          <a:p>
            <a:pPr marL="0" indent="0" algn="l">
              <a:lnSpc>
                <a:spcPct val="100000"/>
              </a:lnSpc>
              <a:buNone/>
            </a:pPr>
            <a:r>
              <a:rPr lang="en-US" sz="1500" b="1" dirty="0">
                <a:solidFill>
                  <a:srgbClr val="B3402F"/>
                </a:solidFill>
                <a:latin typeface="Cambria" pitchFamily="34" charset="0"/>
                <a:ea typeface="Cambria" pitchFamily="34" charset="-122"/>
                <a:cs typeface="Cambria" pitchFamily="34" charset="-120"/>
              </a:rPr>
              <a:t>0/12</a:t>
            </a:r>
            <a:endParaRPr lang="en-US" sz="1500" dirty="0"/>
          </a:p>
        </p:txBody>
      </p:sp>
      <p:sp>
        <p:nvSpPr>
          <p:cNvPr id="62" name="Text 60"/>
          <p:cNvSpPr/>
          <p:nvPr/>
        </p:nvSpPr>
        <p:spPr>
          <a:xfrm>
            <a:off x="10525125" y="5448300"/>
            <a:ext cx="1047750" cy="171450"/>
          </a:xfrm>
          <a:prstGeom prst="rect">
            <a:avLst/>
          </a:prstGeom>
          <a:noFill/>
          <a:ln/>
        </p:spPr>
        <p:txBody>
          <a:bodyPr wrap="square" lIns="0" tIns="0" rIns="0" bIns="0" rtlCol="0" anchor="t">
            <a:normAutofit/>
          </a:bodyPr>
          <a:lstStyle/>
          <a:p>
            <a:pPr marL="0" indent="0" algn="l">
              <a:lnSpc>
                <a:spcPct val="100000"/>
              </a:lnSpc>
              <a:buNone/>
            </a:pPr>
            <a:r>
              <a:rPr lang="en-US" sz="1020" dirty="0">
                <a:solidFill>
                  <a:srgbClr val="5B6B7C"/>
                </a:solidFill>
                <a:latin typeface="Calibri" pitchFamily="34" charset="0"/>
                <a:ea typeface="Calibri" pitchFamily="34" charset="-122"/>
                <a:cs typeface="Calibri" pitchFamily="34" charset="-120"/>
              </a:rPr>
              <a:t>open failure</a:t>
            </a:r>
            <a:endParaRPr lang="en-US" sz="1020" dirty="0"/>
          </a:p>
        </p:txBody>
      </p:sp>
      <p:sp>
        <p:nvSpPr>
          <p:cNvPr id="63" name="Shape 61"/>
          <p:cNvSpPr/>
          <p:nvPr/>
        </p:nvSpPr>
        <p:spPr>
          <a:xfrm>
            <a:off x="571500" y="5905500"/>
            <a:ext cx="11049000" cy="11430"/>
          </a:xfrm>
          <a:prstGeom prst="rect">
            <a:avLst/>
          </a:prstGeom>
          <a:solidFill>
            <a:srgbClr val="D7E1EA"/>
          </a:solidFill>
          <a:ln/>
        </p:spPr>
        <p:txBody>
          <a:bodyPr/>
          <a:lstStyle/>
          <a:p>
            <a:endParaRPr lang="en-IN"/>
          </a:p>
        </p:txBody>
      </p:sp>
      <p:sp>
        <p:nvSpPr>
          <p:cNvPr id="64" name="Shape 62"/>
          <p:cNvSpPr/>
          <p:nvPr/>
        </p:nvSpPr>
        <p:spPr>
          <a:xfrm>
            <a:off x="571500" y="6096000"/>
            <a:ext cx="11049000" cy="514350"/>
          </a:xfrm>
          <a:prstGeom prst="roundRect">
            <a:avLst>
              <a:gd name="adj" fmla="val 7111"/>
            </a:avLst>
          </a:prstGeom>
          <a:solidFill>
            <a:srgbClr val="FFF8E8"/>
          </a:solidFill>
          <a:ln w="12700">
            <a:solidFill>
              <a:srgbClr val="C58B18"/>
            </a:solidFill>
            <a:prstDash val="solid"/>
          </a:ln>
        </p:spPr>
        <p:txBody>
          <a:bodyPr/>
          <a:lstStyle/>
          <a:p>
            <a:endParaRPr lang="en-IN"/>
          </a:p>
        </p:txBody>
      </p:sp>
      <p:sp>
        <p:nvSpPr>
          <p:cNvPr id="65" name="Text 63"/>
          <p:cNvSpPr/>
          <p:nvPr/>
        </p:nvSpPr>
        <p:spPr>
          <a:xfrm>
            <a:off x="781050" y="6238875"/>
            <a:ext cx="1809750" cy="238125"/>
          </a:xfrm>
          <a:prstGeom prst="rect">
            <a:avLst/>
          </a:prstGeom>
          <a:noFill/>
          <a:ln/>
        </p:spPr>
        <p:txBody>
          <a:bodyPr wrap="square" lIns="0" tIns="0" rIns="0" bIns="0" rtlCol="0" anchor="t">
            <a:normAutofit/>
          </a:bodyPr>
          <a:lstStyle/>
          <a:p>
            <a:pPr marL="0" indent="0" algn="l">
              <a:lnSpc>
                <a:spcPct val="100000"/>
              </a:lnSpc>
              <a:buNone/>
            </a:pPr>
            <a:r>
              <a:rPr lang="en-US" sz="1600" b="1" dirty="0">
                <a:solidFill>
                  <a:srgbClr val="C58B18"/>
                </a:solidFill>
                <a:latin typeface="Cambria" pitchFamily="34" charset="0"/>
                <a:ea typeface="Cambria" pitchFamily="34" charset="-122"/>
                <a:cs typeface="Cambria" pitchFamily="34" charset="-120"/>
              </a:rPr>
              <a:t>Note</a:t>
            </a:r>
            <a:endParaRPr lang="en-US" sz="1600" dirty="0"/>
          </a:p>
        </p:txBody>
      </p:sp>
      <p:sp>
        <p:nvSpPr>
          <p:cNvPr id="66" name="Text 64"/>
          <p:cNvSpPr/>
          <p:nvPr/>
        </p:nvSpPr>
        <p:spPr>
          <a:xfrm>
            <a:off x="2781300" y="6219825"/>
            <a:ext cx="8629650" cy="285750"/>
          </a:xfrm>
          <a:prstGeom prst="rect">
            <a:avLst/>
          </a:prstGeom>
          <a:noFill/>
          <a:ln/>
        </p:spPr>
        <p:txBody>
          <a:bodyPr wrap="square" lIns="0" tIns="0" rIns="0" bIns="0" rtlCol="0" anchor="t">
            <a:normAutofit/>
          </a:bodyPr>
          <a:lstStyle/>
          <a:p>
            <a:pPr marL="0" indent="0" algn="l">
              <a:lnSpc>
                <a:spcPct val="100000"/>
              </a:lnSpc>
              <a:buNone/>
            </a:pPr>
            <a:r>
              <a:rPr lang="en-US" sz="1220" b="1" dirty="0">
                <a:solidFill>
                  <a:srgbClr val="12263A"/>
                </a:solidFill>
                <a:latin typeface="Calibri" pitchFamily="34" charset="0"/>
                <a:ea typeface="Calibri" pitchFamily="34" charset="-122"/>
                <a:cs typeface="Calibri" pitchFamily="34" charset="-120"/>
              </a:rPr>
              <a:t>Four of five benign scenarios were classified correctly. The boundary-clock replacement is the single systematic failure: the decision context carries one expected boundary-clock identity, so a legitimate replacement is read as an unauthorised relay.</a:t>
            </a:r>
            <a:endParaRPr lang="en-US" sz="122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8FAFC"/>
          </a:solidFill>
          <a:ln/>
        </p:spPr>
        <p:txBody>
          <a:bodyPr/>
          <a:lstStyle/>
          <a:p>
            <a:endParaRPr lang="en-IN"/>
          </a:p>
        </p:txBody>
      </p:sp>
      <p:sp>
        <p:nvSpPr>
          <p:cNvPr id="3" name="Shape 1"/>
          <p:cNvSpPr/>
          <p:nvPr/>
        </p:nvSpPr>
        <p:spPr>
          <a:xfrm>
            <a:off x="0" y="0"/>
            <a:ext cx="12192000" cy="114300"/>
          </a:xfrm>
          <a:prstGeom prst="rect">
            <a:avLst/>
          </a:prstGeom>
          <a:solidFill>
            <a:srgbClr val="18B89A"/>
          </a:solidFill>
          <a:ln/>
        </p:spPr>
        <p:txBody>
          <a:bodyPr/>
          <a:lstStyle/>
          <a:p>
            <a:endParaRPr lang="en-IN"/>
          </a:p>
        </p:txBody>
      </p:sp>
      <p:sp>
        <p:nvSpPr>
          <p:cNvPr id="4" name="Text 2"/>
          <p:cNvSpPr/>
          <p:nvPr/>
        </p:nvSpPr>
        <p:spPr>
          <a:xfrm>
            <a:off x="571500" y="209550"/>
            <a:ext cx="11049000" cy="228600"/>
          </a:xfrm>
          <a:prstGeom prst="rect">
            <a:avLst/>
          </a:prstGeom>
          <a:noFill/>
          <a:ln/>
        </p:spPr>
        <p:txBody>
          <a:bodyPr wrap="square" lIns="0" tIns="0" rIns="0" bIns="0" rtlCol="0" anchor="t">
            <a:normAutofit/>
          </a:bodyPr>
          <a:lstStyle/>
          <a:p>
            <a:pPr marL="0" indent="0" algn="l">
              <a:lnSpc>
                <a:spcPct val="100000"/>
              </a:lnSpc>
              <a:buNone/>
            </a:pPr>
            <a:r>
              <a:rPr lang="en-US" sz="1280" b="1" dirty="0">
                <a:solidFill>
                  <a:srgbClr val="1C7293"/>
                </a:solidFill>
                <a:latin typeface="Calibri" pitchFamily="34" charset="0"/>
                <a:ea typeface="Calibri" pitchFamily="34" charset="-122"/>
                <a:cs typeface="Calibri" pitchFamily="34" charset="-120"/>
              </a:rPr>
              <a:t>FAULT TAXONOMY · AMBIGUOUS CASE AND COVERAGE</a:t>
            </a:r>
            <a:endParaRPr lang="en-US" sz="1280" dirty="0"/>
          </a:p>
        </p:txBody>
      </p:sp>
      <p:sp>
        <p:nvSpPr>
          <p:cNvPr id="5" name="Text 3"/>
          <p:cNvSpPr/>
          <p:nvPr/>
        </p:nvSpPr>
        <p:spPr>
          <a:xfrm>
            <a:off x="571500" y="447675"/>
            <a:ext cx="11049000" cy="552450"/>
          </a:xfrm>
          <a:prstGeom prst="rect">
            <a:avLst/>
          </a:prstGeom>
          <a:noFill/>
          <a:ln/>
        </p:spPr>
        <p:txBody>
          <a:bodyPr wrap="square" lIns="0" tIns="0" rIns="0" bIns="0" rtlCol="0" anchor="t">
            <a:normAutofit/>
          </a:bodyPr>
          <a:lstStyle/>
          <a:p>
            <a:pPr marL="0" indent="0" algn="l">
              <a:lnSpc>
                <a:spcPct val="100000"/>
              </a:lnSpc>
              <a:buNone/>
            </a:pPr>
            <a:r>
              <a:rPr lang="en-US" sz="3500" b="1" dirty="0">
                <a:solidFill>
                  <a:srgbClr val="12263A"/>
                </a:solidFill>
                <a:latin typeface="Cambria" pitchFamily="34" charset="0"/>
                <a:ea typeface="Cambria" pitchFamily="34" charset="-122"/>
                <a:cs typeface="Cambria" pitchFamily="34" charset="-120"/>
              </a:rPr>
              <a:t>Ambiguous Scenario and Catalogue Coverage</a:t>
            </a:r>
            <a:endParaRPr lang="en-US" sz="3500" dirty="0"/>
          </a:p>
        </p:txBody>
      </p:sp>
      <p:sp>
        <p:nvSpPr>
          <p:cNvPr id="6" name="Shape 4"/>
          <p:cNvSpPr/>
          <p:nvPr/>
        </p:nvSpPr>
        <p:spPr>
          <a:xfrm>
            <a:off x="571500" y="1057275"/>
            <a:ext cx="11049000" cy="438150"/>
          </a:xfrm>
          <a:prstGeom prst="roundRect">
            <a:avLst>
              <a:gd name="adj" fmla="val 8348"/>
            </a:avLst>
          </a:prstGeom>
          <a:solidFill>
            <a:srgbClr val="EAF2F8"/>
          </a:solidFill>
          <a:ln w="12700">
            <a:solidFill>
              <a:srgbClr val="D7E1EA"/>
            </a:solidFill>
            <a:prstDash val="solid"/>
          </a:ln>
        </p:spPr>
        <p:txBody>
          <a:bodyPr/>
          <a:lstStyle/>
          <a:p>
            <a:endParaRPr lang="en-IN"/>
          </a:p>
        </p:txBody>
      </p:sp>
      <p:sp>
        <p:nvSpPr>
          <p:cNvPr id="7" name="Text 5"/>
          <p:cNvSpPr/>
          <p:nvPr/>
        </p:nvSpPr>
        <p:spPr>
          <a:xfrm>
            <a:off x="723900" y="1123950"/>
            <a:ext cx="10744200" cy="323850"/>
          </a:xfrm>
          <a:prstGeom prst="rect">
            <a:avLst/>
          </a:prstGeom>
          <a:noFill/>
          <a:ln/>
        </p:spPr>
        <p:txBody>
          <a:bodyPr wrap="square" lIns="0" tIns="0" rIns="0" bIns="0" rtlCol="0" anchor="t">
            <a:normAutofit/>
          </a:bodyPr>
          <a:lstStyle/>
          <a:p>
            <a:pPr marL="0" indent="0" algn="l">
              <a:lnSpc>
                <a:spcPct val="102000"/>
              </a:lnSpc>
              <a:buNone/>
            </a:pPr>
            <a:r>
              <a:rPr lang="en-US" sz="1120" dirty="0">
                <a:solidFill>
                  <a:srgbClr val="5B6B7C"/>
                </a:solidFill>
                <a:latin typeface="Calibri" pitchFamily="34" charset="0"/>
                <a:ea typeface="Calibri" pitchFamily="34" charset="-122"/>
                <a:cs typeface="Calibri" pitchFamily="34" charset="-120"/>
              </a:rPr>
              <a:t>Sixteen-class S-plane fault catalogue maintained in the project parameter matrix (144 parameters × 16 fault classes)  |  Threat identifiers from ETSI TR 104 106 V3.0.0  |  Coverage assessed against verified platform constraints</a:t>
            </a:r>
            <a:endParaRPr lang="en-US" sz="1120" dirty="0"/>
          </a:p>
        </p:txBody>
      </p:sp>
      <p:sp>
        <p:nvSpPr>
          <p:cNvPr id="8" name="Shape 6"/>
          <p:cNvSpPr/>
          <p:nvPr/>
        </p:nvSpPr>
        <p:spPr>
          <a:xfrm>
            <a:off x="571500" y="1638300"/>
            <a:ext cx="11049000" cy="1181100"/>
          </a:xfrm>
          <a:prstGeom prst="roundRect">
            <a:avLst>
              <a:gd name="adj" fmla="val 3097"/>
            </a:avLst>
          </a:prstGeom>
          <a:solidFill>
            <a:srgbClr val="0E2440"/>
          </a:solidFill>
          <a:ln w="12700">
            <a:solidFill>
              <a:srgbClr val="C58B18"/>
            </a:solidFill>
            <a:prstDash val="solid"/>
          </a:ln>
        </p:spPr>
        <p:txBody>
          <a:bodyPr/>
          <a:lstStyle/>
          <a:p>
            <a:endParaRPr lang="en-IN"/>
          </a:p>
        </p:txBody>
      </p:sp>
      <p:sp>
        <p:nvSpPr>
          <p:cNvPr id="9" name="Shape 7"/>
          <p:cNvSpPr/>
          <p:nvPr/>
        </p:nvSpPr>
        <p:spPr>
          <a:xfrm>
            <a:off x="571500" y="1638300"/>
            <a:ext cx="57150" cy="1181100"/>
          </a:xfrm>
          <a:prstGeom prst="rect">
            <a:avLst/>
          </a:prstGeom>
          <a:solidFill>
            <a:srgbClr val="C58B18"/>
          </a:solidFill>
          <a:ln/>
        </p:spPr>
        <p:txBody>
          <a:bodyPr/>
          <a:lstStyle/>
          <a:p>
            <a:endParaRPr lang="en-IN"/>
          </a:p>
        </p:txBody>
      </p:sp>
      <p:sp>
        <p:nvSpPr>
          <p:cNvPr id="10" name="Text 8"/>
          <p:cNvSpPr/>
          <p:nvPr/>
        </p:nvSpPr>
        <p:spPr>
          <a:xfrm>
            <a:off x="819150" y="1790700"/>
            <a:ext cx="5715000" cy="20955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C58B18"/>
                </a:solidFill>
                <a:latin typeface="Calibri" pitchFamily="34" charset="0"/>
                <a:ea typeface="Calibri" pitchFamily="34" charset="-122"/>
                <a:cs typeface="Calibri" pitchFamily="34" charset="-120"/>
              </a:rPr>
              <a:t>B_unplanned_failover  ·  DELIBERATELY AMBIGUOUS</a:t>
            </a:r>
            <a:endParaRPr lang="en-US" sz="1200" dirty="0"/>
          </a:p>
        </p:txBody>
      </p:sp>
      <p:sp>
        <p:nvSpPr>
          <p:cNvPr id="11" name="Text 9"/>
          <p:cNvSpPr/>
          <p:nvPr/>
        </p:nvSpPr>
        <p:spPr>
          <a:xfrm>
            <a:off x="819150" y="2038350"/>
            <a:ext cx="6667500" cy="228600"/>
          </a:xfrm>
          <a:prstGeom prst="rect">
            <a:avLst/>
          </a:prstGeom>
          <a:noFill/>
          <a:ln/>
        </p:spPr>
        <p:txBody>
          <a:bodyPr wrap="square" lIns="0" tIns="0" rIns="0" bIns="0" rtlCol="0" anchor="t">
            <a:normAutofit/>
          </a:bodyPr>
          <a:lstStyle/>
          <a:p>
            <a:pPr marL="0" indent="0" algn="l">
              <a:lnSpc>
                <a:spcPct val="100000"/>
              </a:lnSpc>
              <a:buNone/>
            </a:pPr>
            <a:r>
              <a:rPr lang="en-US" sz="1700" b="1" dirty="0">
                <a:solidFill>
                  <a:srgbClr val="FFFFFF"/>
                </a:solidFill>
                <a:latin typeface="Cambria" pitchFamily="34" charset="0"/>
                <a:ea typeface="Cambria" pitchFamily="34" charset="-122"/>
                <a:cs typeface="Cambria" pitchFamily="34" charset="-120"/>
              </a:rPr>
              <a:t>Grandmaster A fails with no maintenance window open; provisioned grandmaster B is elected.</a:t>
            </a:r>
            <a:endParaRPr lang="en-US" sz="1700" dirty="0"/>
          </a:p>
        </p:txBody>
      </p:sp>
      <p:sp>
        <p:nvSpPr>
          <p:cNvPr id="12" name="Text 10"/>
          <p:cNvSpPr/>
          <p:nvPr/>
        </p:nvSpPr>
        <p:spPr>
          <a:xfrm>
            <a:off x="819150" y="2343150"/>
            <a:ext cx="6667500" cy="400050"/>
          </a:xfrm>
          <a:prstGeom prst="rect">
            <a:avLst/>
          </a:prstGeom>
          <a:noFill/>
          <a:ln/>
        </p:spPr>
        <p:txBody>
          <a:bodyPr wrap="square" lIns="0" tIns="0" rIns="0" bIns="0" rtlCol="0" anchor="t">
            <a:normAutofit/>
          </a:bodyPr>
          <a:lstStyle/>
          <a:p>
            <a:pPr marL="0" indent="0" algn="l">
              <a:lnSpc>
                <a:spcPct val="100000"/>
              </a:lnSpc>
              <a:buNone/>
            </a:pPr>
            <a:r>
              <a:rPr lang="en-US" sz="1320" dirty="0">
                <a:solidFill>
                  <a:srgbClr val="CFD9E5"/>
                </a:solidFill>
                <a:latin typeface="Calibri" pitchFamily="34" charset="0"/>
                <a:ea typeface="Calibri" pitchFamily="34" charset="-122"/>
                <a:cs typeface="Calibri" pitchFamily="34" charset="-120"/>
              </a:rPr>
              <a:t>From packet evidence alone this is indistinguishable from an attack that suppressed the grandmaster. Both produce an unplanned election to a legitimate backup. The decision rule returns UNKNOWN and escalates rather than forcing a binary answer.</a:t>
            </a:r>
            <a:endParaRPr lang="en-US" sz="1320" dirty="0"/>
          </a:p>
        </p:txBody>
      </p:sp>
      <p:sp>
        <p:nvSpPr>
          <p:cNvPr id="13" name="Shape 11"/>
          <p:cNvSpPr/>
          <p:nvPr/>
        </p:nvSpPr>
        <p:spPr>
          <a:xfrm>
            <a:off x="7810500" y="1809750"/>
            <a:ext cx="3600450" cy="838200"/>
          </a:xfrm>
          <a:prstGeom prst="roundRect">
            <a:avLst>
              <a:gd name="adj" fmla="val 4364"/>
            </a:avLst>
          </a:prstGeom>
          <a:solidFill>
            <a:srgbClr val="1A3A2E"/>
          </a:solidFill>
          <a:ln w="12700">
            <a:solidFill>
              <a:srgbClr val="1E8E5A"/>
            </a:solidFill>
            <a:prstDash val="solid"/>
          </a:ln>
        </p:spPr>
        <p:txBody>
          <a:bodyPr/>
          <a:lstStyle/>
          <a:p>
            <a:endParaRPr lang="en-IN"/>
          </a:p>
        </p:txBody>
      </p:sp>
      <p:sp>
        <p:nvSpPr>
          <p:cNvPr id="14" name="Text 12"/>
          <p:cNvSpPr/>
          <p:nvPr/>
        </p:nvSpPr>
        <p:spPr>
          <a:xfrm>
            <a:off x="8020050" y="1943100"/>
            <a:ext cx="3238500" cy="190500"/>
          </a:xfrm>
          <a:prstGeom prst="rect">
            <a:avLst/>
          </a:prstGeom>
          <a:noFill/>
          <a:ln/>
        </p:spPr>
        <p:txBody>
          <a:bodyPr wrap="square" lIns="0" tIns="0" rIns="0" bIns="0" rtlCol="0" anchor="t">
            <a:normAutofit/>
          </a:bodyPr>
          <a:lstStyle/>
          <a:p>
            <a:pPr marL="0" indent="0" algn="l">
              <a:lnSpc>
                <a:spcPct val="100000"/>
              </a:lnSpc>
              <a:buNone/>
            </a:pPr>
            <a:r>
              <a:rPr lang="en-US" sz="1150" b="1" dirty="0">
                <a:solidFill>
                  <a:srgbClr val="1E8E5A"/>
                </a:solidFill>
                <a:latin typeface="Calibri" pitchFamily="34" charset="0"/>
                <a:ea typeface="Calibri" pitchFamily="34" charset="-122"/>
                <a:cs typeface="Calibri" pitchFamily="34" charset="-120"/>
              </a:rPr>
              <a:t>EXPECTED  UNKNOWN</a:t>
            </a:r>
            <a:endParaRPr lang="en-US" sz="1150" dirty="0"/>
          </a:p>
        </p:txBody>
      </p:sp>
      <p:sp>
        <p:nvSpPr>
          <p:cNvPr id="15" name="Text 13"/>
          <p:cNvSpPr/>
          <p:nvPr/>
        </p:nvSpPr>
        <p:spPr>
          <a:xfrm>
            <a:off x="8020050" y="2152650"/>
            <a:ext cx="3238500" cy="304800"/>
          </a:xfrm>
          <a:prstGeom prst="rect">
            <a:avLst/>
          </a:prstGeom>
          <a:noFill/>
          <a:ln/>
        </p:spPr>
        <p:txBody>
          <a:bodyPr wrap="square" lIns="0" tIns="0" rIns="0" bIns="0" rtlCol="0" anchor="t">
            <a:normAutofit/>
          </a:bodyPr>
          <a:lstStyle/>
          <a:p>
            <a:pPr marL="0" indent="0" algn="l">
              <a:lnSpc>
                <a:spcPct val="100000"/>
              </a:lnSpc>
              <a:buNone/>
            </a:pPr>
            <a:r>
              <a:rPr lang="en-US" sz="2600" b="1" dirty="0">
                <a:solidFill>
                  <a:srgbClr val="FFFFFF"/>
                </a:solidFill>
                <a:latin typeface="Cambria" pitchFamily="34" charset="0"/>
                <a:ea typeface="Cambria" pitchFamily="34" charset="-122"/>
                <a:cs typeface="Cambria" pitchFamily="34" charset="-120"/>
              </a:rPr>
              <a:t>12 / 12 correct</a:t>
            </a:r>
            <a:endParaRPr lang="en-US" sz="2600" dirty="0"/>
          </a:p>
        </p:txBody>
      </p:sp>
      <p:sp>
        <p:nvSpPr>
          <p:cNvPr id="16" name="Text 14"/>
          <p:cNvSpPr/>
          <p:nvPr/>
        </p:nvSpPr>
        <p:spPr>
          <a:xfrm>
            <a:off x="8020050" y="2457450"/>
            <a:ext cx="3238500" cy="171450"/>
          </a:xfrm>
          <a:prstGeom prst="rect">
            <a:avLst/>
          </a:prstGeom>
          <a:noFill/>
          <a:ln/>
        </p:spPr>
        <p:txBody>
          <a:bodyPr wrap="square" lIns="0" tIns="0" rIns="0" bIns="0" rtlCol="0" anchor="t">
            <a:normAutofit/>
          </a:bodyPr>
          <a:lstStyle/>
          <a:p>
            <a:pPr marL="0" indent="0" algn="l">
              <a:lnSpc>
                <a:spcPct val="100000"/>
              </a:lnSpc>
              <a:buNone/>
            </a:pPr>
            <a:r>
              <a:rPr lang="en-US" sz="1100" dirty="0">
                <a:solidFill>
                  <a:srgbClr val="CFD9E5"/>
                </a:solidFill>
                <a:latin typeface="Calibri" pitchFamily="34" charset="0"/>
                <a:ea typeface="Calibri" pitchFamily="34" charset="-122"/>
                <a:cs typeface="Calibri" pitchFamily="34" charset="-120"/>
              </a:rPr>
              <a:t>Abstention is scored on its own axis, not as a detection success.</a:t>
            </a:r>
            <a:endParaRPr lang="en-US" sz="1100" dirty="0"/>
          </a:p>
        </p:txBody>
      </p:sp>
      <p:sp>
        <p:nvSpPr>
          <p:cNvPr id="17" name="Text 15"/>
          <p:cNvSpPr/>
          <p:nvPr/>
        </p:nvSpPr>
        <p:spPr>
          <a:xfrm>
            <a:off x="571500" y="2971800"/>
            <a:ext cx="6667500" cy="19050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1C7293"/>
                </a:solidFill>
                <a:latin typeface="Calibri" pitchFamily="34" charset="0"/>
                <a:ea typeface="Calibri" pitchFamily="34" charset="-122"/>
                <a:cs typeface="Calibri" pitchFamily="34" charset="-120"/>
              </a:rPr>
              <a:t>SIXTEEN-CLASS CATALOGUE COVERAGE</a:t>
            </a:r>
            <a:endParaRPr lang="en-US" sz="1200" dirty="0"/>
          </a:p>
        </p:txBody>
      </p:sp>
      <p:sp>
        <p:nvSpPr>
          <p:cNvPr id="18" name="Shape 16"/>
          <p:cNvSpPr/>
          <p:nvPr/>
        </p:nvSpPr>
        <p:spPr>
          <a:xfrm>
            <a:off x="571500" y="3238500"/>
            <a:ext cx="2619375" cy="609600"/>
          </a:xfrm>
          <a:prstGeom prst="roundRect">
            <a:avLst>
              <a:gd name="adj" fmla="val 6000"/>
            </a:avLst>
          </a:prstGeom>
          <a:solidFill>
            <a:srgbClr val="E3F3EA"/>
          </a:solidFill>
          <a:ln w="12700">
            <a:solidFill>
              <a:srgbClr val="1E8E5A"/>
            </a:solidFill>
            <a:prstDash val="solid"/>
          </a:ln>
        </p:spPr>
        <p:txBody>
          <a:bodyPr/>
          <a:lstStyle/>
          <a:p>
            <a:endParaRPr lang="en-IN"/>
          </a:p>
        </p:txBody>
      </p:sp>
      <p:sp>
        <p:nvSpPr>
          <p:cNvPr id="19" name="Text 17"/>
          <p:cNvSpPr/>
          <p:nvPr/>
        </p:nvSpPr>
        <p:spPr>
          <a:xfrm>
            <a:off x="685800" y="3314700"/>
            <a:ext cx="476250" cy="209550"/>
          </a:xfrm>
          <a:prstGeom prst="rect">
            <a:avLst/>
          </a:prstGeom>
          <a:noFill/>
          <a:ln/>
        </p:spPr>
        <p:txBody>
          <a:bodyPr wrap="square" lIns="0" tIns="0" rIns="0" bIns="0" rtlCol="0" anchor="t">
            <a:normAutofit/>
          </a:bodyPr>
          <a:lstStyle/>
          <a:p>
            <a:pPr marL="0" indent="0" algn="l">
              <a:lnSpc>
                <a:spcPct val="100000"/>
              </a:lnSpc>
              <a:buNone/>
            </a:pPr>
            <a:r>
              <a:rPr lang="en-US" sz="1400" b="1" dirty="0">
                <a:solidFill>
                  <a:srgbClr val="12263A"/>
                </a:solidFill>
                <a:latin typeface="Cambria" pitchFamily="34" charset="0"/>
                <a:ea typeface="Cambria" pitchFamily="34" charset="-122"/>
                <a:cs typeface="Cambria" pitchFamily="34" charset="-120"/>
              </a:rPr>
              <a:t>A1</a:t>
            </a:r>
            <a:endParaRPr lang="en-US" sz="1400" dirty="0"/>
          </a:p>
        </p:txBody>
      </p:sp>
      <p:sp>
        <p:nvSpPr>
          <p:cNvPr id="20" name="Shape 18"/>
          <p:cNvSpPr/>
          <p:nvPr/>
        </p:nvSpPr>
        <p:spPr>
          <a:xfrm>
            <a:off x="1162050" y="3324225"/>
            <a:ext cx="381000" cy="180975"/>
          </a:xfrm>
          <a:prstGeom prst="roundRect">
            <a:avLst>
              <a:gd name="adj" fmla="val 20211"/>
            </a:avLst>
          </a:prstGeom>
          <a:solidFill>
            <a:srgbClr val="EAF2F8"/>
          </a:solidFill>
          <a:ln w="12700">
            <a:solidFill>
              <a:srgbClr val="D7E1EA"/>
            </a:solidFill>
            <a:prstDash val="solid"/>
          </a:ln>
        </p:spPr>
        <p:txBody>
          <a:bodyPr/>
          <a:lstStyle/>
          <a:p>
            <a:endParaRPr lang="en-IN"/>
          </a:p>
        </p:txBody>
      </p:sp>
      <p:sp>
        <p:nvSpPr>
          <p:cNvPr id="21" name="Text 19"/>
          <p:cNvSpPr/>
          <p:nvPr/>
        </p:nvSpPr>
        <p:spPr>
          <a:xfrm>
            <a:off x="1162050" y="3352800"/>
            <a:ext cx="381000" cy="142875"/>
          </a:xfrm>
          <a:prstGeom prst="rect">
            <a:avLst/>
          </a:prstGeom>
          <a:noFill/>
          <a:ln/>
        </p:spPr>
        <p:txBody>
          <a:bodyPr wrap="square" lIns="0" tIns="0" rIns="0" bIns="0" rtlCol="0" anchor="t">
            <a:normAutofit/>
          </a:bodyPr>
          <a:lstStyle/>
          <a:p>
            <a:pPr marL="0" indent="0" algn="ctr">
              <a:lnSpc>
                <a:spcPct val="100000"/>
              </a:lnSpc>
              <a:buNone/>
            </a:pPr>
            <a:r>
              <a:rPr lang="en-US" sz="950" b="1" dirty="0">
                <a:solidFill>
                  <a:srgbClr val="1C7293"/>
                </a:solidFill>
                <a:latin typeface="Calibri" pitchFamily="34" charset="0"/>
                <a:ea typeface="Calibri" pitchFamily="34" charset="-122"/>
                <a:cs typeface="Calibri" pitchFamily="34" charset="-120"/>
              </a:rPr>
              <a:t>SW</a:t>
            </a:r>
            <a:endParaRPr lang="en-US" sz="950" dirty="0"/>
          </a:p>
        </p:txBody>
      </p:sp>
      <p:sp>
        <p:nvSpPr>
          <p:cNvPr id="22" name="Text 20"/>
          <p:cNvSpPr/>
          <p:nvPr/>
        </p:nvSpPr>
        <p:spPr>
          <a:xfrm>
            <a:off x="2286000" y="3333750"/>
            <a:ext cx="809625" cy="171450"/>
          </a:xfrm>
          <a:prstGeom prst="rect">
            <a:avLst/>
          </a:prstGeom>
          <a:noFill/>
          <a:ln/>
        </p:spPr>
        <p:txBody>
          <a:bodyPr wrap="square" lIns="0" tIns="0" rIns="0" bIns="0" rtlCol="0" anchor="t">
            <a:normAutofit/>
          </a:bodyPr>
          <a:lstStyle/>
          <a:p>
            <a:pPr marL="0" indent="0" algn="r">
              <a:lnSpc>
                <a:spcPct val="100000"/>
              </a:lnSpc>
              <a:buNone/>
            </a:pPr>
            <a:r>
              <a:rPr lang="en-US" sz="950" b="1" dirty="0">
                <a:solidFill>
                  <a:srgbClr val="1E8E5A"/>
                </a:solidFill>
                <a:latin typeface="Calibri" pitchFamily="34" charset="0"/>
                <a:ea typeface="Calibri" pitchFamily="34" charset="-122"/>
                <a:cs typeface="Calibri" pitchFamily="34" charset="-120"/>
              </a:rPr>
              <a:t>TESTED</a:t>
            </a:r>
            <a:endParaRPr lang="en-US" sz="950" dirty="0"/>
          </a:p>
        </p:txBody>
      </p:sp>
      <p:sp>
        <p:nvSpPr>
          <p:cNvPr id="23" name="Text 21"/>
          <p:cNvSpPr/>
          <p:nvPr/>
        </p:nvSpPr>
        <p:spPr>
          <a:xfrm>
            <a:off x="685800" y="3543300"/>
            <a:ext cx="2409825" cy="266700"/>
          </a:xfrm>
          <a:prstGeom prst="rect">
            <a:avLst/>
          </a:prstGeom>
          <a:noFill/>
          <a:ln/>
        </p:spPr>
        <p:txBody>
          <a:bodyPr wrap="square" lIns="0" tIns="0" rIns="0" bIns="0" rtlCol="0" anchor="t">
            <a:normAutofit/>
          </a:bodyPr>
          <a:lstStyle/>
          <a:p>
            <a:pPr marL="0" indent="0" algn="l">
              <a:lnSpc>
                <a:spcPct val="100000"/>
              </a:lnSpc>
              <a:buNone/>
            </a:pPr>
            <a:r>
              <a:rPr lang="en-US" sz="1120" dirty="0">
                <a:solidFill>
                  <a:srgbClr val="5B6B7C"/>
                </a:solidFill>
                <a:latin typeface="Calibri" pitchFamily="34" charset="0"/>
                <a:ea typeface="Calibri" pitchFamily="34" charset="-122"/>
                <a:cs typeface="Calibri" pitchFamily="34" charset="-120"/>
              </a:rPr>
              <a:t>Rogue grandmaster / BMCA spoof</a:t>
            </a:r>
            <a:endParaRPr lang="en-US" sz="1120" dirty="0"/>
          </a:p>
        </p:txBody>
      </p:sp>
      <p:sp>
        <p:nvSpPr>
          <p:cNvPr id="24" name="Shape 22"/>
          <p:cNvSpPr/>
          <p:nvPr/>
        </p:nvSpPr>
        <p:spPr>
          <a:xfrm>
            <a:off x="3390900" y="3238500"/>
            <a:ext cx="2619375" cy="609600"/>
          </a:xfrm>
          <a:prstGeom prst="roundRect">
            <a:avLst>
              <a:gd name="adj" fmla="val 6000"/>
            </a:avLst>
          </a:prstGeom>
          <a:solidFill>
            <a:srgbClr val="E3F3EA"/>
          </a:solidFill>
          <a:ln w="12700">
            <a:solidFill>
              <a:srgbClr val="1E8E5A"/>
            </a:solidFill>
            <a:prstDash val="solid"/>
          </a:ln>
        </p:spPr>
        <p:txBody>
          <a:bodyPr/>
          <a:lstStyle/>
          <a:p>
            <a:endParaRPr lang="en-IN"/>
          </a:p>
        </p:txBody>
      </p:sp>
      <p:sp>
        <p:nvSpPr>
          <p:cNvPr id="25" name="Text 23"/>
          <p:cNvSpPr/>
          <p:nvPr/>
        </p:nvSpPr>
        <p:spPr>
          <a:xfrm>
            <a:off x="3505200" y="3314700"/>
            <a:ext cx="476250" cy="209550"/>
          </a:xfrm>
          <a:prstGeom prst="rect">
            <a:avLst/>
          </a:prstGeom>
          <a:noFill/>
          <a:ln/>
        </p:spPr>
        <p:txBody>
          <a:bodyPr wrap="square" lIns="0" tIns="0" rIns="0" bIns="0" rtlCol="0" anchor="t">
            <a:normAutofit/>
          </a:bodyPr>
          <a:lstStyle/>
          <a:p>
            <a:pPr marL="0" indent="0" algn="l">
              <a:lnSpc>
                <a:spcPct val="100000"/>
              </a:lnSpc>
              <a:buNone/>
            </a:pPr>
            <a:r>
              <a:rPr lang="en-US" sz="1400" b="1" dirty="0">
                <a:solidFill>
                  <a:srgbClr val="12263A"/>
                </a:solidFill>
                <a:latin typeface="Cambria" pitchFamily="34" charset="0"/>
                <a:ea typeface="Cambria" pitchFamily="34" charset="-122"/>
                <a:cs typeface="Cambria" pitchFamily="34" charset="-120"/>
              </a:rPr>
              <a:t>A2</a:t>
            </a:r>
            <a:endParaRPr lang="en-US" sz="1400" dirty="0"/>
          </a:p>
        </p:txBody>
      </p:sp>
      <p:sp>
        <p:nvSpPr>
          <p:cNvPr id="26" name="Shape 24"/>
          <p:cNvSpPr/>
          <p:nvPr/>
        </p:nvSpPr>
        <p:spPr>
          <a:xfrm>
            <a:off x="3981450" y="3324225"/>
            <a:ext cx="381000" cy="180975"/>
          </a:xfrm>
          <a:prstGeom prst="roundRect">
            <a:avLst>
              <a:gd name="adj" fmla="val 20211"/>
            </a:avLst>
          </a:prstGeom>
          <a:solidFill>
            <a:srgbClr val="EAF2F8"/>
          </a:solidFill>
          <a:ln w="12700">
            <a:solidFill>
              <a:srgbClr val="D7E1EA"/>
            </a:solidFill>
            <a:prstDash val="solid"/>
          </a:ln>
        </p:spPr>
        <p:txBody>
          <a:bodyPr/>
          <a:lstStyle/>
          <a:p>
            <a:endParaRPr lang="en-IN"/>
          </a:p>
        </p:txBody>
      </p:sp>
      <p:sp>
        <p:nvSpPr>
          <p:cNvPr id="27" name="Text 25"/>
          <p:cNvSpPr/>
          <p:nvPr/>
        </p:nvSpPr>
        <p:spPr>
          <a:xfrm>
            <a:off x="3981450" y="3352800"/>
            <a:ext cx="381000" cy="142875"/>
          </a:xfrm>
          <a:prstGeom prst="rect">
            <a:avLst/>
          </a:prstGeom>
          <a:noFill/>
          <a:ln/>
        </p:spPr>
        <p:txBody>
          <a:bodyPr wrap="square" lIns="0" tIns="0" rIns="0" bIns="0" rtlCol="0" anchor="t">
            <a:normAutofit/>
          </a:bodyPr>
          <a:lstStyle/>
          <a:p>
            <a:pPr marL="0" indent="0" algn="ctr">
              <a:lnSpc>
                <a:spcPct val="100000"/>
              </a:lnSpc>
              <a:buNone/>
            </a:pPr>
            <a:r>
              <a:rPr lang="en-US" sz="950" b="1" dirty="0">
                <a:solidFill>
                  <a:srgbClr val="1C7293"/>
                </a:solidFill>
                <a:latin typeface="Calibri" pitchFamily="34" charset="0"/>
                <a:ea typeface="Calibri" pitchFamily="34" charset="-122"/>
                <a:cs typeface="Calibri" pitchFamily="34" charset="-120"/>
              </a:rPr>
              <a:t>SW</a:t>
            </a:r>
            <a:endParaRPr lang="en-US" sz="950" dirty="0"/>
          </a:p>
        </p:txBody>
      </p:sp>
      <p:sp>
        <p:nvSpPr>
          <p:cNvPr id="28" name="Text 26"/>
          <p:cNvSpPr/>
          <p:nvPr/>
        </p:nvSpPr>
        <p:spPr>
          <a:xfrm>
            <a:off x="5105400" y="3333750"/>
            <a:ext cx="809625" cy="171450"/>
          </a:xfrm>
          <a:prstGeom prst="rect">
            <a:avLst/>
          </a:prstGeom>
          <a:noFill/>
          <a:ln/>
        </p:spPr>
        <p:txBody>
          <a:bodyPr wrap="square" lIns="0" tIns="0" rIns="0" bIns="0" rtlCol="0" anchor="t">
            <a:normAutofit/>
          </a:bodyPr>
          <a:lstStyle/>
          <a:p>
            <a:pPr marL="0" indent="0" algn="r">
              <a:lnSpc>
                <a:spcPct val="100000"/>
              </a:lnSpc>
              <a:buNone/>
            </a:pPr>
            <a:r>
              <a:rPr lang="en-US" sz="950" b="1" dirty="0">
                <a:solidFill>
                  <a:srgbClr val="1E8E5A"/>
                </a:solidFill>
                <a:latin typeface="Calibri" pitchFamily="34" charset="0"/>
                <a:ea typeface="Calibri" pitchFamily="34" charset="-122"/>
                <a:cs typeface="Calibri" pitchFamily="34" charset="-120"/>
              </a:rPr>
              <a:t>TESTED</a:t>
            </a:r>
            <a:endParaRPr lang="en-US" sz="950" dirty="0"/>
          </a:p>
        </p:txBody>
      </p:sp>
      <p:sp>
        <p:nvSpPr>
          <p:cNvPr id="29" name="Text 27"/>
          <p:cNvSpPr/>
          <p:nvPr/>
        </p:nvSpPr>
        <p:spPr>
          <a:xfrm>
            <a:off x="3505200" y="3543300"/>
            <a:ext cx="2409825" cy="266700"/>
          </a:xfrm>
          <a:prstGeom prst="rect">
            <a:avLst/>
          </a:prstGeom>
          <a:noFill/>
          <a:ln/>
        </p:spPr>
        <p:txBody>
          <a:bodyPr wrap="square" lIns="0" tIns="0" rIns="0" bIns="0" rtlCol="0" anchor="t">
            <a:normAutofit/>
          </a:bodyPr>
          <a:lstStyle/>
          <a:p>
            <a:pPr marL="0" indent="0" algn="l">
              <a:lnSpc>
                <a:spcPct val="100000"/>
              </a:lnSpc>
              <a:buNone/>
            </a:pPr>
            <a:r>
              <a:rPr lang="en-US" sz="1120" dirty="0">
                <a:solidFill>
                  <a:srgbClr val="5B6B7C"/>
                </a:solidFill>
                <a:latin typeface="Calibri" pitchFamily="34" charset="0"/>
                <a:ea typeface="Calibri" pitchFamily="34" charset="-122"/>
                <a:cs typeface="Calibri" pitchFamily="34" charset="-120"/>
              </a:rPr>
              <a:t>Sync / Follow_Up spoofing</a:t>
            </a:r>
            <a:endParaRPr lang="en-US" sz="1120" dirty="0"/>
          </a:p>
        </p:txBody>
      </p:sp>
      <p:sp>
        <p:nvSpPr>
          <p:cNvPr id="30" name="Shape 28"/>
          <p:cNvSpPr/>
          <p:nvPr/>
        </p:nvSpPr>
        <p:spPr>
          <a:xfrm>
            <a:off x="6210300" y="3238500"/>
            <a:ext cx="2619375" cy="609600"/>
          </a:xfrm>
          <a:prstGeom prst="roundRect">
            <a:avLst>
              <a:gd name="adj" fmla="val 6000"/>
            </a:avLst>
          </a:prstGeom>
          <a:solidFill>
            <a:srgbClr val="E3F3EA"/>
          </a:solidFill>
          <a:ln w="12700">
            <a:solidFill>
              <a:srgbClr val="1E8E5A"/>
            </a:solidFill>
            <a:prstDash val="solid"/>
          </a:ln>
        </p:spPr>
        <p:txBody>
          <a:bodyPr/>
          <a:lstStyle/>
          <a:p>
            <a:endParaRPr lang="en-IN"/>
          </a:p>
        </p:txBody>
      </p:sp>
      <p:sp>
        <p:nvSpPr>
          <p:cNvPr id="31" name="Text 29"/>
          <p:cNvSpPr/>
          <p:nvPr/>
        </p:nvSpPr>
        <p:spPr>
          <a:xfrm>
            <a:off x="6324600" y="3314700"/>
            <a:ext cx="476250" cy="209550"/>
          </a:xfrm>
          <a:prstGeom prst="rect">
            <a:avLst/>
          </a:prstGeom>
          <a:noFill/>
          <a:ln/>
        </p:spPr>
        <p:txBody>
          <a:bodyPr wrap="square" lIns="0" tIns="0" rIns="0" bIns="0" rtlCol="0" anchor="t">
            <a:normAutofit/>
          </a:bodyPr>
          <a:lstStyle/>
          <a:p>
            <a:pPr marL="0" indent="0" algn="l">
              <a:lnSpc>
                <a:spcPct val="100000"/>
              </a:lnSpc>
              <a:buNone/>
            </a:pPr>
            <a:r>
              <a:rPr lang="en-US" sz="1400" b="1" dirty="0">
                <a:solidFill>
                  <a:srgbClr val="12263A"/>
                </a:solidFill>
                <a:latin typeface="Cambria" pitchFamily="34" charset="0"/>
                <a:ea typeface="Cambria" pitchFamily="34" charset="-122"/>
                <a:cs typeface="Cambria" pitchFamily="34" charset="-120"/>
              </a:rPr>
              <a:t>A3</a:t>
            </a:r>
            <a:endParaRPr lang="en-US" sz="1400" dirty="0"/>
          </a:p>
        </p:txBody>
      </p:sp>
      <p:sp>
        <p:nvSpPr>
          <p:cNvPr id="32" name="Shape 30"/>
          <p:cNvSpPr/>
          <p:nvPr/>
        </p:nvSpPr>
        <p:spPr>
          <a:xfrm>
            <a:off x="6800850" y="3324225"/>
            <a:ext cx="381000" cy="180975"/>
          </a:xfrm>
          <a:prstGeom prst="roundRect">
            <a:avLst>
              <a:gd name="adj" fmla="val 20211"/>
            </a:avLst>
          </a:prstGeom>
          <a:solidFill>
            <a:srgbClr val="EAF2F8"/>
          </a:solidFill>
          <a:ln w="12700">
            <a:solidFill>
              <a:srgbClr val="D7E1EA"/>
            </a:solidFill>
            <a:prstDash val="solid"/>
          </a:ln>
        </p:spPr>
        <p:txBody>
          <a:bodyPr/>
          <a:lstStyle/>
          <a:p>
            <a:endParaRPr lang="en-IN"/>
          </a:p>
        </p:txBody>
      </p:sp>
      <p:sp>
        <p:nvSpPr>
          <p:cNvPr id="33" name="Text 31"/>
          <p:cNvSpPr/>
          <p:nvPr/>
        </p:nvSpPr>
        <p:spPr>
          <a:xfrm>
            <a:off x="6800850" y="3352800"/>
            <a:ext cx="381000" cy="142875"/>
          </a:xfrm>
          <a:prstGeom prst="rect">
            <a:avLst/>
          </a:prstGeom>
          <a:noFill/>
          <a:ln/>
        </p:spPr>
        <p:txBody>
          <a:bodyPr wrap="square" lIns="0" tIns="0" rIns="0" bIns="0" rtlCol="0" anchor="t">
            <a:normAutofit/>
          </a:bodyPr>
          <a:lstStyle/>
          <a:p>
            <a:pPr marL="0" indent="0" algn="ctr">
              <a:lnSpc>
                <a:spcPct val="100000"/>
              </a:lnSpc>
              <a:buNone/>
            </a:pPr>
            <a:r>
              <a:rPr lang="en-US" sz="950" b="1" dirty="0">
                <a:solidFill>
                  <a:srgbClr val="1C7293"/>
                </a:solidFill>
                <a:latin typeface="Calibri" pitchFamily="34" charset="0"/>
                <a:ea typeface="Calibri" pitchFamily="34" charset="-122"/>
                <a:cs typeface="Calibri" pitchFamily="34" charset="-120"/>
              </a:rPr>
              <a:t>SW</a:t>
            </a:r>
            <a:endParaRPr lang="en-US" sz="950" dirty="0"/>
          </a:p>
        </p:txBody>
      </p:sp>
      <p:sp>
        <p:nvSpPr>
          <p:cNvPr id="34" name="Text 32"/>
          <p:cNvSpPr/>
          <p:nvPr/>
        </p:nvSpPr>
        <p:spPr>
          <a:xfrm>
            <a:off x="7924800" y="3333750"/>
            <a:ext cx="809625" cy="171450"/>
          </a:xfrm>
          <a:prstGeom prst="rect">
            <a:avLst/>
          </a:prstGeom>
          <a:noFill/>
          <a:ln/>
        </p:spPr>
        <p:txBody>
          <a:bodyPr wrap="square" lIns="0" tIns="0" rIns="0" bIns="0" rtlCol="0" anchor="t">
            <a:normAutofit/>
          </a:bodyPr>
          <a:lstStyle/>
          <a:p>
            <a:pPr marL="0" indent="0" algn="r">
              <a:lnSpc>
                <a:spcPct val="100000"/>
              </a:lnSpc>
              <a:buNone/>
            </a:pPr>
            <a:r>
              <a:rPr lang="en-US" sz="950" b="1" dirty="0">
                <a:solidFill>
                  <a:srgbClr val="1E8E5A"/>
                </a:solidFill>
                <a:latin typeface="Calibri" pitchFamily="34" charset="0"/>
                <a:ea typeface="Calibri" pitchFamily="34" charset="-122"/>
                <a:cs typeface="Calibri" pitchFamily="34" charset="-120"/>
              </a:rPr>
              <a:t>TESTED</a:t>
            </a:r>
            <a:endParaRPr lang="en-US" sz="950" dirty="0"/>
          </a:p>
        </p:txBody>
      </p:sp>
      <p:sp>
        <p:nvSpPr>
          <p:cNvPr id="35" name="Text 33"/>
          <p:cNvSpPr/>
          <p:nvPr/>
        </p:nvSpPr>
        <p:spPr>
          <a:xfrm>
            <a:off x="6324600" y="3543300"/>
            <a:ext cx="2409825" cy="266700"/>
          </a:xfrm>
          <a:prstGeom prst="rect">
            <a:avLst/>
          </a:prstGeom>
          <a:noFill/>
          <a:ln/>
        </p:spPr>
        <p:txBody>
          <a:bodyPr wrap="square" lIns="0" tIns="0" rIns="0" bIns="0" rtlCol="0" anchor="t">
            <a:normAutofit/>
          </a:bodyPr>
          <a:lstStyle/>
          <a:p>
            <a:pPr marL="0" indent="0" algn="l">
              <a:lnSpc>
                <a:spcPct val="100000"/>
              </a:lnSpc>
              <a:buNone/>
            </a:pPr>
            <a:r>
              <a:rPr lang="en-US" sz="1120" dirty="0">
                <a:solidFill>
                  <a:srgbClr val="5B6B7C"/>
                </a:solidFill>
                <a:latin typeface="Calibri" pitchFamily="34" charset="0"/>
                <a:ea typeface="Calibri" pitchFamily="34" charset="-122"/>
                <a:cs typeface="Calibri" pitchFamily="34" charset="-120"/>
              </a:rPr>
              <a:t>Replay</a:t>
            </a:r>
            <a:endParaRPr lang="en-US" sz="1120" dirty="0"/>
          </a:p>
        </p:txBody>
      </p:sp>
      <p:sp>
        <p:nvSpPr>
          <p:cNvPr id="36" name="Shape 34"/>
          <p:cNvSpPr/>
          <p:nvPr/>
        </p:nvSpPr>
        <p:spPr>
          <a:xfrm>
            <a:off x="9029700" y="3238500"/>
            <a:ext cx="2619375" cy="609600"/>
          </a:xfrm>
          <a:prstGeom prst="roundRect">
            <a:avLst>
              <a:gd name="adj" fmla="val 6000"/>
            </a:avLst>
          </a:prstGeom>
          <a:solidFill>
            <a:srgbClr val="FFFFFF"/>
          </a:solidFill>
          <a:ln w="12700">
            <a:solidFill>
              <a:srgbClr val="D7E1EA"/>
            </a:solidFill>
            <a:prstDash val="solid"/>
          </a:ln>
        </p:spPr>
        <p:txBody>
          <a:bodyPr/>
          <a:lstStyle/>
          <a:p>
            <a:endParaRPr lang="en-IN"/>
          </a:p>
        </p:txBody>
      </p:sp>
      <p:sp>
        <p:nvSpPr>
          <p:cNvPr id="37" name="Text 35"/>
          <p:cNvSpPr/>
          <p:nvPr/>
        </p:nvSpPr>
        <p:spPr>
          <a:xfrm>
            <a:off x="9144000" y="3314700"/>
            <a:ext cx="476250" cy="209550"/>
          </a:xfrm>
          <a:prstGeom prst="rect">
            <a:avLst/>
          </a:prstGeom>
          <a:noFill/>
          <a:ln/>
        </p:spPr>
        <p:txBody>
          <a:bodyPr wrap="square" lIns="0" tIns="0" rIns="0" bIns="0" rtlCol="0" anchor="t">
            <a:normAutofit/>
          </a:bodyPr>
          <a:lstStyle/>
          <a:p>
            <a:pPr marL="0" indent="0" algn="l">
              <a:lnSpc>
                <a:spcPct val="100000"/>
              </a:lnSpc>
              <a:buNone/>
            </a:pPr>
            <a:r>
              <a:rPr lang="en-US" sz="1400" b="1" dirty="0">
                <a:solidFill>
                  <a:srgbClr val="12263A"/>
                </a:solidFill>
                <a:latin typeface="Cambria" pitchFamily="34" charset="0"/>
                <a:ea typeface="Cambria" pitchFamily="34" charset="-122"/>
                <a:cs typeface="Cambria" pitchFamily="34" charset="-120"/>
              </a:rPr>
              <a:t>A4</a:t>
            </a:r>
            <a:endParaRPr lang="en-US" sz="1400" dirty="0"/>
          </a:p>
        </p:txBody>
      </p:sp>
      <p:sp>
        <p:nvSpPr>
          <p:cNvPr id="38" name="Shape 36"/>
          <p:cNvSpPr/>
          <p:nvPr/>
        </p:nvSpPr>
        <p:spPr>
          <a:xfrm>
            <a:off x="9620250" y="3324225"/>
            <a:ext cx="381000" cy="180975"/>
          </a:xfrm>
          <a:prstGeom prst="roundRect">
            <a:avLst>
              <a:gd name="adj" fmla="val 20211"/>
            </a:avLst>
          </a:prstGeom>
          <a:solidFill>
            <a:srgbClr val="EAF2F8"/>
          </a:solidFill>
          <a:ln w="12700">
            <a:solidFill>
              <a:srgbClr val="D7E1EA"/>
            </a:solidFill>
            <a:prstDash val="solid"/>
          </a:ln>
        </p:spPr>
        <p:txBody>
          <a:bodyPr/>
          <a:lstStyle/>
          <a:p>
            <a:endParaRPr lang="en-IN"/>
          </a:p>
        </p:txBody>
      </p:sp>
      <p:sp>
        <p:nvSpPr>
          <p:cNvPr id="39" name="Text 37"/>
          <p:cNvSpPr/>
          <p:nvPr/>
        </p:nvSpPr>
        <p:spPr>
          <a:xfrm>
            <a:off x="9620250" y="3352800"/>
            <a:ext cx="381000" cy="142875"/>
          </a:xfrm>
          <a:prstGeom prst="rect">
            <a:avLst/>
          </a:prstGeom>
          <a:noFill/>
          <a:ln/>
        </p:spPr>
        <p:txBody>
          <a:bodyPr wrap="square" lIns="0" tIns="0" rIns="0" bIns="0" rtlCol="0" anchor="t">
            <a:normAutofit/>
          </a:bodyPr>
          <a:lstStyle/>
          <a:p>
            <a:pPr marL="0" indent="0" algn="ctr">
              <a:lnSpc>
                <a:spcPct val="100000"/>
              </a:lnSpc>
              <a:buNone/>
            </a:pPr>
            <a:r>
              <a:rPr lang="en-US" sz="950" b="1" dirty="0">
                <a:solidFill>
                  <a:srgbClr val="1C7293"/>
                </a:solidFill>
                <a:latin typeface="Calibri" pitchFamily="34" charset="0"/>
                <a:ea typeface="Calibri" pitchFamily="34" charset="-122"/>
                <a:cs typeface="Calibri" pitchFamily="34" charset="-120"/>
              </a:rPr>
              <a:t>SW*</a:t>
            </a:r>
            <a:endParaRPr lang="en-US" sz="950" dirty="0"/>
          </a:p>
        </p:txBody>
      </p:sp>
      <p:sp>
        <p:nvSpPr>
          <p:cNvPr id="40" name="Text 38"/>
          <p:cNvSpPr/>
          <p:nvPr/>
        </p:nvSpPr>
        <p:spPr>
          <a:xfrm>
            <a:off x="10744200" y="3333750"/>
            <a:ext cx="809625" cy="171450"/>
          </a:xfrm>
          <a:prstGeom prst="rect">
            <a:avLst/>
          </a:prstGeom>
          <a:noFill/>
          <a:ln/>
        </p:spPr>
        <p:txBody>
          <a:bodyPr wrap="square" lIns="0" tIns="0" rIns="0" bIns="0" rtlCol="0" anchor="t">
            <a:normAutofit/>
          </a:bodyPr>
          <a:lstStyle/>
          <a:p>
            <a:pPr marL="0" indent="0" algn="r">
              <a:lnSpc>
                <a:spcPct val="100000"/>
              </a:lnSpc>
              <a:buNone/>
            </a:pPr>
            <a:r>
              <a:rPr lang="en-US" sz="950" b="1" dirty="0">
                <a:solidFill>
                  <a:srgbClr val="5B6B7C"/>
                </a:solidFill>
                <a:latin typeface="Calibri" pitchFamily="34" charset="0"/>
                <a:ea typeface="Calibri" pitchFamily="34" charset="-122"/>
                <a:cs typeface="Calibri" pitchFamily="34" charset="-120"/>
              </a:rPr>
              <a:t>not run</a:t>
            </a:r>
            <a:endParaRPr lang="en-US" sz="950" dirty="0"/>
          </a:p>
        </p:txBody>
      </p:sp>
      <p:sp>
        <p:nvSpPr>
          <p:cNvPr id="41" name="Text 39"/>
          <p:cNvSpPr/>
          <p:nvPr/>
        </p:nvSpPr>
        <p:spPr>
          <a:xfrm>
            <a:off x="9144000" y="3543300"/>
            <a:ext cx="2409825" cy="266700"/>
          </a:xfrm>
          <a:prstGeom prst="rect">
            <a:avLst/>
          </a:prstGeom>
          <a:noFill/>
          <a:ln/>
        </p:spPr>
        <p:txBody>
          <a:bodyPr wrap="square" lIns="0" tIns="0" rIns="0" bIns="0" rtlCol="0" anchor="t">
            <a:normAutofit/>
          </a:bodyPr>
          <a:lstStyle/>
          <a:p>
            <a:pPr marL="0" indent="0" algn="l">
              <a:lnSpc>
                <a:spcPct val="100000"/>
              </a:lnSpc>
              <a:buNone/>
            </a:pPr>
            <a:r>
              <a:rPr lang="en-US" sz="1120" dirty="0">
                <a:solidFill>
                  <a:srgbClr val="5B6B7C"/>
                </a:solidFill>
                <a:latin typeface="Calibri" pitchFamily="34" charset="0"/>
                <a:ea typeface="Calibri" pitchFamily="34" charset="-122"/>
                <a:cs typeface="Calibri" pitchFamily="34" charset="-120"/>
              </a:rPr>
              <a:t>Delay (time) attack</a:t>
            </a:r>
            <a:endParaRPr lang="en-US" sz="1120" dirty="0"/>
          </a:p>
        </p:txBody>
      </p:sp>
      <p:sp>
        <p:nvSpPr>
          <p:cNvPr id="42" name="Shape 40"/>
          <p:cNvSpPr/>
          <p:nvPr/>
        </p:nvSpPr>
        <p:spPr>
          <a:xfrm>
            <a:off x="571500" y="3924300"/>
            <a:ext cx="2619375" cy="609600"/>
          </a:xfrm>
          <a:prstGeom prst="roundRect">
            <a:avLst>
              <a:gd name="adj" fmla="val 6000"/>
            </a:avLst>
          </a:prstGeom>
          <a:solidFill>
            <a:srgbClr val="E3F3EA"/>
          </a:solidFill>
          <a:ln w="12700">
            <a:solidFill>
              <a:srgbClr val="1E8E5A"/>
            </a:solidFill>
            <a:prstDash val="solid"/>
          </a:ln>
        </p:spPr>
        <p:txBody>
          <a:bodyPr/>
          <a:lstStyle/>
          <a:p>
            <a:endParaRPr lang="en-IN"/>
          </a:p>
        </p:txBody>
      </p:sp>
      <p:sp>
        <p:nvSpPr>
          <p:cNvPr id="43" name="Text 41"/>
          <p:cNvSpPr/>
          <p:nvPr/>
        </p:nvSpPr>
        <p:spPr>
          <a:xfrm>
            <a:off x="685800" y="4000500"/>
            <a:ext cx="476250" cy="209550"/>
          </a:xfrm>
          <a:prstGeom prst="rect">
            <a:avLst/>
          </a:prstGeom>
          <a:noFill/>
          <a:ln/>
        </p:spPr>
        <p:txBody>
          <a:bodyPr wrap="square" lIns="0" tIns="0" rIns="0" bIns="0" rtlCol="0" anchor="t">
            <a:normAutofit/>
          </a:bodyPr>
          <a:lstStyle/>
          <a:p>
            <a:pPr marL="0" indent="0" algn="l">
              <a:lnSpc>
                <a:spcPct val="100000"/>
              </a:lnSpc>
              <a:buNone/>
            </a:pPr>
            <a:r>
              <a:rPr lang="en-US" sz="1400" b="1" dirty="0">
                <a:solidFill>
                  <a:srgbClr val="12263A"/>
                </a:solidFill>
                <a:latin typeface="Cambria" pitchFamily="34" charset="0"/>
                <a:ea typeface="Cambria" pitchFamily="34" charset="-122"/>
                <a:cs typeface="Cambria" pitchFamily="34" charset="-120"/>
              </a:rPr>
              <a:t>A5</a:t>
            </a:r>
            <a:endParaRPr lang="en-US" sz="1400" dirty="0"/>
          </a:p>
        </p:txBody>
      </p:sp>
      <p:sp>
        <p:nvSpPr>
          <p:cNvPr id="44" name="Shape 42"/>
          <p:cNvSpPr/>
          <p:nvPr/>
        </p:nvSpPr>
        <p:spPr>
          <a:xfrm>
            <a:off x="1162050" y="4010025"/>
            <a:ext cx="381000" cy="180975"/>
          </a:xfrm>
          <a:prstGeom prst="roundRect">
            <a:avLst>
              <a:gd name="adj" fmla="val 20211"/>
            </a:avLst>
          </a:prstGeom>
          <a:solidFill>
            <a:srgbClr val="EAF2F8"/>
          </a:solidFill>
          <a:ln w="12700">
            <a:solidFill>
              <a:srgbClr val="D7E1EA"/>
            </a:solidFill>
            <a:prstDash val="solid"/>
          </a:ln>
        </p:spPr>
        <p:txBody>
          <a:bodyPr/>
          <a:lstStyle/>
          <a:p>
            <a:endParaRPr lang="en-IN"/>
          </a:p>
        </p:txBody>
      </p:sp>
      <p:sp>
        <p:nvSpPr>
          <p:cNvPr id="45" name="Text 43"/>
          <p:cNvSpPr/>
          <p:nvPr/>
        </p:nvSpPr>
        <p:spPr>
          <a:xfrm>
            <a:off x="1162050" y="4038600"/>
            <a:ext cx="381000" cy="142875"/>
          </a:xfrm>
          <a:prstGeom prst="rect">
            <a:avLst/>
          </a:prstGeom>
          <a:noFill/>
          <a:ln/>
        </p:spPr>
        <p:txBody>
          <a:bodyPr wrap="square" lIns="0" tIns="0" rIns="0" bIns="0" rtlCol="0" anchor="t">
            <a:normAutofit/>
          </a:bodyPr>
          <a:lstStyle/>
          <a:p>
            <a:pPr marL="0" indent="0" algn="ctr">
              <a:lnSpc>
                <a:spcPct val="100000"/>
              </a:lnSpc>
              <a:buNone/>
            </a:pPr>
            <a:r>
              <a:rPr lang="en-US" sz="950" b="1" dirty="0">
                <a:solidFill>
                  <a:srgbClr val="1C7293"/>
                </a:solidFill>
                <a:latin typeface="Calibri" pitchFamily="34" charset="0"/>
                <a:ea typeface="Calibri" pitchFamily="34" charset="-122"/>
                <a:cs typeface="Calibri" pitchFamily="34" charset="-120"/>
              </a:rPr>
              <a:t>SW</a:t>
            </a:r>
            <a:endParaRPr lang="en-US" sz="950" dirty="0"/>
          </a:p>
        </p:txBody>
      </p:sp>
      <p:sp>
        <p:nvSpPr>
          <p:cNvPr id="46" name="Text 44"/>
          <p:cNvSpPr/>
          <p:nvPr/>
        </p:nvSpPr>
        <p:spPr>
          <a:xfrm>
            <a:off x="2286000" y="4019550"/>
            <a:ext cx="809625" cy="171450"/>
          </a:xfrm>
          <a:prstGeom prst="rect">
            <a:avLst/>
          </a:prstGeom>
          <a:noFill/>
          <a:ln/>
        </p:spPr>
        <p:txBody>
          <a:bodyPr wrap="square" lIns="0" tIns="0" rIns="0" bIns="0" rtlCol="0" anchor="t">
            <a:normAutofit/>
          </a:bodyPr>
          <a:lstStyle/>
          <a:p>
            <a:pPr marL="0" indent="0" algn="r">
              <a:lnSpc>
                <a:spcPct val="100000"/>
              </a:lnSpc>
              <a:buNone/>
            </a:pPr>
            <a:r>
              <a:rPr lang="en-US" sz="950" b="1" dirty="0">
                <a:solidFill>
                  <a:srgbClr val="1E8E5A"/>
                </a:solidFill>
                <a:latin typeface="Calibri" pitchFamily="34" charset="0"/>
                <a:ea typeface="Calibri" pitchFamily="34" charset="-122"/>
                <a:cs typeface="Calibri" pitchFamily="34" charset="-120"/>
              </a:rPr>
              <a:t>TESTED</a:t>
            </a:r>
            <a:endParaRPr lang="en-US" sz="950" dirty="0"/>
          </a:p>
        </p:txBody>
      </p:sp>
      <p:sp>
        <p:nvSpPr>
          <p:cNvPr id="47" name="Text 45"/>
          <p:cNvSpPr/>
          <p:nvPr/>
        </p:nvSpPr>
        <p:spPr>
          <a:xfrm>
            <a:off x="685800" y="4229100"/>
            <a:ext cx="2409825" cy="266700"/>
          </a:xfrm>
          <a:prstGeom prst="rect">
            <a:avLst/>
          </a:prstGeom>
          <a:noFill/>
          <a:ln/>
        </p:spPr>
        <p:txBody>
          <a:bodyPr wrap="square" lIns="0" tIns="0" rIns="0" bIns="0" rtlCol="0" anchor="t">
            <a:normAutofit/>
          </a:bodyPr>
          <a:lstStyle/>
          <a:p>
            <a:pPr marL="0" indent="0" algn="l">
              <a:lnSpc>
                <a:spcPct val="100000"/>
              </a:lnSpc>
              <a:buNone/>
            </a:pPr>
            <a:r>
              <a:rPr lang="en-US" sz="1120" dirty="0">
                <a:solidFill>
                  <a:srgbClr val="5B6B7C"/>
                </a:solidFill>
                <a:latin typeface="Calibri" pitchFamily="34" charset="0"/>
                <a:ea typeface="Calibri" pitchFamily="34" charset="-122"/>
                <a:cs typeface="Calibri" pitchFamily="34" charset="-120"/>
              </a:rPr>
              <a:t>DoS / PTP flooding</a:t>
            </a:r>
            <a:endParaRPr lang="en-US" sz="1120" dirty="0"/>
          </a:p>
        </p:txBody>
      </p:sp>
      <p:sp>
        <p:nvSpPr>
          <p:cNvPr id="48" name="Shape 46"/>
          <p:cNvSpPr/>
          <p:nvPr/>
        </p:nvSpPr>
        <p:spPr>
          <a:xfrm>
            <a:off x="3390900" y="3924300"/>
            <a:ext cx="2619375" cy="609600"/>
          </a:xfrm>
          <a:prstGeom prst="roundRect">
            <a:avLst>
              <a:gd name="adj" fmla="val 6000"/>
            </a:avLst>
          </a:prstGeom>
          <a:solidFill>
            <a:srgbClr val="F6E4E0"/>
          </a:solidFill>
          <a:ln w="12700">
            <a:solidFill>
              <a:srgbClr val="B3402F"/>
            </a:solidFill>
            <a:prstDash val="solid"/>
          </a:ln>
        </p:spPr>
        <p:txBody>
          <a:bodyPr/>
          <a:lstStyle/>
          <a:p>
            <a:endParaRPr lang="en-IN"/>
          </a:p>
        </p:txBody>
      </p:sp>
      <p:sp>
        <p:nvSpPr>
          <p:cNvPr id="49" name="Text 47"/>
          <p:cNvSpPr/>
          <p:nvPr/>
        </p:nvSpPr>
        <p:spPr>
          <a:xfrm>
            <a:off x="3505200" y="4000500"/>
            <a:ext cx="476250" cy="209550"/>
          </a:xfrm>
          <a:prstGeom prst="rect">
            <a:avLst/>
          </a:prstGeom>
          <a:noFill/>
          <a:ln/>
        </p:spPr>
        <p:txBody>
          <a:bodyPr wrap="square" lIns="0" tIns="0" rIns="0" bIns="0" rtlCol="0" anchor="t">
            <a:normAutofit/>
          </a:bodyPr>
          <a:lstStyle/>
          <a:p>
            <a:pPr marL="0" indent="0" algn="l">
              <a:lnSpc>
                <a:spcPct val="100000"/>
              </a:lnSpc>
              <a:buNone/>
            </a:pPr>
            <a:r>
              <a:rPr lang="en-US" sz="1400" b="1" dirty="0">
                <a:solidFill>
                  <a:srgbClr val="12263A"/>
                </a:solidFill>
                <a:latin typeface="Cambria" pitchFamily="34" charset="0"/>
                <a:ea typeface="Cambria" pitchFamily="34" charset="-122"/>
                <a:cs typeface="Cambria" pitchFamily="34" charset="-120"/>
              </a:rPr>
              <a:t>A6</a:t>
            </a:r>
            <a:endParaRPr lang="en-US" sz="1400" dirty="0"/>
          </a:p>
        </p:txBody>
      </p:sp>
      <p:sp>
        <p:nvSpPr>
          <p:cNvPr id="50" name="Shape 48"/>
          <p:cNvSpPr/>
          <p:nvPr/>
        </p:nvSpPr>
        <p:spPr>
          <a:xfrm>
            <a:off x="3981450" y="4010025"/>
            <a:ext cx="381000" cy="180975"/>
          </a:xfrm>
          <a:prstGeom prst="roundRect">
            <a:avLst>
              <a:gd name="adj" fmla="val 20211"/>
            </a:avLst>
          </a:prstGeom>
          <a:solidFill>
            <a:srgbClr val="EAF2F8"/>
          </a:solidFill>
          <a:ln w="12700">
            <a:solidFill>
              <a:srgbClr val="D7E1EA"/>
            </a:solidFill>
            <a:prstDash val="solid"/>
          </a:ln>
        </p:spPr>
        <p:txBody>
          <a:bodyPr/>
          <a:lstStyle/>
          <a:p>
            <a:endParaRPr lang="en-IN"/>
          </a:p>
        </p:txBody>
      </p:sp>
      <p:sp>
        <p:nvSpPr>
          <p:cNvPr id="51" name="Text 49"/>
          <p:cNvSpPr/>
          <p:nvPr/>
        </p:nvSpPr>
        <p:spPr>
          <a:xfrm>
            <a:off x="3981450" y="4038600"/>
            <a:ext cx="381000" cy="142875"/>
          </a:xfrm>
          <a:prstGeom prst="rect">
            <a:avLst/>
          </a:prstGeom>
          <a:noFill/>
          <a:ln/>
        </p:spPr>
        <p:txBody>
          <a:bodyPr wrap="square" lIns="0" tIns="0" rIns="0" bIns="0" rtlCol="0" anchor="t">
            <a:normAutofit/>
          </a:bodyPr>
          <a:lstStyle/>
          <a:p>
            <a:pPr marL="0" indent="0" algn="ctr">
              <a:lnSpc>
                <a:spcPct val="100000"/>
              </a:lnSpc>
              <a:buNone/>
            </a:pPr>
            <a:r>
              <a:rPr lang="en-US" sz="950" b="1" dirty="0">
                <a:solidFill>
                  <a:srgbClr val="1C7293"/>
                </a:solidFill>
                <a:latin typeface="Calibri" pitchFamily="34" charset="0"/>
                <a:ea typeface="Calibri" pitchFamily="34" charset="-122"/>
                <a:cs typeface="Calibri" pitchFamily="34" charset="-120"/>
              </a:rPr>
              <a:t>HW</a:t>
            </a:r>
            <a:endParaRPr lang="en-US" sz="950" dirty="0"/>
          </a:p>
        </p:txBody>
      </p:sp>
      <p:sp>
        <p:nvSpPr>
          <p:cNvPr id="52" name="Text 50"/>
          <p:cNvSpPr/>
          <p:nvPr/>
        </p:nvSpPr>
        <p:spPr>
          <a:xfrm>
            <a:off x="5105400" y="4019550"/>
            <a:ext cx="809625" cy="171450"/>
          </a:xfrm>
          <a:prstGeom prst="rect">
            <a:avLst/>
          </a:prstGeom>
          <a:noFill/>
          <a:ln/>
        </p:spPr>
        <p:txBody>
          <a:bodyPr wrap="square" lIns="0" tIns="0" rIns="0" bIns="0" rtlCol="0" anchor="t">
            <a:normAutofit/>
          </a:bodyPr>
          <a:lstStyle/>
          <a:p>
            <a:pPr marL="0" indent="0" algn="r">
              <a:lnSpc>
                <a:spcPct val="100000"/>
              </a:lnSpc>
              <a:buNone/>
            </a:pPr>
            <a:r>
              <a:rPr lang="en-US" sz="950" b="1" dirty="0">
                <a:solidFill>
                  <a:srgbClr val="B3402F"/>
                </a:solidFill>
                <a:latin typeface="Calibri" pitchFamily="34" charset="0"/>
                <a:ea typeface="Calibri" pitchFamily="34" charset="-122"/>
                <a:cs typeface="Calibri" pitchFamily="34" charset="-120"/>
              </a:rPr>
              <a:t>blocked</a:t>
            </a:r>
            <a:endParaRPr lang="en-US" sz="950" dirty="0"/>
          </a:p>
        </p:txBody>
      </p:sp>
      <p:sp>
        <p:nvSpPr>
          <p:cNvPr id="53" name="Text 51"/>
          <p:cNvSpPr/>
          <p:nvPr/>
        </p:nvSpPr>
        <p:spPr>
          <a:xfrm>
            <a:off x="3505200" y="4229100"/>
            <a:ext cx="2409825" cy="266700"/>
          </a:xfrm>
          <a:prstGeom prst="rect">
            <a:avLst/>
          </a:prstGeom>
          <a:noFill/>
          <a:ln/>
        </p:spPr>
        <p:txBody>
          <a:bodyPr wrap="square" lIns="0" tIns="0" rIns="0" bIns="0" rtlCol="0" anchor="t">
            <a:normAutofit/>
          </a:bodyPr>
          <a:lstStyle/>
          <a:p>
            <a:pPr marL="0" indent="0" algn="l">
              <a:lnSpc>
                <a:spcPct val="100000"/>
              </a:lnSpc>
              <a:buNone/>
            </a:pPr>
            <a:r>
              <a:rPr lang="en-US" sz="1120" dirty="0">
                <a:solidFill>
                  <a:srgbClr val="5B6B7C"/>
                </a:solidFill>
                <a:latin typeface="Calibri" pitchFamily="34" charset="0"/>
                <a:ea typeface="Calibri" pitchFamily="34" charset="-122"/>
                <a:cs typeface="Calibri" pitchFamily="34" charset="-120"/>
              </a:rPr>
              <a:t>GNSS spoofing</a:t>
            </a:r>
            <a:endParaRPr lang="en-US" sz="1120" dirty="0"/>
          </a:p>
        </p:txBody>
      </p:sp>
      <p:sp>
        <p:nvSpPr>
          <p:cNvPr id="54" name="Shape 52"/>
          <p:cNvSpPr/>
          <p:nvPr/>
        </p:nvSpPr>
        <p:spPr>
          <a:xfrm>
            <a:off x="6210300" y="3924300"/>
            <a:ext cx="2619375" cy="609600"/>
          </a:xfrm>
          <a:prstGeom prst="roundRect">
            <a:avLst>
              <a:gd name="adj" fmla="val 6000"/>
            </a:avLst>
          </a:prstGeom>
          <a:solidFill>
            <a:srgbClr val="F6E4E0"/>
          </a:solidFill>
          <a:ln w="12700">
            <a:solidFill>
              <a:srgbClr val="B3402F"/>
            </a:solidFill>
            <a:prstDash val="solid"/>
          </a:ln>
        </p:spPr>
        <p:txBody>
          <a:bodyPr/>
          <a:lstStyle/>
          <a:p>
            <a:endParaRPr lang="en-IN"/>
          </a:p>
        </p:txBody>
      </p:sp>
      <p:sp>
        <p:nvSpPr>
          <p:cNvPr id="55" name="Text 53"/>
          <p:cNvSpPr/>
          <p:nvPr/>
        </p:nvSpPr>
        <p:spPr>
          <a:xfrm>
            <a:off x="6324600" y="4000500"/>
            <a:ext cx="476250" cy="209550"/>
          </a:xfrm>
          <a:prstGeom prst="rect">
            <a:avLst/>
          </a:prstGeom>
          <a:noFill/>
          <a:ln/>
        </p:spPr>
        <p:txBody>
          <a:bodyPr wrap="square" lIns="0" tIns="0" rIns="0" bIns="0" rtlCol="0" anchor="t">
            <a:normAutofit/>
          </a:bodyPr>
          <a:lstStyle/>
          <a:p>
            <a:pPr marL="0" indent="0" algn="l">
              <a:lnSpc>
                <a:spcPct val="100000"/>
              </a:lnSpc>
              <a:buNone/>
            </a:pPr>
            <a:r>
              <a:rPr lang="en-US" sz="1400" b="1" dirty="0">
                <a:solidFill>
                  <a:srgbClr val="12263A"/>
                </a:solidFill>
                <a:latin typeface="Cambria" pitchFamily="34" charset="0"/>
                <a:ea typeface="Cambria" pitchFamily="34" charset="-122"/>
                <a:cs typeface="Cambria" pitchFamily="34" charset="-120"/>
              </a:rPr>
              <a:t>A7</a:t>
            </a:r>
            <a:endParaRPr lang="en-US" sz="1400" dirty="0"/>
          </a:p>
        </p:txBody>
      </p:sp>
      <p:sp>
        <p:nvSpPr>
          <p:cNvPr id="56" name="Shape 54"/>
          <p:cNvSpPr/>
          <p:nvPr/>
        </p:nvSpPr>
        <p:spPr>
          <a:xfrm>
            <a:off x="6800850" y="4010025"/>
            <a:ext cx="381000" cy="180975"/>
          </a:xfrm>
          <a:prstGeom prst="roundRect">
            <a:avLst>
              <a:gd name="adj" fmla="val 20211"/>
            </a:avLst>
          </a:prstGeom>
          <a:solidFill>
            <a:srgbClr val="EAF2F8"/>
          </a:solidFill>
          <a:ln w="12700">
            <a:solidFill>
              <a:srgbClr val="D7E1EA"/>
            </a:solidFill>
            <a:prstDash val="solid"/>
          </a:ln>
        </p:spPr>
        <p:txBody>
          <a:bodyPr/>
          <a:lstStyle/>
          <a:p>
            <a:endParaRPr lang="en-IN"/>
          </a:p>
        </p:txBody>
      </p:sp>
      <p:sp>
        <p:nvSpPr>
          <p:cNvPr id="57" name="Text 55"/>
          <p:cNvSpPr/>
          <p:nvPr/>
        </p:nvSpPr>
        <p:spPr>
          <a:xfrm>
            <a:off x="6800850" y="4038600"/>
            <a:ext cx="381000" cy="142875"/>
          </a:xfrm>
          <a:prstGeom prst="rect">
            <a:avLst/>
          </a:prstGeom>
          <a:noFill/>
          <a:ln/>
        </p:spPr>
        <p:txBody>
          <a:bodyPr wrap="square" lIns="0" tIns="0" rIns="0" bIns="0" rtlCol="0" anchor="t">
            <a:normAutofit/>
          </a:bodyPr>
          <a:lstStyle/>
          <a:p>
            <a:pPr marL="0" indent="0" algn="ctr">
              <a:lnSpc>
                <a:spcPct val="100000"/>
              </a:lnSpc>
              <a:buNone/>
            </a:pPr>
            <a:r>
              <a:rPr lang="en-US" sz="950" b="1" dirty="0">
                <a:solidFill>
                  <a:srgbClr val="1C7293"/>
                </a:solidFill>
                <a:latin typeface="Calibri" pitchFamily="34" charset="0"/>
                <a:ea typeface="Calibri" pitchFamily="34" charset="-122"/>
                <a:cs typeface="Calibri" pitchFamily="34" charset="-120"/>
              </a:rPr>
              <a:t>HW</a:t>
            </a:r>
            <a:endParaRPr lang="en-US" sz="950" dirty="0"/>
          </a:p>
        </p:txBody>
      </p:sp>
      <p:sp>
        <p:nvSpPr>
          <p:cNvPr id="58" name="Text 56"/>
          <p:cNvSpPr/>
          <p:nvPr/>
        </p:nvSpPr>
        <p:spPr>
          <a:xfrm>
            <a:off x="7924800" y="4019550"/>
            <a:ext cx="809625" cy="171450"/>
          </a:xfrm>
          <a:prstGeom prst="rect">
            <a:avLst/>
          </a:prstGeom>
          <a:noFill/>
          <a:ln/>
        </p:spPr>
        <p:txBody>
          <a:bodyPr wrap="square" lIns="0" tIns="0" rIns="0" bIns="0" rtlCol="0" anchor="t">
            <a:normAutofit/>
          </a:bodyPr>
          <a:lstStyle/>
          <a:p>
            <a:pPr marL="0" indent="0" algn="r">
              <a:lnSpc>
                <a:spcPct val="100000"/>
              </a:lnSpc>
              <a:buNone/>
            </a:pPr>
            <a:r>
              <a:rPr lang="en-US" sz="950" b="1" dirty="0">
                <a:solidFill>
                  <a:srgbClr val="B3402F"/>
                </a:solidFill>
                <a:latin typeface="Calibri" pitchFamily="34" charset="0"/>
                <a:ea typeface="Calibri" pitchFamily="34" charset="-122"/>
                <a:cs typeface="Calibri" pitchFamily="34" charset="-120"/>
              </a:rPr>
              <a:t>blocked</a:t>
            </a:r>
            <a:endParaRPr lang="en-US" sz="950" dirty="0"/>
          </a:p>
        </p:txBody>
      </p:sp>
      <p:sp>
        <p:nvSpPr>
          <p:cNvPr id="59" name="Text 57"/>
          <p:cNvSpPr/>
          <p:nvPr/>
        </p:nvSpPr>
        <p:spPr>
          <a:xfrm>
            <a:off x="6324600" y="4229100"/>
            <a:ext cx="2409825" cy="266700"/>
          </a:xfrm>
          <a:prstGeom prst="rect">
            <a:avLst/>
          </a:prstGeom>
          <a:noFill/>
          <a:ln/>
        </p:spPr>
        <p:txBody>
          <a:bodyPr wrap="square" lIns="0" tIns="0" rIns="0" bIns="0" rtlCol="0" anchor="t">
            <a:normAutofit/>
          </a:bodyPr>
          <a:lstStyle/>
          <a:p>
            <a:pPr marL="0" indent="0" algn="l">
              <a:lnSpc>
                <a:spcPct val="100000"/>
              </a:lnSpc>
              <a:buNone/>
            </a:pPr>
            <a:r>
              <a:rPr lang="en-US" sz="1120" dirty="0">
                <a:solidFill>
                  <a:srgbClr val="5B6B7C"/>
                </a:solidFill>
                <a:latin typeface="Calibri" pitchFamily="34" charset="0"/>
                <a:ea typeface="Calibri" pitchFamily="34" charset="-122"/>
                <a:cs typeface="Calibri" pitchFamily="34" charset="-120"/>
              </a:rPr>
              <a:t>GNSS jamming</a:t>
            </a:r>
            <a:endParaRPr lang="en-US" sz="1120" dirty="0"/>
          </a:p>
        </p:txBody>
      </p:sp>
      <p:sp>
        <p:nvSpPr>
          <p:cNvPr id="60" name="Shape 58"/>
          <p:cNvSpPr/>
          <p:nvPr/>
        </p:nvSpPr>
        <p:spPr>
          <a:xfrm>
            <a:off x="9029700" y="3924300"/>
            <a:ext cx="2619375" cy="609600"/>
          </a:xfrm>
          <a:prstGeom prst="roundRect">
            <a:avLst>
              <a:gd name="adj" fmla="val 6000"/>
            </a:avLst>
          </a:prstGeom>
          <a:solidFill>
            <a:srgbClr val="E3F3EA"/>
          </a:solidFill>
          <a:ln w="12700">
            <a:solidFill>
              <a:srgbClr val="1E8E5A"/>
            </a:solidFill>
            <a:prstDash val="solid"/>
          </a:ln>
        </p:spPr>
        <p:txBody>
          <a:bodyPr/>
          <a:lstStyle/>
          <a:p>
            <a:endParaRPr lang="en-IN"/>
          </a:p>
        </p:txBody>
      </p:sp>
      <p:sp>
        <p:nvSpPr>
          <p:cNvPr id="61" name="Text 59"/>
          <p:cNvSpPr/>
          <p:nvPr/>
        </p:nvSpPr>
        <p:spPr>
          <a:xfrm>
            <a:off x="9144000" y="4000500"/>
            <a:ext cx="476250" cy="209550"/>
          </a:xfrm>
          <a:prstGeom prst="rect">
            <a:avLst/>
          </a:prstGeom>
          <a:noFill/>
          <a:ln/>
        </p:spPr>
        <p:txBody>
          <a:bodyPr wrap="square" lIns="0" tIns="0" rIns="0" bIns="0" rtlCol="0" anchor="t">
            <a:normAutofit/>
          </a:bodyPr>
          <a:lstStyle/>
          <a:p>
            <a:pPr marL="0" indent="0" algn="l">
              <a:lnSpc>
                <a:spcPct val="100000"/>
              </a:lnSpc>
              <a:buNone/>
            </a:pPr>
            <a:r>
              <a:rPr lang="en-US" sz="1400" b="1" dirty="0">
                <a:solidFill>
                  <a:srgbClr val="12263A"/>
                </a:solidFill>
                <a:latin typeface="Cambria" pitchFamily="34" charset="0"/>
                <a:ea typeface="Cambria" pitchFamily="34" charset="-122"/>
                <a:cs typeface="Cambria" pitchFamily="34" charset="-120"/>
              </a:rPr>
              <a:t>A8</a:t>
            </a:r>
            <a:endParaRPr lang="en-US" sz="1400" dirty="0"/>
          </a:p>
        </p:txBody>
      </p:sp>
      <p:sp>
        <p:nvSpPr>
          <p:cNvPr id="62" name="Shape 60"/>
          <p:cNvSpPr/>
          <p:nvPr/>
        </p:nvSpPr>
        <p:spPr>
          <a:xfrm>
            <a:off x="9620250" y="4010025"/>
            <a:ext cx="381000" cy="180975"/>
          </a:xfrm>
          <a:prstGeom prst="roundRect">
            <a:avLst>
              <a:gd name="adj" fmla="val 20211"/>
            </a:avLst>
          </a:prstGeom>
          <a:solidFill>
            <a:srgbClr val="EAF2F8"/>
          </a:solidFill>
          <a:ln w="12700">
            <a:solidFill>
              <a:srgbClr val="D7E1EA"/>
            </a:solidFill>
            <a:prstDash val="solid"/>
          </a:ln>
        </p:spPr>
        <p:txBody>
          <a:bodyPr/>
          <a:lstStyle/>
          <a:p>
            <a:endParaRPr lang="en-IN"/>
          </a:p>
        </p:txBody>
      </p:sp>
      <p:sp>
        <p:nvSpPr>
          <p:cNvPr id="63" name="Text 61"/>
          <p:cNvSpPr/>
          <p:nvPr/>
        </p:nvSpPr>
        <p:spPr>
          <a:xfrm>
            <a:off x="9620250" y="4038600"/>
            <a:ext cx="381000" cy="142875"/>
          </a:xfrm>
          <a:prstGeom prst="rect">
            <a:avLst/>
          </a:prstGeom>
          <a:noFill/>
          <a:ln/>
        </p:spPr>
        <p:txBody>
          <a:bodyPr wrap="square" lIns="0" tIns="0" rIns="0" bIns="0" rtlCol="0" anchor="t">
            <a:normAutofit/>
          </a:bodyPr>
          <a:lstStyle/>
          <a:p>
            <a:pPr marL="0" indent="0" algn="ctr">
              <a:lnSpc>
                <a:spcPct val="100000"/>
              </a:lnSpc>
              <a:buNone/>
            </a:pPr>
            <a:r>
              <a:rPr lang="en-US" sz="950" b="1" dirty="0">
                <a:solidFill>
                  <a:srgbClr val="1C7293"/>
                </a:solidFill>
                <a:latin typeface="Calibri" pitchFamily="34" charset="0"/>
                <a:ea typeface="Calibri" pitchFamily="34" charset="-122"/>
                <a:cs typeface="Calibri" pitchFamily="34" charset="-120"/>
              </a:rPr>
              <a:t>SW*</a:t>
            </a:r>
            <a:endParaRPr lang="en-US" sz="950" dirty="0"/>
          </a:p>
        </p:txBody>
      </p:sp>
      <p:sp>
        <p:nvSpPr>
          <p:cNvPr id="64" name="Text 62"/>
          <p:cNvSpPr/>
          <p:nvPr/>
        </p:nvSpPr>
        <p:spPr>
          <a:xfrm>
            <a:off x="10744200" y="4019550"/>
            <a:ext cx="809625" cy="171450"/>
          </a:xfrm>
          <a:prstGeom prst="rect">
            <a:avLst/>
          </a:prstGeom>
          <a:noFill/>
          <a:ln/>
        </p:spPr>
        <p:txBody>
          <a:bodyPr wrap="square" lIns="0" tIns="0" rIns="0" bIns="0" rtlCol="0" anchor="t">
            <a:normAutofit/>
          </a:bodyPr>
          <a:lstStyle/>
          <a:p>
            <a:pPr marL="0" indent="0" algn="r">
              <a:lnSpc>
                <a:spcPct val="100000"/>
              </a:lnSpc>
              <a:buNone/>
            </a:pPr>
            <a:r>
              <a:rPr lang="en-US" sz="950" b="1" dirty="0">
                <a:solidFill>
                  <a:srgbClr val="1E8E5A"/>
                </a:solidFill>
                <a:latin typeface="Calibri" pitchFamily="34" charset="0"/>
                <a:ea typeface="Calibri" pitchFamily="34" charset="-122"/>
                <a:cs typeface="Calibri" pitchFamily="34" charset="-120"/>
              </a:rPr>
              <a:t>TESTED</a:t>
            </a:r>
            <a:endParaRPr lang="en-US" sz="950" dirty="0"/>
          </a:p>
        </p:txBody>
      </p:sp>
      <p:sp>
        <p:nvSpPr>
          <p:cNvPr id="65" name="Text 63"/>
          <p:cNvSpPr/>
          <p:nvPr/>
        </p:nvSpPr>
        <p:spPr>
          <a:xfrm>
            <a:off x="9144000" y="4229100"/>
            <a:ext cx="2409825" cy="266700"/>
          </a:xfrm>
          <a:prstGeom prst="rect">
            <a:avLst/>
          </a:prstGeom>
          <a:noFill/>
          <a:ln/>
        </p:spPr>
        <p:txBody>
          <a:bodyPr wrap="square" lIns="0" tIns="0" rIns="0" bIns="0" rtlCol="0" anchor="t">
            <a:normAutofit/>
          </a:bodyPr>
          <a:lstStyle/>
          <a:p>
            <a:pPr marL="0" indent="0" algn="l">
              <a:lnSpc>
                <a:spcPct val="100000"/>
              </a:lnSpc>
              <a:buNone/>
            </a:pPr>
            <a:r>
              <a:rPr lang="en-US" sz="1120" dirty="0">
                <a:solidFill>
                  <a:srgbClr val="5B6B7C"/>
                </a:solidFill>
                <a:latin typeface="Calibri" pitchFamily="34" charset="0"/>
                <a:ea typeface="Calibri" pitchFamily="34" charset="-122"/>
                <a:cs typeface="Calibri" pitchFamily="34" charset="-120"/>
              </a:rPr>
              <a:t>Rogue boundary clock</a:t>
            </a:r>
            <a:endParaRPr lang="en-US" sz="1120" dirty="0"/>
          </a:p>
        </p:txBody>
      </p:sp>
      <p:sp>
        <p:nvSpPr>
          <p:cNvPr id="66" name="Shape 64"/>
          <p:cNvSpPr/>
          <p:nvPr/>
        </p:nvSpPr>
        <p:spPr>
          <a:xfrm>
            <a:off x="571500" y="4610100"/>
            <a:ext cx="2619375" cy="609600"/>
          </a:xfrm>
          <a:prstGeom prst="roundRect">
            <a:avLst>
              <a:gd name="adj" fmla="val 6000"/>
            </a:avLst>
          </a:prstGeom>
          <a:solidFill>
            <a:srgbClr val="F6E4E0"/>
          </a:solidFill>
          <a:ln w="12700">
            <a:solidFill>
              <a:srgbClr val="B3402F"/>
            </a:solidFill>
            <a:prstDash val="solid"/>
          </a:ln>
        </p:spPr>
        <p:txBody>
          <a:bodyPr/>
          <a:lstStyle/>
          <a:p>
            <a:endParaRPr lang="en-IN"/>
          </a:p>
        </p:txBody>
      </p:sp>
      <p:sp>
        <p:nvSpPr>
          <p:cNvPr id="67" name="Text 65"/>
          <p:cNvSpPr/>
          <p:nvPr/>
        </p:nvSpPr>
        <p:spPr>
          <a:xfrm>
            <a:off x="685800" y="4686300"/>
            <a:ext cx="476250" cy="209550"/>
          </a:xfrm>
          <a:prstGeom prst="rect">
            <a:avLst/>
          </a:prstGeom>
          <a:noFill/>
          <a:ln/>
        </p:spPr>
        <p:txBody>
          <a:bodyPr wrap="square" lIns="0" tIns="0" rIns="0" bIns="0" rtlCol="0" anchor="t">
            <a:normAutofit/>
          </a:bodyPr>
          <a:lstStyle/>
          <a:p>
            <a:pPr marL="0" indent="0" algn="l">
              <a:lnSpc>
                <a:spcPct val="100000"/>
              </a:lnSpc>
              <a:buNone/>
            </a:pPr>
            <a:r>
              <a:rPr lang="en-US" sz="1400" b="1" dirty="0">
                <a:solidFill>
                  <a:srgbClr val="12263A"/>
                </a:solidFill>
                <a:latin typeface="Cambria" pitchFamily="34" charset="0"/>
                <a:ea typeface="Cambria" pitchFamily="34" charset="-122"/>
                <a:cs typeface="Cambria" pitchFamily="34" charset="-120"/>
              </a:rPr>
              <a:t>B1</a:t>
            </a:r>
            <a:endParaRPr lang="en-US" sz="1400" dirty="0"/>
          </a:p>
        </p:txBody>
      </p:sp>
      <p:sp>
        <p:nvSpPr>
          <p:cNvPr id="68" name="Shape 66"/>
          <p:cNvSpPr/>
          <p:nvPr/>
        </p:nvSpPr>
        <p:spPr>
          <a:xfrm>
            <a:off x="1162050" y="4695825"/>
            <a:ext cx="381000" cy="180975"/>
          </a:xfrm>
          <a:prstGeom prst="roundRect">
            <a:avLst>
              <a:gd name="adj" fmla="val 20211"/>
            </a:avLst>
          </a:prstGeom>
          <a:solidFill>
            <a:srgbClr val="EAF2F8"/>
          </a:solidFill>
          <a:ln w="12700">
            <a:solidFill>
              <a:srgbClr val="D7E1EA"/>
            </a:solidFill>
            <a:prstDash val="solid"/>
          </a:ln>
        </p:spPr>
        <p:txBody>
          <a:bodyPr/>
          <a:lstStyle/>
          <a:p>
            <a:endParaRPr lang="en-IN"/>
          </a:p>
        </p:txBody>
      </p:sp>
      <p:sp>
        <p:nvSpPr>
          <p:cNvPr id="69" name="Text 67"/>
          <p:cNvSpPr/>
          <p:nvPr/>
        </p:nvSpPr>
        <p:spPr>
          <a:xfrm>
            <a:off x="1162050" y="4724400"/>
            <a:ext cx="381000" cy="142875"/>
          </a:xfrm>
          <a:prstGeom prst="rect">
            <a:avLst/>
          </a:prstGeom>
          <a:noFill/>
          <a:ln/>
        </p:spPr>
        <p:txBody>
          <a:bodyPr wrap="square" lIns="0" tIns="0" rIns="0" bIns="0" rtlCol="0" anchor="t">
            <a:normAutofit/>
          </a:bodyPr>
          <a:lstStyle/>
          <a:p>
            <a:pPr marL="0" indent="0" algn="ctr">
              <a:lnSpc>
                <a:spcPct val="100000"/>
              </a:lnSpc>
              <a:buNone/>
            </a:pPr>
            <a:r>
              <a:rPr lang="en-US" sz="950" b="1" dirty="0">
                <a:solidFill>
                  <a:srgbClr val="1C7293"/>
                </a:solidFill>
                <a:latin typeface="Calibri" pitchFamily="34" charset="0"/>
                <a:ea typeface="Calibri" pitchFamily="34" charset="-122"/>
                <a:cs typeface="Calibri" pitchFamily="34" charset="-120"/>
              </a:rPr>
              <a:t>HW</a:t>
            </a:r>
            <a:endParaRPr lang="en-US" sz="950" dirty="0"/>
          </a:p>
        </p:txBody>
      </p:sp>
      <p:sp>
        <p:nvSpPr>
          <p:cNvPr id="70" name="Text 68"/>
          <p:cNvSpPr/>
          <p:nvPr/>
        </p:nvSpPr>
        <p:spPr>
          <a:xfrm>
            <a:off x="2286000" y="4705350"/>
            <a:ext cx="809625" cy="171450"/>
          </a:xfrm>
          <a:prstGeom prst="rect">
            <a:avLst/>
          </a:prstGeom>
          <a:noFill/>
          <a:ln/>
        </p:spPr>
        <p:txBody>
          <a:bodyPr wrap="square" lIns="0" tIns="0" rIns="0" bIns="0" rtlCol="0" anchor="t">
            <a:normAutofit/>
          </a:bodyPr>
          <a:lstStyle/>
          <a:p>
            <a:pPr marL="0" indent="0" algn="r">
              <a:lnSpc>
                <a:spcPct val="100000"/>
              </a:lnSpc>
              <a:buNone/>
            </a:pPr>
            <a:r>
              <a:rPr lang="en-US" sz="950" b="1" dirty="0">
                <a:solidFill>
                  <a:srgbClr val="B3402F"/>
                </a:solidFill>
                <a:latin typeface="Calibri" pitchFamily="34" charset="0"/>
                <a:ea typeface="Calibri" pitchFamily="34" charset="-122"/>
                <a:cs typeface="Calibri" pitchFamily="34" charset="-120"/>
              </a:rPr>
              <a:t>blocked</a:t>
            </a:r>
            <a:endParaRPr lang="en-US" sz="950" dirty="0"/>
          </a:p>
        </p:txBody>
      </p:sp>
      <p:sp>
        <p:nvSpPr>
          <p:cNvPr id="71" name="Text 69"/>
          <p:cNvSpPr/>
          <p:nvPr/>
        </p:nvSpPr>
        <p:spPr>
          <a:xfrm>
            <a:off x="685800" y="4914900"/>
            <a:ext cx="2409825" cy="266700"/>
          </a:xfrm>
          <a:prstGeom prst="rect">
            <a:avLst/>
          </a:prstGeom>
          <a:noFill/>
          <a:ln/>
        </p:spPr>
        <p:txBody>
          <a:bodyPr wrap="square" lIns="0" tIns="0" rIns="0" bIns="0" rtlCol="0" anchor="t">
            <a:normAutofit/>
          </a:bodyPr>
          <a:lstStyle/>
          <a:p>
            <a:pPr marL="0" indent="0" algn="l">
              <a:lnSpc>
                <a:spcPct val="100000"/>
              </a:lnSpc>
              <a:buNone/>
            </a:pPr>
            <a:r>
              <a:rPr lang="en-US" sz="1120" dirty="0">
                <a:solidFill>
                  <a:srgbClr val="5B6B7C"/>
                </a:solidFill>
                <a:latin typeface="Calibri" pitchFamily="34" charset="0"/>
                <a:ea typeface="Calibri" pitchFamily="34" charset="-122"/>
                <a:cs typeface="Calibri" pitchFamily="34" charset="-120"/>
              </a:rPr>
              <a:t>GNSS holdover</a:t>
            </a:r>
            <a:endParaRPr lang="en-US" sz="1120" dirty="0"/>
          </a:p>
        </p:txBody>
      </p:sp>
      <p:sp>
        <p:nvSpPr>
          <p:cNvPr id="72" name="Shape 70"/>
          <p:cNvSpPr/>
          <p:nvPr/>
        </p:nvSpPr>
        <p:spPr>
          <a:xfrm>
            <a:off x="3390900" y="4610100"/>
            <a:ext cx="2619375" cy="609600"/>
          </a:xfrm>
          <a:prstGeom prst="roundRect">
            <a:avLst>
              <a:gd name="adj" fmla="val 6000"/>
            </a:avLst>
          </a:prstGeom>
          <a:solidFill>
            <a:srgbClr val="E3F3EA"/>
          </a:solidFill>
          <a:ln w="12700">
            <a:solidFill>
              <a:srgbClr val="1E8E5A"/>
            </a:solidFill>
            <a:prstDash val="solid"/>
          </a:ln>
        </p:spPr>
        <p:txBody>
          <a:bodyPr/>
          <a:lstStyle/>
          <a:p>
            <a:endParaRPr lang="en-IN"/>
          </a:p>
        </p:txBody>
      </p:sp>
      <p:sp>
        <p:nvSpPr>
          <p:cNvPr id="73" name="Text 71"/>
          <p:cNvSpPr/>
          <p:nvPr/>
        </p:nvSpPr>
        <p:spPr>
          <a:xfrm>
            <a:off x="3505200" y="4686300"/>
            <a:ext cx="476250" cy="209550"/>
          </a:xfrm>
          <a:prstGeom prst="rect">
            <a:avLst/>
          </a:prstGeom>
          <a:noFill/>
          <a:ln/>
        </p:spPr>
        <p:txBody>
          <a:bodyPr wrap="square" lIns="0" tIns="0" rIns="0" bIns="0" rtlCol="0" anchor="t">
            <a:normAutofit/>
          </a:bodyPr>
          <a:lstStyle/>
          <a:p>
            <a:pPr marL="0" indent="0" algn="l">
              <a:lnSpc>
                <a:spcPct val="100000"/>
              </a:lnSpc>
              <a:buNone/>
            </a:pPr>
            <a:r>
              <a:rPr lang="en-US" sz="1400" b="1" dirty="0">
                <a:solidFill>
                  <a:srgbClr val="12263A"/>
                </a:solidFill>
                <a:latin typeface="Cambria" pitchFamily="34" charset="0"/>
                <a:ea typeface="Cambria" pitchFamily="34" charset="-122"/>
                <a:cs typeface="Cambria" pitchFamily="34" charset="-120"/>
              </a:rPr>
              <a:t>B2</a:t>
            </a:r>
            <a:endParaRPr lang="en-US" sz="1400" dirty="0"/>
          </a:p>
        </p:txBody>
      </p:sp>
      <p:sp>
        <p:nvSpPr>
          <p:cNvPr id="74" name="Shape 72"/>
          <p:cNvSpPr/>
          <p:nvPr/>
        </p:nvSpPr>
        <p:spPr>
          <a:xfrm>
            <a:off x="3981450" y="4695825"/>
            <a:ext cx="381000" cy="180975"/>
          </a:xfrm>
          <a:prstGeom prst="roundRect">
            <a:avLst>
              <a:gd name="adj" fmla="val 20211"/>
            </a:avLst>
          </a:prstGeom>
          <a:solidFill>
            <a:srgbClr val="EAF2F8"/>
          </a:solidFill>
          <a:ln w="12700">
            <a:solidFill>
              <a:srgbClr val="D7E1EA"/>
            </a:solidFill>
            <a:prstDash val="solid"/>
          </a:ln>
        </p:spPr>
        <p:txBody>
          <a:bodyPr/>
          <a:lstStyle/>
          <a:p>
            <a:endParaRPr lang="en-IN"/>
          </a:p>
        </p:txBody>
      </p:sp>
      <p:sp>
        <p:nvSpPr>
          <p:cNvPr id="75" name="Text 73"/>
          <p:cNvSpPr/>
          <p:nvPr/>
        </p:nvSpPr>
        <p:spPr>
          <a:xfrm>
            <a:off x="3981450" y="4724400"/>
            <a:ext cx="381000" cy="142875"/>
          </a:xfrm>
          <a:prstGeom prst="rect">
            <a:avLst/>
          </a:prstGeom>
          <a:noFill/>
          <a:ln/>
        </p:spPr>
        <p:txBody>
          <a:bodyPr wrap="square" lIns="0" tIns="0" rIns="0" bIns="0" rtlCol="0" anchor="t">
            <a:normAutofit/>
          </a:bodyPr>
          <a:lstStyle/>
          <a:p>
            <a:pPr marL="0" indent="0" algn="ctr">
              <a:lnSpc>
                <a:spcPct val="100000"/>
              </a:lnSpc>
              <a:buNone/>
            </a:pPr>
            <a:r>
              <a:rPr lang="en-US" sz="950" b="1" dirty="0">
                <a:solidFill>
                  <a:srgbClr val="1C7293"/>
                </a:solidFill>
                <a:latin typeface="Calibri" pitchFamily="34" charset="0"/>
                <a:ea typeface="Calibri" pitchFamily="34" charset="-122"/>
                <a:cs typeface="Calibri" pitchFamily="34" charset="-120"/>
              </a:rPr>
              <a:t>SW</a:t>
            </a:r>
            <a:endParaRPr lang="en-US" sz="950" dirty="0"/>
          </a:p>
        </p:txBody>
      </p:sp>
      <p:sp>
        <p:nvSpPr>
          <p:cNvPr id="76" name="Text 74"/>
          <p:cNvSpPr/>
          <p:nvPr/>
        </p:nvSpPr>
        <p:spPr>
          <a:xfrm>
            <a:off x="5105400" y="4705350"/>
            <a:ext cx="809625" cy="171450"/>
          </a:xfrm>
          <a:prstGeom prst="rect">
            <a:avLst/>
          </a:prstGeom>
          <a:noFill/>
          <a:ln/>
        </p:spPr>
        <p:txBody>
          <a:bodyPr wrap="square" lIns="0" tIns="0" rIns="0" bIns="0" rtlCol="0" anchor="t">
            <a:normAutofit/>
          </a:bodyPr>
          <a:lstStyle/>
          <a:p>
            <a:pPr marL="0" indent="0" algn="r">
              <a:lnSpc>
                <a:spcPct val="100000"/>
              </a:lnSpc>
              <a:buNone/>
            </a:pPr>
            <a:r>
              <a:rPr lang="en-US" sz="950" b="1" dirty="0">
                <a:solidFill>
                  <a:srgbClr val="1E8E5A"/>
                </a:solidFill>
                <a:latin typeface="Calibri" pitchFamily="34" charset="0"/>
                <a:ea typeface="Calibri" pitchFamily="34" charset="-122"/>
                <a:cs typeface="Calibri" pitchFamily="34" charset="-120"/>
              </a:rPr>
              <a:t>TESTED</a:t>
            </a:r>
            <a:endParaRPr lang="en-US" sz="950" dirty="0"/>
          </a:p>
        </p:txBody>
      </p:sp>
      <p:sp>
        <p:nvSpPr>
          <p:cNvPr id="77" name="Text 75"/>
          <p:cNvSpPr/>
          <p:nvPr/>
        </p:nvSpPr>
        <p:spPr>
          <a:xfrm>
            <a:off x="3505200" y="4914900"/>
            <a:ext cx="2409825" cy="266700"/>
          </a:xfrm>
          <a:prstGeom prst="rect">
            <a:avLst/>
          </a:prstGeom>
          <a:noFill/>
          <a:ln/>
        </p:spPr>
        <p:txBody>
          <a:bodyPr wrap="square" lIns="0" tIns="0" rIns="0" bIns="0" rtlCol="0" anchor="t">
            <a:normAutofit/>
          </a:bodyPr>
          <a:lstStyle/>
          <a:p>
            <a:pPr marL="0" indent="0" algn="l">
              <a:lnSpc>
                <a:spcPct val="100000"/>
              </a:lnSpc>
              <a:buNone/>
            </a:pPr>
            <a:r>
              <a:rPr lang="en-US" sz="1120" dirty="0">
                <a:solidFill>
                  <a:srgbClr val="5B6B7C"/>
                </a:solidFill>
                <a:latin typeface="Calibri" pitchFamily="34" charset="0"/>
                <a:ea typeface="Calibri" pitchFamily="34" charset="-122"/>
                <a:cs typeface="Calibri" pitchFamily="34" charset="-120"/>
              </a:rPr>
              <a:t>Planned GM changeover</a:t>
            </a:r>
            <a:endParaRPr lang="en-US" sz="1120" dirty="0"/>
          </a:p>
        </p:txBody>
      </p:sp>
      <p:sp>
        <p:nvSpPr>
          <p:cNvPr id="78" name="Shape 76"/>
          <p:cNvSpPr/>
          <p:nvPr/>
        </p:nvSpPr>
        <p:spPr>
          <a:xfrm>
            <a:off x="6210300" y="4610100"/>
            <a:ext cx="2619375" cy="609600"/>
          </a:xfrm>
          <a:prstGeom prst="roundRect">
            <a:avLst>
              <a:gd name="adj" fmla="val 6000"/>
            </a:avLst>
          </a:prstGeom>
          <a:solidFill>
            <a:srgbClr val="E3F3EA"/>
          </a:solidFill>
          <a:ln w="12700">
            <a:solidFill>
              <a:srgbClr val="1E8E5A"/>
            </a:solidFill>
            <a:prstDash val="solid"/>
          </a:ln>
        </p:spPr>
        <p:txBody>
          <a:bodyPr/>
          <a:lstStyle/>
          <a:p>
            <a:endParaRPr lang="en-IN"/>
          </a:p>
        </p:txBody>
      </p:sp>
      <p:sp>
        <p:nvSpPr>
          <p:cNvPr id="79" name="Text 77"/>
          <p:cNvSpPr/>
          <p:nvPr/>
        </p:nvSpPr>
        <p:spPr>
          <a:xfrm>
            <a:off x="6324600" y="4686300"/>
            <a:ext cx="476250" cy="209550"/>
          </a:xfrm>
          <a:prstGeom prst="rect">
            <a:avLst/>
          </a:prstGeom>
          <a:noFill/>
          <a:ln/>
        </p:spPr>
        <p:txBody>
          <a:bodyPr wrap="square" lIns="0" tIns="0" rIns="0" bIns="0" rtlCol="0" anchor="t">
            <a:normAutofit/>
          </a:bodyPr>
          <a:lstStyle/>
          <a:p>
            <a:pPr marL="0" indent="0" algn="l">
              <a:lnSpc>
                <a:spcPct val="100000"/>
              </a:lnSpc>
              <a:buNone/>
            </a:pPr>
            <a:r>
              <a:rPr lang="en-US" sz="1400" b="1" dirty="0">
                <a:solidFill>
                  <a:srgbClr val="12263A"/>
                </a:solidFill>
                <a:latin typeface="Cambria" pitchFamily="34" charset="0"/>
                <a:ea typeface="Cambria" pitchFamily="34" charset="-122"/>
                <a:cs typeface="Cambria" pitchFamily="34" charset="-120"/>
              </a:rPr>
              <a:t>B3</a:t>
            </a:r>
            <a:endParaRPr lang="en-US" sz="1400" dirty="0"/>
          </a:p>
        </p:txBody>
      </p:sp>
      <p:sp>
        <p:nvSpPr>
          <p:cNvPr id="80" name="Shape 78"/>
          <p:cNvSpPr/>
          <p:nvPr/>
        </p:nvSpPr>
        <p:spPr>
          <a:xfrm>
            <a:off x="6800850" y="4695825"/>
            <a:ext cx="381000" cy="180975"/>
          </a:xfrm>
          <a:prstGeom prst="roundRect">
            <a:avLst>
              <a:gd name="adj" fmla="val 20211"/>
            </a:avLst>
          </a:prstGeom>
          <a:solidFill>
            <a:srgbClr val="EAF2F8"/>
          </a:solidFill>
          <a:ln w="12700">
            <a:solidFill>
              <a:srgbClr val="D7E1EA"/>
            </a:solidFill>
            <a:prstDash val="solid"/>
          </a:ln>
        </p:spPr>
        <p:txBody>
          <a:bodyPr/>
          <a:lstStyle/>
          <a:p>
            <a:endParaRPr lang="en-IN"/>
          </a:p>
        </p:txBody>
      </p:sp>
      <p:sp>
        <p:nvSpPr>
          <p:cNvPr id="81" name="Text 79"/>
          <p:cNvSpPr/>
          <p:nvPr/>
        </p:nvSpPr>
        <p:spPr>
          <a:xfrm>
            <a:off x="6800850" y="4724400"/>
            <a:ext cx="381000" cy="142875"/>
          </a:xfrm>
          <a:prstGeom prst="rect">
            <a:avLst/>
          </a:prstGeom>
          <a:noFill/>
          <a:ln/>
        </p:spPr>
        <p:txBody>
          <a:bodyPr wrap="square" lIns="0" tIns="0" rIns="0" bIns="0" rtlCol="0" anchor="t">
            <a:normAutofit/>
          </a:bodyPr>
          <a:lstStyle/>
          <a:p>
            <a:pPr marL="0" indent="0" algn="ctr">
              <a:lnSpc>
                <a:spcPct val="100000"/>
              </a:lnSpc>
              <a:buNone/>
            </a:pPr>
            <a:r>
              <a:rPr lang="en-US" sz="950" b="1" dirty="0">
                <a:solidFill>
                  <a:srgbClr val="1C7293"/>
                </a:solidFill>
                <a:latin typeface="Calibri" pitchFamily="34" charset="0"/>
                <a:ea typeface="Calibri" pitchFamily="34" charset="-122"/>
                <a:cs typeface="Calibri" pitchFamily="34" charset="-120"/>
              </a:rPr>
              <a:t>SW</a:t>
            </a:r>
            <a:endParaRPr lang="en-US" sz="950" dirty="0"/>
          </a:p>
        </p:txBody>
      </p:sp>
      <p:sp>
        <p:nvSpPr>
          <p:cNvPr id="82" name="Text 80"/>
          <p:cNvSpPr/>
          <p:nvPr/>
        </p:nvSpPr>
        <p:spPr>
          <a:xfrm>
            <a:off x="7924800" y="4705350"/>
            <a:ext cx="809625" cy="171450"/>
          </a:xfrm>
          <a:prstGeom prst="rect">
            <a:avLst/>
          </a:prstGeom>
          <a:noFill/>
          <a:ln/>
        </p:spPr>
        <p:txBody>
          <a:bodyPr wrap="square" lIns="0" tIns="0" rIns="0" bIns="0" rtlCol="0" anchor="t">
            <a:normAutofit/>
          </a:bodyPr>
          <a:lstStyle/>
          <a:p>
            <a:pPr marL="0" indent="0" algn="r">
              <a:lnSpc>
                <a:spcPct val="100000"/>
              </a:lnSpc>
              <a:buNone/>
            </a:pPr>
            <a:r>
              <a:rPr lang="en-US" sz="950" b="1" dirty="0">
                <a:solidFill>
                  <a:srgbClr val="1E8E5A"/>
                </a:solidFill>
                <a:latin typeface="Calibri" pitchFamily="34" charset="0"/>
                <a:ea typeface="Calibri" pitchFamily="34" charset="-122"/>
                <a:cs typeface="Calibri" pitchFamily="34" charset="-120"/>
              </a:rPr>
              <a:t>TESTED</a:t>
            </a:r>
            <a:endParaRPr lang="en-US" sz="950" dirty="0"/>
          </a:p>
        </p:txBody>
      </p:sp>
      <p:sp>
        <p:nvSpPr>
          <p:cNvPr id="83" name="Text 81"/>
          <p:cNvSpPr/>
          <p:nvPr/>
        </p:nvSpPr>
        <p:spPr>
          <a:xfrm>
            <a:off x="6324600" y="4914900"/>
            <a:ext cx="2409825" cy="266700"/>
          </a:xfrm>
          <a:prstGeom prst="rect">
            <a:avLst/>
          </a:prstGeom>
          <a:noFill/>
          <a:ln/>
        </p:spPr>
        <p:txBody>
          <a:bodyPr wrap="square" lIns="0" tIns="0" rIns="0" bIns="0" rtlCol="0" anchor="t">
            <a:normAutofit/>
          </a:bodyPr>
          <a:lstStyle/>
          <a:p>
            <a:pPr marL="0" indent="0" algn="l">
              <a:lnSpc>
                <a:spcPct val="100000"/>
              </a:lnSpc>
              <a:buNone/>
            </a:pPr>
            <a:r>
              <a:rPr lang="en-US" sz="1120" dirty="0">
                <a:solidFill>
                  <a:srgbClr val="5B6B7C"/>
                </a:solidFill>
                <a:latin typeface="Calibri" pitchFamily="34" charset="0"/>
                <a:ea typeface="Calibri" pitchFamily="34" charset="-122"/>
                <a:cs typeface="Calibri" pitchFamily="34" charset="-120"/>
              </a:rPr>
              <a:t>PDV / congestion</a:t>
            </a:r>
            <a:endParaRPr lang="en-US" sz="1120" dirty="0"/>
          </a:p>
        </p:txBody>
      </p:sp>
      <p:sp>
        <p:nvSpPr>
          <p:cNvPr id="84" name="Shape 82"/>
          <p:cNvSpPr/>
          <p:nvPr/>
        </p:nvSpPr>
        <p:spPr>
          <a:xfrm>
            <a:off x="9029700" y="4610100"/>
            <a:ext cx="2619375" cy="609600"/>
          </a:xfrm>
          <a:prstGeom prst="roundRect">
            <a:avLst>
              <a:gd name="adj" fmla="val 6000"/>
            </a:avLst>
          </a:prstGeom>
          <a:solidFill>
            <a:srgbClr val="F6E4E0"/>
          </a:solidFill>
          <a:ln w="12700">
            <a:solidFill>
              <a:srgbClr val="B3402F"/>
            </a:solidFill>
            <a:prstDash val="solid"/>
          </a:ln>
        </p:spPr>
        <p:txBody>
          <a:bodyPr/>
          <a:lstStyle/>
          <a:p>
            <a:endParaRPr lang="en-IN"/>
          </a:p>
        </p:txBody>
      </p:sp>
      <p:sp>
        <p:nvSpPr>
          <p:cNvPr id="85" name="Text 83"/>
          <p:cNvSpPr/>
          <p:nvPr/>
        </p:nvSpPr>
        <p:spPr>
          <a:xfrm>
            <a:off x="9144000" y="4686300"/>
            <a:ext cx="476250" cy="209550"/>
          </a:xfrm>
          <a:prstGeom prst="rect">
            <a:avLst/>
          </a:prstGeom>
          <a:noFill/>
          <a:ln/>
        </p:spPr>
        <p:txBody>
          <a:bodyPr wrap="square" lIns="0" tIns="0" rIns="0" bIns="0" rtlCol="0" anchor="t">
            <a:normAutofit/>
          </a:bodyPr>
          <a:lstStyle/>
          <a:p>
            <a:pPr marL="0" indent="0" algn="l">
              <a:lnSpc>
                <a:spcPct val="100000"/>
              </a:lnSpc>
              <a:buNone/>
            </a:pPr>
            <a:r>
              <a:rPr lang="en-US" sz="1400" b="1" dirty="0">
                <a:solidFill>
                  <a:srgbClr val="12263A"/>
                </a:solidFill>
                <a:latin typeface="Cambria" pitchFamily="34" charset="0"/>
                <a:ea typeface="Cambria" pitchFamily="34" charset="-122"/>
                <a:cs typeface="Cambria" pitchFamily="34" charset="-120"/>
              </a:rPr>
              <a:t>B4</a:t>
            </a:r>
            <a:endParaRPr lang="en-US" sz="1400" dirty="0"/>
          </a:p>
        </p:txBody>
      </p:sp>
      <p:sp>
        <p:nvSpPr>
          <p:cNvPr id="86" name="Shape 84"/>
          <p:cNvSpPr/>
          <p:nvPr/>
        </p:nvSpPr>
        <p:spPr>
          <a:xfrm>
            <a:off x="9620250" y="4695825"/>
            <a:ext cx="381000" cy="180975"/>
          </a:xfrm>
          <a:prstGeom prst="roundRect">
            <a:avLst>
              <a:gd name="adj" fmla="val 20211"/>
            </a:avLst>
          </a:prstGeom>
          <a:solidFill>
            <a:srgbClr val="EAF2F8"/>
          </a:solidFill>
          <a:ln w="12700">
            <a:solidFill>
              <a:srgbClr val="D7E1EA"/>
            </a:solidFill>
            <a:prstDash val="solid"/>
          </a:ln>
        </p:spPr>
        <p:txBody>
          <a:bodyPr/>
          <a:lstStyle/>
          <a:p>
            <a:endParaRPr lang="en-IN"/>
          </a:p>
        </p:txBody>
      </p:sp>
      <p:sp>
        <p:nvSpPr>
          <p:cNvPr id="87" name="Text 85"/>
          <p:cNvSpPr/>
          <p:nvPr/>
        </p:nvSpPr>
        <p:spPr>
          <a:xfrm>
            <a:off x="9620250" y="4724400"/>
            <a:ext cx="381000" cy="142875"/>
          </a:xfrm>
          <a:prstGeom prst="rect">
            <a:avLst/>
          </a:prstGeom>
          <a:noFill/>
          <a:ln/>
        </p:spPr>
        <p:txBody>
          <a:bodyPr wrap="square" lIns="0" tIns="0" rIns="0" bIns="0" rtlCol="0" anchor="t">
            <a:normAutofit/>
          </a:bodyPr>
          <a:lstStyle/>
          <a:p>
            <a:pPr marL="0" indent="0" algn="ctr">
              <a:lnSpc>
                <a:spcPct val="100000"/>
              </a:lnSpc>
              <a:buNone/>
            </a:pPr>
            <a:r>
              <a:rPr lang="en-US" sz="950" b="1" dirty="0">
                <a:solidFill>
                  <a:srgbClr val="1C7293"/>
                </a:solidFill>
                <a:latin typeface="Calibri" pitchFamily="34" charset="0"/>
                <a:ea typeface="Calibri" pitchFamily="34" charset="-122"/>
                <a:cs typeface="Calibri" pitchFamily="34" charset="-120"/>
              </a:rPr>
              <a:t>HW</a:t>
            </a:r>
            <a:endParaRPr lang="en-US" sz="950" dirty="0"/>
          </a:p>
        </p:txBody>
      </p:sp>
      <p:sp>
        <p:nvSpPr>
          <p:cNvPr id="88" name="Text 86"/>
          <p:cNvSpPr/>
          <p:nvPr/>
        </p:nvSpPr>
        <p:spPr>
          <a:xfrm>
            <a:off x="10744200" y="4705350"/>
            <a:ext cx="809625" cy="171450"/>
          </a:xfrm>
          <a:prstGeom prst="rect">
            <a:avLst/>
          </a:prstGeom>
          <a:noFill/>
          <a:ln/>
        </p:spPr>
        <p:txBody>
          <a:bodyPr wrap="square" lIns="0" tIns="0" rIns="0" bIns="0" rtlCol="0" anchor="t">
            <a:normAutofit/>
          </a:bodyPr>
          <a:lstStyle/>
          <a:p>
            <a:pPr marL="0" indent="0" algn="r">
              <a:lnSpc>
                <a:spcPct val="100000"/>
              </a:lnSpc>
              <a:buNone/>
            </a:pPr>
            <a:r>
              <a:rPr lang="en-US" sz="950" b="1" dirty="0">
                <a:solidFill>
                  <a:srgbClr val="B3402F"/>
                </a:solidFill>
                <a:latin typeface="Calibri" pitchFamily="34" charset="0"/>
                <a:ea typeface="Calibri" pitchFamily="34" charset="-122"/>
                <a:cs typeface="Calibri" pitchFamily="34" charset="-120"/>
              </a:rPr>
              <a:t>blocked</a:t>
            </a:r>
            <a:endParaRPr lang="en-US" sz="950" dirty="0"/>
          </a:p>
        </p:txBody>
      </p:sp>
      <p:sp>
        <p:nvSpPr>
          <p:cNvPr id="89" name="Text 87"/>
          <p:cNvSpPr/>
          <p:nvPr/>
        </p:nvSpPr>
        <p:spPr>
          <a:xfrm>
            <a:off x="9144000" y="4914900"/>
            <a:ext cx="2409825" cy="266700"/>
          </a:xfrm>
          <a:prstGeom prst="rect">
            <a:avLst/>
          </a:prstGeom>
          <a:noFill/>
          <a:ln/>
        </p:spPr>
        <p:txBody>
          <a:bodyPr wrap="square" lIns="0" tIns="0" rIns="0" bIns="0" rtlCol="0" anchor="t">
            <a:normAutofit/>
          </a:bodyPr>
          <a:lstStyle/>
          <a:p>
            <a:pPr marL="0" indent="0" algn="l">
              <a:lnSpc>
                <a:spcPct val="100000"/>
              </a:lnSpc>
              <a:buNone/>
            </a:pPr>
            <a:r>
              <a:rPr lang="en-US" sz="1120" dirty="0">
                <a:solidFill>
                  <a:srgbClr val="5B6B7C"/>
                </a:solidFill>
                <a:latin typeface="Calibri" pitchFamily="34" charset="0"/>
                <a:ea typeface="Calibri" pitchFamily="34" charset="-122"/>
                <a:cs typeface="Calibri" pitchFamily="34" charset="-120"/>
              </a:rPr>
              <a:t>SyncE / EEC degradation</a:t>
            </a:r>
            <a:endParaRPr lang="en-US" sz="1120" dirty="0"/>
          </a:p>
        </p:txBody>
      </p:sp>
      <p:sp>
        <p:nvSpPr>
          <p:cNvPr id="90" name="Shape 88"/>
          <p:cNvSpPr/>
          <p:nvPr/>
        </p:nvSpPr>
        <p:spPr>
          <a:xfrm>
            <a:off x="571500" y="5295900"/>
            <a:ext cx="2619375" cy="609600"/>
          </a:xfrm>
          <a:prstGeom prst="roundRect">
            <a:avLst>
              <a:gd name="adj" fmla="val 6000"/>
            </a:avLst>
          </a:prstGeom>
          <a:solidFill>
            <a:srgbClr val="FFFFFF"/>
          </a:solidFill>
          <a:ln w="12700">
            <a:solidFill>
              <a:srgbClr val="D7E1EA"/>
            </a:solidFill>
            <a:prstDash val="solid"/>
          </a:ln>
        </p:spPr>
        <p:txBody>
          <a:bodyPr/>
          <a:lstStyle/>
          <a:p>
            <a:endParaRPr lang="en-IN"/>
          </a:p>
        </p:txBody>
      </p:sp>
      <p:sp>
        <p:nvSpPr>
          <p:cNvPr id="91" name="Text 89"/>
          <p:cNvSpPr/>
          <p:nvPr/>
        </p:nvSpPr>
        <p:spPr>
          <a:xfrm>
            <a:off x="685800" y="5372100"/>
            <a:ext cx="476250" cy="209550"/>
          </a:xfrm>
          <a:prstGeom prst="rect">
            <a:avLst/>
          </a:prstGeom>
          <a:noFill/>
          <a:ln/>
        </p:spPr>
        <p:txBody>
          <a:bodyPr wrap="square" lIns="0" tIns="0" rIns="0" bIns="0" rtlCol="0" anchor="t">
            <a:normAutofit/>
          </a:bodyPr>
          <a:lstStyle/>
          <a:p>
            <a:pPr marL="0" indent="0" algn="l">
              <a:lnSpc>
                <a:spcPct val="100000"/>
              </a:lnSpc>
              <a:buNone/>
            </a:pPr>
            <a:r>
              <a:rPr lang="en-US" sz="1400" b="1" dirty="0">
                <a:solidFill>
                  <a:srgbClr val="12263A"/>
                </a:solidFill>
                <a:latin typeface="Cambria" pitchFamily="34" charset="0"/>
                <a:ea typeface="Cambria" pitchFamily="34" charset="-122"/>
                <a:cs typeface="Cambria" pitchFamily="34" charset="-120"/>
              </a:rPr>
              <a:t>B5</a:t>
            </a:r>
            <a:endParaRPr lang="en-US" sz="1400" dirty="0"/>
          </a:p>
        </p:txBody>
      </p:sp>
      <p:sp>
        <p:nvSpPr>
          <p:cNvPr id="92" name="Shape 90"/>
          <p:cNvSpPr/>
          <p:nvPr/>
        </p:nvSpPr>
        <p:spPr>
          <a:xfrm>
            <a:off x="1162050" y="5381625"/>
            <a:ext cx="381000" cy="180975"/>
          </a:xfrm>
          <a:prstGeom prst="roundRect">
            <a:avLst>
              <a:gd name="adj" fmla="val 20211"/>
            </a:avLst>
          </a:prstGeom>
          <a:solidFill>
            <a:srgbClr val="EAF2F8"/>
          </a:solidFill>
          <a:ln w="12700">
            <a:solidFill>
              <a:srgbClr val="D7E1EA"/>
            </a:solidFill>
            <a:prstDash val="solid"/>
          </a:ln>
        </p:spPr>
        <p:txBody>
          <a:bodyPr/>
          <a:lstStyle/>
          <a:p>
            <a:endParaRPr lang="en-IN"/>
          </a:p>
        </p:txBody>
      </p:sp>
      <p:sp>
        <p:nvSpPr>
          <p:cNvPr id="93" name="Text 91"/>
          <p:cNvSpPr/>
          <p:nvPr/>
        </p:nvSpPr>
        <p:spPr>
          <a:xfrm>
            <a:off x="1162050" y="5410200"/>
            <a:ext cx="381000" cy="142875"/>
          </a:xfrm>
          <a:prstGeom prst="rect">
            <a:avLst/>
          </a:prstGeom>
          <a:noFill/>
          <a:ln/>
        </p:spPr>
        <p:txBody>
          <a:bodyPr wrap="square" lIns="0" tIns="0" rIns="0" bIns="0" rtlCol="0" anchor="t">
            <a:normAutofit/>
          </a:bodyPr>
          <a:lstStyle/>
          <a:p>
            <a:pPr marL="0" indent="0" algn="ctr">
              <a:lnSpc>
                <a:spcPct val="100000"/>
              </a:lnSpc>
              <a:buNone/>
            </a:pPr>
            <a:r>
              <a:rPr lang="en-US" sz="950" b="1" dirty="0">
                <a:solidFill>
                  <a:srgbClr val="1C7293"/>
                </a:solidFill>
                <a:latin typeface="Calibri" pitchFamily="34" charset="0"/>
                <a:ea typeface="Calibri" pitchFamily="34" charset="-122"/>
                <a:cs typeface="Calibri" pitchFamily="34" charset="-120"/>
              </a:rPr>
              <a:t>SW*</a:t>
            </a:r>
            <a:endParaRPr lang="en-US" sz="950" dirty="0"/>
          </a:p>
        </p:txBody>
      </p:sp>
      <p:sp>
        <p:nvSpPr>
          <p:cNvPr id="94" name="Text 92"/>
          <p:cNvSpPr/>
          <p:nvPr/>
        </p:nvSpPr>
        <p:spPr>
          <a:xfrm>
            <a:off x="2286000" y="5391150"/>
            <a:ext cx="809625" cy="171450"/>
          </a:xfrm>
          <a:prstGeom prst="rect">
            <a:avLst/>
          </a:prstGeom>
          <a:noFill/>
          <a:ln/>
        </p:spPr>
        <p:txBody>
          <a:bodyPr wrap="square" lIns="0" tIns="0" rIns="0" bIns="0" rtlCol="0" anchor="t">
            <a:normAutofit/>
          </a:bodyPr>
          <a:lstStyle/>
          <a:p>
            <a:pPr marL="0" indent="0" algn="r">
              <a:lnSpc>
                <a:spcPct val="100000"/>
              </a:lnSpc>
              <a:buNone/>
            </a:pPr>
            <a:r>
              <a:rPr lang="en-US" sz="950" b="1" dirty="0">
                <a:solidFill>
                  <a:srgbClr val="5B6B7C"/>
                </a:solidFill>
                <a:latin typeface="Calibri" pitchFamily="34" charset="0"/>
                <a:ea typeface="Calibri" pitchFamily="34" charset="-122"/>
                <a:cs typeface="Calibri" pitchFamily="34" charset="-120"/>
              </a:rPr>
              <a:t>not run</a:t>
            </a:r>
            <a:endParaRPr lang="en-US" sz="950" dirty="0"/>
          </a:p>
        </p:txBody>
      </p:sp>
      <p:sp>
        <p:nvSpPr>
          <p:cNvPr id="95" name="Text 93"/>
          <p:cNvSpPr/>
          <p:nvPr/>
        </p:nvSpPr>
        <p:spPr>
          <a:xfrm>
            <a:off x="685800" y="5600700"/>
            <a:ext cx="2409825" cy="266700"/>
          </a:xfrm>
          <a:prstGeom prst="rect">
            <a:avLst/>
          </a:prstGeom>
          <a:noFill/>
          <a:ln/>
        </p:spPr>
        <p:txBody>
          <a:bodyPr wrap="square" lIns="0" tIns="0" rIns="0" bIns="0" rtlCol="0" anchor="t">
            <a:normAutofit/>
          </a:bodyPr>
          <a:lstStyle/>
          <a:p>
            <a:pPr marL="0" indent="0" algn="l">
              <a:lnSpc>
                <a:spcPct val="100000"/>
              </a:lnSpc>
              <a:buNone/>
            </a:pPr>
            <a:r>
              <a:rPr lang="en-US" sz="1120" dirty="0">
                <a:solidFill>
                  <a:srgbClr val="5B6B7C"/>
                </a:solidFill>
                <a:latin typeface="Calibri" pitchFamily="34" charset="0"/>
                <a:ea typeface="Calibri" pitchFamily="34" charset="-122"/>
                <a:cs typeface="Calibri" pitchFamily="34" charset="-120"/>
              </a:rPr>
              <a:t>Static path asymmetry</a:t>
            </a:r>
            <a:endParaRPr lang="en-US" sz="1120" dirty="0"/>
          </a:p>
        </p:txBody>
      </p:sp>
      <p:sp>
        <p:nvSpPr>
          <p:cNvPr id="96" name="Shape 94"/>
          <p:cNvSpPr/>
          <p:nvPr/>
        </p:nvSpPr>
        <p:spPr>
          <a:xfrm>
            <a:off x="3390900" y="5295900"/>
            <a:ext cx="2619375" cy="609600"/>
          </a:xfrm>
          <a:prstGeom prst="roundRect">
            <a:avLst>
              <a:gd name="adj" fmla="val 6000"/>
            </a:avLst>
          </a:prstGeom>
          <a:solidFill>
            <a:srgbClr val="F6E4E0"/>
          </a:solidFill>
          <a:ln w="12700">
            <a:solidFill>
              <a:srgbClr val="B3402F"/>
            </a:solidFill>
            <a:prstDash val="solid"/>
          </a:ln>
        </p:spPr>
        <p:txBody>
          <a:bodyPr/>
          <a:lstStyle/>
          <a:p>
            <a:endParaRPr lang="en-IN"/>
          </a:p>
        </p:txBody>
      </p:sp>
      <p:sp>
        <p:nvSpPr>
          <p:cNvPr id="97" name="Text 95"/>
          <p:cNvSpPr/>
          <p:nvPr/>
        </p:nvSpPr>
        <p:spPr>
          <a:xfrm>
            <a:off x="3505200" y="5372100"/>
            <a:ext cx="476250" cy="209550"/>
          </a:xfrm>
          <a:prstGeom prst="rect">
            <a:avLst/>
          </a:prstGeom>
          <a:noFill/>
          <a:ln/>
        </p:spPr>
        <p:txBody>
          <a:bodyPr wrap="square" lIns="0" tIns="0" rIns="0" bIns="0" rtlCol="0" anchor="t">
            <a:normAutofit/>
          </a:bodyPr>
          <a:lstStyle/>
          <a:p>
            <a:pPr marL="0" indent="0" algn="l">
              <a:lnSpc>
                <a:spcPct val="100000"/>
              </a:lnSpc>
              <a:buNone/>
            </a:pPr>
            <a:r>
              <a:rPr lang="en-US" sz="1400" b="1" dirty="0">
                <a:solidFill>
                  <a:srgbClr val="12263A"/>
                </a:solidFill>
                <a:latin typeface="Cambria" pitchFamily="34" charset="0"/>
                <a:ea typeface="Cambria" pitchFamily="34" charset="-122"/>
                <a:cs typeface="Cambria" pitchFamily="34" charset="-120"/>
              </a:rPr>
              <a:t>B6</a:t>
            </a:r>
            <a:endParaRPr lang="en-US" sz="1400" dirty="0"/>
          </a:p>
        </p:txBody>
      </p:sp>
      <p:sp>
        <p:nvSpPr>
          <p:cNvPr id="98" name="Shape 96"/>
          <p:cNvSpPr/>
          <p:nvPr/>
        </p:nvSpPr>
        <p:spPr>
          <a:xfrm>
            <a:off x="3981450" y="5381625"/>
            <a:ext cx="381000" cy="180975"/>
          </a:xfrm>
          <a:prstGeom prst="roundRect">
            <a:avLst>
              <a:gd name="adj" fmla="val 20211"/>
            </a:avLst>
          </a:prstGeom>
          <a:solidFill>
            <a:srgbClr val="EAF2F8"/>
          </a:solidFill>
          <a:ln w="12700">
            <a:solidFill>
              <a:srgbClr val="D7E1EA"/>
            </a:solidFill>
            <a:prstDash val="solid"/>
          </a:ln>
        </p:spPr>
        <p:txBody>
          <a:bodyPr/>
          <a:lstStyle/>
          <a:p>
            <a:endParaRPr lang="en-IN"/>
          </a:p>
        </p:txBody>
      </p:sp>
      <p:sp>
        <p:nvSpPr>
          <p:cNvPr id="99" name="Text 97"/>
          <p:cNvSpPr/>
          <p:nvPr/>
        </p:nvSpPr>
        <p:spPr>
          <a:xfrm>
            <a:off x="3981450" y="5410200"/>
            <a:ext cx="381000" cy="142875"/>
          </a:xfrm>
          <a:prstGeom prst="rect">
            <a:avLst/>
          </a:prstGeom>
          <a:noFill/>
          <a:ln/>
        </p:spPr>
        <p:txBody>
          <a:bodyPr wrap="square" lIns="0" tIns="0" rIns="0" bIns="0" rtlCol="0" anchor="t">
            <a:normAutofit/>
          </a:bodyPr>
          <a:lstStyle/>
          <a:p>
            <a:pPr marL="0" indent="0" algn="ctr">
              <a:lnSpc>
                <a:spcPct val="100000"/>
              </a:lnSpc>
              <a:buNone/>
            </a:pPr>
            <a:r>
              <a:rPr lang="en-US" sz="950" b="1" dirty="0">
                <a:solidFill>
                  <a:srgbClr val="1C7293"/>
                </a:solidFill>
                <a:latin typeface="Calibri" pitchFamily="34" charset="0"/>
                <a:ea typeface="Calibri" pitchFamily="34" charset="-122"/>
                <a:cs typeface="Calibri" pitchFamily="34" charset="-120"/>
              </a:rPr>
              <a:t>HW</a:t>
            </a:r>
            <a:endParaRPr lang="en-US" sz="950" dirty="0"/>
          </a:p>
        </p:txBody>
      </p:sp>
      <p:sp>
        <p:nvSpPr>
          <p:cNvPr id="100" name="Text 98"/>
          <p:cNvSpPr/>
          <p:nvPr/>
        </p:nvSpPr>
        <p:spPr>
          <a:xfrm>
            <a:off x="5105400" y="5391150"/>
            <a:ext cx="809625" cy="171450"/>
          </a:xfrm>
          <a:prstGeom prst="rect">
            <a:avLst/>
          </a:prstGeom>
          <a:noFill/>
          <a:ln/>
        </p:spPr>
        <p:txBody>
          <a:bodyPr wrap="square" lIns="0" tIns="0" rIns="0" bIns="0" rtlCol="0" anchor="t">
            <a:normAutofit/>
          </a:bodyPr>
          <a:lstStyle/>
          <a:p>
            <a:pPr marL="0" indent="0" algn="r">
              <a:lnSpc>
                <a:spcPct val="100000"/>
              </a:lnSpc>
              <a:buNone/>
            </a:pPr>
            <a:r>
              <a:rPr lang="en-US" sz="950" b="1" dirty="0">
                <a:solidFill>
                  <a:srgbClr val="B3402F"/>
                </a:solidFill>
                <a:latin typeface="Calibri" pitchFamily="34" charset="0"/>
                <a:ea typeface="Calibri" pitchFamily="34" charset="-122"/>
                <a:cs typeface="Calibri" pitchFamily="34" charset="-120"/>
              </a:rPr>
              <a:t>blocked</a:t>
            </a:r>
            <a:endParaRPr lang="en-US" sz="950" dirty="0"/>
          </a:p>
        </p:txBody>
      </p:sp>
      <p:sp>
        <p:nvSpPr>
          <p:cNvPr id="101" name="Text 99"/>
          <p:cNvSpPr/>
          <p:nvPr/>
        </p:nvSpPr>
        <p:spPr>
          <a:xfrm>
            <a:off x="3505200" y="5600700"/>
            <a:ext cx="2409825" cy="266700"/>
          </a:xfrm>
          <a:prstGeom prst="rect">
            <a:avLst/>
          </a:prstGeom>
          <a:noFill/>
          <a:ln/>
        </p:spPr>
        <p:txBody>
          <a:bodyPr wrap="square" lIns="0" tIns="0" rIns="0" bIns="0" rtlCol="0" anchor="t">
            <a:normAutofit/>
          </a:bodyPr>
          <a:lstStyle/>
          <a:p>
            <a:pPr marL="0" indent="0" algn="l">
              <a:lnSpc>
                <a:spcPct val="100000"/>
              </a:lnSpc>
              <a:buNone/>
            </a:pPr>
            <a:r>
              <a:rPr lang="en-US" sz="1120" dirty="0">
                <a:solidFill>
                  <a:srgbClr val="5B6B7C"/>
                </a:solidFill>
                <a:latin typeface="Calibri" pitchFamily="34" charset="0"/>
                <a:ea typeface="Calibri" pitchFamily="34" charset="-122"/>
                <a:cs typeface="Calibri" pitchFamily="34" charset="-120"/>
              </a:rPr>
              <a:t>Oscillator drift</a:t>
            </a:r>
            <a:endParaRPr lang="en-US" sz="1120" dirty="0"/>
          </a:p>
        </p:txBody>
      </p:sp>
      <p:sp>
        <p:nvSpPr>
          <p:cNvPr id="102" name="Shape 100"/>
          <p:cNvSpPr/>
          <p:nvPr/>
        </p:nvSpPr>
        <p:spPr>
          <a:xfrm>
            <a:off x="6210300" y="5295900"/>
            <a:ext cx="2619375" cy="609600"/>
          </a:xfrm>
          <a:prstGeom prst="roundRect">
            <a:avLst>
              <a:gd name="adj" fmla="val 6000"/>
            </a:avLst>
          </a:prstGeom>
          <a:solidFill>
            <a:srgbClr val="E3F3EA"/>
          </a:solidFill>
          <a:ln w="12700">
            <a:solidFill>
              <a:srgbClr val="1E8E5A"/>
            </a:solidFill>
            <a:prstDash val="solid"/>
          </a:ln>
        </p:spPr>
        <p:txBody>
          <a:bodyPr/>
          <a:lstStyle/>
          <a:p>
            <a:endParaRPr lang="en-IN"/>
          </a:p>
        </p:txBody>
      </p:sp>
      <p:sp>
        <p:nvSpPr>
          <p:cNvPr id="103" name="Text 101"/>
          <p:cNvSpPr/>
          <p:nvPr/>
        </p:nvSpPr>
        <p:spPr>
          <a:xfrm>
            <a:off x="6324600" y="5372100"/>
            <a:ext cx="476250" cy="209550"/>
          </a:xfrm>
          <a:prstGeom prst="rect">
            <a:avLst/>
          </a:prstGeom>
          <a:noFill/>
          <a:ln/>
        </p:spPr>
        <p:txBody>
          <a:bodyPr wrap="square" lIns="0" tIns="0" rIns="0" bIns="0" rtlCol="0" anchor="t">
            <a:normAutofit/>
          </a:bodyPr>
          <a:lstStyle/>
          <a:p>
            <a:pPr marL="0" indent="0" algn="l">
              <a:lnSpc>
                <a:spcPct val="100000"/>
              </a:lnSpc>
              <a:buNone/>
            </a:pPr>
            <a:r>
              <a:rPr lang="en-US" sz="1400" b="1" dirty="0">
                <a:solidFill>
                  <a:srgbClr val="12263A"/>
                </a:solidFill>
                <a:latin typeface="Cambria" pitchFamily="34" charset="0"/>
                <a:ea typeface="Cambria" pitchFamily="34" charset="-122"/>
                <a:cs typeface="Cambria" pitchFamily="34" charset="-120"/>
              </a:rPr>
              <a:t>B7</a:t>
            </a:r>
            <a:endParaRPr lang="en-US" sz="1400" dirty="0"/>
          </a:p>
        </p:txBody>
      </p:sp>
      <p:sp>
        <p:nvSpPr>
          <p:cNvPr id="104" name="Shape 102"/>
          <p:cNvSpPr/>
          <p:nvPr/>
        </p:nvSpPr>
        <p:spPr>
          <a:xfrm>
            <a:off x="6800850" y="5381625"/>
            <a:ext cx="381000" cy="180975"/>
          </a:xfrm>
          <a:prstGeom prst="roundRect">
            <a:avLst>
              <a:gd name="adj" fmla="val 20211"/>
            </a:avLst>
          </a:prstGeom>
          <a:solidFill>
            <a:srgbClr val="EAF2F8"/>
          </a:solidFill>
          <a:ln w="12700">
            <a:solidFill>
              <a:srgbClr val="D7E1EA"/>
            </a:solidFill>
            <a:prstDash val="solid"/>
          </a:ln>
        </p:spPr>
        <p:txBody>
          <a:bodyPr/>
          <a:lstStyle/>
          <a:p>
            <a:endParaRPr lang="en-IN"/>
          </a:p>
        </p:txBody>
      </p:sp>
      <p:sp>
        <p:nvSpPr>
          <p:cNvPr id="105" name="Text 103"/>
          <p:cNvSpPr/>
          <p:nvPr/>
        </p:nvSpPr>
        <p:spPr>
          <a:xfrm>
            <a:off x="6800850" y="5410200"/>
            <a:ext cx="381000" cy="142875"/>
          </a:xfrm>
          <a:prstGeom prst="rect">
            <a:avLst/>
          </a:prstGeom>
          <a:noFill/>
          <a:ln/>
        </p:spPr>
        <p:txBody>
          <a:bodyPr wrap="square" lIns="0" tIns="0" rIns="0" bIns="0" rtlCol="0" anchor="t">
            <a:normAutofit/>
          </a:bodyPr>
          <a:lstStyle/>
          <a:p>
            <a:pPr marL="0" indent="0" algn="ctr">
              <a:lnSpc>
                <a:spcPct val="100000"/>
              </a:lnSpc>
              <a:buNone/>
            </a:pPr>
            <a:r>
              <a:rPr lang="en-US" sz="950" b="1" dirty="0">
                <a:solidFill>
                  <a:srgbClr val="1C7293"/>
                </a:solidFill>
                <a:latin typeface="Calibri" pitchFamily="34" charset="0"/>
                <a:ea typeface="Calibri" pitchFamily="34" charset="-122"/>
                <a:cs typeface="Calibri" pitchFamily="34" charset="-120"/>
              </a:rPr>
              <a:t>SW</a:t>
            </a:r>
            <a:endParaRPr lang="en-US" sz="950" dirty="0"/>
          </a:p>
        </p:txBody>
      </p:sp>
      <p:sp>
        <p:nvSpPr>
          <p:cNvPr id="106" name="Text 104"/>
          <p:cNvSpPr/>
          <p:nvPr/>
        </p:nvSpPr>
        <p:spPr>
          <a:xfrm>
            <a:off x="7924800" y="5391150"/>
            <a:ext cx="809625" cy="171450"/>
          </a:xfrm>
          <a:prstGeom prst="rect">
            <a:avLst/>
          </a:prstGeom>
          <a:noFill/>
          <a:ln/>
        </p:spPr>
        <p:txBody>
          <a:bodyPr wrap="square" lIns="0" tIns="0" rIns="0" bIns="0" rtlCol="0" anchor="t">
            <a:normAutofit/>
          </a:bodyPr>
          <a:lstStyle/>
          <a:p>
            <a:pPr marL="0" indent="0" algn="r">
              <a:lnSpc>
                <a:spcPct val="100000"/>
              </a:lnSpc>
              <a:buNone/>
            </a:pPr>
            <a:r>
              <a:rPr lang="en-US" sz="950" b="1" dirty="0">
                <a:solidFill>
                  <a:srgbClr val="1E8E5A"/>
                </a:solidFill>
                <a:latin typeface="Calibri" pitchFamily="34" charset="0"/>
                <a:ea typeface="Calibri" pitchFamily="34" charset="-122"/>
                <a:cs typeface="Calibri" pitchFamily="34" charset="-120"/>
              </a:rPr>
              <a:t>TESTED</a:t>
            </a:r>
            <a:endParaRPr lang="en-US" sz="950" dirty="0"/>
          </a:p>
        </p:txBody>
      </p:sp>
      <p:sp>
        <p:nvSpPr>
          <p:cNvPr id="107" name="Text 105"/>
          <p:cNvSpPr/>
          <p:nvPr/>
        </p:nvSpPr>
        <p:spPr>
          <a:xfrm>
            <a:off x="6324600" y="5600700"/>
            <a:ext cx="2409825" cy="266700"/>
          </a:xfrm>
          <a:prstGeom prst="rect">
            <a:avLst/>
          </a:prstGeom>
          <a:noFill/>
          <a:ln/>
        </p:spPr>
        <p:txBody>
          <a:bodyPr wrap="square" lIns="0" tIns="0" rIns="0" bIns="0" rtlCol="0" anchor="t">
            <a:normAutofit/>
          </a:bodyPr>
          <a:lstStyle/>
          <a:p>
            <a:pPr marL="0" indent="0" algn="l">
              <a:lnSpc>
                <a:spcPct val="100000"/>
              </a:lnSpc>
              <a:buNone/>
            </a:pPr>
            <a:r>
              <a:rPr lang="en-US" sz="1120" dirty="0">
                <a:solidFill>
                  <a:srgbClr val="5B6B7C"/>
                </a:solidFill>
                <a:latin typeface="Calibri" pitchFamily="34" charset="0"/>
                <a:ea typeface="Calibri" pitchFamily="34" charset="-122"/>
                <a:cs typeface="Calibri" pitchFamily="34" charset="-120"/>
              </a:rPr>
              <a:t>Topology reconfiguration</a:t>
            </a:r>
            <a:endParaRPr lang="en-US" sz="1120" dirty="0"/>
          </a:p>
        </p:txBody>
      </p:sp>
      <p:sp>
        <p:nvSpPr>
          <p:cNvPr id="108" name="Shape 106"/>
          <p:cNvSpPr/>
          <p:nvPr/>
        </p:nvSpPr>
        <p:spPr>
          <a:xfrm>
            <a:off x="9029700" y="5295900"/>
            <a:ext cx="2619375" cy="609600"/>
          </a:xfrm>
          <a:prstGeom prst="roundRect">
            <a:avLst>
              <a:gd name="adj" fmla="val 6000"/>
            </a:avLst>
          </a:prstGeom>
          <a:solidFill>
            <a:srgbClr val="FFFFFF"/>
          </a:solidFill>
          <a:ln w="12700">
            <a:solidFill>
              <a:srgbClr val="D7E1EA"/>
            </a:solidFill>
            <a:prstDash val="solid"/>
          </a:ln>
        </p:spPr>
        <p:txBody>
          <a:bodyPr/>
          <a:lstStyle/>
          <a:p>
            <a:endParaRPr lang="en-IN"/>
          </a:p>
        </p:txBody>
      </p:sp>
      <p:sp>
        <p:nvSpPr>
          <p:cNvPr id="109" name="Text 107"/>
          <p:cNvSpPr/>
          <p:nvPr/>
        </p:nvSpPr>
        <p:spPr>
          <a:xfrm>
            <a:off x="9144000" y="5372100"/>
            <a:ext cx="476250" cy="209550"/>
          </a:xfrm>
          <a:prstGeom prst="rect">
            <a:avLst/>
          </a:prstGeom>
          <a:noFill/>
          <a:ln/>
        </p:spPr>
        <p:txBody>
          <a:bodyPr wrap="square" lIns="0" tIns="0" rIns="0" bIns="0" rtlCol="0" anchor="t">
            <a:normAutofit/>
          </a:bodyPr>
          <a:lstStyle/>
          <a:p>
            <a:pPr marL="0" indent="0" algn="l">
              <a:lnSpc>
                <a:spcPct val="100000"/>
              </a:lnSpc>
              <a:buNone/>
            </a:pPr>
            <a:r>
              <a:rPr lang="en-US" sz="1400" b="1" dirty="0">
                <a:solidFill>
                  <a:srgbClr val="12263A"/>
                </a:solidFill>
                <a:latin typeface="Cambria" pitchFamily="34" charset="0"/>
                <a:ea typeface="Cambria" pitchFamily="34" charset="-122"/>
                <a:cs typeface="Cambria" pitchFamily="34" charset="-120"/>
              </a:rPr>
              <a:t>B8</a:t>
            </a:r>
            <a:endParaRPr lang="en-US" sz="1400" dirty="0"/>
          </a:p>
        </p:txBody>
      </p:sp>
      <p:sp>
        <p:nvSpPr>
          <p:cNvPr id="110" name="Shape 108"/>
          <p:cNvSpPr/>
          <p:nvPr/>
        </p:nvSpPr>
        <p:spPr>
          <a:xfrm>
            <a:off x="9620250" y="5381625"/>
            <a:ext cx="381000" cy="180975"/>
          </a:xfrm>
          <a:prstGeom prst="roundRect">
            <a:avLst>
              <a:gd name="adj" fmla="val 20211"/>
            </a:avLst>
          </a:prstGeom>
          <a:solidFill>
            <a:srgbClr val="EAF2F8"/>
          </a:solidFill>
          <a:ln w="12700">
            <a:solidFill>
              <a:srgbClr val="D7E1EA"/>
            </a:solidFill>
            <a:prstDash val="solid"/>
          </a:ln>
        </p:spPr>
        <p:txBody>
          <a:bodyPr/>
          <a:lstStyle/>
          <a:p>
            <a:endParaRPr lang="en-IN"/>
          </a:p>
        </p:txBody>
      </p:sp>
      <p:sp>
        <p:nvSpPr>
          <p:cNvPr id="111" name="Text 109"/>
          <p:cNvSpPr/>
          <p:nvPr/>
        </p:nvSpPr>
        <p:spPr>
          <a:xfrm>
            <a:off x="9620250" y="5410200"/>
            <a:ext cx="381000" cy="142875"/>
          </a:xfrm>
          <a:prstGeom prst="rect">
            <a:avLst/>
          </a:prstGeom>
          <a:noFill/>
          <a:ln/>
        </p:spPr>
        <p:txBody>
          <a:bodyPr wrap="square" lIns="0" tIns="0" rIns="0" bIns="0" rtlCol="0" anchor="t">
            <a:normAutofit/>
          </a:bodyPr>
          <a:lstStyle/>
          <a:p>
            <a:pPr marL="0" indent="0" algn="ctr">
              <a:lnSpc>
                <a:spcPct val="100000"/>
              </a:lnSpc>
              <a:buNone/>
            </a:pPr>
            <a:r>
              <a:rPr lang="en-US" sz="950" b="1" dirty="0">
                <a:solidFill>
                  <a:srgbClr val="1C7293"/>
                </a:solidFill>
                <a:latin typeface="Calibri" pitchFamily="34" charset="0"/>
                <a:ea typeface="Calibri" pitchFamily="34" charset="-122"/>
                <a:cs typeface="Calibri" pitchFamily="34" charset="-120"/>
              </a:rPr>
              <a:t>SW</a:t>
            </a:r>
            <a:endParaRPr lang="en-US" sz="950" dirty="0"/>
          </a:p>
        </p:txBody>
      </p:sp>
      <p:sp>
        <p:nvSpPr>
          <p:cNvPr id="112" name="Text 110"/>
          <p:cNvSpPr/>
          <p:nvPr/>
        </p:nvSpPr>
        <p:spPr>
          <a:xfrm>
            <a:off x="10744200" y="5391150"/>
            <a:ext cx="809625" cy="171450"/>
          </a:xfrm>
          <a:prstGeom prst="rect">
            <a:avLst/>
          </a:prstGeom>
          <a:noFill/>
          <a:ln/>
        </p:spPr>
        <p:txBody>
          <a:bodyPr wrap="square" lIns="0" tIns="0" rIns="0" bIns="0" rtlCol="0" anchor="t">
            <a:normAutofit/>
          </a:bodyPr>
          <a:lstStyle/>
          <a:p>
            <a:pPr marL="0" indent="0" algn="r">
              <a:lnSpc>
                <a:spcPct val="100000"/>
              </a:lnSpc>
              <a:buNone/>
            </a:pPr>
            <a:r>
              <a:rPr lang="en-US" sz="950" b="1" dirty="0">
                <a:solidFill>
                  <a:srgbClr val="5B6B7C"/>
                </a:solidFill>
                <a:latin typeface="Calibri" pitchFamily="34" charset="0"/>
                <a:ea typeface="Calibri" pitchFamily="34" charset="-122"/>
                <a:cs typeface="Calibri" pitchFamily="34" charset="-120"/>
              </a:rPr>
              <a:t>not run</a:t>
            </a:r>
            <a:endParaRPr lang="en-US" sz="950" dirty="0"/>
          </a:p>
        </p:txBody>
      </p:sp>
      <p:sp>
        <p:nvSpPr>
          <p:cNvPr id="113" name="Text 111"/>
          <p:cNvSpPr/>
          <p:nvPr/>
        </p:nvSpPr>
        <p:spPr>
          <a:xfrm>
            <a:off x="9144000" y="5600700"/>
            <a:ext cx="2409825" cy="266700"/>
          </a:xfrm>
          <a:prstGeom prst="rect">
            <a:avLst/>
          </a:prstGeom>
          <a:noFill/>
          <a:ln/>
        </p:spPr>
        <p:txBody>
          <a:bodyPr wrap="square" lIns="0" tIns="0" rIns="0" bIns="0" rtlCol="0" anchor="t">
            <a:normAutofit/>
          </a:bodyPr>
          <a:lstStyle/>
          <a:p>
            <a:pPr marL="0" indent="0" algn="l">
              <a:lnSpc>
                <a:spcPct val="100000"/>
              </a:lnSpc>
              <a:buNone/>
            </a:pPr>
            <a:r>
              <a:rPr lang="en-US" sz="1120" dirty="0">
                <a:solidFill>
                  <a:srgbClr val="5B6B7C"/>
                </a:solidFill>
                <a:latin typeface="Calibri" pitchFamily="34" charset="0"/>
                <a:ea typeface="Calibri" pitchFamily="34" charset="-122"/>
                <a:cs typeface="Calibri" pitchFamily="34" charset="-120"/>
              </a:rPr>
              <a:t>Measurement noise floor</a:t>
            </a:r>
            <a:endParaRPr lang="en-US" sz="1120" dirty="0"/>
          </a:p>
        </p:txBody>
      </p:sp>
      <p:sp>
        <p:nvSpPr>
          <p:cNvPr id="114" name="Shape 112"/>
          <p:cNvSpPr/>
          <p:nvPr/>
        </p:nvSpPr>
        <p:spPr>
          <a:xfrm>
            <a:off x="571500" y="6038850"/>
            <a:ext cx="11049000" cy="571500"/>
          </a:xfrm>
          <a:prstGeom prst="roundRect">
            <a:avLst>
              <a:gd name="adj" fmla="val 6400"/>
            </a:avLst>
          </a:prstGeom>
          <a:solidFill>
            <a:srgbClr val="0E2440"/>
          </a:solidFill>
          <a:ln w="12700">
            <a:solidFill>
              <a:srgbClr val="0E2440"/>
            </a:solidFill>
            <a:prstDash val="solid"/>
          </a:ln>
        </p:spPr>
        <p:txBody>
          <a:bodyPr/>
          <a:lstStyle/>
          <a:p>
            <a:endParaRPr lang="en-IN"/>
          </a:p>
        </p:txBody>
      </p:sp>
      <p:sp>
        <p:nvSpPr>
          <p:cNvPr id="115" name="Text 113"/>
          <p:cNvSpPr/>
          <p:nvPr/>
        </p:nvSpPr>
        <p:spPr>
          <a:xfrm>
            <a:off x="781050" y="6153150"/>
            <a:ext cx="10629900" cy="361950"/>
          </a:xfrm>
          <a:prstGeom prst="rect">
            <a:avLst/>
          </a:prstGeom>
          <a:noFill/>
          <a:ln/>
        </p:spPr>
        <p:txBody>
          <a:bodyPr wrap="square" lIns="0" tIns="0" rIns="0" bIns="0" rtlCol="0" anchor="t">
            <a:normAutofit/>
          </a:bodyPr>
          <a:lstStyle/>
          <a:p>
            <a:pPr marL="0" indent="0" algn="l">
              <a:lnSpc>
                <a:spcPct val="100000"/>
              </a:lnSpc>
              <a:buNone/>
            </a:pPr>
            <a:r>
              <a:rPr lang="en-US" sz="1220" b="1" dirty="0">
                <a:solidFill>
                  <a:srgbClr val="FFFFFF"/>
                </a:solidFill>
                <a:latin typeface="Cambria" pitchFamily="34" charset="0"/>
                <a:ea typeface="Cambria" pitchFamily="34" charset="-122"/>
                <a:cs typeface="Cambria" pitchFamily="34" charset="-120"/>
              </a:rPr>
              <a:t>Eight of sixteen catalogued classes were executed. Five require physical timing hardware and cannot be produced here. Three have software detection logic only, where physical impact would need hardware to measure. SW* denotes detection logic without physical-impact measurement.</a:t>
            </a:r>
            <a:endParaRPr lang="en-US" sz="122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8FAFC"/>
          </a:solidFill>
          <a:ln/>
        </p:spPr>
        <p:txBody>
          <a:bodyPr/>
          <a:lstStyle/>
          <a:p>
            <a:endParaRPr lang="en-IN"/>
          </a:p>
        </p:txBody>
      </p:sp>
      <p:sp>
        <p:nvSpPr>
          <p:cNvPr id="3" name="Shape 1"/>
          <p:cNvSpPr/>
          <p:nvPr/>
        </p:nvSpPr>
        <p:spPr>
          <a:xfrm>
            <a:off x="0" y="0"/>
            <a:ext cx="12192000" cy="114300"/>
          </a:xfrm>
          <a:prstGeom prst="rect">
            <a:avLst/>
          </a:prstGeom>
          <a:solidFill>
            <a:srgbClr val="18B89A"/>
          </a:solidFill>
          <a:ln/>
        </p:spPr>
        <p:txBody>
          <a:bodyPr/>
          <a:lstStyle/>
          <a:p>
            <a:endParaRPr lang="en-IN"/>
          </a:p>
        </p:txBody>
      </p:sp>
      <p:sp>
        <p:nvSpPr>
          <p:cNvPr id="4" name="Text 2"/>
          <p:cNvSpPr/>
          <p:nvPr/>
        </p:nvSpPr>
        <p:spPr>
          <a:xfrm>
            <a:off x="571500" y="209550"/>
            <a:ext cx="11049000" cy="228600"/>
          </a:xfrm>
          <a:prstGeom prst="rect">
            <a:avLst/>
          </a:prstGeom>
          <a:noFill/>
          <a:ln/>
        </p:spPr>
        <p:txBody>
          <a:bodyPr wrap="square" lIns="0" tIns="0" rIns="0" bIns="0" rtlCol="0" anchor="t">
            <a:normAutofit/>
          </a:bodyPr>
          <a:lstStyle/>
          <a:p>
            <a:pPr marL="0" indent="0" algn="l">
              <a:lnSpc>
                <a:spcPct val="100000"/>
              </a:lnSpc>
              <a:buNone/>
            </a:pPr>
            <a:r>
              <a:rPr lang="en-US" sz="1280" b="1" dirty="0">
                <a:solidFill>
                  <a:srgbClr val="1C7293"/>
                </a:solidFill>
                <a:latin typeface="Calibri" pitchFamily="34" charset="0"/>
                <a:ea typeface="Calibri" pitchFamily="34" charset="-122"/>
                <a:cs typeface="Calibri" pitchFamily="34" charset="-120"/>
              </a:rPr>
              <a:t>CLASSIFICATION METHOD</a:t>
            </a:r>
            <a:endParaRPr lang="en-US" sz="1280" dirty="0"/>
          </a:p>
        </p:txBody>
      </p:sp>
      <p:sp>
        <p:nvSpPr>
          <p:cNvPr id="5" name="Text 3"/>
          <p:cNvSpPr/>
          <p:nvPr/>
        </p:nvSpPr>
        <p:spPr>
          <a:xfrm>
            <a:off x="571500" y="447675"/>
            <a:ext cx="11049000" cy="552450"/>
          </a:xfrm>
          <a:prstGeom prst="rect">
            <a:avLst/>
          </a:prstGeom>
          <a:noFill/>
          <a:ln/>
        </p:spPr>
        <p:txBody>
          <a:bodyPr wrap="square" lIns="0" tIns="0" rIns="0" bIns="0" rtlCol="0" anchor="t">
            <a:normAutofit/>
          </a:bodyPr>
          <a:lstStyle/>
          <a:p>
            <a:pPr marL="0" indent="0" algn="l">
              <a:lnSpc>
                <a:spcPct val="100000"/>
              </a:lnSpc>
              <a:buNone/>
            </a:pPr>
            <a:r>
              <a:rPr lang="en-US" sz="3500" b="1" dirty="0">
                <a:solidFill>
                  <a:srgbClr val="12263A"/>
                </a:solidFill>
                <a:latin typeface="Cambria" pitchFamily="34" charset="0"/>
                <a:ea typeface="Cambria" pitchFamily="34" charset="-122"/>
                <a:cs typeface="Cambria" pitchFamily="34" charset="-120"/>
              </a:rPr>
              <a:t>Classification Logic and Verdict Assignment</a:t>
            </a:r>
            <a:endParaRPr lang="en-US" sz="3500" dirty="0"/>
          </a:p>
        </p:txBody>
      </p:sp>
      <p:sp>
        <p:nvSpPr>
          <p:cNvPr id="6" name="Shape 4"/>
          <p:cNvSpPr/>
          <p:nvPr/>
        </p:nvSpPr>
        <p:spPr>
          <a:xfrm>
            <a:off x="571500" y="1057275"/>
            <a:ext cx="11049000" cy="438150"/>
          </a:xfrm>
          <a:prstGeom prst="roundRect">
            <a:avLst>
              <a:gd name="adj" fmla="val 8348"/>
            </a:avLst>
          </a:prstGeom>
          <a:solidFill>
            <a:srgbClr val="EAF2F8"/>
          </a:solidFill>
          <a:ln w="12700">
            <a:solidFill>
              <a:srgbClr val="D7E1EA"/>
            </a:solidFill>
            <a:prstDash val="solid"/>
          </a:ln>
        </p:spPr>
        <p:txBody>
          <a:bodyPr/>
          <a:lstStyle/>
          <a:p>
            <a:endParaRPr lang="en-IN"/>
          </a:p>
        </p:txBody>
      </p:sp>
      <p:sp>
        <p:nvSpPr>
          <p:cNvPr id="7" name="Text 5"/>
          <p:cNvSpPr/>
          <p:nvPr/>
        </p:nvSpPr>
        <p:spPr>
          <a:xfrm>
            <a:off x="723900" y="1123950"/>
            <a:ext cx="10744200" cy="323850"/>
          </a:xfrm>
          <a:prstGeom prst="rect">
            <a:avLst/>
          </a:prstGeom>
          <a:noFill/>
          <a:ln/>
        </p:spPr>
        <p:txBody>
          <a:bodyPr wrap="square" lIns="0" tIns="0" rIns="0" bIns="0" rtlCol="0" anchor="t">
            <a:normAutofit/>
          </a:bodyPr>
          <a:lstStyle/>
          <a:p>
            <a:pPr marL="0" indent="0" algn="l">
              <a:lnSpc>
                <a:spcPct val="102000"/>
              </a:lnSpc>
              <a:buNone/>
            </a:pPr>
            <a:r>
              <a:rPr lang="en-US" sz="1120" dirty="0">
                <a:solidFill>
                  <a:srgbClr val="5B6B7C"/>
                </a:solidFill>
                <a:latin typeface="Calibri" pitchFamily="34" charset="0"/>
                <a:ea typeface="Calibri" pitchFamily="34" charset="-122"/>
                <a:cs typeface="Calibri" pitchFamily="34" charset="-120"/>
              </a:rPr>
              <a:t>IEEE 1588-2019 field legality, data-set consistency and sequence continuity  |  ITU-T G.8275.1 profile constraints and clockClass ladder  |  Provisioned operator context supplied per run in context.json</a:t>
            </a:r>
            <a:endParaRPr lang="en-US" sz="1120" dirty="0"/>
          </a:p>
        </p:txBody>
      </p:sp>
      <p:sp>
        <p:nvSpPr>
          <p:cNvPr id="8" name="Shape 6"/>
          <p:cNvSpPr/>
          <p:nvPr/>
        </p:nvSpPr>
        <p:spPr>
          <a:xfrm>
            <a:off x="571500" y="1638300"/>
            <a:ext cx="5381625" cy="1714500"/>
          </a:xfrm>
          <a:prstGeom prst="roundRect">
            <a:avLst>
              <a:gd name="adj" fmla="val 2133"/>
            </a:avLst>
          </a:prstGeom>
          <a:solidFill>
            <a:srgbClr val="FFFFFF"/>
          </a:solidFill>
          <a:ln w="12700">
            <a:solidFill>
              <a:srgbClr val="1E8E5A"/>
            </a:solidFill>
            <a:prstDash val="solid"/>
          </a:ln>
        </p:spPr>
        <p:txBody>
          <a:bodyPr/>
          <a:lstStyle/>
          <a:p>
            <a:endParaRPr lang="en-IN"/>
          </a:p>
        </p:txBody>
      </p:sp>
      <p:sp>
        <p:nvSpPr>
          <p:cNvPr id="9" name="Shape 7"/>
          <p:cNvSpPr/>
          <p:nvPr/>
        </p:nvSpPr>
        <p:spPr>
          <a:xfrm>
            <a:off x="571500" y="1638300"/>
            <a:ext cx="47625" cy="1714500"/>
          </a:xfrm>
          <a:prstGeom prst="rect">
            <a:avLst/>
          </a:prstGeom>
          <a:solidFill>
            <a:srgbClr val="1E8E5A"/>
          </a:solidFill>
          <a:ln/>
        </p:spPr>
        <p:txBody>
          <a:bodyPr/>
          <a:lstStyle/>
          <a:p>
            <a:endParaRPr lang="en-IN"/>
          </a:p>
        </p:txBody>
      </p:sp>
      <p:sp>
        <p:nvSpPr>
          <p:cNvPr id="10" name="Text 8"/>
          <p:cNvSpPr/>
          <p:nvPr/>
        </p:nvSpPr>
        <p:spPr>
          <a:xfrm>
            <a:off x="800100" y="1790700"/>
            <a:ext cx="3810000" cy="19050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1E8E5A"/>
                </a:solidFill>
                <a:latin typeface="Calibri" pitchFamily="34" charset="0"/>
                <a:ea typeface="Calibri" pitchFamily="34" charset="-122"/>
                <a:cs typeface="Calibri" pitchFamily="34" charset="-120"/>
              </a:rPr>
              <a:t>BENIGN FAULT SIGNATURE</a:t>
            </a:r>
            <a:endParaRPr lang="en-US" sz="1200" dirty="0"/>
          </a:p>
        </p:txBody>
      </p:sp>
      <p:sp>
        <p:nvSpPr>
          <p:cNvPr id="11" name="Text 9"/>
          <p:cNvSpPr/>
          <p:nvPr/>
        </p:nvSpPr>
        <p:spPr>
          <a:xfrm>
            <a:off x="800100" y="2038350"/>
            <a:ext cx="4953000" cy="857250"/>
          </a:xfrm>
          <a:prstGeom prst="rect">
            <a:avLst/>
          </a:prstGeom>
          <a:noFill/>
          <a:ln/>
        </p:spPr>
        <p:txBody>
          <a:bodyPr wrap="square" lIns="0" tIns="0" rIns="0" bIns="0" rtlCol="0" anchor="t">
            <a:normAutofit/>
          </a:bodyPr>
          <a:lstStyle/>
          <a:p>
            <a:pPr marL="0" indent="0" algn="l">
              <a:lnSpc>
                <a:spcPct val="100000"/>
              </a:lnSpc>
              <a:buNone/>
            </a:pPr>
            <a:r>
              <a:rPr lang="en-US" sz="1360" dirty="0">
                <a:solidFill>
                  <a:srgbClr val="12263A"/>
                </a:solidFill>
                <a:latin typeface="Calibri" pitchFamily="34" charset="0"/>
                <a:ea typeface="Calibri" pitchFamily="34" charset="-122"/>
                <a:cs typeface="Calibri" pitchFamily="34" charset="-120"/>
              </a:rPr>
              <a:t>Degradation that is self-consistent with a declared, standards-compliant state change: clockClass 6 to 7 for a grandmaster entering holdover within specification, stepsRemoved changing consistently with a new topology, or delay variation rising without any field becoming illegal.</a:t>
            </a:r>
            <a:endParaRPr lang="en-US" sz="1360" dirty="0"/>
          </a:p>
        </p:txBody>
      </p:sp>
      <p:sp>
        <p:nvSpPr>
          <p:cNvPr id="12" name="Text 10"/>
          <p:cNvSpPr/>
          <p:nvPr/>
        </p:nvSpPr>
        <p:spPr>
          <a:xfrm>
            <a:off x="800100" y="2990850"/>
            <a:ext cx="4953000" cy="209550"/>
          </a:xfrm>
          <a:prstGeom prst="rect">
            <a:avLst/>
          </a:prstGeom>
          <a:noFill/>
          <a:ln/>
        </p:spPr>
        <p:txBody>
          <a:bodyPr wrap="square" lIns="0" tIns="0" rIns="0" bIns="0" rtlCol="0" anchor="t">
            <a:normAutofit/>
          </a:bodyPr>
          <a:lstStyle/>
          <a:p>
            <a:pPr marL="0" indent="0" algn="l">
              <a:lnSpc>
                <a:spcPct val="100000"/>
              </a:lnSpc>
              <a:buNone/>
            </a:pPr>
            <a:r>
              <a:rPr lang="en-US" sz="1350" b="1" dirty="0">
                <a:solidFill>
                  <a:srgbClr val="1E8E5A"/>
                </a:solidFill>
                <a:latin typeface="Calibri" pitchFamily="34" charset="0"/>
                <a:ea typeface="Calibri" pitchFamily="34" charset="-122"/>
                <a:cs typeface="Calibri" pitchFamily="34" charset="-120"/>
              </a:rPr>
              <a:t>The declaration and the observation agree.</a:t>
            </a:r>
            <a:endParaRPr lang="en-US" sz="1350" dirty="0"/>
          </a:p>
        </p:txBody>
      </p:sp>
      <p:sp>
        <p:nvSpPr>
          <p:cNvPr id="13" name="Shape 11"/>
          <p:cNvSpPr/>
          <p:nvPr/>
        </p:nvSpPr>
        <p:spPr>
          <a:xfrm>
            <a:off x="6238875" y="1638300"/>
            <a:ext cx="5381625" cy="1714500"/>
          </a:xfrm>
          <a:prstGeom prst="roundRect">
            <a:avLst>
              <a:gd name="adj" fmla="val 2133"/>
            </a:avLst>
          </a:prstGeom>
          <a:solidFill>
            <a:srgbClr val="FFFFFF"/>
          </a:solidFill>
          <a:ln w="12700">
            <a:solidFill>
              <a:srgbClr val="B3402F"/>
            </a:solidFill>
            <a:prstDash val="solid"/>
          </a:ln>
        </p:spPr>
        <p:txBody>
          <a:bodyPr/>
          <a:lstStyle/>
          <a:p>
            <a:endParaRPr lang="en-IN"/>
          </a:p>
        </p:txBody>
      </p:sp>
      <p:sp>
        <p:nvSpPr>
          <p:cNvPr id="14" name="Shape 12"/>
          <p:cNvSpPr/>
          <p:nvPr/>
        </p:nvSpPr>
        <p:spPr>
          <a:xfrm>
            <a:off x="6238875" y="1638300"/>
            <a:ext cx="47625" cy="1714500"/>
          </a:xfrm>
          <a:prstGeom prst="rect">
            <a:avLst/>
          </a:prstGeom>
          <a:solidFill>
            <a:srgbClr val="B3402F"/>
          </a:solidFill>
          <a:ln/>
        </p:spPr>
        <p:txBody>
          <a:bodyPr/>
          <a:lstStyle/>
          <a:p>
            <a:endParaRPr lang="en-IN"/>
          </a:p>
        </p:txBody>
      </p:sp>
      <p:sp>
        <p:nvSpPr>
          <p:cNvPr id="15" name="Text 13"/>
          <p:cNvSpPr/>
          <p:nvPr/>
        </p:nvSpPr>
        <p:spPr>
          <a:xfrm>
            <a:off x="6467475" y="1790700"/>
            <a:ext cx="3810000" cy="19050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B3402F"/>
                </a:solidFill>
                <a:latin typeface="Calibri" pitchFamily="34" charset="0"/>
                <a:ea typeface="Calibri" pitchFamily="34" charset="-122"/>
                <a:cs typeface="Calibri" pitchFamily="34" charset="-120"/>
              </a:rPr>
              <a:t>ATTACK SIGNATURE</a:t>
            </a:r>
            <a:endParaRPr lang="en-US" sz="1200" dirty="0"/>
          </a:p>
        </p:txBody>
      </p:sp>
      <p:sp>
        <p:nvSpPr>
          <p:cNvPr id="16" name="Text 14"/>
          <p:cNvSpPr/>
          <p:nvPr/>
        </p:nvSpPr>
        <p:spPr>
          <a:xfrm>
            <a:off x="6467475" y="2038350"/>
            <a:ext cx="4953000" cy="857250"/>
          </a:xfrm>
          <a:prstGeom prst="rect">
            <a:avLst/>
          </a:prstGeom>
          <a:noFill/>
          <a:ln/>
        </p:spPr>
        <p:txBody>
          <a:bodyPr wrap="square" lIns="0" tIns="0" rIns="0" bIns="0" rtlCol="0" anchor="t">
            <a:normAutofit/>
          </a:bodyPr>
          <a:lstStyle/>
          <a:p>
            <a:pPr marL="0" indent="0" algn="l">
              <a:lnSpc>
                <a:spcPct val="100000"/>
              </a:lnSpc>
              <a:buNone/>
            </a:pPr>
            <a:r>
              <a:rPr lang="en-US" sz="1360" dirty="0">
                <a:solidFill>
                  <a:srgbClr val="12263A"/>
                </a:solidFill>
                <a:latin typeface="Calibri" pitchFamily="34" charset="0"/>
                <a:ea typeface="Calibri" pitchFamily="34" charset="-122"/>
                <a:cs typeface="Calibri" pitchFamily="34" charset="-120"/>
              </a:rPr>
              <a:t>Evidence that is illegal or unauthorised: forged Announce fields, non-monotonic sequence identifiers, structurally invalid frames, a delivered message rate below the rate the source itself declares, or a superior clock whose identity is outside the provisioned allow-list.</a:t>
            </a:r>
            <a:endParaRPr lang="en-US" sz="1360" dirty="0"/>
          </a:p>
        </p:txBody>
      </p:sp>
      <p:sp>
        <p:nvSpPr>
          <p:cNvPr id="17" name="Text 15"/>
          <p:cNvSpPr/>
          <p:nvPr/>
        </p:nvSpPr>
        <p:spPr>
          <a:xfrm>
            <a:off x="6467475" y="2990850"/>
            <a:ext cx="4953000" cy="209550"/>
          </a:xfrm>
          <a:prstGeom prst="rect">
            <a:avLst/>
          </a:prstGeom>
          <a:noFill/>
          <a:ln/>
        </p:spPr>
        <p:txBody>
          <a:bodyPr wrap="square" lIns="0" tIns="0" rIns="0" bIns="0" rtlCol="0" anchor="t">
            <a:normAutofit/>
          </a:bodyPr>
          <a:lstStyle/>
          <a:p>
            <a:pPr marL="0" indent="0" algn="l">
              <a:lnSpc>
                <a:spcPct val="100000"/>
              </a:lnSpc>
              <a:buNone/>
            </a:pPr>
            <a:r>
              <a:rPr lang="en-US" sz="1350" b="1" dirty="0">
                <a:solidFill>
                  <a:srgbClr val="B3402F"/>
                </a:solidFill>
                <a:latin typeface="Calibri" pitchFamily="34" charset="0"/>
                <a:ea typeface="Calibri" pitchFamily="34" charset="-122"/>
                <a:cs typeface="Calibri" pitchFamily="34" charset="-120"/>
              </a:rPr>
              <a:t>The declaration and the observation disagree.</a:t>
            </a:r>
            <a:endParaRPr lang="en-US" sz="1350" dirty="0"/>
          </a:p>
        </p:txBody>
      </p:sp>
      <p:sp>
        <p:nvSpPr>
          <p:cNvPr id="18" name="Text 16"/>
          <p:cNvSpPr/>
          <p:nvPr/>
        </p:nvSpPr>
        <p:spPr>
          <a:xfrm>
            <a:off x="571500" y="3505200"/>
            <a:ext cx="6667500" cy="19050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1C7293"/>
                </a:solidFill>
                <a:latin typeface="Calibri" pitchFamily="34" charset="0"/>
                <a:ea typeface="Calibri" pitchFamily="34" charset="-122"/>
                <a:cs typeface="Calibri" pitchFamily="34" charset="-120"/>
              </a:rPr>
              <a:t>VERDICT ASSIGNMENT AND RECOMMENDED RESPONSE</a:t>
            </a:r>
            <a:endParaRPr lang="en-US" sz="1200" dirty="0"/>
          </a:p>
        </p:txBody>
      </p:sp>
      <p:sp>
        <p:nvSpPr>
          <p:cNvPr id="19" name="Shape 17"/>
          <p:cNvSpPr/>
          <p:nvPr/>
        </p:nvSpPr>
        <p:spPr>
          <a:xfrm>
            <a:off x="571500" y="3771900"/>
            <a:ext cx="3676650" cy="1409700"/>
          </a:xfrm>
          <a:prstGeom prst="roundRect">
            <a:avLst>
              <a:gd name="adj" fmla="val 2595"/>
            </a:avLst>
          </a:prstGeom>
          <a:solidFill>
            <a:srgbClr val="F6E4E0"/>
          </a:solidFill>
          <a:ln w="12700">
            <a:solidFill>
              <a:srgbClr val="B3402F"/>
            </a:solidFill>
            <a:prstDash val="solid"/>
          </a:ln>
        </p:spPr>
        <p:txBody>
          <a:bodyPr/>
          <a:lstStyle/>
          <a:p>
            <a:endParaRPr lang="en-IN"/>
          </a:p>
        </p:txBody>
      </p:sp>
      <p:sp>
        <p:nvSpPr>
          <p:cNvPr id="20" name="Text 18"/>
          <p:cNvSpPr/>
          <p:nvPr/>
        </p:nvSpPr>
        <p:spPr>
          <a:xfrm>
            <a:off x="781050" y="3924300"/>
            <a:ext cx="3238500" cy="266700"/>
          </a:xfrm>
          <a:prstGeom prst="rect">
            <a:avLst/>
          </a:prstGeom>
          <a:noFill/>
          <a:ln/>
        </p:spPr>
        <p:txBody>
          <a:bodyPr wrap="square" lIns="0" tIns="0" rIns="0" bIns="0" rtlCol="0" anchor="t">
            <a:normAutofit/>
          </a:bodyPr>
          <a:lstStyle/>
          <a:p>
            <a:pPr marL="0" indent="0" algn="l">
              <a:lnSpc>
                <a:spcPct val="100000"/>
              </a:lnSpc>
              <a:buNone/>
            </a:pPr>
            <a:r>
              <a:rPr lang="en-US" sz="2200" b="1" dirty="0">
                <a:solidFill>
                  <a:srgbClr val="B3402F"/>
                </a:solidFill>
                <a:latin typeface="Cambria" pitchFamily="34" charset="0"/>
                <a:ea typeface="Cambria" pitchFamily="34" charset="-122"/>
                <a:cs typeface="Cambria" pitchFamily="34" charset="-120"/>
              </a:rPr>
              <a:t>ATTACK</a:t>
            </a:r>
            <a:endParaRPr lang="en-US" sz="2200" dirty="0"/>
          </a:p>
        </p:txBody>
      </p:sp>
      <p:sp>
        <p:nvSpPr>
          <p:cNvPr id="21" name="Text 19"/>
          <p:cNvSpPr/>
          <p:nvPr/>
        </p:nvSpPr>
        <p:spPr>
          <a:xfrm>
            <a:off x="781050" y="4248150"/>
            <a:ext cx="3276600" cy="419100"/>
          </a:xfrm>
          <a:prstGeom prst="rect">
            <a:avLst/>
          </a:prstGeom>
          <a:noFill/>
          <a:ln/>
        </p:spPr>
        <p:txBody>
          <a:bodyPr wrap="square" lIns="0" tIns="0" rIns="0" bIns="0" rtlCol="0" anchor="t">
            <a:normAutofit/>
          </a:bodyPr>
          <a:lstStyle/>
          <a:p>
            <a:pPr marL="0" indent="0" algn="l">
              <a:lnSpc>
                <a:spcPct val="100000"/>
              </a:lnSpc>
              <a:buNone/>
            </a:pPr>
            <a:r>
              <a:rPr lang="en-US" sz="1300" dirty="0">
                <a:solidFill>
                  <a:srgbClr val="12263A"/>
                </a:solidFill>
                <a:latin typeface="Calibri" pitchFamily="34" charset="0"/>
                <a:ea typeface="Calibri" pitchFamily="34" charset="-122"/>
                <a:cs typeface="Calibri" pitchFamily="34" charset="-120"/>
              </a:rPr>
              <a:t>Protocol-inconsistent or unauthorised evidence present</a:t>
            </a:r>
            <a:endParaRPr lang="en-US" sz="1300" dirty="0"/>
          </a:p>
        </p:txBody>
      </p:sp>
      <p:sp>
        <p:nvSpPr>
          <p:cNvPr id="22" name="Shape 20"/>
          <p:cNvSpPr/>
          <p:nvPr/>
        </p:nvSpPr>
        <p:spPr>
          <a:xfrm>
            <a:off x="781050" y="4743450"/>
            <a:ext cx="3276600" cy="304800"/>
          </a:xfrm>
          <a:prstGeom prst="roundRect">
            <a:avLst>
              <a:gd name="adj" fmla="val 12000"/>
            </a:avLst>
          </a:prstGeom>
          <a:solidFill>
            <a:srgbClr val="FFFFFF"/>
          </a:solidFill>
          <a:ln w="12700">
            <a:solidFill>
              <a:srgbClr val="B3402F"/>
            </a:solidFill>
            <a:prstDash val="solid"/>
          </a:ln>
        </p:spPr>
        <p:txBody>
          <a:bodyPr/>
          <a:lstStyle/>
          <a:p>
            <a:endParaRPr lang="en-IN"/>
          </a:p>
        </p:txBody>
      </p:sp>
      <p:sp>
        <p:nvSpPr>
          <p:cNvPr id="23" name="Text 21"/>
          <p:cNvSpPr/>
          <p:nvPr/>
        </p:nvSpPr>
        <p:spPr>
          <a:xfrm>
            <a:off x="781050" y="4819650"/>
            <a:ext cx="3276600" cy="190500"/>
          </a:xfrm>
          <a:prstGeom prst="rect">
            <a:avLst/>
          </a:prstGeom>
          <a:noFill/>
          <a:ln/>
        </p:spPr>
        <p:txBody>
          <a:bodyPr wrap="square" lIns="0" tIns="0" rIns="0" bIns="0" rtlCol="0" anchor="t">
            <a:normAutofit/>
          </a:bodyPr>
          <a:lstStyle/>
          <a:p>
            <a:pPr marL="0" indent="0" algn="ctr">
              <a:lnSpc>
                <a:spcPct val="100000"/>
              </a:lnSpc>
              <a:buNone/>
            </a:pPr>
            <a:r>
              <a:rPr lang="en-US" sz="1300" b="1" dirty="0">
                <a:solidFill>
                  <a:srgbClr val="B3402F"/>
                </a:solidFill>
                <a:latin typeface="Calibri" pitchFamily="34" charset="0"/>
                <a:ea typeface="Calibri" pitchFamily="34" charset="-122"/>
                <a:cs typeface="Calibri" pitchFamily="34" charset="-120"/>
              </a:rPr>
              <a:t>ISOLATE</a:t>
            </a:r>
            <a:endParaRPr lang="en-US" sz="1300" dirty="0"/>
          </a:p>
        </p:txBody>
      </p:sp>
      <p:sp>
        <p:nvSpPr>
          <p:cNvPr id="24" name="Shape 22"/>
          <p:cNvSpPr/>
          <p:nvPr/>
        </p:nvSpPr>
        <p:spPr>
          <a:xfrm>
            <a:off x="4257675" y="3771900"/>
            <a:ext cx="3676650" cy="1409700"/>
          </a:xfrm>
          <a:prstGeom prst="roundRect">
            <a:avLst>
              <a:gd name="adj" fmla="val 2595"/>
            </a:avLst>
          </a:prstGeom>
          <a:solidFill>
            <a:srgbClr val="E3F3EA"/>
          </a:solidFill>
          <a:ln w="12700">
            <a:solidFill>
              <a:srgbClr val="1E8E5A"/>
            </a:solidFill>
            <a:prstDash val="solid"/>
          </a:ln>
        </p:spPr>
        <p:txBody>
          <a:bodyPr/>
          <a:lstStyle/>
          <a:p>
            <a:endParaRPr lang="en-IN"/>
          </a:p>
        </p:txBody>
      </p:sp>
      <p:sp>
        <p:nvSpPr>
          <p:cNvPr id="25" name="Text 23"/>
          <p:cNvSpPr/>
          <p:nvPr/>
        </p:nvSpPr>
        <p:spPr>
          <a:xfrm>
            <a:off x="4467225" y="3924300"/>
            <a:ext cx="3238500" cy="266700"/>
          </a:xfrm>
          <a:prstGeom prst="rect">
            <a:avLst/>
          </a:prstGeom>
          <a:noFill/>
          <a:ln/>
        </p:spPr>
        <p:txBody>
          <a:bodyPr wrap="square" lIns="0" tIns="0" rIns="0" bIns="0" rtlCol="0" anchor="t">
            <a:normAutofit/>
          </a:bodyPr>
          <a:lstStyle/>
          <a:p>
            <a:pPr marL="0" indent="0" algn="l">
              <a:lnSpc>
                <a:spcPct val="100000"/>
              </a:lnSpc>
              <a:buNone/>
            </a:pPr>
            <a:r>
              <a:rPr lang="en-US" sz="2200" b="1" dirty="0">
                <a:solidFill>
                  <a:srgbClr val="1E8E5A"/>
                </a:solidFill>
                <a:latin typeface="Cambria" pitchFamily="34" charset="0"/>
                <a:ea typeface="Cambria" pitchFamily="34" charset="-122"/>
                <a:cs typeface="Cambria" pitchFamily="34" charset="-120"/>
              </a:rPr>
              <a:t>BENIGN</a:t>
            </a:r>
            <a:endParaRPr lang="en-US" sz="2200" dirty="0"/>
          </a:p>
        </p:txBody>
      </p:sp>
      <p:sp>
        <p:nvSpPr>
          <p:cNvPr id="26" name="Text 24"/>
          <p:cNvSpPr/>
          <p:nvPr/>
        </p:nvSpPr>
        <p:spPr>
          <a:xfrm>
            <a:off x="4467225" y="4248150"/>
            <a:ext cx="3276600" cy="419100"/>
          </a:xfrm>
          <a:prstGeom prst="rect">
            <a:avLst/>
          </a:prstGeom>
          <a:noFill/>
          <a:ln/>
        </p:spPr>
        <p:txBody>
          <a:bodyPr wrap="square" lIns="0" tIns="0" rIns="0" bIns="0" rtlCol="0" anchor="t">
            <a:normAutofit/>
          </a:bodyPr>
          <a:lstStyle/>
          <a:p>
            <a:pPr marL="0" indent="0" algn="l">
              <a:lnSpc>
                <a:spcPct val="100000"/>
              </a:lnSpc>
              <a:buNone/>
            </a:pPr>
            <a:r>
              <a:rPr lang="en-US" sz="1300" dirty="0">
                <a:solidFill>
                  <a:srgbClr val="12263A"/>
                </a:solidFill>
                <a:latin typeface="Calibri" pitchFamily="34" charset="0"/>
                <a:ea typeface="Calibri" pitchFamily="34" charset="-122"/>
                <a:cs typeface="Calibri" pitchFamily="34" charset="-120"/>
              </a:rPr>
              <a:t>Only provisioned clocks, no legality violation</a:t>
            </a:r>
            <a:endParaRPr lang="en-US" sz="1300" dirty="0"/>
          </a:p>
        </p:txBody>
      </p:sp>
      <p:sp>
        <p:nvSpPr>
          <p:cNvPr id="27" name="Shape 25"/>
          <p:cNvSpPr/>
          <p:nvPr/>
        </p:nvSpPr>
        <p:spPr>
          <a:xfrm>
            <a:off x="4467225" y="4743450"/>
            <a:ext cx="3276600" cy="304800"/>
          </a:xfrm>
          <a:prstGeom prst="roundRect">
            <a:avLst>
              <a:gd name="adj" fmla="val 12000"/>
            </a:avLst>
          </a:prstGeom>
          <a:solidFill>
            <a:srgbClr val="FFFFFF"/>
          </a:solidFill>
          <a:ln w="12700">
            <a:solidFill>
              <a:srgbClr val="1E8E5A"/>
            </a:solidFill>
            <a:prstDash val="solid"/>
          </a:ln>
        </p:spPr>
        <p:txBody>
          <a:bodyPr/>
          <a:lstStyle/>
          <a:p>
            <a:endParaRPr lang="en-IN"/>
          </a:p>
        </p:txBody>
      </p:sp>
      <p:sp>
        <p:nvSpPr>
          <p:cNvPr id="28" name="Text 26"/>
          <p:cNvSpPr/>
          <p:nvPr/>
        </p:nvSpPr>
        <p:spPr>
          <a:xfrm>
            <a:off x="4467225" y="4819650"/>
            <a:ext cx="3276600" cy="190500"/>
          </a:xfrm>
          <a:prstGeom prst="rect">
            <a:avLst/>
          </a:prstGeom>
          <a:noFill/>
          <a:ln/>
        </p:spPr>
        <p:txBody>
          <a:bodyPr wrap="square" lIns="0" tIns="0" rIns="0" bIns="0" rtlCol="0" anchor="t">
            <a:normAutofit/>
          </a:bodyPr>
          <a:lstStyle/>
          <a:p>
            <a:pPr marL="0" indent="0" algn="ctr">
              <a:lnSpc>
                <a:spcPct val="100000"/>
              </a:lnSpc>
              <a:buNone/>
            </a:pPr>
            <a:r>
              <a:rPr lang="en-US" sz="1300" b="1" dirty="0">
                <a:solidFill>
                  <a:srgbClr val="1E8E5A"/>
                </a:solidFill>
                <a:latin typeface="Calibri" pitchFamily="34" charset="0"/>
                <a:ea typeface="Calibri" pitchFamily="34" charset="-122"/>
                <a:cs typeface="Calibri" pitchFamily="34" charset="-120"/>
              </a:rPr>
              <a:t>TOLERATE / HOLDOVER</a:t>
            </a:r>
            <a:endParaRPr lang="en-US" sz="1300" dirty="0"/>
          </a:p>
        </p:txBody>
      </p:sp>
      <p:sp>
        <p:nvSpPr>
          <p:cNvPr id="29" name="Shape 27"/>
          <p:cNvSpPr/>
          <p:nvPr/>
        </p:nvSpPr>
        <p:spPr>
          <a:xfrm>
            <a:off x="7943850" y="3771900"/>
            <a:ext cx="3676650" cy="1409700"/>
          </a:xfrm>
          <a:prstGeom prst="roundRect">
            <a:avLst>
              <a:gd name="adj" fmla="val 2595"/>
            </a:avLst>
          </a:prstGeom>
          <a:solidFill>
            <a:srgbClr val="FFF3D6"/>
          </a:solidFill>
          <a:ln w="12700">
            <a:solidFill>
              <a:srgbClr val="C58B18"/>
            </a:solidFill>
            <a:prstDash val="solid"/>
          </a:ln>
        </p:spPr>
        <p:txBody>
          <a:bodyPr/>
          <a:lstStyle/>
          <a:p>
            <a:endParaRPr lang="en-IN"/>
          </a:p>
        </p:txBody>
      </p:sp>
      <p:sp>
        <p:nvSpPr>
          <p:cNvPr id="30" name="Text 28"/>
          <p:cNvSpPr/>
          <p:nvPr/>
        </p:nvSpPr>
        <p:spPr>
          <a:xfrm>
            <a:off x="8153400" y="3924300"/>
            <a:ext cx="3238500" cy="266700"/>
          </a:xfrm>
          <a:prstGeom prst="rect">
            <a:avLst/>
          </a:prstGeom>
          <a:noFill/>
          <a:ln/>
        </p:spPr>
        <p:txBody>
          <a:bodyPr wrap="square" lIns="0" tIns="0" rIns="0" bIns="0" rtlCol="0" anchor="t">
            <a:normAutofit/>
          </a:bodyPr>
          <a:lstStyle/>
          <a:p>
            <a:pPr marL="0" indent="0" algn="l">
              <a:lnSpc>
                <a:spcPct val="100000"/>
              </a:lnSpc>
              <a:buNone/>
            </a:pPr>
            <a:r>
              <a:rPr lang="en-US" sz="2200" b="1" dirty="0">
                <a:solidFill>
                  <a:srgbClr val="C58B18"/>
                </a:solidFill>
                <a:latin typeface="Cambria" pitchFamily="34" charset="0"/>
                <a:ea typeface="Cambria" pitchFamily="34" charset="-122"/>
                <a:cs typeface="Cambria" pitchFamily="34" charset="-120"/>
              </a:rPr>
              <a:t>UNKNOWN</a:t>
            </a:r>
            <a:endParaRPr lang="en-US" sz="2200" dirty="0"/>
          </a:p>
        </p:txBody>
      </p:sp>
      <p:sp>
        <p:nvSpPr>
          <p:cNvPr id="31" name="Text 29"/>
          <p:cNvSpPr/>
          <p:nvPr/>
        </p:nvSpPr>
        <p:spPr>
          <a:xfrm>
            <a:off x="8153400" y="4248150"/>
            <a:ext cx="3276600" cy="419100"/>
          </a:xfrm>
          <a:prstGeom prst="rect">
            <a:avLst/>
          </a:prstGeom>
          <a:noFill/>
          <a:ln/>
        </p:spPr>
        <p:txBody>
          <a:bodyPr wrap="square" lIns="0" tIns="0" rIns="0" bIns="0" rtlCol="0" anchor="t">
            <a:normAutofit/>
          </a:bodyPr>
          <a:lstStyle/>
          <a:p>
            <a:pPr marL="0" indent="0" algn="l">
              <a:lnSpc>
                <a:spcPct val="100000"/>
              </a:lnSpc>
              <a:buNone/>
            </a:pPr>
            <a:r>
              <a:rPr lang="en-US" sz="1300" dirty="0">
                <a:solidFill>
                  <a:srgbClr val="12263A"/>
                </a:solidFill>
                <a:latin typeface="Calibri" pitchFamily="34" charset="0"/>
                <a:ea typeface="Calibri" pitchFamily="34" charset="-122"/>
                <a:cs typeface="Calibri" pitchFamily="34" charset="-120"/>
              </a:rPr>
              <a:t>Packet evidence cannot distinguish intent</a:t>
            </a:r>
            <a:endParaRPr lang="en-US" sz="1300" dirty="0"/>
          </a:p>
        </p:txBody>
      </p:sp>
      <p:sp>
        <p:nvSpPr>
          <p:cNvPr id="32" name="Shape 30"/>
          <p:cNvSpPr/>
          <p:nvPr/>
        </p:nvSpPr>
        <p:spPr>
          <a:xfrm>
            <a:off x="8153400" y="4743450"/>
            <a:ext cx="3276600" cy="304800"/>
          </a:xfrm>
          <a:prstGeom prst="roundRect">
            <a:avLst>
              <a:gd name="adj" fmla="val 12000"/>
            </a:avLst>
          </a:prstGeom>
          <a:solidFill>
            <a:srgbClr val="FFFFFF"/>
          </a:solidFill>
          <a:ln w="12700">
            <a:solidFill>
              <a:srgbClr val="C58B18"/>
            </a:solidFill>
            <a:prstDash val="solid"/>
          </a:ln>
        </p:spPr>
        <p:txBody>
          <a:bodyPr/>
          <a:lstStyle/>
          <a:p>
            <a:endParaRPr lang="en-IN"/>
          </a:p>
        </p:txBody>
      </p:sp>
      <p:sp>
        <p:nvSpPr>
          <p:cNvPr id="33" name="Text 31"/>
          <p:cNvSpPr/>
          <p:nvPr/>
        </p:nvSpPr>
        <p:spPr>
          <a:xfrm>
            <a:off x="8153400" y="4819650"/>
            <a:ext cx="3276600" cy="190500"/>
          </a:xfrm>
          <a:prstGeom prst="rect">
            <a:avLst/>
          </a:prstGeom>
          <a:noFill/>
          <a:ln/>
        </p:spPr>
        <p:txBody>
          <a:bodyPr wrap="square" lIns="0" tIns="0" rIns="0" bIns="0" rtlCol="0" anchor="t">
            <a:normAutofit/>
          </a:bodyPr>
          <a:lstStyle/>
          <a:p>
            <a:pPr marL="0" indent="0" algn="ctr">
              <a:lnSpc>
                <a:spcPct val="100000"/>
              </a:lnSpc>
              <a:buNone/>
            </a:pPr>
            <a:r>
              <a:rPr lang="en-US" sz="1300" b="1" dirty="0">
                <a:solidFill>
                  <a:srgbClr val="C58B18"/>
                </a:solidFill>
                <a:latin typeface="Calibri" pitchFamily="34" charset="0"/>
                <a:ea typeface="Calibri" pitchFamily="34" charset="-122"/>
                <a:cs typeface="Calibri" pitchFamily="34" charset="-120"/>
              </a:rPr>
              <a:t>ESCALATE</a:t>
            </a:r>
            <a:endParaRPr lang="en-US" sz="1300" dirty="0"/>
          </a:p>
        </p:txBody>
      </p:sp>
      <p:sp>
        <p:nvSpPr>
          <p:cNvPr id="34" name="Text 32"/>
          <p:cNvSpPr/>
          <p:nvPr/>
        </p:nvSpPr>
        <p:spPr>
          <a:xfrm>
            <a:off x="571500" y="5257800"/>
            <a:ext cx="11049000" cy="190500"/>
          </a:xfrm>
          <a:prstGeom prst="rect">
            <a:avLst/>
          </a:prstGeom>
          <a:noFill/>
          <a:ln/>
        </p:spPr>
        <p:txBody>
          <a:bodyPr wrap="square" lIns="0" tIns="0" rIns="0" bIns="0" rtlCol="0" anchor="t">
            <a:normAutofit/>
          </a:bodyPr>
          <a:lstStyle/>
          <a:p>
            <a:pPr marL="0" indent="0" algn="l">
              <a:lnSpc>
                <a:spcPct val="100000"/>
              </a:lnSpc>
              <a:buNone/>
            </a:pPr>
            <a:r>
              <a:rPr lang="en-US" sz="1200" i="1" dirty="0">
                <a:solidFill>
                  <a:srgbClr val="5B6B7C"/>
                </a:solidFill>
                <a:latin typeface="Calibri" pitchFamily="34" charset="0"/>
                <a:ea typeface="Calibri" pitchFamily="34" charset="-122"/>
                <a:cs typeface="Calibri" pitchFamily="34" charset="-120"/>
              </a:rPr>
              <a:t>Recommended response labels only. No corrective action was executed on this testbed.</a:t>
            </a:r>
            <a:endParaRPr lang="en-US" sz="1200" dirty="0"/>
          </a:p>
        </p:txBody>
      </p:sp>
      <p:sp>
        <p:nvSpPr>
          <p:cNvPr id="35" name="Shape 33"/>
          <p:cNvSpPr/>
          <p:nvPr/>
        </p:nvSpPr>
        <p:spPr>
          <a:xfrm>
            <a:off x="571500" y="5581650"/>
            <a:ext cx="11049000" cy="628650"/>
          </a:xfrm>
          <a:prstGeom prst="roundRect">
            <a:avLst>
              <a:gd name="adj" fmla="val 5818"/>
            </a:avLst>
          </a:prstGeom>
          <a:solidFill>
            <a:srgbClr val="0E2440"/>
          </a:solidFill>
          <a:ln w="12700">
            <a:solidFill>
              <a:srgbClr val="0E2440"/>
            </a:solidFill>
            <a:prstDash val="solid"/>
          </a:ln>
        </p:spPr>
        <p:txBody>
          <a:bodyPr/>
          <a:lstStyle/>
          <a:p>
            <a:endParaRPr lang="en-IN"/>
          </a:p>
        </p:txBody>
      </p:sp>
      <p:sp>
        <p:nvSpPr>
          <p:cNvPr id="36" name="Text 34"/>
          <p:cNvSpPr/>
          <p:nvPr/>
        </p:nvSpPr>
        <p:spPr>
          <a:xfrm>
            <a:off x="781050" y="5695950"/>
            <a:ext cx="10629900" cy="419100"/>
          </a:xfrm>
          <a:prstGeom prst="rect">
            <a:avLst/>
          </a:prstGeom>
          <a:noFill/>
          <a:ln/>
        </p:spPr>
        <p:txBody>
          <a:bodyPr wrap="square" lIns="0" tIns="0" rIns="0" bIns="0" rtlCol="0" anchor="t">
            <a:normAutofit/>
          </a:bodyPr>
          <a:lstStyle/>
          <a:p>
            <a:pPr marL="0" indent="0" algn="l">
              <a:lnSpc>
                <a:spcPct val="100000"/>
              </a:lnSpc>
              <a:buNone/>
            </a:pPr>
            <a:r>
              <a:rPr lang="en-US" sz="1220" b="1" dirty="0">
                <a:solidFill>
                  <a:srgbClr val="FFFFFF"/>
                </a:solidFill>
                <a:latin typeface="Cambria" pitchFamily="34" charset="0"/>
                <a:ea typeface="Cambria" pitchFamily="34" charset="-122"/>
                <a:cs typeface="Cambria" pitchFamily="34" charset="-120"/>
              </a:rPr>
              <a:t>The worked discriminator: a grandmaster suddenly changes. It could be B2, a planned failover, or A1, BMCA spoofing. The decisive test is whether the new clock identity appears on the provisioned allow-list and whether a maintenance window is open. Both scenarios were classified correctly at 12/12.</a:t>
            </a:r>
            <a:endParaRPr lang="en-US" sz="1220" dirty="0"/>
          </a:p>
        </p:txBody>
      </p:sp>
      <p:sp>
        <p:nvSpPr>
          <p:cNvPr id="37" name="Shape 35"/>
          <p:cNvSpPr/>
          <p:nvPr/>
        </p:nvSpPr>
        <p:spPr>
          <a:xfrm>
            <a:off x="571500" y="6305550"/>
            <a:ext cx="11049000" cy="495300"/>
          </a:xfrm>
          <a:prstGeom prst="roundRect">
            <a:avLst>
              <a:gd name="adj" fmla="val 7385"/>
            </a:avLst>
          </a:prstGeom>
          <a:solidFill>
            <a:srgbClr val="DDF5EF"/>
          </a:solidFill>
          <a:ln w="12700">
            <a:solidFill>
              <a:srgbClr val="18B89A"/>
            </a:solidFill>
            <a:prstDash val="solid"/>
          </a:ln>
        </p:spPr>
        <p:txBody>
          <a:bodyPr/>
          <a:lstStyle/>
          <a:p>
            <a:endParaRPr lang="en-IN"/>
          </a:p>
        </p:txBody>
      </p:sp>
      <p:sp>
        <p:nvSpPr>
          <p:cNvPr id="38" name="Text 36"/>
          <p:cNvSpPr/>
          <p:nvPr/>
        </p:nvSpPr>
        <p:spPr>
          <a:xfrm>
            <a:off x="781050" y="6429375"/>
            <a:ext cx="10629900" cy="266700"/>
          </a:xfrm>
          <a:prstGeom prst="rect">
            <a:avLst/>
          </a:prstGeom>
          <a:noFill/>
          <a:ln/>
        </p:spPr>
        <p:txBody>
          <a:bodyPr wrap="square" lIns="0" tIns="0" rIns="0" bIns="0" rtlCol="0" anchor="t">
            <a:normAutofit/>
          </a:bodyPr>
          <a:lstStyle/>
          <a:p>
            <a:pPr marL="0" indent="0" algn="l">
              <a:lnSpc>
                <a:spcPct val="100000"/>
              </a:lnSpc>
              <a:buNone/>
            </a:pPr>
            <a:r>
              <a:rPr lang="en-US" sz="1300" b="1" dirty="0">
                <a:solidFill>
                  <a:srgbClr val="0B5547"/>
                </a:solidFill>
                <a:latin typeface="Cambria" pitchFamily="34" charset="0"/>
                <a:ea typeface="Cambria" pitchFamily="34" charset="-122"/>
                <a:cs typeface="Cambria" pitchFamily="34" charset="-120"/>
              </a:rPr>
              <a:t>On the deliberately ambiguous unplanned failover the rule returned UNKNOWN on 12 of 12 runs. A BENIGN call there would be an unsafe over-claim and an ATTACK call a false alarm; both are treated as failures.</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8FAFC"/>
          </a:solidFill>
          <a:ln/>
        </p:spPr>
        <p:txBody>
          <a:bodyPr/>
          <a:lstStyle/>
          <a:p>
            <a:endParaRPr lang="en-IN"/>
          </a:p>
        </p:txBody>
      </p:sp>
      <p:sp>
        <p:nvSpPr>
          <p:cNvPr id="3" name="Shape 1"/>
          <p:cNvSpPr/>
          <p:nvPr/>
        </p:nvSpPr>
        <p:spPr>
          <a:xfrm>
            <a:off x="0" y="0"/>
            <a:ext cx="12192000" cy="114300"/>
          </a:xfrm>
          <a:prstGeom prst="rect">
            <a:avLst/>
          </a:prstGeom>
          <a:solidFill>
            <a:srgbClr val="18B89A"/>
          </a:solidFill>
          <a:ln/>
        </p:spPr>
        <p:txBody>
          <a:bodyPr/>
          <a:lstStyle/>
          <a:p>
            <a:endParaRPr lang="en-IN"/>
          </a:p>
        </p:txBody>
      </p:sp>
      <p:sp>
        <p:nvSpPr>
          <p:cNvPr id="4" name="Text 2"/>
          <p:cNvSpPr/>
          <p:nvPr/>
        </p:nvSpPr>
        <p:spPr>
          <a:xfrm>
            <a:off x="571500" y="209550"/>
            <a:ext cx="11049000" cy="228600"/>
          </a:xfrm>
          <a:prstGeom prst="rect">
            <a:avLst/>
          </a:prstGeom>
          <a:noFill/>
          <a:ln/>
        </p:spPr>
        <p:txBody>
          <a:bodyPr wrap="square" lIns="0" tIns="0" rIns="0" bIns="0" rtlCol="0" anchor="t">
            <a:normAutofit/>
          </a:bodyPr>
          <a:lstStyle/>
          <a:p>
            <a:pPr marL="0" indent="0" algn="l">
              <a:lnSpc>
                <a:spcPct val="100000"/>
              </a:lnSpc>
              <a:buNone/>
            </a:pPr>
            <a:r>
              <a:rPr lang="en-US" sz="1280" b="1" dirty="0">
                <a:solidFill>
                  <a:srgbClr val="1C7293"/>
                </a:solidFill>
                <a:latin typeface="Calibri" pitchFamily="34" charset="0"/>
                <a:ea typeface="Calibri" pitchFamily="34" charset="-122"/>
                <a:cs typeface="Calibri" pitchFamily="34" charset="-120"/>
              </a:rPr>
              <a:t>EXPERIMENT DESIGN</a:t>
            </a:r>
            <a:endParaRPr lang="en-US" sz="1280" dirty="0"/>
          </a:p>
        </p:txBody>
      </p:sp>
      <p:sp>
        <p:nvSpPr>
          <p:cNvPr id="5" name="Text 3"/>
          <p:cNvSpPr/>
          <p:nvPr/>
        </p:nvSpPr>
        <p:spPr>
          <a:xfrm>
            <a:off x="571500" y="447675"/>
            <a:ext cx="11049000" cy="552450"/>
          </a:xfrm>
          <a:prstGeom prst="rect">
            <a:avLst/>
          </a:prstGeom>
          <a:noFill/>
          <a:ln/>
        </p:spPr>
        <p:txBody>
          <a:bodyPr wrap="square" lIns="0" tIns="0" rIns="0" bIns="0" rtlCol="0" anchor="t">
            <a:normAutofit/>
          </a:bodyPr>
          <a:lstStyle/>
          <a:p>
            <a:pPr marL="0" indent="0" algn="l">
              <a:lnSpc>
                <a:spcPct val="100000"/>
              </a:lnSpc>
              <a:buNone/>
            </a:pPr>
            <a:r>
              <a:rPr lang="en-US" sz="3500" b="1" dirty="0">
                <a:solidFill>
                  <a:srgbClr val="12263A"/>
                </a:solidFill>
                <a:latin typeface="Cambria" pitchFamily="34" charset="0"/>
                <a:ea typeface="Cambria" pitchFamily="34" charset="-122"/>
                <a:cs typeface="Cambria" pitchFamily="34" charset="-120"/>
              </a:rPr>
              <a:t>Campaign Design and Reproducibility Controls</a:t>
            </a:r>
            <a:endParaRPr lang="en-US" sz="3500" dirty="0"/>
          </a:p>
        </p:txBody>
      </p:sp>
      <p:sp>
        <p:nvSpPr>
          <p:cNvPr id="6" name="Shape 4"/>
          <p:cNvSpPr/>
          <p:nvPr/>
        </p:nvSpPr>
        <p:spPr>
          <a:xfrm>
            <a:off x="571500" y="1057275"/>
            <a:ext cx="11049000" cy="438150"/>
          </a:xfrm>
          <a:prstGeom prst="roundRect">
            <a:avLst>
              <a:gd name="adj" fmla="val 8348"/>
            </a:avLst>
          </a:prstGeom>
          <a:solidFill>
            <a:srgbClr val="EAF2F8"/>
          </a:solidFill>
          <a:ln w="12700">
            <a:solidFill>
              <a:srgbClr val="D7E1EA"/>
            </a:solidFill>
            <a:prstDash val="solid"/>
          </a:ln>
        </p:spPr>
        <p:txBody>
          <a:bodyPr/>
          <a:lstStyle/>
          <a:p>
            <a:endParaRPr lang="en-IN"/>
          </a:p>
        </p:txBody>
      </p:sp>
      <p:sp>
        <p:nvSpPr>
          <p:cNvPr id="7" name="Text 5"/>
          <p:cNvSpPr/>
          <p:nvPr/>
        </p:nvSpPr>
        <p:spPr>
          <a:xfrm>
            <a:off x="723900" y="1123950"/>
            <a:ext cx="10744200" cy="323850"/>
          </a:xfrm>
          <a:prstGeom prst="rect">
            <a:avLst/>
          </a:prstGeom>
          <a:noFill/>
          <a:ln/>
        </p:spPr>
        <p:txBody>
          <a:bodyPr wrap="square" lIns="0" tIns="0" rIns="0" bIns="0" rtlCol="0" anchor="t">
            <a:normAutofit/>
          </a:bodyPr>
          <a:lstStyle/>
          <a:p>
            <a:pPr marL="0" indent="0" algn="l">
              <a:lnSpc>
                <a:spcPct val="102000"/>
              </a:lnSpc>
              <a:buNone/>
            </a:pPr>
            <a:r>
              <a:rPr lang="en-US" sz="1120" dirty="0">
                <a:solidFill>
                  <a:srgbClr val="5B6B7C"/>
                </a:solidFill>
                <a:latin typeface="Calibri" pitchFamily="34" charset="0"/>
                <a:ea typeface="Calibri" pitchFamily="34" charset="-122"/>
                <a:cs typeface="Calibri" pitchFamily="34" charset="-120"/>
              </a:rPr>
              <a:t>Decision rule SHA-256 hashed before execution (FROZEN.json)  |  Per-replicate randomisation seeded from the replicate number  |  Pre-registered expected verdicts  |  Full run inventory in EVALUATION_V4.json</a:t>
            </a:r>
            <a:endParaRPr lang="en-US" sz="1120" dirty="0"/>
          </a:p>
        </p:txBody>
      </p:sp>
      <p:sp>
        <p:nvSpPr>
          <p:cNvPr id="8" name="Shape 6"/>
          <p:cNvSpPr/>
          <p:nvPr/>
        </p:nvSpPr>
        <p:spPr>
          <a:xfrm>
            <a:off x="571500" y="1676400"/>
            <a:ext cx="2619375" cy="914400"/>
          </a:xfrm>
          <a:prstGeom prst="roundRect">
            <a:avLst>
              <a:gd name="adj" fmla="val 4000"/>
            </a:avLst>
          </a:prstGeom>
          <a:solidFill>
            <a:srgbClr val="0E2440"/>
          </a:solidFill>
          <a:ln w="12700">
            <a:solidFill>
              <a:srgbClr val="0E2440"/>
            </a:solidFill>
            <a:prstDash val="solid"/>
          </a:ln>
        </p:spPr>
        <p:txBody>
          <a:bodyPr/>
          <a:lstStyle/>
          <a:p>
            <a:endParaRPr lang="en-IN"/>
          </a:p>
        </p:txBody>
      </p:sp>
      <p:sp>
        <p:nvSpPr>
          <p:cNvPr id="9" name="Text 7"/>
          <p:cNvSpPr/>
          <p:nvPr/>
        </p:nvSpPr>
        <p:spPr>
          <a:xfrm>
            <a:off x="571500" y="1847850"/>
            <a:ext cx="2619375" cy="381000"/>
          </a:xfrm>
          <a:prstGeom prst="rect">
            <a:avLst/>
          </a:prstGeom>
          <a:noFill/>
          <a:ln/>
        </p:spPr>
        <p:txBody>
          <a:bodyPr wrap="square" lIns="0" tIns="0" rIns="0" bIns="0" rtlCol="0" anchor="t">
            <a:normAutofit/>
          </a:bodyPr>
          <a:lstStyle/>
          <a:p>
            <a:pPr marL="0" indent="0" algn="ctr">
              <a:lnSpc>
                <a:spcPct val="100000"/>
              </a:lnSpc>
              <a:buNone/>
            </a:pPr>
            <a:r>
              <a:rPr lang="en-US" sz="3400" b="1" dirty="0">
                <a:solidFill>
                  <a:srgbClr val="18B89A"/>
                </a:solidFill>
                <a:latin typeface="Cambria" pitchFamily="34" charset="0"/>
                <a:ea typeface="Cambria" pitchFamily="34" charset="-122"/>
                <a:cs typeface="Cambria" pitchFamily="34" charset="-120"/>
              </a:rPr>
              <a:t>168</a:t>
            </a:r>
            <a:endParaRPr lang="en-US" sz="3400" dirty="0"/>
          </a:p>
        </p:txBody>
      </p:sp>
      <p:sp>
        <p:nvSpPr>
          <p:cNvPr id="10" name="Text 8"/>
          <p:cNvSpPr/>
          <p:nvPr/>
        </p:nvSpPr>
        <p:spPr>
          <a:xfrm>
            <a:off x="685800" y="2266950"/>
            <a:ext cx="2390775" cy="228600"/>
          </a:xfrm>
          <a:prstGeom prst="rect">
            <a:avLst/>
          </a:prstGeom>
          <a:noFill/>
          <a:ln/>
        </p:spPr>
        <p:txBody>
          <a:bodyPr wrap="square" lIns="0" tIns="0" rIns="0" bIns="0" rtlCol="0" anchor="t">
            <a:normAutofit/>
          </a:bodyPr>
          <a:lstStyle/>
          <a:p>
            <a:pPr marL="0" indent="0" algn="ctr">
              <a:lnSpc>
                <a:spcPct val="100000"/>
              </a:lnSpc>
              <a:buNone/>
            </a:pPr>
            <a:r>
              <a:rPr lang="en-US" sz="1150" dirty="0">
                <a:solidFill>
                  <a:srgbClr val="CFD9E5"/>
                </a:solidFill>
                <a:latin typeface="Calibri" pitchFamily="34" charset="0"/>
                <a:ea typeface="Calibri" pitchFamily="34" charset="-122"/>
                <a:cs typeface="Calibri" pitchFamily="34" charset="-120"/>
              </a:rPr>
              <a:t>live on-wire runs</a:t>
            </a:r>
            <a:endParaRPr lang="en-US" sz="1150" dirty="0"/>
          </a:p>
        </p:txBody>
      </p:sp>
      <p:sp>
        <p:nvSpPr>
          <p:cNvPr id="11" name="Shape 9"/>
          <p:cNvSpPr/>
          <p:nvPr/>
        </p:nvSpPr>
        <p:spPr>
          <a:xfrm>
            <a:off x="3381375" y="1676400"/>
            <a:ext cx="2619375" cy="914400"/>
          </a:xfrm>
          <a:prstGeom prst="roundRect">
            <a:avLst>
              <a:gd name="adj" fmla="val 4000"/>
            </a:avLst>
          </a:prstGeom>
          <a:solidFill>
            <a:srgbClr val="0E2440"/>
          </a:solidFill>
          <a:ln w="12700">
            <a:solidFill>
              <a:srgbClr val="0E2440"/>
            </a:solidFill>
            <a:prstDash val="solid"/>
          </a:ln>
        </p:spPr>
        <p:txBody>
          <a:bodyPr/>
          <a:lstStyle/>
          <a:p>
            <a:endParaRPr lang="en-IN"/>
          </a:p>
        </p:txBody>
      </p:sp>
      <p:sp>
        <p:nvSpPr>
          <p:cNvPr id="12" name="Text 10"/>
          <p:cNvSpPr/>
          <p:nvPr/>
        </p:nvSpPr>
        <p:spPr>
          <a:xfrm>
            <a:off x="3381375" y="1847850"/>
            <a:ext cx="2619375" cy="381000"/>
          </a:xfrm>
          <a:prstGeom prst="rect">
            <a:avLst/>
          </a:prstGeom>
          <a:noFill/>
          <a:ln/>
        </p:spPr>
        <p:txBody>
          <a:bodyPr wrap="square" lIns="0" tIns="0" rIns="0" bIns="0" rtlCol="0" anchor="t">
            <a:normAutofit/>
          </a:bodyPr>
          <a:lstStyle/>
          <a:p>
            <a:pPr marL="0" indent="0" algn="ctr">
              <a:lnSpc>
                <a:spcPct val="100000"/>
              </a:lnSpc>
              <a:buNone/>
            </a:pPr>
            <a:r>
              <a:rPr lang="en-US" sz="3400" b="1" dirty="0">
                <a:solidFill>
                  <a:srgbClr val="18B89A"/>
                </a:solidFill>
                <a:latin typeface="Cambria" pitchFamily="34" charset="0"/>
                <a:ea typeface="Cambria" pitchFamily="34" charset="-122"/>
                <a:cs typeface="Cambria" pitchFamily="34" charset="-120"/>
              </a:rPr>
              <a:t>14</a:t>
            </a:r>
            <a:endParaRPr lang="en-US" sz="3400" dirty="0"/>
          </a:p>
        </p:txBody>
      </p:sp>
      <p:sp>
        <p:nvSpPr>
          <p:cNvPr id="13" name="Text 11"/>
          <p:cNvSpPr/>
          <p:nvPr/>
        </p:nvSpPr>
        <p:spPr>
          <a:xfrm>
            <a:off x="3495675" y="2266950"/>
            <a:ext cx="2390775" cy="228600"/>
          </a:xfrm>
          <a:prstGeom prst="rect">
            <a:avLst/>
          </a:prstGeom>
          <a:noFill/>
          <a:ln/>
        </p:spPr>
        <p:txBody>
          <a:bodyPr wrap="square" lIns="0" tIns="0" rIns="0" bIns="0" rtlCol="0" anchor="t">
            <a:normAutofit/>
          </a:bodyPr>
          <a:lstStyle/>
          <a:p>
            <a:pPr marL="0" indent="0" algn="ctr">
              <a:lnSpc>
                <a:spcPct val="100000"/>
              </a:lnSpc>
              <a:buNone/>
            </a:pPr>
            <a:r>
              <a:rPr lang="en-US" sz="1150" dirty="0">
                <a:solidFill>
                  <a:srgbClr val="CFD9E5"/>
                </a:solidFill>
                <a:latin typeface="Calibri" pitchFamily="34" charset="0"/>
                <a:ea typeface="Calibri" pitchFamily="34" charset="-122"/>
                <a:cs typeface="Calibri" pitchFamily="34" charset="-120"/>
              </a:rPr>
              <a:t>scenarios</a:t>
            </a:r>
            <a:endParaRPr lang="en-US" sz="1150" dirty="0"/>
          </a:p>
        </p:txBody>
      </p:sp>
      <p:sp>
        <p:nvSpPr>
          <p:cNvPr id="14" name="Shape 12"/>
          <p:cNvSpPr/>
          <p:nvPr/>
        </p:nvSpPr>
        <p:spPr>
          <a:xfrm>
            <a:off x="6191250" y="1676400"/>
            <a:ext cx="2619375" cy="914400"/>
          </a:xfrm>
          <a:prstGeom prst="roundRect">
            <a:avLst>
              <a:gd name="adj" fmla="val 4000"/>
            </a:avLst>
          </a:prstGeom>
          <a:solidFill>
            <a:srgbClr val="0E2440"/>
          </a:solidFill>
          <a:ln w="12700">
            <a:solidFill>
              <a:srgbClr val="0E2440"/>
            </a:solidFill>
            <a:prstDash val="solid"/>
          </a:ln>
        </p:spPr>
        <p:txBody>
          <a:bodyPr/>
          <a:lstStyle/>
          <a:p>
            <a:endParaRPr lang="en-IN"/>
          </a:p>
        </p:txBody>
      </p:sp>
      <p:sp>
        <p:nvSpPr>
          <p:cNvPr id="15" name="Text 13"/>
          <p:cNvSpPr/>
          <p:nvPr/>
        </p:nvSpPr>
        <p:spPr>
          <a:xfrm>
            <a:off x="6191250" y="1847850"/>
            <a:ext cx="2619375" cy="381000"/>
          </a:xfrm>
          <a:prstGeom prst="rect">
            <a:avLst/>
          </a:prstGeom>
          <a:noFill/>
          <a:ln/>
        </p:spPr>
        <p:txBody>
          <a:bodyPr wrap="square" lIns="0" tIns="0" rIns="0" bIns="0" rtlCol="0" anchor="t">
            <a:normAutofit/>
          </a:bodyPr>
          <a:lstStyle/>
          <a:p>
            <a:pPr marL="0" indent="0" algn="ctr">
              <a:lnSpc>
                <a:spcPct val="100000"/>
              </a:lnSpc>
              <a:buNone/>
            </a:pPr>
            <a:r>
              <a:rPr lang="en-US" sz="3400" b="1" dirty="0">
                <a:solidFill>
                  <a:srgbClr val="18B89A"/>
                </a:solidFill>
                <a:latin typeface="Cambria" pitchFamily="34" charset="0"/>
                <a:ea typeface="Cambria" pitchFamily="34" charset="-122"/>
                <a:cs typeface="Cambria" pitchFamily="34" charset="-120"/>
              </a:rPr>
              <a:t>12</a:t>
            </a:r>
            <a:endParaRPr lang="en-US" sz="3400" dirty="0"/>
          </a:p>
        </p:txBody>
      </p:sp>
      <p:sp>
        <p:nvSpPr>
          <p:cNvPr id="16" name="Text 14"/>
          <p:cNvSpPr/>
          <p:nvPr/>
        </p:nvSpPr>
        <p:spPr>
          <a:xfrm>
            <a:off x="6305550" y="2266950"/>
            <a:ext cx="2390775" cy="228600"/>
          </a:xfrm>
          <a:prstGeom prst="rect">
            <a:avLst/>
          </a:prstGeom>
          <a:noFill/>
          <a:ln/>
        </p:spPr>
        <p:txBody>
          <a:bodyPr wrap="square" lIns="0" tIns="0" rIns="0" bIns="0" rtlCol="0" anchor="t">
            <a:normAutofit/>
          </a:bodyPr>
          <a:lstStyle/>
          <a:p>
            <a:pPr marL="0" indent="0" algn="ctr">
              <a:lnSpc>
                <a:spcPct val="100000"/>
              </a:lnSpc>
              <a:buNone/>
            </a:pPr>
            <a:r>
              <a:rPr lang="en-US" sz="1150" dirty="0">
                <a:solidFill>
                  <a:srgbClr val="CFD9E5"/>
                </a:solidFill>
                <a:latin typeface="Calibri" pitchFamily="34" charset="0"/>
                <a:ea typeface="Calibri" pitchFamily="34" charset="-122"/>
                <a:cs typeface="Calibri" pitchFamily="34" charset="-120"/>
              </a:rPr>
              <a:t>randomised replicates each</a:t>
            </a:r>
            <a:endParaRPr lang="en-US" sz="1150" dirty="0"/>
          </a:p>
        </p:txBody>
      </p:sp>
      <p:sp>
        <p:nvSpPr>
          <p:cNvPr id="17" name="Shape 15"/>
          <p:cNvSpPr/>
          <p:nvPr/>
        </p:nvSpPr>
        <p:spPr>
          <a:xfrm>
            <a:off x="9001125" y="1676400"/>
            <a:ext cx="2619375" cy="914400"/>
          </a:xfrm>
          <a:prstGeom prst="roundRect">
            <a:avLst>
              <a:gd name="adj" fmla="val 4000"/>
            </a:avLst>
          </a:prstGeom>
          <a:solidFill>
            <a:srgbClr val="0E2440"/>
          </a:solidFill>
          <a:ln w="12700">
            <a:solidFill>
              <a:srgbClr val="0E2440"/>
            </a:solidFill>
            <a:prstDash val="solid"/>
          </a:ln>
        </p:spPr>
        <p:txBody>
          <a:bodyPr/>
          <a:lstStyle/>
          <a:p>
            <a:endParaRPr lang="en-IN"/>
          </a:p>
        </p:txBody>
      </p:sp>
      <p:sp>
        <p:nvSpPr>
          <p:cNvPr id="18" name="Text 16"/>
          <p:cNvSpPr/>
          <p:nvPr/>
        </p:nvSpPr>
        <p:spPr>
          <a:xfrm>
            <a:off x="9001125" y="1847850"/>
            <a:ext cx="2619375" cy="381000"/>
          </a:xfrm>
          <a:prstGeom prst="rect">
            <a:avLst/>
          </a:prstGeom>
          <a:noFill/>
          <a:ln/>
        </p:spPr>
        <p:txBody>
          <a:bodyPr wrap="square" lIns="0" tIns="0" rIns="0" bIns="0" rtlCol="0" anchor="t">
            <a:normAutofit/>
          </a:bodyPr>
          <a:lstStyle/>
          <a:p>
            <a:pPr marL="0" indent="0" algn="ctr">
              <a:lnSpc>
                <a:spcPct val="100000"/>
              </a:lnSpc>
              <a:buNone/>
            </a:pPr>
            <a:r>
              <a:rPr lang="en-US" sz="3400" b="1" dirty="0">
                <a:solidFill>
                  <a:srgbClr val="18B89A"/>
                </a:solidFill>
                <a:latin typeface="Cambria" pitchFamily="34" charset="0"/>
                <a:ea typeface="Cambria" pitchFamily="34" charset="-122"/>
                <a:cs typeface="Cambria" pitchFamily="34" charset="-120"/>
              </a:rPr>
              <a:t>3</a:t>
            </a:r>
            <a:endParaRPr lang="en-US" sz="3400" dirty="0"/>
          </a:p>
        </p:txBody>
      </p:sp>
      <p:sp>
        <p:nvSpPr>
          <p:cNvPr id="19" name="Text 17"/>
          <p:cNvSpPr/>
          <p:nvPr/>
        </p:nvSpPr>
        <p:spPr>
          <a:xfrm>
            <a:off x="9115425" y="2266950"/>
            <a:ext cx="2390775" cy="228600"/>
          </a:xfrm>
          <a:prstGeom prst="rect">
            <a:avLst/>
          </a:prstGeom>
          <a:noFill/>
          <a:ln/>
        </p:spPr>
        <p:txBody>
          <a:bodyPr wrap="square" lIns="0" tIns="0" rIns="0" bIns="0" rtlCol="0" anchor="t">
            <a:normAutofit/>
          </a:bodyPr>
          <a:lstStyle/>
          <a:p>
            <a:pPr marL="0" indent="0" algn="ctr">
              <a:lnSpc>
                <a:spcPct val="100000"/>
              </a:lnSpc>
              <a:buNone/>
            </a:pPr>
            <a:r>
              <a:rPr lang="en-US" sz="1150" dirty="0">
                <a:solidFill>
                  <a:srgbClr val="CFD9E5"/>
                </a:solidFill>
                <a:latin typeface="Calibri" pitchFamily="34" charset="0"/>
                <a:ea typeface="Calibri" pitchFamily="34" charset="-122"/>
                <a:cs typeface="Calibri" pitchFamily="34" charset="-120"/>
              </a:rPr>
              <a:t>rules scored on identical captures</a:t>
            </a:r>
            <a:endParaRPr lang="en-US" sz="1150" dirty="0"/>
          </a:p>
        </p:txBody>
      </p:sp>
      <p:sp>
        <p:nvSpPr>
          <p:cNvPr id="20" name="Shape 18"/>
          <p:cNvSpPr/>
          <p:nvPr/>
        </p:nvSpPr>
        <p:spPr>
          <a:xfrm>
            <a:off x="571500" y="2819400"/>
            <a:ext cx="11049000" cy="590550"/>
          </a:xfrm>
          <a:prstGeom prst="roundRect">
            <a:avLst>
              <a:gd name="adj" fmla="val 6194"/>
            </a:avLst>
          </a:prstGeom>
          <a:solidFill>
            <a:srgbClr val="FFFFFF"/>
          </a:solidFill>
          <a:ln w="12700">
            <a:solidFill>
              <a:srgbClr val="D7E1EA"/>
            </a:solidFill>
            <a:prstDash val="solid"/>
          </a:ln>
        </p:spPr>
        <p:txBody>
          <a:bodyPr/>
          <a:lstStyle/>
          <a:p>
            <a:endParaRPr lang="en-IN"/>
          </a:p>
        </p:txBody>
      </p:sp>
      <p:sp>
        <p:nvSpPr>
          <p:cNvPr id="21" name="Shape 19"/>
          <p:cNvSpPr/>
          <p:nvPr/>
        </p:nvSpPr>
        <p:spPr>
          <a:xfrm>
            <a:off x="571500" y="2819400"/>
            <a:ext cx="38100" cy="590550"/>
          </a:xfrm>
          <a:prstGeom prst="rect">
            <a:avLst/>
          </a:prstGeom>
          <a:solidFill>
            <a:srgbClr val="18B89A"/>
          </a:solidFill>
          <a:ln/>
        </p:spPr>
        <p:txBody>
          <a:bodyPr/>
          <a:lstStyle/>
          <a:p>
            <a:endParaRPr lang="en-IN"/>
          </a:p>
        </p:txBody>
      </p:sp>
      <p:sp>
        <p:nvSpPr>
          <p:cNvPr id="22" name="Text 20"/>
          <p:cNvSpPr/>
          <p:nvPr/>
        </p:nvSpPr>
        <p:spPr>
          <a:xfrm>
            <a:off x="800100" y="2914650"/>
            <a:ext cx="2857500" cy="228600"/>
          </a:xfrm>
          <a:prstGeom prst="rect">
            <a:avLst/>
          </a:prstGeom>
          <a:noFill/>
          <a:ln/>
        </p:spPr>
        <p:txBody>
          <a:bodyPr wrap="square" lIns="0" tIns="0" rIns="0" bIns="0" rtlCol="0" anchor="t">
            <a:normAutofit/>
          </a:bodyPr>
          <a:lstStyle/>
          <a:p>
            <a:pPr marL="0" indent="0" algn="l">
              <a:lnSpc>
                <a:spcPct val="100000"/>
              </a:lnSpc>
              <a:buNone/>
            </a:pPr>
            <a:r>
              <a:rPr lang="en-US" sz="1500" b="1" dirty="0">
                <a:solidFill>
                  <a:srgbClr val="12263A"/>
                </a:solidFill>
                <a:latin typeface="Cambria" pitchFamily="34" charset="0"/>
                <a:ea typeface="Cambria" pitchFamily="34" charset="-122"/>
                <a:cs typeface="Cambria" pitchFamily="34" charset="-120"/>
              </a:rPr>
              <a:t>Rule frozen before execution</a:t>
            </a:r>
            <a:endParaRPr lang="en-US" sz="1500" dirty="0"/>
          </a:p>
        </p:txBody>
      </p:sp>
      <p:sp>
        <p:nvSpPr>
          <p:cNvPr id="23" name="Text 21"/>
          <p:cNvSpPr/>
          <p:nvPr/>
        </p:nvSpPr>
        <p:spPr>
          <a:xfrm>
            <a:off x="3810000" y="2895600"/>
            <a:ext cx="7620000" cy="476250"/>
          </a:xfrm>
          <a:prstGeom prst="rect">
            <a:avLst/>
          </a:prstGeom>
          <a:noFill/>
          <a:ln/>
        </p:spPr>
        <p:txBody>
          <a:bodyPr wrap="square" lIns="0" tIns="0" rIns="0" bIns="0" rtlCol="0" anchor="t">
            <a:normAutofit/>
          </a:bodyPr>
          <a:lstStyle/>
          <a:p>
            <a:pPr marL="0" indent="0" algn="l">
              <a:lnSpc>
                <a:spcPct val="100000"/>
              </a:lnSpc>
              <a:buNone/>
            </a:pPr>
            <a:r>
              <a:rPr lang="en-US" sz="1320" dirty="0">
                <a:solidFill>
                  <a:srgbClr val="5B6B7C"/>
                </a:solidFill>
                <a:latin typeface="Calibri" pitchFamily="34" charset="0"/>
                <a:ea typeface="Calibri" pitchFamily="34" charset="-122"/>
                <a:cs typeface="Calibri" pitchFamily="34" charset="-120"/>
              </a:rPr>
              <a:t>The base decision rule was SHA-256 hashed before any run started, so it could not be tuned to the outcome. The hash is recorded in the packaged archive.</a:t>
            </a:r>
            <a:endParaRPr lang="en-US" sz="1320" dirty="0"/>
          </a:p>
        </p:txBody>
      </p:sp>
      <p:sp>
        <p:nvSpPr>
          <p:cNvPr id="24" name="Shape 22"/>
          <p:cNvSpPr/>
          <p:nvPr/>
        </p:nvSpPr>
        <p:spPr>
          <a:xfrm>
            <a:off x="571500" y="3467100"/>
            <a:ext cx="11049000" cy="590550"/>
          </a:xfrm>
          <a:prstGeom prst="roundRect">
            <a:avLst>
              <a:gd name="adj" fmla="val 6194"/>
            </a:avLst>
          </a:prstGeom>
          <a:solidFill>
            <a:srgbClr val="FFFFFF"/>
          </a:solidFill>
          <a:ln w="12700">
            <a:solidFill>
              <a:srgbClr val="D7E1EA"/>
            </a:solidFill>
            <a:prstDash val="solid"/>
          </a:ln>
        </p:spPr>
        <p:txBody>
          <a:bodyPr/>
          <a:lstStyle/>
          <a:p>
            <a:endParaRPr lang="en-IN"/>
          </a:p>
        </p:txBody>
      </p:sp>
      <p:sp>
        <p:nvSpPr>
          <p:cNvPr id="25" name="Shape 23"/>
          <p:cNvSpPr/>
          <p:nvPr/>
        </p:nvSpPr>
        <p:spPr>
          <a:xfrm>
            <a:off x="571500" y="3467100"/>
            <a:ext cx="38100" cy="590550"/>
          </a:xfrm>
          <a:prstGeom prst="rect">
            <a:avLst/>
          </a:prstGeom>
          <a:solidFill>
            <a:srgbClr val="18B89A"/>
          </a:solidFill>
          <a:ln/>
        </p:spPr>
        <p:txBody>
          <a:bodyPr/>
          <a:lstStyle/>
          <a:p>
            <a:endParaRPr lang="en-IN"/>
          </a:p>
        </p:txBody>
      </p:sp>
      <p:sp>
        <p:nvSpPr>
          <p:cNvPr id="26" name="Text 24"/>
          <p:cNvSpPr/>
          <p:nvPr/>
        </p:nvSpPr>
        <p:spPr>
          <a:xfrm>
            <a:off x="800100" y="3562350"/>
            <a:ext cx="2857500" cy="228600"/>
          </a:xfrm>
          <a:prstGeom prst="rect">
            <a:avLst/>
          </a:prstGeom>
          <a:noFill/>
          <a:ln/>
        </p:spPr>
        <p:txBody>
          <a:bodyPr wrap="square" lIns="0" tIns="0" rIns="0" bIns="0" rtlCol="0" anchor="t">
            <a:normAutofit/>
          </a:bodyPr>
          <a:lstStyle/>
          <a:p>
            <a:pPr marL="0" indent="0" algn="l">
              <a:lnSpc>
                <a:spcPct val="100000"/>
              </a:lnSpc>
              <a:buNone/>
            </a:pPr>
            <a:r>
              <a:rPr lang="en-US" sz="1500" b="1" dirty="0">
                <a:solidFill>
                  <a:srgbClr val="12263A"/>
                </a:solidFill>
                <a:latin typeface="Cambria" pitchFamily="34" charset="0"/>
                <a:ea typeface="Cambria" pitchFamily="34" charset="-122"/>
                <a:cs typeface="Cambria" pitchFamily="34" charset="-120"/>
              </a:rPr>
              <a:t>Revision history disclosed</a:t>
            </a:r>
            <a:endParaRPr lang="en-US" sz="1500" dirty="0"/>
          </a:p>
        </p:txBody>
      </p:sp>
      <p:sp>
        <p:nvSpPr>
          <p:cNvPr id="27" name="Text 25"/>
          <p:cNvSpPr/>
          <p:nvPr/>
        </p:nvSpPr>
        <p:spPr>
          <a:xfrm>
            <a:off x="3810000" y="3543300"/>
            <a:ext cx="7620000" cy="476250"/>
          </a:xfrm>
          <a:prstGeom prst="rect">
            <a:avLst/>
          </a:prstGeom>
          <a:noFill/>
          <a:ln/>
        </p:spPr>
        <p:txBody>
          <a:bodyPr wrap="square" lIns="0" tIns="0" rIns="0" bIns="0" rtlCol="0" anchor="t">
            <a:normAutofit/>
          </a:bodyPr>
          <a:lstStyle/>
          <a:p>
            <a:pPr marL="0" indent="0" algn="l">
              <a:lnSpc>
                <a:spcPct val="100000"/>
              </a:lnSpc>
              <a:buNone/>
            </a:pPr>
            <a:r>
              <a:rPr lang="en-US" sz="1320" dirty="0">
                <a:solidFill>
                  <a:srgbClr val="5B6B7C"/>
                </a:solidFill>
                <a:latin typeface="Calibri" pitchFamily="34" charset="0"/>
                <a:ea typeface="Calibri" pitchFamily="34" charset="-122"/>
                <a:cs typeface="Calibri" pitchFamily="34" charset="-120"/>
              </a:rPr>
              <a:t>Rule v3 was written after v2 false positives were observed, then re-hashed before scoring. It is reported as a transparent post-observation revision, not as independent validation.</a:t>
            </a:r>
            <a:endParaRPr lang="en-US" sz="1320" dirty="0"/>
          </a:p>
        </p:txBody>
      </p:sp>
      <p:sp>
        <p:nvSpPr>
          <p:cNvPr id="28" name="Shape 26"/>
          <p:cNvSpPr/>
          <p:nvPr/>
        </p:nvSpPr>
        <p:spPr>
          <a:xfrm>
            <a:off x="571500" y="4114800"/>
            <a:ext cx="11049000" cy="590550"/>
          </a:xfrm>
          <a:prstGeom prst="roundRect">
            <a:avLst>
              <a:gd name="adj" fmla="val 6194"/>
            </a:avLst>
          </a:prstGeom>
          <a:solidFill>
            <a:srgbClr val="FFFFFF"/>
          </a:solidFill>
          <a:ln w="12700">
            <a:solidFill>
              <a:srgbClr val="D7E1EA"/>
            </a:solidFill>
            <a:prstDash val="solid"/>
          </a:ln>
        </p:spPr>
        <p:txBody>
          <a:bodyPr/>
          <a:lstStyle/>
          <a:p>
            <a:endParaRPr lang="en-IN"/>
          </a:p>
        </p:txBody>
      </p:sp>
      <p:sp>
        <p:nvSpPr>
          <p:cNvPr id="29" name="Shape 27"/>
          <p:cNvSpPr/>
          <p:nvPr/>
        </p:nvSpPr>
        <p:spPr>
          <a:xfrm>
            <a:off x="571500" y="4114800"/>
            <a:ext cx="38100" cy="590550"/>
          </a:xfrm>
          <a:prstGeom prst="rect">
            <a:avLst/>
          </a:prstGeom>
          <a:solidFill>
            <a:srgbClr val="18B89A"/>
          </a:solidFill>
          <a:ln/>
        </p:spPr>
        <p:txBody>
          <a:bodyPr/>
          <a:lstStyle/>
          <a:p>
            <a:endParaRPr lang="en-IN"/>
          </a:p>
        </p:txBody>
      </p:sp>
      <p:sp>
        <p:nvSpPr>
          <p:cNvPr id="30" name="Text 28"/>
          <p:cNvSpPr/>
          <p:nvPr/>
        </p:nvSpPr>
        <p:spPr>
          <a:xfrm>
            <a:off x="800100" y="4210050"/>
            <a:ext cx="2857500" cy="228600"/>
          </a:xfrm>
          <a:prstGeom prst="rect">
            <a:avLst/>
          </a:prstGeom>
          <a:noFill/>
          <a:ln/>
        </p:spPr>
        <p:txBody>
          <a:bodyPr wrap="square" lIns="0" tIns="0" rIns="0" bIns="0" rtlCol="0" anchor="t">
            <a:normAutofit/>
          </a:bodyPr>
          <a:lstStyle/>
          <a:p>
            <a:pPr marL="0" indent="0" algn="l">
              <a:lnSpc>
                <a:spcPct val="100000"/>
              </a:lnSpc>
              <a:buNone/>
            </a:pPr>
            <a:r>
              <a:rPr lang="en-US" sz="1500" b="1" dirty="0">
                <a:solidFill>
                  <a:srgbClr val="12263A"/>
                </a:solidFill>
                <a:latin typeface="Cambria" pitchFamily="34" charset="0"/>
                <a:ea typeface="Cambria" pitchFamily="34" charset="-122"/>
                <a:cs typeface="Cambria" pitchFamily="34" charset="-120"/>
              </a:rPr>
              <a:t>Pre-registered expectations</a:t>
            </a:r>
            <a:endParaRPr lang="en-US" sz="1500" dirty="0"/>
          </a:p>
        </p:txBody>
      </p:sp>
      <p:sp>
        <p:nvSpPr>
          <p:cNvPr id="31" name="Text 29"/>
          <p:cNvSpPr/>
          <p:nvPr/>
        </p:nvSpPr>
        <p:spPr>
          <a:xfrm>
            <a:off x="3810000" y="4191000"/>
            <a:ext cx="7620000" cy="476250"/>
          </a:xfrm>
          <a:prstGeom prst="rect">
            <a:avLst/>
          </a:prstGeom>
          <a:noFill/>
          <a:ln/>
        </p:spPr>
        <p:txBody>
          <a:bodyPr wrap="square" lIns="0" tIns="0" rIns="0" bIns="0" rtlCol="0" anchor="t">
            <a:normAutofit/>
          </a:bodyPr>
          <a:lstStyle/>
          <a:p>
            <a:pPr marL="0" indent="0" algn="l">
              <a:lnSpc>
                <a:spcPct val="100000"/>
              </a:lnSpc>
              <a:buNone/>
            </a:pPr>
            <a:r>
              <a:rPr lang="en-US" sz="1320" dirty="0">
                <a:solidFill>
                  <a:srgbClr val="5B6B7C"/>
                </a:solidFill>
                <a:latin typeface="Calibri" pitchFamily="34" charset="0"/>
                <a:ea typeface="Calibri" pitchFamily="34" charset="-122"/>
                <a:cs typeface="Calibri" pitchFamily="34" charset="-120"/>
              </a:rPr>
              <a:t>Each scenario's expected verdict was written down in advance. Sensitivity, specificity and abstention are scored on separate axes rather than pooled into one figure.</a:t>
            </a:r>
            <a:endParaRPr lang="en-US" sz="1320" dirty="0"/>
          </a:p>
        </p:txBody>
      </p:sp>
      <p:sp>
        <p:nvSpPr>
          <p:cNvPr id="32" name="Shape 30"/>
          <p:cNvSpPr/>
          <p:nvPr/>
        </p:nvSpPr>
        <p:spPr>
          <a:xfrm>
            <a:off x="571500" y="4762500"/>
            <a:ext cx="11049000" cy="590550"/>
          </a:xfrm>
          <a:prstGeom prst="roundRect">
            <a:avLst>
              <a:gd name="adj" fmla="val 6194"/>
            </a:avLst>
          </a:prstGeom>
          <a:solidFill>
            <a:srgbClr val="FFFFFF"/>
          </a:solidFill>
          <a:ln w="12700">
            <a:solidFill>
              <a:srgbClr val="D7E1EA"/>
            </a:solidFill>
            <a:prstDash val="solid"/>
          </a:ln>
        </p:spPr>
        <p:txBody>
          <a:bodyPr/>
          <a:lstStyle/>
          <a:p>
            <a:endParaRPr lang="en-IN"/>
          </a:p>
        </p:txBody>
      </p:sp>
      <p:sp>
        <p:nvSpPr>
          <p:cNvPr id="33" name="Shape 31"/>
          <p:cNvSpPr/>
          <p:nvPr/>
        </p:nvSpPr>
        <p:spPr>
          <a:xfrm>
            <a:off x="571500" y="4762500"/>
            <a:ext cx="38100" cy="590550"/>
          </a:xfrm>
          <a:prstGeom prst="rect">
            <a:avLst/>
          </a:prstGeom>
          <a:solidFill>
            <a:srgbClr val="18B89A"/>
          </a:solidFill>
          <a:ln/>
        </p:spPr>
        <p:txBody>
          <a:bodyPr/>
          <a:lstStyle/>
          <a:p>
            <a:endParaRPr lang="en-IN"/>
          </a:p>
        </p:txBody>
      </p:sp>
      <p:sp>
        <p:nvSpPr>
          <p:cNvPr id="34" name="Text 32"/>
          <p:cNvSpPr/>
          <p:nvPr/>
        </p:nvSpPr>
        <p:spPr>
          <a:xfrm>
            <a:off x="800100" y="4857750"/>
            <a:ext cx="2857500" cy="228600"/>
          </a:xfrm>
          <a:prstGeom prst="rect">
            <a:avLst/>
          </a:prstGeom>
          <a:noFill/>
          <a:ln/>
        </p:spPr>
        <p:txBody>
          <a:bodyPr wrap="square" lIns="0" tIns="0" rIns="0" bIns="0" rtlCol="0" anchor="t">
            <a:normAutofit/>
          </a:bodyPr>
          <a:lstStyle/>
          <a:p>
            <a:pPr marL="0" indent="0" algn="l">
              <a:lnSpc>
                <a:spcPct val="100000"/>
              </a:lnSpc>
              <a:buNone/>
            </a:pPr>
            <a:r>
              <a:rPr lang="en-US" sz="1500" b="1" dirty="0">
                <a:solidFill>
                  <a:srgbClr val="12263A"/>
                </a:solidFill>
                <a:latin typeface="Cambria" pitchFamily="34" charset="0"/>
                <a:ea typeface="Cambria" pitchFamily="34" charset="-122"/>
                <a:cs typeface="Cambria" pitchFamily="34" charset="-120"/>
              </a:rPr>
              <a:t>Per-replicate randomisation</a:t>
            </a:r>
            <a:endParaRPr lang="en-US" sz="1500" dirty="0"/>
          </a:p>
        </p:txBody>
      </p:sp>
      <p:sp>
        <p:nvSpPr>
          <p:cNvPr id="35" name="Text 33"/>
          <p:cNvSpPr/>
          <p:nvPr/>
        </p:nvSpPr>
        <p:spPr>
          <a:xfrm>
            <a:off x="3810000" y="4838700"/>
            <a:ext cx="7620000" cy="476250"/>
          </a:xfrm>
          <a:prstGeom prst="rect">
            <a:avLst/>
          </a:prstGeom>
          <a:noFill/>
          <a:ln/>
        </p:spPr>
        <p:txBody>
          <a:bodyPr wrap="square" lIns="0" tIns="0" rIns="0" bIns="0" rtlCol="0" anchor="t">
            <a:normAutofit/>
          </a:bodyPr>
          <a:lstStyle/>
          <a:p>
            <a:pPr marL="0" indent="0" algn="l">
              <a:lnSpc>
                <a:spcPct val="100000"/>
              </a:lnSpc>
              <a:buNone/>
            </a:pPr>
            <a:r>
              <a:rPr lang="en-US" sz="1320" dirty="0">
                <a:solidFill>
                  <a:srgbClr val="5B6B7C"/>
                </a:solidFill>
                <a:latin typeface="Calibri" pitchFamily="34" charset="0"/>
                <a:ea typeface="Calibri" pitchFamily="34" charset="-122"/>
                <a:cs typeface="Calibri" pitchFamily="34" charset="-120"/>
              </a:rPr>
              <a:t>Attacker identity, priority, burst size, inter-frame gap and onset are drawn reproducibly from the replicate number, so repeats test generalisation rather than repetition.</a:t>
            </a:r>
            <a:endParaRPr lang="en-US" sz="1320" dirty="0"/>
          </a:p>
        </p:txBody>
      </p:sp>
      <p:sp>
        <p:nvSpPr>
          <p:cNvPr id="36" name="Shape 34"/>
          <p:cNvSpPr/>
          <p:nvPr/>
        </p:nvSpPr>
        <p:spPr>
          <a:xfrm>
            <a:off x="571500" y="5410200"/>
            <a:ext cx="11049000" cy="590550"/>
          </a:xfrm>
          <a:prstGeom prst="roundRect">
            <a:avLst>
              <a:gd name="adj" fmla="val 6194"/>
            </a:avLst>
          </a:prstGeom>
          <a:solidFill>
            <a:srgbClr val="FFFFFF"/>
          </a:solidFill>
          <a:ln w="12700">
            <a:solidFill>
              <a:srgbClr val="D7E1EA"/>
            </a:solidFill>
            <a:prstDash val="solid"/>
          </a:ln>
        </p:spPr>
        <p:txBody>
          <a:bodyPr/>
          <a:lstStyle/>
          <a:p>
            <a:endParaRPr lang="en-IN"/>
          </a:p>
        </p:txBody>
      </p:sp>
      <p:sp>
        <p:nvSpPr>
          <p:cNvPr id="37" name="Shape 35"/>
          <p:cNvSpPr/>
          <p:nvPr/>
        </p:nvSpPr>
        <p:spPr>
          <a:xfrm>
            <a:off x="571500" y="5410200"/>
            <a:ext cx="38100" cy="590550"/>
          </a:xfrm>
          <a:prstGeom prst="rect">
            <a:avLst/>
          </a:prstGeom>
          <a:solidFill>
            <a:srgbClr val="18B89A"/>
          </a:solidFill>
          <a:ln/>
        </p:spPr>
        <p:txBody>
          <a:bodyPr/>
          <a:lstStyle/>
          <a:p>
            <a:endParaRPr lang="en-IN"/>
          </a:p>
        </p:txBody>
      </p:sp>
      <p:sp>
        <p:nvSpPr>
          <p:cNvPr id="38" name="Text 36"/>
          <p:cNvSpPr/>
          <p:nvPr/>
        </p:nvSpPr>
        <p:spPr>
          <a:xfrm>
            <a:off x="800100" y="5505450"/>
            <a:ext cx="2857500" cy="228600"/>
          </a:xfrm>
          <a:prstGeom prst="rect">
            <a:avLst/>
          </a:prstGeom>
          <a:noFill/>
          <a:ln/>
        </p:spPr>
        <p:txBody>
          <a:bodyPr wrap="square" lIns="0" tIns="0" rIns="0" bIns="0" rtlCol="0" anchor="t">
            <a:normAutofit/>
          </a:bodyPr>
          <a:lstStyle/>
          <a:p>
            <a:pPr marL="0" indent="0" algn="l">
              <a:lnSpc>
                <a:spcPct val="100000"/>
              </a:lnSpc>
              <a:buNone/>
            </a:pPr>
            <a:r>
              <a:rPr lang="en-US" sz="1500" b="1" dirty="0">
                <a:solidFill>
                  <a:srgbClr val="12263A"/>
                </a:solidFill>
                <a:latin typeface="Cambria" pitchFamily="34" charset="0"/>
                <a:ea typeface="Cambria" pitchFamily="34" charset="-122"/>
                <a:cs typeface="Cambria" pitchFamily="34" charset="-120"/>
              </a:rPr>
              <a:t>Per-scenario reporting</a:t>
            </a:r>
            <a:endParaRPr lang="en-US" sz="1500" dirty="0"/>
          </a:p>
        </p:txBody>
      </p:sp>
      <p:sp>
        <p:nvSpPr>
          <p:cNvPr id="39" name="Text 37"/>
          <p:cNvSpPr/>
          <p:nvPr/>
        </p:nvSpPr>
        <p:spPr>
          <a:xfrm>
            <a:off x="3810000" y="5486400"/>
            <a:ext cx="7620000" cy="476250"/>
          </a:xfrm>
          <a:prstGeom prst="rect">
            <a:avLst/>
          </a:prstGeom>
          <a:noFill/>
          <a:ln/>
        </p:spPr>
        <p:txBody>
          <a:bodyPr wrap="square" lIns="0" tIns="0" rIns="0" bIns="0" rtlCol="0" anchor="t">
            <a:normAutofit/>
          </a:bodyPr>
          <a:lstStyle/>
          <a:p>
            <a:pPr marL="0" indent="0" algn="l">
              <a:lnSpc>
                <a:spcPct val="100000"/>
              </a:lnSpc>
              <a:buNone/>
            </a:pPr>
            <a:r>
              <a:rPr lang="en-US" sz="1320" dirty="0">
                <a:solidFill>
                  <a:srgbClr val="5B6B7C"/>
                </a:solidFill>
                <a:latin typeface="Calibri" pitchFamily="34" charset="0"/>
                <a:ea typeface="Calibri" pitchFamily="34" charset="-122"/>
                <a:cs typeface="Calibri" pitchFamily="34" charset="-120"/>
              </a:rPr>
              <a:t>Per-scenario recall is the primary metric. Pooled figures move with how many runs of each scenario exist, so they are labelled descriptive only.</a:t>
            </a:r>
            <a:endParaRPr lang="en-US" sz="1320" dirty="0"/>
          </a:p>
        </p:txBody>
      </p:sp>
      <p:sp>
        <p:nvSpPr>
          <p:cNvPr id="40" name="Shape 38"/>
          <p:cNvSpPr/>
          <p:nvPr/>
        </p:nvSpPr>
        <p:spPr>
          <a:xfrm>
            <a:off x="571500" y="6076950"/>
            <a:ext cx="11049000" cy="552450"/>
          </a:xfrm>
          <a:prstGeom prst="roundRect">
            <a:avLst>
              <a:gd name="adj" fmla="val 6621"/>
            </a:avLst>
          </a:prstGeom>
          <a:solidFill>
            <a:srgbClr val="FFF8E8"/>
          </a:solidFill>
          <a:ln w="12700">
            <a:solidFill>
              <a:srgbClr val="C58B18"/>
            </a:solidFill>
            <a:prstDash val="solid"/>
          </a:ln>
        </p:spPr>
        <p:txBody>
          <a:bodyPr/>
          <a:lstStyle/>
          <a:p>
            <a:endParaRPr lang="en-IN"/>
          </a:p>
        </p:txBody>
      </p:sp>
      <p:sp>
        <p:nvSpPr>
          <p:cNvPr id="41" name="Text 39"/>
          <p:cNvSpPr/>
          <p:nvPr/>
        </p:nvSpPr>
        <p:spPr>
          <a:xfrm>
            <a:off x="781050" y="6219825"/>
            <a:ext cx="1809750" cy="238125"/>
          </a:xfrm>
          <a:prstGeom prst="rect">
            <a:avLst/>
          </a:prstGeom>
          <a:noFill/>
          <a:ln/>
        </p:spPr>
        <p:txBody>
          <a:bodyPr wrap="square" lIns="0" tIns="0" rIns="0" bIns="0" rtlCol="0" anchor="t">
            <a:normAutofit/>
          </a:bodyPr>
          <a:lstStyle/>
          <a:p>
            <a:pPr marL="0" indent="0" algn="l">
              <a:lnSpc>
                <a:spcPct val="100000"/>
              </a:lnSpc>
              <a:buNone/>
            </a:pPr>
            <a:r>
              <a:rPr lang="en-US" sz="1600" b="1" dirty="0">
                <a:solidFill>
                  <a:srgbClr val="C58B18"/>
                </a:solidFill>
                <a:latin typeface="Cambria" pitchFamily="34" charset="0"/>
                <a:ea typeface="Cambria" pitchFamily="34" charset="-122"/>
                <a:cs typeface="Cambria" pitchFamily="34" charset="-120"/>
              </a:rPr>
              <a:t>Design limit</a:t>
            </a:r>
            <a:endParaRPr lang="en-US" sz="1600" dirty="0"/>
          </a:p>
        </p:txBody>
      </p:sp>
      <p:sp>
        <p:nvSpPr>
          <p:cNvPr id="42" name="Text 40"/>
          <p:cNvSpPr/>
          <p:nvPr/>
        </p:nvSpPr>
        <p:spPr>
          <a:xfrm>
            <a:off x="2781300" y="6200775"/>
            <a:ext cx="8629650" cy="323850"/>
          </a:xfrm>
          <a:prstGeom prst="rect">
            <a:avLst/>
          </a:prstGeom>
          <a:noFill/>
          <a:ln/>
        </p:spPr>
        <p:txBody>
          <a:bodyPr wrap="square" lIns="0" tIns="0" rIns="0" bIns="0" rtlCol="0" anchor="t">
            <a:normAutofit/>
          </a:bodyPr>
          <a:lstStyle/>
          <a:p>
            <a:pPr marL="0" indent="0" algn="l">
              <a:lnSpc>
                <a:spcPct val="100000"/>
              </a:lnSpc>
              <a:buNone/>
            </a:pPr>
            <a:r>
              <a:rPr lang="en-US" sz="1320" b="1" dirty="0">
                <a:solidFill>
                  <a:srgbClr val="12263A"/>
                </a:solidFill>
                <a:latin typeface="Calibri" pitchFamily="34" charset="0"/>
                <a:ea typeface="Calibri" pitchFamily="34" charset="-122"/>
                <a:cs typeface="Calibri" pitchFamily="34" charset="-120"/>
              </a:rPr>
              <a:t>The three C-series scenarios draw from only four to five distinct randomised parameter values, so twelve replicates are twelve genuine captures but not twelve independent attack designs.</a:t>
            </a:r>
            <a:endParaRPr lang="en-US" sz="132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8FAFC"/>
          </a:solidFill>
          <a:ln/>
        </p:spPr>
        <p:txBody>
          <a:bodyPr/>
          <a:lstStyle/>
          <a:p>
            <a:endParaRPr lang="en-IN"/>
          </a:p>
        </p:txBody>
      </p:sp>
      <p:sp>
        <p:nvSpPr>
          <p:cNvPr id="3" name="Shape 1"/>
          <p:cNvSpPr/>
          <p:nvPr/>
        </p:nvSpPr>
        <p:spPr>
          <a:xfrm>
            <a:off x="0" y="0"/>
            <a:ext cx="12192000" cy="114300"/>
          </a:xfrm>
          <a:prstGeom prst="rect">
            <a:avLst/>
          </a:prstGeom>
          <a:solidFill>
            <a:srgbClr val="18B89A"/>
          </a:solidFill>
          <a:ln/>
        </p:spPr>
        <p:txBody>
          <a:bodyPr/>
          <a:lstStyle/>
          <a:p>
            <a:endParaRPr lang="en-IN"/>
          </a:p>
        </p:txBody>
      </p:sp>
      <p:sp>
        <p:nvSpPr>
          <p:cNvPr id="4" name="Text 2"/>
          <p:cNvSpPr/>
          <p:nvPr/>
        </p:nvSpPr>
        <p:spPr>
          <a:xfrm>
            <a:off x="571500" y="209550"/>
            <a:ext cx="11049000" cy="228600"/>
          </a:xfrm>
          <a:prstGeom prst="rect">
            <a:avLst/>
          </a:prstGeom>
          <a:noFill/>
          <a:ln/>
        </p:spPr>
        <p:txBody>
          <a:bodyPr wrap="square" lIns="0" tIns="0" rIns="0" bIns="0" rtlCol="0" anchor="t">
            <a:normAutofit/>
          </a:bodyPr>
          <a:lstStyle/>
          <a:p>
            <a:pPr marL="0" indent="0" algn="l">
              <a:lnSpc>
                <a:spcPct val="100000"/>
              </a:lnSpc>
              <a:buNone/>
            </a:pPr>
            <a:r>
              <a:rPr lang="en-US" sz="1280" b="1" dirty="0">
                <a:solidFill>
                  <a:srgbClr val="1C7293"/>
                </a:solidFill>
                <a:latin typeface="Calibri" pitchFamily="34" charset="0"/>
                <a:ea typeface="Calibri" pitchFamily="34" charset="-122"/>
                <a:cs typeface="Calibri" pitchFamily="34" charset="-120"/>
              </a:rPr>
              <a:t>EXPERIMENTAL INTEGRITY</a:t>
            </a:r>
            <a:endParaRPr lang="en-US" sz="1280" dirty="0"/>
          </a:p>
        </p:txBody>
      </p:sp>
      <p:sp>
        <p:nvSpPr>
          <p:cNvPr id="5" name="Text 3"/>
          <p:cNvSpPr/>
          <p:nvPr/>
        </p:nvSpPr>
        <p:spPr>
          <a:xfrm>
            <a:off x="571500" y="447675"/>
            <a:ext cx="11049000" cy="552450"/>
          </a:xfrm>
          <a:prstGeom prst="rect">
            <a:avLst/>
          </a:prstGeom>
          <a:noFill/>
          <a:ln/>
        </p:spPr>
        <p:txBody>
          <a:bodyPr wrap="square" lIns="0" tIns="0" rIns="0" bIns="0" rtlCol="0" anchor="t">
            <a:normAutofit/>
          </a:bodyPr>
          <a:lstStyle/>
          <a:p>
            <a:pPr marL="0" indent="0" algn="l">
              <a:lnSpc>
                <a:spcPct val="100000"/>
              </a:lnSpc>
              <a:buNone/>
            </a:pPr>
            <a:r>
              <a:rPr lang="en-US" sz="3500" b="1" dirty="0">
                <a:solidFill>
                  <a:srgbClr val="12263A"/>
                </a:solidFill>
                <a:latin typeface="Cambria" pitchFamily="34" charset="0"/>
                <a:ea typeface="Cambria" pitchFamily="34" charset="-122"/>
                <a:cs typeface="Cambria" pitchFamily="34" charset="-120"/>
              </a:rPr>
              <a:t>Pipeline Audit and Corrective Reruns</a:t>
            </a:r>
            <a:endParaRPr lang="en-US" sz="3500" dirty="0"/>
          </a:p>
        </p:txBody>
      </p:sp>
      <p:sp>
        <p:nvSpPr>
          <p:cNvPr id="6" name="Shape 4"/>
          <p:cNvSpPr/>
          <p:nvPr/>
        </p:nvSpPr>
        <p:spPr>
          <a:xfrm>
            <a:off x="571500" y="1057275"/>
            <a:ext cx="11049000" cy="438150"/>
          </a:xfrm>
          <a:prstGeom prst="roundRect">
            <a:avLst>
              <a:gd name="adj" fmla="val 8348"/>
            </a:avLst>
          </a:prstGeom>
          <a:solidFill>
            <a:srgbClr val="EAF2F8"/>
          </a:solidFill>
          <a:ln w="12700">
            <a:solidFill>
              <a:srgbClr val="D7E1EA"/>
            </a:solidFill>
            <a:prstDash val="solid"/>
          </a:ln>
        </p:spPr>
        <p:txBody>
          <a:bodyPr/>
          <a:lstStyle/>
          <a:p>
            <a:endParaRPr lang="en-IN"/>
          </a:p>
        </p:txBody>
      </p:sp>
      <p:sp>
        <p:nvSpPr>
          <p:cNvPr id="7" name="Text 5"/>
          <p:cNvSpPr/>
          <p:nvPr/>
        </p:nvSpPr>
        <p:spPr>
          <a:xfrm>
            <a:off x="723900" y="1123950"/>
            <a:ext cx="10744200" cy="323850"/>
          </a:xfrm>
          <a:prstGeom prst="rect">
            <a:avLst/>
          </a:prstGeom>
          <a:noFill/>
          <a:ln/>
        </p:spPr>
        <p:txBody>
          <a:bodyPr wrap="square" lIns="0" tIns="0" rIns="0" bIns="0" rtlCol="0" anchor="t">
            <a:normAutofit/>
          </a:bodyPr>
          <a:lstStyle/>
          <a:p>
            <a:pPr marL="0" indent="0" algn="l">
              <a:lnSpc>
                <a:spcPct val="102000"/>
              </a:lnSpc>
              <a:buNone/>
            </a:pPr>
            <a:r>
              <a:rPr lang="en-US" sz="1120" dirty="0">
                <a:solidFill>
                  <a:srgbClr val="5B6B7C"/>
                </a:solidFill>
                <a:latin typeface="Calibri" pitchFamily="34" charset="0"/>
                <a:ea typeface="Calibri" pitchFamily="34" charset="-122"/>
                <a:cs typeface="Calibri" pitchFamily="34" charset="-120"/>
              </a:rPr>
              <a:t>Independent audit of the campaign apparatus, 2026-09-20  |  Defect evidence and corrective actions recorded in AUDIT_AND_CORRECTIONS  |  All affected runs re-executed before any result in this deck was computed</a:t>
            </a:r>
            <a:endParaRPr lang="en-US" sz="1120" dirty="0"/>
          </a:p>
        </p:txBody>
      </p:sp>
      <p:sp>
        <p:nvSpPr>
          <p:cNvPr id="8" name="Text 6"/>
          <p:cNvSpPr/>
          <p:nvPr/>
        </p:nvSpPr>
        <p:spPr>
          <a:xfrm>
            <a:off x="571500" y="1638300"/>
            <a:ext cx="11049000" cy="400050"/>
          </a:xfrm>
          <a:prstGeom prst="rect">
            <a:avLst/>
          </a:prstGeom>
          <a:noFill/>
          <a:ln/>
        </p:spPr>
        <p:txBody>
          <a:bodyPr wrap="square" lIns="0" tIns="0" rIns="0" bIns="0" rtlCol="0" anchor="t">
            <a:normAutofit/>
          </a:bodyPr>
          <a:lstStyle/>
          <a:p>
            <a:pPr marL="0" indent="0" algn="l">
              <a:lnSpc>
                <a:spcPct val="100000"/>
              </a:lnSpc>
              <a:buNone/>
            </a:pPr>
            <a:r>
              <a:rPr lang="en-US" sz="1500" dirty="0">
                <a:solidFill>
                  <a:srgbClr val="5B6B7C"/>
                </a:solidFill>
                <a:latin typeface="Calibri" pitchFamily="34" charset="0"/>
                <a:ea typeface="Calibri" pitchFamily="34" charset="-122"/>
                <a:cs typeface="Calibri" pitchFamily="34" charset="-120"/>
              </a:rPr>
              <a:t>A cross-check audit of the campaign apparatus identified four defects. Two of them had produced invalid data. Every affected run was re-executed, and the results reported later in this deck are computed only from the corrected campaign.</a:t>
            </a:r>
            <a:endParaRPr lang="en-US" sz="1500" dirty="0"/>
          </a:p>
        </p:txBody>
      </p:sp>
      <p:sp>
        <p:nvSpPr>
          <p:cNvPr id="9" name="Shape 7"/>
          <p:cNvSpPr/>
          <p:nvPr/>
        </p:nvSpPr>
        <p:spPr>
          <a:xfrm>
            <a:off x="571500" y="2152650"/>
            <a:ext cx="11049000" cy="914400"/>
          </a:xfrm>
          <a:prstGeom prst="roundRect">
            <a:avLst>
              <a:gd name="adj" fmla="val 4000"/>
            </a:avLst>
          </a:prstGeom>
          <a:solidFill>
            <a:srgbClr val="FFFFFF"/>
          </a:solidFill>
          <a:ln w="12700">
            <a:solidFill>
              <a:srgbClr val="D7E1EA"/>
            </a:solidFill>
            <a:prstDash val="solid"/>
          </a:ln>
        </p:spPr>
        <p:txBody>
          <a:bodyPr/>
          <a:lstStyle/>
          <a:p>
            <a:endParaRPr lang="en-IN"/>
          </a:p>
        </p:txBody>
      </p:sp>
      <p:sp>
        <p:nvSpPr>
          <p:cNvPr id="10" name="Shape 8"/>
          <p:cNvSpPr/>
          <p:nvPr/>
        </p:nvSpPr>
        <p:spPr>
          <a:xfrm>
            <a:off x="571500" y="2152650"/>
            <a:ext cx="47625" cy="914400"/>
          </a:xfrm>
          <a:prstGeom prst="rect">
            <a:avLst/>
          </a:prstGeom>
          <a:solidFill>
            <a:srgbClr val="B3402F"/>
          </a:solidFill>
          <a:ln/>
        </p:spPr>
        <p:txBody>
          <a:bodyPr/>
          <a:lstStyle/>
          <a:p>
            <a:endParaRPr lang="en-IN"/>
          </a:p>
        </p:txBody>
      </p:sp>
      <p:sp>
        <p:nvSpPr>
          <p:cNvPr id="11" name="Text 9"/>
          <p:cNvSpPr/>
          <p:nvPr/>
        </p:nvSpPr>
        <p:spPr>
          <a:xfrm>
            <a:off x="800100" y="2247900"/>
            <a:ext cx="4000500" cy="419100"/>
          </a:xfrm>
          <a:prstGeom prst="rect">
            <a:avLst/>
          </a:prstGeom>
          <a:noFill/>
          <a:ln/>
        </p:spPr>
        <p:txBody>
          <a:bodyPr wrap="square" lIns="0" tIns="0" rIns="0" bIns="0" rtlCol="0" anchor="t">
            <a:normAutofit/>
          </a:bodyPr>
          <a:lstStyle/>
          <a:p>
            <a:pPr marL="0" indent="0" algn="l">
              <a:lnSpc>
                <a:spcPct val="100000"/>
              </a:lnSpc>
              <a:buNone/>
            </a:pPr>
            <a:r>
              <a:rPr lang="en-US" sz="1450" b="1" dirty="0">
                <a:solidFill>
                  <a:srgbClr val="12263A"/>
                </a:solidFill>
                <a:latin typeface="Cambria" pitchFamily="34" charset="0"/>
                <a:ea typeface="Cambria" pitchFamily="34" charset="-122"/>
                <a:cs typeface="Cambria" pitchFamily="34" charset="-120"/>
              </a:rPr>
              <a:t>Thirty-six replicates were three captures copied twelve times</a:t>
            </a:r>
            <a:endParaRPr lang="en-US" sz="1450" dirty="0"/>
          </a:p>
        </p:txBody>
      </p:sp>
      <p:sp>
        <p:nvSpPr>
          <p:cNvPr id="12" name="Text 10"/>
          <p:cNvSpPr/>
          <p:nvPr/>
        </p:nvSpPr>
        <p:spPr>
          <a:xfrm>
            <a:off x="800100" y="2686050"/>
            <a:ext cx="4000500" cy="342900"/>
          </a:xfrm>
          <a:prstGeom prst="rect">
            <a:avLst/>
          </a:prstGeom>
          <a:noFill/>
          <a:ln/>
        </p:spPr>
        <p:txBody>
          <a:bodyPr wrap="square" lIns="0" tIns="0" rIns="0" bIns="0" rtlCol="0" anchor="t">
            <a:normAutofit/>
          </a:bodyPr>
          <a:lstStyle/>
          <a:p>
            <a:pPr marL="0" indent="0" algn="l">
              <a:lnSpc>
                <a:spcPct val="100000"/>
              </a:lnSpc>
              <a:buNone/>
            </a:pPr>
            <a:r>
              <a:rPr lang="en-US" sz="1160" dirty="0">
                <a:solidFill>
                  <a:srgbClr val="5B6B7C"/>
                </a:solidFill>
                <a:latin typeface="Calibri" pitchFamily="34" charset="0"/>
                <a:ea typeface="Calibri" pitchFamily="34" charset="-122"/>
                <a:cs typeface="Calibri" pitchFamily="34" charset="-120"/>
              </a:rPr>
              <a:t>A runner script was created without the execute bit. The resulting exit code 126 was silenced by output redirection, and a stale capture then satisfied the packet-count validity guard.</a:t>
            </a:r>
            <a:endParaRPr lang="en-US" sz="1160" dirty="0"/>
          </a:p>
        </p:txBody>
      </p:sp>
      <p:sp>
        <p:nvSpPr>
          <p:cNvPr id="13" name="Text 11"/>
          <p:cNvSpPr/>
          <p:nvPr/>
        </p:nvSpPr>
        <p:spPr>
          <a:xfrm>
            <a:off x="5048250" y="2247900"/>
            <a:ext cx="5048250" cy="762000"/>
          </a:xfrm>
          <a:prstGeom prst="rect">
            <a:avLst/>
          </a:prstGeom>
          <a:noFill/>
          <a:ln/>
        </p:spPr>
        <p:txBody>
          <a:bodyPr wrap="square" lIns="0" tIns="0" rIns="0" bIns="0" rtlCol="0" anchor="t">
            <a:normAutofit/>
          </a:bodyPr>
          <a:lstStyle/>
          <a:p>
            <a:pPr marL="0" indent="0" algn="l">
              <a:lnSpc>
                <a:spcPct val="100000"/>
              </a:lnSpc>
              <a:buNone/>
            </a:pPr>
            <a:r>
              <a:rPr lang="en-US" sz="1260" dirty="0">
                <a:solidFill>
                  <a:srgbClr val="5B6B7C"/>
                </a:solidFill>
                <a:latin typeface="Calibri" pitchFamily="34" charset="0"/>
                <a:ea typeface="Calibri" pitchFamily="34" charset="-122"/>
                <a:cs typeface="Calibri" pitchFamily="34" charset="-120"/>
              </a:rPr>
              <a:t>Proof: one distinct SHA-256 across twelve supposed replicates, and completion in under one second where a genuine run takes about 48 seconds.</a:t>
            </a:r>
            <a:endParaRPr lang="en-US" sz="1260" dirty="0"/>
          </a:p>
        </p:txBody>
      </p:sp>
      <p:sp>
        <p:nvSpPr>
          <p:cNvPr id="14" name="Shape 12"/>
          <p:cNvSpPr/>
          <p:nvPr/>
        </p:nvSpPr>
        <p:spPr>
          <a:xfrm>
            <a:off x="10287000" y="2476500"/>
            <a:ext cx="1181100" cy="266700"/>
          </a:xfrm>
          <a:prstGeom prst="roundRect">
            <a:avLst>
              <a:gd name="adj" fmla="val 13714"/>
            </a:avLst>
          </a:prstGeom>
          <a:solidFill>
            <a:srgbClr val="EAF2F8"/>
          </a:solidFill>
          <a:ln w="12700">
            <a:solidFill>
              <a:srgbClr val="D7E1EA"/>
            </a:solidFill>
            <a:prstDash val="solid"/>
          </a:ln>
        </p:spPr>
        <p:txBody>
          <a:bodyPr/>
          <a:lstStyle/>
          <a:p>
            <a:endParaRPr lang="en-IN"/>
          </a:p>
        </p:txBody>
      </p:sp>
      <p:sp>
        <p:nvSpPr>
          <p:cNvPr id="15" name="Text 13"/>
          <p:cNvSpPr/>
          <p:nvPr/>
        </p:nvSpPr>
        <p:spPr>
          <a:xfrm>
            <a:off x="10287000" y="2533650"/>
            <a:ext cx="1181100" cy="171450"/>
          </a:xfrm>
          <a:prstGeom prst="rect">
            <a:avLst/>
          </a:prstGeom>
          <a:noFill/>
          <a:ln/>
        </p:spPr>
        <p:txBody>
          <a:bodyPr wrap="square" lIns="0" tIns="0" rIns="0" bIns="0" rtlCol="0" anchor="t">
            <a:normAutofit/>
          </a:bodyPr>
          <a:lstStyle/>
          <a:p>
            <a:pPr marL="0" indent="0" algn="ctr">
              <a:lnSpc>
                <a:spcPct val="100000"/>
              </a:lnSpc>
              <a:buNone/>
            </a:pPr>
            <a:r>
              <a:rPr lang="en-US" sz="1050" b="1" dirty="0">
                <a:solidFill>
                  <a:srgbClr val="1C7293"/>
                </a:solidFill>
                <a:latin typeface="Calibri" pitchFamily="34" charset="0"/>
                <a:ea typeface="Calibri" pitchFamily="34" charset="-122"/>
                <a:cs typeface="Calibri" pitchFamily="34" charset="-120"/>
              </a:rPr>
              <a:t>FIXED · re-run</a:t>
            </a:r>
            <a:endParaRPr lang="en-US" sz="1050" dirty="0"/>
          </a:p>
        </p:txBody>
      </p:sp>
      <p:sp>
        <p:nvSpPr>
          <p:cNvPr id="16" name="Shape 14"/>
          <p:cNvSpPr/>
          <p:nvPr/>
        </p:nvSpPr>
        <p:spPr>
          <a:xfrm>
            <a:off x="571500" y="3162300"/>
            <a:ext cx="11049000" cy="914400"/>
          </a:xfrm>
          <a:prstGeom prst="roundRect">
            <a:avLst>
              <a:gd name="adj" fmla="val 4000"/>
            </a:avLst>
          </a:prstGeom>
          <a:solidFill>
            <a:srgbClr val="FFFFFF"/>
          </a:solidFill>
          <a:ln w="12700">
            <a:solidFill>
              <a:srgbClr val="D7E1EA"/>
            </a:solidFill>
            <a:prstDash val="solid"/>
          </a:ln>
        </p:spPr>
        <p:txBody>
          <a:bodyPr/>
          <a:lstStyle/>
          <a:p>
            <a:endParaRPr lang="en-IN"/>
          </a:p>
        </p:txBody>
      </p:sp>
      <p:sp>
        <p:nvSpPr>
          <p:cNvPr id="17" name="Shape 15"/>
          <p:cNvSpPr/>
          <p:nvPr/>
        </p:nvSpPr>
        <p:spPr>
          <a:xfrm>
            <a:off x="571500" y="3162300"/>
            <a:ext cx="47625" cy="914400"/>
          </a:xfrm>
          <a:prstGeom prst="rect">
            <a:avLst/>
          </a:prstGeom>
          <a:solidFill>
            <a:srgbClr val="B3402F"/>
          </a:solidFill>
          <a:ln/>
        </p:spPr>
        <p:txBody>
          <a:bodyPr/>
          <a:lstStyle/>
          <a:p>
            <a:endParaRPr lang="en-IN"/>
          </a:p>
        </p:txBody>
      </p:sp>
      <p:sp>
        <p:nvSpPr>
          <p:cNvPr id="18" name="Text 16"/>
          <p:cNvSpPr/>
          <p:nvPr/>
        </p:nvSpPr>
        <p:spPr>
          <a:xfrm>
            <a:off x="800100" y="3257550"/>
            <a:ext cx="4000500" cy="419100"/>
          </a:xfrm>
          <a:prstGeom prst="rect">
            <a:avLst/>
          </a:prstGeom>
          <a:noFill/>
          <a:ln/>
        </p:spPr>
        <p:txBody>
          <a:bodyPr wrap="square" lIns="0" tIns="0" rIns="0" bIns="0" rtlCol="0" anchor="t">
            <a:normAutofit/>
          </a:bodyPr>
          <a:lstStyle/>
          <a:p>
            <a:pPr marL="0" indent="0" algn="l">
              <a:lnSpc>
                <a:spcPct val="100000"/>
              </a:lnSpc>
              <a:buNone/>
            </a:pPr>
            <a:r>
              <a:rPr lang="en-US" sz="1450" b="1" dirty="0">
                <a:solidFill>
                  <a:srgbClr val="12263A"/>
                </a:solidFill>
                <a:latin typeface="Cambria" pitchFamily="34" charset="0"/>
                <a:ea typeface="Cambria" pitchFamily="34" charset="-122"/>
                <a:cs typeface="Cambria" pitchFamily="34" charset="-120"/>
              </a:rPr>
              <a:t>A benign scenario never injected anything</a:t>
            </a:r>
            <a:endParaRPr lang="en-US" sz="1450" dirty="0"/>
          </a:p>
        </p:txBody>
      </p:sp>
      <p:sp>
        <p:nvSpPr>
          <p:cNvPr id="19" name="Text 17"/>
          <p:cNvSpPr/>
          <p:nvPr/>
        </p:nvSpPr>
        <p:spPr>
          <a:xfrm>
            <a:off x="800100" y="3695700"/>
            <a:ext cx="4000500" cy="342900"/>
          </a:xfrm>
          <a:prstGeom prst="rect">
            <a:avLst/>
          </a:prstGeom>
          <a:noFill/>
          <a:ln/>
        </p:spPr>
        <p:txBody>
          <a:bodyPr wrap="square" lIns="0" tIns="0" rIns="0" bIns="0" rtlCol="0" anchor="t">
            <a:normAutofit/>
          </a:bodyPr>
          <a:lstStyle/>
          <a:p>
            <a:pPr marL="0" indent="0" algn="l">
              <a:lnSpc>
                <a:spcPct val="100000"/>
              </a:lnSpc>
              <a:buNone/>
            </a:pPr>
            <a:r>
              <a:rPr lang="en-US" sz="1160" dirty="0">
                <a:solidFill>
                  <a:srgbClr val="5B6B7C"/>
                </a:solidFill>
                <a:latin typeface="Calibri" pitchFamily="34" charset="0"/>
                <a:ea typeface="Calibri" pitchFamily="34" charset="-122"/>
                <a:cs typeface="Calibri" pitchFamily="34" charset="-120"/>
              </a:rPr>
              <a:t>This kernel has no sch_netem qdisc, and the failure was swallowed by a shell fallback. B3 congestion was a baseline run carrying a congestion label.</a:t>
            </a:r>
            <a:endParaRPr lang="en-US" sz="1160" dirty="0"/>
          </a:p>
        </p:txBody>
      </p:sp>
      <p:sp>
        <p:nvSpPr>
          <p:cNvPr id="20" name="Text 18"/>
          <p:cNvSpPr/>
          <p:nvPr/>
        </p:nvSpPr>
        <p:spPr>
          <a:xfrm>
            <a:off x="5048250" y="3257550"/>
            <a:ext cx="5048250" cy="762000"/>
          </a:xfrm>
          <a:prstGeom prst="rect">
            <a:avLst/>
          </a:prstGeom>
          <a:noFill/>
          <a:ln/>
        </p:spPr>
        <p:txBody>
          <a:bodyPr wrap="square" lIns="0" tIns="0" rIns="0" bIns="0" rtlCol="0" anchor="t">
            <a:normAutofit/>
          </a:bodyPr>
          <a:lstStyle/>
          <a:p>
            <a:pPr marL="0" indent="0" algn="l">
              <a:lnSpc>
                <a:spcPct val="100000"/>
              </a:lnSpc>
              <a:buNone/>
            </a:pPr>
            <a:r>
              <a:rPr lang="en-US" sz="1260" dirty="0">
                <a:solidFill>
                  <a:srgbClr val="5B6B7C"/>
                </a:solidFill>
                <a:latin typeface="Calibri" pitchFamily="34" charset="0"/>
                <a:ea typeface="Calibri" pitchFamily="34" charset="-122"/>
                <a:cs typeface="Calibri" pitchFamily="34" charset="-120"/>
              </a:rPr>
              <a:t>Proof: B3 packet delay variation was statistically identical to baseline and to the untouched control node. Rebuilt with a tbf bottleneck and competing traffic.</a:t>
            </a:r>
            <a:endParaRPr lang="en-US" sz="1260" dirty="0"/>
          </a:p>
        </p:txBody>
      </p:sp>
      <p:sp>
        <p:nvSpPr>
          <p:cNvPr id="21" name="Shape 19"/>
          <p:cNvSpPr/>
          <p:nvPr/>
        </p:nvSpPr>
        <p:spPr>
          <a:xfrm>
            <a:off x="10287000" y="3486150"/>
            <a:ext cx="1181100" cy="266700"/>
          </a:xfrm>
          <a:prstGeom prst="roundRect">
            <a:avLst>
              <a:gd name="adj" fmla="val 13714"/>
            </a:avLst>
          </a:prstGeom>
          <a:solidFill>
            <a:srgbClr val="EAF2F8"/>
          </a:solidFill>
          <a:ln w="12700">
            <a:solidFill>
              <a:srgbClr val="D7E1EA"/>
            </a:solidFill>
            <a:prstDash val="solid"/>
          </a:ln>
        </p:spPr>
        <p:txBody>
          <a:bodyPr/>
          <a:lstStyle/>
          <a:p>
            <a:endParaRPr lang="en-IN"/>
          </a:p>
        </p:txBody>
      </p:sp>
      <p:sp>
        <p:nvSpPr>
          <p:cNvPr id="22" name="Text 20"/>
          <p:cNvSpPr/>
          <p:nvPr/>
        </p:nvSpPr>
        <p:spPr>
          <a:xfrm>
            <a:off x="10287000" y="3543300"/>
            <a:ext cx="1181100" cy="171450"/>
          </a:xfrm>
          <a:prstGeom prst="rect">
            <a:avLst/>
          </a:prstGeom>
          <a:noFill/>
          <a:ln/>
        </p:spPr>
        <p:txBody>
          <a:bodyPr wrap="square" lIns="0" tIns="0" rIns="0" bIns="0" rtlCol="0" anchor="t">
            <a:normAutofit/>
          </a:bodyPr>
          <a:lstStyle/>
          <a:p>
            <a:pPr marL="0" indent="0" algn="ctr">
              <a:lnSpc>
                <a:spcPct val="100000"/>
              </a:lnSpc>
              <a:buNone/>
            </a:pPr>
            <a:r>
              <a:rPr lang="en-US" sz="1050" b="1" dirty="0">
                <a:solidFill>
                  <a:srgbClr val="1C7293"/>
                </a:solidFill>
                <a:latin typeface="Calibri" pitchFamily="34" charset="0"/>
                <a:ea typeface="Calibri" pitchFamily="34" charset="-122"/>
                <a:cs typeface="Calibri" pitchFamily="34" charset="-120"/>
              </a:rPr>
              <a:t>FIXED · rebuilt</a:t>
            </a:r>
            <a:endParaRPr lang="en-US" sz="1050" dirty="0"/>
          </a:p>
        </p:txBody>
      </p:sp>
      <p:sp>
        <p:nvSpPr>
          <p:cNvPr id="23" name="Shape 21"/>
          <p:cNvSpPr/>
          <p:nvPr/>
        </p:nvSpPr>
        <p:spPr>
          <a:xfrm>
            <a:off x="571500" y="4171950"/>
            <a:ext cx="11049000" cy="914400"/>
          </a:xfrm>
          <a:prstGeom prst="roundRect">
            <a:avLst>
              <a:gd name="adj" fmla="val 4000"/>
            </a:avLst>
          </a:prstGeom>
          <a:solidFill>
            <a:srgbClr val="FFFFFF"/>
          </a:solidFill>
          <a:ln w="12700">
            <a:solidFill>
              <a:srgbClr val="D7E1EA"/>
            </a:solidFill>
            <a:prstDash val="solid"/>
          </a:ln>
        </p:spPr>
        <p:txBody>
          <a:bodyPr/>
          <a:lstStyle/>
          <a:p>
            <a:endParaRPr lang="en-IN"/>
          </a:p>
        </p:txBody>
      </p:sp>
      <p:sp>
        <p:nvSpPr>
          <p:cNvPr id="24" name="Shape 22"/>
          <p:cNvSpPr/>
          <p:nvPr/>
        </p:nvSpPr>
        <p:spPr>
          <a:xfrm>
            <a:off x="571500" y="4171950"/>
            <a:ext cx="47625" cy="914400"/>
          </a:xfrm>
          <a:prstGeom prst="rect">
            <a:avLst/>
          </a:prstGeom>
          <a:solidFill>
            <a:srgbClr val="C58B18"/>
          </a:solidFill>
          <a:ln/>
        </p:spPr>
        <p:txBody>
          <a:bodyPr/>
          <a:lstStyle/>
          <a:p>
            <a:endParaRPr lang="en-IN"/>
          </a:p>
        </p:txBody>
      </p:sp>
      <p:sp>
        <p:nvSpPr>
          <p:cNvPr id="25" name="Text 23"/>
          <p:cNvSpPr/>
          <p:nvPr/>
        </p:nvSpPr>
        <p:spPr>
          <a:xfrm>
            <a:off x="800100" y="4267200"/>
            <a:ext cx="4000500" cy="419100"/>
          </a:xfrm>
          <a:prstGeom prst="rect">
            <a:avLst/>
          </a:prstGeom>
          <a:noFill/>
          <a:ln/>
        </p:spPr>
        <p:txBody>
          <a:bodyPr wrap="square" lIns="0" tIns="0" rIns="0" bIns="0" rtlCol="0" anchor="t">
            <a:normAutofit/>
          </a:bodyPr>
          <a:lstStyle/>
          <a:p>
            <a:pPr marL="0" indent="0" algn="l">
              <a:lnSpc>
                <a:spcPct val="100000"/>
              </a:lnSpc>
              <a:buNone/>
            </a:pPr>
            <a:r>
              <a:rPr lang="en-US" sz="1450" b="1" dirty="0">
                <a:solidFill>
                  <a:srgbClr val="12263A"/>
                </a:solidFill>
                <a:latin typeface="Cambria" pitchFamily="34" charset="0"/>
                <a:ea typeface="Cambria" pitchFamily="34" charset="-122"/>
                <a:cs typeface="Cambria" pitchFamily="34" charset="-120"/>
              </a:rPr>
              <a:t>A detector produced false positives on upstream captures</a:t>
            </a:r>
            <a:endParaRPr lang="en-US" sz="1450" dirty="0"/>
          </a:p>
        </p:txBody>
      </p:sp>
      <p:sp>
        <p:nvSpPr>
          <p:cNvPr id="26" name="Text 24"/>
          <p:cNvSpPr/>
          <p:nvPr/>
        </p:nvSpPr>
        <p:spPr>
          <a:xfrm>
            <a:off x="800100" y="4705350"/>
            <a:ext cx="4000500" cy="342900"/>
          </a:xfrm>
          <a:prstGeom prst="rect">
            <a:avLst/>
          </a:prstGeom>
          <a:noFill/>
          <a:ln/>
        </p:spPr>
        <p:txBody>
          <a:bodyPr wrap="square" lIns="0" tIns="0" rIns="0" bIns="0" rtlCol="0" anchor="t">
            <a:normAutofit/>
          </a:bodyPr>
          <a:lstStyle/>
          <a:p>
            <a:pPr marL="0" indent="0" algn="l">
              <a:lnSpc>
                <a:spcPct val="100000"/>
              </a:lnSpc>
              <a:buNone/>
            </a:pPr>
            <a:r>
              <a:rPr lang="en-US" sz="1160" dirty="0">
                <a:solidFill>
                  <a:srgbClr val="5B6B7C"/>
                </a:solidFill>
                <a:latin typeface="Calibri" pitchFamily="34" charset="0"/>
                <a:ea typeface="Calibri" pitchFamily="34" charset="-122"/>
                <a:cs typeface="Calibri" pitchFamily="34" charset="-120"/>
              </a:rPr>
              <a:t>Rule v2's rate-starvation clause had no minimum-sample or transient guard, so a boundary clock emitting three frames during BMCA start-up read as rate-starved.</a:t>
            </a:r>
            <a:endParaRPr lang="en-US" sz="1160" dirty="0"/>
          </a:p>
        </p:txBody>
      </p:sp>
      <p:sp>
        <p:nvSpPr>
          <p:cNvPr id="27" name="Text 25"/>
          <p:cNvSpPr/>
          <p:nvPr/>
        </p:nvSpPr>
        <p:spPr>
          <a:xfrm>
            <a:off x="5048250" y="4267200"/>
            <a:ext cx="5048250" cy="762000"/>
          </a:xfrm>
          <a:prstGeom prst="rect">
            <a:avLst/>
          </a:prstGeom>
          <a:noFill/>
          <a:ln/>
        </p:spPr>
        <p:txBody>
          <a:bodyPr wrap="square" lIns="0" tIns="0" rIns="0" bIns="0" rtlCol="0" anchor="t">
            <a:normAutofit/>
          </a:bodyPr>
          <a:lstStyle/>
          <a:p>
            <a:pPr marL="0" indent="0" algn="l">
              <a:lnSpc>
                <a:spcPct val="100000"/>
              </a:lnSpc>
              <a:buNone/>
            </a:pPr>
            <a:r>
              <a:rPr lang="en-US" sz="1260" dirty="0">
                <a:solidFill>
                  <a:srgbClr val="5B6B7C"/>
                </a:solidFill>
                <a:latin typeface="Calibri" pitchFamily="34" charset="0"/>
                <a:ea typeface="Calibri" pitchFamily="34" charset="-122"/>
                <a:cs typeface="Calibri" pitchFamily="34" charset="-120"/>
              </a:rPr>
              <a:t>Effect: it turned a benign failover into an ATTACK and destroyed a correct abstention. Rule v3 adds a minimum-frame floor and a persistence requirement.</a:t>
            </a:r>
            <a:endParaRPr lang="en-US" sz="1260" dirty="0"/>
          </a:p>
        </p:txBody>
      </p:sp>
      <p:sp>
        <p:nvSpPr>
          <p:cNvPr id="28" name="Shape 26"/>
          <p:cNvSpPr/>
          <p:nvPr/>
        </p:nvSpPr>
        <p:spPr>
          <a:xfrm>
            <a:off x="10287000" y="4495800"/>
            <a:ext cx="1181100" cy="266700"/>
          </a:xfrm>
          <a:prstGeom prst="roundRect">
            <a:avLst>
              <a:gd name="adj" fmla="val 13714"/>
            </a:avLst>
          </a:prstGeom>
          <a:solidFill>
            <a:srgbClr val="EAF2F8"/>
          </a:solidFill>
          <a:ln w="12700">
            <a:solidFill>
              <a:srgbClr val="D7E1EA"/>
            </a:solidFill>
            <a:prstDash val="solid"/>
          </a:ln>
        </p:spPr>
        <p:txBody>
          <a:bodyPr/>
          <a:lstStyle/>
          <a:p>
            <a:endParaRPr lang="en-IN"/>
          </a:p>
        </p:txBody>
      </p:sp>
      <p:sp>
        <p:nvSpPr>
          <p:cNvPr id="29" name="Text 27"/>
          <p:cNvSpPr/>
          <p:nvPr/>
        </p:nvSpPr>
        <p:spPr>
          <a:xfrm>
            <a:off x="10287000" y="4552950"/>
            <a:ext cx="1181100" cy="171450"/>
          </a:xfrm>
          <a:prstGeom prst="rect">
            <a:avLst/>
          </a:prstGeom>
          <a:noFill/>
          <a:ln/>
        </p:spPr>
        <p:txBody>
          <a:bodyPr wrap="square" lIns="0" tIns="0" rIns="0" bIns="0" rtlCol="0" anchor="t">
            <a:normAutofit/>
          </a:bodyPr>
          <a:lstStyle/>
          <a:p>
            <a:pPr marL="0" indent="0" algn="ctr">
              <a:lnSpc>
                <a:spcPct val="100000"/>
              </a:lnSpc>
              <a:buNone/>
            </a:pPr>
            <a:r>
              <a:rPr lang="en-US" sz="1050" b="1" dirty="0">
                <a:solidFill>
                  <a:srgbClr val="1C7293"/>
                </a:solidFill>
                <a:latin typeface="Calibri" pitchFamily="34" charset="0"/>
                <a:ea typeface="Calibri" pitchFamily="34" charset="-122"/>
                <a:cs typeface="Calibri" pitchFamily="34" charset="-120"/>
              </a:rPr>
              <a:t>FIXED · v3</a:t>
            </a:r>
            <a:endParaRPr lang="en-US" sz="1050" dirty="0"/>
          </a:p>
        </p:txBody>
      </p:sp>
      <p:sp>
        <p:nvSpPr>
          <p:cNvPr id="30" name="Shape 28"/>
          <p:cNvSpPr/>
          <p:nvPr/>
        </p:nvSpPr>
        <p:spPr>
          <a:xfrm>
            <a:off x="571500" y="5181600"/>
            <a:ext cx="11049000" cy="914400"/>
          </a:xfrm>
          <a:prstGeom prst="roundRect">
            <a:avLst>
              <a:gd name="adj" fmla="val 4000"/>
            </a:avLst>
          </a:prstGeom>
          <a:solidFill>
            <a:srgbClr val="FFFFFF"/>
          </a:solidFill>
          <a:ln w="12700">
            <a:solidFill>
              <a:srgbClr val="D7E1EA"/>
            </a:solidFill>
            <a:prstDash val="solid"/>
          </a:ln>
        </p:spPr>
        <p:txBody>
          <a:bodyPr/>
          <a:lstStyle/>
          <a:p>
            <a:endParaRPr lang="en-IN"/>
          </a:p>
        </p:txBody>
      </p:sp>
      <p:sp>
        <p:nvSpPr>
          <p:cNvPr id="31" name="Shape 29"/>
          <p:cNvSpPr/>
          <p:nvPr/>
        </p:nvSpPr>
        <p:spPr>
          <a:xfrm>
            <a:off x="571500" y="5181600"/>
            <a:ext cx="47625" cy="914400"/>
          </a:xfrm>
          <a:prstGeom prst="rect">
            <a:avLst/>
          </a:prstGeom>
          <a:solidFill>
            <a:srgbClr val="C58B18"/>
          </a:solidFill>
          <a:ln/>
        </p:spPr>
        <p:txBody>
          <a:bodyPr/>
          <a:lstStyle/>
          <a:p>
            <a:endParaRPr lang="en-IN"/>
          </a:p>
        </p:txBody>
      </p:sp>
      <p:sp>
        <p:nvSpPr>
          <p:cNvPr id="32" name="Text 30"/>
          <p:cNvSpPr/>
          <p:nvPr/>
        </p:nvSpPr>
        <p:spPr>
          <a:xfrm>
            <a:off x="800100" y="5276850"/>
            <a:ext cx="4000500" cy="419100"/>
          </a:xfrm>
          <a:prstGeom prst="rect">
            <a:avLst/>
          </a:prstGeom>
          <a:noFill/>
          <a:ln/>
        </p:spPr>
        <p:txBody>
          <a:bodyPr wrap="square" lIns="0" tIns="0" rIns="0" bIns="0" rtlCol="0" anchor="t">
            <a:normAutofit/>
          </a:bodyPr>
          <a:lstStyle/>
          <a:p>
            <a:pPr marL="0" indent="0" algn="l">
              <a:lnSpc>
                <a:spcPct val="100000"/>
              </a:lnSpc>
              <a:buNone/>
            </a:pPr>
            <a:r>
              <a:rPr lang="en-US" sz="1450" b="1" dirty="0">
                <a:solidFill>
                  <a:srgbClr val="12263A"/>
                </a:solidFill>
                <a:latin typeface="Cambria" pitchFamily="34" charset="0"/>
                <a:ea typeface="Cambria" pitchFamily="34" charset="-122"/>
                <a:cs typeface="Cambria" pitchFamily="34" charset="-120"/>
              </a:rPr>
              <a:t>The evaluator overstated and under-checked</a:t>
            </a:r>
            <a:endParaRPr lang="en-US" sz="1450" dirty="0"/>
          </a:p>
        </p:txBody>
      </p:sp>
      <p:sp>
        <p:nvSpPr>
          <p:cNvPr id="33" name="Text 31"/>
          <p:cNvSpPr/>
          <p:nvPr/>
        </p:nvSpPr>
        <p:spPr>
          <a:xfrm>
            <a:off x="800100" y="5715000"/>
            <a:ext cx="4000500" cy="342900"/>
          </a:xfrm>
          <a:prstGeom prst="rect">
            <a:avLst/>
          </a:prstGeom>
          <a:noFill/>
          <a:ln/>
        </p:spPr>
        <p:txBody>
          <a:bodyPr wrap="square" lIns="0" tIns="0" rIns="0" bIns="0" rtlCol="0" anchor="t">
            <a:normAutofit/>
          </a:bodyPr>
          <a:lstStyle/>
          <a:p>
            <a:pPr marL="0" indent="0" algn="l">
              <a:lnSpc>
                <a:spcPct val="100000"/>
              </a:lnSpc>
              <a:buNone/>
            </a:pPr>
            <a:r>
              <a:rPr lang="en-US" sz="1160" dirty="0">
                <a:solidFill>
                  <a:srgbClr val="5B6B7C"/>
                </a:solidFill>
                <a:latin typeface="Calibri" pitchFamily="34" charset="0"/>
                <a:ea typeface="Calibri" pitchFamily="34" charset="-122"/>
                <a:cs typeface="Calibri" pitchFamily="34" charset="-120"/>
              </a:rPr>
              <a:t>Pooled metrics moved with run count, additive-only behaviour was asserted by comparing two scalars, abstention was credited on error paths, and attribution scoring was dropped.</a:t>
            </a:r>
            <a:endParaRPr lang="en-US" sz="1160" dirty="0"/>
          </a:p>
        </p:txBody>
      </p:sp>
      <p:sp>
        <p:nvSpPr>
          <p:cNvPr id="34" name="Text 32"/>
          <p:cNvSpPr/>
          <p:nvPr/>
        </p:nvSpPr>
        <p:spPr>
          <a:xfrm>
            <a:off x="5048250" y="5276850"/>
            <a:ext cx="5048250" cy="762000"/>
          </a:xfrm>
          <a:prstGeom prst="rect">
            <a:avLst/>
          </a:prstGeom>
          <a:noFill/>
          <a:ln/>
        </p:spPr>
        <p:txBody>
          <a:bodyPr wrap="square" lIns="0" tIns="0" rIns="0" bIns="0" rtlCol="0" anchor="t">
            <a:normAutofit/>
          </a:bodyPr>
          <a:lstStyle/>
          <a:p>
            <a:pPr marL="0" indent="0" algn="l">
              <a:lnSpc>
                <a:spcPct val="100000"/>
              </a:lnSpc>
              <a:buNone/>
            </a:pPr>
            <a:r>
              <a:rPr lang="en-US" sz="1260" dirty="0">
                <a:solidFill>
                  <a:srgbClr val="5B6B7C"/>
                </a:solidFill>
                <a:latin typeface="Calibri" pitchFamily="34" charset="0"/>
                <a:ea typeface="Calibri" pitchFamily="34" charset="-122"/>
                <a:cs typeface="Calibri" pitchFamily="34" charset="-120"/>
              </a:rPr>
              <a:t>Replaced with a per-scenario evaluator applying macro averages, per-run additive-only verification and an explicit replicate whitelist.</a:t>
            </a:r>
            <a:endParaRPr lang="en-US" sz="1260" dirty="0"/>
          </a:p>
        </p:txBody>
      </p:sp>
      <p:sp>
        <p:nvSpPr>
          <p:cNvPr id="35" name="Shape 33"/>
          <p:cNvSpPr/>
          <p:nvPr/>
        </p:nvSpPr>
        <p:spPr>
          <a:xfrm>
            <a:off x="10287000" y="5505450"/>
            <a:ext cx="1181100" cy="266700"/>
          </a:xfrm>
          <a:prstGeom prst="roundRect">
            <a:avLst>
              <a:gd name="adj" fmla="val 13714"/>
            </a:avLst>
          </a:prstGeom>
          <a:solidFill>
            <a:srgbClr val="EAF2F8"/>
          </a:solidFill>
          <a:ln w="12700">
            <a:solidFill>
              <a:srgbClr val="D7E1EA"/>
            </a:solidFill>
            <a:prstDash val="solid"/>
          </a:ln>
        </p:spPr>
        <p:txBody>
          <a:bodyPr/>
          <a:lstStyle/>
          <a:p>
            <a:endParaRPr lang="en-IN"/>
          </a:p>
        </p:txBody>
      </p:sp>
      <p:sp>
        <p:nvSpPr>
          <p:cNvPr id="36" name="Text 34"/>
          <p:cNvSpPr/>
          <p:nvPr/>
        </p:nvSpPr>
        <p:spPr>
          <a:xfrm>
            <a:off x="10287000" y="5562600"/>
            <a:ext cx="1181100" cy="171450"/>
          </a:xfrm>
          <a:prstGeom prst="rect">
            <a:avLst/>
          </a:prstGeom>
          <a:noFill/>
          <a:ln/>
        </p:spPr>
        <p:txBody>
          <a:bodyPr wrap="square" lIns="0" tIns="0" rIns="0" bIns="0" rtlCol="0" anchor="t">
            <a:normAutofit/>
          </a:bodyPr>
          <a:lstStyle/>
          <a:p>
            <a:pPr marL="0" indent="0" algn="ctr">
              <a:lnSpc>
                <a:spcPct val="100000"/>
              </a:lnSpc>
              <a:buNone/>
            </a:pPr>
            <a:r>
              <a:rPr lang="en-US" sz="1050" b="1" dirty="0">
                <a:solidFill>
                  <a:srgbClr val="1C7293"/>
                </a:solidFill>
                <a:latin typeface="Calibri" pitchFamily="34" charset="0"/>
                <a:ea typeface="Calibri" pitchFamily="34" charset="-122"/>
                <a:cs typeface="Calibri" pitchFamily="34" charset="-120"/>
              </a:rPr>
              <a:t>REPLACED</a:t>
            </a:r>
            <a:endParaRPr lang="en-US" sz="1050" dirty="0"/>
          </a:p>
        </p:txBody>
      </p:sp>
      <p:sp>
        <p:nvSpPr>
          <p:cNvPr id="37" name="Shape 35"/>
          <p:cNvSpPr/>
          <p:nvPr/>
        </p:nvSpPr>
        <p:spPr>
          <a:xfrm>
            <a:off x="571500" y="6229350"/>
            <a:ext cx="11049000" cy="495300"/>
          </a:xfrm>
          <a:prstGeom prst="roundRect">
            <a:avLst>
              <a:gd name="adj" fmla="val 7385"/>
            </a:avLst>
          </a:prstGeom>
          <a:solidFill>
            <a:srgbClr val="0E2440"/>
          </a:solidFill>
          <a:ln w="12700">
            <a:solidFill>
              <a:srgbClr val="0E2440"/>
            </a:solidFill>
            <a:prstDash val="solid"/>
          </a:ln>
        </p:spPr>
        <p:txBody>
          <a:bodyPr/>
          <a:lstStyle/>
          <a:p>
            <a:endParaRPr lang="en-IN"/>
          </a:p>
        </p:txBody>
      </p:sp>
      <p:sp>
        <p:nvSpPr>
          <p:cNvPr id="38" name="Text 36"/>
          <p:cNvSpPr/>
          <p:nvPr/>
        </p:nvSpPr>
        <p:spPr>
          <a:xfrm>
            <a:off x="781050" y="6343650"/>
            <a:ext cx="10629900" cy="285750"/>
          </a:xfrm>
          <a:prstGeom prst="rect">
            <a:avLst/>
          </a:prstGeom>
          <a:noFill/>
          <a:ln/>
        </p:spPr>
        <p:txBody>
          <a:bodyPr wrap="square" lIns="0" tIns="0" rIns="0" bIns="0" rtlCol="0" anchor="t">
            <a:normAutofit/>
          </a:bodyPr>
          <a:lstStyle/>
          <a:p>
            <a:pPr marL="0" indent="0" algn="l">
              <a:lnSpc>
                <a:spcPct val="100000"/>
              </a:lnSpc>
              <a:buNone/>
            </a:pPr>
            <a:r>
              <a:rPr lang="en-US" sz="1320" b="1" dirty="0">
                <a:solidFill>
                  <a:srgbClr val="FFFFFF"/>
                </a:solidFill>
                <a:latin typeface="Cambria" pitchFamily="34" charset="0"/>
                <a:ea typeface="Cambria" pitchFamily="34" charset="-122"/>
                <a:cs typeface="Cambria" pitchFamily="34" charset="-120"/>
              </a:rPr>
              <a:t>Disclosing defects found in our own pipeline is treated as part of the experimental result. Two of the four had fabricated data; both were corrected and re-executed, and the withdrawn figures are not reported anywhere in this deck.</a:t>
            </a:r>
            <a:endParaRPr lang="en-US" sz="132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8FAFC"/>
          </a:solidFill>
          <a:ln/>
        </p:spPr>
        <p:txBody>
          <a:bodyPr/>
          <a:lstStyle/>
          <a:p>
            <a:endParaRPr lang="en-IN"/>
          </a:p>
        </p:txBody>
      </p:sp>
      <p:sp>
        <p:nvSpPr>
          <p:cNvPr id="3" name="Shape 1"/>
          <p:cNvSpPr/>
          <p:nvPr/>
        </p:nvSpPr>
        <p:spPr>
          <a:xfrm>
            <a:off x="0" y="0"/>
            <a:ext cx="12192000" cy="114300"/>
          </a:xfrm>
          <a:prstGeom prst="rect">
            <a:avLst/>
          </a:prstGeom>
          <a:solidFill>
            <a:srgbClr val="18B89A"/>
          </a:solidFill>
          <a:ln/>
        </p:spPr>
        <p:txBody>
          <a:bodyPr/>
          <a:lstStyle/>
          <a:p>
            <a:endParaRPr lang="en-IN"/>
          </a:p>
        </p:txBody>
      </p:sp>
      <p:sp>
        <p:nvSpPr>
          <p:cNvPr id="4" name="Text 2"/>
          <p:cNvSpPr/>
          <p:nvPr/>
        </p:nvSpPr>
        <p:spPr>
          <a:xfrm>
            <a:off x="571500" y="209550"/>
            <a:ext cx="11049000" cy="228600"/>
          </a:xfrm>
          <a:prstGeom prst="rect">
            <a:avLst/>
          </a:prstGeom>
          <a:noFill/>
          <a:ln/>
        </p:spPr>
        <p:txBody>
          <a:bodyPr wrap="square" lIns="0" tIns="0" rIns="0" bIns="0" rtlCol="0" anchor="t">
            <a:normAutofit/>
          </a:bodyPr>
          <a:lstStyle/>
          <a:p>
            <a:pPr marL="0" indent="0" algn="l">
              <a:lnSpc>
                <a:spcPct val="100000"/>
              </a:lnSpc>
              <a:buNone/>
            </a:pPr>
            <a:r>
              <a:rPr lang="en-US" sz="1280" b="1" dirty="0">
                <a:solidFill>
                  <a:srgbClr val="1C7293"/>
                </a:solidFill>
                <a:latin typeface="Calibri" pitchFamily="34" charset="0"/>
                <a:ea typeface="Calibri" pitchFamily="34" charset="-122"/>
                <a:cs typeface="Calibri" pitchFamily="34" charset="-120"/>
              </a:rPr>
              <a:t>CLASSIFICATION RESULTS</a:t>
            </a:r>
            <a:endParaRPr lang="en-US" sz="1280" dirty="0"/>
          </a:p>
        </p:txBody>
      </p:sp>
      <p:sp>
        <p:nvSpPr>
          <p:cNvPr id="5" name="Text 3"/>
          <p:cNvSpPr/>
          <p:nvPr/>
        </p:nvSpPr>
        <p:spPr>
          <a:xfrm>
            <a:off x="571500" y="447675"/>
            <a:ext cx="11049000" cy="552450"/>
          </a:xfrm>
          <a:prstGeom prst="rect">
            <a:avLst/>
          </a:prstGeom>
          <a:noFill/>
          <a:ln/>
        </p:spPr>
        <p:txBody>
          <a:bodyPr wrap="square" lIns="0" tIns="0" rIns="0" bIns="0" rtlCol="0" anchor="t">
            <a:normAutofit/>
          </a:bodyPr>
          <a:lstStyle/>
          <a:p>
            <a:pPr marL="0" indent="0" algn="l">
              <a:lnSpc>
                <a:spcPct val="100000"/>
              </a:lnSpc>
              <a:buNone/>
            </a:pPr>
            <a:r>
              <a:rPr lang="en-US" sz="3500" b="1" dirty="0">
                <a:solidFill>
                  <a:srgbClr val="12263A"/>
                </a:solidFill>
                <a:latin typeface="Cambria" pitchFamily="34" charset="0"/>
                <a:ea typeface="Cambria" pitchFamily="34" charset="-122"/>
                <a:cs typeface="Cambria" pitchFamily="34" charset="-120"/>
              </a:rPr>
              <a:t>Scenario-Level Classification Results</a:t>
            </a:r>
            <a:endParaRPr lang="en-US" sz="3500" dirty="0"/>
          </a:p>
        </p:txBody>
      </p:sp>
      <p:sp>
        <p:nvSpPr>
          <p:cNvPr id="6" name="Shape 4"/>
          <p:cNvSpPr/>
          <p:nvPr/>
        </p:nvSpPr>
        <p:spPr>
          <a:xfrm>
            <a:off x="571500" y="1057275"/>
            <a:ext cx="11049000" cy="438150"/>
          </a:xfrm>
          <a:prstGeom prst="roundRect">
            <a:avLst>
              <a:gd name="adj" fmla="val 8348"/>
            </a:avLst>
          </a:prstGeom>
          <a:solidFill>
            <a:srgbClr val="EAF2F8"/>
          </a:solidFill>
          <a:ln w="12700">
            <a:solidFill>
              <a:srgbClr val="D7E1EA"/>
            </a:solidFill>
            <a:prstDash val="solid"/>
          </a:ln>
        </p:spPr>
        <p:txBody>
          <a:bodyPr/>
          <a:lstStyle/>
          <a:p>
            <a:endParaRPr lang="en-IN"/>
          </a:p>
        </p:txBody>
      </p:sp>
      <p:sp>
        <p:nvSpPr>
          <p:cNvPr id="7" name="Text 5"/>
          <p:cNvSpPr/>
          <p:nvPr/>
        </p:nvSpPr>
        <p:spPr>
          <a:xfrm>
            <a:off x="723900" y="1123950"/>
            <a:ext cx="10744200" cy="323850"/>
          </a:xfrm>
          <a:prstGeom prst="rect">
            <a:avLst/>
          </a:prstGeom>
          <a:noFill/>
          <a:ln/>
        </p:spPr>
        <p:txBody>
          <a:bodyPr wrap="square" lIns="0" tIns="0" rIns="0" bIns="0" rtlCol="0" anchor="t">
            <a:normAutofit/>
          </a:bodyPr>
          <a:lstStyle/>
          <a:p>
            <a:pPr marL="0" indent="0" algn="l">
              <a:lnSpc>
                <a:spcPct val="102000"/>
              </a:lnSpc>
              <a:buNone/>
            </a:pPr>
            <a:r>
              <a:rPr lang="en-US" sz="1120" dirty="0">
                <a:solidFill>
                  <a:srgbClr val="5B6B7C"/>
                </a:solidFill>
                <a:latin typeface="Calibri" pitchFamily="34" charset="0"/>
                <a:ea typeface="Calibri" pitchFamily="34" charset="-122"/>
                <a:cs typeface="Calibri" pitchFamily="34" charset="-120"/>
              </a:rPr>
              <a:t>168 live runs, 14 scenarios, 12 replicates each  |  Wilson score 95% confidence intervals  |  Expected verdicts pre-registered before execution  |  Source: EVALUATION_V4.json</a:t>
            </a:r>
            <a:endParaRPr lang="en-US" sz="1120" dirty="0"/>
          </a:p>
        </p:txBody>
      </p:sp>
      <p:sp>
        <p:nvSpPr>
          <p:cNvPr id="8" name="Text 6"/>
          <p:cNvSpPr/>
          <p:nvPr/>
        </p:nvSpPr>
        <p:spPr>
          <a:xfrm>
            <a:off x="666750" y="1638300"/>
            <a:ext cx="2667000" cy="22860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1C7293"/>
                </a:solidFill>
                <a:latin typeface="Calibri" pitchFamily="34" charset="0"/>
                <a:ea typeface="Calibri" pitchFamily="34" charset="-122"/>
                <a:cs typeface="Calibri" pitchFamily="34" charset="-120"/>
              </a:rPr>
              <a:t>SCENARIO</a:t>
            </a:r>
            <a:endParaRPr lang="en-US" sz="1200" dirty="0"/>
          </a:p>
        </p:txBody>
      </p:sp>
      <p:sp>
        <p:nvSpPr>
          <p:cNvPr id="9" name="Text 7"/>
          <p:cNvSpPr/>
          <p:nvPr/>
        </p:nvSpPr>
        <p:spPr>
          <a:xfrm>
            <a:off x="3429000" y="1638300"/>
            <a:ext cx="1047750" cy="22860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1C7293"/>
                </a:solidFill>
                <a:latin typeface="Calibri" pitchFamily="34" charset="0"/>
                <a:ea typeface="Calibri" pitchFamily="34" charset="-122"/>
                <a:cs typeface="Calibri" pitchFamily="34" charset="-120"/>
              </a:rPr>
              <a:t>EXPECTED</a:t>
            </a:r>
            <a:endParaRPr lang="en-US" sz="1200" dirty="0"/>
          </a:p>
        </p:txBody>
      </p:sp>
      <p:sp>
        <p:nvSpPr>
          <p:cNvPr id="10" name="Text 8"/>
          <p:cNvSpPr/>
          <p:nvPr/>
        </p:nvSpPr>
        <p:spPr>
          <a:xfrm>
            <a:off x="4667250" y="1638300"/>
            <a:ext cx="2000250" cy="22860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1C7293"/>
                </a:solidFill>
                <a:latin typeface="Calibri" pitchFamily="34" charset="0"/>
                <a:ea typeface="Calibri" pitchFamily="34" charset="-122"/>
                <a:cs typeface="Calibri" pitchFamily="34" charset="-120"/>
              </a:rPr>
              <a:t>PRE-FROZEN BASE RULE</a:t>
            </a:r>
            <a:endParaRPr lang="en-US" sz="1200" dirty="0"/>
          </a:p>
        </p:txBody>
      </p:sp>
      <p:sp>
        <p:nvSpPr>
          <p:cNvPr id="11" name="Text 9"/>
          <p:cNvSpPr/>
          <p:nvPr/>
        </p:nvSpPr>
        <p:spPr>
          <a:xfrm>
            <a:off x="6858000" y="1638300"/>
            <a:ext cx="1809750" cy="22860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1C7293"/>
                </a:solidFill>
                <a:latin typeface="Calibri" pitchFamily="34" charset="0"/>
                <a:ea typeface="Calibri" pitchFamily="34" charset="-122"/>
                <a:cs typeface="Calibri" pitchFamily="34" charset="-120"/>
              </a:rPr>
              <a:t>REVISED RULE v3</a:t>
            </a:r>
            <a:endParaRPr lang="en-US" sz="1200" dirty="0"/>
          </a:p>
        </p:txBody>
      </p:sp>
      <p:sp>
        <p:nvSpPr>
          <p:cNvPr id="12" name="Text 10"/>
          <p:cNvSpPr/>
          <p:nvPr/>
        </p:nvSpPr>
        <p:spPr>
          <a:xfrm>
            <a:off x="8858250" y="1638300"/>
            <a:ext cx="1428750" cy="22860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1C7293"/>
                </a:solidFill>
                <a:latin typeface="Calibri" pitchFamily="34" charset="0"/>
                <a:ea typeface="Calibri" pitchFamily="34" charset="-122"/>
                <a:cs typeface="Calibri" pitchFamily="34" charset="-120"/>
              </a:rPr>
              <a:t>95% CI (v3)</a:t>
            </a:r>
            <a:endParaRPr lang="en-US" sz="1200" dirty="0"/>
          </a:p>
        </p:txBody>
      </p:sp>
      <p:sp>
        <p:nvSpPr>
          <p:cNvPr id="13" name="Text 11"/>
          <p:cNvSpPr/>
          <p:nvPr/>
        </p:nvSpPr>
        <p:spPr>
          <a:xfrm>
            <a:off x="10382250" y="1638300"/>
            <a:ext cx="1143000" cy="228600"/>
          </a:xfrm>
          <a:prstGeom prst="rect">
            <a:avLst/>
          </a:prstGeom>
          <a:noFill/>
          <a:ln/>
        </p:spPr>
        <p:txBody>
          <a:bodyPr wrap="square" lIns="0" tIns="0" rIns="0" bIns="0" rtlCol="0" anchor="t">
            <a:normAutofit/>
          </a:bodyPr>
          <a:lstStyle/>
          <a:p>
            <a:pPr marL="0" indent="0" algn="l">
              <a:lnSpc>
                <a:spcPct val="100000"/>
              </a:lnSpc>
              <a:buNone/>
            </a:pPr>
            <a:endParaRPr lang="en-US" sz="1200" dirty="0"/>
          </a:p>
        </p:txBody>
      </p:sp>
      <p:sp>
        <p:nvSpPr>
          <p:cNvPr id="14" name="Shape 12"/>
          <p:cNvSpPr/>
          <p:nvPr/>
        </p:nvSpPr>
        <p:spPr>
          <a:xfrm>
            <a:off x="571500" y="1895475"/>
            <a:ext cx="11049000" cy="11430"/>
          </a:xfrm>
          <a:prstGeom prst="rect">
            <a:avLst/>
          </a:prstGeom>
          <a:solidFill>
            <a:srgbClr val="D7E1EA"/>
          </a:solidFill>
          <a:ln/>
        </p:spPr>
        <p:txBody>
          <a:bodyPr/>
          <a:lstStyle/>
          <a:p>
            <a:endParaRPr lang="en-IN"/>
          </a:p>
        </p:txBody>
      </p:sp>
      <p:sp>
        <p:nvSpPr>
          <p:cNvPr id="15" name="Text 13"/>
          <p:cNvSpPr/>
          <p:nvPr/>
        </p:nvSpPr>
        <p:spPr>
          <a:xfrm>
            <a:off x="666750" y="1971675"/>
            <a:ext cx="2762250" cy="209550"/>
          </a:xfrm>
          <a:prstGeom prst="rect">
            <a:avLst/>
          </a:prstGeom>
          <a:noFill/>
          <a:ln/>
        </p:spPr>
        <p:txBody>
          <a:bodyPr wrap="square" lIns="0" tIns="0" rIns="0" bIns="0" rtlCol="0" anchor="t">
            <a:normAutofit/>
          </a:bodyPr>
          <a:lstStyle/>
          <a:p>
            <a:pPr marL="0" indent="0" algn="l">
              <a:lnSpc>
                <a:spcPct val="100000"/>
              </a:lnSpc>
              <a:buNone/>
            </a:pPr>
            <a:r>
              <a:rPr lang="en-US" sz="1340" dirty="0">
                <a:solidFill>
                  <a:srgbClr val="12263A"/>
                </a:solidFill>
                <a:latin typeface="Cambria" pitchFamily="34" charset="0"/>
                <a:ea typeface="Cambria" pitchFamily="34" charset="-122"/>
                <a:cs typeface="Cambria" pitchFamily="34" charset="-120"/>
              </a:rPr>
              <a:t>A1 rogue grandmaster</a:t>
            </a:r>
            <a:endParaRPr lang="en-US" sz="1340" dirty="0"/>
          </a:p>
        </p:txBody>
      </p:sp>
      <p:sp>
        <p:nvSpPr>
          <p:cNvPr id="16" name="Text 14"/>
          <p:cNvSpPr/>
          <p:nvPr/>
        </p:nvSpPr>
        <p:spPr>
          <a:xfrm>
            <a:off x="3429000" y="1981200"/>
            <a:ext cx="1047750" cy="190500"/>
          </a:xfrm>
          <a:prstGeom prst="rect">
            <a:avLst/>
          </a:prstGeom>
          <a:noFill/>
          <a:ln/>
        </p:spPr>
        <p:txBody>
          <a:bodyPr wrap="square" lIns="0" tIns="0" rIns="0" bIns="0" rtlCol="0" anchor="t">
            <a:normAutofit/>
          </a:bodyPr>
          <a:lstStyle/>
          <a:p>
            <a:pPr marL="0" indent="0" algn="l">
              <a:lnSpc>
                <a:spcPct val="100000"/>
              </a:lnSpc>
              <a:buNone/>
            </a:pPr>
            <a:r>
              <a:rPr lang="en-US" sz="1150" b="1" dirty="0">
                <a:solidFill>
                  <a:srgbClr val="B3402F"/>
                </a:solidFill>
                <a:latin typeface="Calibri" pitchFamily="34" charset="0"/>
                <a:ea typeface="Calibri" pitchFamily="34" charset="-122"/>
                <a:cs typeface="Calibri" pitchFamily="34" charset="-120"/>
              </a:rPr>
              <a:t>ATTACK</a:t>
            </a:r>
            <a:endParaRPr lang="en-US" sz="1150" dirty="0"/>
          </a:p>
        </p:txBody>
      </p:sp>
      <p:sp>
        <p:nvSpPr>
          <p:cNvPr id="17" name="Text 15"/>
          <p:cNvSpPr/>
          <p:nvPr/>
        </p:nvSpPr>
        <p:spPr>
          <a:xfrm>
            <a:off x="4667250" y="1971675"/>
            <a:ext cx="2000250" cy="209550"/>
          </a:xfrm>
          <a:prstGeom prst="rect">
            <a:avLst/>
          </a:prstGeom>
          <a:noFill/>
          <a:ln/>
        </p:spPr>
        <p:txBody>
          <a:bodyPr wrap="square" lIns="0" tIns="0" rIns="0" bIns="0" rtlCol="0" anchor="t">
            <a:normAutofit/>
          </a:bodyPr>
          <a:lstStyle/>
          <a:p>
            <a:pPr marL="0" indent="0" algn="l">
              <a:lnSpc>
                <a:spcPct val="100000"/>
              </a:lnSpc>
              <a:buNone/>
            </a:pPr>
            <a:r>
              <a:rPr lang="en-US" sz="1340" dirty="0">
                <a:solidFill>
                  <a:srgbClr val="5B6B7C"/>
                </a:solidFill>
                <a:latin typeface="Calibri" pitchFamily="34" charset="0"/>
                <a:ea typeface="Calibri" pitchFamily="34" charset="-122"/>
                <a:cs typeface="Calibri" pitchFamily="34" charset="-120"/>
              </a:rPr>
              <a:t>12/12</a:t>
            </a:r>
            <a:endParaRPr lang="en-US" sz="1340" dirty="0"/>
          </a:p>
        </p:txBody>
      </p:sp>
      <p:sp>
        <p:nvSpPr>
          <p:cNvPr id="18" name="Text 16"/>
          <p:cNvSpPr/>
          <p:nvPr/>
        </p:nvSpPr>
        <p:spPr>
          <a:xfrm>
            <a:off x="6858000" y="1971675"/>
            <a:ext cx="1809750" cy="209550"/>
          </a:xfrm>
          <a:prstGeom prst="rect">
            <a:avLst/>
          </a:prstGeom>
          <a:noFill/>
          <a:ln/>
        </p:spPr>
        <p:txBody>
          <a:bodyPr wrap="square" lIns="0" tIns="0" rIns="0" bIns="0" rtlCol="0" anchor="t">
            <a:normAutofit/>
          </a:bodyPr>
          <a:lstStyle/>
          <a:p>
            <a:pPr marL="0" indent="0" algn="l">
              <a:lnSpc>
                <a:spcPct val="100000"/>
              </a:lnSpc>
              <a:buNone/>
            </a:pPr>
            <a:r>
              <a:rPr lang="en-US" sz="1340" b="1" dirty="0">
                <a:solidFill>
                  <a:srgbClr val="12263A"/>
                </a:solidFill>
                <a:latin typeface="Calibri" pitchFamily="34" charset="0"/>
                <a:ea typeface="Calibri" pitchFamily="34" charset="-122"/>
                <a:cs typeface="Calibri" pitchFamily="34" charset="-120"/>
              </a:rPr>
              <a:t>12/12</a:t>
            </a:r>
            <a:endParaRPr lang="en-US" sz="1340" dirty="0"/>
          </a:p>
        </p:txBody>
      </p:sp>
      <p:sp>
        <p:nvSpPr>
          <p:cNvPr id="19" name="Text 17"/>
          <p:cNvSpPr/>
          <p:nvPr/>
        </p:nvSpPr>
        <p:spPr>
          <a:xfrm>
            <a:off x="8858250" y="1981200"/>
            <a:ext cx="1524000" cy="190500"/>
          </a:xfrm>
          <a:prstGeom prst="rect">
            <a:avLst/>
          </a:prstGeom>
          <a:noFill/>
          <a:ln/>
        </p:spPr>
        <p:txBody>
          <a:bodyPr wrap="square" lIns="0" tIns="0" rIns="0" bIns="0" rtlCol="0" anchor="t">
            <a:normAutofit/>
          </a:bodyPr>
          <a:lstStyle/>
          <a:p>
            <a:pPr marL="0" indent="0" algn="l">
              <a:lnSpc>
                <a:spcPct val="100000"/>
              </a:lnSpc>
              <a:buNone/>
            </a:pPr>
            <a:r>
              <a:rPr lang="en-US" sz="1200" dirty="0">
                <a:solidFill>
                  <a:srgbClr val="5B6B7C"/>
                </a:solidFill>
                <a:latin typeface="Calibri" pitchFamily="34" charset="0"/>
                <a:ea typeface="Calibri" pitchFamily="34" charset="-122"/>
                <a:cs typeface="Calibri" pitchFamily="34" charset="-120"/>
              </a:rPr>
              <a:t>0.757–1.000</a:t>
            </a:r>
            <a:endParaRPr lang="en-US" sz="1200" dirty="0"/>
          </a:p>
        </p:txBody>
      </p:sp>
      <p:sp>
        <p:nvSpPr>
          <p:cNvPr id="20" name="Text 18"/>
          <p:cNvSpPr/>
          <p:nvPr/>
        </p:nvSpPr>
        <p:spPr>
          <a:xfrm>
            <a:off x="666750" y="2266950"/>
            <a:ext cx="2762250" cy="209550"/>
          </a:xfrm>
          <a:prstGeom prst="rect">
            <a:avLst/>
          </a:prstGeom>
          <a:noFill/>
          <a:ln/>
        </p:spPr>
        <p:txBody>
          <a:bodyPr wrap="square" lIns="0" tIns="0" rIns="0" bIns="0" rtlCol="0" anchor="t">
            <a:normAutofit/>
          </a:bodyPr>
          <a:lstStyle/>
          <a:p>
            <a:pPr marL="0" indent="0" algn="l">
              <a:lnSpc>
                <a:spcPct val="100000"/>
              </a:lnSpc>
              <a:buNone/>
            </a:pPr>
            <a:r>
              <a:rPr lang="en-US" sz="1340" dirty="0">
                <a:solidFill>
                  <a:srgbClr val="12263A"/>
                </a:solidFill>
                <a:latin typeface="Cambria" pitchFamily="34" charset="0"/>
                <a:ea typeface="Cambria" pitchFamily="34" charset="-122"/>
                <a:cs typeface="Cambria" pitchFamily="34" charset="-120"/>
              </a:rPr>
              <a:t>A2 Sync spoofing</a:t>
            </a:r>
            <a:endParaRPr lang="en-US" sz="1340" dirty="0"/>
          </a:p>
        </p:txBody>
      </p:sp>
      <p:sp>
        <p:nvSpPr>
          <p:cNvPr id="21" name="Text 19"/>
          <p:cNvSpPr/>
          <p:nvPr/>
        </p:nvSpPr>
        <p:spPr>
          <a:xfrm>
            <a:off x="3429000" y="2276475"/>
            <a:ext cx="1047750" cy="190500"/>
          </a:xfrm>
          <a:prstGeom prst="rect">
            <a:avLst/>
          </a:prstGeom>
          <a:noFill/>
          <a:ln/>
        </p:spPr>
        <p:txBody>
          <a:bodyPr wrap="square" lIns="0" tIns="0" rIns="0" bIns="0" rtlCol="0" anchor="t">
            <a:normAutofit/>
          </a:bodyPr>
          <a:lstStyle/>
          <a:p>
            <a:pPr marL="0" indent="0" algn="l">
              <a:lnSpc>
                <a:spcPct val="100000"/>
              </a:lnSpc>
              <a:buNone/>
            </a:pPr>
            <a:r>
              <a:rPr lang="en-US" sz="1150" b="1" dirty="0">
                <a:solidFill>
                  <a:srgbClr val="B3402F"/>
                </a:solidFill>
                <a:latin typeface="Calibri" pitchFamily="34" charset="0"/>
                <a:ea typeface="Calibri" pitchFamily="34" charset="-122"/>
                <a:cs typeface="Calibri" pitchFamily="34" charset="-120"/>
              </a:rPr>
              <a:t>ATTACK</a:t>
            </a:r>
            <a:endParaRPr lang="en-US" sz="1150" dirty="0"/>
          </a:p>
        </p:txBody>
      </p:sp>
      <p:sp>
        <p:nvSpPr>
          <p:cNvPr id="22" name="Text 20"/>
          <p:cNvSpPr/>
          <p:nvPr/>
        </p:nvSpPr>
        <p:spPr>
          <a:xfrm>
            <a:off x="4667250" y="2266950"/>
            <a:ext cx="2000250" cy="209550"/>
          </a:xfrm>
          <a:prstGeom prst="rect">
            <a:avLst/>
          </a:prstGeom>
          <a:noFill/>
          <a:ln/>
        </p:spPr>
        <p:txBody>
          <a:bodyPr wrap="square" lIns="0" tIns="0" rIns="0" bIns="0" rtlCol="0" anchor="t">
            <a:normAutofit/>
          </a:bodyPr>
          <a:lstStyle/>
          <a:p>
            <a:pPr marL="0" indent="0" algn="l">
              <a:lnSpc>
                <a:spcPct val="100000"/>
              </a:lnSpc>
              <a:buNone/>
            </a:pPr>
            <a:r>
              <a:rPr lang="en-US" sz="1340" dirty="0">
                <a:solidFill>
                  <a:srgbClr val="5B6B7C"/>
                </a:solidFill>
                <a:latin typeface="Calibri" pitchFamily="34" charset="0"/>
                <a:ea typeface="Calibri" pitchFamily="34" charset="-122"/>
                <a:cs typeface="Calibri" pitchFamily="34" charset="-120"/>
              </a:rPr>
              <a:t>12/12</a:t>
            </a:r>
            <a:endParaRPr lang="en-US" sz="1340" dirty="0"/>
          </a:p>
        </p:txBody>
      </p:sp>
      <p:sp>
        <p:nvSpPr>
          <p:cNvPr id="23" name="Text 21"/>
          <p:cNvSpPr/>
          <p:nvPr/>
        </p:nvSpPr>
        <p:spPr>
          <a:xfrm>
            <a:off x="6858000" y="2266950"/>
            <a:ext cx="1809750" cy="209550"/>
          </a:xfrm>
          <a:prstGeom prst="rect">
            <a:avLst/>
          </a:prstGeom>
          <a:noFill/>
          <a:ln/>
        </p:spPr>
        <p:txBody>
          <a:bodyPr wrap="square" lIns="0" tIns="0" rIns="0" bIns="0" rtlCol="0" anchor="t">
            <a:normAutofit/>
          </a:bodyPr>
          <a:lstStyle/>
          <a:p>
            <a:pPr marL="0" indent="0" algn="l">
              <a:lnSpc>
                <a:spcPct val="100000"/>
              </a:lnSpc>
              <a:buNone/>
            </a:pPr>
            <a:r>
              <a:rPr lang="en-US" sz="1340" b="1" dirty="0">
                <a:solidFill>
                  <a:srgbClr val="12263A"/>
                </a:solidFill>
                <a:latin typeface="Calibri" pitchFamily="34" charset="0"/>
                <a:ea typeface="Calibri" pitchFamily="34" charset="-122"/>
                <a:cs typeface="Calibri" pitchFamily="34" charset="-120"/>
              </a:rPr>
              <a:t>12/12</a:t>
            </a:r>
            <a:endParaRPr lang="en-US" sz="1340" dirty="0"/>
          </a:p>
        </p:txBody>
      </p:sp>
      <p:sp>
        <p:nvSpPr>
          <p:cNvPr id="24" name="Text 22"/>
          <p:cNvSpPr/>
          <p:nvPr/>
        </p:nvSpPr>
        <p:spPr>
          <a:xfrm>
            <a:off x="8858250" y="2276475"/>
            <a:ext cx="1524000" cy="190500"/>
          </a:xfrm>
          <a:prstGeom prst="rect">
            <a:avLst/>
          </a:prstGeom>
          <a:noFill/>
          <a:ln/>
        </p:spPr>
        <p:txBody>
          <a:bodyPr wrap="square" lIns="0" tIns="0" rIns="0" bIns="0" rtlCol="0" anchor="t">
            <a:normAutofit/>
          </a:bodyPr>
          <a:lstStyle/>
          <a:p>
            <a:pPr marL="0" indent="0" algn="l">
              <a:lnSpc>
                <a:spcPct val="100000"/>
              </a:lnSpc>
              <a:buNone/>
            </a:pPr>
            <a:r>
              <a:rPr lang="en-US" sz="1200" dirty="0">
                <a:solidFill>
                  <a:srgbClr val="5B6B7C"/>
                </a:solidFill>
                <a:latin typeface="Calibri" pitchFamily="34" charset="0"/>
                <a:ea typeface="Calibri" pitchFamily="34" charset="-122"/>
                <a:cs typeface="Calibri" pitchFamily="34" charset="-120"/>
              </a:rPr>
              <a:t>0.757–1.000</a:t>
            </a:r>
            <a:endParaRPr lang="en-US" sz="1200" dirty="0"/>
          </a:p>
        </p:txBody>
      </p:sp>
      <p:sp>
        <p:nvSpPr>
          <p:cNvPr id="25" name="Text 23"/>
          <p:cNvSpPr/>
          <p:nvPr/>
        </p:nvSpPr>
        <p:spPr>
          <a:xfrm>
            <a:off x="666750" y="2562225"/>
            <a:ext cx="2762250" cy="209550"/>
          </a:xfrm>
          <a:prstGeom prst="rect">
            <a:avLst/>
          </a:prstGeom>
          <a:noFill/>
          <a:ln/>
        </p:spPr>
        <p:txBody>
          <a:bodyPr wrap="square" lIns="0" tIns="0" rIns="0" bIns="0" rtlCol="0" anchor="t">
            <a:normAutofit/>
          </a:bodyPr>
          <a:lstStyle/>
          <a:p>
            <a:pPr marL="0" indent="0" algn="l">
              <a:lnSpc>
                <a:spcPct val="100000"/>
              </a:lnSpc>
              <a:buNone/>
            </a:pPr>
            <a:r>
              <a:rPr lang="en-US" sz="1340" dirty="0">
                <a:solidFill>
                  <a:srgbClr val="12263A"/>
                </a:solidFill>
                <a:latin typeface="Cambria" pitchFamily="34" charset="0"/>
                <a:ea typeface="Cambria" pitchFamily="34" charset="-122"/>
                <a:cs typeface="Cambria" pitchFamily="34" charset="-120"/>
              </a:rPr>
              <a:t>A3 replay</a:t>
            </a:r>
            <a:endParaRPr lang="en-US" sz="1340" dirty="0"/>
          </a:p>
        </p:txBody>
      </p:sp>
      <p:sp>
        <p:nvSpPr>
          <p:cNvPr id="26" name="Text 24"/>
          <p:cNvSpPr/>
          <p:nvPr/>
        </p:nvSpPr>
        <p:spPr>
          <a:xfrm>
            <a:off x="3429000" y="2571750"/>
            <a:ext cx="1047750" cy="190500"/>
          </a:xfrm>
          <a:prstGeom prst="rect">
            <a:avLst/>
          </a:prstGeom>
          <a:noFill/>
          <a:ln/>
        </p:spPr>
        <p:txBody>
          <a:bodyPr wrap="square" lIns="0" tIns="0" rIns="0" bIns="0" rtlCol="0" anchor="t">
            <a:normAutofit/>
          </a:bodyPr>
          <a:lstStyle/>
          <a:p>
            <a:pPr marL="0" indent="0" algn="l">
              <a:lnSpc>
                <a:spcPct val="100000"/>
              </a:lnSpc>
              <a:buNone/>
            </a:pPr>
            <a:r>
              <a:rPr lang="en-US" sz="1150" b="1" dirty="0">
                <a:solidFill>
                  <a:srgbClr val="B3402F"/>
                </a:solidFill>
                <a:latin typeface="Calibri" pitchFamily="34" charset="0"/>
                <a:ea typeface="Calibri" pitchFamily="34" charset="-122"/>
                <a:cs typeface="Calibri" pitchFamily="34" charset="-120"/>
              </a:rPr>
              <a:t>ATTACK</a:t>
            </a:r>
            <a:endParaRPr lang="en-US" sz="1150" dirty="0"/>
          </a:p>
        </p:txBody>
      </p:sp>
      <p:sp>
        <p:nvSpPr>
          <p:cNvPr id="27" name="Text 25"/>
          <p:cNvSpPr/>
          <p:nvPr/>
        </p:nvSpPr>
        <p:spPr>
          <a:xfrm>
            <a:off x="4667250" y="2562225"/>
            <a:ext cx="2000250" cy="209550"/>
          </a:xfrm>
          <a:prstGeom prst="rect">
            <a:avLst/>
          </a:prstGeom>
          <a:noFill/>
          <a:ln/>
        </p:spPr>
        <p:txBody>
          <a:bodyPr wrap="square" lIns="0" tIns="0" rIns="0" bIns="0" rtlCol="0" anchor="t">
            <a:normAutofit/>
          </a:bodyPr>
          <a:lstStyle/>
          <a:p>
            <a:pPr marL="0" indent="0" algn="l">
              <a:lnSpc>
                <a:spcPct val="100000"/>
              </a:lnSpc>
              <a:buNone/>
            </a:pPr>
            <a:r>
              <a:rPr lang="en-US" sz="1340" dirty="0">
                <a:solidFill>
                  <a:srgbClr val="5B6B7C"/>
                </a:solidFill>
                <a:latin typeface="Calibri" pitchFamily="34" charset="0"/>
                <a:ea typeface="Calibri" pitchFamily="34" charset="-122"/>
                <a:cs typeface="Calibri" pitchFamily="34" charset="-120"/>
              </a:rPr>
              <a:t>12/12</a:t>
            </a:r>
            <a:endParaRPr lang="en-US" sz="1340" dirty="0"/>
          </a:p>
        </p:txBody>
      </p:sp>
      <p:sp>
        <p:nvSpPr>
          <p:cNvPr id="28" name="Text 26"/>
          <p:cNvSpPr/>
          <p:nvPr/>
        </p:nvSpPr>
        <p:spPr>
          <a:xfrm>
            <a:off x="6858000" y="2562225"/>
            <a:ext cx="1809750" cy="209550"/>
          </a:xfrm>
          <a:prstGeom prst="rect">
            <a:avLst/>
          </a:prstGeom>
          <a:noFill/>
          <a:ln/>
        </p:spPr>
        <p:txBody>
          <a:bodyPr wrap="square" lIns="0" tIns="0" rIns="0" bIns="0" rtlCol="0" anchor="t">
            <a:normAutofit/>
          </a:bodyPr>
          <a:lstStyle/>
          <a:p>
            <a:pPr marL="0" indent="0" algn="l">
              <a:lnSpc>
                <a:spcPct val="100000"/>
              </a:lnSpc>
              <a:buNone/>
            </a:pPr>
            <a:r>
              <a:rPr lang="en-US" sz="1340" b="1" dirty="0">
                <a:solidFill>
                  <a:srgbClr val="12263A"/>
                </a:solidFill>
                <a:latin typeface="Calibri" pitchFamily="34" charset="0"/>
                <a:ea typeface="Calibri" pitchFamily="34" charset="-122"/>
                <a:cs typeface="Calibri" pitchFamily="34" charset="-120"/>
              </a:rPr>
              <a:t>12/12</a:t>
            </a:r>
            <a:endParaRPr lang="en-US" sz="1340" dirty="0"/>
          </a:p>
        </p:txBody>
      </p:sp>
      <p:sp>
        <p:nvSpPr>
          <p:cNvPr id="29" name="Text 27"/>
          <p:cNvSpPr/>
          <p:nvPr/>
        </p:nvSpPr>
        <p:spPr>
          <a:xfrm>
            <a:off x="8858250" y="2571750"/>
            <a:ext cx="1524000" cy="190500"/>
          </a:xfrm>
          <a:prstGeom prst="rect">
            <a:avLst/>
          </a:prstGeom>
          <a:noFill/>
          <a:ln/>
        </p:spPr>
        <p:txBody>
          <a:bodyPr wrap="square" lIns="0" tIns="0" rIns="0" bIns="0" rtlCol="0" anchor="t">
            <a:normAutofit/>
          </a:bodyPr>
          <a:lstStyle/>
          <a:p>
            <a:pPr marL="0" indent="0" algn="l">
              <a:lnSpc>
                <a:spcPct val="100000"/>
              </a:lnSpc>
              <a:buNone/>
            </a:pPr>
            <a:r>
              <a:rPr lang="en-US" sz="1200" dirty="0">
                <a:solidFill>
                  <a:srgbClr val="5B6B7C"/>
                </a:solidFill>
                <a:latin typeface="Calibri" pitchFamily="34" charset="0"/>
                <a:ea typeface="Calibri" pitchFamily="34" charset="-122"/>
                <a:cs typeface="Calibri" pitchFamily="34" charset="-120"/>
              </a:rPr>
              <a:t>0.757–1.000</a:t>
            </a:r>
            <a:endParaRPr lang="en-US" sz="1200" dirty="0"/>
          </a:p>
        </p:txBody>
      </p:sp>
      <p:sp>
        <p:nvSpPr>
          <p:cNvPr id="30" name="Text 28"/>
          <p:cNvSpPr/>
          <p:nvPr/>
        </p:nvSpPr>
        <p:spPr>
          <a:xfrm>
            <a:off x="666750" y="2857500"/>
            <a:ext cx="2762250" cy="209550"/>
          </a:xfrm>
          <a:prstGeom prst="rect">
            <a:avLst/>
          </a:prstGeom>
          <a:noFill/>
          <a:ln/>
        </p:spPr>
        <p:txBody>
          <a:bodyPr wrap="square" lIns="0" tIns="0" rIns="0" bIns="0" rtlCol="0" anchor="t">
            <a:normAutofit/>
          </a:bodyPr>
          <a:lstStyle/>
          <a:p>
            <a:pPr marL="0" indent="0" algn="l">
              <a:lnSpc>
                <a:spcPct val="100000"/>
              </a:lnSpc>
              <a:buNone/>
            </a:pPr>
            <a:r>
              <a:rPr lang="en-US" sz="1340" dirty="0">
                <a:solidFill>
                  <a:srgbClr val="12263A"/>
                </a:solidFill>
                <a:latin typeface="Cambria" pitchFamily="34" charset="0"/>
                <a:ea typeface="Cambria" pitchFamily="34" charset="-122"/>
                <a:cs typeface="Cambria" pitchFamily="34" charset="-120"/>
              </a:rPr>
              <a:t>A5 DoS flooding</a:t>
            </a:r>
            <a:endParaRPr lang="en-US" sz="1340" dirty="0"/>
          </a:p>
        </p:txBody>
      </p:sp>
      <p:sp>
        <p:nvSpPr>
          <p:cNvPr id="31" name="Text 29"/>
          <p:cNvSpPr/>
          <p:nvPr/>
        </p:nvSpPr>
        <p:spPr>
          <a:xfrm>
            <a:off x="3429000" y="2867025"/>
            <a:ext cx="1047750" cy="190500"/>
          </a:xfrm>
          <a:prstGeom prst="rect">
            <a:avLst/>
          </a:prstGeom>
          <a:noFill/>
          <a:ln/>
        </p:spPr>
        <p:txBody>
          <a:bodyPr wrap="square" lIns="0" tIns="0" rIns="0" bIns="0" rtlCol="0" anchor="t">
            <a:normAutofit/>
          </a:bodyPr>
          <a:lstStyle/>
          <a:p>
            <a:pPr marL="0" indent="0" algn="l">
              <a:lnSpc>
                <a:spcPct val="100000"/>
              </a:lnSpc>
              <a:buNone/>
            </a:pPr>
            <a:r>
              <a:rPr lang="en-US" sz="1150" b="1" dirty="0">
                <a:solidFill>
                  <a:srgbClr val="B3402F"/>
                </a:solidFill>
                <a:latin typeface="Calibri" pitchFamily="34" charset="0"/>
                <a:ea typeface="Calibri" pitchFamily="34" charset="-122"/>
                <a:cs typeface="Calibri" pitchFamily="34" charset="-120"/>
              </a:rPr>
              <a:t>ATTACK</a:t>
            </a:r>
            <a:endParaRPr lang="en-US" sz="1150" dirty="0"/>
          </a:p>
        </p:txBody>
      </p:sp>
      <p:sp>
        <p:nvSpPr>
          <p:cNvPr id="32" name="Text 30"/>
          <p:cNvSpPr/>
          <p:nvPr/>
        </p:nvSpPr>
        <p:spPr>
          <a:xfrm>
            <a:off x="4667250" y="2857500"/>
            <a:ext cx="2000250" cy="209550"/>
          </a:xfrm>
          <a:prstGeom prst="rect">
            <a:avLst/>
          </a:prstGeom>
          <a:noFill/>
          <a:ln/>
        </p:spPr>
        <p:txBody>
          <a:bodyPr wrap="square" lIns="0" tIns="0" rIns="0" bIns="0" rtlCol="0" anchor="t">
            <a:normAutofit/>
          </a:bodyPr>
          <a:lstStyle/>
          <a:p>
            <a:pPr marL="0" indent="0" algn="l">
              <a:lnSpc>
                <a:spcPct val="100000"/>
              </a:lnSpc>
              <a:buNone/>
            </a:pPr>
            <a:r>
              <a:rPr lang="en-US" sz="1340" dirty="0">
                <a:solidFill>
                  <a:srgbClr val="5B6B7C"/>
                </a:solidFill>
                <a:latin typeface="Calibri" pitchFamily="34" charset="0"/>
                <a:ea typeface="Calibri" pitchFamily="34" charset="-122"/>
                <a:cs typeface="Calibri" pitchFamily="34" charset="-120"/>
              </a:rPr>
              <a:t>12/12</a:t>
            </a:r>
            <a:endParaRPr lang="en-US" sz="1340" dirty="0"/>
          </a:p>
        </p:txBody>
      </p:sp>
      <p:sp>
        <p:nvSpPr>
          <p:cNvPr id="33" name="Text 31"/>
          <p:cNvSpPr/>
          <p:nvPr/>
        </p:nvSpPr>
        <p:spPr>
          <a:xfrm>
            <a:off x="6858000" y="2857500"/>
            <a:ext cx="1809750" cy="209550"/>
          </a:xfrm>
          <a:prstGeom prst="rect">
            <a:avLst/>
          </a:prstGeom>
          <a:noFill/>
          <a:ln/>
        </p:spPr>
        <p:txBody>
          <a:bodyPr wrap="square" lIns="0" tIns="0" rIns="0" bIns="0" rtlCol="0" anchor="t">
            <a:normAutofit/>
          </a:bodyPr>
          <a:lstStyle/>
          <a:p>
            <a:pPr marL="0" indent="0" algn="l">
              <a:lnSpc>
                <a:spcPct val="100000"/>
              </a:lnSpc>
              <a:buNone/>
            </a:pPr>
            <a:r>
              <a:rPr lang="en-US" sz="1340" b="1" dirty="0">
                <a:solidFill>
                  <a:srgbClr val="12263A"/>
                </a:solidFill>
                <a:latin typeface="Calibri" pitchFamily="34" charset="0"/>
                <a:ea typeface="Calibri" pitchFamily="34" charset="-122"/>
                <a:cs typeface="Calibri" pitchFamily="34" charset="-120"/>
              </a:rPr>
              <a:t>12/12</a:t>
            </a:r>
            <a:endParaRPr lang="en-US" sz="1340" dirty="0"/>
          </a:p>
        </p:txBody>
      </p:sp>
      <p:sp>
        <p:nvSpPr>
          <p:cNvPr id="34" name="Text 32"/>
          <p:cNvSpPr/>
          <p:nvPr/>
        </p:nvSpPr>
        <p:spPr>
          <a:xfrm>
            <a:off x="8858250" y="2867025"/>
            <a:ext cx="1524000" cy="190500"/>
          </a:xfrm>
          <a:prstGeom prst="rect">
            <a:avLst/>
          </a:prstGeom>
          <a:noFill/>
          <a:ln/>
        </p:spPr>
        <p:txBody>
          <a:bodyPr wrap="square" lIns="0" tIns="0" rIns="0" bIns="0" rtlCol="0" anchor="t">
            <a:normAutofit/>
          </a:bodyPr>
          <a:lstStyle/>
          <a:p>
            <a:pPr marL="0" indent="0" algn="l">
              <a:lnSpc>
                <a:spcPct val="100000"/>
              </a:lnSpc>
              <a:buNone/>
            </a:pPr>
            <a:r>
              <a:rPr lang="en-US" sz="1200" dirty="0">
                <a:solidFill>
                  <a:srgbClr val="5B6B7C"/>
                </a:solidFill>
                <a:latin typeface="Calibri" pitchFamily="34" charset="0"/>
                <a:ea typeface="Calibri" pitchFamily="34" charset="-122"/>
                <a:cs typeface="Calibri" pitchFamily="34" charset="-120"/>
              </a:rPr>
              <a:t>0.757–1.000</a:t>
            </a:r>
            <a:endParaRPr lang="en-US" sz="1200" dirty="0"/>
          </a:p>
        </p:txBody>
      </p:sp>
      <p:sp>
        <p:nvSpPr>
          <p:cNvPr id="35" name="Text 33"/>
          <p:cNvSpPr/>
          <p:nvPr/>
        </p:nvSpPr>
        <p:spPr>
          <a:xfrm>
            <a:off x="666750" y="3152775"/>
            <a:ext cx="2762250" cy="209550"/>
          </a:xfrm>
          <a:prstGeom prst="rect">
            <a:avLst/>
          </a:prstGeom>
          <a:noFill/>
          <a:ln/>
        </p:spPr>
        <p:txBody>
          <a:bodyPr wrap="square" lIns="0" tIns="0" rIns="0" bIns="0" rtlCol="0" anchor="t">
            <a:normAutofit/>
          </a:bodyPr>
          <a:lstStyle/>
          <a:p>
            <a:pPr marL="0" indent="0" algn="l">
              <a:lnSpc>
                <a:spcPct val="100000"/>
              </a:lnSpc>
              <a:buNone/>
            </a:pPr>
            <a:r>
              <a:rPr lang="en-US" sz="1340" dirty="0">
                <a:solidFill>
                  <a:srgbClr val="12263A"/>
                </a:solidFill>
                <a:latin typeface="Cambria" pitchFamily="34" charset="0"/>
                <a:ea typeface="Cambria" pitchFamily="34" charset="-122"/>
                <a:cs typeface="Cambria" pitchFamily="34" charset="-120"/>
              </a:rPr>
              <a:t>A8 rogue boundary clock</a:t>
            </a:r>
            <a:endParaRPr lang="en-US" sz="1340" dirty="0"/>
          </a:p>
        </p:txBody>
      </p:sp>
      <p:sp>
        <p:nvSpPr>
          <p:cNvPr id="36" name="Text 34"/>
          <p:cNvSpPr/>
          <p:nvPr/>
        </p:nvSpPr>
        <p:spPr>
          <a:xfrm>
            <a:off x="3429000" y="3162300"/>
            <a:ext cx="1047750" cy="190500"/>
          </a:xfrm>
          <a:prstGeom prst="rect">
            <a:avLst/>
          </a:prstGeom>
          <a:noFill/>
          <a:ln/>
        </p:spPr>
        <p:txBody>
          <a:bodyPr wrap="square" lIns="0" tIns="0" rIns="0" bIns="0" rtlCol="0" anchor="t">
            <a:normAutofit/>
          </a:bodyPr>
          <a:lstStyle/>
          <a:p>
            <a:pPr marL="0" indent="0" algn="l">
              <a:lnSpc>
                <a:spcPct val="100000"/>
              </a:lnSpc>
              <a:buNone/>
            </a:pPr>
            <a:r>
              <a:rPr lang="en-US" sz="1150" b="1" dirty="0">
                <a:solidFill>
                  <a:srgbClr val="B3402F"/>
                </a:solidFill>
                <a:latin typeface="Calibri" pitchFamily="34" charset="0"/>
                <a:ea typeface="Calibri" pitchFamily="34" charset="-122"/>
                <a:cs typeface="Calibri" pitchFamily="34" charset="-120"/>
              </a:rPr>
              <a:t>ATTACK</a:t>
            </a:r>
            <a:endParaRPr lang="en-US" sz="1150" dirty="0"/>
          </a:p>
        </p:txBody>
      </p:sp>
      <p:sp>
        <p:nvSpPr>
          <p:cNvPr id="37" name="Text 35"/>
          <p:cNvSpPr/>
          <p:nvPr/>
        </p:nvSpPr>
        <p:spPr>
          <a:xfrm>
            <a:off x="4667250" y="3152775"/>
            <a:ext cx="2000250" cy="209550"/>
          </a:xfrm>
          <a:prstGeom prst="rect">
            <a:avLst/>
          </a:prstGeom>
          <a:noFill/>
          <a:ln/>
        </p:spPr>
        <p:txBody>
          <a:bodyPr wrap="square" lIns="0" tIns="0" rIns="0" bIns="0" rtlCol="0" anchor="t">
            <a:normAutofit/>
          </a:bodyPr>
          <a:lstStyle/>
          <a:p>
            <a:pPr marL="0" indent="0" algn="l">
              <a:lnSpc>
                <a:spcPct val="100000"/>
              </a:lnSpc>
              <a:buNone/>
            </a:pPr>
            <a:r>
              <a:rPr lang="en-US" sz="1340" dirty="0">
                <a:solidFill>
                  <a:srgbClr val="5B6B7C"/>
                </a:solidFill>
                <a:latin typeface="Calibri" pitchFamily="34" charset="0"/>
                <a:ea typeface="Calibri" pitchFamily="34" charset="-122"/>
                <a:cs typeface="Calibri" pitchFamily="34" charset="-120"/>
              </a:rPr>
              <a:t>12/12</a:t>
            </a:r>
            <a:endParaRPr lang="en-US" sz="1340" dirty="0"/>
          </a:p>
        </p:txBody>
      </p:sp>
      <p:sp>
        <p:nvSpPr>
          <p:cNvPr id="38" name="Text 36"/>
          <p:cNvSpPr/>
          <p:nvPr/>
        </p:nvSpPr>
        <p:spPr>
          <a:xfrm>
            <a:off x="6858000" y="3152775"/>
            <a:ext cx="1809750" cy="209550"/>
          </a:xfrm>
          <a:prstGeom prst="rect">
            <a:avLst/>
          </a:prstGeom>
          <a:noFill/>
          <a:ln/>
        </p:spPr>
        <p:txBody>
          <a:bodyPr wrap="square" lIns="0" tIns="0" rIns="0" bIns="0" rtlCol="0" anchor="t">
            <a:normAutofit/>
          </a:bodyPr>
          <a:lstStyle/>
          <a:p>
            <a:pPr marL="0" indent="0" algn="l">
              <a:lnSpc>
                <a:spcPct val="100000"/>
              </a:lnSpc>
              <a:buNone/>
            </a:pPr>
            <a:r>
              <a:rPr lang="en-US" sz="1340" b="1" dirty="0">
                <a:solidFill>
                  <a:srgbClr val="12263A"/>
                </a:solidFill>
                <a:latin typeface="Calibri" pitchFamily="34" charset="0"/>
                <a:ea typeface="Calibri" pitchFamily="34" charset="-122"/>
                <a:cs typeface="Calibri" pitchFamily="34" charset="-120"/>
              </a:rPr>
              <a:t>12/12</a:t>
            </a:r>
            <a:endParaRPr lang="en-US" sz="1340" dirty="0"/>
          </a:p>
        </p:txBody>
      </p:sp>
      <p:sp>
        <p:nvSpPr>
          <p:cNvPr id="39" name="Text 37"/>
          <p:cNvSpPr/>
          <p:nvPr/>
        </p:nvSpPr>
        <p:spPr>
          <a:xfrm>
            <a:off x="8858250" y="3162300"/>
            <a:ext cx="1524000" cy="190500"/>
          </a:xfrm>
          <a:prstGeom prst="rect">
            <a:avLst/>
          </a:prstGeom>
          <a:noFill/>
          <a:ln/>
        </p:spPr>
        <p:txBody>
          <a:bodyPr wrap="square" lIns="0" tIns="0" rIns="0" bIns="0" rtlCol="0" anchor="t">
            <a:normAutofit/>
          </a:bodyPr>
          <a:lstStyle/>
          <a:p>
            <a:pPr marL="0" indent="0" algn="l">
              <a:lnSpc>
                <a:spcPct val="100000"/>
              </a:lnSpc>
              <a:buNone/>
            </a:pPr>
            <a:r>
              <a:rPr lang="en-US" sz="1200" dirty="0">
                <a:solidFill>
                  <a:srgbClr val="5B6B7C"/>
                </a:solidFill>
                <a:latin typeface="Calibri" pitchFamily="34" charset="0"/>
                <a:ea typeface="Calibri" pitchFamily="34" charset="-122"/>
                <a:cs typeface="Calibri" pitchFamily="34" charset="-120"/>
              </a:rPr>
              <a:t>0.757–1.000</a:t>
            </a:r>
            <a:endParaRPr lang="en-US" sz="1200" dirty="0"/>
          </a:p>
        </p:txBody>
      </p:sp>
      <p:sp>
        <p:nvSpPr>
          <p:cNvPr id="40" name="Shape 38"/>
          <p:cNvSpPr/>
          <p:nvPr/>
        </p:nvSpPr>
        <p:spPr>
          <a:xfrm>
            <a:off x="571500" y="3400425"/>
            <a:ext cx="11049000" cy="285750"/>
          </a:xfrm>
          <a:prstGeom prst="rect">
            <a:avLst/>
          </a:prstGeom>
          <a:solidFill>
            <a:srgbClr val="EAF7F1"/>
          </a:solidFill>
          <a:ln/>
        </p:spPr>
        <p:txBody>
          <a:bodyPr/>
          <a:lstStyle/>
          <a:p>
            <a:endParaRPr lang="en-IN"/>
          </a:p>
        </p:txBody>
      </p:sp>
      <p:sp>
        <p:nvSpPr>
          <p:cNvPr id="41" name="Text 39"/>
          <p:cNvSpPr/>
          <p:nvPr/>
        </p:nvSpPr>
        <p:spPr>
          <a:xfrm>
            <a:off x="666750" y="3448050"/>
            <a:ext cx="2762250" cy="209550"/>
          </a:xfrm>
          <a:prstGeom prst="rect">
            <a:avLst/>
          </a:prstGeom>
          <a:noFill/>
          <a:ln/>
        </p:spPr>
        <p:txBody>
          <a:bodyPr wrap="square" lIns="0" tIns="0" rIns="0" bIns="0" rtlCol="0" anchor="t">
            <a:normAutofit/>
          </a:bodyPr>
          <a:lstStyle/>
          <a:p>
            <a:pPr marL="0" indent="0" algn="l">
              <a:lnSpc>
                <a:spcPct val="100000"/>
              </a:lnSpc>
              <a:buNone/>
            </a:pPr>
            <a:r>
              <a:rPr lang="en-US" sz="1340" b="1" dirty="0">
                <a:solidFill>
                  <a:srgbClr val="12263A"/>
                </a:solidFill>
                <a:latin typeface="Cambria" pitchFamily="34" charset="0"/>
                <a:ea typeface="Cambria" pitchFamily="34" charset="-122"/>
                <a:cs typeface="Cambria" pitchFamily="34" charset="-120"/>
              </a:rPr>
              <a:t>C1 selective interception</a:t>
            </a:r>
            <a:endParaRPr lang="en-US" sz="1340" dirty="0"/>
          </a:p>
        </p:txBody>
      </p:sp>
      <p:sp>
        <p:nvSpPr>
          <p:cNvPr id="42" name="Text 40"/>
          <p:cNvSpPr/>
          <p:nvPr/>
        </p:nvSpPr>
        <p:spPr>
          <a:xfrm>
            <a:off x="3429000" y="3457575"/>
            <a:ext cx="1047750" cy="190500"/>
          </a:xfrm>
          <a:prstGeom prst="rect">
            <a:avLst/>
          </a:prstGeom>
          <a:noFill/>
          <a:ln/>
        </p:spPr>
        <p:txBody>
          <a:bodyPr wrap="square" lIns="0" tIns="0" rIns="0" bIns="0" rtlCol="0" anchor="t">
            <a:normAutofit/>
          </a:bodyPr>
          <a:lstStyle/>
          <a:p>
            <a:pPr marL="0" indent="0" algn="l">
              <a:lnSpc>
                <a:spcPct val="100000"/>
              </a:lnSpc>
              <a:buNone/>
            </a:pPr>
            <a:r>
              <a:rPr lang="en-US" sz="1150" b="1" dirty="0">
                <a:solidFill>
                  <a:srgbClr val="B3402F"/>
                </a:solidFill>
                <a:latin typeface="Calibri" pitchFamily="34" charset="0"/>
                <a:ea typeface="Calibri" pitchFamily="34" charset="-122"/>
                <a:cs typeface="Calibri" pitchFamily="34" charset="-120"/>
              </a:rPr>
              <a:t>ATTACK</a:t>
            </a:r>
            <a:endParaRPr lang="en-US" sz="1150" dirty="0"/>
          </a:p>
        </p:txBody>
      </p:sp>
      <p:sp>
        <p:nvSpPr>
          <p:cNvPr id="43" name="Text 41"/>
          <p:cNvSpPr/>
          <p:nvPr/>
        </p:nvSpPr>
        <p:spPr>
          <a:xfrm>
            <a:off x="4667250" y="3448050"/>
            <a:ext cx="2000250" cy="209550"/>
          </a:xfrm>
          <a:prstGeom prst="rect">
            <a:avLst/>
          </a:prstGeom>
          <a:noFill/>
          <a:ln/>
        </p:spPr>
        <p:txBody>
          <a:bodyPr wrap="square" lIns="0" tIns="0" rIns="0" bIns="0" rtlCol="0" anchor="t">
            <a:normAutofit/>
          </a:bodyPr>
          <a:lstStyle/>
          <a:p>
            <a:pPr marL="0" indent="0" algn="l">
              <a:lnSpc>
                <a:spcPct val="100000"/>
              </a:lnSpc>
              <a:buNone/>
            </a:pPr>
            <a:r>
              <a:rPr lang="en-US" sz="1340" b="1" dirty="0">
                <a:solidFill>
                  <a:srgbClr val="B3402F"/>
                </a:solidFill>
                <a:latin typeface="Calibri" pitchFamily="34" charset="0"/>
                <a:ea typeface="Calibri" pitchFamily="34" charset="-122"/>
                <a:cs typeface="Calibri" pitchFamily="34" charset="-120"/>
              </a:rPr>
              <a:t>0/12</a:t>
            </a:r>
            <a:endParaRPr lang="en-US" sz="1340" dirty="0"/>
          </a:p>
        </p:txBody>
      </p:sp>
      <p:sp>
        <p:nvSpPr>
          <p:cNvPr id="44" name="Text 42"/>
          <p:cNvSpPr/>
          <p:nvPr/>
        </p:nvSpPr>
        <p:spPr>
          <a:xfrm>
            <a:off x="6858000" y="3448050"/>
            <a:ext cx="1809750" cy="209550"/>
          </a:xfrm>
          <a:prstGeom prst="rect">
            <a:avLst/>
          </a:prstGeom>
          <a:noFill/>
          <a:ln/>
        </p:spPr>
        <p:txBody>
          <a:bodyPr wrap="square" lIns="0" tIns="0" rIns="0" bIns="0" rtlCol="0" anchor="t">
            <a:normAutofit/>
          </a:bodyPr>
          <a:lstStyle/>
          <a:p>
            <a:pPr marL="0" indent="0" algn="l">
              <a:lnSpc>
                <a:spcPct val="100000"/>
              </a:lnSpc>
              <a:buNone/>
            </a:pPr>
            <a:r>
              <a:rPr lang="en-US" sz="1340" b="1" dirty="0">
                <a:solidFill>
                  <a:srgbClr val="1E8E5A"/>
                </a:solidFill>
                <a:latin typeface="Calibri" pitchFamily="34" charset="0"/>
                <a:ea typeface="Calibri" pitchFamily="34" charset="-122"/>
                <a:cs typeface="Calibri" pitchFamily="34" charset="-120"/>
              </a:rPr>
              <a:t>11/12</a:t>
            </a:r>
            <a:endParaRPr lang="en-US" sz="1340" dirty="0"/>
          </a:p>
        </p:txBody>
      </p:sp>
      <p:sp>
        <p:nvSpPr>
          <p:cNvPr id="45" name="Text 43"/>
          <p:cNvSpPr/>
          <p:nvPr/>
        </p:nvSpPr>
        <p:spPr>
          <a:xfrm>
            <a:off x="8858250" y="3457575"/>
            <a:ext cx="1524000" cy="190500"/>
          </a:xfrm>
          <a:prstGeom prst="rect">
            <a:avLst/>
          </a:prstGeom>
          <a:noFill/>
          <a:ln/>
        </p:spPr>
        <p:txBody>
          <a:bodyPr wrap="square" lIns="0" tIns="0" rIns="0" bIns="0" rtlCol="0" anchor="t">
            <a:normAutofit/>
          </a:bodyPr>
          <a:lstStyle/>
          <a:p>
            <a:pPr marL="0" indent="0" algn="l">
              <a:lnSpc>
                <a:spcPct val="100000"/>
              </a:lnSpc>
              <a:buNone/>
            </a:pPr>
            <a:r>
              <a:rPr lang="en-US" sz="1200" dirty="0">
                <a:solidFill>
                  <a:srgbClr val="5B6B7C"/>
                </a:solidFill>
                <a:latin typeface="Calibri" pitchFamily="34" charset="0"/>
                <a:ea typeface="Calibri" pitchFamily="34" charset="-122"/>
                <a:cs typeface="Calibri" pitchFamily="34" charset="-120"/>
              </a:rPr>
              <a:t>0.646–0.985</a:t>
            </a:r>
            <a:endParaRPr lang="en-US" sz="1200" dirty="0"/>
          </a:p>
        </p:txBody>
      </p:sp>
      <p:sp>
        <p:nvSpPr>
          <p:cNvPr id="46" name="Text 44"/>
          <p:cNvSpPr/>
          <p:nvPr/>
        </p:nvSpPr>
        <p:spPr>
          <a:xfrm>
            <a:off x="10382250" y="3457575"/>
            <a:ext cx="1143000" cy="190500"/>
          </a:xfrm>
          <a:prstGeom prst="rect">
            <a:avLst/>
          </a:prstGeom>
          <a:noFill/>
          <a:ln/>
        </p:spPr>
        <p:txBody>
          <a:bodyPr wrap="square" lIns="0" tIns="0" rIns="0" bIns="0" rtlCol="0" anchor="t">
            <a:normAutofit/>
          </a:bodyPr>
          <a:lstStyle/>
          <a:p>
            <a:pPr marL="0" indent="0" algn="l">
              <a:lnSpc>
                <a:spcPct val="100000"/>
              </a:lnSpc>
              <a:buNone/>
            </a:pPr>
            <a:r>
              <a:rPr lang="en-US" sz="1050" b="1" dirty="0">
                <a:solidFill>
                  <a:srgbClr val="1E8E5A"/>
                </a:solidFill>
                <a:latin typeface="Calibri" pitchFamily="34" charset="0"/>
                <a:ea typeface="Calibri" pitchFamily="34" charset="-122"/>
                <a:cs typeface="Calibri" pitchFamily="34" charset="-120"/>
              </a:rPr>
              <a:t>gap closed</a:t>
            </a:r>
            <a:endParaRPr lang="en-US" sz="1050" dirty="0"/>
          </a:p>
        </p:txBody>
      </p:sp>
      <p:sp>
        <p:nvSpPr>
          <p:cNvPr id="47" name="Shape 45"/>
          <p:cNvSpPr/>
          <p:nvPr/>
        </p:nvSpPr>
        <p:spPr>
          <a:xfrm>
            <a:off x="571500" y="3695700"/>
            <a:ext cx="11049000" cy="285750"/>
          </a:xfrm>
          <a:prstGeom prst="rect">
            <a:avLst/>
          </a:prstGeom>
          <a:solidFill>
            <a:srgbClr val="EAF7F1"/>
          </a:solidFill>
          <a:ln/>
        </p:spPr>
        <p:txBody>
          <a:bodyPr/>
          <a:lstStyle/>
          <a:p>
            <a:endParaRPr lang="en-IN"/>
          </a:p>
        </p:txBody>
      </p:sp>
      <p:sp>
        <p:nvSpPr>
          <p:cNvPr id="48" name="Text 46"/>
          <p:cNvSpPr/>
          <p:nvPr/>
        </p:nvSpPr>
        <p:spPr>
          <a:xfrm>
            <a:off x="666750" y="3743325"/>
            <a:ext cx="2762250" cy="209550"/>
          </a:xfrm>
          <a:prstGeom prst="rect">
            <a:avLst/>
          </a:prstGeom>
          <a:noFill/>
          <a:ln/>
        </p:spPr>
        <p:txBody>
          <a:bodyPr wrap="square" lIns="0" tIns="0" rIns="0" bIns="0" rtlCol="0" anchor="t">
            <a:normAutofit/>
          </a:bodyPr>
          <a:lstStyle/>
          <a:p>
            <a:pPr marL="0" indent="0" algn="l">
              <a:lnSpc>
                <a:spcPct val="100000"/>
              </a:lnSpc>
              <a:buNone/>
            </a:pPr>
            <a:r>
              <a:rPr lang="en-US" sz="1340" b="1" dirty="0">
                <a:solidFill>
                  <a:srgbClr val="12263A"/>
                </a:solidFill>
                <a:latin typeface="Cambria" pitchFamily="34" charset="0"/>
                <a:ea typeface="Cambria" pitchFamily="34" charset="-122"/>
                <a:cs typeface="Cambria" pitchFamily="34" charset="-120"/>
              </a:rPr>
              <a:t>C2 malformed frames</a:t>
            </a:r>
            <a:endParaRPr lang="en-US" sz="1340" dirty="0"/>
          </a:p>
        </p:txBody>
      </p:sp>
      <p:sp>
        <p:nvSpPr>
          <p:cNvPr id="49" name="Text 47"/>
          <p:cNvSpPr/>
          <p:nvPr/>
        </p:nvSpPr>
        <p:spPr>
          <a:xfrm>
            <a:off x="3429000" y="3752850"/>
            <a:ext cx="1047750" cy="190500"/>
          </a:xfrm>
          <a:prstGeom prst="rect">
            <a:avLst/>
          </a:prstGeom>
          <a:noFill/>
          <a:ln/>
        </p:spPr>
        <p:txBody>
          <a:bodyPr wrap="square" lIns="0" tIns="0" rIns="0" bIns="0" rtlCol="0" anchor="t">
            <a:normAutofit/>
          </a:bodyPr>
          <a:lstStyle/>
          <a:p>
            <a:pPr marL="0" indent="0" algn="l">
              <a:lnSpc>
                <a:spcPct val="100000"/>
              </a:lnSpc>
              <a:buNone/>
            </a:pPr>
            <a:r>
              <a:rPr lang="en-US" sz="1150" b="1" dirty="0">
                <a:solidFill>
                  <a:srgbClr val="B3402F"/>
                </a:solidFill>
                <a:latin typeface="Calibri" pitchFamily="34" charset="0"/>
                <a:ea typeface="Calibri" pitchFamily="34" charset="-122"/>
                <a:cs typeface="Calibri" pitchFamily="34" charset="-120"/>
              </a:rPr>
              <a:t>ATTACK</a:t>
            </a:r>
            <a:endParaRPr lang="en-US" sz="1150" dirty="0"/>
          </a:p>
        </p:txBody>
      </p:sp>
      <p:sp>
        <p:nvSpPr>
          <p:cNvPr id="50" name="Text 48"/>
          <p:cNvSpPr/>
          <p:nvPr/>
        </p:nvSpPr>
        <p:spPr>
          <a:xfrm>
            <a:off x="4667250" y="3743325"/>
            <a:ext cx="2000250" cy="209550"/>
          </a:xfrm>
          <a:prstGeom prst="rect">
            <a:avLst/>
          </a:prstGeom>
          <a:noFill/>
          <a:ln/>
        </p:spPr>
        <p:txBody>
          <a:bodyPr wrap="square" lIns="0" tIns="0" rIns="0" bIns="0" rtlCol="0" anchor="t">
            <a:normAutofit/>
          </a:bodyPr>
          <a:lstStyle/>
          <a:p>
            <a:pPr marL="0" indent="0" algn="l">
              <a:lnSpc>
                <a:spcPct val="100000"/>
              </a:lnSpc>
              <a:buNone/>
            </a:pPr>
            <a:r>
              <a:rPr lang="en-US" sz="1340" b="1" dirty="0">
                <a:solidFill>
                  <a:srgbClr val="B3402F"/>
                </a:solidFill>
                <a:latin typeface="Calibri" pitchFamily="34" charset="0"/>
                <a:ea typeface="Calibri" pitchFamily="34" charset="-122"/>
                <a:cs typeface="Calibri" pitchFamily="34" charset="-120"/>
              </a:rPr>
              <a:t>0/12</a:t>
            </a:r>
            <a:endParaRPr lang="en-US" sz="1340" dirty="0"/>
          </a:p>
        </p:txBody>
      </p:sp>
      <p:sp>
        <p:nvSpPr>
          <p:cNvPr id="51" name="Text 49"/>
          <p:cNvSpPr/>
          <p:nvPr/>
        </p:nvSpPr>
        <p:spPr>
          <a:xfrm>
            <a:off x="6858000" y="3743325"/>
            <a:ext cx="1809750" cy="209550"/>
          </a:xfrm>
          <a:prstGeom prst="rect">
            <a:avLst/>
          </a:prstGeom>
          <a:noFill/>
          <a:ln/>
        </p:spPr>
        <p:txBody>
          <a:bodyPr wrap="square" lIns="0" tIns="0" rIns="0" bIns="0" rtlCol="0" anchor="t">
            <a:normAutofit/>
          </a:bodyPr>
          <a:lstStyle/>
          <a:p>
            <a:pPr marL="0" indent="0" algn="l">
              <a:lnSpc>
                <a:spcPct val="100000"/>
              </a:lnSpc>
              <a:buNone/>
            </a:pPr>
            <a:r>
              <a:rPr lang="en-US" sz="1340" b="1" dirty="0">
                <a:solidFill>
                  <a:srgbClr val="1E8E5A"/>
                </a:solidFill>
                <a:latin typeface="Calibri" pitchFamily="34" charset="0"/>
                <a:ea typeface="Calibri" pitchFamily="34" charset="-122"/>
                <a:cs typeface="Calibri" pitchFamily="34" charset="-120"/>
              </a:rPr>
              <a:t>12/12</a:t>
            </a:r>
            <a:endParaRPr lang="en-US" sz="1340" dirty="0"/>
          </a:p>
        </p:txBody>
      </p:sp>
      <p:sp>
        <p:nvSpPr>
          <p:cNvPr id="52" name="Text 50"/>
          <p:cNvSpPr/>
          <p:nvPr/>
        </p:nvSpPr>
        <p:spPr>
          <a:xfrm>
            <a:off x="8858250" y="3752850"/>
            <a:ext cx="1524000" cy="190500"/>
          </a:xfrm>
          <a:prstGeom prst="rect">
            <a:avLst/>
          </a:prstGeom>
          <a:noFill/>
          <a:ln/>
        </p:spPr>
        <p:txBody>
          <a:bodyPr wrap="square" lIns="0" tIns="0" rIns="0" bIns="0" rtlCol="0" anchor="t">
            <a:normAutofit/>
          </a:bodyPr>
          <a:lstStyle/>
          <a:p>
            <a:pPr marL="0" indent="0" algn="l">
              <a:lnSpc>
                <a:spcPct val="100000"/>
              </a:lnSpc>
              <a:buNone/>
            </a:pPr>
            <a:r>
              <a:rPr lang="en-US" sz="1200" dirty="0">
                <a:solidFill>
                  <a:srgbClr val="5B6B7C"/>
                </a:solidFill>
                <a:latin typeface="Calibri" pitchFamily="34" charset="0"/>
                <a:ea typeface="Calibri" pitchFamily="34" charset="-122"/>
                <a:cs typeface="Calibri" pitchFamily="34" charset="-120"/>
              </a:rPr>
              <a:t>0.757–1.000</a:t>
            </a:r>
            <a:endParaRPr lang="en-US" sz="1200" dirty="0"/>
          </a:p>
        </p:txBody>
      </p:sp>
      <p:sp>
        <p:nvSpPr>
          <p:cNvPr id="53" name="Text 51"/>
          <p:cNvSpPr/>
          <p:nvPr/>
        </p:nvSpPr>
        <p:spPr>
          <a:xfrm>
            <a:off x="10382250" y="3752850"/>
            <a:ext cx="1143000" cy="190500"/>
          </a:xfrm>
          <a:prstGeom prst="rect">
            <a:avLst/>
          </a:prstGeom>
          <a:noFill/>
          <a:ln/>
        </p:spPr>
        <p:txBody>
          <a:bodyPr wrap="square" lIns="0" tIns="0" rIns="0" bIns="0" rtlCol="0" anchor="t">
            <a:normAutofit/>
          </a:bodyPr>
          <a:lstStyle/>
          <a:p>
            <a:pPr marL="0" indent="0" algn="l">
              <a:lnSpc>
                <a:spcPct val="100000"/>
              </a:lnSpc>
              <a:buNone/>
            </a:pPr>
            <a:r>
              <a:rPr lang="en-US" sz="1050" b="1" dirty="0">
                <a:solidFill>
                  <a:srgbClr val="1E8E5A"/>
                </a:solidFill>
                <a:latin typeface="Calibri" pitchFamily="34" charset="0"/>
                <a:ea typeface="Calibri" pitchFamily="34" charset="-122"/>
                <a:cs typeface="Calibri" pitchFamily="34" charset="-120"/>
              </a:rPr>
              <a:t>gap closed</a:t>
            </a:r>
            <a:endParaRPr lang="en-US" sz="1050" dirty="0"/>
          </a:p>
        </p:txBody>
      </p:sp>
      <p:sp>
        <p:nvSpPr>
          <p:cNvPr id="54" name="Shape 52"/>
          <p:cNvSpPr/>
          <p:nvPr/>
        </p:nvSpPr>
        <p:spPr>
          <a:xfrm>
            <a:off x="571500" y="3990975"/>
            <a:ext cx="11049000" cy="285750"/>
          </a:xfrm>
          <a:prstGeom prst="rect">
            <a:avLst/>
          </a:prstGeom>
          <a:solidFill>
            <a:srgbClr val="EAF7F1"/>
          </a:solidFill>
          <a:ln/>
        </p:spPr>
        <p:txBody>
          <a:bodyPr/>
          <a:lstStyle/>
          <a:p>
            <a:endParaRPr lang="en-IN"/>
          </a:p>
        </p:txBody>
      </p:sp>
      <p:sp>
        <p:nvSpPr>
          <p:cNvPr id="55" name="Text 53"/>
          <p:cNvSpPr/>
          <p:nvPr/>
        </p:nvSpPr>
        <p:spPr>
          <a:xfrm>
            <a:off x="666750" y="4038600"/>
            <a:ext cx="2762250" cy="209550"/>
          </a:xfrm>
          <a:prstGeom prst="rect">
            <a:avLst/>
          </a:prstGeom>
          <a:noFill/>
          <a:ln/>
        </p:spPr>
        <p:txBody>
          <a:bodyPr wrap="square" lIns="0" tIns="0" rIns="0" bIns="0" rtlCol="0" anchor="t">
            <a:normAutofit/>
          </a:bodyPr>
          <a:lstStyle/>
          <a:p>
            <a:pPr marL="0" indent="0" algn="l">
              <a:lnSpc>
                <a:spcPct val="100000"/>
              </a:lnSpc>
              <a:buNone/>
            </a:pPr>
            <a:r>
              <a:rPr lang="en-US" sz="1340" b="1" dirty="0">
                <a:solidFill>
                  <a:srgbClr val="12263A"/>
                </a:solidFill>
                <a:latin typeface="Cambria" pitchFamily="34" charset="0"/>
                <a:ea typeface="Cambria" pitchFamily="34" charset="-122"/>
                <a:cs typeface="Cambria" pitchFamily="34" charset="-120"/>
              </a:rPr>
              <a:t>C3 whole-second abuse</a:t>
            </a:r>
            <a:endParaRPr lang="en-US" sz="1340" dirty="0"/>
          </a:p>
        </p:txBody>
      </p:sp>
      <p:sp>
        <p:nvSpPr>
          <p:cNvPr id="56" name="Text 54"/>
          <p:cNvSpPr/>
          <p:nvPr/>
        </p:nvSpPr>
        <p:spPr>
          <a:xfrm>
            <a:off x="3429000" y="4048125"/>
            <a:ext cx="1047750" cy="190500"/>
          </a:xfrm>
          <a:prstGeom prst="rect">
            <a:avLst/>
          </a:prstGeom>
          <a:noFill/>
          <a:ln/>
        </p:spPr>
        <p:txBody>
          <a:bodyPr wrap="square" lIns="0" tIns="0" rIns="0" bIns="0" rtlCol="0" anchor="t">
            <a:normAutofit/>
          </a:bodyPr>
          <a:lstStyle/>
          <a:p>
            <a:pPr marL="0" indent="0" algn="l">
              <a:lnSpc>
                <a:spcPct val="100000"/>
              </a:lnSpc>
              <a:buNone/>
            </a:pPr>
            <a:r>
              <a:rPr lang="en-US" sz="1150" b="1" dirty="0">
                <a:solidFill>
                  <a:srgbClr val="B3402F"/>
                </a:solidFill>
                <a:latin typeface="Calibri" pitchFamily="34" charset="0"/>
                <a:ea typeface="Calibri" pitchFamily="34" charset="-122"/>
                <a:cs typeface="Calibri" pitchFamily="34" charset="-120"/>
              </a:rPr>
              <a:t>ATTACK</a:t>
            </a:r>
            <a:endParaRPr lang="en-US" sz="1150" dirty="0"/>
          </a:p>
        </p:txBody>
      </p:sp>
      <p:sp>
        <p:nvSpPr>
          <p:cNvPr id="57" name="Text 55"/>
          <p:cNvSpPr/>
          <p:nvPr/>
        </p:nvSpPr>
        <p:spPr>
          <a:xfrm>
            <a:off x="4667250" y="4038600"/>
            <a:ext cx="2000250" cy="209550"/>
          </a:xfrm>
          <a:prstGeom prst="rect">
            <a:avLst/>
          </a:prstGeom>
          <a:noFill/>
          <a:ln/>
        </p:spPr>
        <p:txBody>
          <a:bodyPr wrap="square" lIns="0" tIns="0" rIns="0" bIns="0" rtlCol="0" anchor="t">
            <a:normAutofit/>
          </a:bodyPr>
          <a:lstStyle/>
          <a:p>
            <a:pPr marL="0" indent="0" algn="l">
              <a:lnSpc>
                <a:spcPct val="100000"/>
              </a:lnSpc>
              <a:buNone/>
            </a:pPr>
            <a:r>
              <a:rPr lang="en-US" sz="1340" b="1" dirty="0">
                <a:solidFill>
                  <a:srgbClr val="B3402F"/>
                </a:solidFill>
                <a:latin typeface="Calibri" pitchFamily="34" charset="0"/>
                <a:ea typeface="Calibri" pitchFamily="34" charset="-122"/>
                <a:cs typeface="Calibri" pitchFamily="34" charset="-120"/>
              </a:rPr>
              <a:t>0/12</a:t>
            </a:r>
            <a:endParaRPr lang="en-US" sz="1340" dirty="0"/>
          </a:p>
        </p:txBody>
      </p:sp>
      <p:sp>
        <p:nvSpPr>
          <p:cNvPr id="58" name="Text 56"/>
          <p:cNvSpPr/>
          <p:nvPr/>
        </p:nvSpPr>
        <p:spPr>
          <a:xfrm>
            <a:off x="6858000" y="4038600"/>
            <a:ext cx="1809750" cy="209550"/>
          </a:xfrm>
          <a:prstGeom prst="rect">
            <a:avLst/>
          </a:prstGeom>
          <a:noFill/>
          <a:ln/>
        </p:spPr>
        <p:txBody>
          <a:bodyPr wrap="square" lIns="0" tIns="0" rIns="0" bIns="0" rtlCol="0" anchor="t">
            <a:normAutofit/>
          </a:bodyPr>
          <a:lstStyle/>
          <a:p>
            <a:pPr marL="0" indent="0" algn="l">
              <a:lnSpc>
                <a:spcPct val="100000"/>
              </a:lnSpc>
              <a:buNone/>
            </a:pPr>
            <a:r>
              <a:rPr lang="en-US" sz="1340" b="1" dirty="0">
                <a:solidFill>
                  <a:srgbClr val="1E8E5A"/>
                </a:solidFill>
                <a:latin typeface="Calibri" pitchFamily="34" charset="0"/>
                <a:ea typeface="Calibri" pitchFamily="34" charset="-122"/>
                <a:cs typeface="Calibri" pitchFamily="34" charset="-120"/>
              </a:rPr>
              <a:t>12/12</a:t>
            </a:r>
            <a:endParaRPr lang="en-US" sz="1340" dirty="0"/>
          </a:p>
        </p:txBody>
      </p:sp>
      <p:sp>
        <p:nvSpPr>
          <p:cNvPr id="59" name="Text 57"/>
          <p:cNvSpPr/>
          <p:nvPr/>
        </p:nvSpPr>
        <p:spPr>
          <a:xfrm>
            <a:off x="8858250" y="4048125"/>
            <a:ext cx="1524000" cy="190500"/>
          </a:xfrm>
          <a:prstGeom prst="rect">
            <a:avLst/>
          </a:prstGeom>
          <a:noFill/>
          <a:ln/>
        </p:spPr>
        <p:txBody>
          <a:bodyPr wrap="square" lIns="0" tIns="0" rIns="0" bIns="0" rtlCol="0" anchor="t">
            <a:normAutofit/>
          </a:bodyPr>
          <a:lstStyle/>
          <a:p>
            <a:pPr marL="0" indent="0" algn="l">
              <a:lnSpc>
                <a:spcPct val="100000"/>
              </a:lnSpc>
              <a:buNone/>
            </a:pPr>
            <a:r>
              <a:rPr lang="en-US" sz="1200" dirty="0">
                <a:solidFill>
                  <a:srgbClr val="5B6B7C"/>
                </a:solidFill>
                <a:latin typeface="Calibri" pitchFamily="34" charset="0"/>
                <a:ea typeface="Calibri" pitchFamily="34" charset="-122"/>
                <a:cs typeface="Calibri" pitchFamily="34" charset="-120"/>
              </a:rPr>
              <a:t>0.757–1.000</a:t>
            </a:r>
            <a:endParaRPr lang="en-US" sz="1200" dirty="0"/>
          </a:p>
        </p:txBody>
      </p:sp>
      <p:sp>
        <p:nvSpPr>
          <p:cNvPr id="60" name="Text 58"/>
          <p:cNvSpPr/>
          <p:nvPr/>
        </p:nvSpPr>
        <p:spPr>
          <a:xfrm>
            <a:off x="10382250" y="4048125"/>
            <a:ext cx="1143000" cy="190500"/>
          </a:xfrm>
          <a:prstGeom prst="rect">
            <a:avLst/>
          </a:prstGeom>
          <a:noFill/>
          <a:ln/>
        </p:spPr>
        <p:txBody>
          <a:bodyPr wrap="square" lIns="0" tIns="0" rIns="0" bIns="0" rtlCol="0" anchor="t">
            <a:normAutofit/>
          </a:bodyPr>
          <a:lstStyle/>
          <a:p>
            <a:pPr marL="0" indent="0" algn="l">
              <a:lnSpc>
                <a:spcPct val="100000"/>
              </a:lnSpc>
              <a:buNone/>
            </a:pPr>
            <a:r>
              <a:rPr lang="en-US" sz="1050" b="1" dirty="0">
                <a:solidFill>
                  <a:srgbClr val="1E8E5A"/>
                </a:solidFill>
                <a:latin typeface="Calibri" pitchFamily="34" charset="0"/>
                <a:ea typeface="Calibri" pitchFamily="34" charset="-122"/>
                <a:cs typeface="Calibri" pitchFamily="34" charset="-120"/>
              </a:rPr>
              <a:t>gap closed</a:t>
            </a:r>
            <a:endParaRPr lang="en-US" sz="1050" dirty="0"/>
          </a:p>
        </p:txBody>
      </p:sp>
      <p:sp>
        <p:nvSpPr>
          <p:cNvPr id="61" name="Text 59"/>
          <p:cNvSpPr/>
          <p:nvPr/>
        </p:nvSpPr>
        <p:spPr>
          <a:xfrm>
            <a:off x="666750" y="4333875"/>
            <a:ext cx="2762250" cy="209550"/>
          </a:xfrm>
          <a:prstGeom prst="rect">
            <a:avLst/>
          </a:prstGeom>
          <a:noFill/>
          <a:ln/>
        </p:spPr>
        <p:txBody>
          <a:bodyPr wrap="square" lIns="0" tIns="0" rIns="0" bIns="0" rtlCol="0" anchor="t">
            <a:normAutofit/>
          </a:bodyPr>
          <a:lstStyle/>
          <a:p>
            <a:pPr marL="0" indent="0" algn="l">
              <a:lnSpc>
                <a:spcPct val="100000"/>
              </a:lnSpc>
              <a:buNone/>
            </a:pPr>
            <a:r>
              <a:rPr lang="en-US" sz="1340" dirty="0">
                <a:solidFill>
                  <a:srgbClr val="12263A"/>
                </a:solidFill>
                <a:latin typeface="Cambria" pitchFamily="34" charset="0"/>
                <a:ea typeface="Cambria" pitchFamily="34" charset="-122"/>
                <a:cs typeface="Cambria" pitchFamily="34" charset="-120"/>
              </a:rPr>
              <a:t>baseline</a:t>
            </a:r>
            <a:endParaRPr lang="en-US" sz="1340" dirty="0"/>
          </a:p>
        </p:txBody>
      </p:sp>
      <p:sp>
        <p:nvSpPr>
          <p:cNvPr id="62" name="Text 60"/>
          <p:cNvSpPr/>
          <p:nvPr/>
        </p:nvSpPr>
        <p:spPr>
          <a:xfrm>
            <a:off x="3429000" y="4343400"/>
            <a:ext cx="1047750" cy="190500"/>
          </a:xfrm>
          <a:prstGeom prst="rect">
            <a:avLst/>
          </a:prstGeom>
          <a:noFill/>
          <a:ln/>
        </p:spPr>
        <p:txBody>
          <a:bodyPr wrap="square" lIns="0" tIns="0" rIns="0" bIns="0" rtlCol="0" anchor="t">
            <a:normAutofit/>
          </a:bodyPr>
          <a:lstStyle/>
          <a:p>
            <a:pPr marL="0" indent="0" algn="l">
              <a:lnSpc>
                <a:spcPct val="100000"/>
              </a:lnSpc>
              <a:buNone/>
            </a:pPr>
            <a:r>
              <a:rPr lang="en-US" sz="1150" b="1" dirty="0">
                <a:solidFill>
                  <a:srgbClr val="1E8E5A"/>
                </a:solidFill>
                <a:latin typeface="Calibri" pitchFamily="34" charset="0"/>
                <a:ea typeface="Calibri" pitchFamily="34" charset="-122"/>
                <a:cs typeface="Calibri" pitchFamily="34" charset="-120"/>
              </a:rPr>
              <a:t>BENIGN</a:t>
            </a:r>
            <a:endParaRPr lang="en-US" sz="1150" dirty="0"/>
          </a:p>
        </p:txBody>
      </p:sp>
      <p:sp>
        <p:nvSpPr>
          <p:cNvPr id="63" name="Text 61"/>
          <p:cNvSpPr/>
          <p:nvPr/>
        </p:nvSpPr>
        <p:spPr>
          <a:xfrm>
            <a:off x="4667250" y="4333875"/>
            <a:ext cx="2000250" cy="209550"/>
          </a:xfrm>
          <a:prstGeom prst="rect">
            <a:avLst/>
          </a:prstGeom>
          <a:noFill/>
          <a:ln/>
        </p:spPr>
        <p:txBody>
          <a:bodyPr wrap="square" lIns="0" tIns="0" rIns="0" bIns="0" rtlCol="0" anchor="t">
            <a:normAutofit/>
          </a:bodyPr>
          <a:lstStyle/>
          <a:p>
            <a:pPr marL="0" indent="0" algn="l">
              <a:lnSpc>
                <a:spcPct val="100000"/>
              </a:lnSpc>
              <a:buNone/>
            </a:pPr>
            <a:r>
              <a:rPr lang="en-US" sz="1340" dirty="0">
                <a:solidFill>
                  <a:srgbClr val="5B6B7C"/>
                </a:solidFill>
                <a:latin typeface="Calibri" pitchFamily="34" charset="0"/>
                <a:ea typeface="Calibri" pitchFamily="34" charset="-122"/>
                <a:cs typeface="Calibri" pitchFamily="34" charset="-120"/>
              </a:rPr>
              <a:t>12/12</a:t>
            </a:r>
            <a:endParaRPr lang="en-US" sz="1340" dirty="0"/>
          </a:p>
        </p:txBody>
      </p:sp>
      <p:sp>
        <p:nvSpPr>
          <p:cNvPr id="64" name="Text 62"/>
          <p:cNvSpPr/>
          <p:nvPr/>
        </p:nvSpPr>
        <p:spPr>
          <a:xfrm>
            <a:off x="6858000" y="4333875"/>
            <a:ext cx="1809750" cy="209550"/>
          </a:xfrm>
          <a:prstGeom prst="rect">
            <a:avLst/>
          </a:prstGeom>
          <a:noFill/>
          <a:ln/>
        </p:spPr>
        <p:txBody>
          <a:bodyPr wrap="square" lIns="0" tIns="0" rIns="0" bIns="0" rtlCol="0" anchor="t">
            <a:normAutofit/>
          </a:bodyPr>
          <a:lstStyle/>
          <a:p>
            <a:pPr marL="0" indent="0" algn="l">
              <a:lnSpc>
                <a:spcPct val="100000"/>
              </a:lnSpc>
              <a:buNone/>
            </a:pPr>
            <a:r>
              <a:rPr lang="en-US" sz="1340" b="1" dirty="0">
                <a:solidFill>
                  <a:srgbClr val="12263A"/>
                </a:solidFill>
                <a:latin typeface="Calibri" pitchFamily="34" charset="0"/>
                <a:ea typeface="Calibri" pitchFamily="34" charset="-122"/>
                <a:cs typeface="Calibri" pitchFamily="34" charset="-120"/>
              </a:rPr>
              <a:t>12/12</a:t>
            </a:r>
            <a:endParaRPr lang="en-US" sz="1340" dirty="0"/>
          </a:p>
        </p:txBody>
      </p:sp>
      <p:sp>
        <p:nvSpPr>
          <p:cNvPr id="65" name="Text 63"/>
          <p:cNvSpPr/>
          <p:nvPr/>
        </p:nvSpPr>
        <p:spPr>
          <a:xfrm>
            <a:off x="8858250" y="4343400"/>
            <a:ext cx="1524000" cy="190500"/>
          </a:xfrm>
          <a:prstGeom prst="rect">
            <a:avLst/>
          </a:prstGeom>
          <a:noFill/>
          <a:ln/>
        </p:spPr>
        <p:txBody>
          <a:bodyPr wrap="square" lIns="0" tIns="0" rIns="0" bIns="0" rtlCol="0" anchor="t">
            <a:normAutofit/>
          </a:bodyPr>
          <a:lstStyle/>
          <a:p>
            <a:pPr marL="0" indent="0" algn="l">
              <a:lnSpc>
                <a:spcPct val="100000"/>
              </a:lnSpc>
              <a:buNone/>
            </a:pPr>
            <a:r>
              <a:rPr lang="en-US" sz="1200" dirty="0">
                <a:solidFill>
                  <a:srgbClr val="5B6B7C"/>
                </a:solidFill>
                <a:latin typeface="Calibri" pitchFamily="34" charset="0"/>
                <a:ea typeface="Calibri" pitchFamily="34" charset="-122"/>
                <a:cs typeface="Calibri" pitchFamily="34" charset="-120"/>
              </a:rPr>
              <a:t>0.757–1.000</a:t>
            </a:r>
            <a:endParaRPr lang="en-US" sz="1200" dirty="0"/>
          </a:p>
        </p:txBody>
      </p:sp>
      <p:sp>
        <p:nvSpPr>
          <p:cNvPr id="66" name="Text 64"/>
          <p:cNvSpPr/>
          <p:nvPr/>
        </p:nvSpPr>
        <p:spPr>
          <a:xfrm>
            <a:off x="666750" y="4629150"/>
            <a:ext cx="2762250" cy="209550"/>
          </a:xfrm>
          <a:prstGeom prst="rect">
            <a:avLst/>
          </a:prstGeom>
          <a:noFill/>
          <a:ln/>
        </p:spPr>
        <p:txBody>
          <a:bodyPr wrap="square" lIns="0" tIns="0" rIns="0" bIns="0" rtlCol="0" anchor="t">
            <a:normAutofit/>
          </a:bodyPr>
          <a:lstStyle/>
          <a:p>
            <a:pPr marL="0" indent="0" algn="l">
              <a:lnSpc>
                <a:spcPct val="100000"/>
              </a:lnSpc>
              <a:buNone/>
            </a:pPr>
            <a:r>
              <a:rPr lang="en-US" sz="1340" dirty="0">
                <a:solidFill>
                  <a:srgbClr val="12263A"/>
                </a:solidFill>
                <a:latin typeface="Cambria" pitchFamily="34" charset="0"/>
                <a:ea typeface="Cambria" pitchFamily="34" charset="-122"/>
                <a:cs typeface="Cambria" pitchFamily="34" charset="-120"/>
              </a:rPr>
              <a:t>B2 planned GM changeover</a:t>
            </a:r>
            <a:endParaRPr lang="en-US" sz="1340" dirty="0"/>
          </a:p>
        </p:txBody>
      </p:sp>
      <p:sp>
        <p:nvSpPr>
          <p:cNvPr id="67" name="Text 65"/>
          <p:cNvSpPr/>
          <p:nvPr/>
        </p:nvSpPr>
        <p:spPr>
          <a:xfrm>
            <a:off x="3429000" y="4638675"/>
            <a:ext cx="1047750" cy="190500"/>
          </a:xfrm>
          <a:prstGeom prst="rect">
            <a:avLst/>
          </a:prstGeom>
          <a:noFill/>
          <a:ln/>
        </p:spPr>
        <p:txBody>
          <a:bodyPr wrap="square" lIns="0" tIns="0" rIns="0" bIns="0" rtlCol="0" anchor="t">
            <a:normAutofit/>
          </a:bodyPr>
          <a:lstStyle/>
          <a:p>
            <a:pPr marL="0" indent="0" algn="l">
              <a:lnSpc>
                <a:spcPct val="100000"/>
              </a:lnSpc>
              <a:buNone/>
            </a:pPr>
            <a:r>
              <a:rPr lang="en-US" sz="1150" b="1" dirty="0">
                <a:solidFill>
                  <a:srgbClr val="1E8E5A"/>
                </a:solidFill>
                <a:latin typeface="Calibri" pitchFamily="34" charset="0"/>
                <a:ea typeface="Calibri" pitchFamily="34" charset="-122"/>
                <a:cs typeface="Calibri" pitchFamily="34" charset="-120"/>
              </a:rPr>
              <a:t>BENIGN</a:t>
            </a:r>
            <a:endParaRPr lang="en-US" sz="1150" dirty="0"/>
          </a:p>
        </p:txBody>
      </p:sp>
      <p:sp>
        <p:nvSpPr>
          <p:cNvPr id="68" name="Text 66"/>
          <p:cNvSpPr/>
          <p:nvPr/>
        </p:nvSpPr>
        <p:spPr>
          <a:xfrm>
            <a:off x="4667250" y="4629150"/>
            <a:ext cx="2000250" cy="209550"/>
          </a:xfrm>
          <a:prstGeom prst="rect">
            <a:avLst/>
          </a:prstGeom>
          <a:noFill/>
          <a:ln/>
        </p:spPr>
        <p:txBody>
          <a:bodyPr wrap="square" lIns="0" tIns="0" rIns="0" bIns="0" rtlCol="0" anchor="t">
            <a:normAutofit/>
          </a:bodyPr>
          <a:lstStyle/>
          <a:p>
            <a:pPr marL="0" indent="0" algn="l">
              <a:lnSpc>
                <a:spcPct val="100000"/>
              </a:lnSpc>
              <a:buNone/>
            </a:pPr>
            <a:r>
              <a:rPr lang="en-US" sz="1340" dirty="0">
                <a:solidFill>
                  <a:srgbClr val="5B6B7C"/>
                </a:solidFill>
                <a:latin typeface="Calibri" pitchFamily="34" charset="0"/>
                <a:ea typeface="Calibri" pitchFamily="34" charset="-122"/>
                <a:cs typeface="Calibri" pitchFamily="34" charset="-120"/>
              </a:rPr>
              <a:t>12/12</a:t>
            </a:r>
            <a:endParaRPr lang="en-US" sz="1340" dirty="0"/>
          </a:p>
        </p:txBody>
      </p:sp>
      <p:sp>
        <p:nvSpPr>
          <p:cNvPr id="69" name="Text 67"/>
          <p:cNvSpPr/>
          <p:nvPr/>
        </p:nvSpPr>
        <p:spPr>
          <a:xfrm>
            <a:off x="6858000" y="4629150"/>
            <a:ext cx="1809750" cy="209550"/>
          </a:xfrm>
          <a:prstGeom prst="rect">
            <a:avLst/>
          </a:prstGeom>
          <a:noFill/>
          <a:ln/>
        </p:spPr>
        <p:txBody>
          <a:bodyPr wrap="square" lIns="0" tIns="0" rIns="0" bIns="0" rtlCol="0" anchor="t">
            <a:normAutofit/>
          </a:bodyPr>
          <a:lstStyle/>
          <a:p>
            <a:pPr marL="0" indent="0" algn="l">
              <a:lnSpc>
                <a:spcPct val="100000"/>
              </a:lnSpc>
              <a:buNone/>
            </a:pPr>
            <a:r>
              <a:rPr lang="en-US" sz="1340" b="1" dirty="0">
                <a:solidFill>
                  <a:srgbClr val="12263A"/>
                </a:solidFill>
                <a:latin typeface="Calibri" pitchFamily="34" charset="0"/>
                <a:ea typeface="Calibri" pitchFamily="34" charset="-122"/>
                <a:cs typeface="Calibri" pitchFamily="34" charset="-120"/>
              </a:rPr>
              <a:t>12/12</a:t>
            </a:r>
            <a:endParaRPr lang="en-US" sz="1340" dirty="0"/>
          </a:p>
        </p:txBody>
      </p:sp>
      <p:sp>
        <p:nvSpPr>
          <p:cNvPr id="70" name="Text 68"/>
          <p:cNvSpPr/>
          <p:nvPr/>
        </p:nvSpPr>
        <p:spPr>
          <a:xfrm>
            <a:off x="8858250" y="4638675"/>
            <a:ext cx="1524000" cy="190500"/>
          </a:xfrm>
          <a:prstGeom prst="rect">
            <a:avLst/>
          </a:prstGeom>
          <a:noFill/>
          <a:ln/>
        </p:spPr>
        <p:txBody>
          <a:bodyPr wrap="square" lIns="0" tIns="0" rIns="0" bIns="0" rtlCol="0" anchor="t">
            <a:normAutofit/>
          </a:bodyPr>
          <a:lstStyle/>
          <a:p>
            <a:pPr marL="0" indent="0" algn="l">
              <a:lnSpc>
                <a:spcPct val="100000"/>
              </a:lnSpc>
              <a:buNone/>
            </a:pPr>
            <a:r>
              <a:rPr lang="en-US" sz="1200" dirty="0">
                <a:solidFill>
                  <a:srgbClr val="5B6B7C"/>
                </a:solidFill>
                <a:latin typeface="Calibri" pitchFamily="34" charset="0"/>
                <a:ea typeface="Calibri" pitchFamily="34" charset="-122"/>
                <a:cs typeface="Calibri" pitchFamily="34" charset="-120"/>
              </a:rPr>
              <a:t>0.757–1.000</a:t>
            </a:r>
            <a:endParaRPr lang="en-US" sz="1200" dirty="0"/>
          </a:p>
        </p:txBody>
      </p:sp>
      <p:sp>
        <p:nvSpPr>
          <p:cNvPr id="71" name="Text 69"/>
          <p:cNvSpPr/>
          <p:nvPr/>
        </p:nvSpPr>
        <p:spPr>
          <a:xfrm>
            <a:off x="666750" y="4924425"/>
            <a:ext cx="2762250" cy="209550"/>
          </a:xfrm>
          <a:prstGeom prst="rect">
            <a:avLst/>
          </a:prstGeom>
          <a:noFill/>
          <a:ln/>
        </p:spPr>
        <p:txBody>
          <a:bodyPr wrap="square" lIns="0" tIns="0" rIns="0" bIns="0" rtlCol="0" anchor="t">
            <a:normAutofit/>
          </a:bodyPr>
          <a:lstStyle/>
          <a:p>
            <a:pPr marL="0" indent="0" algn="l">
              <a:lnSpc>
                <a:spcPct val="100000"/>
              </a:lnSpc>
              <a:buNone/>
            </a:pPr>
            <a:r>
              <a:rPr lang="en-US" sz="1340" b="1" dirty="0">
                <a:solidFill>
                  <a:srgbClr val="12263A"/>
                </a:solidFill>
                <a:latin typeface="Cambria" pitchFamily="34" charset="0"/>
                <a:ea typeface="Cambria" pitchFamily="34" charset="-122"/>
                <a:cs typeface="Cambria" pitchFamily="34" charset="-120"/>
              </a:rPr>
              <a:t>B3 congestion</a:t>
            </a:r>
            <a:endParaRPr lang="en-US" sz="1340" dirty="0"/>
          </a:p>
        </p:txBody>
      </p:sp>
      <p:sp>
        <p:nvSpPr>
          <p:cNvPr id="72" name="Text 70"/>
          <p:cNvSpPr/>
          <p:nvPr/>
        </p:nvSpPr>
        <p:spPr>
          <a:xfrm>
            <a:off x="3429000" y="4933950"/>
            <a:ext cx="1047750" cy="190500"/>
          </a:xfrm>
          <a:prstGeom prst="rect">
            <a:avLst/>
          </a:prstGeom>
          <a:noFill/>
          <a:ln/>
        </p:spPr>
        <p:txBody>
          <a:bodyPr wrap="square" lIns="0" tIns="0" rIns="0" bIns="0" rtlCol="0" anchor="t">
            <a:normAutofit/>
          </a:bodyPr>
          <a:lstStyle/>
          <a:p>
            <a:pPr marL="0" indent="0" algn="l">
              <a:lnSpc>
                <a:spcPct val="100000"/>
              </a:lnSpc>
              <a:buNone/>
            </a:pPr>
            <a:r>
              <a:rPr lang="en-US" sz="1150" b="1" dirty="0">
                <a:solidFill>
                  <a:srgbClr val="1E8E5A"/>
                </a:solidFill>
                <a:latin typeface="Calibri" pitchFamily="34" charset="0"/>
                <a:ea typeface="Calibri" pitchFamily="34" charset="-122"/>
                <a:cs typeface="Calibri" pitchFamily="34" charset="-120"/>
              </a:rPr>
              <a:t>BENIGN</a:t>
            </a:r>
            <a:endParaRPr lang="en-US" sz="1150" dirty="0"/>
          </a:p>
        </p:txBody>
      </p:sp>
      <p:sp>
        <p:nvSpPr>
          <p:cNvPr id="73" name="Text 71"/>
          <p:cNvSpPr/>
          <p:nvPr/>
        </p:nvSpPr>
        <p:spPr>
          <a:xfrm>
            <a:off x="4667250" y="4924425"/>
            <a:ext cx="2000250" cy="209550"/>
          </a:xfrm>
          <a:prstGeom prst="rect">
            <a:avLst/>
          </a:prstGeom>
          <a:noFill/>
          <a:ln/>
        </p:spPr>
        <p:txBody>
          <a:bodyPr wrap="square" lIns="0" tIns="0" rIns="0" bIns="0" rtlCol="0" anchor="t">
            <a:normAutofit/>
          </a:bodyPr>
          <a:lstStyle/>
          <a:p>
            <a:pPr marL="0" indent="0" algn="l">
              <a:lnSpc>
                <a:spcPct val="100000"/>
              </a:lnSpc>
              <a:buNone/>
            </a:pPr>
            <a:r>
              <a:rPr lang="en-US" sz="1340" dirty="0">
                <a:solidFill>
                  <a:srgbClr val="5B6B7C"/>
                </a:solidFill>
                <a:latin typeface="Calibri" pitchFamily="34" charset="0"/>
                <a:ea typeface="Calibri" pitchFamily="34" charset="-122"/>
                <a:cs typeface="Calibri" pitchFamily="34" charset="-120"/>
              </a:rPr>
              <a:t>11/12</a:t>
            </a:r>
            <a:endParaRPr lang="en-US" sz="1340" dirty="0"/>
          </a:p>
        </p:txBody>
      </p:sp>
      <p:sp>
        <p:nvSpPr>
          <p:cNvPr id="74" name="Text 72"/>
          <p:cNvSpPr/>
          <p:nvPr/>
        </p:nvSpPr>
        <p:spPr>
          <a:xfrm>
            <a:off x="6858000" y="4924425"/>
            <a:ext cx="1809750" cy="209550"/>
          </a:xfrm>
          <a:prstGeom prst="rect">
            <a:avLst/>
          </a:prstGeom>
          <a:noFill/>
          <a:ln/>
        </p:spPr>
        <p:txBody>
          <a:bodyPr wrap="square" lIns="0" tIns="0" rIns="0" bIns="0" rtlCol="0" anchor="t">
            <a:normAutofit/>
          </a:bodyPr>
          <a:lstStyle/>
          <a:p>
            <a:pPr marL="0" indent="0" algn="l">
              <a:lnSpc>
                <a:spcPct val="100000"/>
              </a:lnSpc>
              <a:buNone/>
            </a:pPr>
            <a:r>
              <a:rPr lang="en-US" sz="1340" b="1" dirty="0">
                <a:solidFill>
                  <a:srgbClr val="12263A"/>
                </a:solidFill>
                <a:latin typeface="Calibri" pitchFamily="34" charset="0"/>
                <a:ea typeface="Calibri" pitchFamily="34" charset="-122"/>
                <a:cs typeface="Calibri" pitchFamily="34" charset="-120"/>
              </a:rPr>
              <a:t>11/12</a:t>
            </a:r>
            <a:endParaRPr lang="en-US" sz="1340" dirty="0"/>
          </a:p>
        </p:txBody>
      </p:sp>
      <p:sp>
        <p:nvSpPr>
          <p:cNvPr id="75" name="Text 73"/>
          <p:cNvSpPr/>
          <p:nvPr/>
        </p:nvSpPr>
        <p:spPr>
          <a:xfrm>
            <a:off x="8858250" y="4933950"/>
            <a:ext cx="1524000" cy="190500"/>
          </a:xfrm>
          <a:prstGeom prst="rect">
            <a:avLst/>
          </a:prstGeom>
          <a:noFill/>
          <a:ln/>
        </p:spPr>
        <p:txBody>
          <a:bodyPr wrap="square" lIns="0" tIns="0" rIns="0" bIns="0" rtlCol="0" anchor="t">
            <a:normAutofit/>
          </a:bodyPr>
          <a:lstStyle/>
          <a:p>
            <a:pPr marL="0" indent="0" algn="l">
              <a:lnSpc>
                <a:spcPct val="100000"/>
              </a:lnSpc>
              <a:buNone/>
            </a:pPr>
            <a:r>
              <a:rPr lang="en-US" sz="1200" dirty="0">
                <a:solidFill>
                  <a:srgbClr val="5B6B7C"/>
                </a:solidFill>
                <a:latin typeface="Calibri" pitchFamily="34" charset="0"/>
                <a:ea typeface="Calibri" pitchFamily="34" charset="-122"/>
                <a:cs typeface="Calibri" pitchFamily="34" charset="-120"/>
              </a:rPr>
              <a:t>0.646–0.985</a:t>
            </a:r>
            <a:endParaRPr lang="en-US" sz="1200" dirty="0"/>
          </a:p>
        </p:txBody>
      </p:sp>
      <p:sp>
        <p:nvSpPr>
          <p:cNvPr id="76" name="Text 74"/>
          <p:cNvSpPr/>
          <p:nvPr/>
        </p:nvSpPr>
        <p:spPr>
          <a:xfrm>
            <a:off x="10382250" y="4933950"/>
            <a:ext cx="1143000" cy="190500"/>
          </a:xfrm>
          <a:prstGeom prst="rect">
            <a:avLst/>
          </a:prstGeom>
          <a:noFill/>
          <a:ln/>
        </p:spPr>
        <p:txBody>
          <a:bodyPr wrap="square" lIns="0" tIns="0" rIns="0" bIns="0" rtlCol="0" anchor="t">
            <a:normAutofit/>
          </a:bodyPr>
          <a:lstStyle/>
          <a:p>
            <a:pPr marL="0" indent="0" algn="l">
              <a:lnSpc>
                <a:spcPct val="100000"/>
              </a:lnSpc>
              <a:buNone/>
            </a:pPr>
            <a:r>
              <a:rPr lang="en-US" sz="1050" b="1" dirty="0">
                <a:solidFill>
                  <a:srgbClr val="C58B18"/>
                </a:solidFill>
                <a:latin typeface="Calibri" pitchFamily="34" charset="0"/>
                <a:ea typeface="Calibri" pitchFamily="34" charset="-122"/>
                <a:cs typeface="Calibri" pitchFamily="34" charset="-120"/>
              </a:rPr>
              <a:t>1 abstention</a:t>
            </a:r>
            <a:endParaRPr lang="en-US" sz="1050" dirty="0"/>
          </a:p>
        </p:txBody>
      </p:sp>
      <p:sp>
        <p:nvSpPr>
          <p:cNvPr id="77" name="Text 75"/>
          <p:cNvSpPr/>
          <p:nvPr/>
        </p:nvSpPr>
        <p:spPr>
          <a:xfrm>
            <a:off x="666750" y="5219700"/>
            <a:ext cx="2762250" cy="209550"/>
          </a:xfrm>
          <a:prstGeom prst="rect">
            <a:avLst/>
          </a:prstGeom>
          <a:noFill/>
          <a:ln/>
        </p:spPr>
        <p:txBody>
          <a:bodyPr wrap="square" lIns="0" tIns="0" rIns="0" bIns="0" rtlCol="0" anchor="t">
            <a:normAutofit/>
          </a:bodyPr>
          <a:lstStyle/>
          <a:p>
            <a:pPr marL="0" indent="0" algn="l">
              <a:lnSpc>
                <a:spcPct val="100000"/>
              </a:lnSpc>
              <a:buNone/>
            </a:pPr>
            <a:r>
              <a:rPr lang="en-US" sz="1340" dirty="0">
                <a:solidFill>
                  <a:srgbClr val="12263A"/>
                </a:solidFill>
                <a:latin typeface="Cambria" pitchFamily="34" charset="0"/>
                <a:ea typeface="Cambria" pitchFamily="34" charset="-122"/>
                <a:cs typeface="Cambria" pitchFamily="34" charset="-120"/>
              </a:rPr>
              <a:t>B7 topology reconfiguration</a:t>
            </a:r>
            <a:endParaRPr lang="en-US" sz="1340" dirty="0"/>
          </a:p>
        </p:txBody>
      </p:sp>
      <p:sp>
        <p:nvSpPr>
          <p:cNvPr id="78" name="Text 76"/>
          <p:cNvSpPr/>
          <p:nvPr/>
        </p:nvSpPr>
        <p:spPr>
          <a:xfrm>
            <a:off x="3429000" y="5229225"/>
            <a:ext cx="1047750" cy="190500"/>
          </a:xfrm>
          <a:prstGeom prst="rect">
            <a:avLst/>
          </a:prstGeom>
          <a:noFill/>
          <a:ln/>
        </p:spPr>
        <p:txBody>
          <a:bodyPr wrap="square" lIns="0" tIns="0" rIns="0" bIns="0" rtlCol="0" anchor="t">
            <a:normAutofit/>
          </a:bodyPr>
          <a:lstStyle/>
          <a:p>
            <a:pPr marL="0" indent="0" algn="l">
              <a:lnSpc>
                <a:spcPct val="100000"/>
              </a:lnSpc>
              <a:buNone/>
            </a:pPr>
            <a:r>
              <a:rPr lang="en-US" sz="1150" b="1" dirty="0">
                <a:solidFill>
                  <a:srgbClr val="1E8E5A"/>
                </a:solidFill>
                <a:latin typeface="Calibri" pitchFamily="34" charset="0"/>
                <a:ea typeface="Calibri" pitchFamily="34" charset="-122"/>
                <a:cs typeface="Calibri" pitchFamily="34" charset="-120"/>
              </a:rPr>
              <a:t>BENIGN</a:t>
            </a:r>
            <a:endParaRPr lang="en-US" sz="1150" dirty="0"/>
          </a:p>
        </p:txBody>
      </p:sp>
      <p:sp>
        <p:nvSpPr>
          <p:cNvPr id="79" name="Text 77"/>
          <p:cNvSpPr/>
          <p:nvPr/>
        </p:nvSpPr>
        <p:spPr>
          <a:xfrm>
            <a:off x="4667250" y="5219700"/>
            <a:ext cx="2000250" cy="209550"/>
          </a:xfrm>
          <a:prstGeom prst="rect">
            <a:avLst/>
          </a:prstGeom>
          <a:noFill/>
          <a:ln/>
        </p:spPr>
        <p:txBody>
          <a:bodyPr wrap="square" lIns="0" tIns="0" rIns="0" bIns="0" rtlCol="0" anchor="t">
            <a:normAutofit/>
          </a:bodyPr>
          <a:lstStyle/>
          <a:p>
            <a:pPr marL="0" indent="0" algn="l">
              <a:lnSpc>
                <a:spcPct val="100000"/>
              </a:lnSpc>
              <a:buNone/>
            </a:pPr>
            <a:r>
              <a:rPr lang="en-US" sz="1340" dirty="0">
                <a:solidFill>
                  <a:srgbClr val="5B6B7C"/>
                </a:solidFill>
                <a:latin typeface="Calibri" pitchFamily="34" charset="0"/>
                <a:ea typeface="Calibri" pitchFamily="34" charset="-122"/>
                <a:cs typeface="Calibri" pitchFamily="34" charset="-120"/>
              </a:rPr>
              <a:t>12/12</a:t>
            </a:r>
            <a:endParaRPr lang="en-US" sz="1340" dirty="0"/>
          </a:p>
        </p:txBody>
      </p:sp>
      <p:sp>
        <p:nvSpPr>
          <p:cNvPr id="80" name="Text 78"/>
          <p:cNvSpPr/>
          <p:nvPr/>
        </p:nvSpPr>
        <p:spPr>
          <a:xfrm>
            <a:off x="6858000" y="5219700"/>
            <a:ext cx="1809750" cy="209550"/>
          </a:xfrm>
          <a:prstGeom prst="rect">
            <a:avLst/>
          </a:prstGeom>
          <a:noFill/>
          <a:ln/>
        </p:spPr>
        <p:txBody>
          <a:bodyPr wrap="square" lIns="0" tIns="0" rIns="0" bIns="0" rtlCol="0" anchor="t">
            <a:normAutofit/>
          </a:bodyPr>
          <a:lstStyle/>
          <a:p>
            <a:pPr marL="0" indent="0" algn="l">
              <a:lnSpc>
                <a:spcPct val="100000"/>
              </a:lnSpc>
              <a:buNone/>
            </a:pPr>
            <a:r>
              <a:rPr lang="en-US" sz="1340" b="1" dirty="0">
                <a:solidFill>
                  <a:srgbClr val="12263A"/>
                </a:solidFill>
                <a:latin typeface="Calibri" pitchFamily="34" charset="0"/>
                <a:ea typeface="Calibri" pitchFamily="34" charset="-122"/>
                <a:cs typeface="Calibri" pitchFamily="34" charset="-120"/>
              </a:rPr>
              <a:t>12/12</a:t>
            </a:r>
            <a:endParaRPr lang="en-US" sz="1340" dirty="0"/>
          </a:p>
        </p:txBody>
      </p:sp>
      <p:sp>
        <p:nvSpPr>
          <p:cNvPr id="81" name="Text 79"/>
          <p:cNvSpPr/>
          <p:nvPr/>
        </p:nvSpPr>
        <p:spPr>
          <a:xfrm>
            <a:off x="8858250" y="5229225"/>
            <a:ext cx="1524000" cy="190500"/>
          </a:xfrm>
          <a:prstGeom prst="rect">
            <a:avLst/>
          </a:prstGeom>
          <a:noFill/>
          <a:ln/>
        </p:spPr>
        <p:txBody>
          <a:bodyPr wrap="square" lIns="0" tIns="0" rIns="0" bIns="0" rtlCol="0" anchor="t">
            <a:normAutofit/>
          </a:bodyPr>
          <a:lstStyle/>
          <a:p>
            <a:pPr marL="0" indent="0" algn="l">
              <a:lnSpc>
                <a:spcPct val="100000"/>
              </a:lnSpc>
              <a:buNone/>
            </a:pPr>
            <a:r>
              <a:rPr lang="en-US" sz="1200" dirty="0">
                <a:solidFill>
                  <a:srgbClr val="5B6B7C"/>
                </a:solidFill>
                <a:latin typeface="Calibri" pitchFamily="34" charset="0"/>
                <a:ea typeface="Calibri" pitchFamily="34" charset="-122"/>
                <a:cs typeface="Calibri" pitchFamily="34" charset="-120"/>
              </a:rPr>
              <a:t>0.757–1.000</a:t>
            </a:r>
            <a:endParaRPr lang="en-US" sz="1200" dirty="0"/>
          </a:p>
        </p:txBody>
      </p:sp>
      <p:sp>
        <p:nvSpPr>
          <p:cNvPr id="82" name="Shape 80"/>
          <p:cNvSpPr/>
          <p:nvPr/>
        </p:nvSpPr>
        <p:spPr>
          <a:xfrm>
            <a:off x="571500" y="5467350"/>
            <a:ext cx="11049000" cy="285750"/>
          </a:xfrm>
          <a:prstGeom prst="rect">
            <a:avLst/>
          </a:prstGeom>
          <a:solidFill>
            <a:srgbClr val="FBEDEA"/>
          </a:solidFill>
          <a:ln/>
        </p:spPr>
        <p:txBody>
          <a:bodyPr/>
          <a:lstStyle/>
          <a:p>
            <a:endParaRPr lang="en-IN"/>
          </a:p>
        </p:txBody>
      </p:sp>
      <p:sp>
        <p:nvSpPr>
          <p:cNvPr id="83" name="Text 81"/>
          <p:cNvSpPr/>
          <p:nvPr/>
        </p:nvSpPr>
        <p:spPr>
          <a:xfrm>
            <a:off x="666750" y="5514975"/>
            <a:ext cx="2762250" cy="209550"/>
          </a:xfrm>
          <a:prstGeom prst="rect">
            <a:avLst/>
          </a:prstGeom>
          <a:noFill/>
          <a:ln/>
        </p:spPr>
        <p:txBody>
          <a:bodyPr wrap="square" lIns="0" tIns="0" rIns="0" bIns="0" rtlCol="0" anchor="t">
            <a:normAutofit/>
          </a:bodyPr>
          <a:lstStyle/>
          <a:p>
            <a:pPr marL="0" indent="0" algn="l">
              <a:lnSpc>
                <a:spcPct val="100000"/>
              </a:lnSpc>
              <a:buNone/>
            </a:pPr>
            <a:r>
              <a:rPr lang="en-US" sz="1340" b="1" dirty="0">
                <a:solidFill>
                  <a:srgbClr val="12263A"/>
                </a:solidFill>
                <a:latin typeface="Cambria" pitchFamily="34" charset="0"/>
                <a:ea typeface="Cambria" pitchFamily="34" charset="-122"/>
                <a:cs typeface="Cambria" pitchFamily="34" charset="-120"/>
              </a:rPr>
              <a:t>B_bc_replacement</a:t>
            </a:r>
            <a:endParaRPr lang="en-US" sz="1340" dirty="0"/>
          </a:p>
        </p:txBody>
      </p:sp>
      <p:sp>
        <p:nvSpPr>
          <p:cNvPr id="84" name="Text 82"/>
          <p:cNvSpPr/>
          <p:nvPr/>
        </p:nvSpPr>
        <p:spPr>
          <a:xfrm>
            <a:off x="3429000" y="5524500"/>
            <a:ext cx="1047750" cy="190500"/>
          </a:xfrm>
          <a:prstGeom prst="rect">
            <a:avLst/>
          </a:prstGeom>
          <a:noFill/>
          <a:ln/>
        </p:spPr>
        <p:txBody>
          <a:bodyPr wrap="square" lIns="0" tIns="0" rIns="0" bIns="0" rtlCol="0" anchor="t">
            <a:normAutofit/>
          </a:bodyPr>
          <a:lstStyle/>
          <a:p>
            <a:pPr marL="0" indent="0" algn="l">
              <a:lnSpc>
                <a:spcPct val="100000"/>
              </a:lnSpc>
              <a:buNone/>
            </a:pPr>
            <a:r>
              <a:rPr lang="en-US" sz="1150" b="1" dirty="0">
                <a:solidFill>
                  <a:srgbClr val="1E8E5A"/>
                </a:solidFill>
                <a:latin typeface="Calibri" pitchFamily="34" charset="0"/>
                <a:ea typeface="Calibri" pitchFamily="34" charset="-122"/>
                <a:cs typeface="Calibri" pitchFamily="34" charset="-120"/>
              </a:rPr>
              <a:t>BENIGN</a:t>
            </a:r>
            <a:endParaRPr lang="en-US" sz="1150" dirty="0"/>
          </a:p>
        </p:txBody>
      </p:sp>
      <p:sp>
        <p:nvSpPr>
          <p:cNvPr id="85" name="Text 83"/>
          <p:cNvSpPr/>
          <p:nvPr/>
        </p:nvSpPr>
        <p:spPr>
          <a:xfrm>
            <a:off x="4667250" y="5514975"/>
            <a:ext cx="2000250" cy="209550"/>
          </a:xfrm>
          <a:prstGeom prst="rect">
            <a:avLst/>
          </a:prstGeom>
          <a:noFill/>
          <a:ln/>
        </p:spPr>
        <p:txBody>
          <a:bodyPr wrap="square" lIns="0" tIns="0" rIns="0" bIns="0" rtlCol="0" anchor="t">
            <a:normAutofit/>
          </a:bodyPr>
          <a:lstStyle/>
          <a:p>
            <a:pPr marL="0" indent="0" algn="l">
              <a:lnSpc>
                <a:spcPct val="100000"/>
              </a:lnSpc>
              <a:buNone/>
            </a:pPr>
            <a:r>
              <a:rPr lang="en-US" sz="1340" b="1" dirty="0">
                <a:solidFill>
                  <a:srgbClr val="B3402F"/>
                </a:solidFill>
                <a:latin typeface="Calibri" pitchFamily="34" charset="0"/>
                <a:ea typeface="Calibri" pitchFamily="34" charset="-122"/>
                <a:cs typeface="Calibri" pitchFamily="34" charset="-120"/>
              </a:rPr>
              <a:t>0/12</a:t>
            </a:r>
            <a:endParaRPr lang="en-US" sz="1340" dirty="0"/>
          </a:p>
        </p:txBody>
      </p:sp>
      <p:sp>
        <p:nvSpPr>
          <p:cNvPr id="86" name="Text 84"/>
          <p:cNvSpPr/>
          <p:nvPr/>
        </p:nvSpPr>
        <p:spPr>
          <a:xfrm>
            <a:off x="6858000" y="5514975"/>
            <a:ext cx="1809750" cy="209550"/>
          </a:xfrm>
          <a:prstGeom prst="rect">
            <a:avLst/>
          </a:prstGeom>
          <a:noFill/>
          <a:ln/>
        </p:spPr>
        <p:txBody>
          <a:bodyPr wrap="square" lIns="0" tIns="0" rIns="0" bIns="0" rtlCol="0" anchor="t">
            <a:normAutofit/>
          </a:bodyPr>
          <a:lstStyle/>
          <a:p>
            <a:pPr marL="0" indent="0" algn="l">
              <a:lnSpc>
                <a:spcPct val="100000"/>
              </a:lnSpc>
              <a:buNone/>
            </a:pPr>
            <a:r>
              <a:rPr lang="en-US" sz="1340" b="1" dirty="0">
                <a:solidFill>
                  <a:srgbClr val="B3402F"/>
                </a:solidFill>
                <a:latin typeface="Calibri" pitchFamily="34" charset="0"/>
                <a:ea typeface="Calibri" pitchFamily="34" charset="-122"/>
                <a:cs typeface="Calibri" pitchFamily="34" charset="-120"/>
              </a:rPr>
              <a:t>0/12</a:t>
            </a:r>
            <a:endParaRPr lang="en-US" sz="1340" dirty="0"/>
          </a:p>
        </p:txBody>
      </p:sp>
      <p:sp>
        <p:nvSpPr>
          <p:cNvPr id="87" name="Text 85"/>
          <p:cNvSpPr/>
          <p:nvPr/>
        </p:nvSpPr>
        <p:spPr>
          <a:xfrm>
            <a:off x="8858250" y="5524500"/>
            <a:ext cx="1524000" cy="190500"/>
          </a:xfrm>
          <a:prstGeom prst="rect">
            <a:avLst/>
          </a:prstGeom>
          <a:noFill/>
          <a:ln/>
        </p:spPr>
        <p:txBody>
          <a:bodyPr wrap="square" lIns="0" tIns="0" rIns="0" bIns="0" rtlCol="0" anchor="t">
            <a:normAutofit/>
          </a:bodyPr>
          <a:lstStyle/>
          <a:p>
            <a:pPr marL="0" indent="0" algn="l">
              <a:lnSpc>
                <a:spcPct val="100000"/>
              </a:lnSpc>
              <a:buNone/>
            </a:pPr>
            <a:r>
              <a:rPr lang="en-US" sz="1200" dirty="0">
                <a:solidFill>
                  <a:srgbClr val="5B6B7C"/>
                </a:solidFill>
                <a:latin typeface="Calibri" pitchFamily="34" charset="0"/>
                <a:ea typeface="Calibri" pitchFamily="34" charset="-122"/>
                <a:cs typeface="Calibri" pitchFamily="34" charset="-120"/>
              </a:rPr>
              <a:t>0.000–0.242</a:t>
            </a:r>
            <a:endParaRPr lang="en-US" sz="1200" dirty="0"/>
          </a:p>
        </p:txBody>
      </p:sp>
      <p:sp>
        <p:nvSpPr>
          <p:cNvPr id="88" name="Text 86"/>
          <p:cNvSpPr/>
          <p:nvPr/>
        </p:nvSpPr>
        <p:spPr>
          <a:xfrm>
            <a:off x="10382250" y="5524500"/>
            <a:ext cx="1143000" cy="190500"/>
          </a:xfrm>
          <a:prstGeom prst="rect">
            <a:avLst/>
          </a:prstGeom>
          <a:noFill/>
          <a:ln/>
        </p:spPr>
        <p:txBody>
          <a:bodyPr wrap="square" lIns="0" tIns="0" rIns="0" bIns="0" rtlCol="0" anchor="t">
            <a:normAutofit/>
          </a:bodyPr>
          <a:lstStyle/>
          <a:p>
            <a:pPr marL="0" indent="0" algn="l">
              <a:lnSpc>
                <a:spcPct val="100000"/>
              </a:lnSpc>
              <a:buNone/>
            </a:pPr>
            <a:r>
              <a:rPr lang="en-US" sz="1050" b="1" dirty="0">
                <a:solidFill>
                  <a:srgbClr val="B3402F"/>
                </a:solidFill>
                <a:latin typeface="Calibri" pitchFamily="34" charset="0"/>
                <a:ea typeface="Calibri" pitchFamily="34" charset="-122"/>
                <a:cs typeface="Calibri" pitchFamily="34" charset="-120"/>
              </a:rPr>
              <a:t>open failure</a:t>
            </a:r>
            <a:endParaRPr lang="en-US" sz="1050" dirty="0"/>
          </a:p>
        </p:txBody>
      </p:sp>
      <p:sp>
        <p:nvSpPr>
          <p:cNvPr id="89" name="Text 87"/>
          <p:cNvSpPr/>
          <p:nvPr/>
        </p:nvSpPr>
        <p:spPr>
          <a:xfrm>
            <a:off x="666750" y="5810250"/>
            <a:ext cx="2762250" cy="209550"/>
          </a:xfrm>
          <a:prstGeom prst="rect">
            <a:avLst/>
          </a:prstGeom>
          <a:noFill/>
          <a:ln/>
        </p:spPr>
        <p:txBody>
          <a:bodyPr wrap="square" lIns="0" tIns="0" rIns="0" bIns="0" rtlCol="0" anchor="t">
            <a:normAutofit/>
          </a:bodyPr>
          <a:lstStyle/>
          <a:p>
            <a:pPr marL="0" indent="0" algn="l">
              <a:lnSpc>
                <a:spcPct val="100000"/>
              </a:lnSpc>
              <a:buNone/>
            </a:pPr>
            <a:r>
              <a:rPr lang="en-US" sz="1340" dirty="0">
                <a:solidFill>
                  <a:srgbClr val="12263A"/>
                </a:solidFill>
                <a:latin typeface="Cambria" pitchFamily="34" charset="0"/>
                <a:ea typeface="Cambria" pitchFamily="34" charset="-122"/>
                <a:cs typeface="Cambria" pitchFamily="34" charset="-120"/>
              </a:rPr>
              <a:t>B_unplanned_failover</a:t>
            </a:r>
            <a:endParaRPr lang="en-US" sz="1340" dirty="0"/>
          </a:p>
        </p:txBody>
      </p:sp>
      <p:sp>
        <p:nvSpPr>
          <p:cNvPr id="90" name="Text 88"/>
          <p:cNvSpPr/>
          <p:nvPr/>
        </p:nvSpPr>
        <p:spPr>
          <a:xfrm>
            <a:off x="3429000" y="5819775"/>
            <a:ext cx="1047750" cy="190500"/>
          </a:xfrm>
          <a:prstGeom prst="rect">
            <a:avLst/>
          </a:prstGeom>
          <a:noFill/>
          <a:ln/>
        </p:spPr>
        <p:txBody>
          <a:bodyPr wrap="square" lIns="0" tIns="0" rIns="0" bIns="0" rtlCol="0" anchor="t">
            <a:normAutofit/>
          </a:bodyPr>
          <a:lstStyle/>
          <a:p>
            <a:pPr marL="0" indent="0" algn="l">
              <a:lnSpc>
                <a:spcPct val="100000"/>
              </a:lnSpc>
              <a:buNone/>
            </a:pPr>
            <a:r>
              <a:rPr lang="en-US" sz="1150" b="1" dirty="0">
                <a:solidFill>
                  <a:srgbClr val="C58B18"/>
                </a:solidFill>
                <a:latin typeface="Calibri" pitchFamily="34" charset="0"/>
                <a:ea typeface="Calibri" pitchFamily="34" charset="-122"/>
                <a:cs typeface="Calibri" pitchFamily="34" charset="-120"/>
              </a:rPr>
              <a:t>UNKNOWN</a:t>
            </a:r>
            <a:endParaRPr lang="en-US" sz="1150" dirty="0"/>
          </a:p>
        </p:txBody>
      </p:sp>
      <p:sp>
        <p:nvSpPr>
          <p:cNvPr id="91" name="Text 89"/>
          <p:cNvSpPr/>
          <p:nvPr/>
        </p:nvSpPr>
        <p:spPr>
          <a:xfrm>
            <a:off x="4667250" y="5810250"/>
            <a:ext cx="2000250" cy="209550"/>
          </a:xfrm>
          <a:prstGeom prst="rect">
            <a:avLst/>
          </a:prstGeom>
          <a:noFill/>
          <a:ln/>
        </p:spPr>
        <p:txBody>
          <a:bodyPr wrap="square" lIns="0" tIns="0" rIns="0" bIns="0" rtlCol="0" anchor="t">
            <a:normAutofit/>
          </a:bodyPr>
          <a:lstStyle/>
          <a:p>
            <a:pPr marL="0" indent="0" algn="l">
              <a:lnSpc>
                <a:spcPct val="100000"/>
              </a:lnSpc>
              <a:buNone/>
            </a:pPr>
            <a:r>
              <a:rPr lang="en-US" sz="1340" dirty="0">
                <a:solidFill>
                  <a:srgbClr val="5B6B7C"/>
                </a:solidFill>
                <a:latin typeface="Calibri" pitchFamily="34" charset="0"/>
                <a:ea typeface="Calibri" pitchFamily="34" charset="-122"/>
                <a:cs typeface="Calibri" pitchFamily="34" charset="-120"/>
              </a:rPr>
              <a:t>12/12</a:t>
            </a:r>
            <a:endParaRPr lang="en-US" sz="1340" dirty="0"/>
          </a:p>
        </p:txBody>
      </p:sp>
      <p:sp>
        <p:nvSpPr>
          <p:cNvPr id="92" name="Text 90"/>
          <p:cNvSpPr/>
          <p:nvPr/>
        </p:nvSpPr>
        <p:spPr>
          <a:xfrm>
            <a:off x="6858000" y="5810250"/>
            <a:ext cx="1809750" cy="209550"/>
          </a:xfrm>
          <a:prstGeom prst="rect">
            <a:avLst/>
          </a:prstGeom>
          <a:noFill/>
          <a:ln/>
        </p:spPr>
        <p:txBody>
          <a:bodyPr wrap="square" lIns="0" tIns="0" rIns="0" bIns="0" rtlCol="0" anchor="t">
            <a:normAutofit/>
          </a:bodyPr>
          <a:lstStyle/>
          <a:p>
            <a:pPr marL="0" indent="0" algn="l">
              <a:lnSpc>
                <a:spcPct val="100000"/>
              </a:lnSpc>
              <a:buNone/>
            </a:pPr>
            <a:r>
              <a:rPr lang="en-US" sz="1340" b="1" dirty="0">
                <a:solidFill>
                  <a:srgbClr val="12263A"/>
                </a:solidFill>
                <a:latin typeface="Calibri" pitchFamily="34" charset="0"/>
                <a:ea typeface="Calibri" pitchFamily="34" charset="-122"/>
                <a:cs typeface="Calibri" pitchFamily="34" charset="-120"/>
              </a:rPr>
              <a:t>12/12</a:t>
            </a:r>
            <a:endParaRPr lang="en-US" sz="1340" dirty="0"/>
          </a:p>
        </p:txBody>
      </p:sp>
      <p:sp>
        <p:nvSpPr>
          <p:cNvPr id="93" name="Text 91"/>
          <p:cNvSpPr/>
          <p:nvPr/>
        </p:nvSpPr>
        <p:spPr>
          <a:xfrm>
            <a:off x="8858250" y="5819775"/>
            <a:ext cx="1524000" cy="190500"/>
          </a:xfrm>
          <a:prstGeom prst="rect">
            <a:avLst/>
          </a:prstGeom>
          <a:noFill/>
          <a:ln/>
        </p:spPr>
        <p:txBody>
          <a:bodyPr wrap="square" lIns="0" tIns="0" rIns="0" bIns="0" rtlCol="0" anchor="t">
            <a:normAutofit/>
          </a:bodyPr>
          <a:lstStyle/>
          <a:p>
            <a:pPr marL="0" indent="0" algn="l">
              <a:lnSpc>
                <a:spcPct val="100000"/>
              </a:lnSpc>
              <a:buNone/>
            </a:pPr>
            <a:r>
              <a:rPr lang="en-US" sz="1200" dirty="0">
                <a:solidFill>
                  <a:srgbClr val="5B6B7C"/>
                </a:solidFill>
                <a:latin typeface="Calibri" pitchFamily="34" charset="0"/>
                <a:ea typeface="Calibri" pitchFamily="34" charset="-122"/>
                <a:cs typeface="Calibri" pitchFamily="34" charset="-120"/>
              </a:rPr>
              <a:t>0.757–1.000</a:t>
            </a:r>
            <a:endParaRPr lang="en-US" sz="1200" dirty="0"/>
          </a:p>
        </p:txBody>
      </p:sp>
      <p:sp>
        <p:nvSpPr>
          <p:cNvPr id="94" name="Shape 92"/>
          <p:cNvSpPr/>
          <p:nvPr/>
        </p:nvSpPr>
        <p:spPr>
          <a:xfrm>
            <a:off x="571500" y="6096000"/>
            <a:ext cx="11049000" cy="533400"/>
          </a:xfrm>
          <a:prstGeom prst="roundRect">
            <a:avLst>
              <a:gd name="adj" fmla="val 6857"/>
            </a:avLst>
          </a:prstGeom>
          <a:solidFill>
            <a:srgbClr val="0E2440"/>
          </a:solidFill>
          <a:ln w="12700">
            <a:solidFill>
              <a:srgbClr val="0E2440"/>
            </a:solidFill>
            <a:prstDash val="solid"/>
          </a:ln>
        </p:spPr>
        <p:txBody>
          <a:bodyPr/>
          <a:lstStyle/>
          <a:p>
            <a:endParaRPr lang="en-IN"/>
          </a:p>
        </p:txBody>
      </p:sp>
      <p:sp>
        <p:nvSpPr>
          <p:cNvPr id="95" name="Text 93"/>
          <p:cNvSpPr/>
          <p:nvPr/>
        </p:nvSpPr>
        <p:spPr>
          <a:xfrm>
            <a:off x="781050" y="6210300"/>
            <a:ext cx="10629900" cy="323850"/>
          </a:xfrm>
          <a:prstGeom prst="rect">
            <a:avLst/>
          </a:prstGeom>
          <a:noFill/>
          <a:ln/>
        </p:spPr>
        <p:txBody>
          <a:bodyPr wrap="square" lIns="0" tIns="0" rIns="0" bIns="0" rtlCol="0" anchor="t">
            <a:normAutofit/>
          </a:bodyPr>
          <a:lstStyle/>
          <a:p>
            <a:pPr marL="0" indent="0" algn="l">
              <a:lnSpc>
                <a:spcPct val="100000"/>
              </a:lnSpc>
              <a:buNone/>
            </a:pPr>
            <a:r>
              <a:rPr lang="en-US" sz="1320" b="1" dirty="0">
                <a:solidFill>
                  <a:srgbClr val="FFFFFF"/>
                </a:solidFill>
                <a:latin typeface="Cambria" pitchFamily="34" charset="0"/>
                <a:ea typeface="Cambria" pitchFamily="34" charset="-122"/>
                <a:cs typeface="Cambria" pitchFamily="34" charset="-120"/>
              </a:rPr>
              <a:t>Per-scenario recall is the primary metric. Three coverage gaps — interception, malformed frames and whole-second abuse — moved from 0/12 to 11/12, 12/12 and 12/12 with no change in benign performance. One benign scenario remains an open failure.</a:t>
            </a:r>
            <a:endParaRPr lang="en-US" sz="132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8FAFC"/>
          </a:solidFill>
          <a:ln/>
        </p:spPr>
        <p:txBody>
          <a:bodyPr/>
          <a:lstStyle/>
          <a:p>
            <a:endParaRPr lang="en-IN"/>
          </a:p>
        </p:txBody>
      </p:sp>
      <p:sp>
        <p:nvSpPr>
          <p:cNvPr id="3" name="Shape 1"/>
          <p:cNvSpPr/>
          <p:nvPr/>
        </p:nvSpPr>
        <p:spPr>
          <a:xfrm>
            <a:off x="0" y="0"/>
            <a:ext cx="12192000" cy="114300"/>
          </a:xfrm>
          <a:prstGeom prst="rect">
            <a:avLst/>
          </a:prstGeom>
          <a:solidFill>
            <a:srgbClr val="18B89A"/>
          </a:solidFill>
          <a:ln/>
        </p:spPr>
        <p:txBody>
          <a:bodyPr/>
          <a:lstStyle/>
          <a:p>
            <a:endParaRPr lang="en-IN"/>
          </a:p>
        </p:txBody>
      </p:sp>
      <p:sp>
        <p:nvSpPr>
          <p:cNvPr id="4" name="Text 2"/>
          <p:cNvSpPr/>
          <p:nvPr/>
        </p:nvSpPr>
        <p:spPr>
          <a:xfrm>
            <a:off x="571500" y="209550"/>
            <a:ext cx="11049000" cy="228600"/>
          </a:xfrm>
          <a:prstGeom prst="rect">
            <a:avLst/>
          </a:prstGeom>
          <a:noFill/>
          <a:ln/>
        </p:spPr>
        <p:txBody>
          <a:bodyPr wrap="square" lIns="0" tIns="0" rIns="0" bIns="0" rtlCol="0" anchor="t">
            <a:normAutofit/>
          </a:bodyPr>
          <a:lstStyle/>
          <a:p>
            <a:pPr marL="0" indent="0" algn="l">
              <a:lnSpc>
                <a:spcPct val="100000"/>
              </a:lnSpc>
              <a:buNone/>
            </a:pPr>
            <a:r>
              <a:rPr lang="en-US" sz="1280" b="1" dirty="0">
                <a:solidFill>
                  <a:srgbClr val="1C7293"/>
                </a:solidFill>
                <a:latin typeface="Calibri" pitchFamily="34" charset="0"/>
                <a:ea typeface="Calibri" pitchFamily="34" charset="-122"/>
                <a:cs typeface="Calibri" pitchFamily="34" charset="-120"/>
              </a:rPr>
              <a:t>CLASSIFICATION RESULTS</a:t>
            </a:r>
            <a:endParaRPr lang="en-US" sz="1280" dirty="0"/>
          </a:p>
        </p:txBody>
      </p:sp>
      <p:sp>
        <p:nvSpPr>
          <p:cNvPr id="5" name="Text 3"/>
          <p:cNvSpPr/>
          <p:nvPr/>
        </p:nvSpPr>
        <p:spPr>
          <a:xfrm>
            <a:off x="571500" y="447675"/>
            <a:ext cx="11049000" cy="552450"/>
          </a:xfrm>
          <a:prstGeom prst="rect">
            <a:avLst/>
          </a:prstGeom>
          <a:noFill/>
          <a:ln/>
        </p:spPr>
        <p:txBody>
          <a:bodyPr wrap="square" lIns="0" tIns="0" rIns="0" bIns="0" rtlCol="0" anchor="t">
            <a:normAutofit/>
          </a:bodyPr>
          <a:lstStyle/>
          <a:p>
            <a:pPr marL="0" indent="0" algn="l">
              <a:lnSpc>
                <a:spcPct val="100000"/>
              </a:lnSpc>
              <a:buNone/>
            </a:pPr>
            <a:r>
              <a:rPr lang="en-US" sz="3500" b="1" dirty="0">
                <a:solidFill>
                  <a:srgbClr val="12263A"/>
                </a:solidFill>
                <a:latin typeface="Cambria" pitchFamily="34" charset="0"/>
                <a:ea typeface="Cambria" pitchFamily="34" charset="-122"/>
                <a:cs typeface="Cambria" pitchFamily="34" charset="-120"/>
              </a:rPr>
              <a:t>Aggregate Classification Performance</a:t>
            </a:r>
            <a:endParaRPr lang="en-US" sz="3500" dirty="0"/>
          </a:p>
        </p:txBody>
      </p:sp>
      <p:sp>
        <p:nvSpPr>
          <p:cNvPr id="6" name="Shape 4"/>
          <p:cNvSpPr/>
          <p:nvPr/>
        </p:nvSpPr>
        <p:spPr>
          <a:xfrm>
            <a:off x="571500" y="1057275"/>
            <a:ext cx="11049000" cy="438150"/>
          </a:xfrm>
          <a:prstGeom prst="roundRect">
            <a:avLst>
              <a:gd name="adj" fmla="val 8348"/>
            </a:avLst>
          </a:prstGeom>
          <a:solidFill>
            <a:srgbClr val="EAF2F8"/>
          </a:solidFill>
          <a:ln w="12700">
            <a:solidFill>
              <a:srgbClr val="D7E1EA"/>
            </a:solidFill>
            <a:prstDash val="solid"/>
          </a:ln>
        </p:spPr>
        <p:txBody>
          <a:bodyPr/>
          <a:lstStyle/>
          <a:p>
            <a:endParaRPr lang="en-IN"/>
          </a:p>
        </p:txBody>
      </p:sp>
      <p:sp>
        <p:nvSpPr>
          <p:cNvPr id="7" name="Text 5"/>
          <p:cNvSpPr/>
          <p:nvPr/>
        </p:nvSpPr>
        <p:spPr>
          <a:xfrm>
            <a:off x="723900" y="1123950"/>
            <a:ext cx="10744200" cy="323850"/>
          </a:xfrm>
          <a:prstGeom prst="rect">
            <a:avLst/>
          </a:prstGeom>
          <a:noFill/>
          <a:ln/>
        </p:spPr>
        <p:txBody>
          <a:bodyPr wrap="square" lIns="0" tIns="0" rIns="0" bIns="0" rtlCol="0" anchor="t">
            <a:normAutofit/>
          </a:bodyPr>
          <a:lstStyle/>
          <a:p>
            <a:pPr marL="0" indent="0" algn="l">
              <a:lnSpc>
                <a:spcPct val="102000"/>
              </a:lnSpc>
              <a:buNone/>
            </a:pPr>
            <a:r>
              <a:rPr lang="en-US" sz="1120" dirty="0">
                <a:solidFill>
                  <a:srgbClr val="5B6B7C"/>
                </a:solidFill>
                <a:latin typeface="Calibri" pitchFamily="34" charset="0"/>
                <a:ea typeface="Calibri" pitchFamily="34" charset="-122"/>
                <a:cs typeface="Calibri" pitchFamily="34" charset="-120"/>
              </a:rPr>
              <a:t>Macro averages over per-scenario correctness rates, 168 live runs  |  Attack sensitivity over 8 attack scenarios, specificity over 5 benign scenarios, abstention over 1 ambiguous scenario  |  Source: EVALUATION_V4.json</a:t>
            </a:r>
            <a:endParaRPr lang="en-US" sz="1120" dirty="0"/>
          </a:p>
        </p:txBody>
      </p:sp>
      <p:sp>
        <p:nvSpPr>
          <p:cNvPr id="8" name="Shape 6"/>
          <p:cNvSpPr/>
          <p:nvPr/>
        </p:nvSpPr>
        <p:spPr>
          <a:xfrm>
            <a:off x="571500" y="1676400"/>
            <a:ext cx="2600325" cy="1600200"/>
          </a:xfrm>
          <a:prstGeom prst="roundRect">
            <a:avLst>
              <a:gd name="adj" fmla="val 2286"/>
            </a:avLst>
          </a:prstGeom>
          <a:solidFill>
            <a:srgbClr val="FFFFFF"/>
          </a:solidFill>
          <a:ln w="12700">
            <a:solidFill>
              <a:srgbClr val="D7E1EA"/>
            </a:solidFill>
            <a:prstDash val="solid"/>
          </a:ln>
        </p:spPr>
        <p:txBody>
          <a:bodyPr/>
          <a:lstStyle/>
          <a:p>
            <a:endParaRPr lang="en-IN"/>
          </a:p>
        </p:txBody>
      </p:sp>
      <p:sp>
        <p:nvSpPr>
          <p:cNvPr id="9" name="Shape 7"/>
          <p:cNvSpPr/>
          <p:nvPr/>
        </p:nvSpPr>
        <p:spPr>
          <a:xfrm>
            <a:off x="571500" y="1676400"/>
            <a:ext cx="2600325" cy="47625"/>
          </a:xfrm>
          <a:prstGeom prst="rect">
            <a:avLst/>
          </a:prstGeom>
          <a:solidFill>
            <a:srgbClr val="18B89A"/>
          </a:solidFill>
          <a:ln/>
        </p:spPr>
        <p:txBody>
          <a:bodyPr/>
          <a:lstStyle/>
          <a:p>
            <a:endParaRPr lang="en-IN"/>
          </a:p>
        </p:txBody>
      </p:sp>
      <p:sp>
        <p:nvSpPr>
          <p:cNvPr id="10" name="Text 8"/>
          <p:cNvSpPr/>
          <p:nvPr/>
        </p:nvSpPr>
        <p:spPr>
          <a:xfrm>
            <a:off x="571500" y="1866900"/>
            <a:ext cx="2600325" cy="457200"/>
          </a:xfrm>
          <a:prstGeom prst="rect">
            <a:avLst/>
          </a:prstGeom>
          <a:noFill/>
          <a:ln/>
        </p:spPr>
        <p:txBody>
          <a:bodyPr wrap="square" lIns="0" tIns="0" rIns="0" bIns="0" rtlCol="0" anchor="t">
            <a:normAutofit/>
          </a:bodyPr>
          <a:lstStyle/>
          <a:p>
            <a:pPr marL="0" indent="0" algn="ctr">
              <a:lnSpc>
                <a:spcPct val="100000"/>
              </a:lnSpc>
              <a:buNone/>
            </a:pPr>
            <a:r>
              <a:rPr lang="en-US" sz="4400" b="1" dirty="0">
                <a:solidFill>
                  <a:srgbClr val="1C7293"/>
                </a:solidFill>
                <a:latin typeface="Cambria" pitchFamily="34" charset="0"/>
                <a:ea typeface="Cambria" pitchFamily="34" charset="-122"/>
                <a:cs typeface="Cambria" pitchFamily="34" charset="-120"/>
              </a:rPr>
              <a:t>0.990</a:t>
            </a:r>
            <a:endParaRPr lang="en-US" sz="4400" dirty="0"/>
          </a:p>
        </p:txBody>
      </p:sp>
      <p:sp>
        <p:nvSpPr>
          <p:cNvPr id="11" name="Text 9"/>
          <p:cNvSpPr/>
          <p:nvPr/>
        </p:nvSpPr>
        <p:spPr>
          <a:xfrm>
            <a:off x="723900" y="2381250"/>
            <a:ext cx="2295525" cy="228600"/>
          </a:xfrm>
          <a:prstGeom prst="rect">
            <a:avLst/>
          </a:prstGeom>
          <a:noFill/>
          <a:ln/>
        </p:spPr>
        <p:txBody>
          <a:bodyPr wrap="square" lIns="0" tIns="0" rIns="0" bIns="0" rtlCol="0" anchor="t">
            <a:normAutofit/>
          </a:bodyPr>
          <a:lstStyle/>
          <a:p>
            <a:pPr marL="0" indent="0" algn="ctr">
              <a:lnSpc>
                <a:spcPct val="100000"/>
              </a:lnSpc>
              <a:buNone/>
            </a:pPr>
            <a:r>
              <a:rPr lang="en-US" sz="1450" b="1" dirty="0">
                <a:solidFill>
                  <a:srgbClr val="12263A"/>
                </a:solidFill>
                <a:latin typeface="Cambria" pitchFamily="34" charset="0"/>
                <a:ea typeface="Cambria" pitchFamily="34" charset="-122"/>
                <a:cs typeface="Cambria" pitchFamily="34" charset="-120"/>
              </a:rPr>
              <a:t>Macro attack sensitivity</a:t>
            </a:r>
            <a:endParaRPr lang="en-US" sz="1450" dirty="0"/>
          </a:p>
        </p:txBody>
      </p:sp>
      <p:sp>
        <p:nvSpPr>
          <p:cNvPr id="12" name="Text 10"/>
          <p:cNvSpPr/>
          <p:nvPr/>
        </p:nvSpPr>
        <p:spPr>
          <a:xfrm>
            <a:off x="723900" y="2647950"/>
            <a:ext cx="2295525" cy="552450"/>
          </a:xfrm>
          <a:prstGeom prst="rect">
            <a:avLst/>
          </a:prstGeom>
          <a:noFill/>
          <a:ln/>
        </p:spPr>
        <p:txBody>
          <a:bodyPr wrap="square" lIns="0" tIns="0" rIns="0" bIns="0" rtlCol="0" anchor="t">
            <a:normAutofit/>
          </a:bodyPr>
          <a:lstStyle/>
          <a:p>
            <a:pPr marL="0" indent="0" algn="ctr">
              <a:lnSpc>
                <a:spcPct val="100000"/>
              </a:lnSpc>
              <a:buNone/>
            </a:pPr>
            <a:r>
              <a:rPr lang="en-US" sz="1200" dirty="0">
                <a:solidFill>
                  <a:srgbClr val="5B6B7C"/>
                </a:solidFill>
                <a:latin typeface="Calibri" pitchFamily="34" charset="0"/>
                <a:ea typeface="Calibri" pitchFamily="34" charset="-122"/>
                <a:cs typeface="Calibri" pitchFamily="34" charset="-120"/>
              </a:rPr>
              <a:t>revised rule v3 · pre-frozen base rule 0.625 on the same captures</a:t>
            </a:r>
            <a:endParaRPr lang="en-US" sz="1200" dirty="0"/>
          </a:p>
        </p:txBody>
      </p:sp>
      <p:sp>
        <p:nvSpPr>
          <p:cNvPr id="13" name="Shape 11"/>
          <p:cNvSpPr/>
          <p:nvPr/>
        </p:nvSpPr>
        <p:spPr>
          <a:xfrm>
            <a:off x="3362325" y="1676400"/>
            <a:ext cx="2600325" cy="1600200"/>
          </a:xfrm>
          <a:prstGeom prst="roundRect">
            <a:avLst>
              <a:gd name="adj" fmla="val 2286"/>
            </a:avLst>
          </a:prstGeom>
          <a:solidFill>
            <a:srgbClr val="FFFFFF"/>
          </a:solidFill>
          <a:ln w="12700">
            <a:solidFill>
              <a:srgbClr val="D7E1EA"/>
            </a:solidFill>
            <a:prstDash val="solid"/>
          </a:ln>
        </p:spPr>
        <p:txBody>
          <a:bodyPr/>
          <a:lstStyle/>
          <a:p>
            <a:endParaRPr lang="en-IN"/>
          </a:p>
        </p:txBody>
      </p:sp>
      <p:sp>
        <p:nvSpPr>
          <p:cNvPr id="14" name="Shape 12"/>
          <p:cNvSpPr/>
          <p:nvPr/>
        </p:nvSpPr>
        <p:spPr>
          <a:xfrm>
            <a:off x="3362325" y="1676400"/>
            <a:ext cx="2600325" cy="47625"/>
          </a:xfrm>
          <a:prstGeom prst="rect">
            <a:avLst/>
          </a:prstGeom>
          <a:solidFill>
            <a:srgbClr val="18B89A"/>
          </a:solidFill>
          <a:ln/>
        </p:spPr>
        <p:txBody>
          <a:bodyPr/>
          <a:lstStyle/>
          <a:p>
            <a:endParaRPr lang="en-IN"/>
          </a:p>
        </p:txBody>
      </p:sp>
      <p:sp>
        <p:nvSpPr>
          <p:cNvPr id="15" name="Text 13"/>
          <p:cNvSpPr/>
          <p:nvPr/>
        </p:nvSpPr>
        <p:spPr>
          <a:xfrm>
            <a:off x="3362325" y="1866900"/>
            <a:ext cx="2600325" cy="457200"/>
          </a:xfrm>
          <a:prstGeom prst="rect">
            <a:avLst/>
          </a:prstGeom>
          <a:noFill/>
          <a:ln/>
        </p:spPr>
        <p:txBody>
          <a:bodyPr wrap="square" lIns="0" tIns="0" rIns="0" bIns="0" rtlCol="0" anchor="t">
            <a:normAutofit/>
          </a:bodyPr>
          <a:lstStyle/>
          <a:p>
            <a:pPr marL="0" indent="0" algn="ctr">
              <a:lnSpc>
                <a:spcPct val="100000"/>
              </a:lnSpc>
              <a:buNone/>
            </a:pPr>
            <a:r>
              <a:rPr lang="en-US" sz="4400" b="1" dirty="0">
                <a:solidFill>
                  <a:srgbClr val="1C7293"/>
                </a:solidFill>
                <a:latin typeface="Cambria" pitchFamily="34" charset="0"/>
                <a:ea typeface="Cambria" pitchFamily="34" charset="-122"/>
                <a:cs typeface="Cambria" pitchFamily="34" charset="-120"/>
              </a:rPr>
              <a:t>0.783</a:t>
            </a:r>
            <a:endParaRPr lang="en-US" sz="4400" dirty="0"/>
          </a:p>
        </p:txBody>
      </p:sp>
      <p:sp>
        <p:nvSpPr>
          <p:cNvPr id="16" name="Text 14"/>
          <p:cNvSpPr/>
          <p:nvPr/>
        </p:nvSpPr>
        <p:spPr>
          <a:xfrm>
            <a:off x="3514725" y="2381250"/>
            <a:ext cx="2295525" cy="228600"/>
          </a:xfrm>
          <a:prstGeom prst="rect">
            <a:avLst/>
          </a:prstGeom>
          <a:noFill/>
          <a:ln/>
        </p:spPr>
        <p:txBody>
          <a:bodyPr wrap="square" lIns="0" tIns="0" rIns="0" bIns="0" rtlCol="0" anchor="t">
            <a:normAutofit/>
          </a:bodyPr>
          <a:lstStyle/>
          <a:p>
            <a:pPr marL="0" indent="0" algn="ctr">
              <a:lnSpc>
                <a:spcPct val="100000"/>
              </a:lnSpc>
              <a:buNone/>
            </a:pPr>
            <a:r>
              <a:rPr lang="en-US" sz="1450" b="1" dirty="0">
                <a:solidFill>
                  <a:srgbClr val="12263A"/>
                </a:solidFill>
                <a:latin typeface="Cambria" pitchFamily="34" charset="0"/>
                <a:ea typeface="Cambria" pitchFamily="34" charset="-122"/>
                <a:cs typeface="Cambria" pitchFamily="34" charset="-120"/>
              </a:rPr>
              <a:t>Macro benign specificity</a:t>
            </a:r>
            <a:endParaRPr lang="en-US" sz="1450" dirty="0"/>
          </a:p>
        </p:txBody>
      </p:sp>
      <p:sp>
        <p:nvSpPr>
          <p:cNvPr id="17" name="Text 15"/>
          <p:cNvSpPr/>
          <p:nvPr/>
        </p:nvSpPr>
        <p:spPr>
          <a:xfrm>
            <a:off x="3514725" y="2647950"/>
            <a:ext cx="2295525" cy="552450"/>
          </a:xfrm>
          <a:prstGeom prst="rect">
            <a:avLst/>
          </a:prstGeom>
          <a:noFill/>
          <a:ln/>
        </p:spPr>
        <p:txBody>
          <a:bodyPr wrap="square" lIns="0" tIns="0" rIns="0" bIns="0" rtlCol="0" anchor="t">
            <a:normAutofit/>
          </a:bodyPr>
          <a:lstStyle/>
          <a:p>
            <a:pPr marL="0" indent="0" algn="ctr">
              <a:lnSpc>
                <a:spcPct val="100000"/>
              </a:lnSpc>
              <a:buNone/>
            </a:pPr>
            <a:r>
              <a:rPr lang="en-US" sz="1200" dirty="0">
                <a:solidFill>
                  <a:srgbClr val="5B6B7C"/>
                </a:solidFill>
                <a:latin typeface="Calibri" pitchFamily="34" charset="0"/>
                <a:ea typeface="Calibri" pitchFamily="34" charset="-122"/>
                <a:cs typeface="Calibri" pitchFamily="34" charset="-120"/>
              </a:rPr>
              <a:t>identical for both rules, so the revision introduced no regression</a:t>
            </a:r>
            <a:endParaRPr lang="en-US" sz="1200" dirty="0"/>
          </a:p>
        </p:txBody>
      </p:sp>
      <p:sp>
        <p:nvSpPr>
          <p:cNvPr id="18" name="Shape 16"/>
          <p:cNvSpPr/>
          <p:nvPr/>
        </p:nvSpPr>
        <p:spPr>
          <a:xfrm>
            <a:off x="6153150" y="1676400"/>
            <a:ext cx="2600325" cy="1600200"/>
          </a:xfrm>
          <a:prstGeom prst="roundRect">
            <a:avLst>
              <a:gd name="adj" fmla="val 2286"/>
            </a:avLst>
          </a:prstGeom>
          <a:solidFill>
            <a:srgbClr val="FFFFFF"/>
          </a:solidFill>
          <a:ln w="12700">
            <a:solidFill>
              <a:srgbClr val="D7E1EA"/>
            </a:solidFill>
            <a:prstDash val="solid"/>
          </a:ln>
        </p:spPr>
        <p:txBody>
          <a:bodyPr/>
          <a:lstStyle/>
          <a:p>
            <a:endParaRPr lang="en-IN"/>
          </a:p>
        </p:txBody>
      </p:sp>
      <p:sp>
        <p:nvSpPr>
          <p:cNvPr id="19" name="Shape 17"/>
          <p:cNvSpPr/>
          <p:nvPr/>
        </p:nvSpPr>
        <p:spPr>
          <a:xfrm>
            <a:off x="6153150" y="1676400"/>
            <a:ext cx="2600325" cy="47625"/>
          </a:xfrm>
          <a:prstGeom prst="rect">
            <a:avLst/>
          </a:prstGeom>
          <a:solidFill>
            <a:srgbClr val="18B89A"/>
          </a:solidFill>
          <a:ln/>
        </p:spPr>
        <p:txBody>
          <a:bodyPr/>
          <a:lstStyle/>
          <a:p>
            <a:endParaRPr lang="en-IN"/>
          </a:p>
        </p:txBody>
      </p:sp>
      <p:sp>
        <p:nvSpPr>
          <p:cNvPr id="20" name="Text 18"/>
          <p:cNvSpPr/>
          <p:nvPr/>
        </p:nvSpPr>
        <p:spPr>
          <a:xfrm>
            <a:off x="6153150" y="1866900"/>
            <a:ext cx="2600325" cy="457200"/>
          </a:xfrm>
          <a:prstGeom prst="rect">
            <a:avLst/>
          </a:prstGeom>
          <a:noFill/>
          <a:ln/>
        </p:spPr>
        <p:txBody>
          <a:bodyPr wrap="square" lIns="0" tIns="0" rIns="0" bIns="0" rtlCol="0" anchor="t">
            <a:normAutofit/>
          </a:bodyPr>
          <a:lstStyle/>
          <a:p>
            <a:pPr marL="0" indent="0" algn="ctr">
              <a:lnSpc>
                <a:spcPct val="100000"/>
              </a:lnSpc>
              <a:buNone/>
            </a:pPr>
            <a:r>
              <a:rPr lang="en-US" sz="4400" b="1" dirty="0">
                <a:solidFill>
                  <a:srgbClr val="1C7293"/>
                </a:solidFill>
                <a:latin typeface="Cambria" pitchFamily="34" charset="0"/>
                <a:ea typeface="Cambria" pitchFamily="34" charset="-122"/>
                <a:cs typeface="Cambria" pitchFamily="34" charset="-120"/>
              </a:rPr>
              <a:t>1.000</a:t>
            </a:r>
            <a:endParaRPr lang="en-US" sz="4400" dirty="0"/>
          </a:p>
        </p:txBody>
      </p:sp>
      <p:sp>
        <p:nvSpPr>
          <p:cNvPr id="21" name="Text 19"/>
          <p:cNvSpPr/>
          <p:nvPr/>
        </p:nvSpPr>
        <p:spPr>
          <a:xfrm>
            <a:off x="6305550" y="2381250"/>
            <a:ext cx="2295525" cy="228600"/>
          </a:xfrm>
          <a:prstGeom prst="rect">
            <a:avLst/>
          </a:prstGeom>
          <a:noFill/>
          <a:ln/>
        </p:spPr>
        <p:txBody>
          <a:bodyPr wrap="square" lIns="0" tIns="0" rIns="0" bIns="0" rtlCol="0" anchor="t">
            <a:normAutofit/>
          </a:bodyPr>
          <a:lstStyle/>
          <a:p>
            <a:pPr marL="0" indent="0" algn="ctr">
              <a:lnSpc>
                <a:spcPct val="100000"/>
              </a:lnSpc>
              <a:buNone/>
            </a:pPr>
            <a:r>
              <a:rPr lang="en-US" sz="1450" b="1" dirty="0">
                <a:solidFill>
                  <a:srgbClr val="12263A"/>
                </a:solidFill>
                <a:latin typeface="Cambria" pitchFamily="34" charset="0"/>
                <a:ea typeface="Cambria" pitchFamily="34" charset="-122"/>
                <a:cs typeface="Cambria" pitchFamily="34" charset="-120"/>
              </a:rPr>
              <a:t>Abstention correctness</a:t>
            </a:r>
            <a:endParaRPr lang="en-US" sz="1450" dirty="0"/>
          </a:p>
        </p:txBody>
      </p:sp>
      <p:sp>
        <p:nvSpPr>
          <p:cNvPr id="22" name="Text 20"/>
          <p:cNvSpPr/>
          <p:nvPr/>
        </p:nvSpPr>
        <p:spPr>
          <a:xfrm>
            <a:off x="6305550" y="2647950"/>
            <a:ext cx="2295525" cy="552450"/>
          </a:xfrm>
          <a:prstGeom prst="rect">
            <a:avLst/>
          </a:prstGeom>
          <a:noFill/>
          <a:ln/>
        </p:spPr>
        <p:txBody>
          <a:bodyPr wrap="square" lIns="0" tIns="0" rIns="0" bIns="0" rtlCol="0" anchor="t">
            <a:normAutofit/>
          </a:bodyPr>
          <a:lstStyle/>
          <a:p>
            <a:pPr marL="0" indent="0" algn="ctr">
              <a:lnSpc>
                <a:spcPct val="100000"/>
              </a:lnSpc>
              <a:buNone/>
            </a:pPr>
            <a:r>
              <a:rPr lang="en-US" sz="1200" dirty="0">
                <a:solidFill>
                  <a:srgbClr val="5B6B7C"/>
                </a:solidFill>
                <a:latin typeface="Calibri" pitchFamily="34" charset="0"/>
                <a:ea typeface="Calibri" pitchFamily="34" charset="-122"/>
                <a:cs typeface="Calibri" pitchFamily="34" charset="-120"/>
              </a:rPr>
              <a:t>ambiguous unplanned failover returned UNKNOWN on 12 of 12 runs</a:t>
            </a:r>
            <a:endParaRPr lang="en-US" sz="1200" dirty="0"/>
          </a:p>
        </p:txBody>
      </p:sp>
      <p:sp>
        <p:nvSpPr>
          <p:cNvPr id="23" name="Shape 21"/>
          <p:cNvSpPr/>
          <p:nvPr/>
        </p:nvSpPr>
        <p:spPr>
          <a:xfrm>
            <a:off x="8943975" y="1676400"/>
            <a:ext cx="2600325" cy="1600200"/>
          </a:xfrm>
          <a:prstGeom prst="roundRect">
            <a:avLst>
              <a:gd name="adj" fmla="val 2286"/>
            </a:avLst>
          </a:prstGeom>
          <a:solidFill>
            <a:srgbClr val="FFFFFF"/>
          </a:solidFill>
          <a:ln w="12700">
            <a:solidFill>
              <a:srgbClr val="D7E1EA"/>
            </a:solidFill>
            <a:prstDash val="solid"/>
          </a:ln>
        </p:spPr>
        <p:txBody>
          <a:bodyPr/>
          <a:lstStyle/>
          <a:p>
            <a:endParaRPr lang="en-IN"/>
          </a:p>
        </p:txBody>
      </p:sp>
      <p:sp>
        <p:nvSpPr>
          <p:cNvPr id="24" name="Shape 22"/>
          <p:cNvSpPr/>
          <p:nvPr/>
        </p:nvSpPr>
        <p:spPr>
          <a:xfrm>
            <a:off x="8943975" y="1676400"/>
            <a:ext cx="2600325" cy="47625"/>
          </a:xfrm>
          <a:prstGeom prst="rect">
            <a:avLst/>
          </a:prstGeom>
          <a:solidFill>
            <a:srgbClr val="18B89A"/>
          </a:solidFill>
          <a:ln/>
        </p:spPr>
        <p:txBody>
          <a:bodyPr/>
          <a:lstStyle/>
          <a:p>
            <a:endParaRPr lang="en-IN"/>
          </a:p>
        </p:txBody>
      </p:sp>
      <p:sp>
        <p:nvSpPr>
          <p:cNvPr id="25" name="Text 23"/>
          <p:cNvSpPr/>
          <p:nvPr/>
        </p:nvSpPr>
        <p:spPr>
          <a:xfrm>
            <a:off x="8943975" y="1866900"/>
            <a:ext cx="2600325" cy="457200"/>
          </a:xfrm>
          <a:prstGeom prst="rect">
            <a:avLst/>
          </a:prstGeom>
          <a:noFill/>
          <a:ln/>
        </p:spPr>
        <p:txBody>
          <a:bodyPr wrap="square" lIns="0" tIns="0" rIns="0" bIns="0" rtlCol="0" anchor="t">
            <a:normAutofit/>
          </a:bodyPr>
          <a:lstStyle/>
          <a:p>
            <a:pPr marL="0" indent="0" algn="ctr">
              <a:lnSpc>
                <a:spcPct val="100000"/>
              </a:lnSpc>
              <a:buNone/>
            </a:pPr>
            <a:r>
              <a:rPr lang="en-US" sz="4400" b="1" dirty="0">
                <a:solidFill>
                  <a:srgbClr val="1C7293"/>
                </a:solidFill>
                <a:latin typeface="Cambria" pitchFamily="34" charset="0"/>
                <a:ea typeface="Cambria" pitchFamily="34" charset="-122"/>
                <a:cs typeface="Cambria" pitchFamily="34" charset="-120"/>
              </a:rPr>
              <a:t>0.875</a:t>
            </a:r>
            <a:endParaRPr lang="en-US" sz="4400" dirty="0"/>
          </a:p>
        </p:txBody>
      </p:sp>
      <p:sp>
        <p:nvSpPr>
          <p:cNvPr id="26" name="Text 24"/>
          <p:cNvSpPr/>
          <p:nvPr/>
        </p:nvSpPr>
        <p:spPr>
          <a:xfrm>
            <a:off x="9096375" y="2381250"/>
            <a:ext cx="2295525" cy="228600"/>
          </a:xfrm>
          <a:prstGeom prst="rect">
            <a:avLst/>
          </a:prstGeom>
          <a:noFill/>
          <a:ln/>
        </p:spPr>
        <p:txBody>
          <a:bodyPr wrap="square" lIns="0" tIns="0" rIns="0" bIns="0" rtlCol="0" anchor="t">
            <a:normAutofit/>
          </a:bodyPr>
          <a:lstStyle/>
          <a:p>
            <a:pPr marL="0" indent="0" algn="ctr">
              <a:lnSpc>
                <a:spcPct val="100000"/>
              </a:lnSpc>
              <a:buNone/>
            </a:pPr>
            <a:r>
              <a:rPr lang="en-US" sz="1450" b="1" dirty="0">
                <a:solidFill>
                  <a:srgbClr val="12263A"/>
                </a:solidFill>
                <a:latin typeface="Cambria" pitchFamily="34" charset="0"/>
                <a:ea typeface="Cambria" pitchFamily="34" charset="-122"/>
                <a:cs typeface="Cambria" pitchFamily="34" charset="-120"/>
              </a:rPr>
              <a:t>Fault attribution accuracy</a:t>
            </a:r>
            <a:endParaRPr lang="en-US" sz="1450" dirty="0"/>
          </a:p>
        </p:txBody>
      </p:sp>
      <p:sp>
        <p:nvSpPr>
          <p:cNvPr id="27" name="Text 25"/>
          <p:cNvSpPr/>
          <p:nvPr/>
        </p:nvSpPr>
        <p:spPr>
          <a:xfrm>
            <a:off x="9096375" y="2647950"/>
            <a:ext cx="2295525" cy="552450"/>
          </a:xfrm>
          <a:prstGeom prst="rect">
            <a:avLst/>
          </a:prstGeom>
          <a:noFill/>
          <a:ln/>
        </p:spPr>
        <p:txBody>
          <a:bodyPr wrap="square" lIns="0" tIns="0" rIns="0" bIns="0" rtlCol="0" anchor="t">
            <a:normAutofit/>
          </a:bodyPr>
          <a:lstStyle/>
          <a:p>
            <a:pPr marL="0" indent="0" algn="ctr">
              <a:lnSpc>
                <a:spcPct val="100000"/>
              </a:lnSpc>
              <a:buNone/>
            </a:pPr>
            <a:r>
              <a:rPr lang="en-US" sz="1200" dirty="0">
                <a:solidFill>
                  <a:srgbClr val="5B6B7C"/>
                </a:solidFill>
                <a:latin typeface="Calibri" pitchFamily="34" charset="0"/>
                <a:ea typeface="Calibri" pitchFamily="34" charset="-122"/>
                <a:cs typeface="Calibri" pitchFamily="34" charset="-120"/>
              </a:rPr>
              <a:t>84 of 96 attack runs had the specific fault correctly named</a:t>
            </a:r>
            <a:endParaRPr lang="en-US" sz="1200" dirty="0"/>
          </a:p>
        </p:txBody>
      </p:sp>
      <p:sp>
        <p:nvSpPr>
          <p:cNvPr id="28" name="Shape 26"/>
          <p:cNvSpPr/>
          <p:nvPr/>
        </p:nvSpPr>
        <p:spPr>
          <a:xfrm>
            <a:off x="571500" y="3467100"/>
            <a:ext cx="5381625" cy="1581150"/>
          </a:xfrm>
          <a:prstGeom prst="roundRect">
            <a:avLst>
              <a:gd name="adj" fmla="val 2313"/>
            </a:avLst>
          </a:prstGeom>
          <a:solidFill>
            <a:srgbClr val="DDF5EF"/>
          </a:solidFill>
          <a:ln w="12700">
            <a:solidFill>
              <a:srgbClr val="18B89A"/>
            </a:solidFill>
            <a:prstDash val="solid"/>
          </a:ln>
        </p:spPr>
        <p:txBody>
          <a:bodyPr/>
          <a:lstStyle/>
          <a:p>
            <a:endParaRPr lang="en-IN"/>
          </a:p>
        </p:txBody>
      </p:sp>
      <p:sp>
        <p:nvSpPr>
          <p:cNvPr id="29" name="Text 27"/>
          <p:cNvSpPr/>
          <p:nvPr/>
        </p:nvSpPr>
        <p:spPr>
          <a:xfrm>
            <a:off x="800100" y="3619500"/>
            <a:ext cx="3810000" cy="19050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0B5547"/>
                </a:solidFill>
                <a:latin typeface="Calibri" pitchFamily="34" charset="0"/>
                <a:ea typeface="Calibri" pitchFamily="34" charset="-122"/>
                <a:cs typeface="Calibri" pitchFamily="34" charset="-120"/>
              </a:rPr>
              <a:t>WHAT IMPROVED</a:t>
            </a:r>
            <a:endParaRPr lang="en-US" sz="1200" dirty="0"/>
          </a:p>
        </p:txBody>
      </p:sp>
      <p:sp>
        <p:nvSpPr>
          <p:cNvPr id="30" name="Text 28"/>
          <p:cNvSpPr/>
          <p:nvPr/>
        </p:nvSpPr>
        <p:spPr>
          <a:xfrm>
            <a:off x="800100" y="3867150"/>
            <a:ext cx="4953000" cy="1066800"/>
          </a:xfrm>
          <a:prstGeom prst="rect">
            <a:avLst/>
          </a:prstGeom>
          <a:noFill/>
          <a:ln/>
        </p:spPr>
        <p:txBody>
          <a:bodyPr wrap="square" lIns="0" tIns="0" rIns="0" bIns="0" rtlCol="0" anchor="t">
            <a:normAutofit/>
          </a:bodyPr>
          <a:lstStyle/>
          <a:p>
            <a:pPr marL="0" indent="0" algn="l">
              <a:lnSpc>
                <a:spcPct val="100000"/>
              </a:lnSpc>
              <a:buNone/>
            </a:pPr>
            <a:r>
              <a:rPr lang="en-US" sz="1340" dirty="0">
                <a:solidFill>
                  <a:srgbClr val="12263A"/>
                </a:solidFill>
                <a:latin typeface="Calibri" pitchFamily="34" charset="0"/>
                <a:ea typeface="Calibri" pitchFamily="34" charset="-122"/>
                <a:cs typeface="Calibri" pitchFamily="34" charset="-120"/>
              </a:rPr>
              <a:t>The revised rule closed three coverage gaps on the same captures: selective interception 0/12 to 11/12, malformed frames 0/12 to 12/12, and whole-second abuse 0/12 to 12/12. Benign performance is unchanged, and per-run verification confirms zero regressions — no run that the base rule called ATTACK was downgraded.</a:t>
            </a:r>
            <a:endParaRPr lang="en-US" sz="1340" dirty="0"/>
          </a:p>
        </p:txBody>
      </p:sp>
      <p:sp>
        <p:nvSpPr>
          <p:cNvPr id="31" name="Shape 29"/>
          <p:cNvSpPr/>
          <p:nvPr/>
        </p:nvSpPr>
        <p:spPr>
          <a:xfrm>
            <a:off x="6238875" y="3467100"/>
            <a:ext cx="5381625" cy="1581150"/>
          </a:xfrm>
          <a:prstGeom prst="roundRect">
            <a:avLst>
              <a:gd name="adj" fmla="val 2313"/>
            </a:avLst>
          </a:prstGeom>
          <a:solidFill>
            <a:srgbClr val="FBEDEA"/>
          </a:solidFill>
          <a:ln w="12700">
            <a:solidFill>
              <a:srgbClr val="B3402F"/>
            </a:solidFill>
            <a:prstDash val="solid"/>
          </a:ln>
        </p:spPr>
        <p:txBody>
          <a:bodyPr/>
          <a:lstStyle/>
          <a:p>
            <a:endParaRPr lang="en-IN"/>
          </a:p>
        </p:txBody>
      </p:sp>
      <p:sp>
        <p:nvSpPr>
          <p:cNvPr id="32" name="Text 30"/>
          <p:cNvSpPr/>
          <p:nvPr/>
        </p:nvSpPr>
        <p:spPr>
          <a:xfrm>
            <a:off x="6467475" y="3619500"/>
            <a:ext cx="4381500" cy="19050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B3402F"/>
                </a:solidFill>
                <a:latin typeface="Calibri" pitchFamily="34" charset="0"/>
                <a:ea typeface="Calibri" pitchFamily="34" charset="-122"/>
                <a:cs typeface="Calibri" pitchFamily="34" charset="-120"/>
              </a:rPr>
              <a:t>WHY SPECIFICITY IS 0.783 AND NOT 1.000</a:t>
            </a:r>
            <a:endParaRPr lang="en-US" sz="1200" dirty="0"/>
          </a:p>
        </p:txBody>
      </p:sp>
      <p:sp>
        <p:nvSpPr>
          <p:cNvPr id="33" name="Text 31"/>
          <p:cNvSpPr/>
          <p:nvPr/>
        </p:nvSpPr>
        <p:spPr>
          <a:xfrm>
            <a:off x="6467475" y="3867150"/>
            <a:ext cx="4953000" cy="1066800"/>
          </a:xfrm>
          <a:prstGeom prst="rect">
            <a:avLst/>
          </a:prstGeom>
          <a:noFill/>
          <a:ln/>
        </p:spPr>
        <p:txBody>
          <a:bodyPr wrap="square" lIns="0" tIns="0" rIns="0" bIns="0" rtlCol="0" anchor="t">
            <a:normAutofit/>
          </a:bodyPr>
          <a:lstStyle/>
          <a:p>
            <a:pPr marL="0" indent="0" algn="l">
              <a:lnSpc>
                <a:spcPct val="100000"/>
              </a:lnSpc>
              <a:buNone/>
            </a:pPr>
            <a:r>
              <a:rPr lang="en-US" sz="1340" dirty="0">
                <a:solidFill>
                  <a:srgbClr val="12263A"/>
                </a:solidFill>
                <a:latin typeface="Calibri" pitchFamily="34" charset="0"/>
                <a:ea typeface="Calibri" pitchFamily="34" charset="-122"/>
                <a:cs typeface="Calibri" pitchFamily="34" charset="-120"/>
              </a:rPr>
              <a:t>Two benign scenarios miss. B_bc_replacement produces 12 false ATTACK calls and is the dominant cause. B3 congestion contributes one UNKNOWN. Excluding the boundary-clock replacement, benign classification is 47 of 48, or 0.979 — so the loss is one identified systematic gap plus one cautious abstention, not diffuse error.</a:t>
            </a:r>
            <a:endParaRPr lang="en-US" sz="1340" dirty="0"/>
          </a:p>
        </p:txBody>
      </p:sp>
      <p:sp>
        <p:nvSpPr>
          <p:cNvPr id="34" name="Shape 32"/>
          <p:cNvSpPr/>
          <p:nvPr/>
        </p:nvSpPr>
        <p:spPr>
          <a:xfrm>
            <a:off x="571500" y="5200650"/>
            <a:ext cx="11049000" cy="609600"/>
          </a:xfrm>
          <a:prstGeom prst="roundRect">
            <a:avLst>
              <a:gd name="adj" fmla="val 6000"/>
            </a:avLst>
          </a:prstGeom>
          <a:solidFill>
            <a:srgbClr val="FFF8E8"/>
          </a:solidFill>
          <a:ln w="12700">
            <a:solidFill>
              <a:srgbClr val="C58B18"/>
            </a:solidFill>
            <a:prstDash val="solid"/>
          </a:ln>
        </p:spPr>
        <p:txBody>
          <a:bodyPr/>
          <a:lstStyle/>
          <a:p>
            <a:endParaRPr lang="en-IN"/>
          </a:p>
        </p:txBody>
      </p:sp>
      <p:sp>
        <p:nvSpPr>
          <p:cNvPr id="35" name="Text 33"/>
          <p:cNvSpPr/>
          <p:nvPr/>
        </p:nvSpPr>
        <p:spPr>
          <a:xfrm>
            <a:off x="781050" y="5343525"/>
            <a:ext cx="1809750" cy="238125"/>
          </a:xfrm>
          <a:prstGeom prst="rect">
            <a:avLst/>
          </a:prstGeom>
          <a:noFill/>
          <a:ln/>
        </p:spPr>
        <p:txBody>
          <a:bodyPr wrap="square" lIns="0" tIns="0" rIns="0" bIns="0" rtlCol="0" anchor="t">
            <a:normAutofit/>
          </a:bodyPr>
          <a:lstStyle/>
          <a:p>
            <a:pPr marL="0" indent="0" algn="l">
              <a:lnSpc>
                <a:spcPct val="100000"/>
              </a:lnSpc>
              <a:buNone/>
            </a:pPr>
            <a:r>
              <a:rPr lang="en-US" sz="1600" b="1" dirty="0">
                <a:solidFill>
                  <a:srgbClr val="C58B18"/>
                </a:solidFill>
                <a:latin typeface="Cambria" pitchFamily="34" charset="0"/>
                <a:ea typeface="Cambria" pitchFamily="34" charset="-122"/>
                <a:cs typeface="Cambria" pitchFamily="34" charset="-120"/>
              </a:rPr>
              <a:t>Reporting integrity</a:t>
            </a:r>
            <a:endParaRPr lang="en-US" sz="1600" dirty="0"/>
          </a:p>
        </p:txBody>
      </p:sp>
      <p:sp>
        <p:nvSpPr>
          <p:cNvPr id="36" name="Text 34"/>
          <p:cNvSpPr/>
          <p:nvPr/>
        </p:nvSpPr>
        <p:spPr>
          <a:xfrm>
            <a:off x="2781300" y="5324475"/>
            <a:ext cx="8629650" cy="381000"/>
          </a:xfrm>
          <a:prstGeom prst="rect">
            <a:avLst/>
          </a:prstGeom>
          <a:noFill/>
          <a:ln/>
        </p:spPr>
        <p:txBody>
          <a:bodyPr wrap="square" lIns="0" tIns="0" rIns="0" bIns="0" rtlCol="0" anchor="t">
            <a:normAutofit/>
          </a:bodyPr>
          <a:lstStyle/>
          <a:p>
            <a:pPr marL="0" indent="0" algn="l">
              <a:lnSpc>
                <a:spcPct val="100000"/>
              </a:lnSpc>
              <a:buNone/>
            </a:pPr>
            <a:r>
              <a:rPr lang="en-US" sz="1220" b="1" dirty="0">
                <a:solidFill>
                  <a:srgbClr val="12263A"/>
                </a:solidFill>
                <a:latin typeface="Calibri" pitchFamily="34" charset="0"/>
                <a:ea typeface="Calibri" pitchFamily="34" charset="-122"/>
                <a:cs typeface="Calibri" pitchFamily="34" charset="-120"/>
              </a:rPr>
              <a:t>The 0.990 figure belongs to the post-observation revised rule. The pre-frozen base rule scored 0.625 on the same captures. Both are shown so the improvement is not mistaken for independent pre-registered validation.</a:t>
            </a:r>
            <a:endParaRPr lang="en-US" sz="1220" dirty="0"/>
          </a:p>
        </p:txBody>
      </p:sp>
      <p:sp>
        <p:nvSpPr>
          <p:cNvPr id="37" name="Shape 35"/>
          <p:cNvSpPr/>
          <p:nvPr/>
        </p:nvSpPr>
        <p:spPr>
          <a:xfrm>
            <a:off x="571500" y="5905500"/>
            <a:ext cx="11049000" cy="514350"/>
          </a:xfrm>
          <a:prstGeom prst="roundRect">
            <a:avLst>
              <a:gd name="adj" fmla="val 7111"/>
            </a:avLst>
          </a:prstGeom>
          <a:solidFill>
            <a:srgbClr val="0E2440"/>
          </a:solidFill>
          <a:ln w="12700">
            <a:solidFill>
              <a:srgbClr val="0E2440"/>
            </a:solidFill>
            <a:prstDash val="solid"/>
          </a:ln>
        </p:spPr>
        <p:txBody>
          <a:bodyPr/>
          <a:lstStyle/>
          <a:p>
            <a:endParaRPr lang="en-IN"/>
          </a:p>
        </p:txBody>
      </p:sp>
      <p:sp>
        <p:nvSpPr>
          <p:cNvPr id="38" name="Text 36"/>
          <p:cNvSpPr/>
          <p:nvPr/>
        </p:nvSpPr>
        <p:spPr>
          <a:xfrm>
            <a:off x="781050" y="6019800"/>
            <a:ext cx="10629900" cy="304800"/>
          </a:xfrm>
          <a:prstGeom prst="rect">
            <a:avLst/>
          </a:prstGeom>
          <a:noFill/>
          <a:ln/>
        </p:spPr>
        <p:txBody>
          <a:bodyPr wrap="square" lIns="0" tIns="0" rIns="0" bIns="0" rtlCol="0" anchor="t">
            <a:normAutofit/>
          </a:bodyPr>
          <a:lstStyle/>
          <a:p>
            <a:pPr marL="0" indent="0" algn="l">
              <a:lnSpc>
                <a:spcPct val="100000"/>
              </a:lnSpc>
              <a:buNone/>
            </a:pPr>
            <a:r>
              <a:rPr lang="en-US" sz="1320" b="1" dirty="0">
                <a:solidFill>
                  <a:srgbClr val="FFFFFF"/>
                </a:solidFill>
                <a:latin typeface="Cambria" pitchFamily="34" charset="0"/>
                <a:ea typeface="Cambria" pitchFamily="34" charset="-122"/>
                <a:cs typeface="Cambria" pitchFamily="34" charset="-120"/>
              </a:rPr>
              <a:t>Headline position: strong attack detection with one identified and explainable benign failure, an honest abstention on the genuinely undecidable case, and correct fault attribution on seven of eight attack scenarios.</a:t>
            </a:r>
            <a:endParaRPr lang="en-US" sz="132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8FAFC"/>
          </a:solidFill>
          <a:ln/>
        </p:spPr>
        <p:txBody>
          <a:bodyPr/>
          <a:lstStyle/>
          <a:p>
            <a:endParaRPr lang="en-IN"/>
          </a:p>
        </p:txBody>
      </p:sp>
      <p:sp>
        <p:nvSpPr>
          <p:cNvPr id="3" name="Shape 1"/>
          <p:cNvSpPr/>
          <p:nvPr/>
        </p:nvSpPr>
        <p:spPr>
          <a:xfrm>
            <a:off x="0" y="0"/>
            <a:ext cx="12192000" cy="114300"/>
          </a:xfrm>
          <a:prstGeom prst="rect">
            <a:avLst/>
          </a:prstGeom>
          <a:solidFill>
            <a:srgbClr val="18B89A"/>
          </a:solidFill>
          <a:ln/>
        </p:spPr>
        <p:txBody>
          <a:bodyPr/>
          <a:lstStyle/>
          <a:p>
            <a:endParaRPr lang="en-IN"/>
          </a:p>
        </p:txBody>
      </p:sp>
      <p:sp>
        <p:nvSpPr>
          <p:cNvPr id="4" name="Text 2"/>
          <p:cNvSpPr/>
          <p:nvPr/>
        </p:nvSpPr>
        <p:spPr>
          <a:xfrm>
            <a:off x="571500" y="209550"/>
            <a:ext cx="11049000" cy="228600"/>
          </a:xfrm>
          <a:prstGeom prst="rect">
            <a:avLst/>
          </a:prstGeom>
          <a:noFill/>
          <a:ln/>
        </p:spPr>
        <p:txBody>
          <a:bodyPr wrap="square" lIns="0" tIns="0" rIns="0" bIns="0" rtlCol="0" anchor="t">
            <a:normAutofit/>
          </a:bodyPr>
          <a:lstStyle/>
          <a:p>
            <a:pPr marL="0" indent="0" algn="l">
              <a:lnSpc>
                <a:spcPct val="100000"/>
              </a:lnSpc>
              <a:buNone/>
            </a:pPr>
            <a:r>
              <a:rPr lang="en-US" sz="1280" b="1" dirty="0">
                <a:solidFill>
                  <a:srgbClr val="1C7293"/>
                </a:solidFill>
                <a:latin typeface="Calibri" pitchFamily="34" charset="0"/>
                <a:ea typeface="Calibri" pitchFamily="34" charset="-122"/>
                <a:cs typeface="Calibri" pitchFamily="34" charset="-120"/>
              </a:rPr>
              <a:t>RULE-BASED AND ML COMPARISON</a:t>
            </a:r>
            <a:endParaRPr lang="en-US" sz="1280" dirty="0"/>
          </a:p>
        </p:txBody>
      </p:sp>
      <p:sp>
        <p:nvSpPr>
          <p:cNvPr id="5" name="Text 3"/>
          <p:cNvSpPr/>
          <p:nvPr/>
        </p:nvSpPr>
        <p:spPr>
          <a:xfrm>
            <a:off x="571500" y="447675"/>
            <a:ext cx="11049000" cy="552450"/>
          </a:xfrm>
          <a:prstGeom prst="rect">
            <a:avLst/>
          </a:prstGeom>
          <a:noFill/>
          <a:ln/>
        </p:spPr>
        <p:txBody>
          <a:bodyPr wrap="square" lIns="0" tIns="0" rIns="0" bIns="0" rtlCol="0" anchor="t">
            <a:normAutofit/>
          </a:bodyPr>
          <a:lstStyle/>
          <a:p>
            <a:pPr marL="0" indent="0" algn="l">
              <a:lnSpc>
                <a:spcPct val="100000"/>
              </a:lnSpc>
              <a:buNone/>
            </a:pPr>
            <a:r>
              <a:rPr lang="en-US" sz="2900" b="1" dirty="0">
                <a:solidFill>
                  <a:srgbClr val="12263A"/>
                </a:solidFill>
                <a:latin typeface="Cambria" pitchFamily="34" charset="0"/>
                <a:ea typeface="Cambria" pitchFamily="34" charset="-122"/>
                <a:cs typeface="Cambria" pitchFamily="34" charset="-120"/>
              </a:rPr>
              <a:t>Rule-Based and Machine-Learning Classification Compared</a:t>
            </a:r>
            <a:endParaRPr lang="en-US" sz="2900" dirty="0"/>
          </a:p>
        </p:txBody>
      </p:sp>
      <p:sp>
        <p:nvSpPr>
          <p:cNvPr id="6" name="Shape 4"/>
          <p:cNvSpPr/>
          <p:nvPr/>
        </p:nvSpPr>
        <p:spPr>
          <a:xfrm>
            <a:off x="571500" y="1057275"/>
            <a:ext cx="11049000" cy="438150"/>
          </a:xfrm>
          <a:prstGeom prst="roundRect">
            <a:avLst>
              <a:gd name="adj" fmla="val 8348"/>
            </a:avLst>
          </a:prstGeom>
          <a:solidFill>
            <a:srgbClr val="EAF2F8"/>
          </a:solidFill>
          <a:ln w="12700">
            <a:solidFill>
              <a:srgbClr val="D7E1EA"/>
            </a:solidFill>
            <a:prstDash val="solid"/>
          </a:ln>
        </p:spPr>
        <p:txBody>
          <a:bodyPr/>
          <a:lstStyle/>
          <a:p>
            <a:endParaRPr lang="en-IN"/>
          </a:p>
        </p:txBody>
      </p:sp>
      <p:sp>
        <p:nvSpPr>
          <p:cNvPr id="7" name="Text 5"/>
          <p:cNvSpPr/>
          <p:nvPr/>
        </p:nvSpPr>
        <p:spPr>
          <a:xfrm>
            <a:off x="723900" y="1123950"/>
            <a:ext cx="10744200" cy="323850"/>
          </a:xfrm>
          <a:prstGeom prst="rect">
            <a:avLst/>
          </a:prstGeom>
          <a:noFill/>
          <a:ln/>
        </p:spPr>
        <p:txBody>
          <a:bodyPr wrap="square" lIns="0" tIns="0" rIns="0" bIns="0" rtlCol="0" anchor="t">
            <a:normAutofit/>
          </a:bodyPr>
          <a:lstStyle/>
          <a:p>
            <a:pPr marL="0" indent="0" algn="l">
              <a:lnSpc>
                <a:spcPct val="102000"/>
              </a:lnSpc>
              <a:buNone/>
            </a:pPr>
            <a:r>
              <a:rPr lang="en-US" sz="1120" dirty="0">
                <a:solidFill>
                  <a:srgbClr val="5B6B7C"/>
                </a:solidFill>
                <a:latin typeface="Calibri" pitchFamily="34" charset="0"/>
                <a:ea typeface="Calibri" pitchFamily="34" charset="-122"/>
                <a:cs typeface="Calibri" pitchFamily="34" charset="-120"/>
              </a:rPr>
              <a:t>Worklet objective 5 requires comparison against traditional fault management  |  Session-disjoint split: trained on replicates 1–8, tested on replicates 9–12 (56 held-out runs)  |  Hyperparameters and split fixed before scoring</a:t>
            </a:r>
            <a:endParaRPr lang="en-US" sz="1120" dirty="0"/>
          </a:p>
        </p:txBody>
      </p:sp>
      <p:sp>
        <p:nvSpPr>
          <p:cNvPr id="8" name="Shape 6"/>
          <p:cNvSpPr/>
          <p:nvPr/>
        </p:nvSpPr>
        <p:spPr>
          <a:xfrm>
            <a:off x="571500" y="1619250"/>
            <a:ext cx="3552825" cy="1390650"/>
          </a:xfrm>
          <a:prstGeom prst="roundRect">
            <a:avLst>
              <a:gd name="adj" fmla="val 2630"/>
            </a:avLst>
          </a:prstGeom>
          <a:solidFill>
            <a:srgbClr val="0E2440"/>
          </a:solidFill>
          <a:ln w="12700">
            <a:solidFill>
              <a:srgbClr val="0E2440"/>
            </a:solidFill>
            <a:prstDash val="solid"/>
          </a:ln>
        </p:spPr>
        <p:txBody>
          <a:bodyPr/>
          <a:lstStyle/>
          <a:p>
            <a:endParaRPr lang="en-IN"/>
          </a:p>
        </p:txBody>
      </p:sp>
      <p:sp>
        <p:nvSpPr>
          <p:cNvPr id="9" name="Text 7"/>
          <p:cNvSpPr/>
          <p:nvPr/>
        </p:nvSpPr>
        <p:spPr>
          <a:xfrm>
            <a:off x="800100" y="1771650"/>
            <a:ext cx="3143250" cy="190500"/>
          </a:xfrm>
          <a:prstGeom prst="rect">
            <a:avLst/>
          </a:prstGeom>
          <a:noFill/>
          <a:ln/>
        </p:spPr>
        <p:txBody>
          <a:bodyPr wrap="square" lIns="0" tIns="0" rIns="0" bIns="0" rtlCol="0" anchor="t">
            <a:normAutofit/>
          </a:bodyPr>
          <a:lstStyle/>
          <a:p>
            <a:pPr marL="0" indent="0" algn="l">
              <a:lnSpc>
                <a:spcPct val="100000"/>
              </a:lnSpc>
              <a:buNone/>
            </a:pPr>
            <a:r>
              <a:rPr lang="en-US" sz="1150" b="1" dirty="0">
                <a:solidFill>
                  <a:srgbClr val="18B89A"/>
                </a:solidFill>
                <a:latin typeface="Calibri" pitchFamily="34" charset="0"/>
                <a:ea typeface="Calibri" pitchFamily="34" charset="-122"/>
                <a:cs typeface="Calibri" pitchFamily="34" charset="-120"/>
              </a:rPr>
              <a:t>ARM A · RULE-BASED</a:t>
            </a:r>
            <a:endParaRPr lang="en-US" sz="1150" dirty="0"/>
          </a:p>
        </p:txBody>
      </p:sp>
      <p:sp>
        <p:nvSpPr>
          <p:cNvPr id="10" name="Text 8"/>
          <p:cNvSpPr/>
          <p:nvPr/>
        </p:nvSpPr>
        <p:spPr>
          <a:xfrm>
            <a:off x="800100" y="1981200"/>
            <a:ext cx="3143250" cy="247650"/>
          </a:xfrm>
          <a:prstGeom prst="rect">
            <a:avLst/>
          </a:prstGeom>
          <a:noFill/>
          <a:ln/>
        </p:spPr>
        <p:txBody>
          <a:bodyPr wrap="square" lIns="0" tIns="0" rIns="0" bIns="0" rtlCol="0" anchor="t">
            <a:normAutofit/>
          </a:bodyPr>
          <a:lstStyle/>
          <a:p>
            <a:pPr marL="0" indent="0" algn="l">
              <a:lnSpc>
                <a:spcPct val="100000"/>
              </a:lnSpc>
              <a:buNone/>
            </a:pPr>
            <a:r>
              <a:rPr lang="en-US" sz="1800" b="1" dirty="0">
                <a:solidFill>
                  <a:srgbClr val="FFFFFF"/>
                </a:solidFill>
                <a:latin typeface="Cambria" pitchFamily="34" charset="0"/>
                <a:ea typeface="Cambria" pitchFamily="34" charset="-122"/>
                <a:cs typeface="Cambria" pitchFamily="34" charset="-120"/>
              </a:rPr>
              <a:t>Frozen decision rule</a:t>
            </a:r>
            <a:endParaRPr lang="en-US" sz="1800" dirty="0"/>
          </a:p>
        </p:txBody>
      </p:sp>
      <p:sp>
        <p:nvSpPr>
          <p:cNvPr id="11" name="Text 9"/>
          <p:cNvSpPr/>
          <p:nvPr/>
        </p:nvSpPr>
        <p:spPr>
          <a:xfrm>
            <a:off x="800100" y="2266950"/>
            <a:ext cx="3143250" cy="666750"/>
          </a:xfrm>
          <a:prstGeom prst="rect">
            <a:avLst/>
          </a:prstGeom>
          <a:noFill/>
          <a:ln/>
        </p:spPr>
        <p:txBody>
          <a:bodyPr wrap="square" lIns="0" tIns="0" rIns="0" bIns="0" rtlCol="0" anchor="t">
            <a:normAutofit/>
          </a:bodyPr>
          <a:lstStyle/>
          <a:p>
            <a:pPr marL="0" indent="0" algn="l">
              <a:lnSpc>
                <a:spcPct val="100000"/>
              </a:lnSpc>
              <a:buNone/>
            </a:pPr>
            <a:r>
              <a:rPr lang="en-US" sz="1240" dirty="0">
                <a:solidFill>
                  <a:srgbClr val="CFD9E5"/>
                </a:solidFill>
                <a:latin typeface="Calibri" pitchFamily="34" charset="0"/>
                <a:ea typeface="Calibri" pitchFamily="34" charset="-122"/>
                <a:cs typeface="Calibri" pitchFamily="34" charset="-120"/>
              </a:rPr>
              <a:t>Inputs: 56 extracted packet fields plus provisioned operator context. No training. SHA-256 frozen before the campaign; v3 is a disclosed post-campaign revision.</a:t>
            </a:r>
            <a:endParaRPr lang="en-US" sz="1240" dirty="0"/>
          </a:p>
        </p:txBody>
      </p:sp>
      <p:sp>
        <p:nvSpPr>
          <p:cNvPr id="12" name="Shape 10"/>
          <p:cNvSpPr/>
          <p:nvPr/>
        </p:nvSpPr>
        <p:spPr>
          <a:xfrm>
            <a:off x="4314825" y="1619250"/>
            <a:ext cx="3552825" cy="1390650"/>
          </a:xfrm>
          <a:prstGeom prst="roundRect">
            <a:avLst>
              <a:gd name="adj" fmla="val 2630"/>
            </a:avLst>
          </a:prstGeom>
          <a:solidFill>
            <a:srgbClr val="EAF2F8"/>
          </a:solidFill>
          <a:ln w="12700">
            <a:solidFill>
              <a:srgbClr val="1C7293"/>
            </a:solidFill>
            <a:prstDash val="solid"/>
          </a:ln>
        </p:spPr>
        <p:txBody>
          <a:bodyPr/>
          <a:lstStyle/>
          <a:p>
            <a:endParaRPr lang="en-IN"/>
          </a:p>
        </p:txBody>
      </p:sp>
      <p:sp>
        <p:nvSpPr>
          <p:cNvPr id="13" name="Text 11"/>
          <p:cNvSpPr/>
          <p:nvPr/>
        </p:nvSpPr>
        <p:spPr>
          <a:xfrm>
            <a:off x="4543425" y="1771650"/>
            <a:ext cx="3143250" cy="190500"/>
          </a:xfrm>
          <a:prstGeom prst="rect">
            <a:avLst/>
          </a:prstGeom>
          <a:noFill/>
          <a:ln/>
        </p:spPr>
        <p:txBody>
          <a:bodyPr wrap="square" lIns="0" tIns="0" rIns="0" bIns="0" rtlCol="0" anchor="t">
            <a:normAutofit/>
          </a:bodyPr>
          <a:lstStyle/>
          <a:p>
            <a:pPr marL="0" indent="0" algn="l">
              <a:lnSpc>
                <a:spcPct val="100000"/>
              </a:lnSpc>
              <a:buNone/>
            </a:pPr>
            <a:r>
              <a:rPr lang="en-US" sz="1150" b="1" dirty="0">
                <a:solidFill>
                  <a:srgbClr val="1C7293"/>
                </a:solidFill>
                <a:latin typeface="Calibri" pitchFamily="34" charset="0"/>
                <a:ea typeface="Calibri" pitchFamily="34" charset="-122"/>
                <a:cs typeface="Calibri" pitchFamily="34" charset="-120"/>
              </a:rPr>
              <a:t>ARM B · MACHINE LEARNING</a:t>
            </a:r>
            <a:endParaRPr lang="en-US" sz="1150" dirty="0"/>
          </a:p>
        </p:txBody>
      </p:sp>
      <p:sp>
        <p:nvSpPr>
          <p:cNvPr id="14" name="Text 12"/>
          <p:cNvSpPr/>
          <p:nvPr/>
        </p:nvSpPr>
        <p:spPr>
          <a:xfrm>
            <a:off x="4543425" y="1981200"/>
            <a:ext cx="3143250" cy="247650"/>
          </a:xfrm>
          <a:prstGeom prst="rect">
            <a:avLst/>
          </a:prstGeom>
          <a:noFill/>
          <a:ln/>
        </p:spPr>
        <p:txBody>
          <a:bodyPr wrap="square" lIns="0" tIns="0" rIns="0" bIns="0" rtlCol="0" anchor="t">
            <a:normAutofit/>
          </a:bodyPr>
          <a:lstStyle/>
          <a:p>
            <a:pPr marL="0" indent="0" algn="l">
              <a:lnSpc>
                <a:spcPct val="100000"/>
              </a:lnSpc>
              <a:buNone/>
            </a:pPr>
            <a:r>
              <a:rPr lang="en-US" sz="1800" b="1" dirty="0">
                <a:solidFill>
                  <a:srgbClr val="12263A"/>
                </a:solidFill>
                <a:latin typeface="Cambria" pitchFamily="34" charset="0"/>
                <a:ea typeface="Cambria" pitchFamily="34" charset="-122"/>
                <a:cs typeface="Cambria" pitchFamily="34" charset="-120"/>
              </a:rPr>
              <a:t>Random Forest + Isolation Forest</a:t>
            </a:r>
            <a:endParaRPr lang="en-US" sz="1800" dirty="0"/>
          </a:p>
        </p:txBody>
      </p:sp>
      <p:sp>
        <p:nvSpPr>
          <p:cNvPr id="15" name="Text 13"/>
          <p:cNvSpPr/>
          <p:nvPr/>
        </p:nvSpPr>
        <p:spPr>
          <a:xfrm>
            <a:off x="4543425" y="2266950"/>
            <a:ext cx="3143250" cy="666750"/>
          </a:xfrm>
          <a:prstGeom prst="rect">
            <a:avLst/>
          </a:prstGeom>
          <a:noFill/>
          <a:ln/>
        </p:spPr>
        <p:txBody>
          <a:bodyPr wrap="square" lIns="0" tIns="0" rIns="0" bIns="0" rtlCol="0" anchor="t">
            <a:normAutofit/>
          </a:bodyPr>
          <a:lstStyle/>
          <a:p>
            <a:pPr marL="0" indent="0" algn="l">
              <a:lnSpc>
                <a:spcPct val="100000"/>
              </a:lnSpc>
              <a:buNone/>
            </a:pPr>
            <a:r>
              <a:rPr lang="en-US" sz="1240" dirty="0">
                <a:solidFill>
                  <a:srgbClr val="12263A"/>
                </a:solidFill>
                <a:latin typeface="Calibri" pitchFamily="34" charset="0"/>
                <a:ea typeface="Calibri" pitchFamily="34" charset="-122"/>
                <a:cs typeface="Calibri" pitchFamily="34" charset="-120"/>
              </a:rPr>
              <a:t>90 trees, depth 6, balanced classes, seed 1588, with an Isolation Forest novelty layer for abstention. Inputs: ptp4l servo telemetry only — offset, path delay and delay variation.</a:t>
            </a:r>
            <a:endParaRPr lang="en-US" sz="1240" dirty="0"/>
          </a:p>
        </p:txBody>
      </p:sp>
      <p:sp>
        <p:nvSpPr>
          <p:cNvPr id="16" name="Shape 14"/>
          <p:cNvSpPr/>
          <p:nvPr/>
        </p:nvSpPr>
        <p:spPr>
          <a:xfrm>
            <a:off x="8058150" y="1619250"/>
            <a:ext cx="3562350" cy="1390650"/>
          </a:xfrm>
          <a:prstGeom prst="roundRect">
            <a:avLst>
              <a:gd name="adj" fmla="val 2630"/>
            </a:avLst>
          </a:prstGeom>
          <a:solidFill>
            <a:srgbClr val="FFFFFF"/>
          </a:solidFill>
          <a:ln w="12700">
            <a:solidFill>
              <a:srgbClr val="D7E1EA"/>
            </a:solidFill>
            <a:prstDash val="solid"/>
          </a:ln>
        </p:spPr>
        <p:txBody>
          <a:bodyPr/>
          <a:lstStyle/>
          <a:p>
            <a:endParaRPr lang="en-IN"/>
          </a:p>
        </p:txBody>
      </p:sp>
      <p:sp>
        <p:nvSpPr>
          <p:cNvPr id="17" name="Text 15"/>
          <p:cNvSpPr/>
          <p:nvPr/>
        </p:nvSpPr>
        <p:spPr>
          <a:xfrm>
            <a:off x="8286750" y="1771650"/>
            <a:ext cx="3143250" cy="190500"/>
          </a:xfrm>
          <a:prstGeom prst="rect">
            <a:avLst/>
          </a:prstGeom>
          <a:noFill/>
          <a:ln/>
        </p:spPr>
        <p:txBody>
          <a:bodyPr wrap="square" lIns="0" tIns="0" rIns="0" bIns="0" rtlCol="0" anchor="t">
            <a:normAutofit/>
          </a:bodyPr>
          <a:lstStyle/>
          <a:p>
            <a:pPr marL="0" indent="0" algn="l">
              <a:lnSpc>
                <a:spcPct val="100000"/>
              </a:lnSpc>
              <a:buNone/>
            </a:pPr>
            <a:r>
              <a:rPr lang="en-US" sz="1150" b="1" dirty="0">
                <a:solidFill>
                  <a:srgbClr val="5B6B7C"/>
                </a:solidFill>
                <a:latin typeface="Calibri" pitchFamily="34" charset="0"/>
                <a:ea typeface="Calibri" pitchFamily="34" charset="-122"/>
                <a:cs typeface="Calibri" pitchFamily="34" charset="-120"/>
              </a:rPr>
              <a:t>CONTROL · ALWAYS-BENIGN</a:t>
            </a:r>
            <a:endParaRPr lang="en-US" sz="1150" dirty="0"/>
          </a:p>
        </p:txBody>
      </p:sp>
      <p:sp>
        <p:nvSpPr>
          <p:cNvPr id="18" name="Text 16"/>
          <p:cNvSpPr/>
          <p:nvPr/>
        </p:nvSpPr>
        <p:spPr>
          <a:xfrm>
            <a:off x="8286750" y="1981200"/>
            <a:ext cx="3143250" cy="247650"/>
          </a:xfrm>
          <a:prstGeom prst="rect">
            <a:avLst/>
          </a:prstGeom>
          <a:noFill/>
          <a:ln/>
        </p:spPr>
        <p:txBody>
          <a:bodyPr wrap="square" lIns="0" tIns="0" rIns="0" bIns="0" rtlCol="0" anchor="t">
            <a:normAutofit/>
          </a:bodyPr>
          <a:lstStyle/>
          <a:p>
            <a:pPr marL="0" indent="0" algn="l">
              <a:lnSpc>
                <a:spcPct val="100000"/>
              </a:lnSpc>
              <a:buNone/>
            </a:pPr>
            <a:r>
              <a:rPr lang="en-US" sz="1800" b="1" dirty="0">
                <a:solidFill>
                  <a:srgbClr val="12263A"/>
                </a:solidFill>
                <a:latin typeface="Cambria" pitchFamily="34" charset="0"/>
                <a:ea typeface="Cambria" pitchFamily="34" charset="-122"/>
                <a:cs typeface="Cambria" pitchFamily="34" charset="-120"/>
              </a:rPr>
              <a:t>Constant predictor</a:t>
            </a:r>
            <a:endParaRPr lang="en-US" sz="1800" dirty="0"/>
          </a:p>
        </p:txBody>
      </p:sp>
      <p:sp>
        <p:nvSpPr>
          <p:cNvPr id="19" name="Text 17"/>
          <p:cNvSpPr/>
          <p:nvPr/>
        </p:nvSpPr>
        <p:spPr>
          <a:xfrm>
            <a:off x="8286750" y="2266950"/>
            <a:ext cx="3143250" cy="666750"/>
          </a:xfrm>
          <a:prstGeom prst="rect">
            <a:avLst/>
          </a:prstGeom>
          <a:noFill/>
          <a:ln/>
        </p:spPr>
        <p:txBody>
          <a:bodyPr wrap="square" lIns="0" tIns="0" rIns="0" bIns="0" rtlCol="0" anchor="t">
            <a:normAutofit/>
          </a:bodyPr>
          <a:lstStyle/>
          <a:p>
            <a:pPr marL="0" indent="0" algn="l">
              <a:lnSpc>
                <a:spcPct val="100000"/>
              </a:lnSpc>
              <a:buNone/>
            </a:pPr>
            <a:r>
              <a:rPr lang="en-US" sz="1240" dirty="0">
                <a:solidFill>
                  <a:srgbClr val="5B6B7C"/>
                </a:solidFill>
                <a:latin typeface="Calibri" pitchFamily="34" charset="0"/>
                <a:ea typeface="Calibri" pitchFamily="34" charset="-122"/>
                <a:cs typeface="Calibri" pitchFamily="34" charset="-120"/>
              </a:rPr>
              <a:t>Returns BENIGN for every run. Included so that any apparent ML skill can be tested against the trivial baseline rather than assumed.</a:t>
            </a:r>
            <a:endParaRPr lang="en-US" sz="1240" dirty="0"/>
          </a:p>
        </p:txBody>
      </p:sp>
      <p:sp>
        <p:nvSpPr>
          <p:cNvPr id="20" name="Text 18"/>
          <p:cNvSpPr/>
          <p:nvPr/>
        </p:nvSpPr>
        <p:spPr>
          <a:xfrm>
            <a:off x="666750" y="3200400"/>
            <a:ext cx="3143250" cy="22860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1C7293"/>
                </a:solidFill>
                <a:latin typeface="Calibri" pitchFamily="34" charset="0"/>
                <a:ea typeface="Calibri" pitchFamily="34" charset="-122"/>
                <a:cs typeface="Calibri" pitchFamily="34" charset="-120"/>
              </a:rPr>
              <a:t>METRIC ON 56 HELD-OUT RUNS</a:t>
            </a:r>
            <a:endParaRPr lang="en-US" sz="1200" dirty="0"/>
          </a:p>
        </p:txBody>
      </p:sp>
      <p:sp>
        <p:nvSpPr>
          <p:cNvPr id="21" name="Text 19"/>
          <p:cNvSpPr/>
          <p:nvPr/>
        </p:nvSpPr>
        <p:spPr>
          <a:xfrm>
            <a:off x="4095750" y="3200400"/>
            <a:ext cx="1809750" cy="22860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1C7293"/>
                </a:solidFill>
                <a:latin typeface="Calibri" pitchFamily="34" charset="0"/>
                <a:ea typeface="Calibri" pitchFamily="34" charset="-122"/>
                <a:cs typeface="Calibri" pitchFamily="34" charset="-120"/>
              </a:rPr>
              <a:t>ARM A — RULE</a:t>
            </a:r>
            <a:endParaRPr lang="en-US" sz="1200" dirty="0"/>
          </a:p>
        </p:txBody>
      </p:sp>
      <p:sp>
        <p:nvSpPr>
          <p:cNvPr id="22" name="Text 20"/>
          <p:cNvSpPr/>
          <p:nvPr/>
        </p:nvSpPr>
        <p:spPr>
          <a:xfrm>
            <a:off x="6286500" y="3200400"/>
            <a:ext cx="1809750" cy="22860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1C7293"/>
                </a:solidFill>
                <a:latin typeface="Calibri" pitchFamily="34" charset="0"/>
                <a:ea typeface="Calibri" pitchFamily="34" charset="-122"/>
                <a:cs typeface="Calibri" pitchFamily="34" charset="-120"/>
              </a:rPr>
              <a:t>ARM B — ML</a:t>
            </a:r>
            <a:endParaRPr lang="en-US" sz="1200" dirty="0"/>
          </a:p>
        </p:txBody>
      </p:sp>
      <p:sp>
        <p:nvSpPr>
          <p:cNvPr id="23" name="Text 21"/>
          <p:cNvSpPr/>
          <p:nvPr/>
        </p:nvSpPr>
        <p:spPr>
          <a:xfrm>
            <a:off x="8477250" y="3200400"/>
            <a:ext cx="1809750" cy="22860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1C7293"/>
                </a:solidFill>
                <a:latin typeface="Calibri" pitchFamily="34" charset="0"/>
                <a:ea typeface="Calibri" pitchFamily="34" charset="-122"/>
                <a:cs typeface="Calibri" pitchFamily="34" charset="-120"/>
              </a:rPr>
              <a:t>ALWAYS-BENIGN</a:t>
            </a:r>
            <a:endParaRPr lang="en-US" sz="1200" dirty="0"/>
          </a:p>
        </p:txBody>
      </p:sp>
      <p:sp>
        <p:nvSpPr>
          <p:cNvPr id="24" name="Text 22"/>
          <p:cNvSpPr/>
          <p:nvPr/>
        </p:nvSpPr>
        <p:spPr>
          <a:xfrm>
            <a:off x="10382250" y="3200400"/>
            <a:ext cx="1143000" cy="228600"/>
          </a:xfrm>
          <a:prstGeom prst="rect">
            <a:avLst/>
          </a:prstGeom>
          <a:noFill/>
          <a:ln/>
        </p:spPr>
        <p:txBody>
          <a:bodyPr wrap="square" lIns="0" tIns="0" rIns="0" bIns="0" rtlCol="0" anchor="t">
            <a:normAutofit/>
          </a:bodyPr>
          <a:lstStyle/>
          <a:p>
            <a:pPr marL="0" indent="0" algn="l">
              <a:lnSpc>
                <a:spcPct val="100000"/>
              </a:lnSpc>
              <a:buNone/>
            </a:pPr>
            <a:endParaRPr lang="en-US" sz="1200" dirty="0"/>
          </a:p>
        </p:txBody>
      </p:sp>
      <p:sp>
        <p:nvSpPr>
          <p:cNvPr id="25" name="Shape 23"/>
          <p:cNvSpPr/>
          <p:nvPr/>
        </p:nvSpPr>
        <p:spPr>
          <a:xfrm>
            <a:off x="571500" y="3457575"/>
            <a:ext cx="11049000" cy="11430"/>
          </a:xfrm>
          <a:prstGeom prst="rect">
            <a:avLst/>
          </a:prstGeom>
          <a:solidFill>
            <a:srgbClr val="D7E1EA"/>
          </a:solidFill>
          <a:ln/>
        </p:spPr>
        <p:txBody>
          <a:bodyPr/>
          <a:lstStyle/>
          <a:p>
            <a:endParaRPr lang="en-IN"/>
          </a:p>
        </p:txBody>
      </p:sp>
      <p:sp>
        <p:nvSpPr>
          <p:cNvPr id="26" name="Text 24"/>
          <p:cNvSpPr/>
          <p:nvPr/>
        </p:nvSpPr>
        <p:spPr>
          <a:xfrm>
            <a:off x="666750" y="3581400"/>
            <a:ext cx="3238500" cy="209550"/>
          </a:xfrm>
          <a:prstGeom prst="rect">
            <a:avLst/>
          </a:prstGeom>
          <a:noFill/>
          <a:ln/>
        </p:spPr>
        <p:txBody>
          <a:bodyPr wrap="square" lIns="0" tIns="0" rIns="0" bIns="0" rtlCol="0" anchor="t">
            <a:normAutofit/>
          </a:bodyPr>
          <a:lstStyle/>
          <a:p>
            <a:pPr marL="0" indent="0" algn="l">
              <a:lnSpc>
                <a:spcPct val="100000"/>
              </a:lnSpc>
              <a:buNone/>
            </a:pPr>
            <a:r>
              <a:rPr lang="en-US" sz="1360" b="1" dirty="0">
                <a:solidFill>
                  <a:srgbClr val="12263A"/>
                </a:solidFill>
                <a:latin typeface="Cambria" pitchFamily="34" charset="0"/>
                <a:ea typeface="Cambria" pitchFamily="34" charset="-122"/>
                <a:cs typeface="Cambria" pitchFamily="34" charset="-120"/>
              </a:rPr>
              <a:t>Exact accuracy</a:t>
            </a:r>
            <a:endParaRPr lang="en-US" sz="1360" dirty="0"/>
          </a:p>
        </p:txBody>
      </p:sp>
      <p:sp>
        <p:nvSpPr>
          <p:cNvPr id="27" name="Text 25"/>
          <p:cNvSpPr/>
          <p:nvPr/>
        </p:nvSpPr>
        <p:spPr>
          <a:xfrm>
            <a:off x="4095750" y="3581400"/>
            <a:ext cx="1809750" cy="209550"/>
          </a:xfrm>
          <a:prstGeom prst="rect">
            <a:avLst/>
          </a:prstGeom>
          <a:noFill/>
          <a:ln/>
        </p:spPr>
        <p:txBody>
          <a:bodyPr wrap="square" lIns="0" tIns="0" rIns="0" bIns="0" rtlCol="0" anchor="t">
            <a:normAutofit/>
          </a:bodyPr>
          <a:lstStyle/>
          <a:p>
            <a:pPr marL="0" indent="0" algn="l">
              <a:lnSpc>
                <a:spcPct val="100000"/>
              </a:lnSpc>
              <a:buNone/>
            </a:pPr>
            <a:r>
              <a:rPr lang="en-US" sz="1360" b="1" dirty="0">
                <a:solidFill>
                  <a:srgbClr val="1E8E5A"/>
                </a:solidFill>
                <a:latin typeface="Calibri" pitchFamily="34" charset="0"/>
                <a:ea typeface="Calibri" pitchFamily="34" charset="-122"/>
                <a:cs typeface="Calibri" pitchFamily="34" charset="-120"/>
              </a:rPr>
              <a:t>51/56  (0.911)</a:t>
            </a:r>
            <a:endParaRPr lang="en-US" sz="1360" dirty="0"/>
          </a:p>
        </p:txBody>
      </p:sp>
      <p:sp>
        <p:nvSpPr>
          <p:cNvPr id="28" name="Text 26"/>
          <p:cNvSpPr/>
          <p:nvPr/>
        </p:nvSpPr>
        <p:spPr>
          <a:xfrm>
            <a:off x="6286500" y="3581400"/>
            <a:ext cx="1809750" cy="209550"/>
          </a:xfrm>
          <a:prstGeom prst="rect">
            <a:avLst/>
          </a:prstGeom>
          <a:noFill/>
          <a:ln/>
        </p:spPr>
        <p:txBody>
          <a:bodyPr wrap="square" lIns="0" tIns="0" rIns="0" bIns="0" rtlCol="0" anchor="t">
            <a:normAutofit/>
          </a:bodyPr>
          <a:lstStyle/>
          <a:p>
            <a:pPr marL="0" indent="0" algn="l">
              <a:lnSpc>
                <a:spcPct val="100000"/>
              </a:lnSpc>
              <a:buNone/>
            </a:pPr>
            <a:r>
              <a:rPr lang="en-US" sz="1360" dirty="0">
                <a:solidFill>
                  <a:srgbClr val="12263A"/>
                </a:solidFill>
                <a:latin typeface="Calibri" pitchFamily="34" charset="0"/>
                <a:ea typeface="Calibri" pitchFamily="34" charset="-122"/>
                <a:cs typeface="Calibri" pitchFamily="34" charset="-120"/>
              </a:rPr>
              <a:t>24/56  (0.429)</a:t>
            </a:r>
            <a:endParaRPr lang="en-US" sz="1360" dirty="0"/>
          </a:p>
        </p:txBody>
      </p:sp>
      <p:sp>
        <p:nvSpPr>
          <p:cNvPr id="29" name="Text 27"/>
          <p:cNvSpPr/>
          <p:nvPr/>
        </p:nvSpPr>
        <p:spPr>
          <a:xfrm>
            <a:off x="8477250" y="3581400"/>
            <a:ext cx="1809750" cy="209550"/>
          </a:xfrm>
          <a:prstGeom prst="rect">
            <a:avLst/>
          </a:prstGeom>
          <a:noFill/>
          <a:ln/>
        </p:spPr>
        <p:txBody>
          <a:bodyPr wrap="square" lIns="0" tIns="0" rIns="0" bIns="0" rtlCol="0" anchor="t">
            <a:normAutofit/>
          </a:bodyPr>
          <a:lstStyle/>
          <a:p>
            <a:pPr marL="0" indent="0" algn="l">
              <a:lnSpc>
                <a:spcPct val="100000"/>
              </a:lnSpc>
              <a:buNone/>
            </a:pPr>
            <a:r>
              <a:rPr lang="en-US" sz="1360" dirty="0">
                <a:solidFill>
                  <a:srgbClr val="5B6B7C"/>
                </a:solidFill>
                <a:latin typeface="Calibri" pitchFamily="34" charset="0"/>
                <a:ea typeface="Calibri" pitchFamily="34" charset="-122"/>
                <a:cs typeface="Calibri" pitchFamily="34" charset="-120"/>
              </a:rPr>
              <a:t>20/56  (0.357)</a:t>
            </a:r>
            <a:endParaRPr lang="en-US" sz="1360" dirty="0"/>
          </a:p>
        </p:txBody>
      </p:sp>
      <p:sp>
        <p:nvSpPr>
          <p:cNvPr id="30" name="Shape 28"/>
          <p:cNvSpPr/>
          <p:nvPr/>
        </p:nvSpPr>
        <p:spPr>
          <a:xfrm>
            <a:off x="571500" y="3829050"/>
            <a:ext cx="11049000" cy="11430"/>
          </a:xfrm>
          <a:prstGeom prst="rect">
            <a:avLst/>
          </a:prstGeom>
          <a:solidFill>
            <a:srgbClr val="D7E1EA"/>
          </a:solidFill>
          <a:ln/>
        </p:spPr>
        <p:txBody>
          <a:bodyPr/>
          <a:lstStyle/>
          <a:p>
            <a:endParaRPr lang="en-IN"/>
          </a:p>
        </p:txBody>
      </p:sp>
      <p:sp>
        <p:nvSpPr>
          <p:cNvPr id="31" name="Text 29"/>
          <p:cNvSpPr/>
          <p:nvPr/>
        </p:nvSpPr>
        <p:spPr>
          <a:xfrm>
            <a:off x="666750" y="3924300"/>
            <a:ext cx="3238500" cy="209550"/>
          </a:xfrm>
          <a:prstGeom prst="rect">
            <a:avLst/>
          </a:prstGeom>
          <a:noFill/>
          <a:ln/>
        </p:spPr>
        <p:txBody>
          <a:bodyPr wrap="square" lIns="0" tIns="0" rIns="0" bIns="0" rtlCol="0" anchor="t">
            <a:normAutofit/>
          </a:bodyPr>
          <a:lstStyle/>
          <a:p>
            <a:pPr marL="0" indent="0" algn="l">
              <a:lnSpc>
                <a:spcPct val="100000"/>
              </a:lnSpc>
              <a:buNone/>
            </a:pPr>
            <a:r>
              <a:rPr lang="en-US" sz="1360" b="1" dirty="0">
                <a:solidFill>
                  <a:srgbClr val="12263A"/>
                </a:solidFill>
                <a:latin typeface="Cambria" pitchFamily="34" charset="0"/>
                <a:ea typeface="Cambria" pitchFamily="34" charset="-122"/>
                <a:cs typeface="Cambria" pitchFamily="34" charset="-120"/>
              </a:rPr>
              <a:t>Attack sensitivity</a:t>
            </a:r>
            <a:endParaRPr lang="en-US" sz="1360" dirty="0"/>
          </a:p>
        </p:txBody>
      </p:sp>
      <p:sp>
        <p:nvSpPr>
          <p:cNvPr id="32" name="Text 30"/>
          <p:cNvSpPr/>
          <p:nvPr/>
        </p:nvSpPr>
        <p:spPr>
          <a:xfrm>
            <a:off x="4095750" y="3924300"/>
            <a:ext cx="1809750" cy="209550"/>
          </a:xfrm>
          <a:prstGeom prst="rect">
            <a:avLst/>
          </a:prstGeom>
          <a:noFill/>
          <a:ln/>
        </p:spPr>
        <p:txBody>
          <a:bodyPr wrap="square" lIns="0" tIns="0" rIns="0" bIns="0" rtlCol="0" anchor="t">
            <a:normAutofit/>
          </a:bodyPr>
          <a:lstStyle/>
          <a:p>
            <a:pPr marL="0" indent="0" algn="l">
              <a:lnSpc>
                <a:spcPct val="100000"/>
              </a:lnSpc>
              <a:buNone/>
            </a:pPr>
            <a:r>
              <a:rPr lang="en-US" sz="1360" b="1" dirty="0">
                <a:solidFill>
                  <a:srgbClr val="1E8E5A"/>
                </a:solidFill>
                <a:latin typeface="Calibri" pitchFamily="34" charset="0"/>
                <a:ea typeface="Calibri" pitchFamily="34" charset="-122"/>
                <a:cs typeface="Calibri" pitchFamily="34" charset="-120"/>
              </a:rPr>
              <a:t>0.969  (31/32)</a:t>
            </a:r>
            <a:endParaRPr lang="en-US" sz="1360" dirty="0"/>
          </a:p>
        </p:txBody>
      </p:sp>
      <p:sp>
        <p:nvSpPr>
          <p:cNvPr id="33" name="Text 31"/>
          <p:cNvSpPr/>
          <p:nvPr/>
        </p:nvSpPr>
        <p:spPr>
          <a:xfrm>
            <a:off x="6286500" y="3924300"/>
            <a:ext cx="1809750" cy="209550"/>
          </a:xfrm>
          <a:prstGeom prst="rect">
            <a:avLst/>
          </a:prstGeom>
          <a:noFill/>
          <a:ln/>
        </p:spPr>
        <p:txBody>
          <a:bodyPr wrap="square" lIns="0" tIns="0" rIns="0" bIns="0" rtlCol="0" anchor="t">
            <a:normAutofit/>
          </a:bodyPr>
          <a:lstStyle/>
          <a:p>
            <a:pPr marL="0" indent="0" algn="l">
              <a:lnSpc>
                <a:spcPct val="100000"/>
              </a:lnSpc>
              <a:buNone/>
            </a:pPr>
            <a:r>
              <a:rPr lang="en-US" sz="1360" dirty="0">
                <a:solidFill>
                  <a:srgbClr val="12263A"/>
                </a:solidFill>
                <a:latin typeface="Calibri" pitchFamily="34" charset="0"/>
                <a:ea typeface="Calibri" pitchFamily="34" charset="-122"/>
                <a:cs typeface="Calibri" pitchFamily="34" charset="-120"/>
              </a:rPr>
              <a:t>0.156  (5/32)</a:t>
            </a:r>
            <a:endParaRPr lang="en-US" sz="1360" dirty="0"/>
          </a:p>
        </p:txBody>
      </p:sp>
      <p:sp>
        <p:nvSpPr>
          <p:cNvPr id="34" name="Text 32"/>
          <p:cNvSpPr/>
          <p:nvPr/>
        </p:nvSpPr>
        <p:spPr>
          <a:xfrm>
            <a:off x="8477250" y="3924300"/>
            <a:ext cx="1809750" cy="209550"/>
          </a:xfrm>
          <a:prstGeom prst="rect">
            <a:avLst/>
          </a:prstGeom>
          <a:noFill/>
          <a:ln/>
        </p:spPr>
        <p:txBody>
          <a:bodyPr wrap="square" lIns="0" tIns="0" rIns="0" bIns="0" rtlCol="0" anchor="t">
            <a:normAutofit/>
          </a:bodyPr>
          <a:lstStyle/>
          <a:p>
            <a:pPr marL="0" indent="0" algn="l">
              <a:lnSpc>
                <a:spcPct val="100000"/>
              </a:lnSpc>
              <a:buNone/>
            </a:pPr>
            <a:r>
              <a:rPr lang="en-US" sz="1360" dirty="0">
                <a:solidFill>
                  <a:srgbClr val="5B6B7C"/>
                </a:solidFill>
                <a:latin typeface="Calibri" pitchFamily="34" charset="0"/>
                <a:ea typeface="Calibri" pitchFamily="34" charset="-122"/>
                <a:cs typeface="Calibri" pitchFamily="34" charset="-120"/>
              </a:rPr>
              <a:t>0.000  (0/32)</a:t>
            </a:r>
            <a:endParaRPr lang="en-US" sz="1360" dirty="0"/>
          </a:p>
        </p:txBody>
      </p:sp>
      <p:sp>
        <p:nvSpPr>
          <p:cNvPr id="35" name="Shape 33"/>
          <p:cNvSpPr/>
          <p:nvPr/>
        </p:nvSpPr>
        <p:spPr>
          <a:xfrm>
            <a:off x="571500" y="4171950"/>
            <a:ext cx="11049000" cy="11430"/>
          </a:xfrm>
          <a:prstGeom prst="rect">
            <a:avLst/>
          </a:prstGeom>
          <a:solidFill>
            <a:srgbClr val="D7E1EA"/>
          </a:solidFill>
          <a:ln/>
        </p:spPr>
        <p:txBody>
          <a:bodyPr/>
          <a:lstStyle/>
          <a:p>
            <a:endParaRPr lang="en-IN"/>
          </a:p>
        </p:txBody>
      </p:sp>
      <p:sp>
        <p:nvSpPr>
          <p:cNvPr id="36" name="Text 34"/>
          <p:cNvSpPr/>
          <p:nvPr/>
        </p:nvSpPr>
        <p:spPr>
          <a:xfrm>
            <a:off x="666750" y="4267200"/>
            <a:ext cx="3238500" cy="209550"/>
          </a:xfrm>
          <a:prstGeom prst="rect">
            <a:avLst/>
          </a:prstGeom>
          <a:noFill/>
          <a:ln/>
        </p:spPr>
        <p:txBody>
          <a:bodyPr wrap="square" lIns="0" tIns="0" rIns="0" bIns="0" rtlCol="0" anchor="t">
            <a:normAutofit/>
          </a:bodyPr>
          <a:lstStyle/>
          <a:p>
            <a:pPr marL="0" indent="0" algn="l">
              <a:lnSpc>
                <a:spcPct val="100000"/>
              </a:lnSpc>
              <a:buNone/>
            </a:pPr>
            <a:r>
              <a:rPr lang="en-US" sz="1360" b="1" dirty="0">
                <a:solidFill>
                  <a:srgbClr val="12263A"/>
                </a:solidFill>
                <a:latin typeface="Cambria" pitchFamily="34" charset="0"/>
                <a:ea typeface="Cambria" pitchFamily="34" charset="-122"/>
                <a:cs typeface="Cambria" pitchFamily="34" charset="-120"/>
              </a:rPr>
              <a:t>Benign specificity</a:t>
            </a:r>
            <a:endParaRPr lang="en-US" sz="1360" dirty="0"/>
          </a:p>
        </p:txBody>
      </p:sp>
      <p:sp>
        <p:nvSpPr>
          <p:cNvPr id="37" name="Text 35"/>
          <p:cNvSpPr/>
          <p:nvPr/>
        </p:nvSpPr>
        <p:spPr>
          <a:xfrm>
            <a:off x="4095750" y="4267200"/>
            <a:ext cx="1809750" cy="209550"/>
          </a:xfrm>
          <a:prstGeom prst="rect">
            <a:avLst/>
          </a:prstGeom>
          <a:noFill/>
          <a:ln/>
        </p:spPr>
        <p:txBody>
          <a:bodyPr wrap="square" lIns="0" tIns="0" rIns="0" bIns="0" rtlCol="0" anchor="t">
            <a:normAutofit/>
          </a:bodyPr>
          <a:lstStyle/>
          <a:p>
            <a:pPr marL="0" indent="0" algn="l">
              <a:lnSpc>
                <a:spcPct val="100000"/>
              </a:lnSpc>
              <a:buNone/>
            </a:pPr>
            <a:r>
              <a:rPr lang="en-US" sz="1360" b="1" dirty="0">
                <a:solidFill>
                  <a:srgbClr val="1E8E5A"/>
                </a:solidFill>
                <a:latin typeface="Calibri" pitchFamily="34" charset="0"/>
                <a:ea typeface="Calibri" pitchFamily="34" charset="-122"/>
                <a:cs typeface="Calibri" pitchFamily="34" charset="-120"/>
              </a:rPr>
              <a:t>0.800  (16/20)</a:t>
            </a:r>
            <a:endParaRPr lang="en-US" sz="1360" dirty="0"/>
          </a:p>
        </p:txBody>
      </p:sp>
      <p:sp>
        <p:nvSpPr>
          <p:cNvPr id="38" name="Text 36"/>
          <p:cNvSpPr/>
          <p:nvPr/>
        </p:nvSpPr>
        <p:spPr>
          <a:xfrm>
            <a:off x="6286500" y="4267200"/>
            <a:ext cx="1809750" cy="209550"/>
          </a:xfrm>
          <a:prstGeom prst="rect">
            <a:avLst/>
          </a:prstGeom>
          <a:noFill/>
          <a:ln/>
        </p:spPr>
        <p:txBody>
          <a:bodyPr wrap="square" lIns="0" tIns="0" rIns="0" bIns="0" rtlCol="0" anchor="t">
            <a:normAutofit/>
          </a:bodyPr>
          <a:lstStyle/>
          <a:p>
            <a:pPr marL="0" indent="0" algn="l">
              <a:lnSpc>
                <a:spcPct val="100000"/>
              </a:lnSpc>
              <a:buNone/>
            </a:pPr>
            <a:r>
              <a:rPr lang="en-US" sz="1360" dirty="0">
                <a:solidFill>
                  <a:srgbClr val="12263A"/>
                </a:solidFill>
                <a:latin typeface="Calibri" pitchFamily="34" charset="0"/>
                <a:ea typeface="Calibri" pitchFamily="34" charset="-122"/>
                <a:cs typeface="Calibri" pitchFamily="34" charset="-120"/>
              </a:rPr>
              <a:t>0.950  (19/20)</a:t>
            </a:r>
            <a:endParaRPr lang="en-US" sz="1360" dirty="0"/>
          </a:p>
        </p:txBody>
      </p:sp>
      <p:sp>
        <p:nvSpPr>
          <p:cNvPr id="39" name="Text 37"/>
          <p:cNvSpPr/>
          <p:nvPr/>
        </p:nvSpPr>
        <p:spPr>
          <a:xfrm>
            <a:off x="8477250" y="4267200"/>
            <a:ext cx="1809750" cy="209550"/>
          </a:xfrm>
          <a:prstGeom prst="rect">
            <a:avLst/>
          </a:prstGeom>
          <a:noFill/>
          <a:ln/>
        </p:spPr>
        <p:txBody>
          <a:bodyPr wrap="square" lIns="0" tIns="0" rIns="0" bIns="0" rtlCol="0" anchor="t">
            <a:normAutofit/>
          </a:bodyPr>
          <a:lstStyle/>
          <a:p>
            <a:pPr marL="0" indent="0" algn="l">
              <a:lnSpc>
                <a:spcPct val="100000"/>
              </a:lnSpc>
              <a:buNone/>
            </a:pPr>
            <a:r>
              <a:rPr lang="en-US" sz="1360" dirty="0">
                <a:solidFill>
                  <a:srgbClr val="5B6B7C"/>
                </a:solidFill>
                <a:latin typeface="Calibri" pitchFamily="34" charset="0"/>
                <a:ea typeface="Calibri" pitchFamily="34" charset="-122"/>
                <a:cs typeface="Calibri" pitchFamily="34" charset="-120"/>
              </a:rPr>
              <a:t>1.000  (20/20)</a:t>
            </a:r>
            <a:endParaRPr lang="en-US" sz="1360" dirty="0"/>
          </a:p>
        </p:txBody>
      </p:sp>
      <p:sp>
        <p:nvSpPr>
          <p:cNvPr id="40" name="Shape 38"/>
          <p:cNvSpPr/>
          <p:nvPr/>
        </p:nvSpPr>
        <p:spPr>
          <a:xfrm>
            <a:off x="571500" y="4514850"/>
            <a:ext cx="11049000" cy="11430"/>
          </a:xfrm>
          <a:prstGeom prst="rect">
            <a:avLst/>
          </a:prstGeom>
          <a:solidFill>
            <a:srgbClr val="D7E1EA"/>
          </a:solidFill>
          <a:ln/>
        </p:spPr>
        <p:txBody>
          <a:bodyPr/>
          <a:lstStyle/>
          <a:p>
            <a:endParaRPr lang="en-IN"/>
          </a:p>
        </p:txBody>
      </p:sp>
      <p:sp>
        <p:nvSpPr>
          <p:cNvPr id="41" name="Text 39"/>
          <p:cNvSpPr/>
          <p:nvPr/>
        </p:nvSpPr>
        <p:spPr>
          <a:xfrm>
            <a:off x="666750" y="4610100"/>
            <a:ext cx="3238500" cy="209550"/>
          </a:xfrm>
          <a:prstGeom prst="rect">
            <a:avLst/>
          </a:prstGeom>
          <a:noFill/>
          <a:ln/>
        </p:spPr>
        <p:txBody>
          <a:bodyPr wrap="square" lIns="0" tIns="0" rIns="0" bIns="0" rtlCol="0" anchor="t">
            <a:normAutofit/>
          </a:bodyPr>
          <a:lstStyle/>
          <a:p>
            <a:pPr marL="0" indent="0" algn="l">
              <a:lnSpc>
                <a:spcPct val="100000"/>
              </a:lnSpc>
              <a:buNone/>
            </a:pPr>
            <a:r>
              <a:rPr lang="en-US" sz="1360" b="1" dirty="0">
                <a:solidFill>
                  <a:srgbClr val="12263A"/>
                </a:solidFill>
                <a:latin typeface="Cambria" pitchFamily="34" charset="0"/>
                <a:ea typeface="Cambria" pitchFamily="34" charset="-122"/>
                <a:cs typeface="Cambria" pitchFamily="34" charset="-120"/>
              </a:rPr>
              <a:t>Correct abstention</a:t>
            </a:r>
            <a:endParaRPr lang="en-US" sz="1360" dirty="0"/>
          </a:p>
        </p:txBody>
      </p:sp>
      <p:sp>
        <p:nvSpPr>
          <p:cNvPr id="42" name="Text 40"/>
          <p:cNvSpPr/>
          <p:nvPr/>
        </p:nvSpPr>
        <p:spPr>
          <a:xfrm>
            <a:off x="4095750" y="4610100"/>
            <a:ext cx="1809750" cy="209550"/>
          </a:xfrm>
          <a:prstGeom prst="rect">
            <a:avLst/>
          </a:prstGeom>
          <a:noFill/>
          <a:ln/>
        </p:spPr>
        <p:txBody>
          <a:bodyPr wrap="square" lIns="0" tIns="0" rIns="0" bIns="0" rtlCol="0" anchor="t">
            <a:normAutofit/>
          </a:bodyPr>
          <a:lstStyle/>
          <a:p>
            <a:pPr marL="0" indent="0" algn="l">
              <a:lnSpc>
                <a:spcPct val="100000"/>
              </a:lnSpc>
              <a:buNone/>
            </a:pPr>
            <a:r>
              <a:rPr lang="en-US" sz="1360" b="1" dirty="0">
                <a:solidFill>
                  <a:srgbClr val="1E8E5A"/>
                </a:solidFill>
                <a:latin typeface="Calibri" pitchFamily="34" charset="0"/>
                <a:ea typeface="Calibri" pitchFamily="34" charset="-122"/>
                <a:cs typeface="Calibri" pitchFamily="34" charset="-120"/>
              </a:rPr>
              <a:t>1.000  (4/4)</a:t>
            </a:r>
            <a:endParaRPr lang="en-US" sz="1360" dirty="0"/>
          </a:p>
        </p:txBody>
      </p:sp>
      <p:sp>
        <p:nvSpPr>
          <p:cNvPr id="43" name="Text 41"/>
          <p:cNvSpPr/>
          <p:nvPr/>
        </p:nvSpPr>
        <p:spPr>
          <a:xfrm>
            <a:off x="6286500" y="4610100"/>
            <a:ext cx="1809750" cy="209550"/>
          </a:xfrm>
          <a:prstGeom prst="rect">
            <a:avLst/>
          </a:prstGeom>
          <a:noFill/>
          <a:ln/>
        </p:spPr>
        <p:txBody>
          <a:bodyPr wrap="square" lIns="0" tIns="0" rIns="0" bIns="0" rtlCol="0" anchor="t">
            <a:normAutofit/>
          </a:bodyPr>
          <a:lstStyle/>
          <a:p>
            <a:pPr marL="0" indent="0" algn="l">
              <a:lnSpc>
                <a:spcPct val="100000"/>
              </a:lnSpc>
              <a:buNone/>
            </a:pPr>
            <a:r>
              <a:rPr lang="en-US" sz="1360" dirty="0">
                <a:solidFill>
                  <a:srgbClr val="12263A"/>
                </a:solidFill>
                <a:latin typeface="Calibri" pitchFamily="34" charset="0"/>
                <a:ea typeface="Calibri" pitchFamily="34" charset="-122"/>
                <a:cs typeface="Calibri" pitchFamily="34" charset="-120"/>
              </a:rPr>
              <a:t>0.000  (0/4)</a:t>
            </a:r>
            <a:endParaRPr lang="en-US" sz="1360" dirty="0"/>
          </a:p>
        </p:txBody>
      </p:sp>
      <p:sp>
        <p:nvSpPr>
          <p:cNvPr id="44" name="Text 42"/>
          <p:cNvSpPr/>
          <p:nvPr/>
        </p:nvSpPr>
        <p:spPr>
          <a:xfrm>
            <a:off x="8477250" y="4610100"/>
            <a:ext cx="1809750" cy="209550"/>
          </a:xfrm>
          <a:prstGeom prst="rect">
            <a:avLst/>
          </a:prstGeom>
          <a:noFill/>
          <a:ln/>
        </p:spPr>
        <p:txBody>
          <a:bodyPr wrap="square" lIns="0" tIns="0" rIns="0" bIns="0" rtlCol="0" anchor="t">
            <a:normAutofit/>
          </a:bodyPr>
          <a:lstStyle/>
          <a:p>
            <a:pPr marL="0" indent="0" algn="l">
              <a:lnSpc>
                <a:spcPct val="100000"/>
              </a:lnSpc>
              <a:buNone/>
            </a:pPr>
            <a:r>
              <a:rPr lang="en-US" sz="1360" dirty="0">
                <a:solidFill>
                  <a:srgbClr val="5B6B7C"/>
                </a:solidFill>
                <a:latin typeface="Calibri" pitchFamily="34" charset="0"/>
                <a:ea typeface="Calibri" pitchFamily="34" charset="-122"/>
                <a:cs typeface="Calibri" pitchFamily="34" charset="-120"/>
              </a:rPr>
              <a:t>0.000  (0/4)</a:t>
            </a:r>
            <a:endParaRPr lang="en-US" sz="1360" dirty="0"/>
          </a:p>
        </p:txBody>
      </p:sp>
      <p:sp>
        <p:nvSpPr>
          <p:cNvPr id="45" name="Shape 43"/>
          <p:cNvSpPr/>
          <p:nvPr/>
        </p:nvSpPr>
        <p:spPr>
          <a:xfrm>
            <a:off x="571500" y="4857750"/>
            <a:ext cx="11049000" cy="11430"/>
          </a:xfrm>
          <a:prstGeom prst="rect">
            <a:avLst/>
          </a:prstGeom>
          <a:solidFill>
            <a:srgbClr val="D7E1EA"/>
          </a:solidFill>
          <a:ln/>
        </p:spPr>
        <p:txBody>
          <a:bodyPr/>
          <a:lstStyle/>
          <a:p>
            <a:endParaRPr lang="en-IN"/>
          </a:p>
        </p:txBody>
      </p:sp>
      <p:sp>
        <p:nvSpPr>
          <p:cNvPr id="46" name="Shape 44"/>
          <p:cNvSpPr/>
          <p:nvPr/>
        </p:nvSpPr>
        <p:spPr>
          <a:xfrm>
            <a:off x="571500" y="4972050"/>
            <a:ext cx="5381625" cy="914400"/>
          </a:xfrm>
          <a:prstGeom prst="roundRect">
            <a:avLst>
              <a:gd name="adj" fmla="val 4000"/>
            </a:avLst>
          </a:prstGeom>
          <a:solidFill>
            <a:srgbClr val="FBEDEA"/>
          </a:solidFill>
          <a:ln w="12700">
            <a:solidFill>
              <a:srgbClr val="B3402F"/>
            </a:solidFill>
            <a:prstDash val="solid"/>
          </a:ln>
        </p:spPr>
        <p:txBody>
          <a:bodyPr/>
          <a:lstStyle/>
          <a:p>
            <a:endParaRPr lang="en-IN"/>
          </a:p>
        </p:txBody>
      </p:sp>
      <p:sp>
        <p:nvSpPr>
          <p:cNvPr id="47" name="Text 45"/>
          <p:cNvSpPr/>
          <p:nvPr/>
        </p:nvSpPr>
        <p:spPr>
          <a:xfrm>
            <a:off x="800100" y="5105400"/>
            <a:ext cx="4953000" cy="190500"/>
          </a:xfrm>
          <a:prstGeom prst="rect">
            <a:avLst/>
          </a:prstGeom>
          <a:noFill/>
          <a:ln/>
        </p:spPr>
        <p:txBody>
          <a:bodyPr wrap="square" lIns="0" tIns="0" rIns="0" bIns="0" rtlCol="0" anchor="t">
            <a:normAutofit/>
          </a:bodyPr>
          <a:lstStyle/>
          <a:p>
            <a:pPr marL="0" indent="0" algn="l">
              <a:lnSpc>
                <a:spcPct val="100000"/>
              </a:lnSpc>
              <a:buNone/>
            </a:pPr>
            <a:r>
              <a:rPr lang="en-US" sz="1150" b="1" dirty="0">
                <a:solidFill>
                  <a:srgbClr val="B3402F"/>
                </a:solidFill>
                <a:latin typeface="Calibri" pitchFamily="34" charset="0"/>
                <a:ea typeface="Calibri" pitchFamily="34" charset="-122"/>
                <a:cs typeface="Calibri" pitchFamily="34" charset="-120"/>
              </a:rPr>
              <a:t>ARM B IS NOT DISTINGUISHABLE FROM THE CONSTANT PREDICTOR</a:t>
            </a:r>
            <a:endParaRPr lang="en-US" sz="1150" dirty="0"/>
          </a:p>
        </p:txBody>
      </p:sp>
      <p:sp>
        <p:nvSpPr>
          <p:cNvPr id="48" name="Text 46"/>
          <p:cNvSpPr/>
          <p:nvPr/>
        </p:nvSpPr>
        <p:spPr>
          <a:xfrm>
            <a:off x="800100" y="5314950"/>
            <a:ext cx="4953000" cy="495300"/>
          </a:xfrm>
          <a:prstGeom prst="rect">
            <a:avLst/>
          </a:prstGeom>
          <a:noFill/>
          <a:ln/>
        </p:spPr>
        <p:txBody>
          <a:bodyPr wrap="square" lIns="0" tIns="0" rIns="0" bIns="0" rtlCol="0" anchor="t">
            <a:normAutofit/>
          </a:bodyPr>
          <a:lstStyle/>
          <a:p>
            <a:pPr marL="0" indent="0" algn="l">
              <a:lnSpc>
                <a:spcPct val="100000"/>
              </a:lnSpc>
              <a:buNone/>
            </a:pPr>
            <a:r>
              <a:rPr lang="en-US" sz="1240" dirty="0">
                <a:solidFill>
                  <a:srgbClr val="12263A"/>
                </a:solidFill>
                <a:latin typeface="Calibri" pitchFamily="34" charset="0"/>
                <a:ea typeface="Calibri" pitchFamily="34" charset="-122"/>
                <a:cs typeface="Calibri" pitchFamily="34" charset="-120"/>
              </a:rPr>
              <a:t>ARM B returns BENIGN on 47 of 56 runs and improves on the constant predictor by four runs. A paired exact McNemar test gives p = 0.219, so the difference is not significant at this sample size. Both score 4/4 on the boundary-clock replacement, so that result is not a unique learned capability.</a:t>
            </a:r>
            <a:endParaRPr lang="en-US" sz="1240" dirty="0"/>
          </a:p>
        </p:txBody>
      </p:sp>
      <p:sp>
        <p:nvSpPr>
          <p:cNvPr id="49" name="Shape 47"/>
          <p:cNvSpPr/>
          <p:nvPr/>
        </p:nvSpPr>
        <p:spPr>
          <a:xfrm>
            <a:off x="6238875" y="4972050"/>
            <a:ext cx="5381625" cy="914400"/>
          </a:xfrm>
          <a:prstGeom prst="roundRect">
            <a:avLst>
              <a:gd name="adj" fmla="val 4000"/>
            </a:avLst>
          </a:prstGeom>
          <a:solidFill>
            <a:srgbClr val="DDF5EF"/>
          </a:solidFill>
          <a:ln w="12700">
            <a:solidFill>
              <a:srgbClr val="18B89A"/>
            </a:solidFill>
            <a:prstDash val="solid"/>
          </a:ln>
        </p:spPr>
        <p:txBody>
          <a:bodyPr/>
          <a:lstStyle/>
          <a:p>
            <a:endParaRPr lang="en-IN"/>
          </a:p>
        </p:txBody>
      </p:sp>
      <p:sp>
        <p:nvSpPr>
          <p:cNvPr id="50" name="Text 48"/>
          <p:cNvSpPr/>
          <p:nvPr/>
        </p:nvSpPr>
        <p:spPr>
          <a:xfrm>
            <a:off x="6467475" y="5105400"/>
            <a:ext cx="4953000" cy="190500"/>
          </a:xfrm>
          <a:prstGeom prst="rect">
            <a:avLst/>
          </a:prstGeom>
          <a:noFill/>
          <a:ln/>
        </p:spPr>
        <p:txBody>
          <a:bodyPr wrap="square" lIns="0" tIns="0" rIns="0" bIns="0" rtlCol="0" anchor="t">
            <a:normAutofit/>
          </a:bodyPr>
          <a:lstStyle/>
          <a:p>
            <a:pPr marL="0" indent="0" algn="l">
              <a:lnSpc>
                <a:spcPct val="100000"/>
              </a:lnSpc>
              <a:buNone/>
            </a:pPr>
            <a:r>
              <a:rPr lang="en-US" sz="1150" b="1" dirty="0">
                <a:solidFill>
                  <a:srgbClr val="0B5547"/>
                </a:solidFill>
                <a:latin typeface="Calibri" pitchFamily="34" charset="0"/>
                <a:ea typeface="Calibri" pitchFamily="34" charset="-122"/>
                <a:cs typeface="Calibri" pitchFamily="34" charset="-120"/>
              </a:rPr>
              <a:t>NO MEASURED COMBINATION EXCEEDS THE RULE ARM</a:t>
            </a:r>
            <a:endParaRPr lang="en-US" sz="1150" dirty="0"/>
          </a:p>
        </p:txBody>
      </p:sp>
      <p:sp>
        <p:nvSpPr>
          <p:cNvPr id="51" name="Text 49"/>
          <p:cNvSpPr/>
          <p:nvPr/>
        </p:nvSpPr>
        <p:spPr>
          <a:xfrm>
            <a:off x="6467475" y="5314950"/>
            <a:ext cx="4953000" cy="495300"/>
          </a:xfrm>
          <a:prstGeom prst="rect">
            <a:avLst/>
          </a:prstGeom>
          <a:noFill/>
          <a:ln/>
        </p:spPr>
        <p:txBody>
          <a:bodyPr wrap="square" lIns="0" tIns="0" rIns="0" bIns="0" rtlCol="0" anchor="t">
            <a:normAutofit/>
          </a:bodyPr>
          <a:lstStyle/>
          <a:p>
            <a:pPr marL="0" indent="0" algn="l">
              <a:lnSpc>
                <a:spcPct val="100000"/>
              </a:lnSpc>
              <a:buNone/>
            </a:pPr>
            <a:r>
              <a:rPr lang="en-US" sz="1240" dirty="0">
                <a:solidFill>
                  <a:srgbClr val="12263A"/>
                </a:solidFill>
                <a:latin typeface="Calibri" pitchFamily="34" charset="0"/>
                <a:ea typeface="Calibri" pitchFamily="34" charset="-122"/>
                <a:cs typeface="Calibri" pitchFamily="34" charset="-120"/>
              </a:rPr>
              <a:t>Combining the arms was evaluated rather than assumed. Logical OR reaches 0.893, rule-first with ML fallback 0.839, and consensus-else-abstain 0.429. All fall below ARM A at 0.911, so no combination is recommended on this evidence.</a:t>
            </a:r>
            <a:endParaRPr lang="en-US" sz="1240" dirty="0"/>
          </a:p>
        </p:txBody>
      </p:sp>
      <p:sp>
        <p:nvSpPr>
          <p:cNvPr id="52" name="Shape 50"/>
          <p:cNvSpPr/>
          <p:nvPr/>
        </p:nvSpPr>
        <p:spPr>
          <a:xfrm>
            <a:off x="571500" y="6000750"/>
            <a:ext cx="11049000" cy="628650"/>
          </a:xfrm>
          <a:prstGeom prst="roundRect">
            <a:avLst>
              <a:gd name="adj" fmla="val 5818"/>
            </a:avLst>
          </a:prstGeom>
          <a:solidFill>
            <a:srgbClr val="FFF8E8"/>
          </a:solidFill>
          <a:ln w="12700">
            <a:solidFill>
              <a:srgbClr val="C58B18"/>
            </a:solidFill>
            <a:prstDash val="solid"/>
          </a:ln>
        </p:spPr>
        <p:txBody>
          <a:bodyPr/>
          <a:lstStyle/>
          <a:p>
            <a:endParaRPr lang="en-IN"/>
          </a:p>
        </p:txBody>
      </p:sp>
      <p:sp>
        <p:nvSpPr>
          <p:cNvPr id="53" name="Text 51"/>
          <p:cNvSpPr/>
          <p:nvPr/>
        </p:nvSpPr>
        <p:spPr>
          <a:xfrm>
            <a:off x="781050" y="6143625"/>
            <a:ext cx="1809750" cy="238125"/>
          </a:xfrm>
          <a:prstGeom prst="rect">
            <a:avLst/>
          </a:prstGeom>
          <a:noFill/>
          <a:ln/>
        </p:spPr>
        <p:txBody>
          <a:bodyPr wrap="square" lIns="0" tIns="0" rIns="0" bIns="0" rtlCol="0" anchor="t">
            <a:normAutofit/>
          </a:bodyPr>
          <a:lstStyle/>
          <a:p>
            <a:pPr marL="0" indent="0" algn="l">
              <a:lnSpc>
                <a:spcPct val="100000"/>
              </a:lnSpc>
              <a:buNone/>
            </a:pPr>
            <a:r>
              <a:rPr lang="en-US" sz="1600" b="1" dirty="0">
                <a:solidFill>
                  <a:srgbClr val="C58B18"/>
                </a:solidFill>
                <a:latin typeface="Cambria" pitchFamily="34" charset="0"/>
                <a:ea typeface="Cambria" pitchFamily="34" charset="-122"/>
                <a:cs typeface="Cambria" pitchFamily="34" charset="-120"/>
              </a:rPr>
              <a:t>Scope condition</a:t>
            </a:r>
            <a:endParaRPr lang="en-US" sz="1600" dirty="0"/>
          </a:p>
        </p:txBody>
      </p:sp>
      <p:sp>
        <p:nvSpPr>
          <p:cNvPr id="54" name="Text 52"/>
          <p:cNvSpPr/>
          <p:nvPr/>
        </p:nvSpPr>
        <p:spPr>
          <a:xfrm>
            <a:off x="2781300" y="6124575"/>
            <a:ext cx="8629650" cy="400050"/>
          </a:xfrm>
          <a:prstGeom prst="rect">
            <a:avLst/>
          </a:prstGeom>
          <a:noFill/>
          <a:ln/>
        </p:spPr>
        <p:txBody>
          <a:bodyPr wrap="square" lIns="0" tIns="0" rIns="0" bIns="0" rtlCol="0" anchor="t">
            <a:normAutofit/>
          </a:bodyPr>
          <a:lstStyle/>
          <a:p>
            <a:pPr marL="0" indent="0" algn="l">
              <a:lnSpc>
                <a:spcPct val="100000"/>
              </a:lnSpc>
              <a:buNone/>
            </a:pPr>
            <a:r>
              <a:rPr lang="en-US" sz="1220" b="1" dirty="0">
                <a:solidFill>
                  <a:srgbClr val="12263A"/>
                </a:solidFill>
                <a:latin typeface="Calibri" pitchFamily="34" charset="0"/>
                <a:ea typeface="Calibri" pitchFamily="34" charset="-122"/>
                <a:cs typeface="Calibri" pitchFamily="34" charset="-120"/>
              </a:rPr>
              <a:t>ARM B operated on 6 of 28 configured features because GNSS, SyncE, oscillator and protocol-legality telemetry do not exist in this testbed. This is a result about the available observability, not a general verdict on machine learning.</a:t>
            </a:r>
            <a:endParaRPr lang="en-US" sz="122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8FAFC"/>
          </a:solidFill>
          <a:ln/>
        </p:spPr>
        <p:txBody>
          <a:bodyPr/>
          <a:lstStyle/>
          <a:p>
            <a:endParaRPr lang="en-IN"/>
          </a:p>
        </p:txBody>
      </p:sp>
      <p:sp>
        <p:nvSpPr>
          <p:cNvPr id="3" name="Shape 1"/>
          <p:cNvSpPr/>
          <p:nvPr/>
        </p:nvSpPr>
        <p:spPr>
          <a:xfrm>
            <a:off x="0" y="0"/>
            <a:ext cx="12192000" cy="114300"/>
          </a:xfrm>
          <a:prstGeom prst="rect">
            <a:avLst/>
          </a:prstGeom>
          <a:solidFill>
            <a:srgbClr val="18B89A"/>
          </a:solidFill>
          <a:ln/>
        </p:spPr>
        <p:txBody>
          <a:bodyPr/>
          <a:lstStyle/>
          <a:p>
            <a:endParaRPr lang="en-IN"/>
          </a:p>
        </p:txBody>
      </p:sp>
      <p:sp>
        <p:nvSpPr>
          <p:cNvPr id="4" name="Text 2"/>
          <p:cNvSpPr/>
          <p:nvPr/>
        </p:nvSpPr>
        <p:spPr>
          <a:xfrm>
            <a:off x="571500" y="209550"/>
            <a:ext cx="11049000" cy="228600"/>
          </a:xfrm>
          <a:prstGeom prst="rect">
            <a:avLst/>
          </a:prstGeom>
          <a:noFill/>
          <a:ln/>
        </p:spPr>
        <p:txBody>
          <a:bodyPr wrap="square" lIns="0" tIns="0" rIns="0" bIns="0" rtlCol="0" anchor="t">
            <a:normAutofit/>
          </a:bodyPr>
          <a:lstStyle/>
          <a:p>
            <a:pPr marL="0" indent="0" algn="l">
              <a:lnSpc>
                <a:spcPct val="100000"/>
              </a:lnSpc>
              <a:buNone/>
            </a:pPr>
            <a:r>
              <a:rPr lang="en-US" sz="1280" b="1" dirty="0">
                <a:solidFill>
                  <a:srgbClr val="1C7293"/>
                </a:solidFill>
                <a:latin typeface="Calibri" pitchFamily="34" charset="0"/>
                <a:ea typeface="Calibri" pitchFamily="34" charset="-122"/>
                <a:cs typeface="Calibri" pitchFamily="34" charset="-120"/>
              </a:rPr>
              <a:t>RESULT INTERPRETATION</a:t>
            </a:r>
            <a:endParaRPr lang="en-US" sz="1280" dirty="0"/>
          </a:p>
        </p:txBody>
      </p:sp>
      <p:sp>
        <p:nvSpPr>
          <p:cNvPr id="5" name="Text 3"/>
          <p:cNvSpPr/>
          <p:nvPr/>
        </p:nvSpPr>
        <p:spPr>
          <a:xfrm>
            <a:off x="571500" y="447675"/>
            <a:ext cx="11049000" cy="552450"/>
          </a:xfrm>
          <a:prstGeom prst="rect">
            <a:avLst/>
          </a:prstGeom>
          <a:noFill/>
          <a:ln/>
        </p:spPr>
        <p:txBody>
          <a:bodyPr wrap="square" lIns="0" tIns="0" rIns="0" bIns="0" rtlCol="0" anchor="t">
            <a:normAutofit/>
          </a:bodyPr>
          <a:lstStyle/>
          <a:p>
            <a:pPr marL="0" indent="0" algn="l">
              <a:lnSpc>
                <a:spcPct val="100000"/>
              </a:lnSpc>
              <a:buNone/>
            </a:pPr>
            <a:r>
              <a:rPr lang="en-US" sz="3200" b="1" dirty="0">
                <a:solidFill>
                  <a:srgbClr val="12263A"/>
                </a:solidFill>
                <a:latin typeface="Cambria" pitchFamily="34" charset="0"/>
                <a:ea typeface="Cambria" pitchFamily="34" charset="-122"/>
                <a:cs typeface="Cambria" pitchFamily="34" charset="-120"/>
              </a:rPr>
              <a:t>Observability Constraints Behind the ML Result</a:t>
            </a:r>
            <a:endParaRPr lang="en-US" sz="3200" dirty="0"/>
          </a:p>
        </p:txBody>
      </p:sp>
      <p:sp>
        <p:nvSpPr>
          <p:cNvPr id="6" name="Shape 4"/>
          <p:cNvSpPr/>
          <p:nvPr/>
        </p:nvSpPr>
        <p:spPr>
          <a:xfrm>
            <a:off x="571500" y="1057275"/>
            <a:ext cx="11049000" cy="438150"/>
          </a:xfrm>
          <a:prstGeom prst="roundRect">
            <a:avLst>
              <a:gd name="adj" fmla="val 8348"/>
            </a:avLst>
          </a:prstGeom>
          <a:solidFill>
            <a:srgbClr val="EAF2F8"/>
          </a:solidFill>
          <a:ln w="12700">
            <a:solidFill>
              <a:srgbClr val="D7E1EA"/>
            </a:solidFill>
            <a:prstDash val="solid"/>
          </a:ln>
        </p:spPr>
        <p:txBody>
          <a:bodyPr/>
          <a:lstStyle/>
          <a:p>
            <a:endParaRPr lang="en-IN"/>
          </a:p>
        </p:txBody>
      </p:sp>
      <p:sp>
        <p:nvSpPr>
          <p:cNvPr id="7" name="Text 5"/>
          <p:cNvSpPr/>
          <p:nvPr/>
        </p:nvSpPr>
        <p:spPr>
          <a:xfrm>
            <a:off x="723900" y="1123950"/>
            <a:ext cx="10744200" cy="323850"/>
          </a:xfrm>
          <a:prstGeom prst="rect">
            <a:avLst/>
          </a:prstGeom>
          <a:noFill/>
          <a:ln/>
        </p:spPr>
        <p:txBody>
          <a:bodyPr wrap="square" lIns="0" tIns="0" rIns="0" bIns="0" rtlCol="0" anchor="t">
            <a:normAutofit/>
          </a:bodyPr>
          <a:lstStyle/>
          <a:p>
            <a:pPr marL="0" indent="0" algn="l">
              <a:lnSpc>
                <a:spcPct val="102000"/>
              </a:lnSpc>
              <a:buNone/>
            </a:pPr>
            <a:r>
              <a:rPr lang="en-US" sz="1120" dirty="0">
                <a:solidFill>
                  <a:srgbClr val="5B6B7C"/>
                </a:solidFill>
                <a:latin typeface="Calibri" pitchFamily="34" charset="0"/>
                <a:ea typeface="Calibri" pitchFamily="34" charset="-122"/>
                <a:cs typeface="Calibri" pitchFamily="34" charset="-120"/>
              </a:rPr>
              <a:t>Feature availability derived from observed linuxptp servo provenance  |  Schema defaults and synthetic parser fields invalidated to NaN before fitting  |  Impurity-based feature importances from the fitted Random Forest</a:t>
            </a:r>
            <a:endParaRPr lang="en-US" sz="1120" dirty="0"/>
          </a:p>
        </p:txBody>
      </p:sp>
      <p:sp>
        <p:nvSpPr>
          <p:cNvPr id="8" name="Text 6"/>
          <p:cNvSpPr/>
          <p:nvPr/>
        </p:nvSpPr>
        <p:spPr>
          <a:xfrm>
            <a:off x="571500" y="1638300"/>
            <a:ext cx="11049000" cy="381000"/>
          </a:xfrm>
          <a:prstGeom prst="rect">
            <a:avLst/>
          </a:prstGeom>
          <a:noFill/>
          <a:ln/>
        </p:spPr>
        <p:txBody>
          <a:bodyPr wrap="square" lIns="0" tIns="0" rIns="0" bIns="0" rtlCol="0" anchor="t">
            <a:normAutofit/>
          </a:bodyPr>
          <a:lstStyle/>
          <a:p>
            <a:pPr marL="0" indent="0" algn="l">
              <a:lnSpc>
                <a:spcPct val="100000"/>
              </a:lnSpc>
              <a:buNone/>
            </a:pPr>
            <a:r>
              <a:rPr lang="en-US" sz="1500" dirty="0">
                <a:solidFill>
                  <a:srgbClr val="5B6B7C"/>
                </a:solidFill>
                <a:latin typeface="Calibri" pitchFamily="34" charset="0"/>
                <a:ea typeface="Calibri" pitchFamily="34" charset="-122"/>
                <a:cs typeface="Calibri" pitchFamily="34" charset="-120"/>
              </a:rPr>
              <a:t>The machine-learning arm underperformed because of what this testbed can observe, not because the method is unsuited to the problem. Three measured constraints account for the result.</a:t>
            </a:r>
            <a:endParaRPr lang="en-US" sz="1500" dirty="0"/>
          </a:p>
        </p:txBody>
      </p:sp>
      <p:sp>
        <p:nvSpPr>
          <p:cNvPr id="9" name="Shape 7"/>
          <p:cNvSpPr/>
          <p:nvPr/>
        </p:nvSpPr>
        <p:spPr>
          <a:xfrm>
            <a:off x="571500" y="2152650"/>
            <a:ext cx="11049000" cy="1047750"/>
          </a:xfrm>
          <a:prstGeom prst="roundRect">
            <a:avLst>
              <a:gd name="adj" fmla="val 3491"/>
            </a:avLst>
          </a:prstGeom>
          <a:solidFill>
            <a:srgbClr val="FFFFFF"/>
          </a:solidFill>
          <a:ln w="12700">
            <a:solidFill>
              <a:srgbClr val="D7E1EA"/>
            </a:solidFill>
            <a:prstDash val="solid"/>
          </a:ln>
        </p:spPr>
        <p:txBody>
          <a:bodyPr/>
          <a:lstStyle/>
          <a:p>
            <a:endParaRPr lang="en-IN"/>
          </a:p>
        </p:txBody>
      </p:sp>
      <p:sp>
        <p:nvSpPr>
          <p:cNvPr id="10" name="Shape 8"/>
          <p:cNvSpPr/>
          <p:nvPr/>
        </p:nvSpPr>
        <p:spPr>
          <a:xfrm>
            <a:off x="571500" y="2152650"/>
            <a:ext cx="47625" cy="1047750"/>
          </a:xfrm>
          <a:prstGeom prst="rect">
            <a:avLst/>
          </a:prstGeom>
          <a:solidFill>
            <a:srgbClr val="1C7293"/>
          </a:solidFill>
          <a:ln/>
        </p:spPr>
        <p:txBody>
          <a:bodyPr/>
          <a:lstStyle/>
          <a:p>
            <a:endParaRPr lang="en-IN"/>
          </a:p>
        </p:txBody>
      </p:sp>
      <p:sp>
        <p:nvSpPr>
          <p:cNvPr id="11" name="Shape 9"/>
          <p:cNvSpPr/>
          <p:nvPr/>
        </p:nvSpPr>
        <p:spPr>
          <a:xfrm>
            <a:off x="838200" y="2457450"/>
            <a:ext cx="400050" cy="400050"/>
          </a:xfrm>
          <a:prstGeom prst="roundRect">
            <a:avLst>
              <a:gd name="adj" fmla="val 9143"/>
            </a:avLst>
          </a:prstGeom>
          <a:solidFill>
            <a:srgbClr val="1C7293"/>
          </a:solidFill>
          <a:ln w="12700">
            <a:solidFill>
              <a:srgbClr val="1C7293"/>
            </a:solidFill>
            <a:prstDash val="solid"/>
          </a:ln>
        </p:spPr>
        <p:txBody>
          <a:bodyPr/>
          <a:lstStyle/>
          <a:p>
            <a:endParaRPr lang="en-IN"/>
          </a:p>
        </p:txBody>
      </p:sp>
      <p:sp>
        <p:nvSpPr>
          <p:cNvPr id="12" name="Text 10"/>
          <p:cNvSpPr/>
          <p:nvPr/>
        </p:nvSpPr>
        <p:spPr>
          <a:xfrm>
            <a:off x="838200" y="2552700"/>
            <a:ext cx="400050" cy="219075"/>
          </a:xfrm>
          <a:prstGeom prst="rect">
            <a:avLst/>
          </a:prstGeom>
          <a:noFill/>
          <a:ln/>
        </p:spPr>
        <p:txBody>
          <a:bodyPr wrap="square" lIns="0" tIns="0" rIns="0" bIns="0" rtlCol="0" anchor="t">
            <a:normAutofit/>
          </a:bodyPr>
          <a:lstStyle/>
          <a:p>
            <a:pPr marL="0" indent="0" algn="ctr">
              <a:lnSpc>
                <a:spcPct val="100000"/>
              </a:lnSpc>
              <a:buNone/>
            </a:pPr>
            <a:r>
              <a:rPr lang="en-US" sz="1500" b="1" dirty="0">
                <a:solidFill>
                  <a:srgbClr val="FFFFFF"/>
                </a:solidFill>
                <a:latin typeface="Calibri" pitchFamily="34" charset="0"/>
                <a:ea typeface="Calibri" pitchFamily="34" charset="-122"/>
                <a:cs typeface="Calibri" pitchFamily="34" charset="-120"/>
              </a:rPr>
              <a:t>01</a:t>
            </a:r>
            <a:endParaRPr lang="en-US" sz="1500" dirty="0"/>
          </a:p>
        </p:txBody>
      </p:sp>
      <p:sp>
        <p:nvSpPr>
          <p:cNvPr id="13" name="Text 11"/>
          <p:cNvSpPr/>
          <p:nvPr/>
        </p:nvSpPr>
        <p:spPr>
          <a:xfrm>
            <a:off x="1428750" y="2324100"/>
            <a:ext cx="4572000" cy="495300"/>
          </a:xfrm>
          <a:prstGeom prst="rect">
            <a:avLst/>
          </a:prstGeom>
          <a:noFill/>
          <a:ln/>
        </p:spPr>
        <p:txBody>
          <a:bodyPr wrap="square" lIns="0" tIns="0" rIns="0" bIns="0" rtlCol="0" anchor="t">
            <a:normAutofit/>
          </a:bodyPr>
          <a:lstStyle/>
          <a:p>
            <a:pPr marL="0" indent="0" algn="l">
              <a:lnSpc>
                <a:spcPct val="100000"/>
              </a:lnSpc>
              <a:buNone/>
            </a:pPr>
            <a:r>
              <a:rPr lang="en-US" sz="1600" b="1" dirty="0">
                <a:solidFill>
                  <a:srgbClr val="12263A"/>
                </a:solidFill>
                <a:latin typeface="Cambria" pitchFamily="34" charset="0"/>
                <a:ea typeface="Cambria" pitchFamily="34" charset="-122"/>
                <a:cs typeface="Cambria" pitchFamily="34" charset="-120"/>
              </a:rPr>
              <a:t>Only 6 of 28 configured features carried data</a:t>
            </a:r>
            <a:endParaRPr lang="en-US" sz="1600" dirty="0"/>
          </a:p>
        </p:txBody>
      </p:sp>
      <p:sp>
        <p:nvSpPr>
          <p:cNvPr id="14" name="Text 12"/>
          <p:cNvSpPr/>
          <p:nvPr/>
        </p:nvSpPr>
        <p:spPr>
          <a:xfrm>
            <a:off x="6191250" y="2305050"/>
            <a:ext cx="5219700" cy="800100"/>
          </a:xfrm>
          <a:prstGeom prst="rect">
            <a:avLst/>
          </a:prstGeom>
          <a:noFill/>
          <a:ln/>
        </p:spPr>
        <p:txBody>
          <a:bodyPr wrap="square" lIns="0" tIns="0" rIns="0" bIns="0" rtlCol="0" anchor="t">
            <a:normAutofit/>
          </a:bodyPr>
          <a:lstStyle/>
          <a:p>
            <a:pPr marL="0" indent="0" algn="l">
              <a:lnSpc>
                <a:spcPct val="100000"/>
              </a:lnSpc>
              <a:buNone/>
            </a:pPr>
            <a:r>
              <a:rPr lang="en-US" sz="1280" dirty="0">
                <a:solidFill>
                  <a:srgbClr val="5B6B7C"/>
                </a:solidFill>
                <a:latin typeface="Calibri" pitchFamily="34" charset="0"/>
                <a:ea typeface="Calibri" pitchFamily="34" charset="-122"/>
                <a:cs typeface="Calibri" pitchFamily="34" charset="-120"/>
              </a:rPr>
              <a:t>GNSS status, SyncE quality, oscillator error and every protocol-legality feature are absent from ptp4l servo logs. The model could key only on offset, path-delay and delay-variation magnitude — and one of the six, holdover rate, had zero importance, so five features carried all the signal.</a:t>
            </a:r>
            <a:endParaRPr lang="en-US" sz="1280" dirty="0"/>
          </a:p>
        </p:txBody>
      </p:sp>
      <p:sp>
        <p:nvSpPr>
          <p:cNvPr id="15" name="Shape 13"/>
          <p:cNvSpPr/>
          <p:nvPr/>
        </p:nvSpPr>
        <p:spPr>
          <a:xfrm>
            <a:off x="571500" y="3295650"/>
            <a:ext cx="11049000" cy="1047750"/>
          </a:xfrm>
          <a:prstGeom prst="roundRect">
            <a:avLst>
              <a:gd name="adj" fmla="val 3491"/>
            </a:avLst>
          </a:prstGeom>
          <a:solidFill>
            <a:srgbClr val="FFFFFF"/>
          </a:solidFill>
          <a:ln w="12700">
            <a:solidFill>
              <a:srgbClr val="D7E1EA"/>
            </a:solidFill>
            <a:prstDash val="solid"/>
          </a:ln>
        </p:spPr>
        <p:txBody>
          <a:bodyPr/>
          <a:lstStyle/>
          <a:p>
            <a:endParaRPr lang="en-IN"/>
          </a:p>
        </p:txBody>
      </p:sp>
      <p:sp>
        <p:nvSpPr>
          <p:cNvPr id="16" name="Shape 14"/>
          <p:cNvSpPr/>
          <p:nvPr/>
        </p:nvSpPr>
        <p:spPr>
          <a:xfrm>
            <a:off x="571500" y="3295650"/>
            <a:ext cx="47625" cy="1047750"/>
          </a:xfrm>
          <a:prstGeom prst="rect">
            <a:avLst/>
          </a:prstGeom>
          <a:solidFill>
            <a:srgbClr val="1C7293"/>
          </a:solidFill>
          <a:ln/>
        </p:spPr>
        <p:txBody>
          <a:bodyPr/>
          <a:lstStyle/>
          <a:p>
            <a:endParaRPr lang="en-IN"/>
          </a:p>
        </p:txBody>
      </p:sp>
      <p:sp>
        <p:nvSpPr>
          <p:cNvPr id="17" name="Shape 15"/>
          <p:cNvSpPr/>
          <p:nvPr/>
        </p:nvSpPr>
        <p:spPr>
          <a:xfrm>
            <a:off x="838200" y="3600450"/>
            <a:ext cx="400050" cy="400050"/>
          </a:xfrm>
          <a:prstGeom prst="roundRect">
            <a:avLst>
              <a:gd name="adj" fmla="val 9143"/>
            </a:avLst>
          </a:prstGeom>
          <a:solidFill>
            <a:srgbClr val="1C7293"/>
          </a:solidFill>
          <a:ln w="12700">
            <a:solidFill>
              <a:srgbClr val="1C7293"/>
            </a:solidFill>
            <a:prstDash val="solid"/>
          </a:ln>
        </p:spPr>
        <p:txBody>
          <a:bodyPr/>
          <a:lstStyle/>
          <a:p>
            <a:endParaRPr lang="en-IN"/>
          </a:p>
        </p:txBody>
      </p:sp>
      <p:sp>
        <p:nvSpPr>
          <p:cNvPr id="18" name="Text 16"/>
          <p:cNvSpPr/>
          <p:nvPr/>
        </p:nvSpPr>
        <p:spPr>
          <a:xfrm>
            <a:off x="838200" y="3695700"/>
            <a:ext cx="400050" cy="219075"/>
          </a:xfrm>
          <a:prstGeom prst="rect">
            <a:avLst/>
          </a:prstGeom>
          <a:noFill/>
          <a:ln/>
        </p:spPr>
        <p:txBody>
          <a:bodyPr wrap="square" lIns="0" tIns="0" rIns="0" bIns="0" rtlCol="0" anchor="t">
            <a:normAutofit/>
          </a:bodyPr>
          <a:lstStyle/>
          <a:p>
            <a:pPr marL="0" indent="0" algn="ctr">
              <a:lnSpc>
                <a:spcPct val="100000"/>
              </a:lnSpc>
              <a:buNone/>
            </a:pPr>
            <a:r>
              <a:rPr lang="en-US" sz="1500" b="1" dirty="0">
                <a:solidFill>
                  <a:srgbClr val="FFFFFF"/>
                </a:solidFill>
                <a:latin typeface="Calibri" pitchFamily="34" charset="0"/>
                <a:ea typeface="Calibri" pitchFamily="34" charset="-122"/>
                <a:cs typeface="Calibri" pitchFamily="34" charset="-120"/>
              </a:rPr>
              <a:t>02</a:t>
            </a:r>
            <a:endParaRPr lang="en-US" sz="1500" dirty="0"/>
          </a:p>
        </p:txBody>
      </p:sp>
      <p:sp>
        <p:nvSpPr>
          <p:cNvPr id="19" name="Text 17"/>
          <p:cNvSpPr/>
          <p:nvPr/>
        </p:nvSpPr>
        <p:spPr>
          <a:xfrm>
            <a:off x="1428750" y="3467100"/>
            <a:ext cx="4572000" cy="495300"/>
          </a:xfrm>
          <a:prstGeom prst="rect">
            <a:avLst/>
          </a:prstGeom>
          <a:noFill/>
          <a:ln/>
        </p:spPr>
        <p:txBody>
          <a:bodyPr wrap="square" lIns="0" tIns="0" rIns="0" bIns="0" rtlCol="0" anchor="t">
            <a:normAutofit/>
          </a:bodyPr>
          <a:lstStyle/>
          <a:p>
            <a:pPr marL="0" indent="0" algn="l">
              <a:lnSpc>
                <a:spcPct val="100000"/>
              </a:lnSpc>
              <a:buNone/>
            </a:pPr>
            <a:r>
              <a:rPr lang="en-US" sz="1600" b="1" dirty="0">
                <a:solidFill>
                  <a:srgbClr val="12263A"/>
                </a:solidFill>
                <a:latin typeface="Cambria" pitchFamily="34" charset="0"/>
                <a:ea typeface="Cambria" pitchFamily="34" charset="-122"/>
                <a:cs typeface="Cambria" pitchFamily="34" charset="-120"/>
              </a:rPr>
              <a:t>Two attacks starve the very telemetry the model needs</a:t>
            </a:r>
            <a:endParaRPr lang="en-US" sz="1600" dirty="0"/>
          </a:p>
        </p:txBody>
      </p:sp>
      <p:sp>
        <p:nvSpPr>
          <p:cNvPr id="20" name="Text 18"/>
          <p:cNvSpPr/>
          <p:nvPr/>
        </p:nvSpPr>
        <p:spPr>
          <a:xfrm>
            <a:off x="6191250" y="3448050"/>
            <a:ext cx="5219700" cy="800100"/>
          </a:xfrm>
          <a:prstGeom prst="rect">
            <a:avLst/>
          </a:prstGeom>
          <a:noFill/>
          <a:ln/>
        </p:spPr>
        <p:txBody>
          <a:bodyPr wrap="square" lIns="0" tIns="0" rIns="0" bIns="0" rtlCol="0" anchor="t">
            <a:normAutofit/>
          </a:bodyPr>
          <a:lstStyle/>
          <a:p>
            <a:pPr marL="0" indent="0" algn="l">
              <a:lnSpc>
                <a:spcPct val="100000"/>
              </a:lnSpc>
              <a:buNone/>
            </a:pPr>
            <a:r>
              <a:rPr lang="en-US" sz="1280" dirty="0">
                <a:solidFill>
                  <a:srgbClr val="5B6B7C"/>
                </a:solidFill>
                <a:latin typeface="Calibri" pitchFamily="34" charset="0"/>
                <a:ea typeface="Calibri" pitchFamily="34" charset="-122"/>
                <a:cs typeface="Calibri" pitchFamily="34" charset="-120"/>
              </a:rPr>
              <a:t>Servo samples average 88.0 per baseline run, falling to 44.5 for selective interception and 28.0 for whole-second abuse. An attack that suppresses timing messages also suppresses the evidence a telemetry-based detector depends on. The rule arm is unaffected because it reads packet legality and rate deficit directly.</a:t>
            </a:r>
            <a:endParaRPr lang="en-US" sz="1280" dirty="0"/>
          </a:p>
        </p:txBody>
      </p:sp>
      <p:sp>
        <p:nvSpPr>
          <p:cNvPr id="21" name="Shape 19"/>
          <p:cNvSpPr/>
          <p:nvPr/>
        </p:nvSpPr>
        <p:spPr>
          <a:xfrm>
            <a:off x="571500" y="4438650"/>
            <a:ext cx="11049000" cy="1047750"/>
          </a:xfrm>
          <a:prstGeom prst="roundRect">
            <a:avLst>
              <a:gd name="adj" fmla="val 3491"/>
            </a:avLst>
          </a:prstGeom>
          <a:solidFill>
            <a:srgbClr val="FFFFFF"/>
          </a:solidFill>
          <a:ln w="12700">
            <a:solidFill>
              <a:srgbClr val="D7E1EA"/>
            </a:solidFill>
            <a:prstDash val="solid"/>
          </a:ln>
        </p:spPr>
        <p:txBody>
          <a:bodyPr/>
          <a:lstStyle/>
          <a:p>
            <a:endParaRPr lang="en-IN"/>
          </a:p>
        </p:txBody>
      </p:sp>
      <p:sp>
        <p:nvSpPr>
          <p:cNvPr id="22" name="Shape 20"/>
          <p:cNvSpPr/>
          <p:nvPr/>
        </p:nvSpPr>
        <p:spPr>
          <a:xfrm>
            <a:off x="571500" y="4438650"/>
            <a:ext cx="47625" cy="1047750"/>
          </a:xfrm>
          <a:prstGeom prst="rect">
            <a:avLst/>
          </a:prstGeom>
          <a:solidFill>
            <a:srgbClr val="1C7293"/>
          </a:solidFill>
          <a:ln/>
        </p:spPr>
        <p:txBody>
          <a:bodyPr/>
          <a:lstStyle/>
          <a:p>
            <a:endParaRPr lang="en-IN"/>
          </a:p>
        </p:txBody>
      </p:sp>
      <p:sp>
        <p:nvSpPr>
          <p:cNvPr id="23" name="Shape 21"/>
          <p:cNvSpPr/>
          <p:nvPr/>
        </p:nvSpPr>
        <p:spPr>
          <a:xfrm>
            <a:off x="838200" y="4743450"/>
            <a:ext cx="400050" cy="400050"/>
          </a:xfrm>
          <a:prstGeom prst="roundRect">
            <a:avLst>
              <a:gd name="adj" fmla="val 9143"/>
            </a:avLst>
          </a:prstGeom>
          <a:solidFill>
            <a:srgbClr val="1C7293"/>
          </a:solidFill>
          <a:ln w="12700">
            <a:solidFill>
              <a:srgbClr val="1C7293"/>
            </a:solidFill>
            <a:prstDash val="solid"/>
          </a:ln>
        </p:spPr>
        <p:txBody>
          <a:bodyPr/>
          <a:lstStyle/>
          <a:p>
            <a:endParaRPr lang="en-IN"/>
          </a:p>
        </p:txBody>
      </p:sp>
      <p:sp>
        <p:nvSpPr>
          <p:cNvPr id="24" name="Text 22"/>
          <p:cNvSpPr/>
          <p:nvPr/>
        </p:nvSpPr>
        <p:spPr>
          <a:xfrm>
            <a:off x="838200" y="4838700"/>
            <a:ext cx="400050" cy="219075"/>
          </a:xfrm>
          <a:prstGeom prst="rect">
            <a:avLst/>
          </a:prstGeom>
          <a:noFill/>
          <a:ln/>
        </p:spPr>
        <p:txBody>
          <a:bodyPr wrap="square" lIns="0" tIns="0" rIns="0" bIns="0" rtlCol="0" anchor="t">
            <a:normAutofit/>
          </a:bodyPr>
          <a:lstStyle/>
          <a:p>
            <a:pPr marL="0" indent="0" algn="ctr">
              <a:lnSpc>
                <a:spcPct val="100000"/>
              </a:lnSpc>
              <a:buNone/>
            </a:pPr>
            <a:r>
              <a:rPr lang="en-US" sz="1500" b="1" dirty="0">
                <a:solidFill>
                  <a:srgbClr val="FFFFFF"/>
                </a:solidFill>
                <a:latin typeface="Calibri" pitchFamily="34" charset="0"/>
                <a:ea typeface="Calibri" pitchFamily="34" charset="-122"/>
                <a:cs typeface="Calibri" pitchFamily="34" charset="-120"/>
              </a:rPr>
              <a:t>03</a:t>
            </a:r>
            <a:endParaRPr lang="en-US" sz="1500" dirty="0"/>
          </a:p>
        </p:txBody>
      </p:sp>
      <p:sp>
        <p:nvSpPr>
          <p:cNvPr id="25" name="Text 23"/>
          <p:cNvSpPr/>
          <p:nvPr/>
        </p:nvSpPr>
        <p:spPr>
          <a:xfrm>
            <a:off x="1428750" y="4610100"/>
            <a:ext cx="4572000" cy="495300"/>
          </a:xfrm>
          <a:prstGeom prst="rect">
            <a:avLst/>
          </a:prstGeom>
          <a:noFill/>
          <a:ln/>
        </p:spPr>
        <p:txBody>
          <a:bodyPr wrap="square" lIns="0" tIns="0" rIns="0" bIns="0" rtlCol="0" anchor="t">
            <a:normAutofit/>
          </a:bodyPr>
          <a:lstStyle/>
          <a:p>
            <a:pPr marL="0" indent="0" algn="l">
              <a:lnSpc>
                <a:spcPct val="100000"/>
              </a:lnSpc>
              <a:buNone/>
            </a:pPr>
            <a:r>
              <a:rPr lang="en-US" sz="1600" b="1" dirty="0">
                <a:solidFill>
                  <a:srgbClr val="12263A"/>
                </a:solidFill>
                <a:latin typeface="Cambria" pitchFamily="34" charset="0"/>
                <a:ea typeface="Cambria" pitchFamily="34" charset="-122"/>
                <a:cs typeface="Cambria" pitchFamily="34" charset="-120"/>
              </a:rPr>
              <a:t>Importances indicate testbed-servo artefact risk</a:t>
            </a:r>
            <a:endParaRPr lang="en-US" sz="1600" dirty="0"/>
          </a:p>
        </p:txBody>
      </p:sp>
      <p:sp>
        <p:nvSpPr>
          <p:cNvPr id="26" name="Text 24"/>
          <p:cNvSpPr/>
          <p:nvPr/>
        </p:nvSpPr>
        <p:spPr>
          <a:xfrm>
            <a:off x="6191250" y="4591050"/>
            <a:ext cx="5219700" cy="800100"/>
          </a:xfrm>
          <a:prstGeom prst="rect">
            <a:avLst/>
          </a:prstGeom>
          <a:noFill/>
          <a:ln/>
        </p:spPr>
        <p:txBody>
          <a:bodyPr wrap="square" lIns="0" tIns="0" rIns="0" bIns="0" rtlCol="0" anchor="t">
            <a:normAutofit/>
          </a:bodyPr>
          <a:lstStyle/>
          <a:p>
            <a:pPr marL="0" indent="0" algn="l">
              <a:lnSpc>
                <a:spcPct val="100000"/>
              </a:lnSpc>
              <a:buNone/>
            </a:pPr>
            <a:r>
              <a:rPr lang="en-US" sz="1280" dirty="0">
                <a:solidFill>
                  <a:srgbClr val="5B6B7C"/>
                </a:solidFill>
                <a:latin typeface="Calibri" pitchFamily="34" charset="0"/>
                <a:ea typeface="Calibri" pitchFamily="34" charset="-122"/>
                <a:cs typeface="Calibri" pitchFamily="34" charset="-120"/>
              </a:rPr>
              <a:t>Ranked importances are offset_abs_max 0.268, path_delay_mean 0.262, offset_std 0.208, pdv_std 0.139 and offset_mean 0.124 — all timing magnitude and dispersion, none protocol semantics. With a single testbed, domain shift cannot be separated from intrinsic class overlap.</a:t>
            </a:r>
            <a:endParaRPr lang="en-US" sz="1280" dirty="0"/>
          </a:p>
        </p:txBody>
      </p:sp>
      <p:sp>
        <p:nvSpPr>
          <p:cNvPr id="27" name="Shape 25"/>
          <p:cNvSpPr/>
          <p:nvPr/>
        </p:nvSpPr>
        <p:spPr>
          <a:xfrm>
            <a:off x="571500" y="5505450"/>
            <a:ext cx="11049000" cy="609600"/>
          </a:xfrm>
          <a:prstGeom prst="roundRect">
            <a:avLst>
              <a:gd name="adj" fmla="val 6000"/>
            </a:avLst>
          </a:prstGeom>
          <a:solidFill>
            <a:srgbClr val="DDF5EF"/>
          </a:solidFill>
          <a:ln w="12700">
            <a:solidFill>
              <a:srgbClr val="18B89A"/>
            </a:solidFill>
            <a:prstDash val="solid"/>
          </a:ln>
        </p:spPr>
        <p:txBody>
          <a:bodyPr/>
          <a:lstStyle/>
          <a:p>
            <a:endParaRPr lang="en-IN"/>
          </a:p>
        </p:txBody>
      </p:sp>
      <p:sp>
        <p:nvSpPr>
          <p:cNvPr id="28" name="Text 26"/>
          <p:cNvSpPr/>
          <p:nvPr/>
        </p:nvSpPr>
        <p:spPr>
          <a:xfrm>
            <a:off x="781050" y="5629275"/>
            <a:ext cx="10629900" cy="381000"/>
          </a:xfrm>
          <a:prstGeom prst="rect">
            <a:avLst/>
          </a:prstGeom>
          <a:noFill/>
          <a:ln/>
        </p:spPr>
        <p:txBody>
          <a:bodyPr wrap="square" lIns="0" tIns="0" rIns="0" bIns="0" rtlCol="0" anchor="t">
            <a:normAutofit/>
          </a:bodyPr>
          <a:lstStyle/>
          <a:p>
            <a:pPr marL="0" indent="0" algn="l">
              <a:lnSpc>
                <a:spcPct val="100000"/>
              </a:lnSpc>
              <a:buNone/>
            </a:pPr>
            <a:r>
              <a:rPr lang="en-US" sz="1220" b="1" dirty="0">
                <a:solidFill>
                  <a:srgbClr val="0B5547"/>
                </a:solidFill>
                <a:latin typeface="Cambria" pitchFamily="34" charset="0"/>
                <a:ea typeface="Cambria" pitchFamily="34" charset="-122"/>
                <a:cs typeface="Cambria" pitchFamily="34" charset="-120"/>
              </a:rPr>
              <a:t>Evidence-based conclusion: on this telemetry the rule arm is the correct operational choice. Starvation alone does not explain the result — ARM B also fails on attacks where servo telemetry is intact — so feature poverty and class overlap are the primary causes. A fair re-test requires richer management-plane telemetry, not a different classifier.</a:t>
            </a:r>
            <a:endParaRPr lang="en-US" sz="1220" dirty="0"/>
          </a:p>
        </p:txBody>
      </p:sp>
      <p:sp>
        <p:nvSpPr>
          <p:cNvPr id="29" name="Shape 27"/>
          <p:cNvSpPr/>
          <p:nvPr/>
        </p:nvSpPr>
        <p:spPr>
          <a:xfrm>
            <a:off x="571500" y="6229350"/>
            <a:ext cx="11049000" cy="495300"/>
          </a:xfrm>
          <a:prstGeom prst="roundRect">
            <a:avLst>
              <a:gd name="adj" fmla="val 7385"/>
            </a:avLst>
          </a:prstGeom>
          <a:solidFill>
            <a:srgbClr val="0E2440"/>
          </a:solidFill>
          <a:ln w="12700">
            <a:solidFill>
              <a:srgbClr val="0E2440"/>
            </a:solidFill>
            <a:prstDash val="solid"/>
          </a:ln>
        </p:spPr>
        <p:txBody>
          <a:bodyPr/>
          <a:lstStyle/>
          <a:p>
            <a:endParaRPr lang="en-IN"/>
          </a:p>
        </p:txBody>
      </p:sp>
      <p:sp>
        <p:nvSpPr>
          <p:cNvPr id="30" name="Text 28"/>
          <p:cNvSpPr/>
          <p:nvPr/>
        </p:nvSpPr>
        <p:spPr>
          <a:xfrm>
            <a:off x="781050" y="6343650"/>
            <a:ext cx="10629900" cy="285750"/>
          </a:xfrm>
          <a:prstGeom prst="rect">
            <a:avLst/>
          </a:prstGeom>
          <a:noFill/>
          <a:ln/>
        </p:spPr>
        <p:txBody>
          <a:bodyPr wrap="square" lIns="0" tIns="0" rIns="0" bIns="0" rtlCol="0" anchor="t">
            <a:normAutofit/>
          </a:bodyPr>
          <a:lstStyle/>
          <a:p>
            <a:pPr marL="0" indent="0" algn="l">
              <a:lnSpc>
                <a:spcPct val="100000"/>
              </a:lnSpc>
              <a:buNone/>
            </a:pPr>
            <a:r>
              <a:rPr lang="en-US" sz="1320" b="1" dirty="0">
                <a:solidFill>
                  <a:srgbClr val="FFFFFF"/>
                </a:solidFill>
                <a:latin typeface="Cambria" pitchFamily="34" charset="0"/>
                <a:ea typeface="Cambria" pitchFamily="34" charset="-122"/>
                <a:cs typeface="Cambria" pitchFamily="34" charset="-120"/>
              </a:rPr>
              <a:t>This is an argument for retaining a standards-aware rule layer and for improving observability before granting a learned model authority over recovery. It is not a claim that machine learning is inherently unsuited to S-plane timing security.</a:t>
            </a:r>
            <a:endParaRPr lang="en-US" sz="132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8FAFC"/>
          </a:solidFill>
          <a:ln/>
        </p:spPr>
        <p:txBody>
          <a:bodyPr/>
          <a:lstStyle/>
          <a:p>
            <a:endParaRPr lang="en-IN"/>
          </a:p>
        </p:txBody>
      </p:sp>
      <p:sp>
        <p:nvSpPr>
          <p:cNvPr id="3" name="Shape 1"/>
          <p:cNvSpPr/>
          <p:nvPr/>
        </p:nvSpPr>
        <p:spPr>
          <a:xfrm>
            <a:off x="0" y="0"/>
            <a:ext cx="12192000" cy="114300"/>
          </a:xfrm>
          <a:prstGeom prst="rect">
            <a:avLst/>
          </a:prstGeom>
          <a:solidFill>
            <a:srgbClr val="18B89A"/>
          </a:solidFill>
          <a:ln/>
        </p:spPr>
        <p:txBody>
          <a:bodyPr/>
          <a:lstStyle/>
          <a:p>
            <a:endParaRPr lang="en-IN"/>
          </a:p>
        </p:txBody>
      </p:sp>
      <p:sp>
        <p:nvSpPr>
          <p:cNvPr id="4" name="Text 2"/>
          <p:cNvSpPr/>
          <p:nvPr/>
        </p:nvSpPr>
        <p:spPr>
          <a:xfrm>
            <a:off x="571500" y="209550"/>
            <a:ext cx="11049000" cy="228600"/>
          </a:xfrm>
          <a:prstGeom prst="rect">
            <a:avLst/>
          </a:prstGeom>
          <a:noFill/>
          <a:ln/>
        </p:spPr>
        <p:txBody>
          <a:bodyPr wrap="square" lIns="0" tIns="0" rIns="0" bIns="0" rtlCol="0" anchor="t">
            <a:normAutofit/>
          </a:bodyPr>
          <a:lstStyle/>
          <a:p>
            <a:pPr marL="0" indent="0" algn="l">
              <a:lnSpc>
                <a:spcPct val="100000"/>
              </a:lnSpc>
              <a:buNone/>
            </a:pPr>
            <a:r>
              <a:rPr lang="en-US" sz="1280" b="1" dirty="0">
                <a:solidFill>
                  <a:srgbClr val="1C7293"/>
                </a:solidFill>
                <a:latin typeface="Calibri" pitchFamily="34" charset="0"/>
                <a:ea typeface="Calibri" pitchFamily="34" charset="-122"/>
                <a:cs typeface="Calibri" pitchFamily="34" charset="-120"/>
              </a:rPr>
              <a:t>UNRESOLVED CASES</a:t>
            </a:r>
            <a:endParaRPr lang="en-US" sz="1280" dirty="0"/>
          </a:p>
        </p:txBody>
      </p:sp>
      <p:sp>
        <p:nvSpPr>
          <p:cNvPr id="5" name="Text 3"/>
          <p:cNvSpPr/>
          <p:nvPr/>
        </p:nvSpPr>
        <p:spPr>
          <a:xfrm>
            <a:off x="571500" y="447675"/>
            <a:ext cx="11049000" cy="552450"/>
          </a:xfrm>
          <a:prstGeom prst="rect">
            <a:avLst/>
          </a:prstGeom>
          <a:noFill/>
          <a:ln/>
        </p:spPr>
        <p:txBody>
          <a:bodyPr wrap="square" lIns="0" tIns="0" rIns="0" bIns="0" rtlCol="0" anchor="t">
            <a:normAutofit/>
          </a:bodyPr>
          <a:lstStyle/>
          <a:p>
            <a:pPr marL="0" indent="0" algn="l">
              <a:lnSpc>
                <a:spcPct val="100000"/>
              </a:lnSpc>
              <a:buNone/>
            </a:pPr>
            <a:r>
              <a:rPr lang="en-US" sz="2900" b="1" dirty="0">
                <a:solidFill>
                  <a:srgbClr val="12263A"/>
                </a:solidFill>
                <a:latin typeface="Cambria" pitchFamily="34" charset="0"/>
                <a:ea typeface="Cambria" pitchFamily="34" charset="-122"/>
                <a:cs typeface="Cambria" pitchFamily="34" charset="-120"/>
              </a:rPr>
              <a:t>Measured Detection Boundary of the Interception Detector</a:t>
            </a:r>
            <a:endParaRPr lang="en-US" sz="2900" dirty="0"/>
          </a:p>
        </p:txBody>
      </p:sp>
      <p:sp>
        <p:nvSpPr>
          <p:cNvPr id="6" name="Shape 4"/>
          <p:cNvSpPr/>
          <p:nvPr/>
        </p:nvSpPr>
        <p:spPr>
          <a:xfrm>
            <a:off x="571500" y="1057275"/>
            <a:ext cx="11049000" cy="438150"/>
          </a:xfrm>
          <a:prstGeom prst="roundRect">
            <a:avLst>
              <a:gd name="adj" fmla="val 8348"/>
            </a:avLst>
          </a:prstGeom>
          <a:solidFill>
            <a:srgbClr val="EAF2F8"/>
          </a:solidFill>
          <a:ln w="12700">
            <a:solidFill>
              <a:srgbClr val="D7E1EA"/>
            </a:solidFill>
            <a:prstDash val="solid"/>
          </a:ln>
        </p:spPr>
        <p:txBody>
          <a:bodyPr/>
          <a:lstStyle/>
          <a:p>
            <a:endParaRPr lang="en-IN"/>
          </a:p>
        </p:txBody>
      </p:sp>
      <p:sp>
        <p:nvSpPr>
          <p:cNvPr id="7" name="Text 5"/>
          <p:cNvSpPr/>
          <p:nvPr/>
        </p:nvSpPr>
        <p:spPr>
          <a:xfrm>
            <a:off x="723900" y="1123950"/>
            <a:ext cx="10744200" cy="323850"/>
          </a:xfrm>
          <a:prstGeom prst="rect">
            <a:avLst/>
          </a:prstGeom>
          <a:noFill/>
          <a:ln/>
        </p:spPr>
        <p:txBody>
          <a:bodyPr wrap="square" lIns="0" tIns="0" rIns="0" bIns="0" rtlCol="0" anchor="t">
            <a:normAutofit/>
          </a:bodyPr>
          <a:lstStyle/>
          <a:p>
            <a:pPr marL="0" indent="0" algn="l">
              <a:lnSpc>
                <a:spcPct val="102000"/>
              </a:lnSpc>
              <a:buNone/>
            </a:pPr>
            <a:r>
              <a:rPr lang="en-US" sz="1120" dirty="0">
                <a:solidFill>
                  <a:srgbClr val="5B6B7C"/>
                </a:solidFill>
                <a:latin typeface="Calibri" pitchFamily="34" charset="0"/>
                <a:ea typeface="Calibri" pitchFamily="34" charset="-122"/>
                <a:cs typeface="Calibri" pitchFamily="34" charset="-120"/>
              </a:rPr>
              <a:t>Rate-starvation clause fires when the delivered message rate falls below half the rate the source itself declares  |  Blackhole fraction drawn per replicate from randparams.py  |  Ratios recomputed from the per-run deep extracts</a:t>
            </a:r>
            <a:endParaRPr lang="en-US" sz="1120" dirty="0"/>
          </a:p>
        </p:txBody>
      </p:sp>
      <p:sp>
        <p:nvSpPr>
          <p:cNvPr id="8" name="Text 6"/>
          <p:cNvSpPr/>
          <p:nvPr/>
        </p:nvSpPr>
        <p:spPr>
          <a:xfrm>
            <a:off x="571500" y="1638300"/>
            <a:ext cx="11049000" cy="228600"/>
          </a:xfrm>
          <a:prstGeom prst="rect">
            <a:avLst/>
          </a:prstGeom>
          <a:noFill/>
          <a:ln/>
        </p:spPr>
        <p:txBody>
          <a:bodyPr wrap="square" lIns="0" tIns="0" rIns="0" bIns="0" rtlCol="0" anchor="t">
            <a:normAutofit/>
          </a:bodyPr>
          <a:lstStyle/>
          <a:p>
            <a:pPr marL="0" indent="0" algn="l">
              <a:lnSpc>
                <a:spcPct val="100000"/>
              </a:lnSpc>
              <a:buNone/>
            </a:pPr>
            <a:r>
              <a:rPr lang="en-US" sz="1500" dirty="0">
                <a:solidFill>
                  <a:srgbClr val="5B6B7C"/>
                </a:solidFill>
                <a:latin typeface="Calibri" pitchFamily="34" charset="0"/>
                <a:ea typeface="Calibri" pitchFamily="34" charset="-122"/>
                <a:cs typeface="Calibri" pitchFamily="34" charset="-120"/>
              </a:rPr>
              <a:t>Selective interception is the one attack scenario that is not detected on every replicate. The miss is precisely located rather than described as residual error.</a:t>
            </a:r>
            <a:endParaRPr lang="en-US" sz="1500" dirty="0"/>
          </a:p>
        </p:txBody>
      </p:sp>
      <p:sp>
        <p:nvSpPr>
          <p:cNvPr id="9" name="Text 7"/>
          <p:cNvSpPr/>
          <p:nvPr/>
        </p:nvSpPr>
        <p:spPr>
          <a:xfrm>
            <a:off x="666750" y="2000250"/>
            <a:ext cx="5334000" cy="22860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1C7293"/>
                </a:solidFill>
                <a:latin typeface="Calibri" pitchFamily="34" charset="0"/>
                <a:ea typeface="Calibri" pitchFamily="34" charset="-122"/>
                <a:cs typeface="Calibri" pitchFamily="34" charset="-120"/>
              </a:rPr>
              <a:t>CONFIGURED BLACKHOLE FRACTION OF THE POST-WARM-UP INJECTION WINDOW</a:t>
            </a:r>
            <a:endParaRPr lang="en-US" sz="1200" dirty="0"/>
          </a:p>
        </p:txBody>
      </p:sp>
      <p:sp>
        <p:nvSpPr>
          <p:cNvPr id="10" name="Text 8"/>
          <p:cNvSpPr/>
          <p:nvPr/>
        </p:nvSpPr>
        <p:spPr>
          <a:xfrm>
            <a:off x="6096000" y="2000250"/>
            <a:ext cx="1333500" cy="22860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1C7293"/>
                </a:solidFill>
                <a:latin typeface="Calibri" pitchFamily="34" charset="0"/>
                <a:ea typeface="Calibri" pitchFamily="34" charset="-122"/>
                <a:cs typeface="Calibri" pitchFamily="34" charset="-120"/>
              </a:rPr>
              <a:t>REPLICATES</a:t>
            </a:r>
            <a:endParaRPr lang="en-US" sz="1200" dirty="0"/>
          </a:p>
        </p:txBody>
      </p:sp>
      <p:sp>
        <p:nvSpPr>
          <p:cNvPr id="11" name="Text 9"/>
          <p:cNvSpPr/>
          <p:nvPr/>
        </p:nvSpPr>
        <p:spPr>
          <a:xfrm>
            <a:off x="7524750" y="2000250"/>
            <a:ext cx="2571750" cy="22860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1C7293"/>
                </a:solidFill>
                <a:latin typeface="Calibri" pitchFamily="34" charset="0"/>
                <a:ea typeface="Calibri" pitchFamily="34" charset="-122"/>
                <a:cs typeface="Calibri" pitchFamily="34" charset="-120"/>
              </a:rPr>
              <a:t>DELIVERED / DECLARED RATE</a:t>
            </a:r>
            <a:endParaRPr lang="en-US" sz="1200" dirty="0"/>
          </a:p>
        </p:txBody>
      </p:sp>
      <p:sp>
        <p:nvSpPr>
          <p:cNvPr id="12" name="Text 10"/>
          <p:cNvSpPr/>
          <p:nvPr/>
        </p:nvSpPr>
        <p:spPr>
          <a:xfrm>
            <a:off x="10191750" y="2000250"/>
            <a:ext cx="1333500" cy="22860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1C7293"/>
                </a:solidFill>
                <a:latin typeface="Calibri" pitchFamily="34" charset="0"/>
                <a:ea typeface="Calibri" pitchFamily="34" charset="-122"/>
                <a:cs typeface="Calibri" pitchFamily="34" charset="-120"/>
              </a:rPr>
              <a:t>OUTCOME</a:t>
            </a:r>
            <a:endParaRPr lang="en-US" sz="1200" dirty="0"/>
          </a:p>
        </p:txBody>
      </p:sp>
      <p:sp>
        <p:nvSpPr>
          <p:cNvPr id="13" name="Shape 11"/>
          <p:cNvSpPr/>
          <p:nvPr/>
        </p:nvSpPr>
        <p:spPr>
          <a:xfrm>
            <a:off x="571500" y="2257425"/>
            <a:ext cx="11049000" cy="11430"/>
          </a:xfrm>
          <a:prstGeom prst="rect">
            <a:avLst/>
          </a:prstGeom>
          <a:solidFill>
            <a:srgbClr val="D7E1EA"/>
          </a:solidFill>
          <a:ln/>
        </p:spPr>
        <p:txBody>
          <a:bodyPr/>
          <a:lstStyle/>
          <a:p>
            <a:endParaRPr lang="en-IN"/>
          </a:p>
        </p:txBody>
      </p:sp>
      <p:sp>
        <p:nvSpPr>
          <p:cNvPr id="14" name="Text 12"/>
          <p:cNvSpPr/>
          <p:nvPr/>
        </p:nvSpPr>
        <p:spPr>
          <a:xfrm>
            <a:off x="666750" y="2362200"/>
            <a:ext cx="1143000" cy="266700"/>
          </a:xfrm>
          <a:prstGeom prst="rect">
            <a:avLst/>
          </a:prstGeom>
          <a:noFill/>
          <a:ln/>
        </p:spPr>
        <p:txBody>
          <a:bodyPr wrap="square" lIns="0" tIns="0" rIns="0" bIns="0" rtlCol="0" anchor="t">
            <a:normAutofit/>
          </a:bodyPr>
          <a:lstStyle/>
          <a:p>
            <a:pPr marL="0" indent="0" algn="l">
              <a:lnSpc>
                <a:spcPct val="100000"/>
              </a:lnSpc>
              <a:buNone/>
            </a:pPr>
            <a:r>
              <a:rPr lang="en-US" sz="2000" b="1" dirty="0">
                <a:solidFill>
                  <a:srgbClr val="12263A"/>
                </a:solidFill>
                <a:latin typeface="Cambria" pitchFamily="34" charset="0"/>
                <a:ea typeface="Cambria" pitchFamily="34" charset="-122"/>
                <a:cs typeface="Cambria" pitchFamily="34" charset="-120"/>
              </a:rPr>
              <a:t>75 %</a:t>
            </a:r>
            <a:endParaRPr lang="en-US" sz="2000" dirty="0"/>
          </a:p>
        </p:txBody>
      </p:sp>
      <p:sp>
        <p:nvSpPr>
          <p:cNvPr id="15" name="Text 13"/>
          <p:cNvSpPr/>
          <p:nvPr/>
        </p:nvSpPr>
        <p:spPr>
          <a:xfrm>
            <a:off x="6096000" y="2409825"/>
            <a:ext cx="1333500" cy="190500"/>
          </a:xfrm>
          <a:prstGeom prst="rect">
            <a:avLst/>
          </a:prstGeom>
          <a:noFill/>
          <a:ln/>
        </p:spPr>
        <p:txBody>
          <a:bodyPr wrap="square" lIns="0" tIns="0" rIns="0" bIns="0" rtlCol="0" anchor="t">
            <a:normAutofit/>
          </a:bodyPr>
          <a:lstStyle/>
          <a:p>
            <a:pPr marL="0" indent="0" algn="l">
              <a:lnSpc>
                <a:spcPct val="100000"/>
              </a:lnSpc>
              <a:buNone/>
            </a:pPr>
            <a:r>
              <a:rPr lang="en-US" sz="1300" dirty="0">
                <a:solidFill>
                  <a:srgbClr val="5B6B7C"/>
                </a:solidFill>
                <a:latin typeface="Calibri" pitchFamily="34" charset="0"/>
                <a:ea typeface="Calibri" pitchFamily="34" charset="-122"/>
                <a:cs typeface="Calibri" pitchFamily="34" charset="-120"/>
              </a:rPr>
              <a:t>n = 6</a:t>
            </a:r>
            <a:endParaRPr lang="en-US" sz="1300" dirty="0"/>
          </a:p>
        </p:txBody>
      </p:sp>
      <p:sp>
        <p:nvSpPr>
          <p:cNvPr id="16" name="Text 14"/>
          <p:cNvSpPr/>
          <p:nvPr/>
        </p:nvSpPr>
        <p:spPr>
          <a:xfrm>
            <a:off x="7524750" y="2390775"/>
            <a:ext cx="2571750" cy="228600"/>
          </a:xfrm>
          <a:prstGeom prst="rect">
            <a:avLst/>
          </a:prstGeom>
          <a:noFill/>
          <a:ln/>
        </p:spPr>
        <p:txBody>
          <a:bodyPr wrap="square" lIns="0" tIns="0" rIns="0" bIns="0" rtlCol="0" anchor="t">
            <a:normAutofit/>
          </a:bodyPr>
          <a:lstStyle/>
          <a:p>
            <a:pPr marL="0" indent="0" algn="l">
              <a:lnSpc>
                <a:spcPct val="100000"/>
              </a:lnSpc>
              <a:buNone/>
            </a:pPr>
            <a:r>
              <a:rPr lang="en-US" sz="1500" b="1" dirty="0">
                <a:solidFill>
                  <a:srgbClr val="12263A"/>
                </a:solidFill>
                <a:latin typeface="Courier New" pitchFamily="34" charset="0"/>
                <a:ea typeface="Courier New" pitchFamily="34" charset="-122"/>
                <a:cs typeface="Courier New" pitchFamily="34" charset="-120"/>
              </a:rPr>
              <a:t>0.3665</a:t>
            </a:r>
            <a:endParaRPr lang="en-US" sz="1500" dirty="0"/>
          </a:p>
        </p:txBody>
      </p:sp>
      <p:sp>
        <p:nvSpPr>
          <p:cNvPr id="17" name="Text 15"/>
          <p:cNvSpPr/>
          <p:nvPr/>
        </p:nvSpPr>
        <p:spPr>
          <a:xfrm>
            <a:off x="10191750" y="2400300"/>
            <a:ext cx="1333500" cy="209550"/>
          </a:xfrm>
          <a:prstGeom prst="rect">
            <a:avLst/>
          </a:prstGeom>
          <a:noFill/>
          <a:ln/>
        </p:spPr>
        <p:txBody>
          <a:bodyPr wrap="square" lIns="0" tIns="0" rIns="0" bIns="0" rtlCol="0" anchor="t">
            <a:normAutofit/>
          </a:bodyPr>
          <a:lstStyle/>
          <a:p>
            <a:pPr marL="0" indent="0" algn="l">
              <a:lnSpc>
                <a:spcPct val="100000"/>
              </a:lnSpc>
              <a:buNone/>
            </a:pPr>
            <a:r>
              <a:rPr lang="en-US" sz="1300" b="1" dirty="0">
                <a:solidFill>
                  <a:srgbClr val="1E8E5A"/>
                </a:solidFill>
                <a:latin typeface="Calibri" pitchFamily="34" charset="0"/>
                <a:ea typeface="Calibri" pitchFamily="34" charset="-122"/>
                <a:cs typeface="Calibri" pitchFamily="34" charset="-120"/>
              </a:rPr>
              <a:t>CAUGHT</a:t>
            </a:r>
            <a:endParaRPr lang="en-US" sz="1300" dirty="0"/>
          </a:p>
        </p:txBody>
      </p:sp>
      <p:sp>
        <p:nvSpPr>
          <p:cNvPr id="18" name="Shape 16"/>
          <p:cNvSpPr/>
          <p:nvPr/>
        </p:nvSpPr>
        <p:spPr>
          <a:xfrm>
            <a:off x="571500" y="2743200"/>
            <a:ext cx="11049000" cy="11430"/>
          </a:xfrm>
          <a:prstGeom prst="rect">
            <a:avLst/>
          </a:prstGeom>
          <a:solidFill>
            <a:srgbClr val="D7E1EA"/>
          </a:solidFill>
          <a:ln/>
        </p:spPr>
        <p:txBody>
          <a:bodyPr/>
          <a:lstStyle/>
          <a:p>
            <a:endParaRPr lang="en-IN"/>
          </a:p>
        </p:txBody>
      </p:sp>
      <p:sp>
        <p:nvSpPr>
          <p:cNvPr id="19" name="Text 17"/>
          <p:cNvSpPr/>
          <p:nvPr/>
        </p:nvSpPr>
        <p:spPr>
          <a:xfrm>
            <a:off x="666750" y="2838450"/>
            <a:ext cx="1143000" cy="266700"/>
          </a:xfrm>
          <a:prstGeom prst="rect">
            <a:avLst/>
          </a:prstGeom>
          <a:noFill/>
          <a:ln/>
        </p:spPr>
        <p:txBody>
          <a:bodyPr wrap="square" lIns="0" tIns="0" rIns="0" bIns="0" rtlCol="0" anchor="t">
            <a:normAutofit/>
          </a:bodyPr>
          <a:lstStyle/>
          <a:p>
            <a:pPr marL="0" indent="0" algn="l">
              <a:lnSpc>
                <a:spcPct val="100000"/>
              </a:lnSpc>
              <a:buNone/>
            </a:pPr>
            <a:r>
              <a:rPr lang="en-US" sz="2000" b="1" dirty="0">
                <a:solidFill>
                  <a:srgbClr val="12263A"/>
                </a:solidFill>
                <a:latin typeface="Cambria" pitchFamily="34" charset="0"/>
                <a:ea typeface="Cambria" pitchFamily="34" charset="-122"/>
                <a:cs typeface="Cambria" pitchFamily="34" charset="-120"/>
              </a:rPr>
              <a:t>70 %</a:t>
            </a:r>
            <a:endParaRPr lang="en-US" sz="2000" dirty="0"/>
          </a:p>
        </p:txBody>
      </p:sp>
      <p:sp>
        <p:nvSpPr>
          <p:cNvPr id="20" name="Text 18"/>
          <p:cNvSpPr/>
          <p:nvPr/>
        </p:nvSpPr>
        <p:spPr>
          <a:xfrm>
            <a:off x="6096000" y="2886075"/>
            <a:ext cx="1333500" cy="190500"/>
          </a:xfrm>
          <a:prstGeom prst="rect">
            <a:avLst/>
          </a:prstGeom>
          <a:noFill/>
          <a:ln/>
        </p:spPr>
        <p:txBody>
          <a:bodyPr wrap="square" lIns="0" tIns="0" rIns="0" bIns="0" rtlCol="0" anchor="t">
            <a:normAutofit/>
          </a:bodyPr>
          <a:lstStyle/>
          <a:p>
            <a:pPr marL="0" indent="0" algn="l">
              <a:lnSpc>
                <a:spcPct val="100000"/>
              </a:lnSpc>
              <a:buNone/>
            </a:pPr>
            <a:r>
              <a:rPr lang="en-US" sz="1300" dirty="0">
                <a:solidFill>
                  <a:srgbClr val="5B6B7C"/>
                </a:solidFill>
                <a:latin typeface="Calibri" pitchFamily="34" charset="0"/>
                <a:ea typeface="Calibri" pitchFamily="34" charset="-122"/>
                <a:cs typeface="Calibri" pitchFamily="34" charset="-120"/>
              </a:rPr>
              <a:t>n = 3</a:t>
            </a:r>
            <a:endParaRPr lang="en-US" sz="1300" dirty="0"/>
          </a:p>
        </p:txBody>
      </p:sp>
      <p:sp>
        <p:nvSpPr>
          <p:cNvPr id="21" name="Text 19"/>
          <p:cNvSpPr/>
          <p:nvPr/>
        </p:nvSpPr>
        <p:spPr>
          <a:xfrm>
            <a:off x="7524750" y="2867025"/>
            <a:ext cx="2571750" cy="228600"/>
          </a:xfrm>
          <a:prstGeom prst="rect">
            <a:avLst/>
          </a:prstGeom>
          <a:noFill/>
          <a:ln/>
        </p:spPr>
        <p:txBody>
          <a:bodyPr wrap="square" lIns="0" tIns="0" rIns="0" bIns="0" rtlCol="0" anchor="t">
            <a:normAutofit/>
          </a:bodyPr>
          <a:lstStyle/>
          <a:p>
            <a:pPr marL="0" indent="0" algn="l">
              <a:lnSpc>
                <a:spcPct val="100000"/>
              </a:lnSpc>
              <a:buNone/>
            </a:pPr>
            <a:r>
              <a:rPr lang="en-US" sz="1500" b="1" dirty="0">
                <a:solidFill>
                  <a:srgbClr val="12263A"/>
                </a:solidFill>
                <a:latin typeface="Courier New" pitchFamily="34" charset="0"/>
                <a:ea typeface="Courier New" pitchFamily="34" charset="-122"/>
                <a:cs typeface="Courier New" pitchFamily="34" charset="-120"/>
              </a:rPr>
              <a:t>0.4137</a:t>
            </a:r>
            <a:endParaRPr lang="en-US" sz="1500" dirty="0"/>
          </a:p>
        </p:txBody>
      </p:sp>
      <p:sp>
        <p:nvSpPr>
          <p:cNvPr id="22" name="Text 20"/>
          <p:cNvSpPr/>
          <p:nvPr/>
        </p:nvSpPr>
        <p:spPr>
          <a:xfrm>
            <a:off x="10191750" y="2876550"/>
            <a:ext cx="1333500" cy="209550"/>
          </a:xfrm>
          <a:prstGeom prst="rect">
            <a:avLst/>
          </a:prstGeom>
          <a:noFill/>
          <a:ln/>
        </p:spPr>
        <p:txBody>
          <a:bodyPr wrap="square" lIns="0" tIns="0" rIns="0" bIns="0" rtlCol="0" anchor="t">
            <a:normAutofit/>
          </a:bodyPr>
          <a:lstStyle/>
          <a:p>
            <a:pPr marL="0" indent="0" algn="l">
              <a:lnSpc>
                <a:spcPct val="100000"/>
              </a:lnSpc>
              <a:buNone/>
            </a:pPr>
            <a:r>
              <a:rPr lang="en-US" sz="1300" b="1" dirty="0">
                <a:solidFill>
                  <a:srgbClr val="1E8E5A"/>
                </a:solidFill>
                <a:latin typeface="Calibri" pitchFamily="34" charset="0"/>
                <a:ea typeface="Calibri" pitchFamily="34" charset="-122"/>
                <a:cs typeface="Calibri" pitchFamily="34" charset="-120"/>
              </a:rPr>
              <a:t>CAUGHT</a:t>
            </a:r>
            <a:endParaRPr lang="en-US" sz="1300" dirty="0"/>
          </a:p>
        </p:txBody>
      </p:sp>
      <p:sp>
        <p:nvSpPr>
          <p:cNvPr id="23" name="Shape 21"/>
          <p:cNvSpPr/>
          <p:nvPr/>
        </p:nvSpPr>
        <p:spPr>
          <a:xfrm>
            <a:off x="571500" y="3219450"/>
            <a:ext cx="11049000" cy="11430"/>
          </a:xfrm>
          <a:prstGeom prst="rect">
            <a:avLst/>
          </a:prstGeom>
          <a:solidFill>
            <a:srgbClr val="D7E1EA"/>
          </a:solidFill>
          <a:ln/>
        </p:spPr>
        <p:txBody>
          <a:bodyPr/>
          <a:lstStyle/>
          <a:p>
            <a:endParaRPr lang="en-IN"/>
          </a:p>
        </p:txBody>
      </p:sp>
      <p:sp>
        <p:nvSpPr>
          <p:cNvPr id="24" name="Text 22"/>
          <p:cNvSpPr/>
          <p:nvPr/>
        </p:nvSpPr>
        <p:spPr>
          <a:xfrm>
            <a:off x="666750" y="3314700"/>
            <a:ext cx="1143000" cy="266700"/>
          </a:xfrm>
          <a:prstGeom prst="rect">
            <a:avLst/>
          </a:prstGeom>
          <a:noFill/>
          <a:ln/>
        </p:spPr>
        <p:txBody>
          <a:bodyPr wrap="square" lIns="0" tIns="0" rIns="0" bIns="0" rtlCol="0" anchor="t">
            <a:normAutofit/>
          </a:bodyPr>
          <a:lstStyle/>
          <a:p>
            <a:pPr marL="0" indent="0" algn="l">
              <a:lnSpc>
                <a:spcPct val="100000"/>
              </a:lnSpc>
              <a:buNone/>
            </a:pPr>
            <a:r>
              <a:rPr lang="en-US" sz="2000" b="1" dirty="0">
                <a:solidFill>
                  <a:srgbClr val="12263A"/>
                </a:solidFill>
                <a:latin typeface="Cambria" pitchFamily="34" charset="0"/>
                <a:ea typeface="Cambria" pitchFamily="34" charset="-122"/>
                <a:cs typeface="Cambria" pitchFamily="34" charset="-120"/>
              </a:rPr>
              <a:t>65 %</a:t>
            </a:r>
            <a:endParaRPr lang="en-US" sz="2000" dirty="0"/>
          </a:p>
        </p:txBody>
      </p:sp>
      <p:sp>
        <p:nvSpPr>
          <p:cNvPr id="25" name="Text 23"/>
          <p:cNvSpPr/>
          <p:nvPr/>
        </p:nvSpPr>
        <p:spPr>
          <a:xfrm>
            <a:off x="6096000" y="3362325"/>
            <a:ext cx="1333500" cy="190500"/>
          </a:xfrm>
          <a:prstGeom prst="rect">
            <a:avLst/>
          </a:prstGeom>
          <a:noFill/>
          <a:ln/>
        </p:spPr>
        <p:txBody>
          <a:bodyPr wrap="square" lIns="0" tIns="0" rIns="0" bIns="0" rtlCol="0" anchor="t">
            <a:normAutofit/>
          </a:bodyPr>
          <a:lstStyle/>
          <a:p>
            <a:pPr marL="0" indent="0" algn="l">
              <a:lnSpc>
                <a:spcPct val="100000"/>
              </a:lnSpc>
              <a:buNone/>
            </a:pPr>
            <a:r>
              <a:rPr lang="en-US" sz="1300" dirty="0">
                <a:solidFill>
                  <a:srgbClr val="5B6B7C"/>
                </a:solidFill>
                <a:latin typeface="Calibri" pitchFamily="34" charset="0"/>
                <a:ea typeface="Calibri" pitchFamily="34" charset="-122"/>
                <a:cs typeface="Calibri" pitchFamily="34" charset="-120"/>
              </a:rPr>
              <a:t>n = 2</a:t>
            </a:r>
            <a:endParaRPr lang="en-US" sz="1300" dirty="0"/>
          </a:p>
        </p:txBody>
      </p:sp>
      <p:sp>
        <p:nvSpPr>
          <p:cNvPr id="26" name="Text 24"/>
          <p:cNvSpPr/>
          <p:nvPr/>
        </p:nvSpPr>
        <p:spPr>
          <a:xfrm>
            <a:off x="7524750" y="3343275"/>
            <a:ext cx="2571750" cy="228600"/>
          </a:xfrm>
          <a:prstGeom prst="rect">
            <a:avLst/>
          </a:prstGeom>
          <a:noFill/>
          <a:ln/>
        </p:spPr>
        <p:txBody>
          <a:bodyPr wrap="square" lIns="0" tIns="0" rIns="0" bIns="0" rtlCol="0" anchor="t">
            <a:normAutofit/>
          </a:bodyPr>
          <a:lstStyle/>
          <a:p>
            <a:pPr marL="0" indent="0" algn="l">
              <a:lnSpc>
                <a:spcPct val="100000"/>
              </a:lnSpc>
              <a:buNone/>
            </a:pPr>
            <a:r>
              <a:rPr lang="en-US" sz="1500" b="1" dirty="0">
                <a:solidFill>
                  <a:srgbClr val="12263A"/>
                </a:solidFill>
                <a:latin typeface="Courier New" pitchFamily="34" charset="0"/>
                <a:ea typeface="Courier New" pitchFamily="34" charset="-122"/>
                <a:cs typeface="Courier New" pitchFamily="34" charset="-120"/>
              </a:rPr>
              <a:t>0.4581 / 0.4619</a:t>
            </a:r>
            <a:endParaRPr lang="en-US" sz="1500" dirty="0"/>
          </a:p>
        </p:txBody>
      </p:sp>
      <p:sp>
        <p:nvSpPr>
          <p:cNvPr id="27" name="Text 25"/>
          <p:cNvSpPr/>
          <p:nvPr/>
        </p:nvSpPr>
        <p:spPr>
          <a:xfrm>
            <a:off x="10191750" y="3352800"/>
            <a:ext cx="1333500" cy="209550"/>
          </a:xfrm>
          <a:prstGeom prst="rect">
            <a:avLst/>
          </a:prstGeom>
          <a:noFill/>
          <a:ln/>
        </p:spPr>
        <p:txBody>
          <a:bodyPr wrap="square" lIns="0" tIns="0" rIns="0" bIns="0" rtlCol="0" anchor="t">
            <a:normAutofit/>
          </a:bodyPr>
          <a:lstStyle/>
          <a:p>
            <a:pPr marL="0" indent="0" algn="l">
              <a:lnSpc>
                <a:spcPct val="100000"/>
              </a:lnSpc>
              <a:buNone/>
            </a:pPr>
            <a:r>
              <a:rPr lang="en-US" sz="1300" b="1" dirty="0">
                <a:solidFill>
                  <a:srgbClr val="1E8E5A"/>
                </a:solidFill>
                <a:latin typeface="Calibri" pitchFamily="34" charset="0"/>
                <a:ea typeface="Calibri" pitchFamily="34" charset="-122"/>
                <a:cs typeface="Calibri" pitchFamily="34" charset="-120"/>
              </a:rPr>
              <a:t>CAUGHT</a:t>
            </a:r>
            <a:endParaRPr lang="en-US" sz="1300" dirty="0"/>
          </a:p>
        </p:txBody>
      </p:sp>
      <p:sp>
        <p:nvSpPr>
          <p:cNvPr id="28" name="Shape 26"/>
          <p:cNvSpPr/>
          <p:nvPr/>
        </p:nvSpPr>
        <p:spPr>
          <a:xfrm>
            <a:off x="571500" y="3695700"/>
            <a:ext cx="11049000" cy="11430"/>
          </a:xfrm>
          <a:prstGeom prst="rect">
            <a:avLst/>
          </a:prstGeom>
          <a:solidFill>
            <a:srgbClr val="D7E1EA"/>
          </a:solidFill>
          <a:ln/>
        </p:spPr>
        <p:txBody>
          <a:bodyPr/>
          <a:lstStyle/>
          <a:p>
            <a:endParaRPr lang="en-IN"/>
          </a:p>
        </p:txBody>
      </p:sp>
      <p:sp>
        <p:nvSpPr>
          <p:cNvPr id="29" name="Shape 27"/>
          <p:cNvSpPr/>
          <p:nvPr/>
        </p:nvSpPr>
        <p:spPr>
          <a:xfrm>
            <a:off x="571500" y="3752850"/>
            <a:ext cx="11049000" cy="438150"/>
          </a:xfrm>
          <a:prstGeom prst="rect">
            <a:avLst/>
          </a:prstGeom>
          <a:solidFill>
            <a:srgbClr val="FBEDEA"/>
          </a:solidFill>
          <a:ln/>
        </p:spPr>
        <p:txBody>
          <a:bodyPr/>
          <a:lstStyle/>
          <a:p>
            <a:endParaRPr lang="en-IN"/>
          </a:p>
        </p:txBody>
      </p:sp>
      <p:sp>
        <p:nvSpPr>
          <p:cNvPr id="30" name="Text 28"/>
          <p:cNvSpPr/>
          <p:nvPr/>
        </p:nvSpPr>
        <p:spPr>
          <a:xfrm>
            <a:off x="666750" y="3790950"/>
            <a:ext cx="1143000" cy="266700"/>
          </a:xfrm>
          <a:prstGeom prst="rect">
            <a:avLst/>
          </a:prstGeom>
          <a:noFill/>
          <a:ln/>
        </p:spPr>
        <p:txBody>
          <a:bodyPr wrap="square" lIns="0" tIns="0" rIns="0" bIns="0" rtlCol="0" anchor="t">
            <a:normAutofit/>
          </a:bodyPr>
          <a:lstStyle/>
          <a:p>
            <a:pPr marL="0" indent="0" algn="l">
              <a:lnSpc>
                <a:spcPct val="100000"/>
              </a:lnSpc>
              <a:buNone/>
            </a:pPr>
            <a:r>
              <a:rPr lang="en-US" sz="2000" b="1" dirty="0">
                <a:solidFill>
                  <a:srgbClr val="12263A"/>
                </a:solidFill>
                <a:latin typeface="Cambria" pitchFamily="34" charset="0"/>
                <a:ea typeface="Cambria" pitchFamily="34" charset="-122"/>
                <a:cs typeface="Cambria" pitchFamily="34" charset="-120"/>
              </a:rPr>
              <a:t>60 %</a:t>
            </a:r>
            <a:endParaRPr lang="en-US" sz="2000" dirty="0"/>
          </a:p>
        </p:txBody>
      </p:sp>
      <p:sp>
        <p:nvSpPr>
          <p:cNvPr id="31" name="Text 29"/>
          <p:cNvSpPr/>
          <p:nvPr/>
        </p:nvSpPr>
        <p:spPr>
          <a:xfrm>
            <a:off x="6096000" y="3838575"/>
            <a:ext cx="1333500" cy="190500"/>
          </a:xfrm>
          <a:prstGeom prst="rect">
            <a:avLst/>
          </a:prstGeom>
          <a:noFill/>
          <a:ln/>
        </p:spPr>
        <p:txBody>
          <a:bodyPr wrap="square" lIns="0" tIns="0" rIns="0" bIns="0" rtlCol="0" anchor="t">
            <a:normAutofit/>
          </a:bodyPr>
          <a:lstStyle/>
          <a:p>
            <a:pPr marL="0" indent="0" algn="l">
              <a:lnSpc>
                <a:spcPct val="100000"/>
              </a:lnSpc>
              <a:buNone/>
            </a:pPr>
            <a:r>
              <a:rPr lang="en-US" sz="1300" dirty="0">
                <a:solidFill>
                  <a:srgbClr val="5B6B7C"/>
                </a:solidFill>
                <a:latin typeface="Calibri" pitchFamily="34" charset="0"/>
                <a:ea typeface="Calibri" pitchFamily="34" charset="-122"/>
                <a:cs typeface="Calibri" pitchFamily="34" charset="-120"/>
              </a:rPr>
              <a:t>n = 1</a:t>
            </a:r>
            <a:endParaRPr lang="en-US" sz="1300" dirty="0"/>
          </a:p>
        </p:txBody>
      </p:sp>
      <p:sp>
        <p:nvSpPr>
          <p:cNvPr id="32" name="Text 30"/>
          <p:cNvSpPr/>
          <p:nvPr/>
        </p:nvSpPr>
        <p:spPr>
          <a:xfrm>
            <a:off x="7524750" y="3819525"/>
            <a:ext cx="2571750" cy="228600"/>
          </a:xfrm>
          <a:prstGeom prst="rect">
            <a:avLst/>
          </a:prstGeom>
          <a:noFill/>
          <a:ln/>
        </p:spPr>
        <p:txBody>
          <a:bodyPr wrap="square" lIns="0" tIns="0" rIns="0" bIns="0" rtlCol="0" anchor="t">
            <a:normAutofit/>
          </a:bodyPr>
          <a:lstStyle/>
          <a:p>
            <a:pPr marL="0" indent="0" algn="l">
              <a:lnSpc>
                <a:spcPct val="100000"/>
              </a:lnSpc>
              <a:buNone/>
            </a:pPr>
            <a:r>
              <a:rPr lang="en-US" sz="1500" b="1" dirty="0">
                <a:solidFill>
                  <a:srgbClr val="B3402F"/>
                </a:solidFill>
                <a:latin typeface="Courier New" pitchFamily="34" charset="0"/>
                <a:ea typeface="Courier New" pitchFamily="34" charset="-122"/>
                <a:cs typeface="Courier New" pitchFamily="34" charset="-120"/>
              </a:rPr>
              <a:t>0.5049</a:t>
            </a:r>
            <a:endParaRPr lang="en-US" sz="1500" dirty="0"/>
          </a:p>
        </p:txBody>
      </p:sp>
      <p:sp>
        <p:nvSpPr>
          <p:cNvPr id="33" name="Text 31"/>
          <p:cNvSpPr/>
          <p:nvPr/>
        </p:nvSpPr>
        <p:spPr>
          <a:xfrm>
            <a:off x="10191750" y="3829050"/>
            <a:ext cx="1333500" cy="209550"/>
          </a:xfrm>
          <a:prstGeom prst="rect">
            <a:avLst/>
          </a:prstGeom>
          <a:noFill/>
          <a:ln/>
        </p:spPr>
        <p:txBody>
          <a:bodyPr wrap="square" lIns="0" tIns="0" rIns="0" bIns="0" rtlCol="0" anchor="t">
            <a:normAutofit/>
          </a:bodyPr>
          <a:lstStyle/>
          <a:p>
            <a:pPr marL="0" indent="0" algn="l">
              <a:lnSpc>
                <a:spcPct val="100000"/>
              </a:lnSpc>
              <a:buNone/>
            </a:pPr>
            <a:r>
              <a:rPr lang="en-US" sz="1300" b="1" dirty="0">
                <a:solidFill>
                  <a:srgbClr val="B3402F"/>
                </a:solidFill>
                <a:latin typeface="Calibri" pitchFamily="34" charset="0"/>
                <a:ea typeface="Calibri" pitchFamily="34" charset="-122"/>
                <a:cs typeface="Calibri" pitchFamily="34" charset="-120"/>
              </a:rPr>
              <a:t>MISSED</a:t>
            </a:r>
            <a:endParaRPr lang="en-US" sz="1300" dirty="0"/>
          </a:p>
        </p:txBody>
      </p:sp>
      <p:sp>
        <p:nvSpPr>
          <p:cNvPr id="34" name="Shape 32"/>
          <p:cNvSpPr/>
          <p:nvPr/>
        </p:nvSpPr>
        <p:spPr>
          <a:xfrm>
            <a:off x="571500" y="4171950"/>
            <a:ext cx="11049000" cy="11430"/>
          </a:xfrm>
          <a:prstGeom prst="rect">
            <a:avLst/>
          </a:prstGeom>
          <a:solidFill>
            <a:srgbClr val="D7E1EA"/>
          </a:solidFill>
          <a:ln/>
        </p:spPr>
        <p:txBody>
          <a:bodyPr/>
          <a:lstStyle/>
          <a:p>
            <a:endParaRPr lang="en-IN"/>
          </a:p>
        </p:txBody>
      </p:sp>
      <p:sp>
        <p:nvSpPr>
          <p:cNvPr id="35" name="Shape 33"/>
          <p:cNvSpPr/>
          <p:nvPr/>
        </p:nvSpPr>
        <p:spPr>
          <a:xfrm>
            <a:off x="571500" y="4305300"/>
            <a:ext cx="11049000" cy="514350"/>
          </a:xfrm>
          <a:prstGeom prst="roundRect">
            <a:avLst>
              <a:gd name="adj" fmla="val 7111"/>
            </a:avLst>
          </a:prstGeom>
          <a:solidFill>
            <a:srgbClr val="0E2440"/>
          </a:solidFill>
          <a:ln w="12700">
            <a:solidFill>
              <a:srgbClr val="0E2440"/>
            </a:solidFill>
            <a:prstDash val="solid"/>
          </a:ln>
        </p:spPr>
        <p:txBody>
          <a:bodyPr/>
          <a:lstStyle/>
          <a:p>
            <a:endParaRPr lang="en-IN"/>
          </a:p>
        </p:txBody>
      </p:sp>
      <p:sp>
        <p:nvSpPr>
          <p:cNvPr id="36" name="Text 34"/>
          <p:cNvSpPr/>
          <p:nvPr/>
        </p:nvSpPr>
        <p:spPr>
          <a:xfrm>
            <a:off x="800100" y="4438650"/>
            <a:ext cx="4095750" cy="247650"/>
          </a:xfrm>
          <a:prstGeom prst="rect">
            <a:avLst/>
          </a:prstGeom>
          <a:noFill/>
          <a:ln/>
        </p:spPr>
        <p:txBody>
          <a:bodyPr wrap="square" lIns="0" tIns="0" rIns="0" bIns="0" rtlCol="0" anchor="t">
            <a:normAutofit/>
          </a:bodyPr>
          <a:lstStyle/>
          <a:p>
            <a:pPr marL="0" indent="0" algn="l">
              <a:lnSpc>
                <a:spcPct val="100000"/>
              </a:lnSpc>
              <a:buNone/>
            </a:pPr>
            <a:r>
              <a:rPr lang="en-US" sz="1500" b="1" dirty="0">
                <a:solidFill>
                  <a:srgbClr val="18B89A"/>
                </a:solidFill>
                <a:latin typeface="Cambria" pitchFamily="34" charset="0"/>
                <a:ea typeface="Cambria" pitchFamily="34" charset="-122"/>
                <a:cs typeface="Cambria" pitchFamily="34" charset="-120"/>
              </a:rPr>
              <a:t>Detection threshold  ·  delivered / declared  &lt;  0.500</a:t>
            </a:r>
            <a:endParaRPr lang="en-US" sz="1500" dirty="0"/>
          </a:p>
        </p:txBody>
      </p:sp>
      <p:sp>
        <p:nvSpPr>
          <p:cNvPr id="37" name="Text 35"/>
          <p:cNvSpPr/>
          <p:nvPr/>
        </p:nvSpPr>
        <p:spPr>
          <a:xfrm>
            <a:off x="5257800" y="4438650"/>
            <a:ext cx="6172200" cy="400050"/>
          </a:xfrm>
          <a:prstGeom prst="rect">
            <a:avLst/>
          </a:prstGeom>
          <a:noFill/>
          <a:ln/>
        </p:spPr>
        <p:txBody>
          <a:bodyPr wrap="square" lIns="0" tIns="0" rIns="0" bIns="0" rtlCol="0" anchor="t">
            <a:normAutofit/>
          </a:bodyPr>
          <a:lstStyle/>
          <a:p>
            <a:pPr marL="0" indent="0" algn="l">
              <a:lnSpc>
                <a:spcPct val="100000"/>
              </a:lnSpc>
              <a:buNone/>
            </a:pPr>
            <a:r>
              <a:rPr lang="en-US" sz="1280" dirty="0">
                <a:solidFill>
                  <a:srgbClr val="CFD9E5"/>
                </a:solidFill>
                <a:latin typeface="Calibri" pitchFamily="34" charset="0"/>
                <a:ea typeface="Calibri" pitchFamily="34" charset="-122"/>
                <a:cs typeface="Calibri" pitchFamily="34" charset="-120"/>
              </a:rPr>
              <a:t>At 60 % the ratio is 0.5049 — 0.0049 absolute, or 0.98 % relative, above the threshold. The attack evades by a margin of five parts in a thousand.</a:t>
            </a:r>
            <a:endParaRPr lang="en-US" sz="1280" dirty="0"/>
          </a:p>
        </p:txBody>
      </p:sp>
      <p:sp>
        <p:nvSpPr>
          <p:cNvPr id="38" name="Shape 36"/>
          <p:cNvSpPr/>
          <p:nvPr/>
        </p:nvSpPr>
        <p:spPr>
          <a:xfrm>
            <a:off x="571500" y="4933950"/>
            <a:ext cx="5381625" cy="990600"/>
          </a:xfrm>
          <a:prstGeom prst="roundRect">
            <a:avLst>
              <a:gd name="adj" fmla="val 3692"/>
            </a:avLst>
          </a:prstGeom>
          <a:solidFill>
            <a:srgbClr val="FFFFFF"/>
          </a:solidFill>
          <a:ln w="12700">
            <a:solidFill>
              <a:srgbClr val="D7E1EA"/>
            </a:solidFill>
            <a:prstDash val="solid"/>
          </a:ln>
        </p:spPr>
        <p:txBody>
          <a:bodyPr/>
          <a:lstStyle/>
          <a:p>
            <a:endParaRPr lang="en-IN"/>
          </a:p>
        </p:txBody>
      </p:sp>
      <p:sp>
        <p:nvSpPr>
          <p:cNvPr id="39" name="Text 37"/>
          <p:cNvSpPr/>
          <p:nvPr/>
        </p:nvSpPr>
        <p:spPr>
          <a:xfrm>
            <a:off x="800100" y="5067300"/>
            <a:ext cx="4762500" cy="190500"/>
          </a:xfrm>
          <a:prstGeom prst="rect">
            <a:avLst/>
          </a:prstGeom>
          <a:noFill/>
          <a:ln/>
        </p:spPr>
        <p:txBody>
          <a:bodyPr wrap="square" lIns="0" tIns="0" rIns="0" bIns="0" rtlCol="0" anchor="t">
            <a:normAutofit/>
          </a:bodyPr>
          <a:lstStyle/>
          <a:p>
            <a:pPr marL="0" indent="0" algn="l">
              <a:lnSpc>
                <a:spcPct val="100000"/>
              </a:lnSpc>
              <a:buNone/>
            </a:pPr>
            <a:r>
              <a:rPr lang="en-US" sz="1150" b="1" dirty="0">
                <a:solidFill>
                  <a:srgbClr val="1C7293"/>
                </a:solidFill>
                <a:latin typeface="Calibri" pitchFamily="34" charset="0"/>
                <a:ea typeface="Calibri" pitchFamily="34" charset="-122"/>
                <a:cs typeface="Calibri" pitchFamily="34" charset="-120"/>
              </a:rPr>
              <a:t>WHAT WAS MEASURED AND WHAT WAS INTERPOLATED</a:t>
            </a:r>
            <a:endParaRPr lang="en-US" sz="1150" dirty="0"/>
          </a:p>
        </p:txBody>
      </p:sp>
      <p:sp>
        <p:nvSpPr>
          <p:cNvPr id="40" name="Text 38"/>
          <p:cNvSpPr/>
          <p:nvPr/>
        </p:nvSpPr>
        <p:spPr>
          <a:xfrm>
            <a:off x="800100" y="5295900"/>
            <a:ext cx="4953000" cy="590550"/>
          </a:xfrm>
          <a:prstGeom prst="rect">
            <a:avLst/>
          </a:prstGeom>
          <a:noFill/>
          <a:ln/>
        </p:spPr>
        <p:txBody>
          <a:bodyPr wrap="square" lIns="0" tIns="0" rIns="0" bIns="0" rtlCol="0" anchor="t">
            <a:normAutofit fontScale="92500" lnSpcReduction="20000"/>
          </a:bodyPr>
          <a:lstStyle/>
          <a:p>
            <a:pPr marL="0" indent="0" algn="l">
              <a:lnSpc>
                <a:spcPct val="100000"/>
              </a:lnSpc>
              <a:buNone/>
            </a:pPr>
            <a:r>
              <a:rPr lang="en-US" sz="1280" dirty="0">
                <a:solidFill>
                  <a:srgbClr val="12263A"/>
                </a:solidFill>
                <a:latin typeface="Calibri" pitchFamily="34" charset="0"/>
                <a:ea typeface="Calibri" pitchFamily="34" charset="-122"/>
                <a:cs typeface="Calibri" pitchFamily="34" charset="-120"/>
              </a:rPr>
              <a:t>Measured: 65 % is caught, 60 % is missed. The tested bracket is therefore 60–65 %. Linear interpolation of the delivered-to-declared ratio across that bracket places the crossing at approximately 60.5 %. That crossing is interpolated, not a directly tested point.</a:t>
            </a:r>
            <a:endParaRPr lang="en-US" sz="1280" dirty="0"/>
          </a:p>
        </p:txBody>
      </p:sp>
      <p:sp>
        <p:nvSpPr>
          <p:cNvPr id="41" name="Shape 39"/>
          <p:cNvSpPr/>
          <p:nvPr/>
        </p:nvSpPr>
        <p:spPr>
          <a:xfrm>
            <a:off x="6238875" y="4933950"/>
            <a:ext cx="5381625" cy="990600"/>
          </a:xfrm>
          <a:prstGeom prst="roundRect">
            <a:avLst>
              <a:gd name="adj" fmla="val 3692"/>
            </a:avLst>
          </a:prstGeom>
          <a:solidFill>
            <a:srgbClr val="FFF8E8"/>
          </a:solidFill>
          <a:ln w="12700">
            <a:solidFill>
              <a:srgbClr val="C58B18"/>
            </a:solidFill>
            <a:prstDash val="solid"/>
          </a:ln>
        </p:spPr>
        <p:txBody>
          <a:bodyPr/>
          <a:lstStyle/>
          <a:p>
            <a:endParaRPr lang="en-IN"/>
          </a:p>
        </p:txBody>
      </p:sp>
      <p:sp>
        <p:nvSpPr>
          <p:cNvPr id="42" name="Text 40"/>
          <p:cNvSpPr/>
          <p:nvPr/>
        </p:nvSpPr>
        <p:spPr>
          <a:xfrm>
            <a:off x="6467475" y="5067300"/>
            <a:ext cx="4953000" cy="190500"/>
          </a:xfrm>
          <a:prstGeom prst="rect">
            <a:avLst/>
          </a:prstGeom>
          <a:noFill/>
          <a:ln/>
        </p:spPr>
        <p:txBody>
          <a:bodyPr wrap="square" lIns="0" tIns="0" rIns="0" bIns="0" rtlCol="0" anchor="t">
            <a:normAutofit/>
          </a:bodyPr>
          <a:lstStyle/>
          <a:p>
            <a:pPr marL="0" indent="0" algn="l">
              <a:lnSpc>
                <a:spcPct val="100000"/>
              </a:lnSpc>
              <a:buNone/>
            </a:pPr>
            <a:r>
              <a:rPr lang="en-US" sz="1150" b="1" dirty="0">
                <a:solidFill>
                  <a:srgbClr val="C58B18"/>
                </a:solidFill>
                <a:latin typeface="Calibri" pitchFamily="34" charset="0"/>
                <a:ea typeface="Calibri" pitchFamily="34" charset="-122"/>
                <a:cs typeface="Calibri" pitchFamily="34" charset="-120"/>
              </a:rPr>
              <a:t>WHY THE OBSERVED RATE DEFICIT IS SMALLER THAN THE BLACKHOLE FRACTION</a:t>
            </a:r>
            <a:endParaRPr lang="en-US" sz="1150" dirty="0"/>
          </a:p>
        </p:txBody>
      </p:sp>
      <p:sp>
        <p:nvSpPr>
          <p:cNvPr id="43" name="Text 41"/>
          <p:cNvSpPr/>
          <p:nvPr/>
        </p:nvSpPr>
        <p:spPr>
          <a:xfrm>
            <a:off x="6467474" y="5295900"/>
            <a:ext cx="5057775" cy="590550"/>
          </a:xfrm>
          <a:prstGeom prst="rect">
            <a:avLst/>
          </a:prstGeom>
          <a:noFill/>
          <a:ln/>
        </p:spPr>
        <p:txBody>
          <a:bodyPr wrap="square" lIns="0" tIns="0" rIns="0" bIns="0" rtlCol="0" anchor="t">
            <a:normAutofit fontScale="92500"/>
          </a:bodyPr>
          <a:lstStyle/>
          <a:p>
            <a:pPr marL="0" indent="0" algn="l">
              <a:lnSpc>
                <a:spcPct val="100000"/>
              </a:lnSpc>
              <a:buNone/>
            </a:pPr>
            <a:r>
              <a:rPr lang="en-US" sz="1280" dirty="0">
                <a:solidFill>
                  <a:srgbClr val="12263A"/>
                </a:solidFill>
                <a:latin typeface="Calibri" pitchFamily="34" charset="0"/>
                <a:ea typeface="Calibri" pitchFamily="34" charset="-122"/>
                <a:cs typeface="Calibri" pitchFamily="34" charset="-120"/>
              </a:rPr>
              <a:t>The blackhole covers the stated fraction of the window after an eight-second warm-up, while the measured window also contains that warm-up and the restore tail. A 75 % blackhole therefore yields a ratio of 0.37 rather than 0.25.</a:t>
            </a:r>
            <a:endParaRPr lang="en-US" sz="1280" dirty="0"/>
          </a:p>
        </p:txBody>
      </p:sp>
      <p:sp>
        <p:nvSpPr>
          <p:cNvPr id="44" name="Shape 42"/>
          <p:cNvSpPr/>
          <p:nvPr/>
        </p:nvSpPr>
        <p:spPr>
          <a:xfrm>
            <a:off x="571500" y="6038850"/>
            <a:ext cx="11049000" cy="590550"/>
          </a:xfrm>
          <a:prstGeom prst="roundRect">
            <a:avLst>
              <a:gd name="adj" fmla="val 6194"/>
            </a:avLst>
          </a:prstGeom>
          <a:solidFill>
            <a:srgbClr val="FFF8E8"/>
          </a:solidFill>
          <a:ln w="12700">
            <a:solidFill>
              <a:srgbClr val="C58B18"/>
            </a:solidFill>
            <a:prstDash val="solid"/>
          </a:ln>
        </p:spPr>
        <p:txBody>
          <a:bodyPr/>
          <a:lstStyle/>
          <a:p>
            <a:endParaRPr lang="en-IN"/>
          </a:p>
        </p:txBody>
      </p:sp>
      <p:sp>
        <p:nvSpPr>
          <p:cNvPr id="45" name="Text 43"/>
          <p:cNvSpPr/>
          <p:nvPr/>
        </p:nvSpPr>
        <p:spPr>
          <a:xfrm>
            <a:off x="781050" y="6181725"/>
            <a:ext cx="1809750" cy="238125"/>
          </a:xfrm>
          <a:prstGeom prst="rect">
            <a:avLst/>
          </a:prstGeom>
          <a:noFill/>
          <a:ln/>
        </p:spPr>
        <p:txBody>
          <a:bodyPr wrap="square" lIns="0" tIns="0" rIns="0" bIns="0" rtlCol="0" anchor="t">
            <a:normAutofit/>
          </a:bodyPr>
          <a:lstStyle/>
          <a:p>
            <a:pPr marL="0" indent="0" algn="l">
              <a:lnSpc>
                <a:spcPct val="100000"/>
              </a:lnSpc>
              <a:buNone/>
            </a:pPr>
            <a:r>
              <a:rPr lang="en-US" sz="1600" b="1" dirty="0">
                <a:solidFill>
                  <a:srgbClr val="C58B18"/>
                </a:solidFill>
                <a:latin typeface="Cambria" pitchFamily="34" charset="0"/>
                <a:ea typeface="Cambria" pitchFamily="34" charset="-122"/>
                <a:cs typeface="Cambria" pitchFamily="34" charset="-120"/>
              </a:rPr>
              <a:t>Sampling limit</a:t>
            </a:r>
            <a:endParaRPr lang="en-US" sz="1600" dirty="0"/>
          </a:p>
        </p:txBody>
      </p:sp>
      <p:sp>
        <p:nvSpPr>
          <p:cNvPr id="46" name="Text 44"/>
          <p:cNvSpPr/>
          <p:nvPr/>
        </p:nvSpPr>
        <p:spPr>
          <a:xfrm>
            <a:off x="2781300" y="6162675"/>
            <a:ext cx="8629650" cy="361950"/>
          </a:xfrm>
          <a:prstGeom prst="rect">
            <a:avLst/>
          </a:prstGeom>
          <a:noFill/>
          <a:ln/>
        </p:spPr>
        <p:txBody>
          <a:bodyPr wrap="square" lIns="0" tIns="0" rIns="0" bIns="0" rtlCol="0" anchor="t">
            <a:normAutofit/>
          </a:bodyPr>
          <a:lstStyle/>
          <a:p>
            <a:pPr marL="0" indent="0" algn="l">
              <a:lnSpc>
                <a:spcPct val="100000"/>
              </a:lnSpc>
              <a:buNone/>
            </a:pPr>
            <a:r>
              <a:rPr lang="en-US" sz="1220" b="1" dirty="0">
                <a:solidFill>
                  <a:srgbClr val="12263A"/>
                </a:solidFill>
                <a:latin typeface="Calibri" pitchFamily="34" charset="0"/>
                <a:ea typeface="Calibri" pitchFamily="34" charset="-122"/>
                <a:cs typeface="Calibri" pitchFamily="34" charset="-120"/>
              </a:rPr>
              <a:t>Levels were drawn at random rather than swept, so replicate counts are uneven and the decisive missed level rests on a single run. The 55 % level offered by the design was never drawn; window arithmetic predicts a ratio near 0.57, which would also have evaded.</a:t>
            </a:r>
            <a:endParaRPr lang="en-US" sz="122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8FAFC"/>
          </a:solidFill>
          <a:ln/>
        </p:spPr>
        <p:txBody>
          <a:bodyPr/>
          <a:lstStyle/>
          <a:p>
            <a:endParaRPr lang="en-IN"/>
          </a:p>
        </p:txBody>
      </p:sp>
      <p:sp>
        <p:nvSpPr>
          <p:cNvPr id="3" name="Shape 1"/>
          <p:cNvSpPr/>
          <p:nvPr/>
        </p:nvSpPr>
        <p:spPr>
          <a:xfrm>
            <a:off x="0" y="0"/>
            <a:ext cx="12192000" cy="114300"/>
          </a:xfrm>
          <a:prstGeom prst="rect">
            <a:avLst/>
          </a:prstGeom>
          <a:solidFill>
            <a:srgbClr val="18B89A"/>
          </a:solidFill>
          <a:ln/>
        </p:spPr>
        <p:txBody>
          <a:bodyPr/>
          <a:lstStyle/>
          <a:p>
            <a:endParaRPr lang="en-IN"/>
          </a:p>
        </p:txBody>
      </p:sp>
      <p:sp>
        <p:nvSpPr>
          <p:cNvPr id="4" name="Text 2"/>
          <p:cNvSpPr/>
          <p:nvPr/>
        </p:nvSpPr>
        <p:spPr>
          <a:xfrm>
            <a:off x="571500" y="209550"/>
            <a:ext cx="11049000" cy="228600"/>
          </a:xfrm>
          <a:prstGeom prst="rect">
            <a:avLst/>
          </a:prstGeom>
          <a:noFill/>
          <a:ln/>
        </p:spPr>
        <p:txBody>
          <a:bodyPr wrap="square" lIns="0" tIns="0" rIns="0" bIns="0" rtlCol="0" anchor="t">
            <a:normAutofit/>
          </a:bodyPr>
          <a:lstStyle/>
          <a:p>
            <a:pPr marL="0" indent="0" algn="l">
              <a:lnSpc>
                <a:spcPct val="100000"/>
              </a:lnSpc>
              <a:buNone/>
            </a:pPr>
            <a:r>
              <a:rPr lang="en-US" sz="1280" b="1" dirty="0">
                <a:solidFill>
                  <a:srgbClr val="1C7293"/>
                </a:solidFill>
                <a:latin typeface="Calibri" pitchFamily="34" charset="0"/>
                <a:ea typeface="Calibri" pitchFamily="34" charset="-122"/>
                <a:cs typeface="Calibri" pitchFamily="34" charset="-120"/>
              </a:rPr>
              <a:t>UNRESOLVED CASES</a:t>
            </a:r>
            <a:endParaRPr lang="en-US" sz="1280" dirty="0"/>
          </a:p>
        </p:txBody>
      </p:sp>
      <p:sp>
        <p:nvSpPr>
          <p:cNvPr id="5" name="Text 3"/>
          <p:cNvSpPr/>
          <p:nvPr/>
        </p:nvSpPr>
        <p:spPr>
          <a:xfrm>
            <a:off x="571500" y="447675"/>
            <a:ext cx="11049000" cy="552450"/>
          </a:xfrm>
          <a:prstGeom prst="rect">
            <a:avLst/>
          </a:prstGeom>
          <a:noFill/>
          <a:ln/>
        </p:spPr>
        <p:txBody>
          <a:bodyPr wrap="square" lIns="0" tIns="0" rIns="0" bIns="0" rtlCol="0" anchor="t">
            <a:normAutofit/>
          </a:bodyPr>
          <a:lstStyle/>
          <a:p>
            <a:pPr marL="0" indent="0" algn="l">
              <a:lnSpc>
                <a:spcPct val="100000"/>
              </a:lnSpc>
              <a:buNone/>
            </a:pPr>
            <a:r>
              <a:rPr lang="en-US" sz="3500" b="1" dirty="0">
                <a:solidFill>
                  <a:srgbClr val="12263A"/>
                </a:solidFill>
                <a:latin typeface="Cambria" pitchFamily="34" charset="0"/>
                <a:ea typeface="Cambria" pitchFamily="34" charset="-122"/>
                <a:cs typeface="Cambria" pitchFamily="34" charset="-120"/>
              </a:rPr>
              <a:t>Experimentally Verified Limitations</a:t>
            </a:r>
            <a:endParaRPr lang="en-US" sz="3500" dirty="0"/>
          </a:p>
        </p:txBody>
      </p:sp>
      <p:sp>
        <p:nvSpPr>
          <p:cNvPr id="6" name="Shape 4"/>
          <p:cNvSpPr/>
          <p:nvPr/>
        </p:nvSpPr>
        <p:spPr>
          <a:xfrm>
            <a:off x="571500" y="1057275"/>
            <a:ext cx="11049000" cy="438150"/>
          </a:xfrm>
          <a:prstGeom prst="roundRect">
            <a:avLst>
              <a:gd name="adj" fmla="val 8348"/>
            </a:avLst>
          </a:prstGeom>
          <a:solidFill>
            <a:srgbClr val="EAF2F8"/>
          </a:solidFill>
          <a:ln w="12700">
            <a:solidFill>
              <a:srgbClr val="D7E1EA"/>
            </a:solidFill>
            <a:prstDash val="solid"/>
          </a:ln>
        </p:spPr>
        <p:txBody>
          <a:bodyPr/>
          <a:lstStyle/>
          <a:p>
            <a:endParaRPr lang="en-IN"/>
          </a:p>
        </p:txBody>
      </p:sp>
      <p:sp>
        <p:nvSpPr>
          <p:cNvPr id="7" name="Text 5"/>
          <p:cNvSpPr/>
          <p:nvPr/>
        </p:nvSpPr>
        <p:spPr>
          <a:xfrm>
            <a:off x="723900" y="1123950"/>
            <a:ext cx="10744200" cy="323850"/>
          </a:xfrm>
          <a:prstGeom prst="rect">
            <a:avLst/>
          </a:prstGeom>
          <a:noFill/>
          <a:ln/>
        </p:spPr>
        <p:txBody>
          <a:bodyPr wrap="square" lIns="0" tIns="0" rIns="0" bIns="0" rtlCol="0" anchor="t">
            <a:normAutofit/>
          </a:bodyPr>
          <a:lstStyle/>
          <a:p>
            <a:pPr marL="0" indent="0" algn="l">
              <a:lnSpc>
                <a:spcPct val="102000"/>
              </a:lnSpc>
              <a:buNone/>
            </a:pPr>
            <a:r>
              <a:rPr lang="en-US" sz="1120" dirty="0">
                <a:solidFill>
                  <a:srgbClr val="5B6B7C"/>
                </a:solidFill>
                <a:latin typeface="Calibri" pitchFamily="34" charset="0"/>
                <a:ea typeface="Calibri" pitchFamily="34" charset="-122"/>
                <a:cs typeface="Calibri" pitchFamily="34" charset="-120"/>
              </a:rPr>
              <a:t>Each limitation is stated with the evidence that established it, the technical reason, and its implication  |  All figures recomputed from the 168-run corrected campaign</a:t>
            </a:r>
            <a:endParaRPr lang="en-US" sz="1120" dirty="0"/>
          </a:p>
        </p:txBody>
      </p:sp>
      <p:sp>
        <p:nvSpPr>
          <p:cNvPr id="8" name="Text 6"/>
          <p:cNvSpPr/>
          <p:nvPr/>
        </p:nvSpPr>
        <p:spPr>
          <a:xfrm>
            <a:off x="666750" y="1657350"/>
            <a:ext cx="2857500" cy="22860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1C7293"/>
                </a:solidFill>
                <a:latin typeface="Calibri" pitchFamily="34" charset="0"/>
                <a:ea typeface="Calibri" pitchFamily="34" charset="-122"/>
                <a:cs typeface="Calibri" pitchFamily="34" charset="-120"/>
              </a:rPr>
              <a:t>OBSERVED LIMITATION</a:t>
            </a:r>
            <a:endParaRPr lang="en-US" sz="1200" dirty="0"/>
          </a:p>
        </p:txBody>
      </p:sp>
      <p:sp>
        <p:nvSpPr>
          <p:cNvPr id="9" name="Text 7"/>
          <p:cNvSpPr/>
          <p:nvPr/>
        </p:nvSpPr>
        <p:spPr>
          <a:xfrm>
            <a:off x="3619500" y="1657350"/>
            <a:ext cx="1238250" cy="22860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1C7293"/>
                </a:solidFill>
                <a:latin typeface="Calibri" pitchFamily="34" charset="0"/>
                <a:ea typeface="Calibri" pitchFamily="34" charset="-122"/>
                <a:cs typeface="Calibri" pitchFamily="34" charset="-120"/>
              </a:rPr>
              <a:t>EVIDENCE</a:t>
            </a:r>
            <a:endParaRPr lang="en-US" sz="1200" dirty="0"/>
          </a:p>
        </p:txBody>
      </p:sp>
      <p:sp>
        <p:nvSpPr>
          <p:cNvPr id="10" name="Text 8"/>
          <p:cNvSpPr/>
          <p:nvPr/>
        </p:nvSpPr>
        <p:spPr>
          <a:xfrm>
            <a:off x="4953000" y="1657350"/>
            <a:ext cx="3524250" cy="22860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1C7293"/>
                </a:solidFill>
                <a:latin typeface="Calibri" pitchFamily="34" charset="0"/>
                <a:ea typeface="Calibri" pitchFamily="34" charset="-122"/>
                <a:cs typeface="Calibri" pitchFamily="34" charset="-120"/>
              </a:rPr>
              <a:t>TECHNICAL REASON</a:t>
            </a:r>
            <a:endParaRPr lang="en-US" sz="1200" dirty="0"/>
          </a:p>
        </p:txBody>
      </p:sp>
      <p:sp>
        <p:nvSpPr>
          <p:cNvPr id="11" name="Text 9"/>
          <p:cNvSpPr/>
          <p:nvPr/>
        </p:nvSpPr>
        <p:spPr>
          <a:xfrm>
            <a:off x="8572500" y="1657350"/>
            <a:ext cx="2952750" cy="22860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1C7293"/>
                </a:solidFill>
                <a:latin typeface="Calibri" pitchFamily="34" charset="0"/>
                <a:ea typeface="Calibri" pitchFamily="34" charset="-122"/>
                <a:cs typeface="Calibri" pitchFamily="34" charset="-120"/>
              </a:rPr>
              <a:t>IMPLICATION</a:t>
            </a:r>
            <a:endParaRPr lang="en-US" sz="1200" dirty="0"/>
          </a:p>
        </p:txBody>
      </p:sp>
      <p:sp>
        <p:nvSpPr>
          <p:cNvPr id="12" name="Shape 10"/>
          <p:cNvSpPr/>
          <p:nvPr/>
        </p:nvSpPr>
        <p:spPr>
          <a:xfrm>
            <a:off x="571500" y="1914525"/>
            <a:ext cx="11049000" cy="11430"/>
          </a:xfrm>
          <a:prstGeom prst="rect">
            <a:avLst/>
          </a:prstGeom>
          <a:solidFill>
            <a:srgbClr val="D7E1EA"/>
          </a:solidFill>
          <a:ln/>
        </p:spPr>
        <p:txBody>
          <a:bodyPr/>
          <a:lstStyle/>
          <a:p>
            <a:endParaRPr lang="en-IN"/>
          </a:p>
        </p:txBody>
      </p:sp>
      <p:sp>
        <p:nvSpPr>
          <p:cNvPr id="13" name="Text 11"/>
          <p:cNvSpPr/>
          <p:nvPr/>
        </p:nvSpPr>
        <p:spPr>
          <a:xfrm>
            <a:off x="666750" y="2038350"/>
            <a:ext cx="2857500" cy="609600"/>
          </a:xfrm>
          <a:prstGeom prst="rect">
            <a:avLst/>
          </a:prstGeom>
          <a:noFill/>
          <a:ln/>
        </p:spPr>
        <p:txBody>
          <a:bodyPr wrap="square" lIns="0" tIns="0" rIns="0" bIns="0" rtlCol="0" anchor="t">
            <a:normAutofit/>
          </a:bodyPr>
          <a:lstStyle/>
          <a:p>
            <a:pPr marL="0" indent="0" algn="l">
              <a:lnSpc>
                <a:spcPct val="100000"/>
              </a:lnSpc>
              <a:buNone/>
            </a:pPr>
            <a:r>
              <a:rPr lang="en-US" sz="1340" b="1" dirty="0">
                <a:solidFill>
                  <a:srgbClr val="12263A"/>
                </a:solidFill>
                <a:latin typeface="Cambria" pitchFamily="34" charset="0"/>
                <a:ea typeface="Cambria" pitchFamily="34" charset="-122"/>
                <a:cs typeface="Cambria" pitchFamily="34" charset="-120"/>
              </a:rPr>
              <a:t>Planned boundary-clock replacement is classified as an attack</a:t>
            </a:r>
            <a:endParaRPr lang="en-US" sz="1340" dirty="0"/>
          </a:p>
        </p:txBody>
      </p:sp>
      <p:sp>
        <p:nvSpPr>
          <p:cNvPr id="14" name="Shape 12"/>
          <p:cNvSpPr/>
          <p:nvPr/>
        </p:nvSpPr>
        <p:spPr>
          <a:xfrm>
            <a:off x="3619500" y="2076450"/>
            <a:ext cx="1143000" cy="247650"/>
          </a:xfrm>
          <a:prstGeom prst="roundRect">
            <a:avLst>
              <a:gd name="adj" fmla="val 14769"/>
            </a:avLst>
          </a:prstGeom>
          <a:solidFill>
            <a:srgbClr val="EAF2F8"/>
          </a:solidFill>
          <a:ln w="12700">
            <a:solidFill>
              <a:srgbClr val="D7E1EA"/>
            </a:solidFill>
            <a:prstDash val="solid"/>
          </a:ln>
        </p:spPr>
        <p:txBody>
          <a:bodyPr/>
          <a:lstStyle/>
          <a:p>
            <a:endParaRPr lang="en-IN"/>
          </a:p>
        </p:txBody>
      </p:sp>
      <p:sp>
        <p:nvSpPr>
          <p:cNvPr id="15" name="Text 13"/>
          <p:cNvSpPr/>
          <p:nvPr/>
        </p:nvSpPr>
        <p:spPr>
          <a:xfrm>
            <a:off x="3619500" y="2124075"/>
            <a:ext cx="1143000" cy="190500"/>
          </a:xfrm>
          <a:prstGeom prst="rect">
            <a:avLst/>
          </a:prstGeom>
          <a:noFill/>
          <a:ln/>
        </p:spPr>
        <p:txBody>
          <a:bodyPr wrap="square" lIns="0" tIns="0" rIns="0" bIns="0" rtlCol="0" anchor="t">
            <a:normAutofit/>
          </a:bodyPr>
          <a:lstStyle/>
          <a:p>
            <a:pPr marL="0" indent="0" algn="ctr">
              <a:lnSpc>
                <a:spcPct val="100000"/>
              </a:lnSpc>
              <a:buNone/>
            </a:pPr>
            <a:r>
              <a:rPr lang="en-US" sz="1150" b="1" dirty="0">
                <a:solidFill>
                  <a:srgbClr val="1C7293"/>
                </a:solidFill>
                <a:latin typeface="Calibri" pitchFamily="34" charset="0"/>
                <a:ea typeface="Calibri" pitchFamily="34" charset="-122"/>
                <a:cs typeface="Calibri" pitchFamily="34" charset="-120"/>
              </a:rPr>
              <a:t>0/12 runs</a:t>
            </a:r>
            <a:endParaRPr lang="en-US" sz="1150" dirty="0"/>
          </a:p>
        </p:txBody>
      </p:sp>
      <p:sp>
        <p:nvSpPr>
          <p:cNvPr id="16" name="Text 14"/>
          <p:cNvSpPr/>
          <p:nvPr/>
        </p:nvSpPr>
        <p:spPr>
          <a:xfrm>
            <a:off x="4953000" y="2028825"/>
            <a:ext cx="3524250" cy="685800"/>
          </a:xfrm>
          <a:prstGeom prst="rect">
            <a:avLst/>
          </a:prstGeom>
          <a:noFill/>
          <a:ln/>
        </p:spPr>
        <p:txBody>
          <a:bodyPr wrap="square" lIns="0" tIns="0" rIns="0" bIns="0" rtlCol="0" anchor="t">
            <a:normAutofit/>
          </a:bodyPr>
          <a:lstStyle/>
          <a:p>
            <a:pPr marL="0" indent="0" algn="l">
              <a:lnSpc>
                <a:spcPct val="100000"/>
              </a:lnSpc>
              <a:buNone/>
            </a:pPr>
            <a:r>
              <a:rPr lang="en-US" sz="1220" dirty="0">
                <a:solidFill>
                  <a:srgbClr val="5B6B7C"/>
                </a:solidFill>
                <a:latin typeface="Calibri" pitchFamily="34" charset="0"/>
                <a:ea typeface="Calibri" pitchFamily="34" charset="-122"/>
                <a:cs typeface="Calibri" pitchFamily="34" charset="-120"/>
              </a:rPr>
              <a:t>The provisioned context holds a single expected boundary-clock identity, so a legitimate replacement relay is indistinguishable from an unauthorised one.</a:t>
            </a:r>
            <a:endParaRPr lang="en-US" sz="1220" dirty="0"/>
          </a:p>
        </p:txBody>
      </p:sp>
      <p:sp>
        <p:nvSpPr>
          <p:cNvPr id="17" name="Text 15"/>
          <p:cNvSpPr/>
          <p:nvPr/>
        </p:nvSpPr>
        <p:spPr>
          <a:xfrm>
            <a:off x="8572500" y="2028825"/>
            <a:ext cx="2952750" cy="685800"/>
          </a:xfrm>
          <a:prstGeom prst="rect">
            <a:avLst/>
          </a:prstGeom>
          <a:noFill/>
          <a:ln/>
        </p:spPr>
        <p:txBody>
          <a:bodyPr wrap="square" lIns="0" tIns="0" rIns="0" bIns="0" rtlCol="0" anchor="t">
            <a:normAutofit/>
          </a:bodyPr>
          <a:lstStyle/>
          <a:p>
            <a:pPr marL="0" indent="0" algn="l">
              <a:lnSpc>
                <a:spcPct val="100000"/>
              </a:lnSpc>
              <a:buNone/>
            </a:pPr>
            <a:r>
              <a:rPr lang="en-US" sz="1220" dirty="0">
                <a:solidFill>
                  <a:srgbClr val="12263A"/>
                </a:solidFill>
                <a:latin typeface="Calibri" pitchFamily="34" charset="0"/>
                <a:ea typeface="Calibri" pitchFamily="34" charset="-122"/>
                <a:cs typeface="Calibri" pitchFamily="34" charset="-120"/>
              </a:rPr>
              <a:t>Produces 12 false ATTACK calls and dominates the 0.783 specificity. Excluding it, benign classification is 47/48 = 0.979.</a:t>
            </a:r>
            <a:endParaRPr lang="en-US" sz="1220" dirty="0"/>
          </a:p>
        </p:txBody>
      </p:sp>
      <p:sp>
        <p:nvSpPr>
          <p:cNvPr id="18" name="Shape 16"/>
          <p:cNvSpPr/>
          <p:nvPr/>
        </p:nvSpPr>
        <p:spPr>
          <a:xfrm>
            <a:off x="571500" y="2762250"/>
            <a:ext cx="11049000" cy="11430"/>
          </a:xfrm>
          <a:prstGeom prst="rect">
            <a:avLst/>
          </a:prstGeom>
          <a:solidFill>
            <a:srgbClr val="D7E1EA"/>
          </a:solidFill>
          <a:ln/>
        </p:spPr>
        <p:txBody>
          <a:bodyPr/>
          <a:lstStyle/>
          <a:p>
            <a:endParaRPr lang="en-IN"/>
          </a:p>
        </p:txBody>
      </p:sp>
      <p:sp>
        <p:nvSpPr>
          <p:cNvPr id="19" name="Text 17"/>
          <p:cNvSpPr/>
          <p:nvPr/>
        </p:nvSpPr>
        <p:spPr>
          <a:xfrm>
            <a:off x="666750" y="2857500"/>
            <a:ext cx="2857500" cy="609600"/>
          </a:xfrm>
          <a:prstGeom prst="rect">
            <a:avLst/>
          </a:prstGeom>
          <a:noFill/>
          <a:ln/>
        </p:spPr>
        <p:txBody>
          <a:bodyPr wrap="square" lIns="0" tIns="0" rIns="0" bIns="0" rtlCol="0" anchor="t">
            <a:normAutofit/>
          </a:bodyPr>
          <a:lstStyle/>
          <a:p>
            <a:pPr marL="0" indent="0" algn="l">
              <a:lnSpc>
                <a:spcPct val="100000"/>
              </a:lnSpc>
              <a:buNone/>
            </a:pPr>
            <a:r>
              <a:rPr lang="en-US" sz="1340" b="1" dirty="0">
                <a:solidFill>
                  <a:srgbClr val="12263A"/>
                </a:solidFill>
                <a:latin typeface="Cambria" pitchFamily="34" charset="0"/>
                <a:ea typeface="Cambria" pitchFamily="34" charset="-122"/>
                <a:cs typeface="Cambria" pitchFamily="34" charset="-120"/>
              </a:rPr>
              <a:t>Sustained interception below roughly 60 % evades detection</a:t>
            </a:r>
            <a:endParaRPr lang="en-US" sz="1340" dirty="0"/>
          </a:p>
        </p:txBody>
      </p:sp>
      <p:sp>
        <p:nvSpPr>
          <p:cNvPr id="20" name="Shape 18"/>
          <p:cNvSpPr/>
          <p:nvPr/>
        </p:nvSpPr>
        <p:spPr>
          <a:xfrm>
            <a:off x="3619500" y="2895600"/>
            <a:ext cx="1143000" cy="247650"/>
          </a:xfrm>
          <a:prstGeom prst="roundRect">
            <a:avLst>
              <a:gd name="adj" fmla="val 14769"/>
            </a:avLst>
          </a:prstGeom>
          <a:solidFill>
            <a:srgbClr val="EAF2F8"/>
          </a:solidFill>
          <a:ln w="12700">
            <a:solidFill>
              <a:srgbClr val="D7E1EA"/>
            </a:solidFill>
            <a:prstDash val="solid"/>
          </a:ln>
        </p:spPr>
        <p:txBody>
          <a:bodyPr/>
          <a:lstStyle/>
          <a:p>
            <a:endParaRPr lang="en-IN"/>
          </a:p>
        </p:txBody>
      </p:sp>
      <p:sp>
        <p:nvSpPr>
          <p:cNvPr id="21" name="Text 19"/>
          <p:cNvSpPr/>
          <p:nvPr/>
        </p:nvSpPr>
        <p:spPr>
          <a:xfrm>
            <a:off x="3619500" y="2943225"/>
            <a:ext cx="1143000" cy="190500"/>
          </a:xfrm>
          <a:prstGeom prst="rect">
            <a:avLst/>
          </a:prstGeom>
          <a:noFill/>
          <a:ln/>
        </p:spPr>
        <p:txBody>
          <a:bodyPr wrap="square" lIns="0" tIns="0" rIns="0" bIns="0" rtlCol="0" anchor="t">
            <a:normAutofit/>
          </a:bodyPr>
          <a:lstStyle/>
          <a:p>
            <a:pPr marL="0" indent="0" algn="ctr">
              <a:lnSpc>
                <a:spcPct val="100000"/>
              </a:lnSpc>
              <a:buNone/>
            </a:pPr>
            <a:r>
              <a:rPr lang="en-US" sz="1150" b="1" dirty="0">
                <a:solidFill>
                  <a:srgbClr val="1C7293"/>
                </a:solidFill>
                <a:latin typeface="Calibri" pitchFamily="34" charset="0"/>
                <a:ea typeface="Calibri" pitchFamily="34" charset="-122"/>
                <a:cs typeface="Calibri" pitchFamily="34" charset="-120"/>
              </a:rPr>
              <a:t>1 of 12 C1 runs</a:t>
            </a:r>
            <a:endParaRPr lang="en-US" sz="1150" dirty="0"/>
          </a:p>
        </p:txBody>
      </p:sp>
      <p:sp>
        <p:nvSpPr>
          <p:cNvPr id="22" name="Text 20"/>
          <p:cNvSpPr/>
          <p:nvPr/>
        </p:nvSpPr>
        <p:spPr>
          <a:xfrm>
            <a:off x="4953000" y="2847975"/>
            <a:ext cx="3524250" cy="685800"/>
          </a:xfrm>
          <a:prstGeom prst="rect">
            <a:avLst/>
          </a:prstGeom>
          <a:noFill/>
          <a:ln/>
        </p:spPr>
        <p:txBody>
          <a:bodyPr wrap="square" lIns="0" tIns="0" rIns="0" bIns="0" rtlCol="0" anchor="t">
            <a:normAutofit/>
          </a:bodyPr>
          <a:lstStyle/>
          <a:p>
            <a:pPr marL="0" indent="0" algn="l">
              <a:lnSpc>
                <a:spcPct val="100000"/>
              </a:lnSpc>
              <a:buNone/>
            </a:pPr>
            <a:r>
              <a:rPr lang="en-US" sz="1220" dirty="0">
                <a:solidFill>
                  <a:srgbClr val="5B6B7C"/>
                </a:solidFill>
                <a:latin typeface="Calibri" pitchFamily="34" charset="0"/>
                <a:ea typeface="Calibri" pitchFamily="34" charset="-122"/>
                <a:cs typeface="Calibri" pitchFamily="34" charset="-120"/>
              </a:rPr>
              <a:t>The rate-starvation clause fires below a 0.500 delivered-to-declared ratio; a 60 % blackhole yields 0.5049 and stays above it.</a:t>
            </a:r>
            <a:endParaRPr lang="en-US" sz="1220" dirty="0"/>
          </a:p>
        </p:txBody>
      </p:sp>
      <p:sp>
        <p:nvSpPr>
          <p:cNvPr id="23" name="Text 21"/>
          <p:cNvSpPr/>
          <p:nvPr/>
        </p:nvSpPr>
        <p:spPr>
          <a:xfrm>
            <a:off x="8572500" y="2847975"/>
            <a:ext cx="2952750" cy="685800"/>
          </a:xfrm>
          <a:prstGeom prst="rect">
            <a:avLst/>
          </a:prstGeom>
          <a:noFill/>
          <a:ln/>
        </p:spPr>
        <p:txBody>
          <a:bodyPr wrap="square" lIns="0" tIns="0" rIns="0" bIns="0" rtlCol="0" anchor="t">
            <a:normAutofit/>
          </a:bodyPr>
          <a:lstStyle/>
          <a:p>
            <a:pPr marL="0" indent="0" algn="l">
              <a:lnSpc>
                <a:spcPct val="100000"/>
              </a:lnSpc>
              <a:buNone/>
            </a:pPr>
            <a:r>
              <a:rPr lang="en-US" sz="1220" dirty="0">
                <a:solidFill>
                  <a:srgbClr val="12263A"/>
                </a:solidFill>
                <a:latin typeface="Calibri" pitchFamily="34" charset="0"/>
                <a:ea typeface="Calibri" pitchFamily="34" charset="-122"/>
                <a:cs typeface="Calibri" pitchFamily="34" charset="-120"/>
              </a:rPr>
              <a:t>An attacker who paces interception under the threshold is not detected by a rate-based clause alone.</a:t>
            </a:r>
            <a:endParaRPr lang="en-US" sz="1220" dirty="0"/>
          </a:p>
        </p:txBody>
      </p:sp>
      <p:sp>
        <p:nvSpPr>
          <p:cNvPr id="24" name="Shape 22"/>
          <p:cNvSpPr/>
          <p:nvPr/>
        </p:nvSpPr>
        <p:spPr>
          <a:xfrm>
            <a:off x="571500" y="3581400"/>
            <a:ext cx="11049000" cy="11430"/>
          </a:xfrm>
          <a:prstGeom prst="rect">
            <a:avLst/>
          </a:prstGeom>
          <a:solidFill>
            <a:srgbClr val="D7E1EA"/>
          </a:solidFill>
          <a:ln/>
        </p:spPr>
        <p:txBody>
          <a:bodyPr/>
          <a:lstStyle/>
          <a:p>
            <a:endParaRPr lang="en-IN"/>
          </a:p>
        </p:txBody>
      </p:sp>
      <p:sp>
        <p:nvSpPr>
          <p:cNvPr id="25" name="Text 23"/>
          <p:cNvSpPr/>
          <p:nvPr/>
        </p:nvSpPr>
        <p:spPr>
          <a:xfrm>
            <a:off x="666750" y="3676650"/>
            <a:ext cx="2857500" cy="609600"/>
          </a:xfrm>
          <a:prstGeom prst="rect">
            <a:avLst/>
          </a:prstGeom>
          <a:noFill/>
          <a:ln/>
        </p:spPr>
        <p:txBody>
          <a:bodyPr wrap="square" lIns="0" tIns="0" rIns="0" bIns="0" rtlCol="0" anchor="t">
            <a:normAutofit/>
          </a:bodyPr>
          <a:lstStyle/>
          <a:p>
            <a:pPr marL="0" indent="0" algn="l">
              <a:lnSpc>
                <a:spcPct val="100000"/>
              </a:lnSpc>
              <a:buNone/>
            </a:pPr>
            <a:r>
              <a:rPr lang="en-US" sz="1340" b="1" dirty="0">
                <a:solidFill>
                  <a:srgbClr val="12263A"/>
                </a:solidFill>
                <a:latin typeface="Cambria" pitchFamily="34" charset="0"/>
                <a:ea typeface="Cambria" pitchFamily="34" charset="-122"/>
                <a:cs typeface="Cambria" pitchFamily="34" charset="-120"/>
              </a:rPr>
              <a:t>Coherent GNSS spoofing is not establishable here</a:t>
            </a:r>
            <a:endParaRPr lang="en-US" sz="1340" dirty="0"/>
          </a:p>
        </p:txBody>
      </p:sp>
      <p:sp>
        <p:nvSpPr>
          <p:cNvPr id="26" name="Shape 24"/>
          <p:cNvSpPr/>
          <p:nvPr/>
        </p:nvSpPr>
        <p:spPr>
          <a:xfrm>
            <a:off x="3619500" y="3714750"/>
            <a:ext cx="1143000" cy="247650"/>
          </a:xfrm>
          <a:prstGeom prst="roundRect">
            <a:avLst>
              <a:gd name="adj" fmla="val 14769"/>
            </a:avLst>
          </a:prstGeom>
          <a:solidFill>
            <a:srgbClr val="EAF2F8"/>
          </a:solidFill>
          <a:ln w="12700">
            <a:solidFill>
              <a:srgbClr val="D7E1EA"/>
            </a:solidFill>
            <a:prstDash val="solid"/>
          </a:ln>
        </p:spPr>
        <p:txBody>
          <a:bodyPr/>
          <a:lstStyle/>
          <a:p>
            <a:endParaRPr lang="en-IN"/>
          </a:p>
        </p:txBody>
      </p:sp>
      <p:sp>
        <p:nvSpPr>
          <p:cNvPr id="27" name="Text 25"/>
          <p:cNvSpPr/>
          <p:nvPr/>
        </p:nvSpPr>
        <p:spPr>
          <a:xfrm>
            <a:off x="3619500" y="3762375"/>
            <a:ext cx="1143000" cy="190500"/>
          </a:xfrm>
          <a:prstGeom prst="rect">
            <a:avLst/>
          </a:prstGeom>
          <a:noFill/>
          <a:ln/>
        </p:spPr>
        <p:txBody>
          <a:bodyPr wrap="square" lIns="0" tIns="0" rIns="0" bIns="0" rtlCol="0" anchor="t">
            <a:normAutofit/>
          </a:bodyPr>
          <a:lstStyle/>
          <a:p>
            <a:pPr marL="0" indent="0" algn="ctr">
              <a:lnSpc>
                <a:spcPct val="100000"/>
              </a:lnSpc>
              <a:buNone/>
            </a:pPr>
            <a:r>
              <a:rPr lang="en-US" sz="1150" b="1" dirty="0">
                <a:solidFill>
                  <a:srgbClr val="1C7293"/>
                </a:solidFill>
                <a:latin typeface="Calibri" pitchFamily="34" charset="0"/>
                <a:ea typeface="Calibri" pitchFamily="34" charset="-122"/>
                <a:cs typeface="Calibri" pitchFamily="34" charset="-120"/>
              </a:rPr>
              <a:t>testbed limit</a:t>
            </a:r>
            <a:endParaRPr lang="en-US" sz="1150" dirty="0"/>
          </a:p>
        </p:txBody>
      </p:sp>
      <p:sp>
        <p:nvSpPr>
          <p:cNvPr id="28" name="Text 26"/>
          <p:cNvSpPr/>
          <p:nvPr/>
        </p:nvSpPr>
        <p:spPr>
          <a:xfrm>
            <a:off x="4953000" y="3667125"/>
            <a:ext cx="3524250" cy="685800"/>
          </a:xfrm>
          <a:prstGeom prst="rect">
            <a:avLst/>
          </a:prstGeom>
          <a:noFill/>
          <a:ln/>
        </p:spPr>
        <p:txBody>
          <a:bodyPr wrap="square" lIns="0" tIns="0" rIns="0" bIns="0" rtlCol="0" anchor="t">
            <a:normAutofit/>
          </a:bodyPr>
          <a:lstStyle/>
          <a:p>
            <a:pPr marL="0" indent="0" algn="l">
              <a:lnSpc>
                <a:spcPct val="100000"/>
              </a:lnSpc>
              <a:buNone/>
            </a:pPr>
            <a:r>
              <a:rPr lang="en-US" sz="1220" dirty="0">
                <a:solidFill>
                  <a:srgbClr val="5B6B7C"/>
                </a:solidFill>
                <a:latin typeface="Calibri" pitchFamily="34" charset="0"/>
                <a:ea typeface="Calibri" pitchFamily="34" charset="-122"/>
                <a:cs typeface="Calibri" pitchFamily="34" charset="-120"/>
              </a:rPr>
              <a:t>Downstream PTP telemetry cannot separate a perfectly-mimicking spoof from a healthy clock; receiver RF observables, multi-antenna geometry or an independent time anchor are required.</a:t>
            </a:r>
            <a:endParaRPr lang="en-US" sz="1220" dirty="0"/>
          </a:p>
        </p:txBody>
      </p:sp>
      <p:sp>
        <p:nvSpPr>
          <p:cNvPr id="29" name="Text 27"/>
          <p:cNvSpPr/>
          <p:nvPr/>
        </p:nvSpPr>
        <p:spPr>
          <a:xfrm>
            <a:off x="8572500" y="3667125"/>
            <a:ext cx="2952750" cy="685800"/>
          </a:xfrm>
          <a:prstGeom prst="rect">
            <a:avLst/>
          </a:prstGeom>
          <a:noFill/>
          <a:ln/>
        </p:spPr>
        <p:txBody>
          <a:bodyPr wrap="square" lIns="0" tIns="0" rIns="0" bIns="0" rtlCol="0" anchor="t">
            <a:normAutofit/>
          </a:bodyPr>
          <a:lstStyle/>
          <a:p>
            <a:pPr marL="0" indent="0" algn="l">
              <a:lnSpc>
                <a:spcPct val="100000"/>
              </a:lnSpc>
              <a:buNone/>
            </a:pPr>
            <a:r>
              <a:rPr lang="en-US" sz="1220" dirty="0">
                <a:solidFill>
                  <a:srgbClr val="12263A"/>
                </a:solidFill>
                <a:latin typeface="Calibri" pitchFamily="34" charset="0"/>
                <a:ea typeface="Calibri" pitchFamily="34" charset="-122"/>
                <a:cs typeface="Calibri" pitchFamily="34" charset="-120"/>
              </a:rPr>
              <a:t>No claim is made about GNSS spoof detection. The limit is on PTP-layer features, not on software in general.</a:t>
            </a:r>
            <a:endParaRPr lang="en-US" sz="1220" dirty="0"/>
          </a:p>
        </p:txBody>
      </p:sp>
      <p:sp>
        <p:nvSpPr>
          <p:cNvPr id="30" name="Shape 28"/>
          <p:cNvSpPr/>
          <p:nvPr/>
        </p:nvSpPr>
        <p:spPr>
          <a:xfrm>
            <a:off x="571500" y="4400550"/>
            <a:ext cx="11049000" cy="11430"/>
          </a:xfrm>
          <a:prstGeom prst="rect">
            <a:avLst/>
          </a:prstGeom>
          <a:solidFill>
            <a:srgbClr val="D7E1EA"/>
          </a:solidFill>
          <a:ln/>
        </p:spPr>
        <p:txBody>
          <a:bodyPr/>
          <a:lstStyle/>
          <a:p>
            <a:endParaRPr lang="en-IN"/>
          </a:p>
        </p:txBody>
      </p:sp>
      <p:sp>
        <p:nvSpPr>
          <p:cNvPr id="31" name="Text 29"/>
          <p:cNvSpPr/>
          <p:nvPr/>
        </p:nvSpPr>
        <p:spPr>
          <a:xfrm>
            <a:off x="666750" y="4495800"/>
            <a:ext cx="2857500" cy="609600"/>
          </a:xfrm>
          <a:prstGeom prst="rect">
            <a:avLst/>
          </a:prstGeom>
          <a:noFill/>
          <a:ln/>
        </p:spPr>
        <p:txBody>
          <a:bodyPr wrap="square" lIns="0" tIns="0" rIns="0" bIns="0" rtlCol="0" anchor="t">
            <a:normAutofit/>
          </a:bodyPr>
          <a:lstStyle/>
          <a:p>
            <a:pPr marL="0" indent="0" algn="l">
              <a:lnSpc>
                <a:spcPct val="100000"/>
              </a:lnSpc>
              <a:buNone/>
            </a:pPr>
            <a:r>
              <a:rPr lang="en-US" sz="1340" b="1" dirty="0">
                <a:solidFill>
                  <a:srgbClr val="12263A"/>
                </a:solidFill>
                <a:latin typeface="Cambria" pitchFamily="34" charset="0"/>
                <a:ea typeface="Cambria" pitchFamily="34" charset="-122"/>
                <a:cs typeface="Cambria" pitchFamily="34" charset="-120"/>
              </a:rPr>
              <a:t>Held-out evidence is small and partly incomplete</a:t>
            </a:r>
            <a:endParaRPr lang="en-US" sz="1340" dirty="0"/>
          </a:p>
        </p:txBody>
      </p:sp>
      <p:sp>
        <p:nvSpPr>
          <p:cNvPr id="32" name="Shape 30"/>
          <p:cNvSpPr/>
          <p:nvPr/>
        </p:nvSpPr>
        <p:spPr>
          <a:xfrm>
            <a:off x="3619500" y="4533900"/>
            <a:ext cx="1143000" cy="247650"/>
          </a:xfrm>
          <a:prstGeom prst="roundRect">
            <a:avLst>
              <a:gd name="adj" fmla="val 14769"/>
            </a:avLst>
          </a:prstGeom>
          <a:solidFill>
            <a:srgbClr val="EAF2F8"/>
          </a:solidFill>
          <a:ln w="12700">
            <a:solidFill>
              <a:srgbClr val="D7E1EA"/>
            </a:solidFill>
            <a:prstDash val="solid"/>
          </a:ln>
        </p:spPr>
        <p:txBody>
          <a:bodyPr/>
          <a:lstStyle/>
          <a:p>
            <a:endParaRPr lang="en-IN"/>
          </a:p>
        </p:txBody>
      </p:sp>
      <p:sp>
        <p:nvSpPr>
          <p:cNvPr id="33" name="Text 31"/>
          <p:cNvSpPr/>
          <p:nvPr/>
        </p:nvSpPr>
        <p:spPr>
          <a:xfrm>
            <a:off x="3619500" y="4581525"/>
            <a:ext cx="1143000" cy="190500"/>
          </a:xfrm>
          <a:prstGeom prst="rect">
            <a:avLst/>
          </a:prstGeom>
          <a:noFill/>
          <a:ln/>
        </p:spPr>
        <p:txBody>
          <a:bodyPr wrap="square" lIns="0" tIns="0" rIns="0" bIns="0" rtlCol="0" anchor="t">
            <a:normAutofit/>
          </a:bodyPr>
          <a:lstStyle/>
          <a:p>
            <a:pPr marL="0" indent="0" algn="ctr">
              <a:lnSpc>
                <a:spcPct val="100000"/>
              </a:lnSpc>
              <a:buNone/>
            </a:pPr>
            <a:r>
              <a:rPr lang="en-US" sz="1150" b="1" dirty="0">
                <a:solidFill>
                  <a:srgbClr val="1C7293"/>
                </a:solidFill>
                <a:latin typeface="Calibri" pitchFamily="34" charset="0"/>
                <a:ea typeface="Calibri" pitchFamily="34" charset="-122"/>
                <a:cs typeface="Calibri" pitchFamily="34" charset="-120"/>
              </a:rPr>
              <a:t>4 per scenario</a:t>
            </a:r>
            <a:endParaRPr lang="en-US" sz="1150" dirty="0"/>
          </a:p>
        </p:txBody>
      </p:sp>
      <p:sp>
        <p:nvSpPr>
          <p:cNvPr id="34" name="Text 32"/>
          <p:cNvSpPr/>
          <p:nvPr/>
        </p:nvSpPr>
        <p:spPr>
          <a:xfrm>
            <a:off x="4953000" y="4486275"/>
            <a:ext cx="3524250" cy="685800"/>
          </a:xfrm>
          <a:prstGeom prst="rect">
            <a:avLst/>
          </a:prstGeom>
          <a:noFill/>
          <a:ln/>
        </p:spPr>
        <p:txBody>
          <a:bodyPr wrap="square" lIns="0" tIns="0" rIns="0" bIns="0" rtlCol="0" anchor="t">
            <a:normAutofit/>
          </a:bodyPr>
          <a:lstStyle/>
          <a:p>
            <a:pPr marL="0" indent="0" algn="l">
              <a:lnSpc>
                <a:spcPct val="100000"/>
              </a:lnSpc>
              <a:buNone/>
            </a:pPr>
            <a:r>
              <a:rPr lang="en-US" sz="1220" dirty="0">
                <a:solidFill>
                  <a:srgbClr val="5B6B7C"/>
                </a:solidFill>
                <a:latin typeface="Calibri" pitchFamily="34" charset="0"/>
                <a:ea typeface="Calibri" pitchFamily="34" charset="-122"/>
                <a:cs typeface="Calibri" pitchFamily="34" charset="-120"/>
              </a:rPr>
              <a:t>Only four held-out replicates exist per scenario, and 48 of 168 runs lack pmc management telemetry.</a:t>
            </a:r>
            <a:endParaRPr lang="en-US" sz="1220" dirty="0"/>
          </a:p>
        </p:txBody>
      </p:sp>
      <p:sp>
        <p:nvSpPr>
          <p:cNvPr id="35" name="Text 33"/>
          <p:cNvSpPr/>
          <p:nvPr/>
        </p:nvSpPr>
        <p:spPr>
          <a:xfrm>
            <a:off x="8572500" y="4486275"/>
            <a:ext cx="2952750" cy="685800"/>
          </a:xfrm>
          <a:prstGeom prst="rect">
            <a:avLst/>
          </a:prstGeom>
          <a:noFill/>
          <a:ln/>
        </p:spPr>
        <p:txBody>
          <a:bodyPr wrap="square" lIns="0" tIns="0" rIns="0" bIns="0" rtlCol="0" anchor="t">
            <a:normAutofit/>
          </a:bodyPr>
          <a:lstStyle/>
          <a:p>
            <a:pPr marL="0" indent="0" algn="l">
              <a:lnSpc>
                <a:spcPct val="100000"/>
              </a:lnSpc>
              <a:buNone/>
            </a:pPr>
            <a:r>
              <a:rPr lang="en-US" sz="1220" dirty="0">
                <a:solidFill>
                  <a:srgbClr val="12263A"/>
                </a:solidFill>
                <a:latin typeface="Calibri" pitchFamily="34" charset="0"/>
                <a:ea typeface="Calibri" pitchFamily="34" charset="-122"/>
                <a:cs typeface="Calibri" pitchFamily="34" charset="-120"/>
              </a:rPr>
              <a:t>Confidence intervals are wide by construction, and the ML arm sees 6 of 28 configured features.</a:t>
            </a:r>
            <a:endParaRPr lang="en-US" sz="1220" dirty="0"/>
          </a:p>
        </p:txBody>
      </p:sp>
      <p:sp>
        <p:nvSpPr>
          <p:cNvPr id="36" name="Shape 34"/>
          <p:cNvSpPr/>
          <p:nvPr/>
        </p:nvSpPr>
        <p:spPr>
          <a:xfrm>
            <a:off x="571500" y="5219700"/>
            <a:ext cx="11049000" cy="11430"/>
          </a:xfrm>
          <a:prstGeom prst="rect">
            <a:avLst/>
          </a:prstGeom>
          <a:solidFill>
            <a:srgbClr val="D7E1EA"/>
          </a:solidFill>
          <a:ln/>
        </p:spPr>
        <p:txBody>
          <a:bodyPr/>
          <a:lstStyle/>
          <a:p>
            <a:endParaRPr lang="en-IN"/>
          </a:p>
        </p:txBody>
      </p:sp>
      <p:sp>
        <p:nvSpPr>
          <p:cNvPr id="37" name="Text 35"/>
          <p:cNvSpPr/>
          <p:nvPr/>
        </p:nvSpPr>
        <p:spPr>
          <a:xfrm>
            <a:off x="666750" y="5314950"/>
            <a:ext cx="2857500" cy="609600"/>
          </a:xfrm>
          <a:prstGeom prst="rect">
            <a:avLst/>
          </a:prstGeom>
          <a:noFill/>
          <a:ln/>
        </p:spPr>
        <p:txBody>
          <a:bodyPr wrap="square" lIns="0" tIns="0" rIns="0" bIns="0" rtlCol="0" anchor="t">
            <a:normAutofit/>
          </a:bodyPr>
          <a:lstStyle/>
          <a:p>
            <a:pPr marL="0" indent="0" algn="l">
              <a:lnSpc>
                <a:spcPct val="100000"/>
              </a:lnSpc>
              <a:buNone/>
            </a:pPr>
            <a:r>
              <a:rPr lang="en-US" sz="1340" b="1" dirty="0">
                <a:solidFill>
                  <a:srgbClr val="12263A"/>
                </a:solidFill>
                <a:latin typeface="Cambria" pitchFamily="34" charset="0"/>
                <a:ea typeface="Cambria" pitchFamily="34" charset="-122"/>
                <a:cs typeface="Cambria" pitchFamily="34" charset="-120"/>
              </a:rPr>
              <a:t>Replicate metadata is internally inconsistent</a:t>
            </a:r>
            <a:endParaRPr lang="en-US" sz="1340" dirty="0"/>
          </a:p>
        </p:txBody>
      </p:sp>
      <p:sp>
        <p:nvSpPr>
          <p:cNvPr id="38" name="Shape 36"/>
          <p:cNvSpPr/>
          <p:nvPr/>
        </p:nvSpPr>
        <p:spPr>
          <a:xfrm>
            <a:off x="3619500" y="5353050"/>
            <a:ext cx="1143000" cy="247650"/>
          </a:xfrm>
          <a:prstGeom prst="roundRect">
            <a:avLst>
              <a:gd name="adj" fmla="val 14769"/>
            </a:avLst>
          </a:prstGeom>
          <a:solidFill>
            <a:srgbClr val="EAF2F8"/>
          </a:solidFill>
          <a:ln w="12700">
            <a:solidFill>
              <a:srgbClr val="D7E1EA"/>
            </a:solidFill>
            <a:prstDash val="solid"/>
          </a:ln>
        </p:spPr>
        <p:txBody>
          <a:bodyPr/>
          <a:lstStyle/>
          <a:p>
            <a:endParaRPr lang="en-IN"/>
          </a:p>
        </p:txBody>
      </p:sp>
      <p:sp>
        <p:nvSpPr>
          <p:cNvPr id="39" name="Text 37"/>
          <p:cNvSpPr/>
          <p:nvPr/>
        </p:nvSpPr>
        <p:spPr>
          <a:xfrm>
            <a:off x="3619500" y="5400675"/>
            <a:ext cx="1143000" cy="190500"/>
          </a:xfrm>
          <a:prstGeom prst="rect">
            <a:avLst/>
          </a:prstGeom>
          <a:noFill/>
          <a:ln/>
        </p:spPr>
        <p:txBody>
          <a:bodyPr wrap="square" lIns="0" tIns="0" rIns="0" bIns="0" rtlCol="0" anchor="t">
            <a:normAutofit/>
          </a:bodyPr>
          <a:lstStyle/>
          <a:p>
            <a:pPr marL="0" indent="0" algn="ctr">
              <a:lnSpc>
                <a:spcPct val="100000"/>
              </a:lnSpc>
              <a:buNone/>
            </a:pPr>
            <a:r>
              <a:rPr lang="en-US" sz="1150" b="1" dirty="0">
                <a:solidFill>
                  <a:srgbClr val="1C7293"/>
                </a:solidFill>
                <a:latin typeface="Calibri" pitchFamily="34" charset="0"/>
                <a:ea typeface="Calibri" pitchFamily="34" charset="-122"/>
                <a:cs typeface="Calibri" pitchFamily="34" charset="-120"/>
              </a:rPr>
              <a:t>36 runs</a:t>
            </a:r>
            <a:endParaRPr lang="en-US" sz="1150" dirty="0"/>
          </a:p>
        </p:txBody>
      </p:sp>
      <p:sp>
        <p:nvSpPr>
          <p:cNvPr id="40" name="Text 38"/>
          <p:cNvSpPr/>
          <p:nvPr/>
        </p:nvSpPr>
        <p:spPr>
          <a:xfrm>
            <a:off x="4953000" y="5305425"/>
            <a:ext cx="3524250" cy="685800"/>
          </a:xfrm>
          <a:prstGeom prst="rect">
            <a:avLst/>
          </a:prstGeom>
          <a:noFill/>
          <a:ln/>
        </p:spPr>
        <p:txBody>
          <a:bodyPr wrap="square" lIns="0" tIns="0" rIns="0" bIns="0" rtlCol="0" anchor="t">
            <a:normAutofit/>
          </a:bodyPr>
          <a:lstStyle/>
          <a:p>
            <a:pPr marL="0" indent="0" algn="l">
              <a:lnSpc>
                <a:spcPct val="100000"/>
              </a:lnSpc>
              <a:buNone/>
            </a:pPr>
            <a:r>
              <a:rPr lang="en-US" sz="1220" dirty="0">
                <a:solidFill>
                  <a:srgbClr val="5B6B7C"/>
                </a:solidFill>
                <a:latin typeface="Calibri" pitchFamily="34" charset="0"/>
                <a:ea typeface="Calibri" pitchFamily="34" charset="-122"/>
                <a:cs typeface="Calibri" pitchFamily="34" charset="-120"/>
              </a:rPr>
              <a:t>Thirty-six C-series context files record replicate 901 rather than their true replicate number.</a:t>
            </a:r>
            <a:endParaRPr lang="en-US" sz="1220" dirty="0"/>
          </a:p>
        </p:txBody>
      </p:sp>
      <p:sp>
        <p:nvSpPr>
          <p:cNvPr id="41" name="Text 39"/>
          <p:cNvSpPr/>
          <p:nvPr/>
        </p:nvSpPr>
        <p:spPr>
          <a:xfrm>
            <a:off x="8572500" y="5305425"/>
            <a:ext cx="2952750" cy="685800"/>
          </a:xfrm>
          <a:prstGeom prst="rect">
            <a:avLst/>
          </a:prstGeom>
          <a:noFill/>
          <a:ln/>
        </p:spPr>
        <p:txBody>
          <a:bodyPr wrap="square" lIns="0" tIns="0" rIns="0" bIns="0" rtlCol="0" anchor="t">
            <a:normAutofit/>
          </a:bodyPr>
          <a:lstStyle/>
          <a:p>
            <a:pPr marL="0" indent="0" algn="l">
              <a:lnSpc>
                <a:spcPct val="100000"/>
              </a:lnSpc>
              <a:buNone/>
            </a:pPr>
            <a:r>
              <a:rPr lang="en-US" sz="1220" dirty="0">
                <a:solidFill>
                  <a:srgbClr val="12263A"/>
                </a:solidFill>
                <a:latin typeface="Calibri" pitchFamily="34" charset="0"/>
                <a:ea typeface="Calibri" pitchFamily="34" charset="-122"/>
                <a:cs typeface="Calibri" pitchFamily="34" charset="-120"/>
              </a:rPr>
              <a:t>The evaluation uses the replicate encoded in the directory name. This must be corrected before any fresh validation claim.</a:t>
            </a:r>
            <a:endParaRPr lang="en-US" sz="1220" dirty="0"/>
          </a:p>
        </p:txBody>
      </p:sp>
      <p:sp>
        <p:nvSpPr>
          <p:cNvPr id="42" name="Shape 40"/>
          <p:cNvSpPr/>
          <p:nvPr/>
        </p:nvSpPr>
        <p:spPr>
          <a:xfrm>
            <a:off x="571500" y="6038850"/>
            <a:ext cx="11049000" cy="11430"/>
          </a:xfrm>
          <a:prstGeom prst="rect">
            <a:avLst/>
          </a:prstGeom>
          <a:solidFill>
            <a:srgbClr val="D7E1EA"/>
          </a:solidFill>
          <a:ln/>
        </p:spPr>
        <p:txBody>
          <a:bodyPr/>
          <a:lstStyle/>
          <a:p>
            <a:endParaRPr lang="en-IN"/>
          </a:p>
        </p:txBody>
      </p:sp>
      <p:sp>
        <p:nvSpPr>
          <p:cNvPr id="43" name="Shape 41"/>
          <p:cNvSpPr/>
          <p:nvPr/>
        </p:nvSpPr>
        <p:spPr>
          <a:xfrm>
            <a:off x="571500" y="6096000"/>
            <a:ext cx="11049000" cy="533400"/>
          </a:xfrm>
          <a:prstGeom prst="roundRect">
            <a:avLst>
              <a:gd name="adj" fmla="val 6857"/>
            </a:avLst>
          </a:prstGeom>
          <a:solidFill>
            <a:srgbClr val="0E2440"/>
          </a:solidFill>
          <a:ln w="12700">
            <a:solidFill>
              <a:srgbClr val="0E2440"/>
            </a:solidFill>
            <a:prstDash val="solid"/>
          </a:ln>
        </p:spPr>
        <p:txBody>
          <a:bodyPr/>
          <a:lstStyle/>
          <a:p>
            <a:endParaRPr lang="en-IN"/>
          </a:p>
        </p:txBody>
      </p:sp>
      <p:sp>
        <p:nvSpPr>
          <p:cNvPr id="44" name="Text 42"/>
          <p:cNvSpPr/>
          <p:nvPr/>
        </p:nvSpPr>
        <p:spPr>
          <a:xfrm>
            <a:off x="781050" y="6210300"/>
            <a:ext cx="10629900" cy="323850"/>
          </a:xfrm>
          <a:prstGeom prst="rect">
            <a:avLst/>
          </a:prstGeom>
          <a:noFill/>
          <a:ln/>
        </p:spPr>
        <p:txBody>
          <a:bodyPr wrap="square" lIns="0" tIns="0" rIns="0" bIns="0" rtlCol="0" anchor="t">
            <a:normAutofit/>
          </a:bodyPr>
          <a:lstStyle/>
          <a:p>
            <a:pPr marL="0" indent="0" algn="l">
              <a:lnSpc>
                <a:spcPct val="100000"/>
              </a:lnSpc>
              <a:buNone/>
            </a:pPr>
            <a:r>
              <a:rPr lang="en-US" sz="1320" b="1" dirty="0">
                <a:solidFill>
                  <a:srgbClr val="FFFFFF"/>
                </a:solidFill>
                <a:latin typeface="Cambria" pitchFamily="34" charset="0"/>
                <a:ea typeface="Cambria" pitchFamily="34" charset="-122"/>
                <a:cs typeface="Cambria" pitchFamily="34" charset="-120"/>
              </a:rPr>
              <a:t>Each limitation is an experimental finding with a located cause, not a residual uncertainty. Four of the five have a defined software or hardware route to resolution, set out on the following slides.</a:t>
            </a:r>
            <a:endParaRPr lang="en-US" sz="132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8FAFC"/>
          </a:solidFill>
          <a:ln/>
        </p:spPr>
        <p:txBody>
          <a:bodyPr/>
          <a:lstStyle/>
          <a:p>
            <a:endParaRPr lang="en-IN"/>
          </a:p>
        </p:txBody>
      </p:sp>
      <p:sp>
        <p:nvSpPr>
          <p:cNvPr id="3" name="Shape 1"/>
          <p:cNvSpPr/>
          <p:nvPr/>
        </p:nvSpPr>
        <p:spPr>
          <a:xfrm>
            <a:off x="0" y="0"/>
            <a:ext cx="12192000" cy="114300"/>
          </a:xfrm>
          <a:prstGeom prst="rect">
            <a:avLst/>
          </a:prstGeom>
          <a:solidFill>
            <a:srgbClr val="18B89A"/>
          </a:solidFill>
          <a:ln/>
        </p:spPr>
        <p:txBody>
          <a:bodyPr/>
          <a:lstStyle/>
          <a:p>
            <a:endParaRPr lang="en-IN"/>
          </a:p>
        </p:txBody>
      </p:sp>
      <p:sp>
        <p:nvSpPr>
          <p:cNvPr id="4" name="Text 2"/>
          <p:cNvSpPr/>
          <p:nvPr/>
        </p:nvSpPr>
        <p:spPr>
          <a:xfrm>
            <a:off x="571500" y="209550"/>
            <a:ext cx="11049000" cy="228600"/>
          </a:xfrm>
          <a:prstGeom prst="rect">
            <a:avLst/>
          </a:prstGeom>
          <a:noFill/>
          <a:ln/>
        </p:spPr>
        <p:txBody>
          <a:bodyPr wrap="square" lIns="0" tIns="0" rIns="0" bIns="0" rtlCol="0" anchor="t">
            <a:normAutofit/>
          </a:bodyPr>
          <a:lstStyle/>
          <a:p>
            <a:pPr marL="0" indent="0" algn="l">
              <a:lnSpc>
                <a:spcPct val="100000"/>
              </a:lnSpc>
              <a:buNone/>
            </a:pPr>
            <a:r>
              <a:rPr lang="en-US" sz="1280" b="1" dirty="0">
                <a:solidFill>
                  <a:srgbClr val="1C7293"/>
                </a:solidFill>
                <a:latin typeface="Calibri" pitchFamily="34" charset="0"/>
                <a:ea typeface="Calibri" pitchFamily="34" charset="-122"/>
                <a:cs typeface="Calibri" pitchFamily="34" charset="-120"/>
              </a:rPr>
              <a:t>WORKLET STATUS</a:t>
            </a:r>
            <a:endParaRPr lang="en-US" sz="1280" dirty="0"/>
          </a:p>
        </p:txBody>
      </p:sp>
      <p:sp>
        <p:nvSpPr>
          <p:cNvPr id="5" name="Text 3"/>
          <p:cNvSpPr/>
          <p:nvPr/>
        </p:nvSpPr>
        <p:spPr>
          <a:xfrm>
            <a:off x="571500" y="447675"/>
            <a:ext cx="11049000" cy="552450"/>
          </a:xfrm>
          <a:prstGeom prst="rect">
            <a:avLst/>
          </a:prstGeom>
          <a:noFill/>
          <a:ln/>
        </p:spPr>
        <p:txBody>
          <a:bodyPr wrap="square" lIns="0" tIns="0" rIns="0" bIns="0" rtlCol="0" anchor="t">
            <a:normAutofit/>
          </a:bodyPr>
          <a:lstStyle/>
          <a:p>
            <a:pPr marL="0" indent="0" algn="l">
              <a:lnSpc>
                <a:spcPct val="100000"/>
              </a:lnSpc>
              <a:buNone/>
            </a:pPr>
            <a:r>
              <a:rPr lang="en-US" sz="3200" b="1" dirty="0">
                <a:solidFill>
                  <a:srgbClr val="12263A"/>
                </a:solidFill>
                <a:latin typeface="Cambria" pitchFamily="34" charset="0"/>
                <a:ea typeface="Cambria" pitchFamily="34" charset="-122"/>
                <a:cs typeface="Cambria" pitchFamily="34" charset="-120"/>
              </a:rPr>
              <a:t>Delivery Status and Objectives Not Yet Addressed</a:t>
            </a:r>
            <a:endParaRPr lang="en-US" sz="3200" dirty="0"/>
          </a:p>
        </p:txBody>
      </p:sp>
      <p:sp>
        <p:nvSpPr>
          <p:cNvPr id="6" name="Shape 4"/>
          <p:cNvSpPr/>
          <p:nvPr/>
        </p:nvSpPr>
        <p:spPr>
          <a:xfrm>
            <a:off x="571500" y="1057275"/>
            <a:ext cx="11049000" cy="438150"/>
          </a:xfrm>
          <a:prstGeom prst="roundRect">
            <a:avLst>
              <a:gd name="adj" fmla="val 8348"/>
            </a:avLst>
          </a:prstGeom>
          <a:solidFill>
            <a:srgbClr val="EAF2F8"/>
          </a:solidFill>
          <a:ln w="12700">
            <a:solidFill>
              <a:srgbClr val="D7E1EA"/>
            </a:solidFill>
            <a:prstDash val="solid"/>
          </a:ln>
        </p:spPr>
        <p:txBody>
          <a:bodyPr/>
          <a:lstStyle/>
          <a:p>
            <a:endParaRPr lang="en-IN"/>
          </a:p>
        </p:txBody>
      </p:sp>
      <p:sp>
        <p:nvSpPr>
          <p:cNvPr id="7" name="Text 5"/>
          <p:cNvSpPr/>
          <p:nvPr/>
        </p:nvSpPr>
        <p:spPr>
          <a:xfrm>
            <a:off x="723900" y="1123950"/>
            <a:ext cx="10744200" cy="323850"/>
          </a:xfrm>
          <a:prstGeom prst="rect">
            <a:avLst/>
          </a:prstGeom>
          <a:noFill/>
          <a:ln/>
        </p:spPr>
        <p:txBody>
          <a:bodyPr wrap="square" lIns="0" tIns="0" rIns="0" bIns="0" rtlCol="0" anchor="t">
            <a:normAutofit/>
          </a:bodyPr>
          <a:lstStyle/>
          <a:p>
            <a:pPr marL="0" indent="0" algn="l">
              <a:lnSpc>
                <a:spcPct val="102000"/>
              </a:lnSpc>
              <a:buNone/>
            </a:pPr>
            <a:r>
              <a:rPr lang="en-US" sz="1120" dirty="0">
                <a:solidFill>
                  <a:srgbClr val="5B6B7C"/>
                </a:solidFill>
                <a:latin typeface="Calibri" pitchFamily="34" charset="0"/>
                <a:ea typeface="Calibri" pitchFamily="34" charset="-122"/>
                <a:cs typeface="Calibri" pitchFamily="34" charset="-120"/>
              </a:rPr>
              <a:t>Status assessed against the original worklet milestone plan  |  Objective numbering follows the worklet definition reproduced on the opening slide</a:t>
            </a:r>
            <a:endParaRPr lang="en-US" sz="1120" dirty="0"/>
          </a:p>
        </p:txBody>
      </p:sp>
      <p:sp>
        <p:nvSpPr>
          <p:cNvPr id="8" name="Shape 6"/>
          <p:cNvSpPr/>
          <p:nvPr/>
        </p:nvSpPr>
        <p:spPr>
          <a:xfrm>
            <a:off x="571500" y="1638300"/>
            <a:ext cx="1047750" cy="228600"/>
          </a:xfrm>
          <a:prstGeom prst="roundRect">
            <a:avLst>
              <a:gd name="adj" fmla="val 16000"/>
            </a:avLst>
          </a:prstGeom>
          <a:solidFill>
            <a:srgbClr val="E3F3EA"/>
          </a:solidFill>
          <a:ln w="12700">
            <a:solidFill>
              <a:srgbClr val="1E8E5A"/>
            </a:solidFill>
            <a:prstDash val="solid"/>
          </a:ln>
        </p:spPr>
        <p:txBody>
          <a:bodyPr/>
          <a:lstStyle/>
          <a:p>
            <a:endParaRPr lang="en-IN"/>
          </a:p>
        </p:txBody>
      </p:sp>
      <p:sp>
        <p:nvSpPr>
          <p:cNvPr id="9" name="Text 7"/>
          <p:cNvSpPr/>
          <p:nvPr/>
        </p:nvSpPr>
        <p:spPr>
          <a:xfrm>
            <a:off x="571500" y="1685925"/>
            <a:ext cx="1047750" cy="152400"/>
          </a:xfrm>
          <a:prstGeom prst="rect">
            <a:avLst/>
          </a:prstGeom>
          <a:noFill/>
          <a:ln/>
        </p:spPr>
        <p:txBody>
          <a:bodyPr wrap="square" lIns="0" tIns="0" rIns="0" bIns="0" rtlCol="0" anchor="t">
            <a:normAutofit/>
          </a:bodyPr>
          <a:lstStyle/>
          <a:p>
            <a:pPr marL="0" indent="0" algn="ctr">
              <a:lnSpc>
                <a:spcPct val="100000"/>
              </a:lnSpc>
              <a:buNone/>
            </a:pPr>
            <a:r>
              <a:rPr lang="en-US" sz="1000" b="1" dirty="0">
                <a:solidFill>
                  <a:srgbClr val="1E8E5A"/>
                </a:solidFill>
                <a:latin typeface="Calibri" pitchFamily="34" charset="0"/>
                <a:ea typeface="Calibri" pitchFamily="34" charset="-122"/>
                <a:cs typeface="Calibri" pitchFamily="34" charset="-120"/>
              </a:rPr>
              <a:t>DONE</a:t>
            </a:r>
            <a:endParaRPr lang="en-US" sz="1000" dirty="0"/>
          </a:p>
        </p:txBody>
      </p:sp>
      <p:sp>
        <p:nvSpPr>
          <p:cNvPr id="10" name="Shape 8"/>
          <p:cNvSpPr/>
          <p:nvPr/>
        </p:nvSpPr>
        <p:spPr>
          <a:xfrm>
            <a:off x="1714500" y="1638300"/>
            <a:ext cx="1047750" cy="228600"/>
          </a:xfrm>
          <a:prstGeom prst="roundRect">
            <a:avLst>
              <a:gd name="adj" fmla="val 16000"/>
            </a:avLst>
          </a:prstGeom>
          <a:solidFill>
            <a:srgbClr val="FFF3D6"/>
          </a:solidFill>
          <a:ln w="12700">
            <a:solidFill>
              <a:srgbClr val="C58B18"/>
            </a:solidFill>
            <a:prstDash val="solid"/>
          </a:ln>
        </p:spPr>
        <p:txBody>
          <a:bodyPr/>
          <a:lstStyle/>
          <a:p>
            <a:endParaRPr lang="en-IN"/>
          </a:p>
        </p:txBody>
      </p:sp>
      <p:sp>
        <p:nvSpPr>
          <p:cNvPr id="11" name="Text 9"/>
          <p:cNvSpPr/>
          <p:nvPr/>
        </p:nvSpPr>
        <p:spPr>
          <a:xfrm>
            <a:off x="1714500" y="1685925"/>
            <a:ext cx="1047750" cy="152400"/>
          </a:xfrm>
          <a:prstGeom prst="rect">
            <a:avLst/>
          </a:prstGeom>
          <a:noFill/>
          <a:ln/>
        </p:spPr>
        <p:txBody>
          <a:bodyPr wrap="square" lIns="0" tIns="0" rIns="0" bIns="0" rtlCol="0" anchor="t">
            <a:normAutofit/>
          </a:bodyPr>
          <a:lstStyle/>
          <a:p>
            <a:pPr marL="0" indent="0" algn="ctr">
              <a:lnSpc>
                <a:spcPct val="100000"/>
              </a:lnSpc>
              <a:buNone/>
            </a:pPr>
            <a:r>
              <a:rPr lang="en-US" sz="1000" b="1" dirty="0">
                <a:solidFill>
                  <a:srgbClr val="C58B18"/>
                </a:solidFill>
                <a:latin typeface="Calibri" pitchFamily="34" charset="0"/>
                <a:ea typeface="Calibri" pitchFamily="34" charset="-122"/>
                <a:cs typeface="Calibri" pitchFamily="34" charset="-120"/>
              </a:rPr>
              <a:t>PARTIAL</a:t>
            </a:r>
            <a:endParaRPr lang="en-US" sz="1000" dirty="0"/>
          </a:p>
        </p:txBody>
      </p:sp>
      <p:sp>
        <p:nvSpPr>
          <p:cNvPr id="12" name="Shape 10"/>
          <p:cNvSpPr/>
          <p:nvPr/>
        </p:nvSpPr>
        <p:spPr>
          <a:xfrm>
            <a:off x="3048000" y="1638300"/>
            <a:ext cx="1047750" cy="228600"/>
          </a:xfrm>
          <a:prstGeom prst="roundRect">
            <a:avLst>
              <a:gd name="adj" fmla="val 16000"/>
            </a:avLst>
          </a:prstGeom>
          <a:solidFill>
            <a:srgbClr val="EEF1F4"/>
          </a:solidFill>
          <a:ln w="12700">
            <a:solidFill>
              <a:srgbClr val="5B6B7C"/>
            </a:solidFill>
            <a:prstDash val="solid"/>
          </a:ln>
        </p:spPr>
        <p:txBody>
          <a:bodyPr/>
          <a:lstStyle/>
          <a:p>
            <a:endParaRPr lang="en-IN"/>
          </a:p>
        </p:txBody>
      </p:sp>
      <p:sp>
        <p:nvSpPr>
          <p:cNvPr id="13" name="Text 11"/>
          <p:cNvSpPr/>
          <p:nvPr/>
        </p:nvSpPr>
        <p:spPr>
          <a:xfrm>
            <a:off x="3048000" y="1685925"/>
            <a:ext cx="1047750" cy="152400"/>
          </a:xfrm>
          <a:prstGeom prst="rect">
            <a:avLst/>
          </a:prstGeom>
          <a:noFill/>
          <a:ln/>
        </p:spPr>
        <p:txBody>
          <a:bodyPr wrap="square" lIns="0" tIns="0" rIns="0" bIns="0" rtlCol="0" anchor="t">
            <a:normAutofit/>
          </a:bodyPr>
          <a:lstStyle/>
          <a:p>
            <a:pPr marL="0" indent="0" algn="ctr">
              <a:lnSpc>
                <a:spcPct val="100000"/>
              </a:lnSpc>
              <a:buNone/>
            </a:pPr>
            <a:r>
              <a:rPr lang="en-US" sz="1000" b="1" dirty="0">
                <a:solidFill>
                  <a:srgbClr val="5B6B7C"/>
                </a:solidFill>
                <a:latin typeface="Calibri" pitchFamily="34" charset="0"/>
                <a:ea typeface="Calibri" pitchFamily="34" charset="-122"/>
                <a:cs typeface="Calibri" pitchFamily="34" charset="-120"/>
              </a:rPr>
              <a:t>NOT STARTED</a:t>
            </a:r>
            <a:endParaRPr lang="en-US" sz="1000" dirty="0"/>
          </a:p>
        </p:txBody>
      </p:sp>
      <p:sp>
        <p:nvSpPr>
          <p:cNvPr id="14" name="Shape 12"/>
          <p:cNvSpPr/>
          <p:nvPr/>
        </p:nvSpPr>
        <p:spPr>
          <a:xfrm>
            <a:off x="571500" y="2000250"/>
            <a:ext cx="6667500" cy="400050"/>
          </a:xfrm>
          <a:prstGeom prst="roundRect">
            <a:avLst>
              <a:gd name="adj" fmla="val 9143"/>
            </a:avLst>
          </a:prstGeom>
          <a:solidFill>
            <a:srgbClr val="FFFFFF"/>
          </a:solidFill>
          <a:ln w="12700">
            <a:solidFill>
              <a:srgbClr val="D7E1EA"/>
            </a:solidFill>
            <a:prstDash val="solid"/>
          </a:ln>
        </p:spPr>
        <p:txBody>
          <a:bodyPr/>
          <a:lstStyle/>
          <a:p>
            <a:endParaRPr lang="en-IN"/>
          </a:p>
        </p:txBody>
      </p:sp>
      <p:sp>
        <p:nvSpPr>
          <p:cNvPr id="15" name="Text 13"/>
          <p:cNvSpPr/>
          <p:nvPr/>
        </p:nvSpPr>
        <p:spPr>
          <a:xfrm>
            <a:off x="704850" y="2105025"/>
            <a:ext cx="514350" cy="190500"/>
          </a:xfrm>
          <a:prstGeom prst="rect">
            <a:avLst/>
          </a:prstGeom>
          <a:noFill/>
          <a:ln/>
        </p:spPr>
        <p:txBody>
          <a:bodyPr wrap="square" lIns="0" tIns="0" rIns="0" bIns="0" rtlCol="0" anchor="t">
            <a:normAutofit/>
          </a:bodyPr>
          <a:lstStyle/>
          <a:p>
            <a:pPr marL="0" indent="0" algn="l">
              <a:lnSpc>
                <a:spcPct val="100000"/>
              </a:lnSpc>
              <a:buNone/>
            </a:pPr>
            <a:r>
              <a:rPr lang="en-US" sz="1300" b="1" dirty="0">
                <a:solidFill>
                  <a:srgbClr val="1C7293"/>
                </a:solidFill>
                <a:latin typeface="Cambria" pitchFamily="34" charset="0"/>
                <a:ea typeface="Cambria" pitchFamily="34" charset="-122"/>
                <a:cs typeface="Cambria" pitchFamily="34" charset="-120"/>
              </a:rPr>
              <a:t>M1</a:t>
            </a:r>
            <a:endParaRPr lang="en-US" sz="1300" dirty="0"/>
          </a:p>
        </p:txBody>
      </p:sp>
      <p:sp>
        <p:nvSpPr>
          <p:cNvPr id="16" name="Text 14"/>
          <p:cNvSpPr/>
          <p:nvPr/>
        </p:nvSpPr>
        <p:spPr>
          <a:xfrm>
            <a:off x="1276350" y="2047875"/>
            <a:ext cx="2667000" cy="190500"/>
          </a:xfrm>
          <a:prstGeom prst="rect">
            <a:avLst/>
          </a:prstGeom>
          <a:noFill/>
          <a:ln/>
        </p:spPr>
        <p:txBody>
          <a:bodyPr wrap="square" lIns="0" tIns="0" rIns="0" bIns="0" rtlCol="0" anchor="t">
            <a:normAutofit/>
          </a:bodyPr>
          <a:lstStyle/>
          <a:p>
            <a:pPr marL="0" indent="0" algn="l">
              <a:lnSpc>
                <a:spcPct val="100000"/>
              </a:lnSpc>
              <a:buNone/>
            </a:pPr>
            <a:r>
              <a:rPr lang="en-US" sz="1320" b="1" dirty="0">
                <a:solidFill>
                  <a:srgbClr val="12263A"/>
                </a:solidFill>
                <a:latin typeface="Calibri" pitchFamily="34" charset="0"/>
                <a:ea typeface="Calibri" pitchFamily="34" charset="-122"/>
                <a:cs typeface="Calibri" pitchFamily="34" charset="-120"/>
              </a:rPr>
              <a:t>Problem study and literature survey</a:t>
            </a:r>
            <a:endParaRPr lang="en-US" sz="1320" dirty="0"/>
          </a:p>
        </p:txBody>
      </p:sp>
      <p:sp>
        <p:nvSpPr>
          <p:cNvPr id="17" name="Text 15"/>
          <p:cNvSpPr/>
          <p:nvPr/>
        </p:nvSpPr>
        <p:spPr>
          <a:xfrm>
            <a:off x="1276350" y="2219325"/>
            <a:ext cx="4572000" cy="152400"/>
          </a:xfrm>
          <a:prstGeom prst="rect">
            <a:avLst/>
          </a:prstGeom>
          <a:noFill/>
          <a:ln/>
        </p:spPr>
        <p:txBody>
          <a:bodyPr wrap="square" lIns="0" tIns="0" rIns="0" bIns="0" rtlCol="0" anchor="t">
            <a:normAutofit/>
          </a:bodyPr>
          <a:lstStyle/>
          <a:p>
            <a:pPr marL="0" indent="0" algn="l">
              <a:lnSpc>
                <a:spcPct val="100000"/>
              </a:lnSpc>
              <a:buNone/>
            </a:pPr>
            <a:r>
              <a:rPr lang="en-US" sz="1100" dirty="0">
                <a:solidFill>
                  <a:srgbClr val="5B6B7C"/>
                </a:solidFill>
                <a:latin typeface="Calibri" pitchFamily="34" charset="0"/>
                <a:ea typeface="Calibri" pitchFamily="34" charset="-122"/>
                <a:cs typeface="Calibri" pitchFamily="34" charset="-120"/>
              </a:rPr>
              <a:t>Standards baseline, reviewed source set, documented gap</a:t>
            </a:r>
            <a:endParaRPr lang="en-US" sz="1100" dirty="0"/>
          </a:p>
        </p:txBody>
      </p:sp>
      <p:sp>
        <p:nvSpPr>
          <p:cNvPr id="18" name="Shape 16"/>
          <p:cNvSpPr/>
          <p:nvPr/>
        </p:nvSpPr>
        <p:spPr>
          <a:xfrm>
            <a:off x="6096000" y="2085975"/>
            <a:ext cx="1009650" cy="228600"/>
          </a:xfrm>
          <a:prstGeom prst="roundRect">
            <a:avLst>
              <a:gd name="adj" fmla="val 16000"/>
            </a:avLst>
          </a:prstGeom>
          <a:solidFill>
            <a:srgbClr val="E3F3EA"/>
          </a:solidFill>
          <a:ln w="12700">
            <a:solidFill>
              <a:srgbClr val="1E8E5A"/>
            </a:solidFill>
            <a:prstDash val="solid"/>
          </a:ln>
        </p:spPr>
        <p:txBody>
          <a:bodyPr/>
          <a:lstStyle/>
          <a:p>
            <a:endParaRPr lang="en-IN"/>
          </a:p>
        </p:txBody>
      </p:sp>
      <p:sp>
        <p:nvSpPr>
          <p:cNvPr id="19" name="Text 17"/>
          <p:cNvSpPr/>
          <p:nvPr/>
        </p:nvSpPr>
        <p:spPr>
          <a:xfrm>
            <a:off x="6096000" y="2133600"/>
            <a:ext cx="1009650" cy="152400"/>
          </a:xfrm>
          <a:prstGeom prst="rect">
            <a:avLst/>
          </a:prstGeom>
          <a:noFill/>
          <a:ln/>
        </p:spPr>
        <p:txBody>
          <a:bodyPr wrap="square" lIns="0" tIns="0" rIns="0" bIns="0" rtlCol="0" anchor="t">
            <a:normAutofit/>
          </a:bodyPr>
          <a:lstStyle/>
          <a:p>
            <a:pPr marL="0" indent="0" algn="ctr">
              <a:lnSpc>
                <a:spcPct val="100000"/>
              </a:lnSpc>
              <a:buNone/>
            </a:pPr>
            <a:r>
              <a:rPr lang="en-US" sz="950" b="1" dirty="0">
                <a:solidFill>
                  <a:srgbClr val="1E8E5A"/>
                </a:solidFill>
                <a:latin typeface="Calibri" pitchFamily="34" charset="0"/>
                <a:ea typeface="Calibri" pitchFamily="34" charset="-122"/>
                <a:cs typeface="Calibri" pitchFamily="34" charset="-120"/>
              </a:rPr>
              <a:t>DONE</a:t>
            </a:r>
            <a:endParaRPr lang="en-US" sz="950" dirty="0"/>
          </a:p>
        </p:txBody>
      </p:sp>
      <p:sp>
        <p:nvSpPr>
          <p:cNvPr id="20" name="Shape 18"/>
          <p:cNvSpPr/>
          <p:nvPr/>
        </p:nvSpPr>
        <p:spPr>
          <a:xfrm>
            <a:off x="571500" y="2457450"/>
            <a:ext cx="6667500" cy="400050"/>
          </a:xfrm>
          <a:prstGeom prst="roundRect">
            <a:avLst>
              <a:gd name="adj" fmla="val 9143"/>
            </a:avLst>
          </a:prstGeom>
          <a:solidFill>
            <a:srgbClr val="FFFFFF"/>
          </a:solidFill>
          <a:ln w="12700">
            <a:solidFill>
              <a:srgbClr val="D7E1EA"/>
            </a:solidFill>
            <a:prstDash val="solid"/>
          </a:ln>
        </p:spPr>
        <p:txBody>
          <a:bodyPr/>
          <a:lstStyle/>
          <a:p>
            <a:endParaRPr lang="en-IN"/>
          </a:p>
        </p:txBody>
      </p:sp>
      <p:sp>
        <p:nvSpPr>
          <p:cNvPr id="21" name="Text 19"/>
          <p:cNvSpPr/>
          <p:nvPr/>
        </p:nvSpPr>
        <p:spPr>
          <a:xfrm>
            <a:off x="704850" y="2562225"/>
            <a:ext cx="514350" cy="190500"/>
          </a:xfrm>
          <a:prstGeom prst="rect">
            <a:avLst/>
          </a:prstGeom>
          <a:noFill/>
          <a:ln/>
        </p:spPr>
        <p:txBody>
          <a:bodyPr wrap="square" lIns="0" tIns="0" rIns="0" bIns="0" rtlCol="0" anchor="t">
            <a:normAutofit/>
          </a:bodyPr>
          <a:lstStyle/>
          <a:p>
            <a:pPr marL="0" indent="0" algn="l">
              <a:lnSpc>
                <a:spcPct val="100000"/>
              </a:lnSpc>
              <a:buNone/>
            </a:pPr>
            <a:r>
              <a:rPr lang="en-US" sz="1300" b="1" dirty="0">
                <a:solidFill>
                  <a:srgbClr val="1C7293"/>
                </a:solidFill>
                <a:latin typeface="Cambria" pitchFamily="34" charset="0"/>
                <a:ea typeface="Cambria" pitchFamily="34" charset="-122"/>
                <a:cs typeface="Cambria" pitchFamily="34" charset="-120"/>
              </a:rPr>
              <a:t>M1</a:t>
            </a:r>
            <a:endParaRPr lang="en-US" sz="1300" dirty="0"/>
          </a:p>
        </p:txBody>
      </p:sp>
      <p:sp>
        <p:nvSpPr>
          <p:cNvPr id="22" name="Text 20"/>
          <p:cNvSpPr/>
          <p:nvPr/>
        </p:nvSpPr>
        <p:spPr>
          <a:xfrm>
            <a:off x="1276350" y="2505075"/>
            <a:ext cx="2667000" cy="190500"/>
          </a:xfrm>
          <a:prstGeom prst="rect">
            <a:avLst/>
          </a:prstGeom>
          <a:noFill/>
          <a:ln/>
        </p:spPr>
        <p:txBody>
          <a:bodyPr wrap="square" lIns="0" tIns="0" rIns="0" bIns="0" rtlCol="0" anchor="t">
            <a:normAutofit/>
          </a:bodyPr>
          <a:lstStyle/>
          <a:p>
            <a:pPr marL="0" indent="0" algn="l">
              <a:lnSpc>
                <a:spcPct val="100000"/>
              </a:lnSpc>
              <a:buNone/>
            </a:pPr>
            <a:r>
              <a:rPr lang="en-US" sz="1320" b="1" dirty="0">
                <a:solidFill>
                  <a:srgbClr val="12263A"/>
                </a:solidFill>
                <a:latin typeface="Calibri" pitchFamily="34" charset="0"/>
                <a:ea typeface="Calibri" pitchFamily="34" charset="-122"/>
                <a:cs typeface="Calibri" pitchFamily="34" charset="-120"/>
              </a:rPr>
              <a:t>System architecture design</a:t>
            </a:r>
            <a:endParaRPr lang="en-US" sz="1320" dirty="0"/>
          </a:p>
        </p:txBody>
      </p:sp>
      <p:sp>
        <p:nvSpPr>
          <p:cNvPr id="23" name="Text 21"/>
          <p:cNvSpPr/>
          <p:nvPr/>
        </p:nvSpPr>
        <p:spPr>
          <a:xfrm>
            <a:off x="1276350" y="2676525"/>
            <a:ext cx="4572000" cy="152400"/>
          </a:xfrm>
          <a:prstGeom prst="rect">
            <a:avLst/>
          </a:prstGeom>
          <a:noFill/>
          <a:ln/>
        </p:spPr>
        <p:txBody>
          <a:bodyPr wrap="square" lIns="0" tIns="0" rIns="0" bIns="0" rtlCol="0" anchor="t">
            <a:normAutofit/>
          </a:bodyPr>
          <a:lstStyle/>
          <a:p>
            <a:pPr marL="0" indent="0" algn="l">
              <a:lnSpc>
                <a:spcPct val="100000"/>
              </a:lnSpc>
              <a:buNone/>
            </a:pPr>
            <a:r>
              <a:rPr lang="en-US" sz="1100" dirty="0">
                <a:solidFill>
                  <a:srgbClr val="5B6B7C"/>
                </a:solidFill>
                <a:latin typeface="Calibri" pitchFamily="34" charset="0"/>
                <a:ea typeface="Calibri" pitchFamily="34" charset="-122"/>
                <a:cs typeface="Calibri" pitchFamily="34" charset="-120"/>
              </a:rPr>
              <a:t>Data flow defined: capture, extract, decide</a:t>
            </a:r>
            <a:endParaRPr lang="en-US" sz="1100" dirty="0"/>
          </a:p>
        </p:txBody>
      </p:sp>
      <p:sp>
        <p:nvSpPr>
          <p:cNvPr id="24" name="Shape 22"/>
          <p:cNvSpPr/>
          <p:nvPr/>
        </p:nvSpPr>
        <p:spPr>
          <a:xfrm>
            <a:off x="6096000" y="2543175"/>
            <a:ext cx="1009650" cy="228600"/>
          </a:xfrm>
          <a:prstGeom prst="roundRect">
            <a:avLst>
              <a:gd name="adj" fmla="val 16000"/>
            </a:avLst>
          </a:prstGeom>
          <a:solidFill>
            <a:srgbClr val="E3F3EA"/>
          </a:solidFill>
          <a:ln w="12700">
            <a:solidFill>
              <a:srgbClr val="1E8E5A"/>
            </a:solidFill>
            <a:prstDash val="solid"/>
          </a:ln>
        </p:spPr>
        <p:txBody>
          <a:bodyPr/>
          <a:lstStyle/>
          <a:p>
            <a:endParaRPr lang="en-IN"/>
          </a:p>
        </p:txBody>
      </p:sp>
      <p:sp>
        <p:nvSpPr>
          <p:cNvPr id="25" name="Text 23"/>
          <p:cNvSpPr/>
          <p:nvPr/>
        </p:nvSpPr>
        <p:spPr>
          <a:xfrm>
            <a:off x="6096000" y="2590800"/>
            <a:ext cx="1009650" cy="152400"/>
          </a:xfrm>
          <a:prstGeom prst="rect">
            <a:avLst/>
          </a:prstGeom>
          <a:noFill/>
          <a:ln/>
        </p:spPr>
        <p:txBody>
          <a:bodyPr wrap="square" lIns="0" tIns="0" rIns="0" bIns="0" rtlCol="0" anchor="t">
            <a:normAutofit/>
          </a:bodyPr>
          <a:lstStyle/>
          <a:p>
            <a:pPr marL="0" indent="0" algn="ctr">
              <a:lnSpc>
                <a:spcPct val="100000"/>
              </a:lnSpc>
              <a:buNone/>
            </a:pPr>
            <a:r>
              <a:rPr lang="en-US" sz="950" b="1" dirty="0">
                <a:solidFill>
                  <a:srgbClr val="1E8E5A"/>
                </a:solidFill>
                <a:latin typeface="Calibri" pitchFamily="34" charset="0"/>
                <a:ea typeface="Calibri" pitchFamily="34" charset="-122"/>
                <a:cs typeface="Calibri" pitchFamily="34" charset="-120"/>
              </a:rPr>
              <a:t>DONE</a:t>
            </a:r>
            <a:endParaRPr lang="en-US" sz="950" dirty="0"/>
          </a:p>
        </p:txBody>
      </p:sp>
      <p:sp>
        <p:nvSpPr>
          <p:cNvPr id="26" name="Shape 24"/>
          <p:cNvSpPr/>
          <p:nvPr/>
        </p:nvSpPr>
        <p:spPr>
          <a:xfrm>
            <a:off x="571500" y="2914650"/>
            <a:ext cx="6667500" cy="400050"/>
          </a:xfrm>
          <a:prstGeom prst="roundRect">
            <a:avLst>
              <a:gd name="adj" fmla="val 9143"/>
            </a:avLst>
          </a:prstGeom>
          <a:solidFill>
            <a:srgbClr val="FFFFFF"/>
          </a:solidFill>
          <a:ln w="12700">
            <a:solidFill>
              <a:srgbClr val="D7E1EA"/>
            </a:solidFill>
            <a:prstDash val="solid"/>
          </a:ln>
        </p:spPr>
        <p:txBody>
          <a:bodyPr/>
          <a:lstStyle/>
          <a:p>
            <a:endParaRPr lang="en-IN"/>
          </a:p>
        </p:txBody>
      </p:sp>
      <p:sp>
        <p:nvSpPr>
          <p:cNvPr id="27" name="Text 25"/>
          <p:cNvSpPr/>
          <p:nvPr/>
        </p:nvSpPr>
        <p:spPr>
          <a:xfrm>
            <a:off x="704850" y="3019425"/>
            <a:ext cx="514350" cy="190500"/>
          </a:xfrm>
          <a:prstGeom prst="rect">
            <a:avLst/>
          </a:prstGeom>
          <a:noFill/>
          <a:ln/>
        </p:spPr>
        <p:txBody>
          <a:bodyPr wrap="square" lIns="0" tIns="0" rIns="0" bIns="0" rtlCol="0" anchor="t">
            <a:normAutofit/>
          </a:bodyPr>
          <a:lstStyle/>
          <a:p>
            <a:pPr marL="0" indent="0" algn="l">
              <a:lnSpc>
                <a:spcPct val="100000"/>
              </a:lnSpc>
              <a:buNone/>
            </a:pPr>
            <a:r>
              <a:rPr lang="en-US" sz="1300" b="1" dirty="0">
                <a:solidFill>
                  <a:srgbClr val="1C7293"/>
                </a:solidFill>
                <a:latin typeface="Cambria" pitchFamily="34" charset="0"/>
                <a:ea typeface="Cambria" pitchFamily="34" charset="-122"/>
                <a:cs typeface="Cambria" pitchFamily="34" charset="-120"/>
              </a:rPr>
              <a:t>M2</a:t>
            </a:r>
            <a:endParaRPr lang="en-US" sz="1300" dirty="0"/>
          </a:p>
        </p:txBody>
      </p:sp>
      <p:sp>
        <p:nvSpPr>
          <p:cNvPr id="28" name="Text 26"/>
          <p:cNvSpPr/>
          <p:nvPr/>
        </p:nvSpPr>
        <p:spPr>
          <a:xfrm>
            <a:off x="1276350" y="2962275"/>
            <a:ext cx="2667000" cy="190500"/>
          </a:xfrm>
          <a:prstGeom prst="rect">
            <a:avLst/>
          </a:prstGeom>
          <a:noFill/>
          <a:ln/>
        </p:spPr>
        <p:txBody>
          <a:bodyPr wrap="square" lIns="0" tIns="0" rIns="0" bIns="0" rtlCol="0" anchor="t">
            <a:normAutofit/>
          </a:bodyPr>
          <a:lstStyle/>
          <a:p>
            <a:pPr marL="0" indent="0" algn="l">
              <a:lnSpc>
                <a:spcPct val="100000"/>
              </a:lnSpc>
              <a:buNone/>
            </a:pPr>
            <a:r>
              <a:rPr lang="en-US" sz="1320" b="1" dirty="0">
                <a:solidFill>
                  <a:srgbClr val="12263A"/>
                </a:solidFill>
                <a:latin typeface="Calibri" pitchFamily="34" charset="0"/>
                <a:ea typeface="Calibri" pitchFamily="34" charset="-122"/>
                <a:cs typeface="Calibri" pitchFamily="34" charset="-120"/>
              </a:rPr>
              <a:t>KPI and fault taxonomy</a:t>
            </a:r>
            <a:endParaRPr lang="en-US" sz="1320" dirty="0"/>
          </a:p>
        </p:txBody>
      </p:sp>
      <p:sp>
        <p:nvSpPr>
          <p:cNvPr id="29" name="Text 27"/>
          <p:cNvSpPr/>
          <p:nvPr/>
        </p:nvSpPr>
        <p:spPr>
          <a:xfrm>
            <a:off x="1276350" y="3133725"/>
            <a:ext cx="4572000" cy="152400"/>
          </a:xfrm>
          <a:prstGeom prst="rect">
            <a:avLst/>
          </a:prstGeom>
          <a:noFill/>
          <a:ln/>
        </p:spPr>
        <p:txBody>
          <a:bodyPr wrap="square" lIns="0" tIns="0" rIns="0" bIns="0" rtlCol="0" anchor="t">
            <a:normAutofit/>
          </a:bodyPr>
          <a:lstStyle/>
          <a:p>
            <a:pPr marL="0" indent="0" algn="l">
              <a:lnSpc>
                <a:spcPct val="100000"/>
              </a:lnSpc>
              <a:buNone/>
            </a:pPr>
            <a:r>
              <a:rPr lang="en-US" sz="1100" dirty="0">
                <a:solidFill>
                  <a:srgbClr val="5B6B7C"/>
                </a:solidFill>
                <a:latin typeface="Calibri" pitchFamily="34" charset="0"/>
                <a:ea typeface="Calibri" pitchFamily="34" charset="-122"/>
                <a:cs typeface="Calibri" pitchFamily="34" charset="-120"/>
              </a:rPr>
              <a:t>144-parameter × 16-fault matrix; profile configuration traced to standards</a:t>
            </a:r>
            <a:endParaRPr lang="en-US" sz="1100" dirty="0"/>
          </a:p>
        </p:txBody>
      </p:sp>
      <p:sp>
        <p:nvSpPr>
          <p:cNvPr id="30" name="Shape 28"/>
          <p:cNvSpPr/>
          <p:nvPr/>
        </p:nvSpPr>
        <p:spPr>
          <a:xfrm>
            <a:off x="6096000" y="3000375"/>
            <a:ext cx="1009650" cy="228600"/>
          </a:xfrm>
          <a:prstGeom prst="roundRect">
            <a:avLst>
              <a:gd name="adj" fmla="val 16000"/>
            </a:avLst>
          </a:prstGeom>
          <a:solidFill>
            <a:srgbClr val="E3F3EA"/>
          </a:solidFill>
          <a:ln w="12700">
            <a:solidFill>
              <a:srgbClr val="1E8E5A"/>
            </a:solidFill>
            <a:prstDash val="solid"/>
          </a:ln>
        </p:spPr>
        <p:txBody>
          <a:bodyPr/>
          <a:lstStyle/>
          <a:p>
            <a:endParaRPr lang="en-IN"/>
          </a:p>
        </p:txBody>
      </p:sp>
      <p:sp>
        <p:nvSpPr>
          <p:cNvPr id="31" name="Text 29"/>
          <p:cNvSpPr/>
          <p:nvPr/>
        </p:nvSpPr>
        <p:spPr>
          <a:xfrm>
            <a:off x="6096000" y="3048000"/>
            <a:ext cx="1009650" cy="152400"/>
          </a:xfrm>
          <a:prstGeom prst="rect">
            <a:avLst/>
          </a:prstGeom>
          <a:noFill/>
          <a:ln/>
        </p:spPr>
        <p:txBody>
          <a:bodyPr wrap="square" lIns="0" tIns="0" rIns="0" bIns="0" rtlCol="0" anchor="t">
            <a:normAutofit/>
          </a:bodyPr>
          <a:lstStyle/>
          <a:p>
            <a:pPr marL="0" indent="0" algn="ctr">
              <a:lnSpc>
                <a:spcPct val="100000"/>
              </a:lnSpc>
              <a:buNone/>
            </a:pPr>
            <a:r>
              <a:rPr lang="en-US" sz="950" b="1" dirty="0">
                <a:solidFill>
                  <a:srgbClr val="1E8E5A"/>
                </a:solidFill>
                <a:latin typeface="Calibri" pitchFamily="34" charset="0"/>
                <a:ea typeface="Calibri" pitchFamily="34" charset="-122"/>
                <a:cs typeface="Calibri" pitchFamily="34" charset="-120"/>
              </a:rPr>
              <a:t>DONE</a:t>
            </a:r>
            <a:endParaRPr lang="en-US" sz="950" dirty="0"/>
          </a:p>
        </p:txBody>
      </p:sp>
      <p:sp>
        <p:nvSpPr>
          <p:cNvPr id="32" name="Shape 30"/>
          <p:cNvSpPr/>
          <p:nvPr/>
        </p:nvSpPr>
        <p:spPr>
          <a:xfrm>
            <a:off x="571500" y="3371850"/>
            <a:ext cx="6667500" cy="400050"/>
          </a:xfrm>
          <a:prstGeom prst="roundRect">
            <a:avLst>
              <a:gd name="adj" fmla="val 9143"/>
            </a:avLst>
          </a:prstGeom>
          <a:solidFill>
            <a:srgbClr val="FFFFFF"/>
          </a:solidFill>
          <a:ln w="12700">
            <a:solidFill>
              <a:srgbClr val="D7E1EA"/>
            </a:solidFill>
            <a:prstDash val="solid"/>
          </a:ln>
        </p:spPr>
        <p:txBody>
          <a:bodyPr/>
          <a:lstStyle/>
          <a:p>
            <a:endParaRPr lang="en-IN"/>
          </a:p>
        </p:txBody>
      </p:sp>
      <p:sp>
        <p:nvSpPr>
          <p:cNvPr id="33" name="Text 31"/>
          <p:cNvSpPr/>
          <p:nvPr/>
        </p:nvSpPr>
        <p:spPr>
          <a:xfrm>
            <a:off x="704850" y="3476625"/>
            <a:ext cx="514350" cy="190500"/>
          </a:xfrm>
          <a:prstGeom prst="rect">
            <a:avLst/>
          </a:prstGeom>
          <a:noFill/>
          <a:ln/>
        </p:spPr>
        <p:txBody>
          <a:bodyPr wrap="square" lIns="0" tIns="0" rIns="0" bIns="0" rtlCol="0" anchor="t">
            <a:normAutofit/>
          </a:bodyPr>
          <a:lstStyle/>
          <a:p>
            <a:pPr marL="0" indent="0" algn="l">
              <a:lnSpc>
                <a:spcPct val="100000"/>
              </a:lnSpc>
              <a:buNone/>
            </a:pPr>
            <a:r>
              <a:rPr lang="en-US" sz="1300" b="1" dirty="0">
                <a:solidFill>
                  <a:srgbClr val="1C7293"/>
                </a:solidFill>
                <a:latin typeface="Cambria" pitchFamily="34" charset="0"/>
                <a:ea typeface="Cambria" pitchFamily="34" charset="-122"/>
                <a:cs typeface="Cambria" pitchFamily="34" charset="-120"/>
              </a:rPr>
              <a:t>M3</a:t>
            </a:r>
            <a:endParaRPr lang="en-US" sz="1300" dirty="0"/>
          </a:p>
        </p:txBody>
      </p:sp>
      <p:sp>
        <p:nvSpPr>
          <p:cNvPr id="34" name="Text 32"/>
          <p:cNvSpPr/>
          <p:nvPr/>
        </p:nvSpPr>
        <p:spPr>
          <a:xfrm>
            <a:off x="1276350" y="3419475"/>
            <a:ext cx="2667000" cy="190500"/>
          </a:xfrm>
          <a:prstGeom prst="rect">
            <a:avLst/>
          </a:prstGeom>
          <a:noFill/>
          <a:ln/>
        </p:spPr>
        <p:txBody>
          <a:bodyPr wrap="square" lIns="0" tIns="0" rIns="0" bIns="0" rtlCol="0" anchor="t">
            <a:normAutofit/>
          </a:bodyPr>
          <a:lstStyle/>
          <a:p>
            <a:pPr marL="0" indent="0" algn="l">
              <a:lnSpc>
                <a:spcPct val="100000"/>
              </a:lnSpc>
              <a:buNone/>
            </a:pPr>
            <a:r>
              <a:rPr lang="en-US" sz="1320" b="1" dirty="0">
                <a:solidFill>
                  <a:srgbClr val="12263A"/>
                </a:solidFill>
                <a:latin typeface="Calibri" pitchFamily="34" charset="0"/>
                <a:ea typeface="Calibri" pitchFamily="34" charset="-122"/>
                <a:cs typeface="Calibri" pitchFamily="34" charset="-120"/>
              </a:rPr>
              <a:t>Digital twin and fault injection</a:t>
            </a:r>
            <a:endParaRPr lang="en-US" sz="1320" dirty="0"/>
          </a:p>
        </p:txBody>
      </p:sp>
      <p:sp>
        <p:nvSpPr>
          <p:cNvPr id="35" name="Text 33"/>
          <p:cNvSpPr/>
          <p:nvPr/>
        </p:nvSpPr>
        <p:spPr>
          <a:xfrm>
            <a:off x="1276350" y="3590925"/>
            <a:ext cx="4572000" cy="152400"/>
          </a:xfrm>
          <a:prstGeom prst="rect">
            <a:avLst/>
          </a:prstGeom>
          <a:noFill/>
          <a:ln/>
        </p:spPr>
        <p:txBody>
          <a:bodyPr wrap="square" lIns="0" tIns="0" rIns="0" bIns="0" rtlCol="0" anchor="t">
            <a:normAutofit/>
          </a:bodyPr>
          <a:lstStyle/>
          <a:p>
            <a:pPr marL="0" indent="0" algn="l">
              <a:lnSpc>
                <a:spcPct val="100000"/>
              </a:lnSpc>
              <a:buNone/>
            </a:pPr>
            <a:r>
              <a:rPr lang="en-US" sz="1100" dirty="0">
                <a:solidFill>
                  <a:srgbClr val="5B6B7C"/>
                </a:solidFill>
                <a:latin typeface="Calibri" pitchFamily="34" charset="0"/>
                <a:ea typeface="Calibri" pitchFamily="34" charset="-122"/>
                <a:cs typeface="Calibri" pitchFamily="34" charset="-120"/>
              </a:rPr>
              <a:t>Six-node testbed and live injection validated; digital twin not exercised</a:t>
            </a:r>
            <a:endParaRPr lang="en-US" sz="1100" dirty="0"/>
          </a:p>
        </p:txBody>
      </p:sp>
      <p:sp>
        <p:nvSpPr>
          <p:cNvPr id="36" name="Shape 34"/>
          <p:cNvSpPr/>
          <p:nvPr/>
        </p:nvSpPr>
        <p:spPr>
          <a:xfrm>
            <a:off x="6096000" y="3457575"/>
            <a:ext cx="1009650" cy="228600"/>
          </a:xfrm>
          <a:prstGeom prst="roundRect">
            <a:avLst>
              <a:gd name="adj" fmla="val 16000"/>
            </a:avLst>
          </a:prstGeom>
          <a:solidFill>
            <a:srgbClr val="FFF3D6"/>
          </a:solidFill>
          <a:ln w="12700">
            <a:solidFill>
              <a:srgbClr val="C58B18"/>
            </a:solidFill>
            <a:prstDash val="solid"/>
          </a:ln>
        </p:spPr>
        <p:txBody>
          <a:bodyPr/>
          <a:lstStyle/>
          <a:p>
            <a:endParaRPr lang="en-IN"/>
          </a:p>
        </p:txBody>
      </p:sp>
      <p:sp>
        <p:nvSpPr>
          <p:cNvPr id="37" name="Text 35"/>
          <p:cNvSpPr/>
          <p:nvPr/>
        </p:nvSpPr>
        <p:spPr>
          <a:xfrm>
            <a:off x="6096000" y="3505200"/>
            <a:ext cx="1009650" cy="152400"/>
          </a:xfrm>
          <a:prstGeom prst="rect">
            <a:avLst/>
          </a:prstGeom>
          <a:noFill/>
          <a:ln/>
        </p:spPr>
        <p:txBody>
          <a:bodyPr wrap="square" lIns="0" tIns="0" rIns="0" bIns="0" rtlCol="0" anchor="t">
            <a:normAutofit/>
          </a:bodyPr>
          <a:lstStyle/>
          <a:p>
            <a:pPr marL="0" indent="0" algn="ctr">
              <a:lnSpc>
                <a:spcPct val="100000"/>
              </a:lnSpc>
              <a:buNone/>
            </a:pPr>
            <a:r>
              <a:rPr lang="en-US" sz="950" b="1" dirty="0">
                <a:solidFill>
                  <a:srgbClr val="C58B18"/>
                </a:solidFill>
                <a:latin typeface="Calibri" pitchFamily="34" charset="0"/>
                <a:ea typeface="Calibri" pitchFamily="34" charset="-122"/>
                <a:cs typeface="Calibri" pitchFamily="34" charset="-120"/>
              </a:rPr>
              <a:t>PARTIAL</a:t>
            </a:r>
            <a:endParaRPr lang="en-US" sz="950" dirty="0"/>
          </a:p>
        </p:txBody>
      </p:sp>
      <p:sp>
        <p:nvSpPr>
          <p:cNvPr id="38" name="Shape 36"/>
          <p:cNvSpPr/>
          <p:nvPr/>
        </p:nvSpPr>
        <p:spPr>
          <a:xfrm>
            <a:off x="571500" y="3829050"/>
            <a:ext cx="6667500" cy="400050"/>
          </a:xfrm>
          <a:prstGeom prst="roundRect">
            <a:avLst>
              <a:gd name="adj" fmla="val 9143"/>
            </a:avLst>
          </a:prstGeom>
          <a:solidFill>
            <a:srgbClr val="FFFFFF"/>
          </a:solidFill>
          <a:ln w="12700">
            <a:solidFill>
              <a:srgbClr val="D7E1EA"/>
            </a:solidFill>
            <a:prstDash val="solid"/>
          </a:ln>
        </p:spPr>
        <p:txBody>
          <a:bodyPr/>
          <a:lstStyle/>
          <a:p>
            <a:endParaRPr lang="en-IN"/>
          </a:p>
        </p:txBody>
      </p:sp>
      <p:sp>
        <p:nvSpPr>
          <p:cNvPr id="39" name="Text 37"/>
          <p:cNvSpPr/>
          <p:nvPr/>
        </p:nvSpPr>
        <p:spPr>
          <a:xfrm>
            <a:off x="704850" y="3933825"/>
            <a:ext cx="514350" cy="190500"/>
          </a:xfrm>
          <a:prstGeom prst="rect">
            <a:avLst/>
          </a:prstGeom>
          <a:noFill/>
          <a:ln/>
        </p:spPr>
        <p:txBody>
          <a:bodyPr wrap="square" lIns="0" tIns="0" rIns="0" bIns="0" rtlCol="0" anchor="t">
            <a:normAutofit/>
          </a:bodyPr>
          <a:lstStyle/>
          <a:p>
            <a:pPr marL="0" indent="0" algn="l">
              <a:lnSpc>
                <a:spcPct val="100000"/>
              </a:lnSpc>
              <a:buNone/>
            </a:pPr>
            <a:r>
              <a:rPr lang="en-US" sz="1300" b="1" dirty="0">
                <a:solidFill>
                  <a:srgbClr val="1C7293"/>
                </a:solidFill>
                <a:latin typeface="Cambria" pitchFamily="34" charset="0"/>
                <a:ea typeface="Cambria" pitchFamily="34" charset="-122"/>
                <a:cs typeface="Cambria" pitchFamily="34" charset="-120"/>
              </a:rPr>
              <a:t>M4</a:t>
            </a:r>
            <a:endParaRPr lang="en-US" sz="1300" dirty="0"/>
          </a:p>
        </p:txBody>
      </p:sp>
      <p:sp>
        <p:nvSpPr>
          <p:cNvPr id="40" name="Text 38"/>
          <p:cNvSpPr/>
          <p:nvPr/>
        </p:nvSpPr>
        <p:spPr>
          <a:xfrm>
            <a:off x="1276350" y="3876675"/>
            <a:ext cx="2667000" cy="190500"/>
          </a:xfrm>
          <a:prstGeom prst="rect">
            <a:avLst/>
          </a:prstGeom>
          <a:noFill/>
          <a:ln/>
        </p:spPr>
        <p:txBody>
          <a:bodyPr wrap="square" lIns="0" tIns="0" rIns="0" bIns="0" rtlCol="0" anchor="t">
            <a:normAutofit/>
          </a:bodyPr>
          <a:lstStyle/>
          <a:p>
            <a:pPr marL="0" indent="0" algn="l">
              <a:lnSpc>
                <a:spcPct val="100000"/>
              </a:lnSpc>
              <a:buNone/>
            </a:pPr>
            <a:r>
              <a:rPr lang="en-US" sz="1320" b="1" dirty="0">
                <a:solidFill>
                  <a:srgbClr val="12263A"/>
                </a:solidFill>
                <a:latin typeface="Calibri" pitchFamily="34" charset="0"/>
                <a:ea typeface="Calibri" pitchFamily="34" charset="-122"/>
                <a:cs typeface="Calibri" pitchFamily="34" charset="-120"/>
              </a:rPr>
              <a:t>AI model development</a:t>
            </a:r>
            <a:endParaRPr lang="en-US" sz="1320" dirty="0"/>
          </a:p>
        </p:txBody>
      </p:sp>
      <p:sp>
        <p:nvSpPr>
          <p:cNvPr id="41" name="Text 39"/>
          <p:cNvSpPr/>
          <p:nvPr/>
        </p:nvSpPr>
        <p:spPr>
          <a:xfrm>
            <a:off x="1276350" y="4048125"/>
            <a:ext cx="4572000" cy="152400"/>
          </a:xfrm>
          <a:prstGeom prst="rect">
            <a:avLst/>
          </a:prstGeom>
          <a:noFill/>
          <a:ln/>
        </p:spPr>
        <p:txBody>
          <a:bodyPr wrap="square" lIns="0" tIns="0" rIns="0" bIns="0" rtlCol="0" anchor="t">
            <a:normAutofit/>
          </a:bodyPr>
          <a:lstStyle/>
          <a:p>
            <a:pPr marL="0" indent="0" algn="l">
              <a:lnSpc>
                <a:spcPct val="100000"/>
              </a:lnSpc>
              <a:buNone/>
            </a:pPr>
            <a:r>
              <a:rPr lang="en-US" sz="1100" dirty="0">
                <a:solidFill>
                  <a:srgbClr val="5B6B7C"/>
                </a:solidFill>
                <a:latin typeface="Calibri" pitchFamily="34" charset="0"/>
                <a:ea typeface="Calibri" pitchFamily="34" charset="-122"/>
                <a:cs typeface="Calibri" pitchFamily="34" charset="-120"/>
              </a:rPr>
              <a:t>Random Forest and Isolation Forest evaluated; not usable on available telemetry</a:t>
            </a:r>
            <a:endParaRPr lang="en-US" sz="1100" dirty="0"/>
          </a:p>
        </p:txBody>
      </p:sp>
      <p:sp>
        <p:nvSpPr>
          <p:cNvPr id="42" name="Shape 40"/>
          <p:cNvSpPr/>
          <p:nvPr/>
        </p:nvSpPr>
        <p:spPr>
          <a:xfrm>
            <a:off x="6096000" y="3914775"/>
            <a:ext cx="1009650" cy="228600"/>
          </a:xfrm>
          <a:prstGeom prst="roundRect">
            <a:avLst>
              <a:gd name="adj" fmla="val 16000"/>
            </a:avLst>
          </a:prstGeom>
          <a:solidFill>
            <a:srgbClr val="FFF3D6"/>
          </a:solidFill>
          <a:ln w="12700">
            <a:solidFill>
              <a:srgbClr val="C58B18"/>
            </a:solidFill>
            <a:prstDash val="solid"/>
          </a:ln>
        </p:spPr>
        <p:txBody>
          <a:bodyPr/>
          <a:lstStyle/>
          <a:p>
            <a:endParaRPr lang="en-IN"/>
          </a:p>
        </p:txBody>
      </p:sp>
      <p:sp>
        <p:nvSpPr>
          <p:cNvPr id="43" name="Text 41"/>
          <p:cNvSpPr/>
          <p:nvPr/>
        </p:nvSpPr>
        <p:spPr>
          <a:xfrm>
            <a:off x="6096000" y="3962400"/>
            <a:ext cx="1009650" cy="152400"/>
          </a:xfrm>
          <a:prstGeom prst="rect">
            <a:avLst/>
          </a:prstGeom>
          <a:noFill/>
          <a:ln/>
        </p:spPr>
        <p:txBody>
          <a:bodyPr wrap="square" lIns="0" tIns="0" rIns="0" bIns="0" rtlCol="0" anchor="t">
            <a:normAutofit/>
          </a:bodyPr>
          <a:lstStyle/>
          <a:p>
            <a:pPr marL="0" indent="0" algn="ctr">
              <a:lnSpc>
                <a:spcPct val="100000"/>
              </a:lnSpc>
              <a:buNone/>
            </a:pPr>
            <a:r>
              <a:rPr lang="en-US" sz="950" b="1" dirty="0">
                <a:solidFill>
                  <a:srgbClr val="C58B18"/>
                </a:solidFill>
                <a:latin typeface="Calibri" pitchFamily="34" charset="0"/>
                <a:ea typeface="Calibri" pitchFamily="34" charset="-122"/>
                <a:cs typeface="Calibri" pitchFamily="34" charset="-120"/>
              </a:rPr>
              <a:t>PARTIAL</a:t>
            </a:r>
            <a:endParaRPr lang="en-US" sz="950" dirty="0"/>
          </a:p>
        </p:txBody>
      </p:sp>
      <p:sp>
        <p:nvSpPr>
          <p:cNvPr id="44" name="Shape 42"/>
          <p:cNvSpPr/>
          <p:nvPr/>
        </p:nvSpPr>
        <p:spPr>
          <a:xfrm>
            <a:off x="571500" y="4286250"/>
            <a:ext cx="6667500" cy="400050"/>
          </a:xfrm>
          <a:prstGeom prst="roundRect">
            <a:avLst>
              <a:gd name="adj" fmla="val 9143"/>
            </a:avLst>
          </a:prstGeom>
          <a:solidFill>
            <a:srgbClr val="FFFFFF"/>
          </a:solidFill>
          <a:ln w="12700">
            <a:solidFill>
              <a:srgbClr val="D7E1EA"/>
            </a:solidFill>
            <a:prstDash val="solid"/>
          </a:ln>
        </p:spPr>
        <p:txBody>
          <a:bodyPr/>
          <a:lstStyle/>
          <a:p>
            <a:endParaRPr lang="en-IN"/>
          </a:p>
        </p:txBody>
      </p:sp>
      <p:sp>
        <p:nvSpPr>
          <p:cNvPr id="45" name="Text 43"/>
          <p:cNvSpPr/>
          <p:nvPr/>
        </p:nvSpPr>
        <p:spPr>
          <a:xfrm>
            <a:off x="704850" y="4391025"/>
            <a:ext cx="514350" cy="190500"/>
          </a:xfrm>
          <a:prstGeom prst="rect">
            <a:avLst/>
          </a:prstGeom>
          <a:noFill/>
          <a:ln/>
        </p:spPr>
        <p:txBody>
          <a:bodyPr wrap="square" lIns="0" tIns="0" rIns="0" bIns="0" rtlCol="0" anchor="t">
            <a:normAutofit/>
          </a:bodyPr>
          <a:lstStyle/>
          <a:p>
            <a:pPr marL="0" indent="0" algn="l">
              <a:lnSpc>
                <a:spcPct val="100000"/>
              </a:lnSpc>
              <a:buNone/>
            </a:pPr>
            <a:r>
              <a:rPr lang="en-US" sz="1300" b="1" dirty="0">
                <a:solidFill>
                  <a:srgbClr val="1C7293"/>
                </a:solidFill>
                <a:latin typeface="Cambria" pitchFamily="34" charset="0"/>
                <a:ea typeface="Cambria" pitchFamily="34" charset="-122"/>
                <a:cs typeface="Cambria" pitchFamily="34" charset="-120"/>
              </a:rPr>
              <a:t>M5</a:t>
            </a:r>
            <a:endParaRPr lang="en-US" sz="1300" dirty="0"/>
          </a:p>
        </p:txBody>
      </p:sp>
      <p:sp>
        <p:nvSpPr>
          <p:cNvPr id="46" name="Text 44"/>
          <p:cNvSpPr/>
          <p:nvPr/>
        </p:nvSpPr>
        <p:spPr>
          <a:xfrm>
            <a:off x="1276350" y="4333875"/>
            <a:ext cx="2667000" cy="190500"/>
          </a:xfrm>
          <a:prstGeom prst="rect">
            <a:avLst/>
          </a:prstGeom>
          <a:noFill/>
          <a:ln/>
        </p:spPr>
        <p:txBody>
          <a:bodyPr wrap="square" lIns="0" tIns="0" rIns="0" bIns="0" rtlCol="0" anchor="t">
            <a:normAutofit/>
          </a:bodyPr>
          <a:lstStyle/>
          <a:p>
            <a:pPr marL="0" indent="0" algn="l">
              <a:lnSpc>
                <a:spcPct val="100000"/>
              </a:lnSpc>
              <a:buNone/>
            </a:pPr>
            <a:r>
              <a:rPr lang="en-US" sz="1320" b="1" dirty="0">
                <a:solidFill>
                  <a:srgbClr val="12263A"/>
                </a:solidFill>
                <a:latin typeface="Calibri" pitchFamily="34" charset="0"/>
                <a:ea typeface="Calibri" pitchFamily="34" charset="-122"/>
                <a:cs typeface="Calibri" pitchFamily="34" charset="-120"/>
              </a:rPr>
              <a:t>Healing logic integration</a:t>
            </a:r>
            <a:endParaRPr lang="en-US" sz="1320" dirty="0"/>
          </a:p>
        </p:txBody>
      </p:sp>
      <p:sp>
        <p:nvSpPr>
          <p:cNvPr id="47" name="Text 45"/>
          <p:cNvSpPr/>
          <p:nvPr/>
        </p:nvSpPr>
        <p:spPr>
          <a:xfrm>
            <a:off x="1276350" y="4505325"/>
            <a:ext cx="4572000" cy="152400"/>
          </a:xfrm>
          <a:prstGeom prst="rect">
            <a:avLst/>
          </a:prstGeom>
          <a:noFill/>
          <a:ln/>
        </p:spPr>
        <p:txBody>
          <a:bodyPr wrap="square" lIns="0" tIns="0" rIns="0" bIns="0" rtlCol="0" anchor="t">
            <a:normAutofit/>
          </a:bodyPr>
          <a:lstStyle/>
          <a:p>
            <a:pPr marL="0" indent="0" algn="l">
              <a:lnSpc>
                <a:spcPct val="100000"/>
              </a:lnSpc>
              <a:buNone/>
            </a:pPr>
            <a:r>
              <a:rPr lang="en-US" sz="1100" dirty="0">
                <a:solidFill>
                  <a:srgbClr val="5B6B7C"/>
                </a:solidFill>
                <a:latin typeface="Calibri" pitchFamily="34" charset="0"/>
                <a:ea typeface="Calibri" pitchFamily="34" charset="-122"/>
                <a:cs typeface="Calibri" pitchFamily="34" charset="-120"/>
              </a:rPr>
              <a:t>Decision engine evaluated; closed-loop healing not validated</a:t>
            </a:r>
            <a:endParaRPr lang="en-US" sz="1100" dirty="0"/>
          </a:p>
        </p:txBody>
      </p:sp>
      <p:sp>
        <p:nvSpPr>
          <p:cNvPr id="48" name="Shape 46"/>
          <p:cNvSpPr/>
          <p:nvPr/>
        </p:nvSpPr>
        <p:spPr>
          <a:xfrm>
            <a:off x="6096000" y="4371975"/>
            <a:ext cx="1009650" cy="228600"/>
          </a:xfrm>
          <a:prstGeom prst="roundRect">
            <a:avLst>
              <a:gd name="adj" fmla="val 16000"/>
            </a:avLst>
          </a:prstGeom>
          <a:solidFill>
            <a:srgbClr val="FFF3D6"/>
          </a:solidFill>
          <a:ln w="12700">
            <a:solidFill>
              <a:srgbClr val="C58B18"/>
            </a:solidFill>
            <a:prstDash val="solid"/>
          </a:ln>
        </p:spPr>
        <p:txBody>
          <a:bodyPr/>
          <a:lstStyle/>
          <a:p>
            <a:endParaRPr lang="en-IN"/>
          </a:p>
        </p:txBody>
      </p:sp>
      <p:sp>
        <p:nvSpPr>
          <p:cNvPr id="49" name="Text 47"/>
          <p:cNvSpPr/>
          <p:nvPr/>
        </p:nvSpPr>
        <p:spPr>
          <a:xfrm>
            <a:off x="6096000" y="4419600"/>
            <a:ext cx="1009650" cy="152400"/>
          </a:xfrm>
          <a:prstGeom prst="rect">
            <a:avLst/>
          </a:prstGeom>
          <a:noFill/>
          <a:ln/>
        </p:spPr>
        <p:txBody>
          <a:bodyPr wrap="square" lIns="0" tIns="0" rIns="0" bIns="0" rtlCol="0" anchor="t">
            <a:normAutofit/>
          </a:bodyPr>
          <a:lstStyle/>
          <a:p>
            <a:pPr marL="0" indent="0" algn="ctr">
              <a:lnSpc>
                <a:spcPct val="100000"/>
              </a:lnSpc>
              <a:buNone/>
            </a:pPr>
            <a:r>
              <a:rPr lang="en-US" sz="950" b="1" dirty="0">
                <a:solidFill>
                  <a:srgbClr val="C58B18"/>
                </a:solidFill>
                <a:latin typeface="Calibri" pitchFamily="34" charset="0"/>
                <a:ea typeface="Calibri" pitchFamily="34" charset="-122"/>
                <a:cs typeface="Calibri" pitchFamily="34" charset="-120"/>
              </a:rPr>
              <a:t>PARTIAL</a:t>
            </a:r>
            <a:endParaRPr lang="en-US" sz="950" dirty="0"/>
          </a:p>
        </p:txBody>
      </p:sp>
      <p:sp>
        <p:nvSpPr>
          <p:cNvPr id="50" name="Shape 48"/>
          <p:cNvSpPr/>
          <p:nvPr/>
        </p:nvSpPr>
        <p:spPr>
          <a:xfrm>
            <a:off x="571500" y="4743450"/>
            <a:ext cx="6667500" cy="400050"/>
          </a:xfrm>
          <a:prstGeom prst="roundRect">
            <a:avLst>
              <a:gd name="adj" fmla="val 9143"/>
            </a:avLst>
          </a:prstGeom>
          <a:solidFill>
            <a:srgbClr val="FFFFFF"/>
          </a:solidFill>
          <a:ln w="12700">
            <a:solidFill>
              <a:srgbClr val="D7E1EA"/>
            </a:solidFill>
            <a:prstDash val="solid"/>
          </a:ln>
        </p:spPr>
        <p:txBody>
          <a:bodyPr/>
          <a:lstStyle/>
          <a:p>
            <a:endParaRPr lang="en-IN"/>
          </a:p>
        </p:txBody>
      </p:sp>
      <p:sp>
        <p:nvSpPr>
          <p:cNvPr id="51" name="Text 49"/>
          <p:cNvSpPr/>
          <p:nvPr/>
        </p:nvSpPr>
        <p:spPr>
          <a:xfrm>
            <a:off x="704850" y="4848225"/>
            <a:ext cx="514350" cy="190500"/>
          </a:xfrm>
          <a:prstGeom prst="rect">
            <a:avLst/>
          </a:prstGeom>
          <a:noFill/>
          <a:ln/>
        </p:spPr>
        <p:txBody>
          <a:bodyPr wrap="square" lIns="0" tIns="0" rIns="0" bIns="0" rtlCol="0" anchor="t">
            <a:normAutofit/>
          </a:bodyPr>
          <a:lstStyle/>
          <a:p>
            <a:pPr marL="0" indent="0" algn="l">
              <a:lnSpc>
                <a:spcPct val="100000"/>
              </a:lnSpc>
              <a:buNone/>
            </a:pPr>
            <a:r>
              <a:rPr lang="en-US" sz="1300" b="1" dirty="0">
                <a:solidFill>
                  <a:srgbClr val="1C7293"/>
                </a:solidFill>
                <a:latin typeface="Cambria" pitchFamily="34" charset="0"/>
                <a:ea typeface="Cambria" pitchFamily="34" charset="-122"/>
                <a:cs typeface="Cambria" pitchFamily="34" charset="-120"/>
              </a:rPr>
              <a:t>M6a</a:t>
            </a:r>
            <a:endParaRPr lang="en-US" sz="1300" dirty="0"/>
          </a:p>
        </p:txBody>
      </p:sp>
      <p:sp>
        <p:nvSpPr>
          <p:cNvPr id="52" name="Text 50"/>
          <p:cNvSpPr/>
          <p:nvPr/>
        </p:nvSpPr>
        <p:spPr>
          <a:xfrm>
            <a:off x="1276350" y="4791075"/>
            <a:ext cx="2667000" cy="190500"/>
          </a:xfrm>
          <a:prstGeom prst="rect">
            <a:avLst/>
          </a:prstGeom>
          <a:noFill/>
          <a:ln/>
        </p:spPr>
        <p:txBody>
          <a:bodyPr wrap="square" lIns="0" tIns="0" rIns="0" bIns="0" rtlCol="0" anchor="t">
            <a:normAutofit/>
          </a:bodyPr>
          <a:lstStyle/>
          <a:p>
            <a:pPr marL="0" indent="0" algn="l">
              <a:lnSpc>
                <a:spcPct val="100000"/>
              </a:lnSpc>
              <a:buNone/>
            </a:pPr>
            <a:r>
              <a:rPr lang="en-US" sz="1320" b="1" dirty="0">
                <a:solidFill>
                  <a:srgbClr val="12263A"/>
                </a:solidFill>
                <a:latin typeface="Calibri" pitchFamily="34" charset="0"/>
                <a:ea typeface="Calibri" pitchFamily="34" charset="-122"/>
                <a:cs typeface="Calibri" pitchFamily="34" charset="-120"/>
              </a:rPr>
              <a:t>Testing and evaluation</a:t>
            </a:r>
            <a:endParaRPr lang="en-US" sz="1320" dirty="0"/>
          </a:p>
        </p:txBody>
      </p:sp>
      <p:sp>
        <p:nvSpPr>
          <p:cNvPr id="53" name="Text 51"/>
          <p:cNvSpPr/>
          <p:nvPr/>
        </p:nvSpPr>
        <p:spPr>
          <a:xfrm>
            <a:off x="1276350" y="4962525"/>
            <a:ext cx="4572000" cy="152400"/>
          </a:xfrm>
          <a:prstGeom prst="rect">
            <a:avLst/>
          </a:prstGeom>
          <a:noFill/>
          <a:ln/>
        </p:spPr>
        <p:txBody>
          <a:bodyPr wrap="square" lIns="0" tIns="0" rIns="0" bIns="0" rtlCol="0" anchor="t">
            <a:normAutofit/>
          </a:bodyPr>
          <a:lstStyle/>
          <a:p>
            <a:pPr marL="0" indent="0" algn="l">
              <a:lnSpc>
                <a:spcPct val="100000"/>
              </a:lnSpc>
              <a:buNone/>
            </a:pPr>
            <a:r>
              <a:rPr lang="en-US" sz="1100" dirty="0">
                <a:solidFill>
                  <a:srgbClr val="5B6B7C"/>
                </a:solidFill>
                <a:latin typeface="Calibri" pitchFamily="34" charset="0"/>
                <a:ea typeface="Calibri" pitchFamily="34" charset="-122"/>
                <a:cs typeface="Calibri" pitchFamily="34" charset="-120"/>
              </a:rPr>
              <a:t>168-run campaign plus rule-versus-ML comparison</a:t>
            </a:r>
            <a:endParaRPr lang="en-US" sz="1100" dirty="0"/>
          </a:p>
        </p:txBody>
      </p:sp>
      <p:sp>
        <p:nvSpPr>
          <p:cNvPr id="54" name="Shape 52"/>
          <p:cNvSpPr/>
          <p:nvPr/>
        </p:nvSpPr>
        <p:spPr>
          <a:xfrm>
            <a:off x="6096000" y="4829175"/>
            <a:ext cx="1009650" cy="228600"/>
          </a:xfrm>
          <a:prstGeom prst="roundRect">
            <a:avLst>
              <a:gd name="adj" fmla="val 16000"/>
            </a:avLst>
          </a:prstGeom>
          <a:solidFill>
            <a:srgbClr val="E3F3EA"/>
          </a:solidFill>
          <a:ln w="12700">
            <a:solidFill>
              <a:srgbClr val="1E8E5A"/>
            </a:solidFill>
            <a:prstDash val="solid"/>
          </a:ln>
        </p:spPr>
        <p:txBody>
          <a:bodyPr/>
          <a:lstStyle/>
          <a:p>
            <a:endParaRPr lang="en-IN"/>
          </a:p>
        </p:txBody>
      </p:sp>
      <p:sp>
        <p:nvSpPr>
          <p:cNvPr id="55" name="Text 53"/>
          <p:cNvSpPr/>
          <p:nvPr/>
        </p:nvSpPr>
        <p:spPr>
          <a:xfrm>
            <a:off x="6096000" y="4876800"/>
            <a:ext cx="1009650" cy="152400"/>
          </a:xfrm>
          <a:prstGeom prst="rect">
            <a:avLst/>
          </a:prstGeom>
          <a:noFill/>
          <a:ln/>
        </p:spPr>
        <p:txBody>
          <a:bodyPr wrap="square" lIns="0" tIns="0" rIns="0" bIns="0" rtlCol="0" anchor="t">
            <a:normAutofit/>
          </a:bodyPr>
          <a:lstStyle/>
          <a:p>
            <a:pPr marL="0" indent="0" algn="ctr">
              <a:lnSpc>
                <a:spcPct val="100000"/>
              </a:lnSpc>
              <a:buNone/>
            </a:pPr>
            <a:r>
              <a:rPr lang="en-US" sz="950" b="1" dirty="0">
                <a:solidFill>
                  <a:srgbClr val="1E8E5A"/>
                </a:solidFill>
                <a:latin typeface="Calibri" pitchFamily="34" charset="0"/>
                <a:ea typeface="Calibri" pitchFamily="34" charset="-122"/>
                <a:cs typeface="Calibri" pitchFamily="34" charset="-120"/>
              </a:rPr>
              <a:t>DONE</a:t>
            </a:r>
            <a:endParaRPr lang="en-US" sz="950" dirty="0"/>
          </a:p>
        </p:txBody>
      </p:sp>
      <p:sp>
        <p:nvSpPr>
          <p:cNvPr id="56" name="Shape 54"/>
          <p:cNvSpPr/>
          <p:nvPr/>
        </p:nvSpPr>
        <p:spPr>
          <a:xfrm>
            <a:off x="571500" y="5200650"/>
            <a:ext cx="6667500" cy="400050"/>
          </a:xfrm>
          <a:prstGeom prst="roundRect">
            <a:avLst>
              <a:gd name="adj" fmla="val 9143"/>
            </a:avLst>
          </a:prstGeom>
          <a:solidFill>
            <a:srgbClr val="FFFFFF"/>
          </a:solidFill>
          <a:ln w="12700">
            <a:solidFill>
              <a:srgbClr val="D7E1EA"/>
            </a:solidFill>
            <a:prstDash val="solid"/>
          </a:ln>
        </p:spPr>
        <p:txBody>
          <a:bodyPr/>
          <a:lstStyle/>
          <a:p>
            <a:endParaRPr lang="en-IN"/>
          </a:p>
        </p:txBody>
      </p:sp>
      <p:sp>
        <p:nvSpPr>
          <p:cNvPr id="57" name="Text 55"/>
          <p:cNvSpPr/>
          <p:nvPr/>
        </p:nvSpPr>
        <p:spPr>
          <a:xfrm>
            <a:off x="704850" y="5305425"/>
            <a:ext cx="514350" cy="190500"/>
          </a:xfrm>
          <a:prstGeom prst="rect">
            <a:avLst/>
          </a:prstGeom>
          <a:noFill/>
          <a:ln/>
        </p:spPr>
        <p:txBody>
          <a:bodyPr wrap="square" lIns="0" tIns="0" rIns="0" bIns="0" rtlCol="0" anchor="t">
            <a:normAutofit/>
          </a:bodyPr>
          <a:lstStyle/>
          <a:p>
            <a:pPr marL="0" indent="0" algn="l">
              <a:lnSpc>
                <a:spcPct val="100000"/>
              </a:lnSpc>
              <a:buNone/>
            </a:pPr>
            <a:r>
              <a:rPr lang="en-US" sz="1300" b="1" dirty="0">
                <a:solidFill>
                  <a:srgbClr val="1C7293"/>
                </a:solidFill>
                <a:latin typeface="Cambria" pitchFamily="34" charset="0"/>
                <a:ea typeface="Cambria" pitchFamily="34" charset="-122"/>
                <a:cs typeface="Cambria" pitchFamily="34" charset="-120"/>
              </a:rPr>
              <a:t>M6b</a:t>
            </a:r>
            <a:endParaRPr lang="en-US" sz="1300" dirty="0"/>
          </a:p>
        </p:txBody>
      </p:sp>
      <p:sp>
        <p:nvSpPr>
          <p:cNvPr id="58" name="Text 56"/>
          <p:cNvSpPr/>
          <p:nvPr/>
        </p:nvSpPr>
        <p:spPr>
          <a:xfrm>
            <a:off x="1276350" y="5248275"/>
            <a:ext cx="2667000" cy="190500"/>
          </a:xfrm>
          <a:prstGeom prst="rect">
            <a:avLst/>
          </a:prstGeom>
          <a:noFill/>
          <a:ln/>
        </p:spPr>
        <p:txBody>
          <a:bodyPr wrap="square" lIns="0" tIns="0" rIns="0" bIns="0" rtlCol="0" anchor="t">
            <a:normAutofit/>
          </a:bodyPr>
          <a:lstStyle/>
          <a:p>
            <a:pPr marL="0" indent="0" algn="l">
              <a:lnSpc>
                <a:spcPct val="100000"/>
              </a:lnSpc>
              <a:buNone/>
            </a:pPr>
            <a:r>
              <a:rPr lang="en-US" sz="1320" b="1" dirty="0">
                <a:solidFill>
                  <a:srgbClr val="12263A"/>
                </a:solidFill>
                <a:latin typeface="Calibri" pitchFamily="34" charset="0"/>
                <a:ea typeface="Calibri" pitchFamily="34" charset="-122"/>
                <a:cs typeface="Calibri" pitchFamily="34" charset="-120"/>
              </a:rPr>
              <a:t>Paper and IP draft</a:t>
            </a:r>
            <a:endParaRPr lang="en-US" sz="1320" dirty="0"/>
          </a:p>
        </p:txBody>
      </p:sp>
      <p:sp>
        <p:nvSpPr>
          <p:cNvPr id="59" name="Text 57"/>
          <p:cNvSpPr/>
          <p:nvPr/>
        </p:nvSpPr>
        <p:spPr>
          <a:xfrm>
            <a:off x="1276350" y="5419725"/>
            <a:ext cx="4572000" cy="152400"/>
          </a:xfrm>
          <a:prstGeom prst="rect">
            <a:avLst/>
          </a:prstGeom>
          <a:noFill/>
          <a:ln/>
        </p:spPr>
        <p:txBody>
          <a:bodyPr wrap="square" lIns="0" tIns="0" rIns="0" bIns="0" rtlCol="0" anchor="t">
            <a:normAutofit/>
          </a:bodyPr>
          <a:lstStyle/>
          <a:p>
            <a:pPr marL="0" indent="0" algn="l">
              <a:lnSpc>
                <a:spcPct val="100000"/>
              </a:lnSpc>
              <a:buNone/>
            </a:pPr>
            <a:r>
              <a:rPr lang="en-US" sz="1100" dirty="0">
                <a:solidFill>
                  <a:srgbClr val="5B6B7C"/>
                </a:solidFill>
                <a:latin typeface="Calibri" pitchFamily="34" charset="0"/>
                <a:ea typeface="Calibri" pitchFamily="34" charset="-122"/>
                <a:cs typeface="Calibri" pitchFamily="34" charset="-120"/>
              </a:rPr>
              <a:t>Publication and patent disclosure</a:t>
            </a:r>
            <a:endParaRPr lang="en-US" sz="1100" dirty="0"/>
          </a:p>
        </p:txBody>
      </p:sp>
      <p:sp>
        <p:nvSpPr>
          <p:cNvPr id="60" name="Shape 58"/>
          <p:cNvSpPr/>
          <p:nvPr/>
        </p:nvSpPr>
        <p:spPr>
          <a:xfrm>
            <a:off x="6096000" y="5286375"/>
            <a:ext cx="1009650" cy="228600"/>
          </a:xfrm>
          <a:prstGeom prst="roundRect">
            <a:avLst>
              <a:gd name="adj" fmla="val 16000"/>
            </a:avLst>
          </a:prstGeom>
          <a:solidFill>
            <a:srgbClr val="EEF1F4"/>
          </a:solidFill>
          <a:ln w="12700">
            <a:solidFill>
              <a:srgbClr val="5B6B7C"/>
            </a:solidFill>
            <a:prstDash val="solid"/>
          </a:ln>
        </p:spPr>
        <p:txBody>
          <a:bodyPr/>
          <a:lstStyle/>
          <a:p>
            <a:endParaRPr lang="en-IN"/>
          </a:p>
        </p:txBody>
      </p:sp>
      <p:sp>
        <p:nvSpPr>
          <p:cNvPr id="61" name="Text 59"/>
          <p:cNvSpPr/>
          <p:nvPr/>
        </p:nvSpPr>
        <p:spPr>
          <a:xfrm>
            <a:off x="6096000" y="5334000"/>
            <a:ext cx="1009650" cy="152400"/>
          </a:xfrm>
          <a:prstGeom prst="rect">
            <a:avLst/>
          </a:prstGeom>
          <a:noFill/>
          <a:ln/>
        </p:spPr>
        <p:txBody>
          <a:bodyPr wrap="square" lIns="0" tIns="0" rIns="0" bIns="0" rtlCol="0" anchor="t">
            <a:normAutofit/>
          </a:bodyPr>
          <a:lstStyle/>
          <a:p>
            <a:pPr marL="0" indent="0" algn="ctr">
              <a:lnSpc>
                <a:spcPct val="100000"/>
              </a:lnSpc>
              <a:buNone/>
            </a:pPr>
            <a:r>
              <a:rPr lang="en-US" sz="950" b="1" dirty="0">
                <a:solidFill>
                  <a:srgbClr val="5B6B7C"/>
                </a:solidFill>
                <a:latin typeface="Calibri" pitchFamily="34" charset="0"/>
                <a:ea typeface="Calibri" pitchFamily="34" charset="-122"/>
                <a:cs typeface="Calibri" pitchFamily="34" charset="-120"/>
              </a:rPr>
              <a:t>NOT STARTED</a:t>
            </a:r>
            <a:endParaRPr lang="en-US" sz="950" dirty="0"/>
          </a:p>
        </p:txBody>
      </p:sp>
      <p:sp>
        <p:nvSpPr>
          <p:cNvPr id="62" name="Shape 60"/>
          <p:cNvSpPr/>
          <p:nvPr/>
        </p:nvSpPr>
        <p:spPr>
          <a:xfrm>
            <a:off x="7524750" y="1866900"/>
            <a:ext cx="4095750" cy="3790950"/>
          </a:xfrm>
          <a:prstGeom prst="roundRect">
            <a:avLst>
              <a:gd name="adj" fmla="val 965"/>
            </a:avLst>
          </a:prstGeom>
          <a:solidFill>
            <a:srgbClr val="0E2440"/>
          </a:solidFill>
          <a:ln w="12700">
            <a:solidFill>
              <a:srgbClr val="0E2440"/>
            </a:solidFill>
            <a:prstDash val="solid"/>
          </a:ln>
        </p:spPr>
        <p:txBody>
          <a:bodyPr/>
          <a:lstStyle/>
          <a:p>
            <a:endParaRPr lang="en-IN"/>
          </a:p>
        </p:txBody>
      </p:sp>
      <p:sp>
        <p:nvSpPr>
          <p:cNvPr id="63" name="Text 61"/>
          <p:cNvSpPr/>
          <p:nvPr/>
        </p:nvSpPr>
        <p:spPr>
          <a:xfrm>
            <a:off x="7753350" y="2057400"/>
            <a:ext cx="3714750" cy="190500"/>
          </a:xfrm>
          <a:prstGeom prst="rect">
            <a:avLst/>
          </a:prstGeom>
          <a:noFill/>
          <a:ln/>
        </p:spPr>
        <p:txBody>
          <a:bodyPr wrap="square" lIns="0" tIns="0" rIns="0" bIns="0" rtlCol="0" anchor="t">
            <a:normAutofit/>
          </a:bodyPr>
          <a:lstStyle/>
          <a:p>
            <a:pPr marL="0" indent="0" algn="l">
              <a:lnSpc>
                <a:spcPct val="100000"/>
              </a:lnSpc>
              <a:buNone/>
            </a:pPr>
            <a:r>
              <a:rPr lang="en-US" sz="1150" b="1" dirty="0">
                <a:solidFill>
                  <a:srgbClr val="C58B18"/>
                </a:solidFill>
                <a:latin typeface="Calibri" pitchFamily="34" charset="0"/>
                <a:ea typeface="Calibri" pitchFamily="34" charset="-122"/>
                <a:cs typeface="Calibri" pitchFamily="34" charset="-120"/>
              </a:rPr>
              <a:t>WORKLET OBJECTIVES NOT YET ADDRESSED</a:t>
            </a:r>
            <a:endParaRPr lang="en-US" sz="1150" dirty="0"/>
          </a:p>
        </p:txBody>
      </p:sp>
      <p:sp>
        <p:nvSpPr>
          <p:cNvPr id="64" name="Text 62"/>
          <p:cNvSpPr/>
          <p:nvPr/>
        </p:nvSpPr>
        <p:spPr>
          <a:xfrm>
            <a:off x="7753350" y="2381250"/>
            <a:ext cx="228600" cy="190500"/>
          </a:xfrm>
          <a:prstGeom prst="rect">
            <a:avLst/>
          </a:prstGeom>
          <a:noFill/>
          <a:ln/>
        </p:spPr>
        <p:txBody>
          <a:bodyPr wrap="square" lIns="0" tIns="0" rIns="0" bIns="0" rtlCol="0" anchor="t">
            <a:normAutofit/>
          </a:bodyPr>
          <a:lstStyle/>
          <a:p>
            <a:pPr marL="0" indent="0" algn="l">
              <a:lnSpc>
                <a:spcPct val="100000"/>
              </a:lnSpc>
              <a:buNone/>
            </a:pPr>
            <a:r>
              <a:rPr lang="en-US" sz="1300" b="1" dirty="0">
                <a:solidFill>
                  <a:srgbClr val="C58B18"/>
                </a:solidFill>
                <a:latin typeface="Cambria" pitchFamily="34" charset="0"/>
                <a:ea typeface="Cambria" pitchFamily="34" charset="-122"/>
                <a:cs typeface="Cambria" pitchFamily="34" charset="-120"/>
              </a:rPr>
              <a:t>1</a:t>
            </a:r>
            <a:endParaRPr lang="en-US" sz="1300" dirty="0"/>
          </a:p>
        </p:txBody>
      </p:sp>
      <p:sp>
        <p:nvSpPr>
          <p:cNvPr id="65" name="Text 63"/>
          <p:cNvSpPr/>
          <p:nvPr/>
        </p:nvSpPr>
        <p:spPr>
          <a:xfrm>
            <a:off x="8039100" y="2381250"/>
            <a:ext cx="3390900" cy="209550"/>
          </a:xfrm>
          <a:prstGeom prst="rect">
            <a:avLst/>
          </a:prstGeom>
          <a:noFill/>
          <a:ln/>
        </p:spPr>
        <p:txBody>
          <a:bodyPr wrap="square" lIns="0" tIns="0" rIns="0" bIns="0" rtlCol="0" anchor="t">
            <a:normAutofit/>
          </a:bodyPr>
          <a:lstStyle/>
          <a:p>
            <a:pPr marL="0" indent="0" algn="l">
              <a:lnSpc>
                <a:spcPct val="100000"/>
              </a:lnSpc>
              <a:buNone/>
            </a:pPr>
            <a:r>
              <a:rPr lang="en-US" sz="1500" b="1" dirty="0">
                <a:solidFill>
                  <a:srgbClr val="FFFFFF"/>
                </a:solidFill>
                <a:latin typeface="Cambria" pitchFamily="34" charset="0"/>
                <a:ea typeface="Cambria" pitchFamily="34" charset="-122"/>
                <a:cs typeface="Cambria" pitchFamily="34" charset="-120"/>
              </a:rPr>
              <a:t>Fault prediction</a:t>
            </a:r>
            <a:endParaRPr lang="en-US" sz="1500" dirty="0"/>
          </a:p>
        </p:txBody>
      </p:sp>
      <p:sp>
        <p:nvSpPr>
          <p:cNvPr id="66" name="Text 64"/>
          <p:cNvSpPr/>
          <p:nvPr/>
        </p:nvSpPr>
        <p:spPr>
          <a:xfrm>
            <a:off x="8039100" y="2609850"/>
            <a:ext cx="3390900" cy="552450"/>
          </a:xfrm>
          <a:prstGeom prst="rect">
            <a:avLst/>
          </a:prstGeom>
          <a:noFill/>
          <a:ln/>
        </p:spPr>
        <p:txBody>
          <a:bodyPr wrap="square" lIns="0" tIns="0" rIns="0" bIns="0" rtlCol="0" anchor="t">
            <a:normAutofit/>
          </a:bodyPr>
          <a:lstStyle/>
          <a:p>
            <a:pPr marL="0" indent="0" algn="l">
              <a:lnSpc>
                <a:spcPct val="100000"/>
              </a:lnSpc>
              <a:buNone/>
            </a:pPr>
            <a:r>
              <a:rPr lang="en-US" sz="1200" dirty="0">
                <a:solidFill>
                  <a:srgbClr val="CFD9E5"/>
                </a:solidFill>
                <a:latin typeface="Calibri" pitchFamily="34" charset="0"/>
                <a:ea typeface="Calibri" pitchFamily="34" charset="-122"/>
                <a:cs typeface="Calibri" pitchFamily="34" charset="-120"/>
              </a:rPr>
              <a:t>Prediction before service disruption was not attempted in this campaign.</a:t>
            </a:r>
            <a:endParaRPr lang="en-US" sz="1200" dirty="0"/>
          </a:p>
        </p:txBody>
      </p:sp>
      <p:sp>
        <p:nvSpPr>
          <p:cNvPr id="67" name="Text 65"/>
          <p:cNvSpPr/>
          <p:nvPr/>
        </p:nvSpPr>
        <p:spPr>
          <a:xfrm>
            <a:off x="7753350" y="3200400"/>
            <a:ext cx="228600" cy="190500"/>
          </a:xfrm>
          <a:prstGeom prst="rect">
            <a:avLst/>
          </a:prstGeom>
          <a:noFill/>
          <a:ln/>
        </p:spPr>
        <p:txBody>
          <a:bodyPr wrap="square" lIns="0" tIns="0" rIns="0" bIns="0" rtlCol="0" anchor="t">
            <a:normAutofit/>
          </a:bodyPr>
          <a:lstStyle/>
          <a:p>
            <a:pPr marL="0" indent="0" algn="l">
              <a:lnSpc>
                <a:spcPct val="100000"/>
              </a:lnSpc>
              <a:buNone/>
            </a:pPr>
            <a:r>
              <a:rPr lang="en-US" sz="1300" b="1" dirty="0">
                <a:solidFill>
                  <a:srgbClr val="C58B18"/>
                </a:solidFill>
                <a:latin typeface="Cambria" pitchFamily="34" charset="0"/>
                <a:ea typeface="Cambria" pitchFamily="34" charset="-122"/>
                <a:cs typeface="Cambria" pitchFamily="34" charset="-120"/>
              </a:rPr>
              <a:t>2</a:t>
            </a:r>
            <a:endParaRPr lang="en-US" sz="1300" dirty="0"/>
          </a:p>
        </p:txBody>
      </p:sp>
      <p:sp>
        <p:nvSpPr>
          <p:cNvPr id="68" name="Text 66"/>
          <p:cNvSpPr/>
          <p:nvPr/>
        </p:nvSpPr>
        <p:spPr>
          <a:xfrm>
            <a:off x="8039100" y="3200400"/>
            <a:ext cx="3390900" cy="209550"/>
          </a:xfrm>
          <a:prstGeom prst="rect">
            <a:avLst/>
          </a:prstGeom>
          <a:noFill/>
          <a:ln/>
        </p:spPr>
        <p:txBody>
          <a:bodyPr wrap="square" lIns="0" tIns="0" rIns="0" bIns="0" rtlCol="0" anchor="t">
            <a:normAutofit/>
          </a:bodyPr>
          <a:lstStyle/>
          <a:p>
            <a:pPr marL="0" indent="0" algn="l">
              <a:lnSpc>
                <a:spcPct val="100000"/>
              </a:lnSpc>
              <a:buNone/>
            </a:pPr>
            <a:r>
              <a:rPr lang="en-US" sz="1500" b="1" dirty="0">
                <a:solidFill>
                  <a:srgbClr val="FFFFFF"/>
                </a:solidFill>
                <a:latin typeface="Cambria" pitchFamily="34" charset="0"/>
                <a:ea typeface="Cambria" pitchFamily="34" charset="-122"/>
                <a:cs typeface="Cambria" pitchFamily="34" charset="-120"/>
              </a:rPr>
              <a:t>Automated corrective action</a:t>
            </a:r>
            <a:endParaRPr lang="en-US" sz="1500" dirty="0"/>
          </a:p>
        </p:txBody>
      </p:sp>
      <p:sp>
        <p:nvSpPr>
          <p:cNvPr id="69" name="Text 67"/>
          <p:cNvSpPr/>
          <p:nvPr/>
        </p:nvSpPr>
        <p:spPr>
          <a:xfrm>
            <a:off x="8039100" y="3429000"/>
            <a:ext cx="3390900" cy="552450"/>
          </a:xfrm>
          <a:prstGeom prst="rect">
            <a:avLst/>
          </a:prstGeom>
          <a:noFill/>
          <a:ln/>
        </p:spPr>
        <p:txBody>
          <a:bodyPr wrap="square" lIns="0" tIns="0" rIns="0" bIns="0" rtlCol="0" anchor="t">
            <a:normAutofit/>
          </a:bodyPr>
          <a:lstStyle/>
          <a:p>
            <a:pPr marL="0" indent="0" algn="l">
              <a:lnSpc>
                <a:spcPct val="100000"/>
              </a:lnSpc>
              <a:buNone/>
            </a:pPr>
            <a:r>
              <a:rPr lang="en-US" sz="1200" dirty="0">
                <a:solidFill>
                  <a:srgbClr val="CFD9E5"/>
                </a:solidFill>
                <a:latin typeface="Calibri" pitchFamily="34" charset="0"/>
                <a:ea typeface="Calibri" pitchFamily="34" charset="-122"/>
                <a:cs typeface="Calibri" pitchFamily="34" charset="-120"/>
              </a:rPr>
              <a:t>No corrective action was executed or measured. ISOLATE, HOLDOVER and ESCALATE are verdict outputs, not actions taken.</a:t>
            </a:r>
            <a:endParaRPr lang="en-US" sz="1200" dirty="0"/>
          </a:p>
        </p:txBody>
      </p:sp>
      <p:sp>
        <p:nvSpPr>
          <p:cNvPr id="70" name="Text 68"/>
          <p:cNvSpPr/>
          <p:nvPr/>
        </p:nvSpPr>
        <p:spPr>
          <a:xfrm>
            <a:off x="7753350" y="4019550"/>
            <a:ext cx="228600" cy="190500"/>
          </a:xfrm>
          <a:prstGeom prst="rect">
            <a:avLst/>
          </a:prstGeom>
          <a:noFill/>
          <a:ln/>
        </p:spPr>
        <p:txBody>
          <a:bodyPr wrap="square" lIns="0" tIns="0" rIns="0" bIns="0" rtlCol="0" anchor="t">
            <a:normAutofit/>
          </a:bodyPr>
          <a:lstStyle/>
          <a:p>
            <a:pPr marL="0" indent="0" algn="l">
              <a:lnSpc>
                <a:spcPct val="100000"/>
              </a:lnSpc>
              <a:buNone/>
            </a:pPr>
            <a:r>
              <a:rPr lang="en-US" sz="1300" b="1" dirty="0">
                <a:solidFill>
                  <a:srgbClr val="C58B18"/>
                </a:solidFill>
                <a:latin typeface="Cambria" pitchFamily="34" charset="0"/>
                <a:ea typeface="Cambria" pitchFamily="34" charset="-122"/>
                <a:cs typeface="Cambria" pitchFamily="34" charset="-120"/>
              </a:rPr>
              <a:t>3</a:t>
            </a:r>
            <a:endParaRPr lang="en-US" sz="1300" dirty="0"/>
          </a:p>
        </p:txBody>
      </p:sp>
      <p:sp>
        <p:nvSpPr>
          <p:cNvPr id="71" name="Text 69"/>
          <p:cNvSpPr/>
          <p:nvPr/>
        </p:nvSpPr>
        <p:spPr>
          <a:xfrm>
            <a:off x="8039100" y="4019550"/>
            <a:ext cx="3390900" cy="209550"/>
          </a:xfrm>
          <a:prstGeom prst="rect">
            <a:avLst/>
          </a:prstGeom>
          <a:noFill/>
          <a:ln/>
        </p:spPr>
        <p:txBody>
          <a:bodyPr wrap="square" lIns="0" tIns="0" rIns="0" bIns="0" rtlCol="0" anchor="t">
            <a:normAutofit/>
          </a:bodyPr>
          <a:lstStyle/>
          <a:p>
            <a:pPr marL="0" indent="0" algn="l">
              <a:lnSpc>
                <a:spcPct val="100000"/>
              </a:lnSpc>
              <a:buNone/>
            </a:pPr>
            <a:r>
              <a:rPr lang="en-US" sz="1500" b="1" dirty="0">
                <a:solidFill>
                  <a:srgbClr val="FFFFFF"/>
                </a:solidFill>
                <a:latin typeface="Cambria" pitchFamily="34" charset="0"/>
                <a:ea typeface="Cambria" pitchFamily="34" charset="-122"/>
                <a:cs typeface="Cambria" pitchFamily="34" charset="-120"/>
              </a:rPr>
              <a:t>Digital-twin validation</a:t>
            </a:r>
            <a:endParaRPr lang="en-US" sz="1500" dirty="0"/>
          </a:p>
        </p:txBody>
      </p:sp>
      <p:sp>
        <p:nvSpPr>
          <p:cNvPr id="72" name="Text 70"/>
          <p:cNvSpPr/>
          <p:nvPr/>
        </p:nvSpPr>
        <p:spPr>
          <a:xfrm>
            <a:off x="8039100" y="4248150"/>
            <a:ext cx="3390900" cy="552450"/>
          </a:xfrm>
          <a:prstGeom prst="rect">
            <a:avLst/>
          </a:prstGeom>
          <a:noFill/>
          <a:ln/>
        </p:spPr>
        <p:txBody>
          <a:bodyPr wrap="square" lIns="0" tIns="0" rIns="0" bIns="0" rtlCol="0" anchor="t">
            <a:normAutofit/>
          </a:bodyPr>
          <a:lstStyle/>
          <a:p>
            <a:pPr marL="0" indent="0" algn="l">
              <a:lnSpc>
                <a:spcPct val="100000"/>
              </a:lnSpc>
              <a:buNone/>
            </a:pPr>
            <a:r>
              <a:rPr lang="en-US" sz="1200" dirty="0">
                <a:solidFill>
                  <a:srgbClr val="CFD9E5"/>
                </a:solidFill>
                <a:latin typeface="Calibri" pitchFamily="34" charset="0"/>
                <a:ea typeface="Calibri" pitchFamily="34" charset="-122"/>
                <a:cs typeface="Calibri" pitchFamily="34" charset="-120"/>
              </a:rPr>
              <a:t>The digital twin was not exercised; fault injection ran directly on the testbed.</a:t>
            </a:r>
            <a:endParaRPr lang="en-US" sz="1200" dirty="0"/>
          </a:p>
        </p:txBody>
      </p:sp>
      <p:sp>
        <p:nvSpPr>
          <p:cNvPr id="73" name="Text 71"/>
          <p:cNvSpPr/>
          <p:nvPr/>
        </p:nvSpPr>
        <p:spPr>
          <a:xfrm>
            <a:off x="7753350" y="4838700"/>
            <a:ext cx="228600" cy="190500"/>
          </a:xfrm>
          <a:prstGeom prst="rect">
            <a:avLst/>
          </a:prstGeom>
          <a:noFill/>
          <a:ln/>
        </p:spPr>
        <p:txBody>
          <a:bodyPr wrap="square" lIns="0" tIns="0" rIns="0" bIns="0" rtlCol="0" anchor="t">
            <a:normAutofit/>
          </a:bodyPr>
          <a:lstStyle/>
          <a:p>
            <a:pPr marL="0" indent="0" algn="l">
              <a:lnSpc>
                <a:spcPct val="100000"/>
              </a:lnSpc>
              <a:buNone/>
            </a:pPr>
            <a:r>
              <a:rPr lang="en-US" sz="1300" b="1" dirty="0">
                <a:solidFill>
                  <a:srgbClr val="C58B18"/>
                </a:solidFill>
                <a:latin typeface="Cambria" pitchFamily="34" charset="0"/>
                <a:ea typeface="Cambria" pitchFamily="34" charset="-122"/>
                <a:cs typeface="Cambria" pitchFamily="34" charset="-120"/>
              </a:rPr>
              <a:t>4</a:t>
            </a:r>
            <a:endParaRPr lang="en-US" sz="1300" dirty="0"/>
          </a:p>
        </p:txBody>
      </p:sp>
      <p:sp>
        <p:nvSpPr>
          <p:cNvPr id="74" name="Text 72"/>
          <p:cNvSpPr/>
          <p:nvPr/>
        </p:nvSpPr>
        <p:spPr>
          <a:xfrm>
            <a:off x="8039100" y="4838700"/>
            <a:ext cx="3390900" cy="209550"/>
          </a:xfrm>
          <a:prstGeom prst="rect">
            <a:avLst/>
          </a:prstGeom>
          <a:noFill/>
          <a:ln/>
        </p:spPr>
        <p:txBody>
          <a:bodyPr wrap="square" lIns="0" tIns="0" rIns="0" bIns="0" rtlCol="0" anchor="t">
            <a:normAutofit/>
          </a:bodyPr>
          <a:lstStyle/>
          <a:p>
            <a:pPr marL="0" indent="0" algn="l">
              <a:lnSpc>
                <a:spcPct val="100000"/>
              </a:lnSpc>
              <a:buNone/>
            </a:pPr>
            <a:r>
              <a:rPr lang="en-US" sz="1500" b="1" dirty="0">
                <a:solidFill>
                  <a:srgbClr val="FFFFFF"/>
                </a:solidFill>
                <a:latin typeface="Cambria" pitchFamily="34" charset="0"/>
                <a:ea typeface="Cambria" pitchFamily="34" charset="-122"/>
                <a:cs typeface="Cambria" pitchFamily="34" charset="-120"/>
              </a:rPr>
              <a:t>Outcome metrics</a:t>
            </a:r>
            <a:endParaRPr lang="en-US" sz="1500" dirty="0"/>
          </a:p>
        </p:txBody>
      </p:sp>
      <p:sp>
        <p:nvSpPr>
          <p:cNvPr id="75" name="Text 73"/>
          <p:cNvSpPr/>
          <p:nvPr/>
        </p:nvSpPr>
        <p:spPr>
          <a:xfrm>
            <a:off x="8039100" y="5067300"/>
            <a:ext cx="3390900" cy="552450"/>
          </a:xfrm>
          <a:prstGeom prst="rect">
            <a:avLst/>
          </a:prstGeom>
          <a:noFill/>
          <a:ln/>
        </p:spPr>
        <p:txBody>
          <a:bodyPr wrap="square" lIns="0" tIns="0" rIns="0" bIns="0" rtlCol="0" anchor="t">
            <a:normAutofit/>
          </a:bodyPr>
          <a:lstStyle/>
          <a:p>
            <a:pPr marL="0" indent="0" algn="l">
              <a:lnSpc>
                <a:spcPct val="100000"/>
              </a:lnSpc>
              <a:buNone/>
            </a:pPr>
            <a:r>
              <a:rPr lang="en-US" sz="1200" dirty="0">
                <a:solidFill>
                  <a:srgbClr val="CFD9E5"/>
                </a:solidFill>
                <a:latin typeface="Calibri" pitchFamily="34" charset="0"/>
                <a:ea typeface="Calibri" pitchFamily="34" charset="-122"/>
                <a:cs typeface="Calibri" pitchFamily="34" charset="-120"/>
              </a:rPr>
              <a:t>No MTTR, recovery-time, availability or downtime figure was measured on this testbed.</a:t>
            </a:r>
            <a:endParaRPr lang="en-US" sz="1200" dirty="0"/>
          </a:p>
        </p:txBody>
      </p:sp>
      <p:sp>
        <p:nvSpPr>
          <p:cNvPr id="76" name="Shape 74"/>
          <p:cNvSpPr/>
          <p:nvPr/>
        </p:nvSpPr>
        <p:spPr>
          <a:xfrm>
            <a:off x="571500" y="5848350"/>
            <a:ext cx="11049000" cy="628650"/>
          </a:xfrm>
          <a:prstGeom prst="roundRect">
            <a:avLst>
              <a:gd name="adj" fmla="val 5818"/>
            </a:avLst>
          </a:prstGeom>
          <a:solidFill>
            <a:srgbClr val="FFF8E8"/>
          </a:solidFill>
          <a:ln w="12700">
            <a:solidFill>
              <a:srgbClr val="C58B18"/>
            </a:solidFill>
            <a:prstDash val="solid"/>
          </a:ln>
        </p:spPr>
        <p:txBody>
          <a:bodyPr/>
          <a:lstStyle/>
          <a:p>
            <a:endParaRPr lang="en-IN"/>
          </a:p>
        </p:txBody>
      </p:sp>
      <p:sp>
        <p:nvSpPr>
          <p:cNvPr id="77" name="Text 75"/>
          <p:cNvSpPr/>
          <p:nvPr/>
        </p:nvSpPr>
        <p:spPr>
          <a:xfrm>
            <a:off x="781050" y="5991225"/>
            <a:ext cx="1809750" cy="238125"/>
          </a:xfrm>
          <a:prstGeom prst="rect">
            <a:avLst/>
          </a:prstGeom>
          <a:noFill/>
          <a:ln/>
        </p:spPr>
        <p:txBody>
          <a:bodyPr wrap="square" lIns="0" tIns="0" rIns="0" bIns="0" rtlCol="0" anchor="t">
            <a:normAutofit/>
          </a:bodyPr>
          <a:lstStyle/>
          <a:p>
            <a:pPr marL="0" indent="0" algn="l">
              <a:lnSpc>
                <a:spcPct val="100000"/>
              </a:lnSpc>
              <a:buNone/>
            </a:pPr>
            <a:r>
              <a:rPr lang="en-US" sz="1600" b="1" dirty="0">
                <a:solidFill>
                  <a:srgbClr val="C58B18"/>
                </a:solidFill>
                <a:latin typeface="Cambria" pitchFamily="34" charset="0"/>
                <a:ea typeface="Cambria" pitchFamily="34" charset="-122"/>
                <a:cs typeface="Cambria" pitchFamily="34" charset="-120"/>
              </a:rPr>
              <a:t>Next gate</a:t>
            </a:r>
            <a:endParaRPr lang="en-US" sz="1600" dirty="0"/>
          </a:p>
        </p:txBody>
      </p:sp>
      <p:sp>
        <p:nvSpPr>
          <p:cNvPr id="78" name="Text 76"/>
          <p:cNvSpPr/>
          <p:nvPr/>
        </p:nvSpPr>
        <p:spPr>
          <a:xfrm>
            <a:off x="2781300" y="5972175"/>
            <a:ext cx="8629650" cy="400050"/>
          </a:xfrm>
          <a:prstGeom prst="rect">
            <a:avLst/>
          </a:prstGeom>
          <a:noFill/>
          <a:ln/>
        </p:spPr>
        <p:txBody>
          <a:bodyPr wrap="square" lIns="0" tIns="0" rIns="0" bIns="0" rtlCol="0" anchor="t">
            <a:normAutofit/>
          </a:bodyPr>
          <a:lstStyle/>
          <a:p>
            <a:pPr marL="0" indent="0" algn="l">
              <a:lnSpc>
                <a:spcPct val="100000"/>
              </a:lnSpc>
              <a:buNone/>
            </a:pPr>
            <a:r>
              <a:rPr lang="en-US" sz="1220" b="1" dirty="0">
                <a:solidFill>
                  <a:srgbClr val="12263A"/>
                </a:solidFill>
                <a:latin typeface="Calibri" pitchFamily="34" charset="0"/>
                <a:ea typeface="Calibri" pitchFamily="34" charset="-122"/>
                <a:cs typeface="Calibri" pitchFamily="34" charset="-120"/>
              </a:rPr>
              <a:t>The missing objectives must be executed and their recovery outcomes measured before any self-healing claim is made. The work reported here establishes detection and classification, which is the prerequisite for them.</a:t>
            </a:r>
            <a:endParaRPr lang="en-US" sz="122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8FAFC"/>
          </a:solidFill>
          <a:ln/>
        </p:spPr>
        <p:txBody>
          <a:bodyPr/>
          <a:lstStyle/>
          <a:p>
            <a:endParaRPr lang="en-IN"/>
          </a:p>
        </p:txBody>
      </p:sp>
      <p:sp>
        <p:nvSpPr>
          <p:cNvPr id="3" name="Shape 1"/>
          <p:cNvSpPr/>
          <p:nvPr/>
        </p:nvSpPr>
        <p:spPr>
          <a:xfrm>
            <a:off x="0" y="0"/>
            <a:ext cx="12192000" cy="114300"/>
          </a:xfrm>
          <a:prstGeom prst="rect">
            <a:avLst/>
          </a:prstGeom>
          <a:solidFill>
            <a:srgbClr val="18B89A"/>
          </a:solidFill>
          <a:ln/>
        </p:spPr>
        <p:txBody>
          <a:bodyPr/>
          <a:lstStyle/>
          <a:p>
            <a:endParaRPr lang="en-IN"/>
          </a:p>
        </p:txBody>
      </p:sp>
      <p:sp>
        <p:nvSpPr>
          <p:cNvPr id="4" name="Text 2"/>
          <p:cNvSpPr/>
          <p:nvPr/>
        </p:nvSpPr>
        <p:spPr>
          <a:xfrm>
            <a:off x="571500" y="209550"/>
            <a:ext cx="11049000" cy="228600"/>
          </a:xfrm>
          <a:prstGeom prst="rect">
            <a:avLst/>
          </a:prstGeom>
          <a:noFill/>
          <a:ln/>
        </p:spPr>
        <p:txBody>
          <a:bodyPr wrap="square" lIns="0" tIns="0" rIns="0" bIns="0" rtlCol="0" anchor="t">
            <a:normAutofit/>
          </a:bodyPr>
          <a:lstStyle/>
          <a:p>
            <a:pPr marL="0" indent="0" algn="l">
              <a:lnSpc>
                <a:spcPct val="100000"/>
              </a:lnSpc>
              <a:buNone/>
            </a:pPr>
            <a:r>
              <a:rPr lang="en-US" sz="1280" b="1" dirty="0">
                <a:solidFill>
                  <a:srgbClr val="1C7293"/>
                </a:solidFill>
                <a:latin typeface="Calibri" pitchFamily="34" charset="0"/>
                <a:ea typeface="Calibri" pitchFamily="34" charset="-122"/>
                <a:cs typeface="Calibri" pitchFamily="34" charset="-120"/>
              </a:rPr>
              <a:t>RESOLUTION PLAN</a:t>
            </a:r>
            <a:endParaRPr lang="en-US" sz="1280" dirty="0"/>
          </a:p>
        </p:txBody>
      </p:sp>
      <p:sp>
        <p:nvSpPr>
          <p:cNvPr id="5" name="Text 3"/>
          <p:cNvSpPr/>
          <p:nvPr/>
        </p:nvSpPr>
        <p:spPr>
          <a:xfrm>
            <a:off x="571500" y="447675"/>
            <a:ext cx="11049000" cy="552450"/>
          </a:xfrm>
          <a:prstGeom prst="rect">
            <a:avLst/>
          </a:prstGeom>
          <a:noFill/>
          <a:ln/>
        </p:spPr>
        <p:txBody>
          <a:bodyPr wrap="square" lIns="0" tIns="0" rIns="0" bIns="0" rtlCol="0" anchor="t">
            <a:normAutofit/>
          </a:bodyPr>
          <a:lstStyle/>
          <a:p>
            <a:pPr marL="0" indent="0" algn="l">
              <a:lnSpc>
                <a:spcPct val="100000"/>
              </a:lnSpc>
              <a:buNone/>
            </a:pPr>
            <a:r>
              <a:rPr lang="en-US" sz="3500" b="1" dirty="0">
                <a:solidFill>
                  <a:srgbClr val="12263A"/>
                </a:solidFill>
                <a:latin typeface="Cambria" pitchFamily="34" charset="0"/>
                <a:ea typeface="Cambria" pitchFamily="34" charset="-122"/>
                <a:cs typeface="Cambria" pitchFamily="34" charset="-120"/>
              </a:rPr>
              <a:t>Remaining Work: Software and Hardware</a:t>
            </a:r>
            <a:endParaRPr lang="en-US" sz="3500" dirty="0"/>
          </a:p>
        </p:txBody>
      </p:sp>
      <p:sp>
        <p:nvSpPr>
          <p:cNvPr id="6" name="Shape 4"/>
          <p:cNvSpPr/>
          <p:nvPr/>
        </p:nvSpPr>
        <p:spPr>
          <a:xfrm>
            <a:off x="571500" y="1057275"/>
            <a:ext cx="11049000" cy="438150"/>
          </a:xfrm>
          <a:prstGeom prst="roundRect">
            <a:avLst>
              <a:gd name="adj" fmla="val 8348"/>
            </a:avLst>
          </a:prstGeom>
          <a:solidFill>
            <a:srgbClr val="EAF2F8"/>
          </a:solidFill>
          <a:ln w="12700">
            <a:solidFill>
              <a:srgbClr val="D7E1EA"/>
            </a:solidFill>
            <a:prstDash val="solid"/>
          </a:ln>
        </p:spPr>
        <p:txBody>
          <a:bodyPr/>
          <a:lstStyle/>
          <a:p>
            <a:endParaRPr lang="en-IN"/>
          </a:p>
        </p:txBody>
      </p:sp>
      <p:sp>
        <p:nvSpPr>
          <p:cNvPr id="7" name="Text 5"/>
          <p:cNvSpPr/>
          <p:nvPr/>
        </p:nvSpPr>
        <p:spPr>
          <a:xfrm>
            <a:off x="723900" y="1123950"/>
            <a:ext cx="10744200" cy="323850"/>
          </a:xfrm>
          <a:prstGeom prst="rect">
            <a:avLst/>
          </a:prstGeom>
          <a:noFill/>
          <a:ln/>
        </p:spPr>
        <p:txBody>
          <a:bodyPr wrap="square" lIns="0" tIns="0" rIns="0" bIns="0" rtlCol="0" anchor="t">
            <a:normAutofit/>
          </a:bodyPr>
          <a:lstStyle/>
          <a:p>
            <a:pPr marL="0" indent="0" algn="l">
              <a:lnSpc>
                <a:spcPct val="102000"/>
              </a:lnSpc>
              <a:buNone/>
            </a:pPr>
            <a:r>
              <a:rPr lang="en-US" sz="1120" dirty="0">
                <a:solidFill>
                  <a:srgbClr val="5B6B7C"/>
                </a:solidFill>
                <a:latin typeface="Calibri" pitchFamily="34" charset="0"/>
                <a:ea typeface="Calibri" pitchFamily="34" charset="-122"/>
                <a:cs typeface="Calibri" pitchFamily="34" charset="-120"/>
              </a:rPr>
              <a:t>Software items are actionable on the existing testbed  |  Hardware items require equipment not present in a software-only environment  |  Each item maps to a limitation stated on the preceding slides</a:t>
            </a:r>
            <a:endParaRPr lang="en-US" sz="1120" dirty="0"/>
          </a:p>
        </p:txBody>
      </p:sp>
      <p:sp>
        <p:nvSpPr>
          <p:cNvPr id="8" name="Shape 6"/>
          <p:cNvSpPr/>
          <p:nvPr/>
        </p:nvSpPr>
        <p:spPr>
          <a:xfrm>
            <a:off x="571500" y="1638300"/>
            <a:ext cx="5381625" cy="400050"/>
          </a:xfrm>
          <a:prstGeom prst="roundRect">
            <a:avLst>
              <a:gd name="adj" fmla="val 9143"/>
            </a:avLst>
          </a:prstGeom>
          <a:solidFill>
            <a:srgbClr val="0E2440"/>
          </a:solidFill>
          <a:ln w="12700">
            <a:solidFill>
              <a:srgbClr val="0E2440"/>
            </a:solidFill>
            <a:prstDash val="solid"/>
          </a:ln>
        </p:spPr>
        <p:txBody>
          <a:bodyPr/>
          <a:lstStyle/>
          <a:p>
            <a:endParaRPr lang="en-IN"/>
          </a:p>
        </p:txBody>
      </p:sp>
      <p:sp>
        <p:nvSpPr>
          <p:cNvPr id="9" name="Text 7"/>
          <p:cNvSpPr/>
          <p:nvPr/>
        </p:nvSpPr>
        <p:spPr>
          <a:xfrm>
            <a:off x="800100" y="1752600"/>
            <a:ext cx="4762500" cy="19050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18B89A"/>
                </a:solidFill>
                <a:latin typeface="Calibri" pitchFamily="34" charset="0"/>
                <a:ea typeface="Calibri" pitchFamily="34" charset="-122"/>
                <a:cs typeface="Calibri" pitchFamily="34" charset="-120"/>
              </a:rPr>
              <a:t>SOFTWARE — ACTIONABLE IMMEDIATELY</a:t>
            </a:r>
            <a:endParaRPr lang="en-US" sz="1200" dirty="0"/>
          </a:p>
        </p:txBody>
      </p:sp>
      <p:sp>
        <p:nvSpPr>
          <p:cNvPr id="10" name="Shape 8"/>
          <p:cNvSpPr/>
          <p:nvPr/>
        </p:nvSpPr>
        <p:spPr>
          <a:xfrm>
            <a:off x="571500" y="2133600"/>
            <a:ext cx="5381625" cy="762000"/>
          </a:xfrm>
          <a:prstGeom prst="roundRect">
            <a:avLst>
              <a:gd name="adj" fmla="val 4800"/>
            </a:avLst>
          </a:prstGeom>
          <a:solidFill>
            <a:srgbClr val="FFFFFF"/>
          </a:solidFill>
          <a:ln w="12700">
            <a:solidFill>
              <a:srgbClr val="D7E1EA"/>
            </a:solidFill>
            <a:prstDash val="solid"/>
          </a:ln>
        </p:spPr>
        <p:txBody>
          <a:bodyPr/>
          <a:lstStyle/>
          <a:p>
            <a:endParaRPr lang="en-IN"/>
          </a:p>
        </p:txBody>
      </p:sp>
      <p:sp>
        <p:nvSpPr>
          <p:cNvPr id="11" name="Shape 9"/>
          <p:cNvSpPr/>
          <p:nvPr/>
        </p:nvSpPr>
        <p:spPr>
          <a:xfrm>
            <a:off x="571500" y="2133600"/>
            <a:ext cx="38100" cy="762000"/>
          </a:xfrm>
          <a:prstGeom prst="rect">
            <a:avLst/>
          </a:prstGeom>
          <a:solidFill>
            <a:srgbClr val="18B89A"/>
          </a:solidFill>
          <a:ln/>
        </p:spPr>
        <p:txBody>
          <a:bodyPr/>
          <a:lstStyle/>
          <a:p>
            <a:endParaRPr lang="en-IN"/>
          </a:p>
        </p:txBody>
      </p:sp>
      <p:sp>
        <p:nvSpPr>
          <p:cNvPr id="12" name="Text 10"/>
          <p:cNvSpPr/>
          <p:nvPr/>
        </p:nvSpPr>
        <p:spPr>
          <a:xfrm>
            <a:off x="800100" y="2228850"/>
            <a:ext cx="4762500" cy="209550"/>
          </a:xfrm>
          <a:prstGeom prst="rect">
            <a:avLst/>
          </a:prstGeom>
          <a:noFill/>
          <a:ln/>
        </p:spPr>
        <p:txBody>
          <a:bodyPr wrap="square" lIns="0" tIns="0" rIns="0" bIns="0" rtlCol="0" anchor="t">
            <a:normAutofit/>
          </a:bodyPr>
          <a:lstStyle/>
          <a:p>
            <a:pPr marL="0" indent="0" algn="l">
              <a:lnSpc>
                <a:spcPct val="100000"/>
              </a:lnSpc>
              <a:buNone/>
            </a:pPr>
            <a:r>
              <a:rPr lang="en-US" sz="1400" b="1" dirty="0">
                <a:solidFill>
                  <a:srgbClr val="12263A"/>
                </a:solidFill>
                <a:latin typeface="Cambria" pitchFamily="34" charset="0"/>
                <a:ea typeface="Cambria" pitchFamily="34" charset="-122"/>
                <a:cs typeface="Cambria" pitchFamily="34" charset="-120"/>
              </a:rPr>
              <a:t>Provisioned replacement context</a:t>
            </a:r>
            <a:endParaRPr lang="en-US" sz="1400" dirty="0"/>
          </a:p>
        </p:txBody>
      </p:sp>
      <p:sp>
        <p:nvSpPr>
          <p:cNvPr id="13" name="Text 11"/>
          <p:cNvSpPr/>
          <p:nvPr/>
        </p:nvSpPr>
        <p:spPr>
          <a:xfrm>
            <a:off x="800100" y="2457450"/>
            <a:ext cx="4953000" cy="400050"/>
          </a:xfrm>
          <a:prstGeom prst="rect">
            <a:avLst/>
          </a:prstGeom>
          <a:noFill/>
          <a:ln/>
        </p:spPr>
        <p:txBody>
          <a:bodyPr wrap="square" lIns="0" tIns="0" rIns="0" bIns="0" rtlCol="0" anchor="t">
            <a:normAutofit fontScale="85000" lnSpcReduction="20000"/>
          </a:bodyPr>
          <a:lstStyle/>
          <a:p>
            <a:pPr marL="0" indent="0" algn="l">
              <a:lnSpc>
                <a:spcPct val="100000"/>
              </a:lnSpc>
              <a:buNone/>
            </a:pPr>
            <a:r>
              <a:rPr lang="en-US" sz="1180" dirty="0">
                <a:solidFill>
                  <a:srgbClr val="5B6B7C"/>
                </a:solidFill>
                <a:latin typeface="Calibri" pitchFamily="34" charset="0"/>
                <a:ea typeface="Calibri" pitchFamily="34" charset="-122"/>
                <a:cs typeface="Calibri" pitchFamily="34" charset="-120"/>
              </a:rPr>
              <a:t>Extend the operator context to carry approved replacement boundary-clock identities, then re-freeze and re-run. Closes the 0/12 benign failure and is expected to raise specificity toward 0.979.</a:t>
            </a:r>
            <a:endParaRPr lang="en-US" sz="1180" dirty="0"/>
          </a:p>
        </p:txBody>
      </p:sp>
      <p:sp>
        <p:nvSpPr>
          <p:cNvPr id="14" name="Shape 12"/>
          <p:cNvSpPr/>
          <p:nvPr/>
        </p:nvSpPr>
        <p:spPr>
          <a:xfrm>
            <a:off x="571500" y="2952750"/>
            <a:ext cx="5381625" cy="762000"/>
          </a:xfrm>
          <a:prstGeom prst="roundRect">
            <a:avLst>
              <a:gd name="adj" fmla="val 4800"/>
            </a:avLst>
          </a:prstGeom>
          <a:solidFill>
            <a:srgbClr val="FFFFFF"/>
          </a:solidFill>
          <a:ln w="12700">
            <a:solidFill>
              <a:srgbClr val="D7E1EA"/>
            </a:solidFill>
            <a:prstDash val="solid"/>
          </a:ln>
        </p:spPr>
        <p:txBody>
          <a:bodyPr/>
          <a:lstStyle/>
          <a:p>
            <a:endParaRPr lang="en-IN"/>
          </a:p>
        </p:txBody>
      </p:sp>
      <p:sp>
        <p:nvSpPr>
          <p:cNvPr id="15" name="Shape 13"/>
          <p:cNvSpPr/>
          <p:nvPr/>
        </p:nvSpPr>
        <p:spPr>
          <a:xfrm>
            <a:off x="571500" y="2952750"/>
            <a:ext cx="38100" cy="762000"/>
          </a:xfrm>
          <a:prstGeom prst="rect">
            <a:avLst/>
          </a:prstGeom>
          <a:solidFill>
            <a:srgbClr val="18B89A"/>
          </a:solidFill>
          <a:ln/>
        </p:spPr>
        <p:txBody>
          <a:bodyPr/>
          <a:lstStyle/>
          <a:p>
            <a:endParaRPr lang="en-IN"/>
          </a:p>
        </p:txBody>
      </p:sp>
      <p:sp>
        <p:nvSpPr>
          <p:cNvPr id="16" name="Text 14"/>
          <p:cNvSpPr/>
          <p:nvPr/>
        </p:nvSpPr>
        <p:spPr>
          <a:xfrm>
            <a:off x="800100" y="3048000"/>
            <a:ext cx="4762500" cy="209550"/>
          </a:xfrm>
          <a:prstGeom prst="rect">
            <a:avLst/>
          </a:prstGeom>
          <a:noFill/>
          <a:ln/>
        </p:spPr>
        <p:txBody>
          <a:bodyPr wrap="square" lIns="0" tIns="0" rIns="0" bIns="0" rtlCol="0" anchor="t">
            <a:normAutofit/>
          </a:bodyPr>
          <a:lstStyle/>
          <a:p>
            <a:pPr marL="0" indent="0" algn="l">
              <a:lnSpc>
                <a:spcPct val="100000"/>
              </a:lnSpc>
              <a:buNone/>
            </a:pPr>
            <a:r>
              <a:rPr lang="en-US" sz="1400" b="1" dirty="0">
                <a:solidFill>
                  <a:srgbClr val="12263A"/>
                </a:solidFill>
                <a:latin typeface="Cambria" pitchFamily="34" charset="0"/>
                <a:ea typeface="Cambria" pitchFamily="34" charset="-122"/>
                <a:cs typeface="Cambria" pitchFamily="34" charset="-120"/>
              </a:rPr>
              <a:t>Finer interception sweep</a:t>
            </a:r>
            <a:endParaRPr lang="en-US" sz="1400" dirty="0"/>
          </a:p>
        </p:txBody>
      </p:sp>
      <p:sp>
        <p:nvSpPr>
          <p:cNvPr id="17" name="Text 15"/>
          <p:cNvSpPr/>
          <p:nvPr/>
        </p:nvSpPr>
        <p:spPr>
          <a:xfrm>
            <a:off x="800100" y="3276600"/>
            <a:ext cx="4953000" cy="400050"/>
          </a:xfrm>
          <a:prstGeom prst="rect">
            <a:avLst/>
          </a:prstGeom>
          <a:noFill/>
          <a:ln/>
        </p:spPr>
        <p:txBody>
          <a:bodyPr wrap="square" lIns="0" tIns="0" rIns="0" bIns="0" rtlCol="0" anchor="t">
            <a:normAutofit/>
          </a:bodyPr>
          <a:lstStyle/>
          <a:p>
            <a:pPr marL="0" indent="0" algn="l">
              <a:lnSpc>
                <a:spcPct val="100000"/>
              </a:lnSpc>
              <a:buNone/>
            </a:pPr>
            <a:r>
              <a:rPr lang="en-US" sz="1180" dirty="0">
                <a:solidFill>
                  <a:srgbClr val="5B6B7C"/>
                </a:solidFill>
                <a:latin typeface="Calibri" pitchFamily="34" charset="0"/>
                <a:ea typeface="Calibri" pitchFamily="34" charset="-122"/>
                <a:cs typeface="Calibri" pitchFamily="34" charset="-120"/>
              </a:rPr>
              <a:t>Test levels between 55 % and 65 % as a sweep rather than a random draw, to replace the interpolated 60.5 % crossing with a measured one.</a:t>
            </a:r>
            <a:endParaRPr lang="en-US" sz="1180" dirty="0"/>
          </a:p>
        </p:txBody>
      </p:sp>
      <p:sp>
        <p:nvSpPr>
          <p:cNvPr id="18" name="Shape 16"/>
          <p:cNvSpPr/>
          <p:nvPr/>
        </p:nvSpPr>
        <p:spPr>
          <a:xfrm>
            <a:off x="571500" y="3771900"/>
            <a:ext cx="5381625" cy="762000"/>
          </a:xfrm>
          <a:prstGeom prst="roundRect">
            <a:avLst>
              <a:gd name="adj" fmla="val 4800"/>
            </a:avLst>
          </a:prstGeom>
          <a:solidFill>
            <a:srgbClr val="FFFFFF"/>
          </a:solidFill>
          <a:ln w="12700">
            <a:solidFill>
              <a:srgbClr val="D7E1EA"/>
            </a:solidFill>
            <a:prstDash val="solid"/>
          </a:ln>
        </p:spPr>
        <p:txBody>
          <a:bodyPr/>
          <a:lstStyle/>
          <a:p>
            <a:endParaRPr lang="en-IN"/>
          </a:p>
        </p:txBody>
      </p:sp>
      <p:sp>
        <p:nvSpPr>
          <p:cNvPr id="19" name="Shape 17"/>
          <p:cNvSpPr/>
          <p:nvPr/>
        </p:nvSpPr>
        <p:spPr>
          <a:xfrm>
            <a:off x="571500" y="3771900"/>
            <a:ext cx="38100" cy="762000"/>
          </a:xfrm>
          <a:prstGeom prst="rect">
            <a:avLst/>
          </a:prstGeom>
          <a:solidFill>
            <a:srgbClr val="18B89A"/>
          </a:solidFill>
          <a:ln/>
        </p:spPr>
        <p:txBody>
          <a:bodyPr/>
          <a:lstStyle/>
          <a:p>
            <a:endParaRPr lang="en-IN"/>
          </a:p>
        </p:txBody>
      </p:sp>
      <p:sp>
        <p:nvSpPr>
          <p:cNvPr id="20" name="Text 18"/>
          <p:cNvSpPr/>
          <p:nvPr/>
        </p:nvSpPr>
        <p:spPr>
          <a:xfrm>
            <a:off x="800100" y="3867150"/>
            <a:ext cx="4762500" cy="209550"/>
          </a:xfrm>
          <a:prstGeom prst="rect">
            <a:avLst/>
          </a:prstGeom>
          <a:noFill/>
          <a:ln/>
        </p:spPr>
        <p:txBody>
          <a:bodyPr wrap="square" lIns="0" tIns="0" rIns="0" bIns="0" rtlCol="0" anchor="t">
            <a:normAutofit/>
          </a:bodyPr>
          <a:lstStyle/>
          <a:p>
            <a:pPr marL="0" indent="0" algn="l">
              <a:lnSpc>
                <a:spcPct val="100000"/>
              </a:lnSpc>
              <a:buNone/>
            </a:pPr>
            <a:r>
              <a:rPr lang="en-US" sz="1400" b="1" dirty="0">
                <a:solidFill>
                  <a:srgbClr val="12263A"/>
                </a:solidFill>
                <a:latin typeface="Cambria" pitchFamily="34" charset="0"/>
                <a:ea typeface="Cambria" pitchFamily="34" charset="-122"/>
                <a:cs typeface="Cambria" pitchFamily="34" charset="-120"/>
              </a:rPr>
              <a:t>Continuity-based detection</a:t>
            </a:r>
            <a:endParaRPr lang="en-US" sz="1400" dirty="0"/>
          </a:p>
        </p:txBody>
      </p:sp>
      <p:sp>
        <p:nvSpPr>
          <p:cNvPr id="21" name="Text 19"/>
          <p:cNvSpPr/>
          <p:nvPr/>
        </p:nvSpPr>
        <p:spPr>
          <a:xfrm>
            <a:off x="800100" y="4095750"/>
            <a:ext cx="4953000" cy="400050"/>
          </a:xfrm>
          <a:prstGeom prst="rect">
            <a:avLst/>
          </a:prstGeom>
          <a:noFill/>
          <a:ln/>
        </p:spPr>
        <p:txBody>
          <a:bodyPr wrap="square" lIns="0" tIns="0" rIns="0" bIns="0" rtlCol="0" anchor="t">
            <a:normAutofit/>
          </a:bodyPr>
          <a:lstStyle/>
          <a:p>
            <a:pPr marL="0" indent="0" algn="l">
              <a:lnSpc>
                <a:spcPct val="100000"/>
              </a:lnSpc>
              <a:buNone/>
            </a:pPr>
            <a:r>
              <a:rPr lang="en-US" sz="1180" dirty="0">
                <a:solidFill>
                  <a:srgbClr val="5B6B7C"/>
                </a:solidFill>
                <a:latin typeface="Calibri" pitchFamily="34" charset="0"/>
                <a:ea typeface="Calibri" pitchFamily="34" charset="-122"/>
                <a:cs typeface="Calibri" pitchFamily="34" charset="-120"/>
              </a:rPr>
              <a:t>Add a clause that tracks message-arrival continuity alongside average rate, so that paced or bursty interception below the rate threshold is still detected.</a:t>
            </a:r>
            <a:endParaRPr lang="en-US" sz="1180" dirty="0"/>
          </a:p>
        </p:txBody>
      </p:sp>
      <p:sp>
        <p:nvSpPr>
          <p:cNvPr id="22" name="Shape 20"/>
          <p:cNvSpPr/>
          <p:nvPr/>
        </p:nvSpPr>
        <p:spPr>
          <a:xfrm>
            <a:off x="571500" y="4581719"/>
            <a:ext cx="5381625" cy="762000"/>
          </a:xfrm>
          <a:prstGeom prst="roundRect">
            <a:avLst>
              <a:gd name="adj" fmla="val 4800"/>
            </a:avLst>
          </a:prstGeom>
          <a:solidFill>
            <a:srgbClr val="FFFFFF"/>
          </a:solidFill>
          <a:ln w="12700">
            <a:solidFill>
              <a:srgbClr val="D7E1EA"/>
            </a:solidFill>
            <a:prstDash val="solid"/>
          </a:ln>
        </p:spPr>
        <p:txBody>
          <a:bodyPr/>
          <a:lstStyle/>
          <a:p>
            <a:endParaRPr lang="en-IN"/>
          </a:p>
        </p:txBody>
      </p:sp>
      <p:sp>
        <p:nvSpPr>
          <p:cNvPr id="23" name="Shape 21"/>
          <p:cNvSpPr/>
          <p:nvPr/>
        </p:nvSpPr>
        <p:spPr>
          <a:xfrm>
            <a:off x="571500" y="4591050"/>
            <a:ext cx="38100" cy="762000"/>
          </a:xfrm>
          <a:prstGeom prst="rect">
            <a:avLst/>
          </a:prstGeom>
          <a:solidFill>
            <a:srgbClr val="18B89A"/>
          </a:solidFill>
          <a:ln/>
        </p:spPr>
        <p:txBody>
          <a:bodyPr/>
          <a:lstStyle/>
          <a:p>
            <a:endParaRPr lang="en-IN"/>
          </a:p>
        </p:txBody>
      </p:sp>
      <p:sp>
        <p:nvSpPr>
          <p:cNvPr id="24" name="Text 22"/>
          <p:cNvSpPr/>
          <p:nvPr/>
        </p:nvSpPr>
        <p:spPr>
          <a:xfrm>
            <a:off x="800100" y="4686300"/>
            <a:ext cx="4762500" cy="209550"/>
          </a:xfrm>
          <a:prstGeom prst="rect">
            <a:avLst/>
          </a:prstGeom>
          <a:noFill/>
          <a:ln/>
        </p:spPr>
        <p:txBody>
          <a:bodyPr wrap="square" lIns="0" tIns="0" rIns="0" bIns="0" rtlCol="0" anchor="t">
            <a:normAutofit/>
          </a:bodyPr>
          <a:lstStyle/>
          <a:p>
            <a:pPr marL="0" indent="0" algn="l">
              <a:lnSpc>
                <a:spcPct val="100000"/>
              </a:lnSpc>
              <a:buNone/>
            </a:pPr>
            <a:r>
              <a:rPr lang="en-US" sz="1400" b="1" dirty="0">
                <a:solidFill>
                  <a:srgbClr val="12263A"/>
                </a:solidFill>
                <a:latin typeface="Cambria" pitchFamily="34" charset="0"/>
                <a:ea typeface="Cambria" pitchFamily="34" charset="-122"/>
                <a:cs typeface="Cambria" pitchFamily="34" charset="-120"/>
              </a:rPr>
              <a:t>Richer telemetry for the ML arm</a:t>
            </a:r>
            <a:endParaRPr lang="en-US" sz="1400" dirty="0"/>
          </a:p>
        </p:txBody>
      </p:sp>
      <p:sp>
        <p:nvSpPr>
          <p:cNvPr id="25" name="Text 23"/>
          <p:cNvSpPr/>
          <p:nvPr/>
        </p:nvSpPr>
        <p:spPr>
          <a:xfrm>
            <a:off x="800100" y="4914900"/>
            <a:ext cx="4953000" cy="400050"/>
          </a:xfrm>
          <a:prstGeom prst="rect">
            <a:avLst/>
          </a:prstGeom>
          <a:noFill/>
          <a:ln/>
        </p:spPr>
        <p:txBody>
          <a:bodyPr wrap="square" lIns="0" tIns="0" rIns="0" bIns="0" rtlCol="0" anchor="t">
            <a:normAutofit/>
          </a:bodyPr>
          <a:lstStyle/>
          <a:p>
            <a:pPr marL="0" indent="0" algn="l">
              <a:lnSpc>
                <a:spcPct val="100000"/>
              </a:lnSpc>
              <a:buNone/>
            </a:pPr>
            <a:r>
              <a:rPr lang="en-US" sz="1180" dirty="0">
                <a:solidFill>
                  <a:srgbClr val="5B6B7C"/>
                </a:solidFill>
                <a:latin typeface="Calibri" pitchFamily="34" charset="0"/>
                <a:ea typeface="Calibri" pitchFamily="34" charset="-122"/>
                <a:cs typeface="Calibri" pitchFamily="34" charset="-120"/>
              </a:rPr>
              <a:t>Supply management-plane telemetry in addition to servo logs and repeat the comparison, so the ML arm is evaluated on adequate observability.</a:t>
            </a:r>
            <a:endParaRPr lang="en-US" sz="1180" dirty="0"/>
          </a:p>
        </p:txBody>
      </p:sp>
      <p:sp>
        <p:nvSpPr>
          <p:cNvPr id="26" name="Shape 24"/>
          <p:cNvSpPr/>
          <p:nvPr/>
        </p:nvSpPr>
        <p:spPr>
          <a:xfrm>
            <a:off x="571500" y="5410200"/>
            <a:ext cx="5381625" cy="762000"/>
          </a:xfrm>
          <a:prstGeom prst="roundRect">
            <a:avLst>
              <a:gd name="adj" fmla="val 4800"/>
            </a:avLst>
          </a:prstGeom>
          <a:solidFill>
            <a:srgbClr val="FFFFFF"/>
          </a:solidFill>
          <a:ln w="12700">
            <a:solidFill>
              <a:srgbClr val="D7E1EA"/>
            </a:solidFill>
            <a:prstDash val="solid"/>
          </a:ln>
        </p:spPr>
        <p:txBody>
          <a:bodyPr/>
          <a:lstStyle/>
          <a:p>
            <a:endParaRPr lang="en-IN"/>
          </a:p>
        </p:txBody>
      </p:sp>
      <p:sp>
        <p:nvSpPr>
          <p:cNvPr id="27" name="Shape 25"/>
          <p:cNvSpPr/>
          <p:nvPr/>
        </p:nvSpPr>
        <p:spPr>
          <a:xfrm>
            <a:off x="571500" y="5410200"/>
            <a:ext cx="38100" cy="762000"/>
          </a:xfrm>
          <a:prstGeom prst="rect">
            <a:avLst/>
          </a:prstGeom>
          <a:solidFill>
            <a:srgbClr val="18B89A"/>
          </a:solidFill>
          <a:ln/>
        </p:spPr>
        <p:txBody>
          <a:bodyPr/>
          <a:lstStyle/>
          <a:p>
            <a:endParaRPr lang="en-IN"/>
          </a:p>
        </p:txBody>
      </p:sp>
      <p:sp>
        <p:nvSpPr>
          <p:cNvPr id="28" name="Text 26"/>
          <p:cNvSpPr/>
          <p:nvPr/>
        </p:nvSpPr>
        <p:spPr>
          <a:xfrm>
            <a:off x="800100" y="5505450"/>
            <a:ext cx="4762500" cy="209550"/>
          </a:xfrm>
          <a:prstGeom prst="rect">
            <a:avLst/>
          </a:prstGeom>
          <a:noFill/>
          <a:ln/>
        </p:spPr>
        <p:txBody>
          <a:bodyPr wrap="square" lIns="0" tIns="0" rIns="0" bIns="0" rtlCol="0" anchor="t">
            <a:normAutofit/>
          </a:bodyPr>
          <a:lstStyle/>
          <a:p>
            <a:pPr marL="0" indent="0" algn="l">
              <a:lnSpc>
                <a:spcPct val="100000"/>
              </a:lnSpc>
              <a:buNone/>
            </a:pPr>
            <a:r>
              <a:rPr lang="en-US" sz="1400" b="1" dirty="0">
                <a:solidFill>
                  <a:srgbClr val="12263A"/>
                </a:solidFill>
                <a:latin typeface="Cambria" pitchFamily="34" charset="0"/>
                <a:ea typeface="Cambria" pitchFamily="34" charset="-122"/>
                <a:cs typeface="Cambria" pitchFamily="34" charset="-120"/>
              </a:rPr>
              <a:t>Metadata and re-freeze</a:t>
            </a:r>
            <a:endParaRPr lang="en-US" sz="1400" dirty="0"/>
          </a:p>
        </p:txBody>
      </p:sp>
      <p:sp>
        <p:nvSpPr>
          <p:cNvPr id="29" name="Text 27"/>
          <p:cNvSpPr/>
          <p:nvPr/>
        </p:nvSpPr>
        <p:spPr>
          <a:xfrm>
            <a:off x="800100" y="5734050"/>
            <a:ext cx="4953000" cy="400050"/>
          </a:xfrm>
          <a:prstGeom prst="rect">
            <a:avLst/>
          </a:prstGeom>
          <a:noFill/>
          <a:ln/>
        </p:spPr>
        <p:txBody>
          <a:bodyPr wrap="square" lIns="0" tIns="0" rIns="0" bIns="0" rtlCol="0" anchor="t">
            <a:normAutofit/>
          </a:bodyPr>
          <a:lstStyle/>
          <a:p>
            <a:pPr marL="0" indent="0" algn="l">
              <a:lnSpc>
                <a:spcPct val="100000"/>
              </a:lnSpc>
              <a:buNone/>
            </a:pPr>
            <a:r>
              <a:rPr lang="en-US" sz="1180" dirty="0">
                <a:solidFill>
                  <a:srgbClr val="5B6B7C"/>
                </a:solidFill>
                <a:latin typeface="Calibri" pitchFamily="34" charset="0"/>
                <a:ea typeface="Calibri" pitchFamily="34" charset="-122"/>
                <a:cs typeface="Calibri" pitchFamily="34" charset="-120"/>
              </a:rPr>
              <a:t>Correct the 36 inconsistent replicate identifiers, re-hash the revised rule, and re-run the campaign for an independently pre-registered result.</a:t>
            </a:r>
            <a:endParaRPr lang="en-US" sz="1180" dirty="0"/>
          </a:p>
        </p:txBody>
      </p:sp>
      <p:sp>
        <p:nvSpPr>
          <p:cNvPr id="30" name="Shape 28"/>
          <p:cNvSpPr/>
          <p:nvPr/>
        </p:nvSpPr>
        <p:spPr>
          <a:xfrm>
            <a:off x="6238875" y="1638300"/>
            <a:ext cx="5381625" cy="400050"/>
          </a:xfrm>
          <a:prstGeom prst="roundRect">
            <a:avLst>
              <a:gd name="adj" fmla="val 9143"/>
            </a:avLst>
          </a:prstGeom>
          <a:solidFill>
            <a:srgbClr val="0E2440"/>
          </a:solidFill>
          <a:ln w="12700">
            <a:solidFill>
              <a:srgbClr val="0E2440"/>
            </a:solidFill>
            <a:prstDash val="solid"/>
          </a:ln>
        </p:spPr>
        <p:txBody>
          <a:bodyPr/>
          <a:lstStyle/>
          <a:p>
            <a:endParaRPr lang="en-IN"/>
          </a:p>
        </p:txBody>
      </p:sp>
      <p:sp>
        <p:nvSpPr>
          <p:cNvPr id="31" name="Text 29"/>
          <p:cNvSpPr/>
          <p:nvPr/>
        </p:nvSpPr>
        <p:spPr>
          <a:xfrm>
            <a:off x="6467475" y="1752600"/>
            <a:ext cx="4762500" cy="19050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C58B18"/>
                </a:solidFill>
                <a:latin typeface="Calibri" pitchFamily="34" charset="0"/>
                <a:ea typeface="Calibri" pitchFamily="34" charset="-122"/>
                <a:cs typeface="Calibri" pitchFamily="34" charset="-120"/>
              </a:rPr>
              <a:t>HARDWARE — REQUIRES EQUIPMENT</a:t>
            </a:r>
            <a:endParaRPr lang="en-US" sz="1200" dirty="0"/>
          </a:p>
        </p:txBody>
      </p:sp>
      <p:sp>
        <p:nvSpPr>
          <p:cNvPr id="32" name="Shape 30"/>
          <p:cNvSpPr/>
          <p:nvPr/>
        </p:nvSpPr>
        <p:spPr>
          <a:xfrm>
            <a:off x="6238875" y="2133600"/>
            <a:ext cx="5381625" cy="971550"/>
          </a:xfrm>
          <a:prstGeom prst="roundRect">
            <a:avLst>
              <a:gd name="adj" fmla="val 3765"/>
            </a:avLst>
          </a:prstGeom>
          <a:solidFill>
            <a:srgbClr val="FFFFFF"/>
          </a:solidFill>
          <a:ln w="12700">
            <a:solidFill>
              <a:srgbClr val="D7E1EA"/>
            </a:solidFill>
            <a:prstDash val="solid"/>
          </a:ln>
        </p:spPr>
        <p:txBody>
          <a:bodyPr/>
          <a:lstStyle/>
          <a:p>
            <a:endParaRPr lang="en-IN"/>
          </a:p>
        </p:txBody>
      </p:sp>
      <p:sp>
        <p:nvSpPr>
          <p:cNvPr id="33" name="Shape 31"/>
          <p:cNvSpPr/>
          <p:nvPr/>
        </p:nvSpPr>
        <p:spPr>
          <a:xfrm>
            <a:off x="6238875" y="2133600"/>
            <a:ext cx="38100" cy="971550"/>
          </a:xfrm>
          <a:prstGeom prst="rect">
            <a:avLst/>
          </a:prstGeom>
          <a:solidFill>
            <a:srgbClr val="C58B18"/>
          </a:solidFill>
          <a:ln/>
        </p:spPr>
        <p:txBody>
          <a:bodyPr/>
          <a:lstStyle/>
          <a:p>
            <a:endParaRPr lang="en-IN"/>
          </a:p>
        </p:txBody>
      </p:sp>
      <p:sp>
        <p:nvSpPr>
          <p:cNvPr id="34" name="Text 32"/>
          <p:cNvSpPr/>
          <p:nvPr/>
        </p:nvSpPr>
        <p:spPr>
          <a:xfrm>
            <a:off x="6467475" y="2247900"/>
            <a:ext cx="4762500" cy="209550"/>
          </a:xfrm>
          <a:prstGeom prst="rect">
            <a:avLst/>
          </a:prstGeom>
          <a:noFill/>
          <a:ln/>
        </p:spPr>
        <p:txBody>
          <a:bodyPr wrap="square" lIns="0" tIns="0" rIns="0" bIns="0" rtlCol="0" anchor="t">
            <a:normAutofit/>
          </a:bodyPr>
          <a:lstStyle/>
          <a:p>
            <a:pPr marL="0" indent="0" algn="l">
              <a:lnSpc>
                <a:spcPct val="100000"/>
              </a:lnSpc>
              <a:buNone/>
            </a:pPr>
            <a:r>
              <a:rPr lang="en-US" sz="1400" b="1" dirty="0">
                <a:solidFill>
                  <a:srgbClr val="12263A"/>
                </a:solidFill>
                <a:latin typeface="Cambria" pitchFamily="34" charset="0"/>
                <a:ea typeface="Cambria" pitchFamily="34" charset="-122"/>
                <a:cs typeface="Cambria" pitchFamily="34" charset="-120"/>
              </a:rPr>
              <a:t>GNSS receiver</a:t>
            </a:r>
            <a:endParaRPr lang="en-US" sz="1400" dirty="0"/>
          </a:p>
        </p:txBody>
      </p:sp>
      <p:sp>
        <p:nvSpPr>
          <p:cNvPr id="35" name="Text 33"/>
          <p:cNvSpPr/>
          <p:nvPr/>
        </p:nvSpPr>
        <p:spPr>
          <a:xfrm>
            <a:off x="6467475" y="2476500"/>
            <a:ext cx="4953000" cy="552450"/>
          </a:xfrm>
          <a:prstGeom prst="rect">
            <a:avLst/>
          </a:prstGeom>
          <a:noFill/>
          <a:ln/>
        </p:spPr>
        <p:txBody>
          <a:bodyPr wrap="square" lIns="0" tIns="0" rIns="0" bIns="0" rtlCol="0" anchor="t">
            <a:normAutofit/>
          </a:bodyPr>
          <a:lstStyle/>
          <a:p>
            <a:pPr marL="0" indent="0" algn="l">
              <a:lnSpc>
                <a:spcPct val="100000"/>
              </a:lnSpc>
              <a:buNone/>
            </a:pPr>
            <a:r>
              <a:rPr lang="en-US" sz="1180" dirty="0">
                <a:solidFill>
                  <a:srgbClr val="5B6B7C"/>
                </a:solidFill>
                <a:latin typeface="Calibri" pitchFamily="34" charset="0"/>
                <a:ea typeface="Calibri" pitchFamily="34" charset="-122"/>
                <a:cs typeface="Calibri" pitchFamily="34" charset="-120"/>
              </a:rPr>
              <a:t>Unlocks GNSS spoofing (A6), GNSS jamming (A7) and genuine holdover (B1) — three of the five currently unreachable classes.</a:t>
            </a:r>
            <a:endParaRPr lang="en-US" sz="1180" dirty="0"/>
          </a:p>
        </p:txBody>
      </p:sp>
      <p:sp>
        <p:nvSpPr>
          <p:cNvPr id="36" name="Shape 34"/>
          <p:cNvSpPr/>
          <p:nvPr/>
        </p:nvSpPr>
        <p:spPr>
          <a:xfrm>
            <a:off x="6238875" y="3162300"/>
            <a:ext cx="5381625" cy="971550"/>
          </a:xfrm>
          <a:prstGeom prst="roundRect">
            <a:avLst>
              <a:gd name="adj" fmla="val 3765"/>
            </a:avLst>
          </a:prstGeom>
          <a:solidFill>
            <a:srgbClr val="FFFFFF"/>
          </a:solidFill>
          <a:ln w="12700">
            <a:solidFill>
              <a:srgbClr val="D7E1EA"/>
            </a:solidFill>
            <a:prstDash val="solid"/>
          </a:ln>
        </p:spPr>
        <p:txBody>
          <a:bodyPr/>
          <a:lstStyle/>
          <a:p>
            <a:endParaRPr lang="en-IN"/>
          </a:p>
        </p:txBody>
      </p:sp>
      <p:sp>
        <p:nvSpPr>
          <p:cNvPr id="37" name="Shape 35"/>
          <p:cNvSpPr/>
          <p:nvPr/>
        </p:nvSpPr>
        <p:spPr>
          <a:xfrm>
            <a:off x="6238875" y="3162300"/>
            <a:ext cx="38100" cy="971550"/>
          </a:xfrm>
          <a:prstGeom prst="rect">
            <a:avLst/>
          </a:prstGeom>
          <a:solidFill>
            <a:srgbClr val="C58B18"/>
          </a:solidFill>
          <a:ln/>
        </p:spPr>
        <p:txBody>
          <a:bodyPr/>
          <a:lstStyle/>
          <a:p>
            <a:endParaRPr lang="en-IN"/>
          </a:p>
        </p:txBody>
      </p:sp>
      <p:sp>
        <p:nvSpPr>
          <p:cNvPr id="38" name="Text 36"/>
          <p:cNvSpPr/>
          <p:nvPr/>
        </p:nvSpPr>
        <p:spPr>
          <a:xfrm>
            <a:off x="6467475" y="3276600"/>
            <a:ext cx="4762500" cy="209550"/>
          </a:xfrm>
          <a:prstGeom prst="rect">
            <a:avLst/>
          </a:prstGeom>
          <a:noFill/>
          <a:ln/>
        </p:spPr>
        <p:txBody>
          <a:bodyPr wrap="square" lIns="0" tIns="0" rIns="0" bIns="0" rtlCol="0" anchor="t">
            <a:normAutofit/>
          </a:bodyPr>
          <a:lstStyle/>
          <a:p>
            <a:pPr marL="0" indent="0" algn="l">
              <a:lnSpc>
                <a:spcPct val="100000"/>
              </a:lnSpc>
              <a:buNone/>
            </a:pPr>
            <a:r>
              <a:rPr lang="en-US" sz="1400" b="1" dirty="0">
                <a:solidFill>
                  <a:srgbClr val="12263A"/>
                </a:solidFill>
                <a:latin typeface="Cambria" pitchFamily="34" charset="0"/>
                <a:ea typeface="Cambria" pitchFamily="34" charset="-122"/>
                <a:cs typeface="Cambria" pitchFamily="34" charset="-120"/>
              </a:rPr>
              <a:t>Second physical machine</a:t>
            </a:r>
            <a:endParaRPr lang="en-US" sz="1400" dirty="0"/>
          </a:p>
        </p:txBody>
      </p:sp>
      <p:sp>
        <p:nvSpPr>
          <p:cNvPr id="39" name="Text 37"/>
          <p:cNvSpPr/>
          <p:nvPr/>
        </p:nvSpPr>
        <p:spPr>
          <a:xfrm>
            <a:off x="6467475" y="3505200"/>
            <a:ext cx="4953000" cy="552450"/>
          </a:xfrm>
          <a:prstGeom prst="rect">
            <a:avLst/>
          </a:prstGeom>
          <a:noFill/>
          <a:ln/>
        </p:spPr>
        <p:txBody>
          <a:bodyPr wrap="square" lIns="0" tIns="0" rIns="0" bIns="0" rtlCol="0" anchor="t">
            <a:normAutofit/>
          </a:bodyPr>
          <a:lstStyle/>
          <a:p>
            <a:pPr marL="0" indent="0" algn="l">
              <a:lnSpc>
                <a:spcPct val="100000"/>
              </a:lnSpc>
              <a:buNone/>
            </a:pPr>
            <a:r>
              <a:rPr lang="en-US" sz="1180" dirty="0">
                <a:solidFill>
                  <a:srgbClr val="5B6B7C"/>
                </a:solidFill>
                <a:latin typeface="Calibri" pitchFamily="34" charset="0"/>
                <a:ea typeface="Calibri" pitchFamily="34" charset="-122"/>
                <a:cs typeface="Calibri" pitchFamily="34" charset="-120"/>
              </a:rPr>
              <a:t>Provides a second independent oscillator, making oscillator drift (B6) reproducible. Clocks in one host cannot genuinely drift apart.</a:t>
            </a:r>
            <a:endParaRPr lang="en-US" sz="1180" dirty="0"/>
          </a:p>
        </p:txBody>
      </p:sp>
      <p:sp>
        <p:nvSpPr>
          <p:cNvPr id="40" name="Shape 38"/>
          <p:cNvSpPr/>
          <p:nvPr/>
        </p:nvSpPr>
        <p:spPr>
          <a:xfrm>
            <a:off x="6238875" y="4191000"/>
            <a:ext cx="5381625" cy="971550"/>
          </a:xfrm>
          <a:prstGeom prst="roundRect">
            <a:avLst>
              <a:gd name="adj" fmla="val 3765"/>
            </a:avLst>
          </a:prstGeom>
          <a:solidFill>
            <a:srgbClr val="FFFFFF"/>
          </a:solidFill>
          <a:ln w="12700">
            <a:solidFill>
              <a:srgbClr val="D7E1EA"/>
            </a:solidFill>
            <a:prstDash val="solid"/>
          </a:ln>
        </p:spPr>
        <p:txBody>
          <a:bodyPr/>
          <a:lstStyle/>
          <a:p>
            <a:endParaRPr lang="en-IN"/>
          </a:p>
        </p:txBody>
      </p:sp>
      <p:sp>
        <p:nvSpPr>
          <p:cNvPr id="41" name="Shape 39"/>
          <p:cNvSpPr/>
          <p:nvPr/>
        </p:nvSpPr>
        <p:spPr>
          <a:xfrm>
            <a:off x="6238875" y="4191000"/>
            <a:ext cx="38100" cy="971550"/>
          </a:xfrm>
          <a:prstGeom prst="rect">
            <a:avLst/>
          </a:prstGeom>
          <a:solidFill>
            <a:srgbClr val="C58B18"/>
          </a:solidFill>
          <a:ln/>
        </p:spPr>
        <p:txBody>
          <a:bodyPr/>
          <a:lstStyle/>
          <a:p>
            <a:endParaRPr lang="en-IN"/>
          </a:p>
        </p:txBody>
      </p:sp>
      <p:sp>
        <p:nvSpPr>
          <p:cNvPr id="42" name="Text 40"/>
          <p:cNvSpPr/>
          <p:nvPr/>
        </p:nvSpPr>
        <p:spPr>
          <a:xfrm>
            <a:off x="6467475" y="4305300"/>
            <a:ext cx="4762500" cy="209550"/>
          </a:xfrm>
          <a:prstGeom prst="rect">
            <a:avLst/>
          </a:prstGeom>
          <a:noFill/>
          <a:ln/>
        </p:spPr>
        <p:txBody>
          <a:bodyPr wrap="square" lIns="0" tIns="0" rIns="0" bIns="0" rtlCol="0" anchor="t">
            <a:normAutofit/>
          </a:bodyPr>
          <a:lstStyle/>
          <a:p>
            <a:pPr marL="0" indent="0" algn="l">
              <a:lnSpc>
                <a:spcPct val="100000"/>
              </a:lnSpc>
              <a:buNone/>
            </a:pPr>
            <a:r>
              <a:rPr lang="en-US" sz="1400" b="1" dirty="0">
                <a:solidFill>
                  <a:srgbClr val="12263A"/>
                </a:solidFill>
                <a:latin typeface="Cambria" pitchFamily="34" charset="0"/>
                <a:ea typeface="Cambria" pitchFamily="34" charset="-122"/>
                <a:cs typeface="Cambria" pitchFamily="34" charset="-120"/>
              </a:rPr>
              <a:t>Hardware-timestamping NIC</a:t>
            </a:r>
            <a:endParaRPr lang="en-US" sz="1400" dirty="0"/>
          </a:p>
        </p:txBody>
      </p:sp>
      <p:sp>
        <p:nvSpPr>
          <p:cNvPr id="43" name="Text 41"/>
          <p:cNvSpPr/>
          <p:nvPr/>
        </p:nvSpPr>
        <p:spPr>
          <a:xfrm>
            <a:off x="6467475" y="4533900"/>
            <a:ext cx="4953000" cy="552450"/>
          </a:xfrm>
          <a:prstGeom prst="rect">
            <a:avLst/>
          </a:prstGeom>
          <a:noFill/>
          <a:ln/>
        </p:spPr>
        <p:txBody>
          <a:bodyPr wrap="square" lIns="0" tIns="0" rIns="0" bIns="0" rtlCol="0" anchor="t">
            <a:normAutofit/>
          </a:bodyPr>
          <a:lstStyle/>
          <a:p>
            <a:pPr marL="0" indent="0" algn="l">
              <a:lnSpc>
                <a:spcPct val="100000"/>
              </a:lnSpc>
              <a:buNone/>
            </a:pPr>
            <a:r>
              <a:rPr lang="en-US" sz="1180" dirty="0">
                <a:solidFill>
                  <a:srgbClr val="5B6B7C"/>
                </a:solidFill>
                <a:latin typeface="Calibri" pitchFamily="34" charset="0"/>
                <a:ea typeface="Calibri" pitchFamily="34" charset="-122"/>
                <a:cs typeface="Calibri" pitchFamily="34" charset="-120"/>
              </a:rPr>
              <a:t>Replaces microsecond-scale software timestamping with nanosecond-scale hardware timestamping, enabling credible physical-impact measurement for the delay attack (A4) and static asymmetry (B5).</a:t>
            </a:r>
            <a:endParaRPr lang="en-US" sz="1180" dirty="0"/>
          </a:p>
        </p:txBody>
      </p:sp>
      <p:sp>
        <p:nvSpPr>
          <p:cNvPr id="44" name="Shape 42"/>
          <p:cNvSpPr/>
          <p:nvPr/>
        </p:nvSpPr>
        <p:spPr>
          <a:xfrm>
            <a:off x="6238875" y="5219700"/>
            <a:ext cx="5381625" cy="971550"/>
          </a:xfrm>
          <a:prstGeom prst="roundRect">
            <a:avLst>
              <a:gd name="adj" fmla="val 3765"/>
            </a:avLst>
          </a:prstGeom>
          <a:solidFill>
            <a:srgbClr val="FFFFFF"/>
          </a:solidFill>
          <a:ln w="12700">
            <a:solidFill>
              <a:srgbClr val="D7E1EA"/>
            </a:solidFill>
            <a:prstDash val="solid"/>
          </a:ln>
        </p:spPr>
        <p:txBody>
          <a:bodyPr/>
          <a:lstStyle/>
          <a:p>
            <a:endParaRPr lang="en-IN"/>
          </a:p>
        </p:txBody>
      </p:sp>
      <p:sp>
        <p:nvSpPr>
          <p:cNvPr id="45" name="Shape 43"/>
          <p:cNvSpPr/>
          <p:nvPr/>
        </p:nvSpPr>
        <p:spPr>
          <a:xfrm>
            <a:off x="6238875" y="5219700"/>
            <a:ext cx="38100" cy="971550"/>
          </a:xfrm>
          <a:prstGeom prst="rect">
            <a:avLst/>
          </a:prstGeom>
          <a:solidFill>
            <a:srgbClr val="C58B18"/>
          </a:solidFill>
          <a:ln/>
        </p:spPr>
        <p:txBody>
          <a:bodyPr/>
          <a:lstStyle/>
          <a:p>
            <a:endParaRPr lang="en-IN"/>
          </a:p>
        </p:txBody>
      </p:sp>
      <p:sp>
        <p:nvSpPr>
          <p:cNvPr id="46" name="Text 44"/>
          <p:cNvSpPr/>
          <p:nvPr/>
        </p:nvSpPr>
        <p:spPr>
          <a:xfrm>
            <a:off x="6467475" y="5334000"/>
            <a:ext cx="4762500" cy="209550"/>
          </a:xfrm>
          <a:prstGeom prst="rect">
            <a:avLst/>
          </a:prstGeom>
          <a:noFill/>
          <a:ln/>
        </p:spPr>
        <p:txBody>
          <a:bodyPr wrap="square" lIns="0" tIns="0" rIns="0" bIns="0" rtlCol="0" anchor="t">
            <a:normAutofit/>
          </a:bodyPr>
          <a:lstStyle/>
          <a:p>
            <a:pPr marL="0" indent="0" algn="l">
              <a:lnSpc>
                <a:spcPct val="100000"/>
              </a:lnSpc>
              <a:buNone/>
            </a:pPr>
            <a:r>
              <a:rPr lang="en-US" sz="1400" b="1" dirty="0">
                <a:solidFill>
                  <a:srgbClr val="12263A"/>
                </a:solidFill>
                <a:latin typeface="Cambria" pitchFamily="34" charset="0"/>
                <a:ea typeface="Cambria" pitchFamily="34" charset="-122"/>
                <a:cs typeface="Cambria" pitchFamily="34" charset="-120"/>
              </a:rPr>
              <a:t>SyncE-capable PHY</a:t>
            </a:r>
            <a:endParaRPr lang="en-US" sz="1400" dirty="0"/>
          </a:p>
        </p:txBody>
      </p:sp>
      <p:sp>
        <p:nvSpPr>
          <p:cNvPr id="47" name="Text 45"/>
          <p:cNvSpPr/>
          <p:nvPr/>
        </p:nvSpPr>
        <p:spPr>
          <a:xfrm>
            <a:off x="6467475" y="5562600"/>
            <a:ext cx="4953000" cy="552450"/>
          </a:xfrm>
          <a:prstGeom prst="rect">
            <a:avLst/>
          </a:prstGeom>
          <a:noFill/>
          <a:ln/>
        </p:spPr>
        <p:txBody>
          <a:bodyPr wrap="square" lIns="0" tIns="0" rIns="0" bIns="0" rtlCol="0" anchor="t">
            <a:normAutofit/>
          </a:bodyPr>
          <a:lstStyle/>
          <a:p>
            <a:pPr marL="0" indent="0" algn="l">
              <a:lnSpc>
                <a:spcPct val="100000"/>
              </a:lnSpc>
              <a:buNone/>
            </a:pPr>
            <a:r>
              <a:rPr lang="en-US" sz="1180" dirty="0">
                <a:solidFill>
                  <a:srgbClr val="5B6B7C"/>
                </a:solidFill>
                <a:latin typeface="Calibri" pitchFamily="34" charset="0"/>
                <a:ea typeface="Calibri" pitchFamily="34" charset="-122"/>
                <a:cs typeface="Calibri" pitchFamily="34" charset="-120"/>
              </a:rPr>
              <a:t>Unlocks SyncE and EEC degradation (B4). SyncE is a physical-layer function and veth interfaces have no PHY, so ESMC quality signalling cannot exist in this testbed.</a:t>
            </a:r>
            <a:endParaRPr lang="en-US" sz="1180" dirty="0"/>
          </a:p>
        </p:txBody>
      </p:sp>
      <p:sp>
        <p:nvSpPr>
          <p:cNvPr id="48" name="Shape 46"/>
          <p:cNvSpPr/>
          <p:nvPr/>
        </p:nvSpPr>
        <p:spPr>
          <a:xfrm>
            <a:off x="571500" y="6229350"/>
            <a:ext cx="11049000" cy="533400"/>
          </a:xfrm>
          <a:prstGeom prst="roundRect">
            <a:avLst>
              <a:gd name="adj" fmla="val 6857"/>
            </a:avLst>
          </a:prstGeom>
          <a:solidFill>
            <a:srgbClr val="0E2440"/>
          </a:solidFill>
          <a:ln w="12700">
            <a:solidFill>
              <a:srgbClr val="0E2440"/>
            </a:solidFill>
            <a:prstDash val="solid"/>
          </a:ln>
        </p:spPr>
        <p:txBody>
          <a:bodyPr/>
          <a:lstStyle/>
          <a:p>
            <a:endParaRPr lang="en-IN"/>
          </a:p>
        </p:txBody>
      </p:sp>
      <p:sp>
        <p:nvSpPr>
          <p:cNvPr id="49" name="Text 47"/>
          <p:cNvSpPr/>
          <p:nvPr/>
        </p:nvSpPr>
        <p:spPr>
          <a:xfrm>
            <a:off x="781050" y="6343650"/>
            <a:ext cx="10629900" cy="323850"/>
          </a:xfrm>
          <a:prstGeom prst="rect">
            <a:avLst/>
          </a:prstGeom>
          <a:noFill/>
          <a:ln/>
        </p:spPr>
        <p:txBody>
          <a:bodyPr wrap="square" lIns="0" tIns="0" rIns="0" bIns="0" rtlCol="0" anchor="t">
            <a:normAutofit/>
          </a:bodyPr>
          <a:lstStyle/>
          <a:p>
            <a:pPr marL="0" indent="0" algn="l">
              <a:lnSpc>
                <a:spcPct val="100000"/>
              </a:lnSpc>
              <a:buNone/>
            </a:pPr>
            <a:r>
              <a:rPr lang="en-US" sz="1320" b="1" dirty="0">
                <a:solidFill>
                  <a:srgbClr val="FFFFFF"/>
                </a:solidFill>
                <a:latin typeface="Cambria" pitchFamily="34" charset="0"/>
                <a:ea typeface="Cambria" pitchFamily="34" charset="-122"/>
                <a:cs typeface="Cambria" pitchFamily="34" charset="-120"/>
              </a:rPr>
              <a:t>Five of sixteen catalogued classes require hardware; three more have software detection logic but need hardware for credible physical-impact measurement. The software items above are unblocked and can begin on the existing testbed.</a:t>
            </a:r>
            <a:endParaRPr lang="en-US" sz="132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E2440"/>
          </a:solidFill>
          <a:ln/>
        </p:spPr>
        <p:txBody>
          <a:bodyPr/>
          <a:lstStyle/>
          <a:p>
            <a:endParaRPr lang="en-IN"/>
          </a:p>
        </p:txBody>
      </p:sp>
      <p:sp>
        <p:nvSpPr>
          <p:cNvPr id="3" name="Shape 1"/>
          <p:cNvSpPr/>
          <p:nvPr/>
        </p:nvSpPr>
        <p:spPr>
          <a:xfrm>
            <a:off x="0" y="0"/>
            <a:ext cx="12192000" cy="114300"/>
          </a:xfrm>
          <a:prstGeom prst="rect">
            <a:avLst/>
          </a:prstGeom>
          <a:solidFill>
            <a:srgbClr val="18B89A"/>
          </a:solidFill>
          <a:ln/>
        </p:spPr>
        <p:txBody>
          <a:bodyPr/>
          <a:lstStyle/>
          <a:p>
            <a:endParaRPr lang="en-IN"/>
          </a:p>
        </p:txBody>
      </p:sp>
      <p:sp>
        <p:nvSpPr>
          <p:cNvPr id="4" name="Text 2"/>
          <p:cNvSpPr/>
          <p:nvPr/>
        </p:nvSpPr>
        <p:spPr>
          <a:xfrm>
            <a:off x="571500" y="381000"/>
            <a:ext cx="5715000" cy="209550"/>
          </a:xfrm>
          <a:prstGeom prst="rect">
            <a:avLst/>
          </a:prstGeom>
          <a:noFill/>
          <a:ln/>
        </p:spPr>
        <p:txBody>
          <a:bodyPr wrap="square" lIns="0" tIns="0" rIns="0" bIns="0" rtlCol="0" anchor="t">
            <a:normAutofit/>
          </a:bodyPr>
          <a:lstStyle/>
          <a:p>
            <a:pPr marL="0" indent="0" algn="l">
              <a:lnSpc>
                <a:spcPct val="100000"/>
              </a:lnSpc>
              <a:buNone/>
            </a:pPr>
            <a:r>
              <a:rPr lang="en-US" sz="1250" b="1" dirty="0">
                <a:solidFill>
                  <a:srgbClr val="18B89A"/>
                </a:solidFill>
                <a:latin typeface="Calibri" pitchFamily="34" charset="0"/>
                <a:ea typeface="Calibri" pitchFamily="34" charset="-122"/>
                <a:cs typeface="Calibri" pitchFamily="34" charset="-120"/>
              </a:rPr>
              <a:t>TECHNICAL SUMMARY</a:t>
            </a:r>
            <a:endParaRPr lang="en-US" sz="1250" dirty="0"/>
          </a:p>
        </p:txBody>
      </p:sp>
      <p:sp>
        <p:nvSpPr>
          <p:cNvPr id="5" name="Text 3"/>
          <p:cNvSpPr/>
          <p:nvPr/>
        </p:nvSpPr>
        <p:spPr>
          <a:xfrm>
            <a:off x="571500" y="628650"/>
            <a:ext cx="10477500" cy="457200"/>
          </a:xfrm>
          <a:prstGeom prst="rect">
            <a:avLst/>
          </a:prstGeom>
          <a:noFill/>
          <a:ln/>
        </p:spPr>
        <p:txBody>
          <a:bodyPr wrap="square" lIns="0" tIns="0" rIns="0" bIns="0" rtlCol="0" anchor="t">
            <a:normAutofit/>
          </a:bodyPr>
          <a:lstStyle/>
          <a:p>
            <a:pPr marL="0" indent="0" algn="l">
              <a:lnSpc>
                <a:spcPct val="100000"/>
              </a:lnSpc>
              <a:buNone/>
            </a:pPr>
            <a:r>
              <a:rPr lang="en-US" sz="3400" b="1" dirty="0">
                <a:solidFill>
                  <a:srgbClr val="FFFFFF"/>
                </a:solidFill>
                <a:latin typeface="Cambria" pitchFamily="34" charset="0"/>
                <a:ea typeface="Cambria" pitchFamily="34" charset="-122"/>
                <a:cs typeface="Cambria" pitchFamily="34" charset="-120"/>
              </a:rPr>
              <a:t>Open Fronthaul S-Plane Timing Security</a:t>
            </a:r>
            <a:endParaRPr lang="en-US" sz="3400" dirty="0"/>
          </a:p>
        </p:txBody>
      </p:sp>
      <p:sp>
        <p:nvSpPr>
          <p:cNvPr id="6" name="Shape 4"/>
          <p:cNvSpPr/>
          <p:nvPr/>
        </p:nvSpPr>
        <p:spPr>
          <a:xfrm>
            <a:off x="571500" y="1295400"/>
            <a:ext cx="5334000" cy="1066800"/>
          </a:xfrm>
          <a:prstGeom prst="roundRect">
            <a:avLst>
              <a:gd name="adj" fmla="val 3429"/>
            </a:avLst>
          </a:prstGeom>
          <a:solidFill>
            <a:srgbClr val="16314B"/>
          </a:solidFill>
          <a:ln w="12700">
            <a:solidFill>
              <a:srgbClr val="27455E"/>
            </a:solidFill>
            <a:prstDash val="solid"/>
          </a:ln>
        </p:spPr>
        <p:txBody>
          <a:bodyPr/>
          <a:lstStyle/>
          <a:p>
            <a:endParaRPr lang="en-IN"/>
          </a:p>
        </p:txBody>
      </p:sp>
      <p:sp>
        <p:nvSpPr>
          <p:cNvPr id="7" name="Text 5"/>
          <p:cNvSpPr/>
          <p:nvPr/>
        </p:nvSpPr>
        <p:spPr>
          <a:xfrm>
            <a:off x="742950" y="1409700"/>
            <a:ext cx="285750" cy="209550"/>
          </a:xfrm>
          <a:prstGeom prst="rect">
            <a:avLst/>
          </a:prstGeom>
          <a:noFill/>
          <a:ln/>
        </p:spPr>
        <p:txBody>
          <a:bodyPr wrap="square" lIns="0" tIns="0" rIns="0" bIns="0" rtlCol="0" anchor="t">
            <a:normAutofit/>
          </a:bodyPr>
          <a:lstStyle/>
          <a:p>
            <a:pPr marL="0" indent="0" algn="l">
              <a:lnSpc>
                <a:spcPct val="100000"/>
              </a:lnSpc>
              <a:buNone/>
            </a:pPr>
            <a:r>
              <a:rPr lang="en-US" sz="1400" b="1" dirty="0">
                <a:solidFill>
                  <a:srgbClr val="18B89A"/>
                </a:solidFill>
                <a:latin typeface="Cambria" pitchFamily="34" charset="0"/>
                <a:ea typeface="Cambria" pitchFamily="34" charset="-122"/>
                <a:cs typeface="Cambria" pitchFamily="34" charset="-120"/>
              </a:rPr>
              <a:t>1</a:t>
            </a:r>
            <a:endParaRPr lang="en-US" sz="1400" dirty="0"/>
          </a:p>
        </p:txBody>
      </p:sp>
      <p:sp>
        <p:nvSpPr>
          <p:cNvPr id="8" name="Text 6"/>
          <p:cNvSpPr/>
          <p:nvPr/>
        </p:nvSpPr>
        <p:spPr>
          <a:xfrm>
            <a:off x="1066800" y="1390650"/>
            <a:ext cx="4667250" cy="228600"/>
          </a:xfrm>
          <a:prstGeom prst="rect">
            <a:avLst/>
          </a:prstGeom>
          <a:noFill/>
          <a:ln/>
        </p:spPr>
        <p:txBody>
          <a:bodyPr wrap="square" lIns="0" tIns="0" rIns="0" bIns="0" rtlCol="0" anchor="t">
            <a:normAutofit/>
          </a:bodyPr>
          <a:lstStyle/>
          <a:p>
            <a:pPr marL="0" indent="0" algn="l">
              <a:lnSpc>
                <a:spcPct val="100000"/>
              </a:lnSpc>
              <a:buNone/>
            </a:pPr>
            <a:r>
              <a:rPr lang="en-US" sz="1600" b="1" dirty="0">
                <a:solidFill>
                  <a:srgbClr val="FFFFFF"/>
                </a:solidFill>
                <a:latin typeface="Cambria" pitchFamily="34" charset="0"/>
                <a:ea typeface="Cambria" pitchFamily="34" charset="-122"/>
                <a:cs typeface="Cambria" pitchFamily="34" charset="-120"/>
              </a:rPr>
              <a:t>Scope investigated</a:t>
            </a:r>
            <a:endParaRPr lang="en-US" sz="1600" dirty="0"/>
          </a:p>
        </p:txBody>
      </p:sp>
      <p:sp>
        <p:nvSpPr>
          <p:cNvPr id="9" name="Text 7"/>
          <p:cNvSpPr/>
          <p:nvPr/>
        </p:nvSpPr>
        <p:spPr>
          <a:xfrm>
            <a:off x="1066800" y="1657350"/>
            <a:ext cx="4705350" cy="628650"/>
          </a:xfrm>
          <a:prstGeom prst="rect">
            <a:avLst/>
          </a:prstGeom>
          <a:noFill/>
          <a:ln/>
        </p:spPr>
        <p:txBody>
          <a:bodyPr wrap="square" lIns="0" tIns="0" rIns="0" bIns="0" rtlCol="0" anchor="t">
            <a:normAutofit/>
          </a:bodyPr>
          <a:lstStyle/>
          <a:p>
            <a:pPr marL="0" indent="0" algn="l">
              <a:lnSpc>
                <a:spcPct val="100000"/>
              </a:lnSpc>
              <a:buNone/>
            </a:pPr>
            <a:r>
              <a:rPr lang="en-US" sz="1220" dirty="0">
                <a:solidFill>
                  <a:srgbClr val="CFD9E5"/>
                </a:solidFill>
                <a:latin typeface="Calibri" pitchFamily="34" charset="0"/>
                <a:ea typeface="Calibri" pitchFamily="34" charset="-122"/>
                <a:cs typeface="Calibri" pitchFamily="34" charset="-120"/>
              </a:rPr>
              <a:t>Discrimination of malicious timing behaviour from benign timing faults on the Open Fronthaul S-plane, between O-DU and O-RU.</a:t>
            </a:r>
            <a:endParaRPr lang="en-US" sz="1220" dirty="0"/>
          </a:p>
        </p:txBody>
      </p:sp>
      <p:sp>
        <p:nvSpPr>
          <p:cNvPr id="10" name="Shape 8"/>
          <p:cNvSpPr/>
          <p:nvPr/>
        </p:nvSpPr>
        <p:spPr>
          <a:xfrm>
            <a:off x="571500" y="2438400"/>
            <a:ext cx="5334000" cy="1066800"/>
          </a:xfrm>
          <a:prstGeom prst="roundRect">
            <a:avLst>
              <a:gd name="adj" fmla="val 3429"/>
            </a:avLst>
          </a:prstGeom>
          <a:solidFill>
            <a:srgbClr val="16314B"/>
          </a:solidFill>
          <a:ln w="12700">
            <a:solidFill>
              <a:srgbClr val="27455E"/>
            </a:solidFill>
            <a:prstDash val="solid"/>
          </a:ln>
        </p:spPr>
        <p:txBody>
          <a:bodyPr/>
          <a:lstStyle/>
          <a:p>
            <a:endParaRPr lang="en-IN"/>
          </a:p>
        </p:txBody>
      </p:sp>
      <p:sp>
        <p:nvSpPr>
          <p:cNvPr id="11" name="Text 9"/>
          <p:cNvSpPr/>
          <p:nvPr/>
        </p:nvSpPr>
        <p:spPr>
          <a:xfrm>
            <a:off x="742950" y="2552700"/>
            <a:ext cx="285750" cy="209550"/>
          </a:xfrm>
          <a:prstGeom prst="rect">
            <a:avLst/>
          </a:prstGeom>
          <a:noFill/>
          <a:ln/>
        </p:spPr>
        <p:txBody>
          <a:bodyPr wrap="square" lIns="0" tIns="0" rIns="0" bIns="0" rtlCol="0" anchor="t">
            <a:normAutofit/>
          </a:bodyPr>
          <a:lstStyle/>
          <a:p>
            <a:pPr marL="0" indent="0" algn="l">
              <a:lnSpc>
                <a:spcPct val="100000"/>
              </a:lnSpc>
              <a:buNone/>
            </a:pPr>
            <a:r>
              <a:rPr lang="en-US" sz="1400" b="1" dirty="0">
                <a:solidFill>
                  <a:srgbClr val="18B89A"/>
                </a:solidFill>
                <a:latin typeface="Cambria" pitchFamily="34" charset="0"/>
                <a:ea typeface="Cambria" pitchFamily="34" charset="-122"/>
                <a:cs typeface="Cambria" pitchFamily="34" charset="-120"/>
              </a:rPr>
              <a:t>2</a:t>
            </a:r>
            <a:endParaRPr lang="en-US" sz="1400" dirty="0"/>
          </a:p>
        </p:txBody>
      </p:sp>
      <p:sp>
        <p:nvSpPr>
          <p:cNvPr id="12" name="Text 10"/>
          <p:cNvSpPr/>
          <p:nvPr/>
        </p:nvSpPr>
        <p:spPr>
          <a:xfrm>
            <a:off x="1066800" y="2533650"/>
            <a:ext cx="4667250" cy="228600"/>
          </a:xfrm>
          <a:prstGeom prst="rect">
            <a:avLst/>
          </a:prstGeom>
          <a:noFill/>
          <a:ln/>
        </p:spPr>
        <p:txBody>
          <a:bodyPr wrap="square" lIns="0" tIns="0" rIns="0" bIns="0" rtlCol="0" anchor="t">
            <a:normAutofit/>
          </a:bodyPr>
          <a:lstStyle/>
          <a:p>
            <a:pPr marL="0" indent="0" algn="l">
              <a:lnSpc>
                <a:spcPct val="100000"/>
              </a:lnSpc>
              <a:buNone/>
            </a:pPr>
            <a:r>
              <a:rPr lang="en-US" sz="1600" b="1" dirty="0">
                <a:solidFill>
                  <a:srgbClr val="FFFFFF"/>
                </a:solidFill>
                <a:latin typeface="Cambria" pitchFamily="34" charset="0"/>
                <a:ea typeface="Cambria" pitchFamily="34" charset="-122"/>
                <a:cs typeface="Cambria" pitchFamily="34" charset="-120"/>
              </a:rPr>
              <a:t>Implementation</a:t>
            </a:r>
            <a:endParaRPr lang="en-US" sz="1600" dirty="0"/>
          </a:p>
        </p:txBody>
      </p:sp>
      <p:sp>
        <p:nvSpPr>
          <p:cNvPr id="13" name="Text 11"/>
          <p:cNvSpPr/>
          <p:nvPr/>
        </p:nvSpPr>
        <p:spPr>
          <a:xfrm>
            <a:off x="1066800" y="2800350"/>
            <a:ext cx="4705350" cy="628650"/>
          </a:xfrm>
          <a:prstGeom prst="rect">
            <a:avLst/>
          </a:prstGeom>
          <a:noFill/>
          <a:ln/>
        </p:spPr>
        <p:txBody>
          <a:bodyPr wrap="square" lIns="0" tIns="0" rIns="0" bIns="0" rtlCol="0" anchor="t">
            <a:normAutofit/>
          </a:bodyPr>
          <a:lstStyle/>
          <a:p>
            <a:pPr marL="0" indent="0" algn="l">
              <a:lnSpc>
                <a:spcPct val="100000"/>
              </a:lnSpc>
              <a:buNone/>
            </a:pPr>
            <a:r>
              <a:rPr lang="en-US" sz="1220" dirty="0">
                <a:solidFill>
                  <a:srgbClr val="CFD9E5"/>
                </a:solidFill>
                <a:latin typeface="Calibri" pitchFamily="34" charset="0"/>
                <a:ea typeface="Calibri" pitchFamily="34" charset="-122"/>
                <a:cs typeface="Calibri" pitchFamily="34" charset="-120"/>
              </a:rPr>
              <a:t>Six linuxptp 4.0 daemons under the ITU-T G.8275.1 telecom profile across two bridged segments, with faults produced on the live packet path.</a:t>
            </a:r>
            <a:endParaRPr lang="en-US" sz="1220" dirty="0"/>
          </a:p>
        </p:txBody>
      </p:sp>
      <p:sp>
        <p:nvSpPr>
          <p:cNvPr id="14" name="Shape 12"/>
          <p:cNvSpPr/>
          <p:nvPr/>
        </p:nvSpPr>
        <p:spPr>
          <a:xfrm>
            <a:off x="571500" y="3581400"/>
            <a:ext cx="5334000" cy="1066800"/>
          </a:xfrm>
          <a:prstGeom prst="roundRect">
            <a:avLst>
              <a:gd name="adj" fmla="val 3429"/>
            </a:avLst>
          </a:prstGeom>
          <a:solidFill>
            <a:srgbClr val="16314B"/>
          </a:solidFill>
          <a:ln w="12700">
            <a:solidFill>
              <a:srgbClr val="27455E"/>
            </a:solidFill>
            <a:prstDash val="solid"/>
          </a:ln>
        </p:spPr>
        <p:txBody>
          <a:bodyPr/>
          <a:lstStyle/>
          <a:p>
            <a:endParaRPr lang="en-IN"/>
          </a:p>
        </p:txBody>
      </p:sp>
      <p:sp>
        <p:nvSpPr>
          <p:cNvPr id="15" name="Text 13"/>
          <p:cNvSpPr/>
          <p:nvPr/>
        </p:nvSpPr>
        <p:spPr>
          <a:xfrm>
            <a:off x="742950" y="3695700"/>
            <a:ext cx="285750" cy="209550"/>
          </a:xfrm>
          <a:prstGeom prst="rect">
            <a:avLst/>
          </a:prstGeom>
          <a:noFill/>
          <a:ln/>
        </p:spPr>
        <p:txBody>
          <a:bodyPr wrap="square" lIns="0" tIns="0" rIns="0" bIns="0" rtlCol="0" anchor="t">
            <a:normAutofit/>
          </a:bodyPr>
          <a:lstStyle/>
          <a:p>
            <a:pPr marL="0" indent="0" algn="l">
              <a:lnSpc>
                <a:spcPct val="100000"/>
              </a:lnSpc>
              <a:buNone/>
            </a:pPr>
            <a:r>
              <a:rPr lang="en-US" sz="1400" b="1" dirty="0">
                <a:solidFill>
                  <a:srgbClr val="18B89A"/>
                </a:solidFill>
                <a:latin typeface="Cambria" pitchFamily="34" charset="0"/>
                <a:ea typeface="Cambria" pitchFamily="34" charset="-122"/>
                <a:cs typeface="Cambria" pitchFamily="34" charset="-120"/>
              </a:rPr>
              <a:t>3</a:t>
            </a:r>
            <a:endParaRPr lang="en-US" sz="1400" dirty="0"/>
          </a:p>
        </p:txBody>
      </p:sp>
      <p:sp>
        <p:nvSpPr>
          <p:cNvPr id="16" name="Text 14"/>
          <p:cNvSpPr/>
          <p:nvPr/>
        </p:nvSpPr>
        <p:spPr>
          <a:xfrm>
            <a:off x="1066800" y="3676650"/>
            <a:ext cx="4667250" cy="228600"/>
          </a:xfrm>
          <a:prstGeom prst="rect">
            <a:avLst/>
          </a:prstGeom>
          <a:noFill/>
          <a:ln/>
        </p:spPr>
        <p:txBody>
          <a:bodyPr wrap="square" lIns="0" tIns="0" rIns="0" bIns="0" rtlCol="0" anchor="t">
            <a:normAutofit/>
          </a:bodyPr>
          <a:lstStyle/>
          <a:p>
            <a:pPr marL="0" indent="0" algn="l">
              <a:lnSpc>
                <a:spcPct val="100000"/>
              </a:lnSpc>
              <a:buNone/>
            </a:pPr>
            <a:r>
              <a:rPr lang="en-US" sz="1600" b="1" dirty="0">
                <a:solidFill>
                  <a:srgbClr val="FFFFFF"/>
                </a:solidFill>
                <a:latin typeface="Cambria" pitchFamily="34" charset="0"/>
                <a:ea typeface="Cambria" pitchFamily="34" charset="-122"/>
                <a:cs typeface="Cambria" pitchFamily="34" charset="-120"/>
              </a:rPr>
              <a:t>Dataset produced</a:t>
            </a:r>
            <a:endParaRPr lang="en-US" sz="1600" dirty="0"/>
          </a:p>
        </p:txBody>
      </p:sp>
      <p:sp>
        <p:nvSpPr>
          <p:cNvPr id="17" name="Text 15"/>
          <p:cNvSpPr/>
          <p:nvPr/>
        </p:nvSpPr>
        <p:spPr>
          <a:xfrm>
            <a:off x="1066800" y="3943350"/>
            <a:ext cx="4705350" cy="628650"/>
          </a:xfrm>
          <a:prstGeom prst="rect">
            <a:avLst/>
          </a:prstGeom>
          <a:noFill/>
          <a:ln/>
        </p:spPr>
        <p:txBody>
          <a:bodyPr wrap="square" lIns="0" tIns="0" rIns="0" bIns="0" rtlCol="0" anchor="t">
            <a:normAutofit/>
          </a:bodyPr>
          <a:lstStyle/>
          <a:p>
            <a:pPr marL="0" indent="0" algn="l">
              <a:lnSpc>
                <a:spcPct val="100000"/>
              </a:lnSpc>
              <a:buNone/>
            </a:pPr>
            <a:r>
              <a:rPr lang="en-US" sz="1220" dirty="0">
                <a:solidFill>
                  <a:srgbClr val="CFD9E5"/>
                </a:solidFill>
                <a:latin typeface="Calibri" pitchFamily="34" charset="0"/>
                <a:ea typeface="Calibri" pitchFamily="34" charset="-122"/>
                <a:cs typeface="Calibri" pitchFamily="34" charset="-120"/>
              </a:rPr>
              <a:t>168 live runs across 14 scenarios at 12 randomised replicates each; 1,451,909 packet records extracted at 56 fields per packet, with unobservable fields recorded EMPTY.</a:t>
            </a:r>
            <a:endParaRPr lang="en-US" sz="1220" dirty="0"/>
          </a:p>
        </p:txBody>
      </p:sp>
      <p:sp>
        <p:nvSpPr>
          <p:cNvPr id="18" name="Shape 16"/>
          <p:cNvSpPr/>
          <p:nvPr/>
        </p:nvSpPr>
        <p:spPr>
          <a:xfrm>
            <a:off x="571500" y="4724400"/>
            <a:ext cx="5334000" cy="1066800"/>
          </a:xfrm>
          <a:prstGeom prst="roundRect">
            <a:avLst>
              <a:gd name="adj" fmla="val 3429"/>
            </a:avLst>
          </a:prstGeom>
          <a:solidFill>
            <a:srgbClr val="16314B"/>
          </a:solidFill>
          <a:ln w="12700">
            <a:solidFill>
              <a:srgbClr val="27455E"/>
            </a:solidFill>
            <a:prstDash val="solid"/>
          </a:ln>
        </p:spPr>
        <p:txBody>
          <a:bodyPr/>
          <a:lstStyle/>
          <a:p>
            <a:endParaRPr lang="en-IN"/>
          </a:p>
        </p:txBody>
      </p:sp>
      <p:sp>
        <p:nvSpPr>
          <p:cNvPr id="19" name="Text 17"/>
          <p:cNvSpPr/>
          <p:nvPr/>
        </p:nvSpPr>
        <p:spPr>
          <a:xfrm>
            <a:off x="742950" y="4838700"/>
            <a:ext cx="285750" cy="209550"/>
          </a:xfrm>
          <a:prstGeom prst="rect">
            <a:avLst/>
          </a:prstGeom>
          <a:noFill/>
          <a:ln/>
        </p:spPr>
        <p:txBody>
          <a:bodyPr wrap="square" lIns="0" tIns="0" rIns="0" bIns="0" rtlCol="0" anchor="t">
            <a:normAutofit/>
          </a:bodyPr>
          <a:lstStyle/>
          <a:p>
            <a:pPr marL="0" indent="0" algn="l">
              <a:lnSpc>
                <a:spcPct val="100000"/>
              </a:lnSpc>
              <a:buNone/>
            </a:pPr>
            <a:r>
              <a:rPr lang="en-US" sz="1400" b="1" dirty="0">
                <a:solidFill>
                  <a:srgbClr val="18B89A"/>
                </a:solidFill>
                <a:latin typeface="Cambria" pitchFamily="34" charset="0"/>
                <a:ea typeface="Cambria" pitchFamily="34" charset="-122"/>
                <a:cs typeface="Cambria" pitchFamily="34" charset="-120"/>
              </a:rPr>
              <a:t>4</a:t>
            </a:r>
            <a:endParaRPr lang="en-US" sz="1400" dirty="0"/>
          </a:p>
        </p:txBody>
      </p:sp>
      <p:sp>
        <p:nvSpPr>
          <p:cNvPr id="20" name="Text 18"/>
          <p:cNvSpPr/>
          <p:nvPr/>
        </p:nvSpPr>
        <p:spPr>
          <a:xfrm>
            <a:off x="1066800" y="4819650"/>
            <a:ext cx="4667250" cy="228600"/>
          </a:xfrm>
          <a:prstGeom prst="rect">
            <a:avLst/>
          </a:prstGeom>
          <a:noFill/>
          <a:ln/>
        </p:spPr>
        <p:txBody>
          <a:bodyPr wrap="square" lIns="0" tIns="0" rIns="0" bIns="0" rtlCol="0" anchor="t">
            <a:normAutofit/>
          </a:bodyPr>
          <a:lstStyle/>
          <a:p>
            <a:pPr marL="0" indent="0" algn="l">
              <a:lnSpc>
                <a:spcPct val="100000"/>
              </a:lnSpc>
              <a:buNone/>
            </a:pPr>
            <a:r>
              <a:rPr lang="en-US" sz="1600" b="1" dirty="0">
                <a:solidFill>
                  <a:srgbClr val="FFFFFF"/>
                </a:solidFill>
                <a:latin typeface="Cambria" pitchFamily="34" charset="0"/>
                <a:ea typeface="Cambria" pitchFamily="34" charset="-122"/>
                <a:cs typeface="Cambria" pitchFamily="34" charset="-120"/>
              </a:rPr>
              <a:t>Taxonomy evaluated</a:t>
            </a:r>
            <a:endParaRPr lang="en-US" sz="1600" dirty="0"/>
          </a:p>
        </p:txBody>
      </p:sp>
      <p:sp>
        <p:nvSpPr>
          <p:cNvPr id="21" name="Text 19"/>
          <p:cNvSpPr/>
          <p:nvPr/>
        </p:nvSpPr>
        <p:spPr>
          <a:xfrm>
            <a:off x="1066800" y="5086350"/>
            <a:ext cx="4705350" cy="628650"/>
          </a:xfrm>
          <a:prstGeom prst="rect">
            <a:avLst/>
          </a:prstGeom>
          <a:noFill/>
          <a:ln/>
        </p:spPr>
        <p:txBody>
          <a:bodyPr wrap="square" lIns="0" tIns="0" rIns="0" bIns="0" rtlCol="0" anchor="t">
            <a:normAutofit/>
          </a:bodyPr>
          <a:lstStyle/>
          <a:p>
            <a:pPr marL="0" indent="0" algn="l">
              <a:lnSpc>
                <a:spcPct val="100000"/>
              </a:lnSpc>
              <a:buNone/>
            </a:pPr>
            <a:r>
              <a:rPr lang="en-US" sz="1220" dirty="0">
                <a:solidFill>
                  <a:srgbClr val="CFD9E5"/>
                </a:solidFill>
                <a:latin typeface="Calibri" pitchFamily="34" charset="0"/>
                <a:ea typeface="Calibri" pitchFamily="34" charset="-122"/>
                <a:cs typeface="Calibri" pitchFamily="34" charset="-120"/>
              </a:rPr>
              <a:t>Eight attack scenarios, five benign scenarios and one deliberately ambiguous case, drawn from a sixteen-class catalogue of which eight were executable in software.</a:t>
            </a:r>
            <a:endParaRPr lang="en-US" sz="1220" dirty="0"/>
          </a:p>
        </p:txBody>
      </p:sp>
      <p:sp>
        <p:nvSpPr>
          <p:cNvPr id="22" name="Shape 20"/>
          <p:cNvSpPr/>
          <p:nvPr/>
        </p:nvSpPr>
        <p:spPr>
          <a:xfrm>
            <a:off x="6286500" y="1295400"/>
            <a:ext cx="5334000" cy="1066800"/>
          </a:xfrm>
          <a:prstGeom prst="roundRect">
            <a:avLst>
              <a:gd name="adj" fmla="val 3429"/>
            </a:avLst>
          </a:prstGeom>
          <a:solidFill>
            <a:srgbClr val="16314B"/>
          </a:solidFill>
          <a:ln w="12700">
            <a:solidFill>
              <a:srgbClr val="27455E"/>
            </a:solidFill>
            <a:prstDash val="solid"/>
          </a:ln>
        </p:spPr>
        <p:txBody>
          <a:bodyPr/>
          <a:lstStyle/>
          <a:p>
            <a:endParaRPr lang="en-IN"/>
          </a:p>
        </p:txBody>
      </p:sp>
      <p:sp>
        <p:nvSpPr>
          <p:cNvPr id="23" name="Text 21"/>
          <p:cNvSpPr/>
          <p:nvPr/>
        </p:nvSpPr>
        <p:spPr>
          <a:xfrm>
            <a:off x="6457950" y="1409700"/>
            <a:ext cx="285750" cy="209550"/>
          </a:xfrm>
          <a:prstGeom prst="rect">
            <a:avLst/>
          </a:prstGeom>
          <a:noFill/>
          <a:ln/>
        </p:spPr>
        <p:txBody>
          <a:bodyPr wrap="square" lIns="0" tIns="0" rIns="0" bIns="0" rtlCol="0" anchor="t">
            <a:normAutofit/>
          </a:bodyPr>
          <a:lstStyle/>
          <a:p>
            <a:pPr marL="0" indent="0" algn="l">
              <a:lnSpc>
                <a:spcPct val="100000"/>
              </a:lnSpc>
              <a:buNone/>
            </a:pPr>
            <a:r>
              <a:rPr lang="en-US" sz="1400" b="1" dirty="0">
                <a:solidFill>
                  <a:srgbClr val="18B89A"/>
                </a:solidFill>
                <a:latin typeface="Cambria" pitchFamily="34" charset="0"/>
                <a:ea typeface="Cambria" pitchFamily="34" charset="-122"/>
                <a:cs typeface="Cambria" pitchFamily="34" charset="-120"/>
              </a:rPr>
              <a:t>5</a:t>
            </a:r>
            <a:endParaRPr lang="en-US" sz="1400" dirty="0"/>
          </a:p>
        </p:txBody>
      </p:sp>
      <p:sp>
        <p:nvSpPr>
          <p:cNvPr id="24" name="Text 22"/>
          <p:cNvSpPr/>
          <p:nvPr/>
        </p:nvSpPr>
        <p:spPr>
          <a:xfrm>
            <a:off x="6781800" y="1390650"/>
            <a:ext cx="4667250" cy="228600"/>
          </a:xfrm>
          <a:prstGeom prst="rect">
            <a:avLst/>
          </a:prstGeom>
          <a:noFill/>
          <a:ln/>
        </p:spPr>
        <p:txBody>
          <a:bodyPr wrap="square" lIns="0" tIns="0" rIns="0" bIns="0" rtlCol="0" anchor="t">
            <a:normAutofit/>
          </a:bodyPr>
          <a:lstStyle/>
          <a:p>
            <a:pPr marL="0" indent="0" algn="l">
              <a:lnSpc>
                <a:spcPct val="100000"/>
              </a:lnSpc>
              <a:buNone/>
            </a:pPr>
            <a:r>
              <a:rPr lang="en-US" sz="1600" b="1" dirty="0">
                <a:solidFill>
                  <a:srgbClr val="FFFFFF"/>
                </a:solidFill>
                <a:latin typeface="Cambria" pitchFamily="34" charset="0"/>
                <a:ea typeface="Cambria" pitchFamily="34" charset="-122"/>
                <a:cs typeface="Cambria" pitchFamily="34" charset="-120"/>
              </a:rPr>
              <a:t>Classification performance</a:t>
            </a:r>
            <a:endParaRPr lang="en-US" sz="1600" dirty="0"/>
          </a:p>
        </p:txBody>
      </p:sp>
      <p:sp>
        <p:nvSpPr>
          <p:cNvPr id="25" name="Text 23"/>
          <p:cNvSpPr/>
          <p:nvPr/>
        </p:nvSpPr>
        <p:spPr>
          <a:xfrm>
            <a:off x="6781800" y="1657350"/>
            <a:ext cx="4705350" cy="628650"/>
          </a:xfrm>
          <a:prstGeom prst="rect">
            <a:avLst/>
          </a:prstGeom>
          <a:noFill/>
          <a:ln/>
        </p:spPr>
        <p:txBody>
          <a:bodyPr wrap="square" lIns="0" tIns="0" rIns="0" bIns="0" rtlCol="0" anchor="t">
            <a:normAutofit/>
          </a:bodyPr>
          <a:lstStyle/>
          <a:p>
            <a:pPr marL="0" indent="0" algn="l">
              <a:lnSpc>
                <a:spcPct val="100000"/>
              </a:lnSpc>
              <a:buNone/>
            </a:pPr>
            <a:r>
              <a:rPr lang="en-US" sz="1220" dirty="0">
                <a:solidFill>
                  <a:srgbClr val="CFD9E5"/>
                </a:solidFill>
                <a:latin typeface="Calibri" pitchFamily="34" charset="0"/>
                <a:ea typeface="Calibri" pitchFamily="34" charset="-122"/>
                <a:cs typeface="Calibri" pitchFamily="34" charset="-120"/>
              </a:rPr>
              <a:t>Macro attack sensitivity 0.990 for the revised rule against 0.625 pre-frozen; specificity 0.783, or 0.979 excluding the identified benign failure; abstention 12/12; attribution 0.875.</a:t>
            </a:r>
            <a:endParaRPr lang="en-US" sz="1220" dirty="0"/>
          </a:p>
        </p:txBody>
      </p:sp>
      <p:sp>
        <p:nvSpPr>
          <p:cNvPr id="26" name="Shape 24"/>
          <p:cNvSpPr/>
          <p:nvPr/>
        </p:nvSpPr>
        <p:spPr>
          <a:xfrm>
            <a:off x="6286500" y="2438400"/>
            <a:ext cx="5334000" cy="1066800"/>
          </a:xfrm>
          <a:prstGeom prst="roundRect">
            <a:avLst>
              <a:gd name="adj" fmla="val 3429"/>
            </a:avLst>
          </a:prstGeom>
          <a:solidFill>
            <a:srgbClr val="16314B"/>
          </a:solidFill>
          <a:ln w="12700">
            <a:solidFill>
              <a:srgbClr val="27455E"/>
            </a:solidFill>
            <a:prstDash val="solid"/>
          </a:ln>
        </p:spPr>
        <p:txBody>
          <a:bodyPr/>
          <a:lstStyle/>
          <a:p>
            <a:endParaRPr lang="en-IN"/>
          </a:p>
        </p:txBody>
      </p:sp>
      <p:sp>
        <p:nvSpPr>
          <p:cNvPr id="27" name="Text 25"/>
          <p:cNvSpPr/>
          <p:nvPr/>
        </p:nvSpPr>
        <p:spPr>
          <a:xfrm>
            <a:off x="6457950" y="2552700"/>
            <a:ext cx="285750" cy="209550"/>
          </a:xfrm>
          <a:prstGeom prst="rect">
            <a:avLst/>
          </a:prstGeom>
          <a:noFill/>
          <a:ln/>
        </p:spPr>
        <p:txBody>
          <a:bodyPr wrap="square" lIns="0" tIns="0" rIns="0" bIns="0" rtlCol="0" anchor="t">
            <a:normAutofit/>
          </a:bodyPr>
          <a:lstStyle/>
          <a:p>
            <a:pPr marL="0" indent="0" algn="l">
              <a:lnSpc>
                <a:spcPct val="100000"/>
              </a:lnSpc>
              <a:buNone/>
            </a:pPr>
            <a:r>
              <a:rPr lang="en-US" sz="1400" b="1" dirty="0">
                <a:solidFill>
                  <a:srgbClr val="18B89A"/>
                </a:solidFill>
                <a:latin typeface="Cambria" pitchFamily="34" charset="0"/>
                <a:ea typeface="Cambria" pitchFamily="34" charset="-122"/>
                <a:cs typeface="Cambria" pitchFamily="34" charset="-120"/>
              </a:rPr>
              <a:t>6</a:t>
            </a:r>
            <a:endParaRPr lang="en-US" sz="1400" dirty="0"/>
          </a:p>
        </p:txBody>
      </p:sp>
      <p:sp>
        <p:nvSpPr>
          <p:cNvPr id="28" name="Text 26"/>
          <p:cNvSpPr/>
          <p:nvPr/>
        </p:nvSpPr>
        <p:spPr>
          <a:xfrm>
            <a:off x="6781800" y="2533650"/>
            <a:ext cx="4667250" cy="228600"/>
          </a:xfrm>
          <a:prstGeom prst="rect">
            <a:avLst/>
          </a:prstGeom>
          <a:noFill/>
          <a:ln/>
        </p:spPr>
        <p:txBody>
          <a:bodyPr wrap="square" lIns="0" tIns="0" rIns="0" bIns="0" rtlCol="0" anchor="t">
            <a:normAutofit/>
          </a:bodyPr>
          <a:lstStyle/>
          <a:p>
            <a:pPr marL="0" indent="0" algn="l">
              <a:lnSpc>
                <a:spcPct val="100000"/>
              </a:lnSpc>
              <a:buNone/>
            </a:pPr>
            <a:r>
              <a:rPr lang="en-US" sz="1600" b="1" dirty="0">
                <a:solidFill>
                  <a:srgbClr val="FFFFFF"/>
                </a:solidFill>
                <a:latin typeface="Cambria" pitchFamily="34" charset="0"/>
                <a:ea typeface="Cambria" pitchFamily="34" charset="-122"/>
                <a:cs typeface="Cambria" pitchFamily="34" charset="-120"/>
              </a:rPr>
              <a:t>Comparison outcome</a:t>
            </a:r>
            <a:endParaRPr lang="en-US" sz="1600" dirty="0"/>
          </a:p>
        </p:txBody>
      </p:sp>
      <p:sp>
        <p:nvSpPr>
          <p:cNvPr id="29" name="Text 27"/>
          <p:cNvSpPr/>
          <p:nvPr/>
        </p:nvSpPr>
        <p:spPr>
          <a:xfrm>
            <a:off x="6781800" y="2800350"/>
            <a:ext cx="4705350" cy="628650"/>
          </a:xfrm>
          <a:prstGeom prst="rect">
            <a:avLst/>
          </a:prstGeom>
          <a:noFill/>
          <a:ln/>
        </p:spPr>
        <p:txBody>
          <a:bodyPr wrap="square" lIns="0" tIns="0" rIns="0" bIns="0" rtlCol="0" anchor="t">
            <a:normAutofit/>
          </a:bodyPr>
          <a:lstStyle/>
          <a:p>
            <a:pPr marL="0" indent="0" algn="l">
              <a:lnSpc>
                <a:spcPct val="100000"/>
              </a:lnSpc>
              <a:buNone/>
            </a:pPr>
            <a:r>
              <a:rPr lang="en-US" sz="1220" dirty="0">
                <a:solidFill>
                  <a:srgbClr val="CFD9E5"/>
                </a:solidFill>
                <a:latin typeface="Calibri" pitchFamily="34" charset="0"/>
                <a:ea typeface="Calibri" pitchFamily="34" charset="-122"/>
                <a:cs typeface="Calibri" pitchFamily="34" charset="-120"/>
              </a:rPr>
              <a:t>On 56 held-out runs the rule arm reached 0.911 against 0.429 for the ML arm and 0.357 for a constant predictor; the ML arm is not statistically distinguishable from that control on the available telemetry.</a:t>
            </a:r>
            <a:endParaRPr lang="en-US" sz="1220" dirty="0"/>
          </a:p>
        </p:txBody>
      </p:sp>
      <p:sp>
        <p:nvSpPr>
          <p:cNvPr id="30" name="Shape 28"/>
          <p:cNvSpPr/>
          <p:nvPr/>
        </p:nvSpPr>
        <p:spPr>
          <a:xfrm>
            <a:off x="6286500" y="3581400"/>
            <a:ext cx="5334000" cy="1066800"/>
          </a:xfrm>
          <a:prstGeom prst="roundRect">
            <a:avLst>
              <a:gd name="adj" fmla="val 3429"/>
            </a:avLst>
          </a:prstGeom>
          <a:solidFill>
            <a:srgbClr val="16314B"/>
          </a:solidFill>
          <a:ln w="12700">
            <a:solidFill>
              <a:srgbClr val="27455E"/>
            </a:solidFill>
            <a:prstDash val="solid"/>
          </a:ln>
        </p:spPr>
        <p:txBody>
          <a:bodyPr/>
          <a:lstStyle/>
          <a:p>
            <a:endParaRPr lang="en-IN"/>
          </a:p>
        </p:txBody>
      </p:sp>
      <p:sp>
        <p:nvSpPr>
          <p:cNvPr id="31" name="Text 29"/>
          <p:cNvSpPr/>
          <p:nvPr/>
        </p:nvSpPr>
        <p:spPr>
          <a:xfrm>
            <a:off x="6457950" y="3695700"/>
            <a:ext cx="285750" cy="209550"/>
          </a:xfrm>
          <a:prstGeom prst="rect">
            <a:avLst/>
          </a:prstGeom>
          <a:noFill/>
          <a:ln/>
        </p:spPr>
        <p:txBody>
          <a:bodyPr wrap="square" lIns="0" tIns="0" rIns="0" bIns="0" rtlCol="0" anchor="t">
            <a:normAutofit/>
          </a:bodyPr>
          <a:lstStyle/>
          <a:p>
            <a:pPr marL="0" indent="0" algn="l">
              <a:lnSpc>
                <a:spcPct val="100000"/>
              </a:lnSpc>
              <a:buNone/>
            </a:pPr>
            <a:r>
              <a:rPr lang="en-US" sz="1400" b="1" dirty="0">
                <a:solidFill>
                  <a:srgbClr val="18B89A"/>
                </a:solidFill>
                <a:latin typeface="Cambria" pitchFamily="34" charset="0"/>
                <a:ea typeface="Cambria" pitchFamily="34" charset="-122"/>
                <a:cs typeface="Cambria" pitchFamily="34" charset="-120"/>
              </a:rPr>
              <a:t>7</a:t>
            </a:r>
            <a:endParaRPr lang="en-US" sz="1400" dirty="0"/>
          </a:p>
        </p:txBody>
      </p:sp>
      <p:sp>
        <p:nvSpPr>
          <p:cNvPr id="32" name="Text 30"/>
          <p:cNvSpPr/>
          <p:nvPr/>
        </p:nvSpPr>
        <p:spPr>
          <a:xfrm>
            <a:off x="6781800" y="3676650"/>
            <a:ext cx="4667250" cy="228600"/>
          </a:xfrm>
          <a:prstGeom prst="rect">
            <a:avLst/>
          </a:prstGeom>
          <a:noFill/>
          <a:ln/>
        </p:spPr>
        <p:txBody>
          <a:bodyPr wrap="square" lIns="0" tIns="0" rIns="0" bIns="0" rtlCol="0" anchor="t">
            <a:normAutofit/>
          </a:bodyPr>
          <a:lstStyle/>
          <a:p>
            <a:pPr marL="0" indent="0" algn="l">
              <a:lnSpc>
                <a:spcPct val="100000"/>
              </a:lnSpc>
              <a:buNone/>
            </a:pPr>
            <a:r>
              <a:rPr lang="en-US" sz="1600" b="1" dirty="0">
                <a:solidFill>
                  <a:srgbClr val="FFFFFF"/>
                </a:solidFill>
                <a:latin typeface="Cambria" pitchFamily="34" charset="0"/>
                <a:ea typeface="Cambria" pitchFamily="34" charset="-122"/>
                <a:cs typeface="Cambria" pitchFamily="34" charset="-120"/>
              </a:rPr>
              <a:t>Limits identified</a:t>
            </a:r>
            <a:endParaRPr lang="en-US" sz="1600" dirty="0"/>
          </a:p>
        </p:txBody>
      </p:sp>
      <p:sp>
        <p:nvSpPr>
          <p:cNvPr id="33" name="Text 31"/>
          <p:cNvSpPr/>
          <p:nvPr/>
        </p:nvSpPr>
        <p:spPr>
          <a:xfrm>
            <a:off x="6781800" y="3943350"/>
            <a:ext cx="4705350" cy="628650"/>
          </a:xfrm>
          <a:prstGeom prst="rect">
            <a:avLst/>
          </a:prstGeom>
          <a:noFill/>
          <a:ln/>
        </p:spPr>
        <p:txBody>
          <a:bodyPr wrap="square" lIns="0" tIns="0" rIns="0" bIns="0" rtlCol="0" anchor="t">
            <a:normAutofit/>
          </a:bodyPr>
          <a:lstStyle/>
          <a:p>
            <a:pPr marL="0" indent="0" algn="l">
              <a:lnSpc>
                <a:spcPct val="100000"/>
              </a:lnSpc>
              <a:buNone/>
            </a:pPr>
            <a:r>
              <a:rPr lang="en-US" sz="1220" dirty="0">
                <a:solidFill>
                  <a:srgbClr val="CFD9E5"/>
                </a:solidFill>
                <a:latin typeface="Calibri" pitchFamily="34" charset="0"/>
                <a:ea typeface="Calibri" pitchFamily="34" charset="-122"/>
                <a:cs typeface="Calibri" pitchFamily="34" charset="-120"/>
              </a:rPr>
              <a:t>One systematic benign failure with a defined fix, an interception evasion band near 60 %, and five fault classes requiring hardware.</a:t>
            </a:r>
            <a:endParaRPr lang="en-US" sz="1220" dirty="0"/>
          </a:p>
        </p:txBody>
      </p:sp>
      <p:sp>
        <p:nvSpPr>
          <p:cNvPr id="34" name="Shape 32"/>
          <p:cNvSpPr/>
          <p:nvPr/>
        </p:nvSpPr>
        <p:spPr>
          <a:xfrm>
            <a:off x="6286500" y="4724400"/>
            <a:ext cx="5334000" cy="1066800"/>
          </a:xfrm>
          <a:prstGeom prst="roundRect">
            <a:avLst>
              <a:gd name="adj" fmla="val 3429"/>
            </a:avLst>
          </a:prstGeom>
          <a:solidFill>
            <a:srgbClr val="16314B"/>
          </a:solidFill>
          <a:ln w="12700">
            <a:solidFill>
              <a:srgbClr val="27455E"/>
            </a:solidFill>
            <a:prstDash val="solid"/>
          </a:ln>
        </p:spPr>
        <p:txBody>
          <a:bodyPr/>
          <a:lstStyle/>
          <a:p>
            <a:endParaRPr lang="en-IN"/>
          </a:p>
        </p:txBody>
      </p:sp>
      <p:sp>
        <p:nvSpPr>
          <p:cNvPr id="35" name="Text 33"/>
          <p:cNvSpPr/>
          <p:nvPr/>
        </p:nvSpPr>
        <p:spPr>
          <a:xfrm>
            <a:off x="6457950" y="4838700"/>
            <a:ext cx="285750" cy="209550"/>
          </a:xfrm>
          <a:prstGeom prst="rect">
            <a:avLst/>
          </a:prstGeom>
          <a:noFill/>
          <a:ln/>
        </p:spPr>
        <p:txBody>
          <a:bodyPr wrap="square" lIns="0" tIns="0" rIns="0" bIns="0" rtlCol="0" anchor="t">
            <a:normAutofit/>
          </a:bodyPr>
          <a:lstStyle/>
          <a:p>
            <a:pPr marL="0" indent="0" algn="l">
              <a:lnSpc>
                <a:spcPct val="100000"/>
              </a:lnSpc>
              <a:buNone/>
            </a:pPr>
            <a:r>
              <a:rPr lang="en-US" sz="1400" b="1" dirty="0">
                <a:solidFill>
                  <a:srgbClr val="18B89A"/>
                </a:solidFill>
                <a:latin typeface="Cambria" pitchFamily="34" charset="0"/>
                <a:ea typeface="Cambria" pitchFamily="34" charset="-122"/>
                <a:cs typeface="Cambria" pitchFamily="34" charset="-120"/>
              </a:rPr>
              <a:t>8</a:t>
            </a:r>
            <a:endParaRPr lang="en-US" sz="1400" dirty="0"/>
          </a:p>
        </p:txBody>
      </p:sp>
      <p:sp>
        <p:nvSpPr>
          <p:cNvPr id="36" name="Text 34"/>
          <p:cNvSpPr/>
          <p:nvPr/>
        </p:nvSpPr>
        <p:spPr>
          <a:xfrm>
            <a:off x="6781800" y="4819650"/>
            <a:ext cx="4667250" cy="228600"/>
          </a:xfrm>
          <a:prstGeom prst="rect">
            <a:avLst/>
          </a:prstGeom>
          <a:noFill/>
          <a:ln/>
        </p:spPr>
        <p:txBody>
          <a:bodyPr wrap="square" lIns="0" tIns="0" rIns="0" bIns="0" rtlCol="0" anchor="t">
            <a:normAutofit/>
          </a:bodyPr>
          <a:lstStyle/>
          <a:p>
            <a:pPr marL="0" indent="0" algn="l">
              <a:lnSpc>
                <a:spcPct val="100000"/>
              </a:lnSpc>
              <a:buNone/>
            </a:pPr>
            <a:r>
              <a:rPr lang="en-US" sz="1600" b="1" dirty="0">
                <a:solidFill>
                  <a:srgbClr val="FFFFFF"/>
                </a:solidFill>
                <a:latin typeface="Cambria" pitchFamily="34" charset="0"/>
                <a:ea typeface="Cambria" pitchFamily="34" charset="-122"/>
                <a:cs typeface="Cambria" pitchFamily="34" charset="-120"/>
              </a:rPr>
              <a:t>Immediate next steps</a:t>
            </a:r>
            <a:endParaRPr lang="en-US" sz="1600" dirty="0"/>
          </a:p>
        </p:txBody>
      </p:sp>
      <p:sp>
        <p:nvSpPr>
          <p:cNvPr id="37" name="Text 35"/>
          <p:cNvSpPr/>
          <p:nvPr/>
        </p:nvSpPr>
        <p:spPr>
          <a:xfrm>
            <a:off x="6781800" y="5086350"/>
            <a:ext cx="4705350" cy="628650"/>
          </a:xfrm>
          <a:prstGeom prst="rect">
            <a:avLst/>
          </a:prstGeom>
          <a:noFill/>
          <a:ln/>
        </p:spPr>
        <p:txBody>
          <a:bodyPr wrap="square" lIns="0" tIns="0" rIns="0" bIns="0" rtlCol="0" anchor="t">
            <a:normAutofit/>
          </a:bodyPr>
          <a:lstStyle/>
          <a:p>
            <a:pPr marL="0" indent="0" algn="l">
              <a:lnSpc>
                <a:spcPct val="100000"/>
              </a:lnSpc>
              <a:buNone/>
            </a:pPr>
            <a:r>
              <a:rPr lang="en-US" sz="1220" dirty="0">
                <a:solidFill>
                  <a:srgbClr val="CFD9E5"/>
                </a:solidFill>
                <a:latin typeface="Calibri" pitchFamily="34" charset="0"/>
                <a:ea typeface="Calibri" pitchFamily="34" charset="-122"/>
                <a:cs typeface="Calibri" pitchFamily="34" charset="-120"/>
              </a:rPr>
              <a:t>Extend the provisioned-replacement context and re-freeze; sweep interception levels; add continuity-based detection; re-run the ML arm with management-plane telemetry.</a:t>
            </a:r>
            <a:endParaRPr lang="en-US" sz="1220" dirty="0"/>
          </a:p>
        </p:txBody>
      </p:sp>
      <p:sp>
        <p:nvSpPr>
          <p:cNvPr id="38" name="Shape 36"/>
          <p:cNvSpPr/>
          <p:nvPr/>
        </p:nvSpPr>
        <p:spPr>
          <a:xfrm>
            <a:off x="571500" y="5905500"/>
            <a:ext cx="11049000" cy="14288"/>
          </a:xfrm>
          <a:prstGeom prst="rect">
            <a:avLst/>
          </a:prstGeom>
          <a:solidFill>
            <a:srgbClr val="27455E"/>
          </a:solidFill>
          <a:ln/>
        </p:spPr>
        <p:txBody>
          <a:bodyPr/>
          <a:lstStyle/>
          <a:p>
            <a:endParaRPr lang="en-IN"/>
          </a:p>
        </p:txBody>
      </p:sp>
      <p:sp>
        <p:nvSpPr>
          <p:cNvPr id="39" name="Text 37"/>
          <p:cNvSpPr/>
          <p:nvPr/>
        </p:nvSpPr>
        <p:spPr>
          <a:xfrm>
            <a:off x="571500" y="6038850"/>
            <a:ext cx="3810000" cy="381000"/>
          </a:xfrm>
          <a:prstGeom prst="rect">
            <a:avLst/>
          </a:prstGeom>
          <a:noFill/>
          <a:ln/>
        </p:spPr>
        <p:txBody>
          <a:bodyPr wrap="square" lIns="0" tIns="0" rIns="0" bIns="0" rtlCol="0" anchor="t">
            <a:normAutofit/>
          </a:bodyPr>
          <a:lstStyle/>
          <a:p>
            <a:pPr marL="0" indent="0" algn="l">
              <a:lnSpc>
                <a:spcPct val="100000"/>
              </a:lnSpc>
              <a:buNone/>
            </a:pPr>
            <a:r>
              <a:rPr lang="en-US" sz="2800" b="1" dirty="0">
                <a:solidFill>
                  <a:srgbClr val="18B89A"/>
                </a:solidFill>
                <a:latin typeface="Cambria" pitchFamily="34" charset="0"/>
                <a:ea typeface="Cambria" pitchFamily="34" charset="-122"/>
                <a:cs typeface="Cambria" pitchFamily="34" charset="-120"/>
              </a:rPr>
              <a:t>Thank you</a:t>
            </a:r>
            <a:endParaRPr lang="en-US" sz="2800" dirty="0"/>
          </a:p>
        </p:txBody>
      </p:sp>
      <p:sp>
        <p:nvSpPr>
          <p:cNvPr id="40" name="Text 38"/>
          <p:cNvSpPr/>
          <p:nvPr/>
        </p:nvSpPr>
        <p:spPr>
          <a:xfrm>
            <a:off x="5334000" y="6134100"/>
            <a:ext cx="6286500" cy="228600"/>
          </a:xfrm>
          <a:prstGeom prst="rect">
            <a:avLst/>
          </a:prstGeom>
          <a:noFill/>
          <a:ln/>
        </p:spPr>
        <p:txBody>
          <a:bodyPr wrap="square" lIns="0" tIns="0" rIns="0" bIns="0" rtlCol="0" anchor="t">
            <a:normAutofit/>
          </a:bodyPr>
          <a:lstStyle/>
          <a:p>
            <a:pPr marL="0" indent="0" algn="r">
              <a:lnSpc>
                <a:spcPct val="100000"/>
              </a:lnSpc>
              <a:buNone/>
            </a:pPr>
            <a:r>
              <a:rPr lang="en-US" sz="1350" dirty="0">
                <a:solidFill>
                  <a:srgbClr val="CFD9E5"/>
                </a:solidFill>
                <a:latin typeface="Calibri" pitchFamily="34" charset="0"/>
                <a:ea typeface="Calibri" pitchFamily="34" charset="-122"/>
                <a:cs typeface="Calibri" pitchFamily="34" charset="-120"/>
              </a:rPr>
              <a:t>Tanmaya Kumar  ·  Raghu Ram K  ·  Munipalle Jaswanth Kumar</a:t>
            </a:r>
            <a:endParaRPr lang="en-US" sz="1350" dirty="0"/>
          </a:p>
        </p:txBody>
      </p:sp>
      <p:sp>
        <p:nvSpPr>
          <p:cNvPr id="41" name="Text 39"/>
          <p:cNvSpPr/>
          <p:nvPr/>
        </p:nvSpPr>
        <p:spPr>
          <a:xfrm>
            <a:off x="4572000" y="6362700"/>
            <a:ext cx="7048500" cy="190500"/>
          </a:xfrm>
          <a:prstGeom prst="rect">
            <a:avLst/>
          </a:prstGeom>
          <a:noFill/>
          <a:ln/>
        </p:spPr>
        <p:txBody>
          <a:bodyPr wrap="square" lIns="0" tIns="0" rIns="0" bIns="0" rtlCol="0" anchor="t">
            <a:normAutofit/>
          </a:bodyPr>
          <a:lstStyle/>
          <a:p>
            <a:pPr marL="0" indent="0" algn="r">
              <a:lnSpc>
                <a:spcPct val="100000"/>
              </a:lnSpc>
              <a:buNone/>
            </a:pPr>
            <a:r>
              <a:rPr lang="en-US" sz="1100" dirty="0">
                <a:solidFill>
                  <a:srgbClr val="CFD9E5"/>
                </a:solidFill>
                <a:latin typeface="Calibri" pitchFamily="34" charset="0"/>
                <a:ea typeface="Calibri" pitchFamily="34" charset="-122"/>
                <a:cs typeface="Calibri" pitchFamily="34" charset="-120"/>
              </a:rPr>
              <a:t>Status: S-plane detection and classification evaluated. Prediction, digital twin and automated healing not yet executed.</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137</TotalTime>
  <Words>10682</Words>
  <Application>Microsoft Office PowerPoint</Application>
  <PresentationFormat>Widescreen</PresentationFormat>
  <Paragraphs>973</Paragraphs>
  <Slides>30</Slides>
  <Notes>30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Samsung PRISM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O-RAN Open Fronthaul S-Plane Timing Security</dc:title>
  <dc:subject>168-run S-plane fault-classification campaign</dc:subject>
  <dc:creator>Tanmaya Kumar</dc:creator>
  <cp:lastModifiedBy>TANMAYA KUMAR-[BL.EN.U4EAC23058]</cp:lastModifiedBy>
  <cp:revision>2</cp:revision>
  <dcterms:created xsi:type="dcterms:W3CDTF">2026-09-29T06:18:05Z</dcterms:created>
  <dcterms:modified xsi:type="dcterms:W3CDTF">2026-09-29T08:37:29Z</dcterms:modified>
</cp:coreProperties>
</file>
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9fd479d9234c19" /><Relationship Type="http://schemas.openxmlformats.org/officeDocument/2006/relationships/extended-properties" Target="/docProps/app.xml" Id="Rb37a077b22f8408a" /><Relationship Type="http://schemas.openxmlformats.org/officeDocument/2006/relationships/officeDocument" Target="/ppt/presentation.xml" Id="R3b6354fefd1444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eec8b1a1f94e0a"/>
  </p:sldMasterIdLst>
  <p:notesMasterIdLst>
    <p:notesMasterId xmlns:r="http://schemas.openxmlformats.org/officeDocument/2006/relationships" r:id="Rad7bb7fb30a840a6"/>
  </p:notesMasterIdLst>
  <p:sldIdLst>
    <p:sldId xmlns:r="http://schemas.openxmlformats.org/officeDocument/2006/relationships" id="278" r:id="Rnewwk0001"/>
    <p:sldId xmlns:r="http://schemas.openxmlformats.org/officeDocument/2006/relationships" id="279" r:id="Rnewrv0002"/>
    <p:sldId xmlns:r="http://schemas.openxmlformats.org/officeDocument/2006/relationships" id="280" r:id="Rnewps0003"/>
    <p:sldId xmlns:r="http://schemas.openxmlformats.org/officeDocument/2006/relationships" id="256" r:id="Rb8632d2b0c544a65"/>
    <p:sldId xmlns:r="http://schemas.openxmlformats.org/officeDocument/2006/relationships" id="257" r:id="Rdda0409b253b4b1c"/>
    <p:sldId xmlns:r="http://schemas.openxmlformats.org/officeDocument/2006/relationships" id="258" r:id="R99c1663eb5da4c6e"/>
    <p:sldId xmlns:r="http://schemas.openxmlformats.org/officeDocument/2006/relationships" id="259" r:id="R67edb607104c40cc"/>
    <p:sldId xmlns:r="http://schemas.openxmlformats.org/officeDocument/2006/relationships" id="260" r:id="Rbd16748f6eb54dec"/>
    <p:sldId xmlns:r="http://schemas.openxmlformats.org/officeDocument/2006/relationships" id="261" r:id="Rc84ac31d71ee4b6a"/>
    <p:sldId xmlns:r="http://schemas.openxmlformats.org/officeDocument/2006/relationships" id="262" r:id="Rc08a11c319684063"/>
    <p:sldId xmlns:r="http://schemas.openxmlformats.org/officeDocument/2006/relationships" id="263" r:id="R2d4f1604e9be461f"/>
    <p:sldId xmlns:r="http://schemas.openxmlformats.org/officeDocument/2006/relationships" id="264" r:id="R61ed55ae48534c67"/>
    <p:sldId xmlns:r="http://schemas.openxmlformats.org/officeDocument/2006/relationships" id="265" r:id="R73f077085e994647"/>
    <p:sldId xmlns:r="http://schemas.openxmlformats.org/officeDocument/2006/relationships" id="266" r:id="R6a49dd8659324827"/>
    <p:sldId xmlns:r="http://schemas.openxmlformats.org/officeDocument/2006/relationships" id="267" r:id="R319b3acdd6f84187"/>
    <p:sldId xmlns:r="http://schemas.openxmlformats.org/officeDocument/2006/relationships" id="268" r:id="R454447158f754674"/>
    <p:sldId xmlns:r="http://schemas.openxmlformats.org/officeDocument/2006/relationships" id="269" r:id="R15d3c59b50e54ebe"/>
    <p:sldId xmlns:r="http://schemas.openxmlformats.org/officeDocument/2006/relationships" id="270" r:id="R46c27e5608fb4107"/>
    <p:sldId xmlns:r="http://schemas.openxmlformats.org/officeDocument/2006/relationships" id="271" r:id="R8e0774522c9d428f"/>
    <p:sldId xmlns:r="http://schemas.openxmlformats.org/officeDocument/2006/relationships" id="272" r:id="Re27422747ae74148"/>
    <p:sldId xmlns:r="http://schemas.openxmlformats.org/officeDocument/2006/relationships" id="273" r:id="Rcb1afa4646af4201"/>
    <p:sldId xmlns:r="http://schemas.openxmlformats.org/officeDocument/2006/relationships" id="274" r:id="Re822353bc9c645d0"/>
    <p:sldId xmlns:r="http://schemas.openxmlformats.org/officeDocument/2006/relationships" id="275" r:id="R340f040ea1a04abc"/>
    <p:sldId xmlns:r="http://schemas.openxmlformats.org/officeDocument/2006/relationships" id="276" r:id="R250e553878844d59"/>
    <p:sldId xmlns:r="http://schemas.openxmlformats.org/officeDocument/2006/relationships" id="277" r:id="Re6293497872b484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84093da9904d3e" /><Relationship Type="http://schemas.openxmlformats.org/officeDocument/2006/relationships/slideMaster" Target="/ppt/slideMasters/slideMaster1.xml" Id="Re7eec8b1a1f94e0a" /><Relationship Type="http://schemas.openxmlformats.org/officeDocument/2006/relationships/notesMaster" Target="/ppt/notesMasters/notesMaster1.xml" Id="Rad7bb7fb30a840a6" /><Relationship Type="http://schemas.openxmlformats.org/officeDocument/2006/relationships/presProps" Target="/ppt/presProps.xml" Id="R1543dc3f6ae64180" /><Relationship Type="http://schemas.openxmlformats.org/officeDocument/2006/relationships/tableStyles" Target="/ppt/tableStyles.xml" Id="R73a2c0d18bd74a5d" /><Relationship Type="http://schemas.openxmlformats.org/officeDocument/2006/relationships/slide" Target="/ppt/slides/slide1.xml" Id="Rb8632d2b0c544a65" /><Relationship Type="http://schemas.openxmlformats.org/officeDocument/2006/relationships/slide" Target="/ppt/slides/slide2.xml" Id="Rdda0409b253b4b1c" /><Relationship Type="http://schemas.openxmlformats.org/officeDocument/2006/relationships/slide" Target="/ppt/slides/slide3.xml" Id="R99c1663eb5da4c6e" /><Relationship Type="http://schemas.openxmlformats.org/officeDocument/2006/relationships/slide" Target="/ppt/slides/slide4.xml" Id="R67edb607104c40cc" /><Relationship Type="http://schemas.openxmlformats.org/officeDocument/2006/relationships/slide" Target="/ppt/slides/slide5.xml" Id="Rbd16748f6eb54dec" /><Relationship Type="http://schemas.openxmlformats.org/officeDocument/2006/relationships/slide" Target="/ppt/slides/slide6.xml" Id="Rc84ac31d71ee4b6a" /><Relationship Type="http://schemas.openxmlformats.org/officeDocument/2006/relationships/slide" Target="/ppt/slides/slide7.xml" Id="Rc08a11c319684063" /><Relationship Type="http://schemas.openxmlformats.org/officeDocument/2006/relationships/slide" Target="/ppt/slides/slide8.xml" Id="R2d4f1604e9be461f" /><Relationship Type="http://schemas.openxmlformats.org/officeDocument/2006/relationships/slide" Target="/ppt/slides/slide9.xml" Id="R61ed55ae48534c67" /><Relationship Type="http://schemas.openxmlformats.org/officeDocument/2006/relationships/slide" Target="/ppt/slides/slide10.xml" Id="R73f077085e994647" /><Relationship Type="http://schemas.openxmlformats.org/officeDocument/2006/relationships/slide" Target="/ppt/slides/slide11.xml" Id="R6a49dd8659324827" /><Relationship Type="http://schemas.openxmlformats.org/officeDocument/2006/relationships/slide" Target="/ppt/slides/slide12.xml" Id="R319b3acdd6f84187" /><Relationship Type="http://schemas.openxmlformats.org/officeDocument/2006/relationships/slide" Target="/ppt/slides/slide13.xml" Id="R454447158f754674" /><Relationship Type="http://schemas.openxmlformats.org/officeDocument/2006/relationships/slide" Target="/ppt/slides/slide14.xml" Id="R15d3c59b50e54ebe" /><Relationship Type="http://schemas.openxmlformats.org/officeDocument/2006/relationships/slide" Target="/ppt/slides/slide15.xml" Id="R46c27e5608fb4107" /><Relationship Type="http://schemas.openxmlformats.org/officeDocument/2006/relationships/slide" Target="/ppt/slides/slide16.xml" Id="R8e0774522c9d428f" /><Relationship Type="http://schemas.openxmlformats.org/officeDocument/2006/relationships/slide" Target="/ppt/slides/slide17.xml" Id="Re27422747ae74148" /><Relationship Type="http://schemas.openxmlformats.org/officeDocument/2006/relationships/slide" Target="/ppt/slides/slide18.xml" Id="Rcb1afa4646af4201" /><Relationship Type="http://schemas.openxmlformats.org/officeDocument/2006/relationships/slide" Target="/ppt/slides/slide19.xml" Id="Re822353bc9c645d0" /><Relationship Type="http://schemas.openxmlformats.org/officeDocument/2006/relationships/slide" Target="/ppt/slides/slide20.xml" Id="R340f040ea1a04abc" /><Relationship Type="http://schemas.openxmlformats.org/officeDocument/2006/relationships/slide" Target="/ppt/slides/slide21.xml" Id="R250e553878844d59" /><Relationship Type="http://schemas.openxmlformats.org/officeDocument/2006/relationships/slide" Target="/ppt/slides/slide22.xml" Id="Re6293497872b484d" /><Relationship Id="Rnewwk0001" Type="http://schemas.openxmlformats.org/officeDocument/2006/relationships/slide" Target="slides/slide23.xml"/><Relationship Id="Rnewrv0002" Type="http://schemas.openxmlformats.org/officeDocument/2006/relationships/slide" Target="slides/slide24.xml"/><Relationship Id="Rnewps0003" Type="http://schemas.openxmlformats.org/officeDocument/2006/relationships/slide" Target="slides/slide25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9ffc64d9ec43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53e1ff86a54b09" /><Relationship Type="http://schemas.openxmlformats.org/officeDocument/2006/relationships/notesMaster" Target="/ppt/notesMasters/notesMaster1.xml" Id="R5f7fd43ddaa043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6c975ea64a4061" /><Relationship Type="http://schemas.openxmlformats.org/officeDocument/2006/relationships/notesMaster" Target="/ppt/notesMasters/notesMaster1.xml" Id="Rfa35902870704d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7b4ed12e1547c4" /><Relationship Type="http://schemas.openxmlformats.org/officeDocument/2006/relationships/notesMaster" Target="/ppt/notesMasters/notesMaster1.xml" Id="Rb9c21baeae4b47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e51c46974c4ba5" /><Relationship Type="http://schemas.openxmlformats.org/officeDocument/2006/relationships/notesMaster" Target="/ppt/notesMasters/notesMaster1.xml" Id="Rff13e87d3f1c43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a2581536fb4459" /><Relationship Type="http://schemas.openxmlformats.org/officeDocument/2006/relationships/notesMaster" Target="/ppt/notesMasters/notesMaster1.xml" Id="R2d7fb30776f14b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81b3beec1e49f9" /><Relationship Type="http://schemas.openxmlformats.org/officeDocument/2006/relationships/notesMaster" Target="/ppt/notesMasters/notesMaster1.xml" Id="R743a7b9f55444f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e9a1013862452f" /><Relationship Type="http://schemas.openxmlformats.org/officeDocument/2006/relationships/notesMaster" Target="/ppt/notesMasters/notesMaster1.xml" Id="Rfeda2546a25a47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744f804d014ba4" /><Relationship Type="http://schemas.openxmlformats.org/officeDocument/2006/relationships/notesMaster" Target="/ppt/notesMasters/notesMaster1.xml" Id="R414fc0d5d61943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4e91c455bc440a" /><Relationship Type="http://schemas.openxmlformats.org/officeDocument/2006/relationships/notesMaster" Target="/ppt/notesMasters/notesMaster1.xml" Id="R59e888459cda43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bd740a8a224e50" /><Relationship Type="http://schemas.openxmlformats.org/officeDocument/2006/relationships/notesMaster" Target="/ppt/notesMasters/notesMaster1.xml" Id="Re7c2e0a1e7244f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fdd344a4e64ca6" /><Relationship Type="http://schemas.openxmlformats.org/officeDocument/2006/relationships/notesMaster" Target="/ppt/notesMasters/notesMaster1.xml" Id="R1d413d7b763749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ac410cbf4246fe" /><Relationship Type="http://schemas.openxmlformats.org/officeDocument/2006/relationships/notesMaster" Target="/ppt/notesMasters/notesMaster1.xml" Id="Re6a311df2c984f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8c3b3ba9e148b6" /><Relationship Type="http://schemas.openxmlformats.org/officeDocument/2006/relationships/notesMaster" Target="/ppt/notesMasters/notesMaster1.xml" Id="Re9171f292d6a4c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1dc9f6e5ac40bb" /><Relationship Type="http://schemas.openxmlformats.org/officeDocument/2006/relationships/notesMaster" Target="/ppt/notesMasters/notesMaster1.xml" Id="Reefb4575f88e44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35896990e342fc" /><Relationship Type="http://schemas.openxmlformats.org/officeDocument/2006/relationships/notesMaster" Target="/ppt/notesMasters/notesMaster1.xml" Id="R14ecf8b8ae3b43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f2cd186bd64cdc" /><Relationship Type="http://schemas.openxmlformats.org/officeDocument/2006/relationships/notesMaster" Target="/ppt/notesMasters/notesMaster1.xml" Id="R55337969f7ff4f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62adcf547f4df0" /><Relationship Type="http://schemas.openxmlformats.org/officeDocument/2006/relationships/notesMaster" Target="/ppt/notesMasters/notesMaster1.xml" Id="R02574a0d508549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ae80ea1a744aaf" /><Relationship Type="http://schemas.openxmlformats.org/officeDocument/2006/relationships/notesMaster" Target="/ppt/notesMasters/notesMaster1.xml" Id="Rbe432ddd901b4d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c4d1546176e43f2" /><Relationship Type="http://schemas.openxmlformats.org/officeDocument/2006/relationships/notesMaster" Target="/ppt/notesMasters/notesMaster1.xml" Id="Rfe2604e2472c4e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fa0294c3fac4df9" /><Relationship Type="http://schemas.openxmlformats.org/officeDocument/2006/relationships/notesMaster" Target="/ppt/notesMasters/notesMaster1.xml" Id="R5eb8fa0d26d14e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bda4819e8094f1b" /><Relationship Type="http://schemas.openxmlformats.org/officeDocument/2006/relationships/notesMaster" Target="/ppt/notesMasters/notesMaster1.xml" Id="R8ef20735146c4d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a768ab7b6d4fd6" /><Relationship Type="http://schemas.openxmlformats.org/officeDocument/2006/relationships/notesMaster" Target="/ppt/notesMasters/notesMaster1.xml" Id="Re66f597cb6da49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this as the main project made concrete: O-RAN fronthaul, AI-native discrimination, self-healing response, and a digital twin that verifies candidate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connects the broad title to the narrow research problem. Emphasize that the deck is about the S-plane timing slice of O-RAN.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make the stakes concrete: this is fronthaul timing security, where nanosecond-scale error can become a base-station outage.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boundaries: the monitor reads S-plane timing telemetry; later hardware still mostly means timing/networking gear, not SDRs.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provenance nuance: O-RAN WG11 lists PTP master-clock spoofing as a threat; the 'no comprehensive standard yet' statement comes from research literature assessment, not an official O-RAN quote.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optimization target clear: minimize wrong-action rate and recovery time while staying inside the 100 ns budget and the two-second failure window. This also covers the contribution and honest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the simulator or future hardware feeds telemetry; windows become features; classifier and twin feed the governed action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is the default realism tier: deterministic pure-Python physics, no PTP NIC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realism notes: giveaway labels were removed and attack/fault magnitudes overlap.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feature slide bridges raw simulator traces and the classifier; it explains why decisions can be made inside the two-second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exact label counts from splane_windows.csv. Emphasize dataset release value for resume and applied research positioning.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round numbers verbally beyond what the audience can absorb, but the slide uses the measured CSV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twin is compact by design. It is a decision support model, not a full hardware emulator.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governance: when fidelity is low, the system falls back rather than blindly automating.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connects the project contribution to operational value: not detecting attacks, but recovering correctly and quickly.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step-through animation substitute. It is deliberately split across three slides because scripted PowerPoint animations are unreliable.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step-through animation substitute. It is deliberately split across three slides because scripted PowerPoint animations are unreliable.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step-through animation substitute. It is deliberately split across three slides because scripted PowerPoint animations are unreliable.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prompt asked not to fabricate numbers. These values come directly from discriminator_metrics.csv and REALISM_NOTES.md.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values come from benchmark_results.csv. The governed loop is imperfect but materially better than no response and wrong-action-prone simple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because this is S-plane timing, the real testbed is mostly timing Ethernet equipment. A radio is not required to validate the proposed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final slide combines the connection diagram, practical considerations, done-vs-next status, and closing limitation.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661314cb74f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f158565fce420c" /><Relationship Type="http://schemas.openxmlformats.org/officeDocument/2006/relationships/slideLayout" Target="/ppt/slideLayouts/slideLayout1.xml" Id="R8afa4c8cf44243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fa4c8cf44243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073359bdb4108" /><Relationship Type="http://schemas.openxmlformats.org/officeDocument/2006/relationships/notesSlide" Target="/ppt/notesSlides/notesSlide1.xml" Id="Rd99a74f62f3f40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dbe22857d4dee" /><Relationship Type="http://schemas.openxmlformats.org/officeDocument/2006/relationships/notesSlide" Target="/ppt/notesSlides/notesSlide2.xml" Id="R6dbd9394e6e742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404ac1da94550" /><Relationship Type="http://schemas.openxmlformats.org/officeDocument/2006/relationships/notesSlide" Target="/ppt/notesSlides/notesSlide3.xml" Id="Rf986e061f0b24a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06a456a794408" /><Relationship Type="http://schemas.openxmlformats.org/officeDocument/2006/relationships/notesSlide" Target="/ppt/notesSlides/notesSlide4.xml" Id="R42e1aca3ea0941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05ec859374878" /><Relationship Type="http://schemas.openxmlformats.org/officeDocument/2006/relationships/notesSlide" Target="/ppt/notesSlides/notesSlide5.xml" Id="R136d6dc16d5a4b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2b860fd1f499e" /><Relationship Type="http://schemas.openxmlformats.org/officeDocument/2006/relationships/notesSlide" Target="/ppt/notesSlides/notesSlide6.xml" Id="R79e173e251f744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a752c031b4e9a" /><Relationship Type="http://schemas.openxmlformats.org/officeDocument/2006/relationships/notesSlide" Target="/ppt/notesSlides/notesSlide7.xml" Id="Rb5b1abc04ff044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8fc25fc694bb3" /><Relationship Type="http://schemas.openxmlformats.org/officeDocument/2006/relationships/notesSlide" Target="/ppt/notesSlides/notesSlide8.xml" Id="R72baa4a8ca154e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9b2209ed3489a" /><Relationship Type="http://schemas.openxmlformats.org/officeDocument/2006/relationships/notesSlide" Target="/ppt/notesSlides/notesSlide9.xml" Id="R2f097fe138664b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55a5e71664a10" /><Relationship Type="http://schemas.openxmlformats.org/officeDocument/2006/relationships/notesSlide" Target="/ppt/notesSlides/notesSlide10.xml" Id="Rfa1814f863e645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bf26992a2493e" /><Relationship Type="http://schemas.openxmlformats.org/officeDocument/2006/relationships/notesSlide" Target="/ppt/notesSlides/notesSlide11.xml" Id="R1acb9d3519eb46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c0ea855a24abd" /><Relationship Type="http://schemas.openxmlformats.org/officeDocument/2006/relationships/notesSlide" Target="/ppt/notesSlides/notesSlide12.xml" Id="Rdb9f6574734648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7b1473b284a0b" /><Relationship Type="http://schemas.openxmlformats.org/officeDocument/2006/relationships/notesSlide" Target="/ppt/notesSlides/notesSlide13.xml" Id="R472b1a0cb28f4e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d50f255074c91" /><Relationship Type="http://schemas.openxmlformats.org/officeDocument/2006/relationships/notesSlide" Target="/ppt/notesSlides/notesSlide14.xml" Id="R68797499b8c746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3538f45624321" /><Relationship Type="http://schemas.openxmlformats.org/officeDocument/2006/relationships/notesSlide" Target="/ppt/notesSlides/notesSlide15.xml" Id="Reed2606a8c0743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73c0e8c6c4f53" /><Relationship Type="http://schemas.openxmlformats.org/officeDocument/2006/relationships/notesSlide" Target="/ppt/notesSlides/notesSlide16.xml" Id="R21288e7b00f449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059b427a246f4" /><Relationship Type="http://schemas.openxmlformats.org/officeDocument/2006/relationships/notesSlide" Target="/ppt/notesSlides/notesSlide17.xml" Id="R07dd3f6ceadf4f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bbdda769e46db" /><Relationship Type="http://schemas.openxmlformats.org/officeDocument/2006/relationships/notesSlide" Target="/ppt/notesSlides/notesSlide18.xml" Id="Ra9549b3860f044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eceadab824e8e" /><Relationship Type="http://schemas.openxmlformats.org/officeDocument/2006/relationships/notesSlide" Target="/ppt/notesSlides/notesSlide19.xml" Id="R1f8170578cf94de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fbfe7d7e745ed" /><Relationship Type="http://schemas.openxmlformats.org/officeDocument/2006/relationships/notesSlide" Target="/ppt/notesSlides/notesSlide20.xml" Id="R7052352d41d74b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5fa7f57a04528" /><Relationship Type="http://schemas.openxmlformats.org/officeDocument/2006/relationships/notesSlide" Target="/ppt/notesSlides/notesSlide21.xml" Id="Rab5fe22e061c498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9a48028cd48f2" /><Relationship Type="http://schemas.openxmlformats.org/officeDocument/2006/relationships/notesSlide" Target="/ppt/notesSlides/notesSlide22.xml" Id="Re6db2226ee8a449a" /></Relationships>
</file>

<file path=ppt/slides/_rels/slide23.xml.rels><?xml version="1.0" encoding="UTF-8" standalone="yes"?>
<Relationships xmlns="http://schemas.openxmlformats.org/package/2006/relationships"><Relationship Id="rIdL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L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L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A557A6-2252-4C6B-83C5-1D9B58E0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715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AI-Native Self-Healing O-RAN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38414-87B4-4FC9-914C-14F54910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8D6EA"/>
                </a:solidFill>
              </a:defRPr>
            </a:pPr>
            <a:r>
              <a:rPr sz="1875" b="0">
                <a:solidFill>
                  <a:srgbClr val="C8D6EA"/>
                </a:solidFill>
              </a:rPr>
              <a:t>Using a Digital Twin for Open-Fronthaul S-plane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24915-B6C6-4AF2-9103-5595A904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CF8"/>
                </a:solidFill>
              </a:defRPr>
            </a:pPr>
            <a:r>
              <a:rPr sz="1425" b="0">
                <a:solidFill>
                  <a:srgbClr val="E5ECF8"/>
                </a:solidFill>
              </a:rPr>
              <a:t>From passive timing telemetry to governed recovery before the ~2 s failure window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A28F9-E99B-445C-9C4C-6B5C8C2F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600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41D56-FB15-4A38-8829-520D79F0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2897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CPU-only emulation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2CC09-7280-4885-8028-F1758F7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4FD26-FE42-4244-AF0B-A99CCDB2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2289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Labelled 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3D36F-7AB0-41E9-B362-EF6DDE55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623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A0A22-C65E-4F9C-A7EE-4C34E213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289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324"/>
                </a:solidFill>
              </a:defRPr>
            </a:pPr>
            <a:r>
              <a:rPr sz="975" b="1">
                <a:solidFill>
                  <a:srgbClr val="0B1324"/>
                </a:solidFill>
              </a:rPr>
              <a:t>Hardware-ready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7327D-27B2-44AB-A4A1-61DB07FE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33450"/>
            <a:ext cx="2905125" cy="3714750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14223B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F862F-D8F8-45D6-98CE-31A3474A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2143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33673-CC53-49A3-AA01-A25D2F2D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2875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5757"/>
                </a:solidFill>
              </a:defRPr>
            </a:pPr>
            <a:r>
              <a:rPr sz="2250" b="1">
                <a:solidFill>
                  <a:srgbClr val="E45757"/>
                </a:solidFill>
              </a:rPr>
              <a:t>100 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79C81-A0FC-4A93-B4D6-AC3BC312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0225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S-plane time-error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51DD5-4826-4A3C-A9BC-5EFFEFB4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143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587F3-208F-4977-AF5D-212D5FF0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2890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A541"/>
                </a:solidFill>
              </a:defRPr>
            </a:pPr>
            <a:r>
              <a:rPr sz="2250" b="1">
                <a:solidFill>
                  <a:srgbClr val="F2A541"/>
                </a:solidFill>
              </a:rPr>
              <a:t>~2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25991-78AB-47F2-911E-E7563A59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0375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attack-to-failure window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63210-3F7E-4106-A5BC-303CCC65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2143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479C1-5ECD-4187-96CD-07984E54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6D"/>
                </a:solidFill>
              </a:defRPr>
            </a:pPr>
            <a:r>
              <a:rPr sz="2250" b="1">
                <a:solidFill>
                  <a:srgbClr val="16A36D"/>
                </a:solidFill>
              </a:rPr>
              <a:t>0.547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BABEB-692F-4178-BC5B-B24B74ED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00525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measured governed-loop MTTR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564AB-E988-47F1-997B-ADEB3674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7D9"/>
                </a:solidFill>
              </a:defRPr>
            </a:pPr>
            <a:r>
              <a:rPr sz="1125" b="0">
                <a:solidFill>
                  <a:srgbClr val="B9C7D9"/>
                </a:solidFill>
              </a:rPr>
              <a:t>Author: Tanmay | Status: reproducible simulator + benchmark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FEBD4-2EF4-48E8-92A3-DE25F148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DF4CC-F94C-4E4E-85DF-BE521310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2835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D13649-CBD2-4526-8CC0-C3FCDF4F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What the Topic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F0E40-EC0C-4FFD-8050-7E7FD7D6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Each word maps to a concrete software responsibility, not a slogan.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31606-9BC3-42E9-95D8-8F928A5F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333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27677-F995-4CE1-9918-2457F198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O-RAN</a:t>
            </a:r>
          </a:p>
          <a:p xmlns:a="http://schemas.openxmlformats.org/drawingml/2006/main">
            <a:pPr algn="ctr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Open fronthaul</a:t>
            </a:r>
          </a:p>
          <a:p xmlns:a="http://schemas.openxmlformats.org/drawingml/2006/main">
            <a:pPr algn="ctr">
              <a:defRPr sz="1725" b="1">
                <a:solidFill>
                  <a:srgbClr val="2F80ED"/>
                </a:solidFill>
              </a:defRPr>
            </a:pPr>
            <a:r>
              <a:rPr sz="1725" b="1">
                <a:solidFill>
                  <a:srgbClr val="2F80ED"/>
                </a:solidFill>
              </a:rPr>
              <a:t>O-DU ↔ O-RU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CDB2E-7F3C-48EF-896F-E13C069C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33625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26070"/>
                </a:solidFill>
              </a:defRPr>
            </a:pPr>
            <a:r>
              <a:rPr sz="31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0830B-2AF9-47E8-A780-45AE029C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14500"/>
            <a:ext cx="2333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C1870-6FE5-4F92-A3BC-13FF21CB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145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F5BD7"/>
                </a:solidFill>
              </a:defRPr>
            </a:pPr>
            <a:r>
              <a:rPr sz="1725" b="1">
                <a:solidFill>
                  <a:srgbClr val="6F5BD7"/>
                </a:solidFill>
              </a:rPr>
              <a:t>AI-native</a:t>
            </a:r>
          </a:p>
          <a:p xmlns:a="http://schemas.openxmlformats.org/drawingml/2006/main">
            <a:pPr algn="ctr">
              <a:defRPr sz="1725" b="1">
                <a:solidFill>
                  <a:srgbClr val="6F5BD7"/>
                </a:solidFill>
              </a:defRPr>
            </a:pPr>
            <a:r>
              <a:rPr sz="1725" b="1">
                <a:solidFill>
                  <a:srgbClr val="6F5BD7"/>
                </a:solidFill>
              </a:rPr>
              <a:t>learned H0/H1</a:t>
            </a:r>
          </a:p>
          <a:p xmlns:a="http://schemas.openxmlformats.org/drawingml/2006/main">
            <a:pPr algn="ctr">
              <a:defRPr sz="1725" b="1">
                <a:solidFill>
                  <a:srgbClr val="6F5BD7"/>
                </a:solidFill>
              </a:defRPr>
            </a:pPr>
            <a:r>
              <a:rPr sz="1725" b="1">
                <a:solidFill>
                  <a:srgbClr val="6F5BD7"/>
                </a:solidFill>
              </a:rPr>
              <a:t>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5E8B1-7821-4A7B-A845-B9EA82E5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26070"/>
                </a:solidFill>
              </a:defRPr>
            </a:pPr>
            <a:r>
              <a:rPr sz="31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5833A-44C6-411A-B949-17DC6769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2333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18F18-C472-4EF8-B411-AE73391D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A36D"/>
                </a:solidFill>
              </a:defRPr>
            </a:pPr>
            <a:r>
              <a:rPr sz="1725" b="1">
                <a:solidFill>
                  <a:srgbClr val="16A36D"/>
                </a:solidFill>
              </a:rPr>
              <a:t>Self-healing</a:t>
            </a:r>
          </a:p>
          <a:p xmlns:a="http://schemas.openxmlformats.org/drawingml/2006/main">
            <a:pPr algn="ctr">
              <a:defRPr sz="1725" b="1">
                <a:solidFill>
                  <a:srgbClr val="16A36D"/>
                </a:solidFill>
              </a:defRPr>
            </a:pPr>
            <a:r>
              <a:rPr sz="1725" b="1">
                <a:solidFill>
                  <a:srgbClr val="16A36D"/>
                </a:solidFill>
              </a:rPr>
              <a:t>action selection</a:t>
            </a:r>
          </a:p>
          <a:p xmlns:a="http://schemas.openxmlformats.org/drawingml/2006/main">
            <a:pPr algn="ctr">
              <a:defRPr sz="1725" b="1">
                <a:solidFill>
                  <a:srgbClr val="16A36D"/>
                </a:solidFill>
              </a:defRPr>
            </a:pPr>
            <a:r>
              <a:rPr sz="1725" b="1">
                <a:solidFill>
                  <a:srgbClr val="16A36D"/>
                </a:solidFill>
              </a:rPr>
              <a:t>and rollback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BA2A1-17C1-4950-B16A-7A52536D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33625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26070"/>
                </a:solidFill>
              </a:defRPr>
            </a:pPr>
            <a:r>
              <a:rPr sz="31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DA58B-EDF0-4584-BBC1-1F1513DC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14500"/>
            <a:ext cx="2333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B539D-51E3-4554-85A7-6B4610E1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A541"/>
                </a:solidFill>
              </a:defRPr>
            </a:pPr>
            <a:r>
              <a:rPr sz="1725" b="1">
                <a:solidFill>
                  <a:srgbClr val="F2A541"/>
                </a:solidFill>
              </a:rPr>
              <a:t>Digital twin</a:t>
            </a:r>
          </a:p>
          <a:p xmlns:a="http://schemas.openxmlformats.org/drawingml/2006/main">
            <a:pPr algn="ctr">
              <a:defRPr sz="1725" b="1">
                <a:solidFill>
                  <a:srgbClr val="F2A541"/>
                </a:solidFill>
              </a:defRPr>
            </a:pPr>
            <a:r>
              <a:rPr sz="1725" b="1">
                <a:solidFill>
                  <a:srgbClr val="F2A541"/>
                </a:solidFill>
              </a:rPr>
              <a:t>counterfactual</a:t>
            </a:r>
          </a:p>
          <a:p xmlns:a="http://schemas.openxmlformats.org/drawingml/2006/main">
            <a:pPr algn="ctr">
              <a:defRPr sz="1725" b="1">
                <a:solidFill>
                  <a:srgbClr val="F2A541"/>
                </a:solidFill>
              </a:defRPr>
            </a:pPr>
            <a:r>
              <a:rPr sz="1725" b="1">
                <a:solidFill>
                  <a:srgbClr val="F2A541"/>
                </a:solidFill>
              </a:rPr>
              <a:t>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A10D1-D6FF-44AE-A4CF-767FA468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Concrete thesis: detect a sync anomaly, separate benign timing faults from malicious attacks, verify recovery actions in a twin, then commit the safest action before the base station fails.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14700-2FAB-4E48-A52D-7DA6CFC3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72185-DBFC-4250-B311-EB369E98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2670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51152F-BA12-457F-87BE-F7E4C47A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Why Fronthaul Timing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5E544-1C69-4616-8B3E-CF4A97BD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PTP + SyncE keep the O-DU and O-RU aligned tightly enough for radio operation.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79C1E-593D-4430-836F-1B52C0FA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762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ADF88-FE9A-4CE7-9C3B-E3CD3266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0ED"/>
                </a:solidFill>
              </a:defRPr>
            </a:pPr>
            <a:r>
              <a:rPr sz="2250" b="1">
                <a:solidFill>
                  <a:srgbClr val="2F80ED"/>
                </a:solidFill>
              </a:rPr>
              <a:t>PTP + SyncE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E52C0-0222-4EEC-93D6-9204B899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Open-fronthaul synchronization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5F800-C801-476A-915A-BBE5C21B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2400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950F9-A813-4FD1-A67E-0163D778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95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5757"/>
                </a:solidFill>
              </a:defRPr>
            </a:pPr>
            <a:r>
              <a:rPr sz="2250" b="1">
                <a:solidFill>
                  <a:srgbClr val="E45757"/>
                </a:solidFill>
              </a:rPr>
              <a:t>~100 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7E4BB-C819-49F1-A621-31E49BBD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669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target time-error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C9C2F-905B-4E70-8D69-782789E6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92C6B-E4A5-49AF-895D-D4922E3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95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A541"/>
                </a:solidFill>
              </a:defRPr>
            </a:pPr>
            <a:r>
              <a:rPr sz="2250" b="1">
                <a:solidFill>
                  <a:srgbClr val="F2A541"/>
                </a:solidFill>
              </a:rPr>
              <a:t>~2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5A6A9-4478-4D4E-ABB6-F689FD42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669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reported crash window under spoofing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3D477-FB88-4588-9537-CBACC47D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381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6E454-75B3-484A-91F4-0E407C26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954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6D"/>
                </a:solidFill>
              </a:defRPr>
            </a:pPr>
            <a:r>
              <a:rPr sz="2250" b="1">
                <a:solidFill>
                  <a:srgbClr val="16A36D"/>
                </a:solidFill>
              </a:rPr>
              <a:t>O-DU ↔ O-RU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A7AF5-A280-4D93-AA77-249D1D1D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669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timing domain, not Internet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C0F0A-7A99-4E7B-A1D7-9A4645D2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B0589-FF69-402C-8D01-A3A8281D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PTP distributes time; SyncE helps frequency stability.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02895-965D-4F50-A416-FF3C37F4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F7BE6-A756-4190-A0D0-800FEF69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A forged or replayed master can move the slave clock outside budget.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C538F-7B76-4844-9F34-0943D13C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12543-CB2B-4323-BA61-FCAC4659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Recovery must be selected before the failure window, not after outage evidence arrives.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7431C-2FA5-4840-96AD-E63C6D09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FF318E-B9AA-4A11-A4DB-465C0B0B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566557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18366-2132-4F43-96A0-6A43F9D1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Where We Sit: The S-Plane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92B87-4D9B-487E-B2DB-8DB47A48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It is not a routing problem and it is not the radio air interface.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6CD5E-A50D-49EA-82D5-C636D13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0"/>
            <a:ext cx="914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B9EC7-685E-4374-BD20-C1854B5A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47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 / SMO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E5C26-A2ED-4E06-91E7-741A0D6F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66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management and orchestration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AB8C5-747D-48FE-9BDA-B3F48EB5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14550"/>
            <a:ext cx="914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63DBB-0E8D-4DDF-8FBE-745277A8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2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Near-RT 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2B452-1FBA-4EE8-8555-E3E44B2F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xApps and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7099F-AAC6-4DC8-9D57-BA3C4913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95600"/>
            <a:ext cx="914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D42F8-8D00-4FBC-A25C-761040EF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09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O-DU / O-RU fronthaul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2F857-C5D9-41CA-A864-2D016BAD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6FF"/>
                </a:solidFill>
              </a:defRPr>
            </a:pPr>
            <a:r>
              <a:rPr sz="1200" b="0">
                <a:solidFill>
                  <a:srgbClr val="EEF6FF"/>
                </a:solidFill>
              </a:rPr>
              <a:t>C/U/M/S planes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F76CA-B4EE-43AD-9764-68ED8DD5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914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426F0-7B7A-42F0-9FA5-8927B8D2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90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L1/L2 timing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83E27-0098-49F9-9517-8CE2AF9F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6FF"/>
                </a:solidFill>
              </a:defRPr>
            </a:pPr>
            <a:r>
              <a:rPr sz="1200" b="0">
                <a:solidFill>
                  <a:srgbClr val="EEF6FF"/>
                </a:solidFill>
              </a:rPr>
              <a:t>PTP, SyncE, PHC, ESMC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0C4E6-9EE4-4D1A-97DF-669EF630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914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D9056-E387-4858-B9E0-10744869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RF air interface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17130-6FF6-4C01-9F6A-18E03F05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UE and spectrum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7B7C4-03BA-4E11-A7A0-0E502B63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24500"/>
            <a:ext cx="390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47CE8-F0EC-4C10-BAD0-0FFB8E32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591175"/>
            <a:ext cx="3657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Highlighted scope: Open-Fronthaul S-plane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54E46-1050-4B35-8AC8-944452A6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FD922-A5C8-4F8B-BA84-3E0D0C74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8392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E8D31D-DB72-4165-9433-F997BC43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Related Work &amp; The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E75D3-7C33-47E3-AED0-9D783DEB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The gap is action selection and fault-vs-attack separation.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E7C79-B52B-4D6B-9A79-27685933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3812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74844-0C92-46F9-82A1-ED7742C7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14475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99907-55DB-424E-9912-41CEBB21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EFE9C-7475-4922-BAA0-0731F444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144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9401C-75DF-4D3F-A82A-346CE4D1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290EE-B60E-458A-9557-F39F78BC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144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What remains 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0C6FF-1417-46C6-B2BE-87631E8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3812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5F0D0-E873-4E3C-A513-D3103E75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TIMESAFE, ACM ToPS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9BE3F-ED07-4329-90BE-642F4385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3360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19AF9-E375-4599-9F90-8F680B7D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1932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Shows fronthaul timing attacks and reports a 97.5% detector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FE8BE-2534-495E-AA53-4A693274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3360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A1060-1F87-456E-A79A-91EECB8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1932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Stops at detection; no recovery action; no H0/H1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3E20C-EF02-40A0-B109-22B93AEA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3812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AA1CB-731D-4964-B41A-082E6A58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OpenTwin / DTN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E6F27-E2B2-4F0C-8979-3AF9394B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3845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70BD7-AF25-43B8-B931-480C6927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241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Uses twins for network optimization and data/energy studies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94ECE-1BA8-4568-8DF0-1665E3C7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3845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61DB1-AFED-464B-BBC4-F53293DF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241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Not focused on S-plane attack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E1F05D-5C77-4692-9CC5-4FCBD5E6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23812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7D984-72AE-42AE-A4F7-80E97A42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xApp conflict mitigation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B3494-EB5E-4C4A-8DBC-99FC37E2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4F5B4-ECFB-42C3-B431-5D80D37C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2902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Manages conflicting RIC control actions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1CBBF-151A-4D89-B648-C72FD844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4330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AC611-C445-42E6-A4EA-635E5AF1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2902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Different layer; not PTP/SyncE timing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9ECDA-6F79-43BF-8961-D46FC424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23812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A20FA6-9517-4C45-B959-152C072E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219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This project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29F06-14A1-43F2-963D-B4DA5A1A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1F8D40-0466-486B-B8FA-20309439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338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Discriminate H0/H1, verify actions in a twin, commit before failure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E9B53-43A0-48AA-A2FE-0F7F4BF5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48150"/>
            <a:ext cx="4095750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7691EB-87A1-4292-A3CB-E1FC9C6D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338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Emulated today; hardware validation is next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D1468F-7C0F-4726-A5CC-4AA85E25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39B67C-7717-479A-A849-7EB7303C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3116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51D3F6-405B-4D31-BBA6-5C7A664F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Problem Statement &amp;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B3A54-8747-4AFF-9528-CDC3556D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Contribution: the missing response step plus fault/attack split and a released dataset.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37018-8E1A-4E3B-BC4E-BB060505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7625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1EEB1-4B0E-44A9-B41F-EC74549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922E9-334C-4855-B17F-DDFD64BB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14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33903-02CA-4486-9673-BF2B840E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offset, mean path delay, PDV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42BED-36F1-4499-AFB0-A21D4F13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71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39B02-ECA5-4EFC-92E2-F5253950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955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PTP sequence/message regularity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7B9CA-957A-496A-8A8E-0E66DC53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28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F5701-53B3-401A-82C1-685AE10B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527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SyncE QL, GNSS and holdover flags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A2357-C8EE-4820-BE18-58DAF2FA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47625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52269-E6FB-4E1B-A9B1-82E70925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6D"/>
                </a:solidFill>
              </a:defRPr>
            </a:pPr>
            <a:r>
              <a:rPr sz="1800" b="1">
                <a:solidFill>
                  <a:srgbClr val="16A36D"/>
                </a:solidFill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6EE59-492B-4A4F-AB79-326CCC9B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14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1ADF9-F009-4A08-83B8-287E016A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detect anomaly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BBCE4-528A-4B5B-BBDB-C5FCBF3D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33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824E5-751F-46A4-ACFF-6EBEEF33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574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classify H0 benign fault vs H1 attack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D49B5-B474-4A9F-AAE0-ABD1D703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52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65EAE-F48F-4826-9371-2DDF37CF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765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forecast each action in the twin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8E757-2977-42D5-917B-7B6D54CC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71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88EF4-8D88-4881-9EEE-3D9D7704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956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commit only if it beats safe default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AADA4-24C4-4A0F-BE18-DBF554DC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Main-topic mapping: O-RAN = fronthaul; AI-native = learned discrimination; self-healing = autonomous action; digital twin = governed verification.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ED39D-775F-455A-BCC7-5911A172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578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45757"/>
                </a:solidFill>
              </a:defRPr>
            </a:pPr>
            <a:r>
              <a:rPr sz="1350" b="1">
                <a:solidFill>
                  <a:srgbClr val="E45757"/>
                </a:solidFill>
              </a:rPr>
              <a:t>Honest scope: integration + experimental validation + 2,508-window released dataset; not a new fundamental algorithm.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C7C09-2134-4E2B-A4C5-C50F1930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2394F-A8DE-435A-B7DB-DA94D60A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65160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AB2DF8-50CD-4A8C-AFA8-FDF3F388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928D9-3C79-4530-A371-611FED4A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930EB-B14B-4369-99DD-295BECB1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3BA2E-C67B-4D49-BEED-E1567302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PTP/SyncE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telemetry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76064-F2E7-4724-94DB-859B983E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050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6F5BD7"/>
          </a:solidFill>
          <a:ln xmlns:a="http://schemas.openxmlformats.org/drawingml/2006/main" w="9525">
            <a:solidFill>
              <a:srgbClr val="6F5B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FB121-D0A1-4D9D-BA57-3BA8B13C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240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Injectors +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6E000-7C46-4884-9B3A-2639F717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050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A4E5B-0478-4387-8D85-CC705561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240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Feature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windows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FA2DD-E520-4C74-98C6-99EC3A9E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050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2E4D2-520D-41E8-8202-0B94041C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240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H0/H1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classifier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13473-3BEF-4B96-ABF3-91C32E5F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B6AA3-A71D-4FC8-94AA-9C938EE4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240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Digital twin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forecasts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D76FC-3F06-4924-BDB8-29E1D738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3E8FA-D88C-4AB8-84F6-027D3E0B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195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Governed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healing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0ADD0-E811-4276-B046-C20497DD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1638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800C7-F382-494E-99B0-44829F42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957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Action space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+ audit reason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7B00B-21AF-4E6C-ADD5-96FD15EE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43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8063F-04F5-48D9-8770-9FC2D8D9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37CDF-7F72-4196-9BEE-2E5D9F5C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C369D-8C43-4857-A170-C1C90F25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4C0F0-9F36-4525-819F-91A9E7E5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00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4BE79-B124-4D30-9C5B-58B3B788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06D93-EB0F-4D00-8EF2-7D6F15C8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829A1-EBB0-4B3C-B96E-2EE6CD98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89849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7B5191-6C3D-456D-B3B7-9EE6128D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1 — S-Plane Simulator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75950-8A38-4728-B15C-1C1EB821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fronthaul_sim/simulator.py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CEF70-C5CB-4867-BF6C-C07231F0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5387B-04A7-42F1-8AD1-81F117F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80ED"/>
                </a:solidFill>
              </a:defRPr>
            </a:pPr>
            <a:r>
              <a:rPr sz="3900" b="1">
                <a:solidFill>
                  <a:srgbClr val="2F80E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F48B9-68CF-49E1-B412-33E16D40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A clock-servo model produces PTP/SyncE telemetry on a laptop.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2CFE1-BAAC-4BB5-A5C5-97C1B783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fronthaul_sim/simulator.py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E82FB-85E1-43EA-A634-E89E4280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F0C70-6CA0-4461-B9B7-55B873E3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P1 simulator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72BE0-1BC4-4F8F-8466-DF712687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34D48-2CE8-484D-A74E-3D0F2228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4A971-E24D-44B2-9085-1B00AB3B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6785D-D764-4F94-AF3D-B397244A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PTP offset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B01B3-0F2C-45A3-8BD6-694CA4C8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3D4D0-F561-48BC-805F-4D176750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mean path 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00DCD-210C-4D63-8294-8BE29C57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6A591-487B-4492-895A-55C48E98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PDV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E7978-1BD2-477C-91BB-8C8C3D5F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C6B01-A58A-499C-BFBF-9CBB1E75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frequency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CB98A-64E9-4A9F-91A4-9A4AC032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ECE11-E94F-4D78-A4DF-C4617D09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SyncE 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171A6-B6B2-4745-8CD7-105BD961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B7BE6-5577-43E3-AD7F-6CA62D47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EB264-8E4A-47CB-9D73-6E756389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7484D-D0F7-4211-839E-C54F034A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Disciplines a slave clock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E0C11-BF11-4281-9624-9CC13ED1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95155C-BB13-4913-B319-5E8DFB0F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Supports GNSS reference and holdover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9DA307-84F1-409D-8431-CC6DB341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473A0-EAD0-4136-9732-82A84BCE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Keeps healthy traces within budget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6009E2-1563-4C83-B066-51B61400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73D5C6-1D2A-4506-AF20-EAFB9A22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6255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AD5415-3FEA-4FC3-8B5E-926407E8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2 — Fault &amp; Attack Injectors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814AA-5613-4748-A1C5-20769A21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faults/injectors.py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26F2E-C3D9-4C48-8A46-C29106B8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16925-3375-427A-83F1-AA73AFA9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F5BD7"/>
                </a:solidFill>
              </a:defRPr>
            </a:pPr>
            <a:r>
              <a:rPr sz="3900" b="1">
                <a:solidFill>
                  <a:srgbClr val="6F5BD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13D0D-AC8F-4683-A2D3-DD54C5D7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Scenario injectors produce timestamped H0, H1, and healthy labels.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98724-A29F-4113-9FCB-453B70BB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faults/injectors.py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1DBC5-CA00-4DA2-9F1B-C013F24A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BD7"/>
          </a:solidFill>
          <a:ln xmlns:a="http://schemas.openxmlformats.org/drawingml/2006/main" w="9525">
            <a:solidFill>
              <a:srgbClr val="6F5B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3504F-E365-44E3-986B-056EEC8D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P2 labels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070A3-86EE-49A4-9AAC-441B1D6F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D40E5-67F3-4CE8-97DE-7D458954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504E3-C2CB-4870-BA6D-B1677068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8F2D8-6107-4394-B50D-C3D24E23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GNSS 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3BCA7-1179-4785-AC6A-4EB7F02D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6278D-9A31-4391-B63F-3C76225A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PDV burst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440F0-BFA5-46FB-93BF-02D3370A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0B74C-75AC-4EA9-B8E8-A701F355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SyncE degrade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91F51-325E-49E1-9F52-C81D3A41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8B4F2-E0FC-4256-9722-498A3C99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PTP spoof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33D0E-0A60-4D66-9464-32D8D55C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D0D26-45FB-4557-B825-5499126F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replay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7B358-D0BA-4511-B1BC-C6FFDB20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19AFA-C2C2-437D-AF54-6B442F33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4C88D-E7C5-4406-AFF5-032CAE29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595A1-FCC1-4B73-A6A4-E0C510F3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Covers three H0 fault modes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13D3D-2989-45D3-86BD-90BC74C0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2EA9C-6B14-40C3-A965-EB78E9D7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Covers two H1 attack modes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A2ECC-847C-467C-897B-2171F186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C16F4-5AC8-4BC7-B307-884ACBF2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Hardening adds overlap and mimicry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638C29-BC0C-47A0-BD03-CA11C814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33F887-02BC-4D1D-A7A4-60B606D2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62017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0265D1-DACA-4CE0-8137-2810A0B9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3 — Feature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DA950-182D-4F77-86B2-7D65AAF8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telemetry/features.py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808F5-F69D-4DB7-848A-D97B5DEA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7BA24-DBFC-4C39-8012-2B19D3BF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2A541"/>
                </a:solidFill>
              </a:defRPr>
            </a:pPr>
            <a:r>
              <a:rPr sz="3900" b="1">
                <a:solidFill>
                  <a:srgbClr val="F2A541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0C726-8EA4-45DB-8FE0-CA1E5758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Sliding windows summarize timing behavior for classification.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723E7-D3F6-42F8-AC13-1C3E2173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telemetry/features.py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3D90C-CC1E-4F4D-A2FA-DB3AF60C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7686B-4A09-4548-8906-3D981A63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10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1E86E-76BE-4973-ADF4-FF2E31B9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A4F3E-F206-4276-B2C9-002D70A4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5F8FB-76FF-4830-8091-91AFF2A4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CD681-9F06-4FFA-8E08-2BAFF202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0.4 s 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F00C4-923D-4873-AA8C-3860284C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0F4E4-AECF-491A-B557-78878826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0.2 s 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F880C-BCD4-4F95-A1F1-DBFA9974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671FC-2B33-48B8-93CF-E0D1F6A1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offset stats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90D51-F40B-42B0-9172-C60F5CE5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15AC9-9695-49E8-991C-821B98D5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sequence regressions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9AB56-579B-4180-B95F-C2B65DC3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6E85D-B503-4796-A82B-42376397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majority label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B368E-D492-41D9-95BA-30626062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7430D-F791-4794-82F8-297026AC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2FF0C-5BC6-4444-818D-1B55603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F9E21A-EEFD-41EF-9C71-66E25E81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Builds ten model inputs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B1328-31EE-4217-8B0A-6BFD3029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0E8FDB-03A8-451A-AFCB-18483227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Preserves scenario/run identity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A0D64C-7AE7-4595-9D69-154C8297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975D0-672B-4CC0-BA3F-A3E1DB73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Outputs anomaly labels per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BB9EDC-7F8A-4D17-9405-D9826C98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A0A0F6-2290-434A-ACA5-CB8BB5FC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40140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67B90E-6F36-49DC-9A5D-B6FB2678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4 — Dataset Builder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4CD63-0427-4E95-B55B-36ABE043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dataset/build.py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94125-94B9-4C31-A9D5-D52E0489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7D402-A80E-4239-B677-C75DC8AF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6A36D"/>
                </a:solidFill>
              </a:defRPr>
            </a:pPr>
            <a:r>
              <a:rPr sz="3900" b="1">
                <a:solidFill>
                  <a:srgbClr val="16A36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C8833-340F-4472-B659-57A7D393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One script assembles telemetry, labelled windows, and the datasheet.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47A76-A971-4331-A353-5D4D3FEE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dataset/build.py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EFFDC-7693-4567-AC00-46064F61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1BF61-9B9C-4E29-8286-51618D21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2508 windows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19BB6-3C38-4204-BE0C-4C98831E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AC849-1E37-47BA-8C58-A46CFCA5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8C1C9-495F-47FE-8410-3447DCB1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999CB-BD22-49D5-84F6-BACA7180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CSV dataset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02790-2A65-41E9-BB99-257AAEB7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9A8EB-6B71-4EA7-AFF1-59213F1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datasheet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D5FC8-F005-4EFB-9CAE-26397A3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62F85-0843-4517-B772-C1006DAA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fixed seed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75373-C14D-477A-9959-13FA2808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2E901-8A90-4805-BA88-83F2570A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label counts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655ED-5A0C-4B89-BECF-257DB688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EEBB0-0300-44BD-949E-BC2A7B0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CPU-only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C4329-8C5C-4D27-B0A3-D537786A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A03EB-F7D5-443B-A0D0-2EA63B3D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1CEDC-7F17-4F86-8268-58DD46BB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3C01B-7D91-47FA-992C-6C568F8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1614 healthy windows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F17801-C1C8-4F82-89CA-4F3D963C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D6510-33CE-4121-8A68-2829DD26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536 H0 benign-fault windows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A75B4-7A35-40A9-A563-30CE55F3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10631-8845-47DE-A546-3604DD1D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358 H1 attack windows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13746-DE0A-4437-9DAA-FCD5B047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71CFAF-F9F8-4E50-AF20-356F6BC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869357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5330D-3506-4DDB-A06F-91596017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5 — Fault-vs-Attack Discriminator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62840-AFF1-4560-9DA8-DA66CBB5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discriminator/model.py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B39E6-45F4-4E57-94CB-40B77363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264AC-D02C-479B-BA40-75852A0A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45757"/>
                </a:solidFill>
              </a:defRPr>
            </a:pPr>
            <a:r>
              <a:rPr sz="3900" b="1">
                <a:solidFill>
                  <a:srgbClr val="E4575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2BF89-8DBA-4F9E-A2D4-AEB518E2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A stratified Random Forest classifies anomalous windows as H0 or H1.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35659-1BE6-4C13-BA7C-BB052AE9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discriminator/model.py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3A4F0-BA69-4552-B27E-2533C2F1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C3FBE-7424-4D73-97BC-D88CEA4C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6D0B7-0F31-4D81-80EF-CBDD01F5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931A3-D660-459A-B7E7-DA251B09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E401F-2482-4ED4-9774-6CAB99ED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4B23C-E16E-4A23-83FD-8D5C66C0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90 trees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02512-A997-4CEF-894E-F1715A38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98CD6-F1C9-4544-B971-E2141EE1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depth 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E3B61-6DD0-4B02-864E-196ABBC4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41B86-48CC-4EA0-944E-CB1BA925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65/35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1DC06-B9F5-49DE-AFBD-5C920816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DF502-3896-4100-9E10-2525D02B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ROC-AUC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1DAD0-D9D9-4362-9860-F53CFE08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56599-9268-4361-A43A-A5614377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confusion matrix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5F0B1-C85D-49C3-83CF-12C4FCE2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DFFF0-BA39-4632-B9A6-2794B0D8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F6D00-6175-432E-98B6-EAF1DB62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8FD87-D914-4173-BE5D-396B2F5E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Accuracy 0.987220447284345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58A66-2DAC-42EA-BCC3-FCC8A81A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F30CF-08F8-4011-8AD1-6CC12FC5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ROC-AUC 0.999063829787234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8B2F52-38D2-401B-95A3-5F8BED42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202FC-4EEE-4AB9-BB57-9F85D32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Baseline accuracy 0.3993610223642173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AB2193-4F76-4229-9B1A-9E6D532B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D4A7D5-2B4A-45A6-98DC-17C7B57C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115687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3A5C92-FEF8-493A-BBA1-3516CAF0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6 — Digital 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2DBBF-AC53-44CB-94BE-2AD3E2AE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twin/model.py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9630D-A85C-4073-97D9-E47DF507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C7F3C-7B1A-42F2-B41E-3B67D1F1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80ED"/>
                </a:solidFill>
              </a:defRPr>
            </a:pPr>
            <a:r>
              <a:rPr sz="3900" b="1">
                <a:solidFill>
                  <a:srgbClr val="2F80E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6FF77-81CD-44FC-8248-5EA8EF8B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Each candidate action gets a counterfactual time-error trajectory.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27276-E71D-4DA5-82BA-625B1101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twin/model.py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C0CCD-E978-4887-B252-630282C8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6C2CF-F8A4-4319-AC86-6B2329B4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P4 twin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CB7EB-10B8-4003-B098-F5D1FA85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2C4C2-1E16-48FD-960E-09395FD9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3C1CC-C85D-4B89-AB61-606E3CD0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E3E7F-B0EA-4D94-A79E-C494325F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decay/floor forecast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365E6-7C34-4034-A15F-34BF3635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9C496-3EB0-482D-B2CA-B73DB304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fidelity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B202B-9D0E-44F6-A803-2AF015AC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5F0AC-2576-4F75-919E-8098CBAB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peak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DA0CC-55B4-4E33-9BE3-C6D1B16B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4A643-2E4C-4F69-A5E1-6FEA950F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steady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3856B-C13B-484E-9C29-AAD3AC2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84136-D9CE-4FD7-8A74-03053159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discounted advice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CA834-4D42-41FB-A816-2C4F858F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1E706-907A-4E7D-A6E4-154087F7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FEA41-27EE-4867-8892-331D2B54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63221-EEB6-4E2F-A201-9087653F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Ranks candidate recoveries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64DC0-3587-43BB-B151-9FD5C757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0ADFC-B9CD-4931-84B8-8C9ADB69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Reduces trust when telemetry is messy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7DA35-020B-444D-9092-A8D7A24F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8E5EF-3FD6-41B4-879F-CA6D02EE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Keeps safe-default as a comparator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465775-47BE-4240-830B-64C239D0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94E459-826E-4182-A571-AE04EE2B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398236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7DC88-6504-4330-B93F-8DB584B7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7 — Self-Healing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D35D5-F0F3-4DBD-800C-FD9D26E0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healing/loop.py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062A9-F719-4FC0-8E2C-DD4B6EE2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6C79D-2F7C-49C4-A7E8-BAB4E75B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6A36D"/>
                </a:solidFill>
              </a:defRPr>
            </a:pPr>
            <a:r>
              <a:rPr sz="3900" b="1">
                <a:solidFill>
                  <a:srgbClr val="16A36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DACE4-78C4-46FD-82C4-BF3C2B4D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Detect, classify, verify, and commit with an auditable reason.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C9430-2221-4A84-A8E9-D50CF95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healing/loop.py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A0DE6-62FB-4F56-986D-FF0A61AB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2CC44-2424-4F7F-BB7E-724952E1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P5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E1064-89FF-4187-AA49-CF390890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A2335-85B4-4487-A0B1-1C21D3AB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FDB30-F686-45E5-9128-B377F9C5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383DC-E7A4-4788-8C7C-48171E91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safe default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74442-099D-4BC4-832F-08D89D9B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812E5-3B98-4F07-987A-8953F5AE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action shortlist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D185E-A1E0-43CD-9FF7-3E008453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305C3-0352-445A-B8B0-3672D0A4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decision budget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99B35-3E74-4AF8-8B5C-8103230D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C932B-4132-4A05-8F7B-C106C859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audit reason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B72D4-19A0-4C52-9E58-66274192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F8037-C008-4988-A426-8B4007D3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413EA-59FD-4102-81BC-1A2398CF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0E810-EFBD-439F-97B4-9F22DD97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9DDC3-CC42-4114-97EF-64F14B5C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9832B-D4D3-4B5D-97A9-79BBAC3D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Chooses different actions for H0 vs H1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34C92-38C1-4F46-B4C6-F93985DB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8379B7-1119-4A5E-9179-2F68C832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Checks twin fidelity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5118AE-B051-4408-B994-6EC31D7C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458771-DC36-43CF-8C5E-E24F1832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Records decision time and reason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39F388-85FE-4257-A3E0-9AE55664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BBE8C7-B729-422B-B1E9-BF6FB503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899996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CE7DF-9C04-4FD3-90CB-4BEDB959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Component 8 —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65161-AA96-488C-9DC8-27EF7694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benchmark/run.py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36CF4-BC64-4184-BAA2-2AB2726D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564C6-168B-4987-B256-005D7C2E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F5BD7"/>
                </a:solidFill>
              </a:defRPr>
            </a:pPr>
            <a:r>
              <a:rPr sz="3900" b="1">
                <a:solidFill>
                  <a:srgbClr val="6F5BD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85F4B-0400-43A0-B866-E1F0AB8A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The loop is judged against detection-only, holdover, and failover baselines.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34BF3-F702-478B-8A91-C87EF568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benchmark/run.py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B7710-4C1E-4562-B51F-B8FD58C6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BD7"/>
          </a:solidFill>
          <a:ln xmlns:a="http://schemas.openxmlformats.org/drawingml/2006/main" w="9525">
            <a:solidFill>
              <a:srgbClr val="6F5B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CAD91-7126-4E05-B0A3-BD8D5035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81475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P6 benchmark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5CF96-1AE1-47D3-AFD1-181DABA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EB1C0-819D-4CC0-96DE-B43F4E85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Key technical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F80CB-84DD-440A-B94F-DC0FAC6A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68936-0D54-4848-98D5-7F3AE2CF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success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FBFF1-1E4B-498D-8F7E-25705FD6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9B412-3101-42FC-8A99-2FFD7B2B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wrong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85FC6-E279-4016-8A67-966AC636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16D0B-816D-4450-BE05-317BD482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MTTR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86DFE-D840-4A51-93A7-43CCB4F6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95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8D7C6-502C-4BF2-8C37-9FE8C64D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peak time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79EE7-87D3-46EA-B4DC-5C771189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0461B-98D8-42AD-B7D4-468E7B6A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2 s window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DFC14-5EF2-4E98-AB9C-E0EF69E5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F0CA1-587D-4735-A606-0EF95599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it does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B65E4-6FA4-43CE-A707-2EBB53F4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D5BCA-57C1-46EF-ACE3-253D6513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Governed success 0.95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C343F-B7AB-45EE-96AA-4FB8C05E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8CDA1-9809-49F6-8C35-117466BC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Wrong-action rate 0.05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C9EDD-B1A6-4F1E-96D5-F9E27DE0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2D3502-A08C-4133-BCB1-C5B26C5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Peak error 86.32070997977753 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C74A8-BE53-489E-908D-AEAEDA0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6E49D7-4257-4F47-B90A-EDFB1FB3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586118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8ED88C-D68C-449B-9220-4B2094D3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Loop Walkthrough (1 / 3): Detect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2B85D-5880-4CF4-91BE-442033F8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4D6"/>
                </a:solidFill>
              </a:defRPr>
            </a:pPr>
            <a:r>
              <a:rPr sz="1275" b="0">
                <a:solidFill>
                  <a:srgbClr val="B8C4D6"/>
                </a:solidFill>
              </a:rPr>
              <a:t>Each advance adds another stage of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8EDB7-6AB4-497D-92A8-6ED2FBBD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C98BB-EC94-45E6-B233-EFBDFA11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BF7B1-6458-4814-AF22-F271DF55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offset/PDV over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73FA9-2D37-4D2F-97EB-036AF83B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84ABA-2D13-4DF9-BA05-8EED678D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A9552-A5E6-4B16-AD8E-21B1D9C9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Discriminate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5DE0D-931E-4C9F-BF36-B2C37C15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70"/>
                </a:solidFill>
              </a:defRPr>
            </a:pPr>
            <a:r>
              <a:rPr sz="1050" b="0">
                <a:solidFill>
                  <a:srgbClr val="526070"/>
                </a:solidFill>
              </a:rPr>
              <a:t>H0 fault vs H1 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BE527-4D73-464D-A43B-86EC6C01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BC6D4"/>
                </a:solidFill>
              </a:defRPr>
            </a:pPr>
            <a:r>
              <a:rPr sz="2550" b="1">
                <a:solidFill>
                  <a:srgbClr val="BBC6D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66650-4454-4080-AEEE-ED651105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256A6-5A95-4FBA-A34F-D4F1A9B9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Twin-verify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4E897-342C-46DA-9559-EC6CF405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70"/>
                </a:solidFill>
              </a:defRPr>
            </a:pPr>
            <a:r>
              <a:rPr sz="1050" b="0">
                <a:solidFill>
                  <a:srgbClr val="526070"/>
                </a:solidFill>
              </a:rPr>
              <a:t>forecast action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31C51-F2A3-442A-9D3F-C20F2472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BC6D4"/>
                </a:solidFill>
              </a:defRPr>
            </a:pPr>
            <a:r>
              <a:rPr sz="2550" b="1">
                <a:solidFill>
                  <a:srgbClr val="BBC6D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90043-F2EF-40C2-9964-D15F9169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D37B1-DE44-4EF1-958C-AAFFB1FA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Commit /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B4759-FDF0-4834-90BA-0AC7A5FB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70"/>
                </a:solidFill>
              </a:defRPr>
            </a:pPr>
            <a:r>
              <a:rPr sz="1050" b="0">
                <a:solidFill>
                  <a:srgbClr val="526070"/>
                </a:solidFill>
              </a:rPr>
              <a:t>best action or safe default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63639-9CB5-4F2E-ABC9-08AFBEA2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9410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147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30940-54DD-400F-89AE-5AA6CC56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The controller does nothing until timing telemetry crosses an anomaly threshold.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926B06-3291-4B0A-B1D6-F1B36F22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06871-29DE-4B8D-8644-37DECFD4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660945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F0094-C238-4FBB-A746-B432C501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Loop Walkthrough (2 / 3): Discriminate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C43B7-53C9-4EF8-BB2B-6A7CC5B6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Each advance adds another stage of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27903-F19C-40D8-989F-9B13F3AB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7F818-AC5E-4111-A96C-B1F7602E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A37C7-9B61-42EC-9502-48F69AF3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offset/PDV over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76E84-C8F6-4082-9F95-D1A60F6E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70DA2-877F-4E8E-ACA0-FB9B245B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6F5BD7"/>
          </a:solidFill>
          <a:ln xmlns:a="http://schemas.openxmlformats.org/drawingml/2006/main" w="9525">
            <a:solidFill>
              <a:srgbClr val="6F5B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90CCD-3477-4636-B5DC-4069CE6B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Discriminate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05911-24C9-463C-9902-C033BF5F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H0 fault vs H1 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3023E-0785-4DDD-9F1D-905BBB82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73C4E-AB65-411A-993A-4C3065C5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FDB8B-5D88-48D0-BDD3-04EE5BAB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Twin-verify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050D3-7C64-4837-B58D-661F14F9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70"/>
                </a:solidFill>
              </a:defRPr>
            </a:pPr>
            <a:r>
              <a:rPr sz="1050" b="0">
                <a:solidFill>
                  <a:srgbClr val="526070"/>
                </a:solidFill>
              </a:rPr>
              <a:t>forecast action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6B915-9544-448F-B244-EA8A6170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BC6D4"/>
                </a:solidFill>
              </a:defRPr>
            </a:pPr>
            <a:r>
              <a:rPr sz="2550" b="1">
                <a:solidFill>
                  <a:srgbClr val="BBC6D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F6F87-16B2-4A04-959D-11727E63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75DB0-13D9-4C7B-A10C-D5FEC51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Commit /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B1ED7-04F8-41D8-B3A8-4B1FEFA6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70"/>
                </a:solidFill>
              </a:defRPr>
            </a:pPr>
            <a:r>
              <a:rPr sz="1050" b="0">
                <a:solidFill>
                  <a:srgbClr val="526070"/>
                </a:solidFill>
              </a:rPr>
              <a:t>best action or safe default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27287-7D2B-4B86-9E9F-B7C1AD58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9410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6F8CA-44BD-482F-BCFB-E4959437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The response path diverges: benign faults should not be treated like active attackers.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68A5B-1E69-43F5-B729-6C77C565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CA017-092F-42B1-91FB-3C233A2B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899441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78E5C6-F60C-4973-B667-3C06F72F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Loop Walkthrough (3 / 3): Verify &amp; Commit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75815-7BAB-4F18-93EF-5658792A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The progressive reveal simulates the motion of the governed control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8D35D-5F50-415B-9C4C-8639DAE9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F67ED-3F09-41E8-AB6D-116E6CF8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76C78-532A-4F2E-A783-26833984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offset/PDV over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A2D76-939F-4ACF-93AF-4036AA0F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74102-230E-48C3-B065-7986F682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6F5BD7"/>
          </a:solidFill>
          <a:ln xmlns:a="http://schemas.openxmlformats.org/drawingml/2006/main" w="9525">
            <a:solidFill>
              <a:srgbClr val="6F5B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4DA59-C3F4-4DB5-928F-DB0C948C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Discriminate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D13B6-9A22-4375-873B-3F9E885A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H0 fault vs H1 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AD3BC-7D7F-4C0A-A3F2-D9D380E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B6694-B9C7-405E-8FF0-A4AFC54B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B9579-7389-48AF-865F-F5F7FD07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Twin-verify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E8F48-27BB-4490-B63F-190CA5C0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forecast action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56E64-A0B2-4295-BF3D-C87C36D1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EF8A7-8C1A-455E-88E9-50F44A62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33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8542-F835-4590-993B-E5F481EF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288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Commit /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B500E-2185-4B2B-BCED-6C35BC6C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2FF"/>
                </a:solidFill>
              </a:defRPr>
            </a:pPr>
            <a:r>
              <a:rPr sz="1050" b="0">
                <a:solidFill>
                  <a:srgbClr val="EAF2FF"/>
                </a:solidFill>
              </a:rPr>
              <a:t>best action or safe default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92C6C-68E5-48DE-B0AE-9E27CFDF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9410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22C3B-AFB7-4C40-B93F-F85C7EC8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The twin compares candidate actions against the conservative safe default; low fidelity triggers fallback.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66B58-362D-4B0A-8E90-558BC5C8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583CF-6153-469C-818D-3CD68FCE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283036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7B24A8-E94A-455D-81D3-8D12E566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Results — Discrimination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2F0FB-4489-47A3-9796-367E770E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The classifier beats detection-only while still making real errors.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42C01-AACD-4D8D-BC6B-8B39233F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F0B6C-AEC2-4252-BE9E-100014FE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6D"/>
                </a:solidFill>
              </a:defRPr>
            </a:pPr>
            <a:r>
              <a:rPr sz="2250" b="1">
                <a:solidFill>
                  <a:srgbClr val="16A36D"/>
                </a:solidFill>
              </a:rPr>
              <a:t>0.987220447284345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B0BB0-5DA3-4B61-B8B3-4255C699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H0/H1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BBDFD-71D2-4850-B387-45F57F6E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287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EBA58-7F9B-4A98-8B2D-4B8106C6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00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0ED"/>
                </a:solidFill>
              </a:defRPr>
            </a:pPr>
            <a:r>
              <a:rPr sz="2250" b="1">
                <a:solidFill>
                  <a:srgbClr val="2F80ED"/>
                </a:solidFill>
              </a:rPr>
              <a:t>0.999063829787234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FC8A8-F9D3-4189-8DC2-5A56BE97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716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ROC-AUC for H1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3F1D7-7110-4CD6-AE38-9270D0ED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F76DB-C0EF-4D50-BE5E-40AA864A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00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F5BD7"/>
                </a:solidFill>
              </a:defRPr>
            </a:pPr>
            <a:r>
              <a:rPr sz="2250" b="1">
                <a:solidFill>
                  <a:srgbClr val="6F5BD7"/>
                </a:solidFill>
              </a:rPr>
              <a:t>0.9866808510638299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6DCAB-C428-45E6-8BC2-F47BFBE3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716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macro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E74CD-067A-4610-A1A6-379F7914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1846C-E8CA-4B94-99D4-06BC6A21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00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45757"/>
                </a:solidFill>
              </a:defRPr>
            </a:pPr>
            <a:r>
              <a:rPr sz="2250" b="1">
                <a:solidFill>
                  <a:srgbClr val="E45757"/>
                </a:solidFill>
              </a:rPr>
              <a:t>0.3993610223642173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A8ABF-C686-4BED-A7E1-48F90DD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716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detection-only baseline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52D6F-376B-48B1-BD34-0334A617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5DE24-0565-4C31-9235-A358A131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31E24-944F-4867-9617-0A66A31C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908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45C81-5306-4D3A-A4A0-77BFDAFD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766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Pred H0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6102C-8A11-4F96-AC9C-4FA2BEB6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908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FD095-C92A-4065-A856-EE015B16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766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Pred H1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432BD-1585-4546-8CAC-8143F861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4332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C079E-F345-414C-A2E8-3C61A7C3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True H0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073FA-12C0-4F27-91FA-F4CA7386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4332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A79C19-493D-49EB-B12F-DF46186A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290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186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EAC93F-E9E3-4297-BBEB-42224643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4332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99831-E409-4D3B-8BD7-0E6086B4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290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09CC52-7434-4DD1-8652-243AE44F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957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21455A-868F-4A70-8851-30DF46F2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True H1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F1985-DF89-47FE-AB38-3D76A39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957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FB54EC-7469-4998-B578-E2CCB039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815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152303-4474-457B-A15E-4FA0FF24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95775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96FE97-3915-4697-9431-B3061898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815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123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F9C44E-0BAF-4605-B946-8BCEC12A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715C33-15D8-4FCD-9365-9FC469B9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REALISM_NOTES.md: removed message-type giveaways.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7C027F-E4F7-468F-A55C-0505317C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BAF0AB-9C2F-4F87-AAF5-0764FE5A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Attack and benign-fault magnitudes overlap.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925545-8B9B-4D19-B83C-507FDDFA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625C1C-809D-430E-8102-FE6A73D2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624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Evasive attacks mimic fault signatures and can occur during congestion.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CC0B67-AE37-434B-9163-FEF61ECB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6EC00C-701A-4129-84C7-5468D87D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99272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5DA197-B1BD-4A0F-B4B4-5D7234EC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Results — Self-Healing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0B218-2495-476E-A272-32A0A63E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The measured loop stays inside the 100 ns timing budget and the 2 s failure window.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42D99-8393-4CF1-8FDF-9D74C09E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7146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CFB08-2C97-407A-B575-3619A6EA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252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C065F-EAD4-4B8B-B195-138C8715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38112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413B8-754D-4EBA-BFF8-02DED5B8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4668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58174-1EB6-41FB-A15F-A04EBB6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38112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BC099-F64C-422D-B3E2-9D13BDDA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4668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Wrong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5D77C-20ED-47AF-B2BD-F030C8C1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2AC32-664C-4CDF-9EF9-DCBF2F74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668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MTTR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8BC16-698A-46FE-BDCA-2260B6BB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381125"/>
            <a:ext cx="17621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81C76-5262-4DFB-954D-C92B1803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46685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Peak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7285D-0E31-485A-82EE-AE8CA0D6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27146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D7490-83A5-476F-AD18-E66969A5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252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always failover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6C112-6B79-4840-B23D-63D2BB98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89547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D0C89-BC7F-4682-B230-1650F5BB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8120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708E4-F834-4793-BCAE-14BEDE49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9547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EA024-66A3-4497-B117-64EC779F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8120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762C2-2B17-4653-B333-5ED58D8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95475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EA970-8019-4FBB-93C4-8A58BAF9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0.618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4C312-650B-4506-A777-D2DDD55E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95475"/>
            <a:ext cx="17621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2F2A6E-7818-4420-9F16-C1654D80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98120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176.369 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878B9-69C4-4E4B-88B5-26476657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27146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A4D4B-8EE1-4408-AD44-589238A3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252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always holdover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06CC3-B05C-4F49-8582-7AE0D9EE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40982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C87D8-8CC1-487C-9DEF-C83B0630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955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A34FDF-046C-4B96-A3DA-29E5B1E7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0982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0F79C7-0D58-468C-AF71-2DCDDBDC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955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05B5F4-FB60-4FE3-847F-C1BFF075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09825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42DFCB-F154-4727-A5CD-4757985A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955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1.18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831F62-1129-47A9-913D-6DB1BE90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09825"/>
            <a:ext cx="17621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EFA15A-AFCF-4A3C-8B93-BA6DDEBB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49555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176.369 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864EB4-BE71-493B-80F0-A2E016EC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7146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89A2B6-DE00-40DF-87D9-E14D3891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252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detection only no response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93F9DE-F469-4CB6-B3C9-56D18B78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92417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B594B-6EEE-4786-B90C-CF277ED4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0990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6CDCE0-92D8-4D4C-A137-7755DB43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2417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94A8D8-EC7B-47A6-BA37-7698EA6C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0990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580CA7-4869-4CD4-A16E-CD18D921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24175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550E06-6188-47E9-A8B8-DFBAD716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0990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2.0 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02800B-8D57-40D8-B2AD-338FBB59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24175"/>
            <a:ext cx="17621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D8C962-DAAF-451D-B279-E96BEFE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0990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223.827 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A11DA9-28F4-4056-A6AA-5443E585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7146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9AD035-6532-4CB3-91E3-7248A9B8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52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governed loop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805222-7E02-4D58-975D-19EB19C9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3852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DED0AC-962E-4026-A097-76FB68CA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242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0.95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BB84C1-84A5-4F1E-92A7-E0F022C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1B739B-49C6-45FC-9968-C5F7B5B9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524250"/>
            <a:ext cx="133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61AD03-CE41-4F8F-8B57-F0FA47EA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38525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3C1E8F-54E8-4DC1-A180-A6347296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0.547 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D9A02D-7F71-406A-B07D-3DD5251D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38525"/>
            <a:ext cx="1762125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A74E43-4F2E-432F-BF4E-446C9506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524250"/>
            <a:ext cx="157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86.321 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DDF1B0-511E-4692-ABBA-97F77C43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42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2D3D92-D2B7-4914-A315-D4232CD1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6D"/>
                </a:solidFill>
              </a:defRPr>
            </a:pPr>
            <a:r>
              <a:rPr sz="1650" b="1">
                <a:solidFill>
                  <a:srgbClr val="16A36D"/>
                </a:solidFill>
              </a:rPr>
              <a:t>Takeaway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94E73C-9645-4B3F-91F5-C7927030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Governed peak error is 86.32070997977753 ns, below the 100 ns budget.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1AC40B-CDC6-4ACD-8F60-8D858C80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27A36B-591D-47EF-B544-D9834E8F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342817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6371BE-A78C-4365-8A5A-18D7C21D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Hardware &amp; Cost — Next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8586E-DB8B-4EC5-B5D6-F1B56546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Indicative costs only; verify with vendors before procurement.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C54CC-9F5E-4892-9603-B66483B9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C99F2-42D0-4DD2-B17E-B1E84404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Tier A timing lab item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2B8E5-1F6E-4BAF-B09D-28CD6D7C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1906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97E0D-1063-497F-965A-6525D275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2763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2FFDF-BF6E-4EF4-803E-7B810490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1906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11C32"/>
          </a:solidFill>
          <a:ln xmlns:a="http://schemas.openxmlformats.org/drawingml/2006/main" w="9525">
            <a:solidFill>
              <a:srgbClr val="111C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D9ED6-3255-4610-9B5B-5E9BF248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763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Indicative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27CE0-D0F2-418C-A672-47F06788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78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A2C8-8897-4003-8FE0-B25BB7CF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2-3 PCs + PTP NICs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6322B-F67A-4A97-9BE7-6634291D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478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2F871-EFC0-4802-A46D-588A9A69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335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O-DU slave, attacker, load generator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11D93-DA66-421B-9CC4-39F94443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478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58658-E680-46A6-ACB8-483D8F9A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335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NIC $30-$300 each; reuse PCs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8A4CA-56AB-480D-9BF3-AB034C0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050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DCD53-7AC5-409F-8F4D-F796503B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PTP/SyncE-aware switch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7C276-9624-4055-9CE8-FB4AA41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050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0BE8C-2DA1-49CB-A9E2-C9D1CD0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907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Boundary/transparent clock, G.8275.1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2276B-3FD4-462A-A54C-D5A5364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050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AE6E5-A02C-44B6-B006-D9761716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$500 budget; $1.5k-$8k telecom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847A9-7DE9-4113-ACD9-61D90C0A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622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30CBF-2175-4AE9-81A9-9048E8D4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PTP Grandmaster or PC GM + GPSDO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70B20-BF78-4401-8676-9C12458B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622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DFE1F-BF46-4CDD-8DD9-E9C347FC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479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Trusted reference clock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C5CB5-42A3-4D17-BBB5-43886DA2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622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1D9149-0FB9-4BFA-B633-710DA690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$150-$400 DIY; $2k-$10k appliance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C1CB48-B046-4912-AE38-5709CAF7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94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99D4D-DA29-4BD2-B8B2-68095CC0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GNSS receiver, antenna, PPS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C01C96-54CC-4E9E-8195-A041AD6A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194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D66BC6-EA83-4658-9616-2998B532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GNSS-loss and holdover faults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A57BFA-A8A8-43DB-8A20-99565BB8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194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CB356-6D97-4991-A50D-C1D69893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051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$50-$300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45D8D9-CF55-40BC-A692-4142C55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1BDF30-FF46-471A-9040-DC985C62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SFPs, cabling, TAP/mirror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961A3C-C508-4194-8169-BDF4E386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1B1DCE-997F-484E-8020-0C9E69CD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Passive PTP capture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EB85D5-0DD9-410E-90CD-104918FF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766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5713FF-3B14-40DD-B680-D00FAF8F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623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$100-$400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4DDDB4-25B4-4428-A702-053B63F8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3143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76B7F6-B0B0-410A-A6E3-3A97D381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Time-error tester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E572B9-E339-4151-AF21-76717EB6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33825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EA5666-33AF-4E12-9785-915C4752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19550"/>
            <a:ext cx="381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ns-true validation reference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A1D3AD-8EAE-4D18-AFB5-49B66025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33825"/>
            <a:ext cx="3429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A7BD09-DE90-4E41-8F6C-1B1AD081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1955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borrow/rent; buy $5k+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C49367-4F85-4D22-BDF6-F8869526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Tier A total: DIY/budget ~$800-$3,000 reusing PCs; professional ~$6,000-$18,000.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8DEC64-42D1-4014-B39A-B6220DD3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CA36D8-AC42-413A-874F-1C0A0AB0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020742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3D5311-C1A4-45A2-B474-8E9E8A67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Connecting Hardware to Our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96DC9-31FB-4803-A092-1A213B77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Same software, real telemetry: linuxptp replaces the simulator input.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44B4F-D5C5-4D0E-84F4-18005D94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E6BC9-2809-4D4C-A873-C71F5932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PTP GM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GNSS/PPS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EC27A-884A-457E-A5C5-2EC2A4E0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D314F-051C-40D6-8FC4-E9C504E5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526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Timing-aware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switch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C87AC-2026-4949-88B9-4FD82FD5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6A36D"/>
          </a:solidFill>
          <a:ln xmlns:a="http://schemas.openxmlformats.org/drawingml/2006/main" w="9525">
            <a:solidFill>
              <a:srgbClr val="16A3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9FC62-0D6D-4150-B096-2A843235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526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O-DU PC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monitor +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7F86D-BD8D-4CD2-8445-24C0C4DC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45757"/>
          </a:solidFill>
          <a:ln xmlns:a="http://schemas.openxmlformats.org/drawingml/2006/main" w="9525">
            <a:solidFill>
              <a:srgbClr val="E457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A08DF-AA26-4E27-9256-41E20225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526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Attacker PC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spoof/replay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71040-E4EE-45C4-8860-5097769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619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6F5BD7"/>
          </a:solidFill>
          <a:ln xmlns:a="http://schemas.openxmlformats.org/drawingml/2006/main" w="9525">
            <a:solidFill>
              <a:srgbClr val="6F5B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45FA7-A82C-4E2F-9038-D8F22C59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526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Optional O-RU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crash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A5BBA-703A-4A5E-8469-34834147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431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F82FE-E21F-429E-9483-1BE47BD6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431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3F291-5971-4A27-9628-E430CFD8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CCDDC-1636-41E1-8325-AE2220BB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6070"/>
                </a:solidFill>
              </a:defRPr>
            </a:pPr>
            <a:r>
              <a:rPr sz="2250" b="1">
                <a:solidFill>
                  <a:srgbClr val="526070"/>
                </a:solidFill>
              </a:rPr>
              <a:t>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04823-FDBA-4EDF-A8B4-33F574E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96536-3868-4D2A-A24D-F33FD57A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6D"/>
                </a:solidFill>
              </a:defRPr>
            </a:pPr>
            <a:r>
              <a:rPr sz="1650" b="1">
                <a:solidFill>
                  <a:srgbClr val="16A36D"/>
                </a:solidFill>
              </a:rPr>
              <a:t>Done now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91F79-FBF1-40B8-8F87-57A609FC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54B9B-E608-48DB-8BF5-B538E9F3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run_all.py reproduction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9ED71-04E9-44AA-8E0A-2D43F781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E39AF4-9008-49D2-A52E-287A3416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dataset + benchmark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017B2-D473-4E53-BD2C-EB91A559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D0D73-29F0-45E2-9353-99D55DFD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tests pass 3/3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DC846C-E693-4759-B2B0-B6EED8D2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6C228D-B455-4F50-B0A3-3C89A135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A541"/>
                </a:solidFill>
              </a:defRPr>
            </a:pPr>
            <a:r>
              <a:rPr sz="1650" b="1">
                <a:solidFill>
                  <a:srgbClr val="F2A541"/>
                </a:solidFill>
              </a:rPr>
              <a:t>Next commands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41E982-D640-4252-B481-E679EEE8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41747-4506-440F-A9D4-A42252BD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05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ptp4l / phc2sys / ts2phc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A62904-16CC-4C02-A2FC-33C0CAF2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48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FA1A70-1C07-4A60-9747-87200169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72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tc netem and packet capture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D2A6D9-7A6A-4E03-A06E-38CBAC40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14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18D46C-5FE8-48C0-B66B-965A0026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38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BMCA allow-list actions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670A37-F870-41C0-B969-9683E7D3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4C7E64-18F2-4E1E-AD13-7F22994A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5757"/>
                </a:solidFill>
              </a:defRPr>
            </a:pPr>
            <a:r>
              <a:rPr sz="1650" b="1">
                <a:solidFill>
                  <a:srgbClr val="E45757"/>
                </a:solidFill>
              </a:rPr>
              <a:t>Do not miss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09C2C1-9814-4D94-8E06-F2066DCF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8C15B6-E5AB-42CC-A491-89717D48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G.8275.1 profile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367DC3-3994-4999-BF00-EE7F6361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81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83B06C-05A7-4C00-B36F-2FEFEA76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OCXO vs TCXO holdover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5C7ED1-51F4-4190-A759-DC4C750A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639C15-7F7E-4A42-9EF8-F3822D7C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GNSS sky view, PPS skew, UPS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348D5A-4B95-4465-8A7D-7DB8BC1C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57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9FCD42-A6B1-4B8A-ACCE-014A5EBF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Tier A needs no radio licence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029BAC-8F9F-468D-A823-EDFEB52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769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Close: the project is a reproducible response loop today; hardware timestamping is the next validation step.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BE12EE-6BD3-4955-9C8A-F0D76EED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AI-Native Self-Healing O-RAN S-plane Digital Twin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7B8BE4-0F43-4244-93F1-BC7F6A19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865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491A3"/>
                </a:solidFill>
              </a:defRPr>
            </a:pPr>
            <a:r>
              <a:rPr sz="750" b="0">
                <a:solidFill>
                  <a:srgbClr val="8491A3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1259944"/>
      </p:ext>
    </p:extLst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 · WORKLET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Self-Healing O-RAN Network using a Digital Twin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network-management framework combining AI-based anomaly detection with a digital twin to predict, validate, and resolve RAN faults in a closed loop — for higher reliability, faster recovery, and lower operational effort.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356616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Objectives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3154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 in O-RAN KPIs via AI-based monitoring</a:t>
            </a:r>
            <a:endParaRPr lang="en-US" sz="96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faults before major service disruption</a:t>
            </a:r>
            <a:endParaRPr lang="en-US" sz="96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digital twin to validate healing actions safely</a:t>
            </a:r>
            <a:endParaRPr lang="en-US" sz="96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corrective actions (tuning, rerouting, recovery)</a:t>
            </a:r>
            <a:endParaRPr lang="en-US" sz="96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AI-native vs traditional fault management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4270248" y="1938528"/>
            <a:ext cx="356616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53128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98848" y="2441448"/>
            <a:ext cx="3154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root-cause analysis, fault prediction, automated recovery</a:t>
            </a:r>
            <a:endParaRPr lang="en-US" sz="96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emulates network states, injects faults, tests mitigations, trains AI on realistic KPIs</a:t>
            </a:r>
            <a:endParaRPr lang="en-US" sz="96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rule-based healing</a:t>
            </a:r>
            <a:endParaRPr lang="en-US" sz="96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under config errors, traffic overload, node/link degradation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8037576" y="1938528"/>
            <a:ext cx="356616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0456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66176" y="2441448"/>
            <a:ext cx="3154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architecture for AI-native self-healing</a:t>
            </a:r>
            <a:endParaRPr lang="en-US" sz="96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Digital-twin testbed for fault injection + recovery validation</a:t>
            </a:r>
            <a:endParaRPr lang="en-US" sz="96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for anomaly detection / predictive fault ID</a:t>
            </a:r>
            <a:endParaRPr lang="en-US" sz="96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recovery &amp; less downtime vs manual/rule-based</a:t>
            </a:r>
            <a:endParaRPr lang="en-US" sz="96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gains: availability, recovery time, ops efficiency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0292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502920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510235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0–8 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" y="5358384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study, literature survey, system-architecture design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355848" y="502920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1C9C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65576" y="510235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M2–M3 · 10–22 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65576" y="5358384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fault taxonomy; digital-twin setup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208776" y="502920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B977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510235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M4–M6 · 24–36 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18504" y="5358384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model, healing-logic integration, testing &amp; evaluation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061704" y="502920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1432" y="510235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· 40–50 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71432" y="5358384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&amp; IP draft (publication + patent)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02920" y="612648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</a:t>
            </a:r>
            <a:pPr algn="l"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Tanmaya Kumar · Raghu Ram K · Munipalle Jaswanth Kumar        </a:t>
            </a:r>
            <a:pPr algn="l"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Mentors: </a:t>
            </a:r>
            <a:pPr algn="l"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Bikas Singh (NovaThink Tech) · Navin Kumar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HISTORY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Reviews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201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470916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/ Comments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Taken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— fill in the date, mentor/reviewer feedback, and the action taken after each review.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1051560"/>
          </a:xfrm>
          <a:prstGeom prst="roundRect">
            <a:avLst>
              <a:gd name="adj" fmla="val 6087"/>
            </a:avLst>
          </a:prstGeom>
          <a:solidFill>
            <a:srgbClr val="16304F"/>
          </a:solidFill>
          <a:ln w="16510">
            <a:solidFill>
              <a:srgbClr val="F4A8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8132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O-RAN fronthaul Synchronization (S-) plane: 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benign timing FAULT from a malicious ATTACK and heal the clock — verified by a digital twin — before the base station fails.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dealing with: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0972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O-DU–O-RU fronthaul link must stay time-synchronized to ~100 ns (PTP + SyncE); if it drifts, the base station degrades and can fail within ~2 s.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timing anomaly has two physically different causes that need OPPOSITE responses — a benign fault (GNSS loss / holdover, packet-delay-variation, SyncE degradation) vs a malicious attack (PTP spoofing, replay).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only DETECTS the anomaly — it does not choose a recovery action, and it cannot separate fault from attack.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response makes things worse; the correct action must be selected and applied inside the ~2 s failure window.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healing action must be VERIFIED in a digital twin before it is applied — minimizing wrong-action rate and recovery time (MTTR).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2026-07-13T16:06:30.6990000Z</dcterms:created>
  <dcterms:modified xsi:type="dcterms:W3CDTF">2026-07-13T16:06:30.6990000Z</dcterms:modified>
</coreProperties>
</file>